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tags/tag26.xml" ContentType="application/vnd.openxmlformats-officedocument.presentationml.tags+xml"/>
  <Override PartName="/ppt/notesSlides/notesSlide3.xml" ContentType="application/vnd.openxmlformats-officedocument.presentationml.notesSlide+xml"/>
  <Override PartName="/ppt/tags/tag27.xml" ContentType="application/vnd.openxmlformats-officedocument.presentationml.tags+xml"/>
  <Override PartName="/ppt/notesSlides/notesSlide4.xml" ContentType="application/vnd.openxmlformats-officedocument.presentationml.notesSlide+xml"/>
  <Override PartName="/ppt/tags/tag28.xml" ContentType="application/vnd.openxmlformats-officedocument.presentationml.tags+xml"/>
  <Override PartName="/ppt/notesSlides/notesSlide5.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75"/>
  </p:notesMasterIdLst>
  <p:sldIdLst>
    <p:sldId id="593" r:id="rId2"/>
    <p:sldId id="594" r:id="rId3"/>
    <p:sldId id="417" r:id="rId4"/>
    <p:sldId id="574" r:id="rId5"/>
    <p:sldId id="573" r:id="rId6"/>
    <p:sldId id="463" r:id="rId7"/>
    <p:sldId id="390" r:id="rId8"/>
    <p:sldId id="391" r:id="rId9"/>
    <p:sldId id="392" r:id="rId10"/>
    <p:sldId id="464" r:id="rId11"/>
    <p:sldId id="393" r:id="rId12"/>
    <p:sldId id="394" r:id="rId13"/>
    <p:sldId id="395" r:id="rId14"/>
    <p:sldId id="398" r:id="rId15"/>
    <p:sldId id="583" r:id="rId16"/>
    <p:sldId id="465" r:id="rId17"/>
    <p:sldId id="466" r:id="rId18"/>
    <p:sldId id="399" r:id="rId19"/>
    <p:sldId id="467" r:id="rId20"/>
    <p:sldId id="400" r:id="rId21"/>
    <p:sldId id="468" r:id="rId22"/>
    <p:sldId id="403" r:id="rId23"/>
    <p:sldId id="469" r:id="rId24"/>
    <p:sldId id="585" r:id="rId25"/>
    <p:sldId id="586" r:id="rId26"/>
    <p:sldId id="470" r:id="rId27"/>
    <p:sldId id="471" r:id="rId28"/>
    <p:sldId id="472" r:id="rId29"/>
    <p:sldId id="473" r:id="rId30"/>
    <p:sldId id="405" r:id="rId31"/>
    <p:sldId id="406" r:id="rId32"/>
    <p:sldId id="407" r:id="rId33"/>
    <p:sldId id="408" r:id="rId34"/>
    <p:sldId id="409" r:id="rId35"/>
    <p:sldId id="410" r:id="rId36"/>
    <p:sldId id="474" r:id="rId37"/>
    <p:sldId id="485" r:id="rId38"/>
    <p:sldId id="475" r:id="rId39"/>
    <p:sldId id="476" r:id="rId40"/>
    <p:sldId id="477" r:id="rId41"/>
    <p:sldId id="478" r:id="rId42"/>
    <p:sldId id="479" r:id="rId43"/>
    <p:sldId id="480" r:id="rId44"/>
    <p:sldId id="481" r:id="rId45"/>
    <p:sldId id="482" r:id="rId46"/>
    <p:sldId id="590" r:id="rId47"/>
    <p:sldId id="483" r:id="rId48"/>
    <p:sldId id="484" r:id="rId49"/>
    <p:sldId id="592" r:id="rId50"/>
    <p:sldId id="486" r:id="rId51"/>
    <p:sldId id="487" r:id="rId52"/>
    <p:sldId id="488" r:id="rId53"/>
    <p:sldId id="489" r:id="rId54"/>
    <p:sldId id="490" r:id="rId55"/>
    <p:sldId id="491" r:id="rId56"/>
    <p:sldId id="492" r:id="rId57"/>
    <p:sldId id="493" r:id="rId58"/>
    <p:sldId id="494" r:id="rId59"/>
    <p:sldId id="498" r:id="rId60"/>
    <p:sldId id="497" r:id="rId61"/>
    <p:sldId id="496" r:id="rId62"/>
    <p:sldId id="495" r:id="rId63"/>
    <p:sldId id="499" r:id="rId64"/>
    <p:sldId id="459" r:id="rId65"/>
    <p:sldId id="460" r:id="rId66"/>
    <p:sldId id="501" r:id="rId67"/>
    <p:sldId id="502" r:id="rId68"/>
    <p:sldId id="503" r:id="rId69"/>
    <p:sldId id="504" r:id="rId70"/>
    <p:sldId id="505" r:id="rId71"/>
    <p:sldId id="500" r:id="rId72"/>
    <p:sldId id="458" r:id="rId73"/>
    <p:sldId id="268" r:id="rId74"/>
  </p:sldIdLst>
  <p:sldSz cx="12198350" cy="6859588"/>
  <p:notesSz cx="9144000" cy="6858000"/>
  <p:defaultText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881">
          <p15:clr>
            <a:srgbClr val="A4A3A4"/>
          </p15:clr>
        </p15:guide>
        <p15:guide id="4" pos="384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00CC"/>
    <a:srgbClr val="92D050"/>
    <a:srgbClr val="009900"/>
    <a:srgbClr val="9BBB59"/>
    <a:srgbClr val="BD9B53"/>
    <a:srgbClr val="C0504D"/>
    <a:srgbClr val="74B836"/>
    <a:srgbClr val="1157AB"/>
    <a:srgbClr val="1A8A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68" autoAdjust="0"/>
    <p:restoredTop sz="87045" autoAdjust="0"/>
  </p:normalViewPr>
  <p:slideViewPr>
    <p:cSldViewPr>
      <p:cViewPr varScale="1">
        <p:scale>
          <a:sx n="103" d="100"/>
          <a:sy n="103" d="100"/>
        </p:scale>
        <p:origin x="682" y="86"/>
      </p:cViewPr>
      <p:guideLst>
        <p:guide orient="horz" pos="2160"/>
        <p:guide pos="2880"/>
        <p:guide orient="horz" pos="2881"/>
        <p:guide pos="3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5" d="100"/>
          <a:sy n="95" d="100"/>
        </p:scale>
        <p:origin x="4042" y="5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4881824-7EDF-4B1D-9D44-4D7461D95900}" type="datetimeFigureOut">
              <a:rPr lang="zh-CN" altLang="en-US" smtClean="0"/>
              <a:t>2026/3/4</a:t>
            </a:fld>
            <a:endParaRPr lang="zh-CN" alt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6F2A367-4377-4BC9-85D6-558F91AD7B75}" type="slidenum">
              <a:rPr lang="zh-CN" altLang="en-US" smtClean="0"/>
              <a:t>‹#›</a:t>
            </a:fld>
            <a:endParaRPr lang="zh-CN" altLang="en-US"/>
          </a:p>
        </p:txBody>
      </p:sp>
    </p:spTree>
    <p:extLst>
      <p:ext uri="{BB962C8B-B14F-4D97-AF65-F5344CB8AC3E}">
        <p14:creationId xmlns:p14="http://schemas.microsoft.com/office/powerpoint/2010/main" val="1061159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36F2A367-4377-4BC9-85D6-558F91AD7B75}" type="slidenum">
              <a:rPr lang="zh-CN" altLang="en-US" smtClean="0"/>
              <a:t>30</a:t>
            </a:fld>
            <a:endParaRPr lang="zh-CN" altLang="en-US"/>
          </a:p>
        </p:txBody>
      </p:sp>
    </p:spTree>
    <p:extLst>
      <p:ext uri="{BB962C8B-B14F-4D97-AF65-F5344CB8AC3E}">
        <p14:creationId xmlns:p14="http://schemas.microsoft.com/office/powerpoint/2010/main" val="3171828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6F2A367-4377-4BC9-85D6-558F91AD7B75}" type="slidenum">
              <a:rPr lang="zh-CN" altLang="en-US" smtClean="0"/>
              <a:t>32</a:t>
            </a:fld>
            <a:endParaRPr lang="zh-CN" altLang="en-US"/>
          </a:p>
        </p:txBody>
      </p:sp>
    </p:spTree>
    <p:extLst>
      <p:ext uri="{BB962C8B-B14F-4D97-AF65-F5344CB8AC3E}">
        <p14:creationId xmlns:p14="http://schemas.microsoft.com/office/powerpoint/2010/main" val="2020816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6F2A367-4377-4BC9-85D6-558F91AD7B75}" type="slidenum">
              <a:rPr lang="zh-CN" altLang="en-US" smtClean="0"/>
              <a:t>33</a:t>
            </a:fld>
            <a:endParaRPr lang="zh-CN" altLang="en-US"/>
          </a:p>
        </p:txBody>
      </p:sp>
    </p:spTree>
    <p:extLst>
      <p:ext uri="{BB962C8B-B14F-4D97-AF65-F5344CB8AC3E}">
        <p14:creationId xmlns:p14="http://schemas.microsoft.com/office/powerpoint/2010/main" val="1552323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6F2A367-4377-4BC9-85D6-558F91AD7B75}" type="slidenum">
              <a:rPr lang="zh-CN" altLang="en-US" smtClean="0"/>
              <a:t>34</a:t>
            </a:fld>
            <a:endParaRPr lang="zh-CN" altLang="en-US"/>
          </a:p>
        </p:txBody>
      </p:sp>
    </p:spTree>
    <p:extLst>
      <p:ext uri="{BB962C8B-B14F-4D97-AF65-F5344CB8AC3E}">
        <p14:creationId xmlns:p14="http://schemas.microsoft.com/office/powerpoint/2010/main" val="566114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6F2A367-4377-4BC9-85D6-558F91AD7B75}" type="slidenum">
              <a:rPr lang="zh-CN" altLang="en-US" smtClean="0"/>
              <a:t>38</a:t>
            </a:fld>
            <a:endParaRPr lang="zh-CN" altLang="en-US"/>
          </a:p>
        </p:txBody>
      </p:sp>
    </p:spTree>
    <p:extLst>
      <p:ext uri="{BB962C8B-B14F-4D97-AF65-F5344CB8AC3E}">
        <p14:creationId xmlns:p14="http://schemas.microsoft.com/office/powerpoint/2010/main" val="1130796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6F2A367-4377-4BC9-85D6-558F91AD7B75}" type="slidenum">
              <a:rPr lang="zh-CN" altLang="en-US" smtClean="0"/>
              <a:t>65</a:t>
            </a:fld>
            <a:endParaRPr lang="zh-CN" altLang="en-US"/>
          </a:p>
        </p:txBody>
      </p:sp>
    </p:spTree>
    <p:extLst>
      <p:ext uri="{BB962C8B-B14F-4D97-AF65-F5344CB8AC3E}">
        <p14:creationId xmlns:p14="http://schemas.microsoft.com/office/powerpoint/2010/main" val="760498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813" indent="0" algn="ctr">
              <a:buNone/>
              <a:defRPr>
                <a:solidFill>
                  <a:schemeClr val="tx1">
                    <a:tint val="75000"/>
                  </a:schemeClr>
                </a:solidFill>
              </a:defRPr>
            </a:lvl2pPr>
            <a:lvl3pPr marL="1219627" indent="0" algn="ctr">
              <a:buNone/>
              <a:defRPr>
                <a:solidFill>
                  <a:schemeClr val="tx1">
                    <a:tint val="75000"/>
                  </a:schemeClr>
                </a:solidFill>
              </a:defRPr>
            </a:lvl3pPr>
            <a:lvl4pPr marL="1829440" indent="0" algn="ctr">
              <a:buNone/>
              <a:defRPr>
                <a:solidFill>
                  <a:schemeClr val="tx1">
                    <a:tint val="75000"/>
                  </a:schemeClr>
                </a:solidFill>
              </a:defRPr>
            </a:lvl4pPr>
            <a:lvl5pPr marL="2439253" indent="0" algn="ctr">
              <a:buNone/>
              <a:defRPr>
                <a:solidFill>
                  <a:schemeClr val="tx1">
                    <a:tint val="75000"/>
                  </a:schemeClr>
                </a:solidFill>
              </a:defRPr>
            </a:lvl5pPr>
            <a:lvl6pPr marL="3049067" indent="0" algn="ctr">
              <a:buNone/>
              <a:defRPr>
                <a:solidFill>
                  <a:schemeClr val="tx1">
                    <a:tint val="75000"/>
                  </a:schemeClr>
                </a:solidFill>
              </a:defRPr>
            </a:lvl6pPr>
            <a:lvl7pPr marL="3658880" indent="0" algn="ctr">
              <a:buNone/>
              <a:defRPr>
                <a:solidFill>
                  <a:schemeClr val="tx1">
                    <a:tint val="75000"/>
                  </a:schemeClr>
                </a:solidFill>
              </a:defRPr>
            </a:lvl7pPr>
            <a:lvl8pPr marL="4268694" indent="0" algn="ctr">
              <a:buNone/>
              <a:defRPr>
                <a:solidFill>
                  <a:schemeClr val="tx1">
                    <a:tint val="75000"/>
                  </a:schemeClr>
                </a:solidFill>
              </a:defRPr>
            </a:lvl8pPr>
            <a:lvl9pPr marL="487850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360" indent="-457360">
              <a:lnSpc>
                <a:spcPct val="120000"/>
              </a:lnSpc>
              <a:buSzPct val="80000"/>
              <a:buFont typeface="Wingdings" pitchFamily="2" charset="2"/>
              <a:buChar char="l"/>
              <a:defRPr sz="2400">
                <a:solidFill>
                  <a:schemeClr val="tx1">
                    <a:lumMod val="75000"/>
                    <a:lumOff val="25000"/>
                  </a:schemeClr>
                </a:solidFill>
              </a:defRPr>
            </a:lvl1pPr>
            <a:lvl2pPr>
              <a:defRPr sz="2200">
                <a:solidFill>
                  <a:schemeClr val="tx1">
                    <a:lumMod val="75000"/>
                    <a:lumOff val="25000"/>
                  </a:schemeClr>
                </a:solidFill>
              </a:defRPr>
            </a:lvl2pPr>
            <a:lvl3pPr>
              <a:defRPr sz="20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lvl1pPr>
              <a:defRPr sz="2400" b="1"/>
            </a:lvl1p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360" indent="-457360">
              <a:lnSpc>
                <a:spcPct val="130000"/>
              </a:lnSpc>
              <a:buSzPct val="80000"/>
              <a:buFont typeface="Wingdings" pitchFamily="2" charset="2"/>
              <a:buChar char="l"/>
              <a:defRPr b="1">
                <a:solidFill>
                  <a:schemeClr val="tx1">
                    <a:lumMod val="75000"/>
                    <a:lumOff val="25000"/>
                  </a:schemeClr>
                </a:solidFill>
              </a:defRPr>
            </a:lvl1pPr>
            <a:lvl2pPr>
              <a:lnSpc>
                <a:spcPct val="130000"/>
              </a:lnSpc>
              <a:defRPr b="1">
                <a:solidFill>
                  <a:schemeClr val="tx1">
                    <a:lumMod val="75000"/>
                    <a:lumOff val="25000"/>
                  </a:schemeClr>
                </a:solidFill>
              </a:defRPr>
            </a:lvl2pPr>
            <a:lvl3pPr>
              <a:lnSpc>
                <a:spcPct val="130000"/>
              </a:lnSpc>
              <a:defRPr b="1"/>
            </a:lvl3pPr>
            <a:lvl4pPr>
              <a:lnSpc>
                <a:spcPct val="130000"/>
              </a:lnSpc>
              <a:defRPr b="1"/>
            </a:lvl4pPr>
            <a:lvl5pPr>
              <a:lnSpc>
                <a:spcPct val="130000"/>
              </a:lnSpc>
              <a:defRPr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Content Placeholder 2"/>
          <p:cNvSpPr>
            <a:spLocks noGrp="1"/>
          </p:cNvSpPr>
          <p:nvPr>
            <p:ph idx="13" hasCustomPrompt="1"/>
          </p:nvPr>
        </p:nvSpPr>
        <p:spPr>
          <a:xfrm>
            <a:off x="841375" y="984137"/>
            <a:ext cx="10747058" cy="464458"/>
          </a:xfrm>
          <a:prstGeom prst="rect">
            <a:avLst/>
          </a:prstGeom>
        </p:spPr>
        <p:txBody>
          <a:bodyPr>
            <a:noAutofit/>
          </a:bodyPr>
          <a:lstStyle>
            <a:lvl1pPr marL="0" indent="0">
              <a:lnSpc>
                <a:spcPct val="120000"/>
              </a:lnSpc>
              <a:buSzPct val="80000"/>
              <a:buFont typeface="Wingdings" pitchFamily="2" charset="2"/>
              <a:buNone/>
              <a:defRPr sz="2400" b="1">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55080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813" indent="0">
              <a:buNone/>
              <a:defRPr sz="3700"/>
            </a:lvl2pPr>
            <a:lvl3pPr marL="1219627" indent="0">
              <a:buNone/>
              <a:defRPr sz="3200"/>
            </a:lvl3pPr>
            <a:lvl4pPr marL="1829440" indent="0">
              <a:buNone/>
              <a:defRPr sz="2700"/>
            </a:lvl4pPr>
            <a:lvl5pPr marL="2439253" indent="0">
              <a:buNone/>
              <a:defRPr sz="2700"/>
            </a:lvl5pPr>
            <a:lvl6pPr marL="3049067" indent="0">
              <a:buNone/>
              <a:defRPr sz="2700"/>
            </a:lvl6pPr>
            <a:lvl7pPr marL="3658880" indent="0">
              <a:buNone/>
              <a:defRPr sz="2700"/>
            </a:lvl7pPr>
            <a:lvl8pPr marL="4268694" indent="0">
              <a:buNone/>
              <a:defRPr sz="2700"/>
            </a:lvl8pPr>
            <a:lvl9pPr marL="4878507"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09917" y="8477096"/>
            <a:ext cx="2846282" cy="486946"/>
          </a:xfrm>
          <a:prstGeom prst="rect">
            <a:avLst/>
          </a:prstGeom>
        </p:spPr>
        <p:txBody>
          <a:bodyPr vert="horz" lIns="121963" tIns="60981" rIns="121963" bIns="60981" rtlCol="0" anchor="ctr"/>
          <a:lstStyle>
            <a:lvl1pPr algn="l">
              <a:defRPr sz="1600">
                <a:solidFill>
                  <a:schemeClr val="tx1">
                    <a:tint val="75000"/>
                  </a:schemeClr>
                </a:solidFill>
              </a:defRPr>
            </a:lvl1pPr>
          </a:lstStyle>
          <a:p>
            <a:fld id="{1D8BD707-D9CF-40AE-B4C6-C98DA3205C09}" type="datetimeFigureOut">
              <a:rPr lang="en-US" smtClean="0"/>
              <a:pPr/>
              <a:t>3/4/2026</a:t>
            </a:fld>
            <a:endParaRPr lang="en-US" dirty="0"/>
          </a:p>
        </p:txBody>
      </p:sp>
      <p:sp>
        <p:nvSpPr>
          <p:cNvPr id="5" name="Footer Placeholder 4"/>
          <p:cNvSpPr>
            <a:spLocks noGrp="1"/>
          </p:cNvSpPr>
          <p:nvPr>
            <p:ph type="ftr" sz="quarter" idx="3"/>
          </p:nvPr>
        </p:nvSpPr>
        <p:spPr>
          <a:xfrm>
            <a:off x="4167770" y="8477096"/>
            <a:ext cx="3862811" cy="486946"/>
          </a:xfrm>
          <a:prstGeom prst="rect">
            <a:avLst/>
          </a:prstGeom>
        </p:spPr>
        <p:txBody>
          <a:bodyPr vert="horz" lIns="121963" tIns="60981" rIns="121963" bIns="60981"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42151" y="8477096"/>
            <a:ext cx="2846282" cy="486946"/>
          </a:xfrm>
          <a:prstGeom prst="rect">
            <a:avLst/>
          </a:prstGeom>
        </p:spPr>
        <p:txBody>
          <a:bodyPr vert="horz" lIns="121963" tIns="60981" rIns="121963" bIns="60981"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0" dirty="0">
                <a:latin typeface="微软雅黑" pitchFamily="34" charset="-122"/>
                <a:ea typeface="微软雅黑" pitchFamily="34" charset="-122"/>
              </a:rPr>
              <a:t>第九章   群 环 域</a:t>
            </a: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l" defTabSz="1219627" rtl="0" eaLnBrk="1" latinLnBrk="0" hangingPunct="1">
        <a:spcBef>
          <a:spcPct val="0"/>
        </a:spcBef>
        <a:buNone/>
        <a:defRPr sz="2400" b="1" kern="1200">
          <a:solidFill>
            <a:schemeClr val="bg1"/>
          </a:solidFill>
          <a:latin typeface="+mj-lt"/>
          <a:ea typeface="+mj-ea"/>
          <a:cs typeface="+mj-cs"/>
        </a:defRPr>
      </a:lvl1pPr>
    </p:titleStyle>
    <p:body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7" Type="http://schemas.openxmlformats.org/officeDocument/2006/relationships/image" Target="../media/image4.png"/><Relationship Id="rId12"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10.png"/><Relationship Id="rId11" Type="http://schemas.openxmlformats.org/officeDocument/2006/relationships/image" Target="../media/image9.png"/><Relationship Id="rId5" Type="http://schemas.openxmlformats.org/officeDocument/2006/relationships/image" Target="../media/image15.png"/><Relationship Id="rId15" Type="http://schemas.openxmlformats.org/officeDocument/2006/relationships/image" Target="../media/image13.png"/><Relationship Id="rId10" Type="http://schemas.openxmlformats.org/officeDocument/2006/relationships/image" Target="../media/image5.png"/><Relationship Id="rId9" Type="http://schemas.openxmlformats.org/officeDocument/2006/relationships/image" Target="../media/image7.png"/><Relationship Id="rId1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53.png"/><Relationship Id="rId5" Type="http://schemas.openxmlformats.org/officeDocument/2006/relationships/image" Target="../media/image110.png"/></Relationships>
</file>

<file path=ppt/slides/_rels/slide10.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20.png"/><Relationship Id="rId18" Type="http://schemas.openxmlformats.org/officeDocument/2006/relationships/image" Target="../media/image25.png"/><Relationship Id="rId7" Type="http://schemas.openxmlformats.org/officeDocument/2006/relationships/image" Target="../media/image140.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slideLayout" Target="../slideLayouts/slideLayout2.xml"/><Relationship Id="rId16" Type="http://schemas.openxmlformats.org/officeDocument/2006/relationships/image" Target="../media/image23.png"/><Relationship Id="rId1" Type="http://schemas.openxmlformats.org/officeDocument/2006/relationships/tags" Target="../tags/tag7.xml"/><Relationship Id="rId6" Type="http://schemas.openxmlformats.org/officeDocument/2006/relationships/image" Target="../media/image16.png"/><Relationship Id="rId11" Type="http://schemas.openxmlformats.org/officeDocument/2006/relationships/image" Target="../media/image18.png"/><Relationship Id="rId5" Type="http://schemas.openxmlformats.org/officeDocument/2006/relationships/image" Target="../media/image151.png"/><Relationship Id="rId15" Type="http://schemas.openxmlformats.org/officeDocument/2006/relationships/image" Target="../media/image22.png"/><Relationship Id="rId10" Type="http://schemas.openxmlformats.org/officeDocument/2006/relationships/image" Target="../media/image17.png"/><Relationship Id="rId9" Type="http://schemas.openxmlformats.org/officeDocument/2006/relationships/image" Target="../media/image160.png"/><Relationship Id="rId1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26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29.png"/><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9" Type="http://schemas.openxmlformats.org/officeDocument/2006/relationships/image" Target="../media/image34.png"/><Relationship Id="rId1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410.png"/><Relationship Id="rId5"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43.png"/><Relationship Id="rId5" Type="http://schemas.openxmlformats.org/officeDocument/2006/relationships/image" Target="../media/image42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45.png"/><Relationship Id="rId5" Type="http://schemas.openxmlformats.org/officeDocument/2006/relationships/image" Target="../media/image4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47.png"/><Relationship Id="rId5" Type="http://schemas.openxmlformats.org/officeDocument/2006/relationships/image" Target="../media/image4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48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5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50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52.png"/><Relationship Id="rId5"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11.png"/><Relationship Id="rId7" Type="http://schemas.openxmlformats.org/officeDocument/2006/relationships/image" Target="../media/image510.png"/><Relationship Id="rId12" Type="http://schemas.openxmlformats.org/officeDocument/2006/relationships/image" Target="../media/image100.png"/><Relationship Id="rId17" Type="http://schemas.openxmlformats.org/officeDocument/2006/relationships/image" Target="../media/image152.png"/><Relationship Id="rId2" Type="http://schemas.openxmlformats.org/officeDocument/2006/relationships/slideLayout" Target="../slideLayouts/slideLayout7.xml"/><Relationship Id="rId16" Type="http://schemas.openxmlformats.org/officeDocument/2006/relationships/image" Target="../media/image14.png"/><Relationship Id="rId1" Type="http://schemas.openxmlformats.org/officeDocument/2006/relationships/tags" Target="../tags/tag20.xml"/><Relationship Id="rId6" Type="http://schemas.openxmlformats.org/officeDocument/2006/relationships/image" Target="../media/image411.png"/><Relationship Id="rId11" Type="http://schemas.openxmlformats.org/officeDocument/2006/relationships/image" Target="../media/image97.png"/><Relationship Id="rId5" Type="http://schemas.openxmlformats.org/officeDocument/2006/relationships/image" Target="../media/image300.png"/><Relationship Id="rId15" Type="http://schemas.openxmlformats.org/officeDocument/2006/relationships/image" Target="../media/image131.png"/><Relationship Id="rId10" Type="http://schemas.openxmlformats.org/officeDocument/2006/relationships/image" Target="../media/image810.png"/><Relationship Id="rId9" Type="http://schemas.openxmlformats.org/officeDocument/2006/relationships/image" Target="../media/image710.png"/><Relationship Id="rId14" Type="http://schemas.openxmlformats.org/officeDocument/2006/relationships/image" Target="../media/image12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170.png"/><Relationship Id="rId5" Type="http://schemas.openxmlformats.org/officeDocument/2006/relationships/image" Target="../media/image210.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501.png"/><Relationship Id="rId5" Type="http://schemas.openxmlformats.org/officeDocument/2006/relationships/image" Target="../media/image40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201.png"/></Relationships>
</file>

<file path=ppt/slides/_rels/slide31.xml.rels><?xml version="1.0" encoding="UTF-8" standalone="yes"?>
<Relationships xmlns="http://schemas.openxmlformats.org/package/2006/relationships"><Relationship Id="rId8" Type="http://schemas.openxmlformats.org/officeDocument/2006/relationships/image" Target="../media/image280.png"/><Relationship Id="rId13" Type="http://schemas.openxmlformats.org/officeDocument/2006/relationships/image" Target="../media/image330.png"/><Relationship Id="rId7" Type="http://schemas.openxmlformats.org/officeDocument/2006/relationships/image" Target="../media/image270.png"/><Relationship Id="rId12" Type="http://schemas.openxmlformats.org/officeDocument/2006/relationships/image" Target="../media/image320.png"/><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image" Target="../media/image26.png"/><Relationship Id="rId11" Type="http://schemas.openxmlformats.org/officeDocument/2006/relationships/image" Target="../media/image511.png"/><Relationship Id="rId5" Type="http://schemas.openxmlformats.org/officeDocument/2006/relationships/image" Target="../media/image311.png"/><Relationship Id="rId10" Type="http://schemas.openxmlformats.org/officeDocument/2006/relationships/image" Target="../media/image412.png"/><Relationship Id="rId9" Type="http://schemas.openxmlformats.org/officeDocument/2006/relationships/image" Target="../media/image290.png"/><Relationship Id="rId14" Type="http://schemas.openxmlformats.org/officeDocument/2006/relationships/image" Target="../media/image61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811.png"/><Relationship Id="rId2"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image" Target="../media/image70.png"/></Relationships>
</file>

<file path=ppt/slides/_rels/slide3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511.png"/><Relationship Id="rId3" Type="http://schemas.openxmlformats.org/officeDocument/2006/relationships/notesSlide" Target="../notesSlides/notesSlide3.xml"/><Relationship Id="rId7" Type="http://schemas.openxmlformats.org/officeDocument/2006/relationships/image" Target="../media/image101.png"/><Relationship Id="rId12" Type="http://schemas.openxmlformats.org/officeDocument/2006/relationships/image" Target="../media/image412.png"/><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90.png"/><Relationship Id="rId11" Type="http://schemas.openxmlformats.org/officeDocument/2006/relationships/image" Target="../media/image290.png"/><Relationship Id="rId15" Type="http://schemas.openxmlformats.org/officeDocument/2006/relationships/image" Target="../media/image330.png"/><Relationship Id="rId10" Type="http://schemas.openxmlformats.org/officeDocument/2006/relationships/image" Target="../media/image280.png"/><Relationship Id="rId9" Type="http://schemas.openxmlformats.org/officeDocument/2006/relationships/image" Target="../media/image270.png"/><Relationship Id="rId14" Type="http://schemas.openxmlformats.org/officeDocument/2006/relationships/image" Target="../media/image32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image" Target="../media/image20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3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notesSlide" Target="../notesSlides/notesSlide5.xml"/><Relationship Id="rId7"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image" Target="../media/image21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 Id="rId5" Type="http://schemas.openxmlformats.org/officeDocument/2006/relationships/image" Target="../media/image30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 Id="rId5" Type="http://schemas.openxmlformats.org/officeDocument/2006/relationships/image" Target="../media/image41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 Id="rId5" Type="http://schemas.openxmlformats.org/officeDocument/2006/relationships/image" Target="../media/image5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711.png"/><Relationship Id="rId5" Type="http://schemas.openxmlformats.org/officeDocument/2006/relationships/image" Target="../media/image61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 Id="rId6" Type="http://schemas.openxmlformats.org/officeDocument/2006/relationships/image" Target="../media/image98.png"/><Relationship Id="rId5" Type="http://schemas.openxmlformats.org/officeDocument/2006/relationships/image" Target="../media/image812.png"/></Relationships>
</file>

<file path=ppt/slides/_rels/slide45.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80.png"/><Relationship Id="rId7" Type="http://schemas.openxmlformats.org/officeDocument/2006/relationships/image" Target="../media/image121.png"/><Relationship Id="rId12" Type="http://schemas.openxmlformats.org/officeDocument/2006/relationships/image" Target="../media/image171.png"/><Relationship Id="rId2" Type="http://schemas.openxmlformats.org/officeDocument/2006/relationships/slideLayout" Target="../slideLayouts/slideLayout2.xml"/><Relationship Id="rId1" Type="http://schemas.openxmlformats.org/officeDocument/2006/relationships/tags" Target="../tags/tag35.xml"/><Relationship Id="rId6" Type="http://schemas.openxmlformats.org/officeDocument/2006/relationships/image" Target="../media/image111.png"/><Relationship Id="rId11" Type="http://schemas.openxmlformats.org/officeDocument/2006/relationships/image" Target="../media/image161.png"/><Relationship Id="rId5" Type="http://schemas.openxmlformats.org/officeDocument/2006/relationships/image" Target="../media/image102.png"/><Relationship Id="rId10" Type="http://schemas.openxmlformats.org/officeDocument/2006/relationships/image" Target="../media/image154.png"/><Relationship Id="rId9" Type="http://schemas.openxmlformats.org/officeDocument/2006/relationships/image" Target="../media/image14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 Id="rId5" Type="http://schemas.openxmlformats.org/officeDocument/2006/relationships/image" Target="../media/image190.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48.xml.rels><?xml version="1.0" encoding="UTF-8" standalone="yes"?>
<Relationships xmlns="http://schemas.openxmlformats.org/package/2006/relationships"><Relationship Id="rId8" Type="http://schemas.openxmlformats.org/officeDocument/2006/relationships/image" Target="../media/image360.png"/><Relationship Id="rId13" Type="http://schemas.openxmlformats.org/officeDocument/2006/relationships/image" Target="../media/image414.png"/><Relationship Id="rId18" Type="http://schemas.openxmlformats.org/officeDocument/2006/relationships/image" Target="../media/image460.png"/><Relationship Id="rId26" Type="http://schemas.openxmlformats.org/officeDocument/2006/relationships/image" Target="../media/image54.png"/><Relationship Id="rId21" Type="http://schemas.openxmlformats.org/officeDocument/2006/relationships/image" Target="../media/image49.png"/><Relationship Id="rId7" Type="http://schemas.openxmlformats.org/officeDocument/2006/relationships/image" Target="../media/image350.png"/><Relationship Id="rId12" Type="http://schemas.openxmlformats.org/officeDocument/2006/relationships/image" Target="../media/image401.png"/><Relationship Id="rId17" Type="http://schemas.openxmlformats.org/officeDocument/2006/relationships/image" Target="../media/image450.png"/><Relationship Id="rId25" Type="http://schemas.openxmlformats.org/officeDocument/2006/relationships/image" Target="../media/image53.png"/><Relationship Id="rId2" Type="http://schemas.openxmlformats.org/officeDocument/2006/relationships/slideLayout" Target="../slideLayouts/slideLayout2.xml"/><Relationship Id="rId16" Type="http://schemas.openxmlformats.org/officeDocument/2006/relationships/image" Target="../media/image440.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tags" Target="../tags/tag38.xml"/><Relationship Id="rId6" Type="http://schemas.openxmlformats.org/officeDocument/2006/relationships/image" Target="../media/image340.png"/><Relationship Id="rId11" Type="http://schemas.openxmlformats.org/officeDocument/2006/relationships/image" Target="../media/image390.png"/><Relationship Id="rId24" Type="http://schemas.openxmlformats.org/officeDocument/2006/relationships/image" Target="../media/image520.png"/><Relationship Id="rId5" Type="http://schemas.openxmlformats.org/officeDocument/2006/relationships/image" Target="../media/image203.png"/><Relationship Id="rId15" Type="http://schemas.openxmlformats.org/officeDocument/2006/relationships/image" Target="../media/image430.png"/><Relationship Id="rId23" Type="http://schemas.openxmlformats.org/officeDocument/2006/relationships/image" Target="../media/image512.png"/><Relationship Id="rId28" Type="http://schemas.openxmlformats.org/officeDocument/2006/relationships/image" Target="../media/image56.png"/><Relationship Id="rId10" Type="http://schemas.openxmlformats.org/officeDocument/2006/relationships/image" Target="../media/image380.png"/><Relationship Id="rId19" Type="http://schemas.openxmlformats.org/officeDocument/2006/relationships/image" Target="../media/image470.png"/><Relationship Id="rId9" Type="http://schemas.openxmlformats.org/officeDocument/2006/relationships/image" Target="../media/image130.png"/><Relationship Id="rId14" Type="http://schemas.openxmlformats.org/officeDocument/2006/relationships/image" Target="../media/image42.png"/><Relationship Id="rId22" Type="http://schemas.openxmlformats.org/officeDocument/2006/relationships/image" Target="../media/image502.png"/><Relationship Id="rId27" Type="http://schemas.openxmlformats.org/officeDocument/2006/relationships/image" Target="../media/image5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18" Type="http://schemas.openxmlformats.org/officeDocument/2006/relationships/image" Target="../media/image700.png"/><Relationship Id="rId26" Type="http://schemas.openxmlformats.org/officeDocument/2006/relationships/image" Target="../media/image78.png"/><Relationship Id="rId21" Type="http://schemas.openxmlformats.org/officeDocument/2006/relationships/image" Target="../media/image73.png"/><Relationship Id="rId7" Type="http://schemas.openxmlformats.org/officeDocument/2006/relationships/image" Target="../media/image59.png"/><Relationship Id="rId12" Type="http://schemas.openxmlformats.org/officeDocument/2006/relationships/image" Target="../media/image64.png"/><Relationship Id="rId17" Type="http://schemas.openxmlformats.org/officeDocument/2006/relationships/image" Target="../media/image69.png"/><Relationship Id="rId25" Type="http://schemas.openxmlformats.org/officeDocument/2006/relationships/image" Target="../media/image77.png"/><Relationship Id="rId2" Type="http://schemas.openxmlformats.org/officeDocument/2006/relationships/slideLayout" Target="../slideLayouts/slideLayout2.xml"/><Relationship Id="rId16" Type="http://schemas.openxmlformats.org/officeDocument/2006/relationships/image" Target="../media/image68.png"/><Relationship Id="rId20" Type="http://schemas.openxmlformats.org/officeDocument/2006/relationships/image" Target="../media/image72.png"/><Relationship Id="rId29" Type="http://schemas.openxmlformats.org/officeDocument/2006/relationships/image" Target="../media/image81.png"/><Relationship Id="rId1" Type="http://schemas.openxmlformats.org/officeDocument/2006/relationships/tags" Target="../tags/tag39.xml"/><Relationship Id="rId6" Type="http://schemas.openxmlformats.org/officeDocument/2006/relationships/image" Target="../media/image580.png"/><Relationship Id="rId11" Type="http://schemas.openxmlformats.org/officeDocument/2006/relationships/image" Target="../media/image63.png"/><Relationship Id="rId24" Type="http://schemas.openxmlformats.org/officeDocument/2006/relationships/image" Target="../media/image76.png"/><Relationship Id="rId5" Type="http://schemas.openxmlformats.org/officeDocument/2006/relationships/image" Target="../media/image415.png"/><Relationship Id="rId15" Type="http://schemas.openxmlformats.org/officeDocument/2006/relationships/image" Target="../media/image67.png"/><Relationship Id="rId23" Type="http://schemas.openxmlformats.org/officeDocument/2006/relationships/image" Target="../media/image75.png"/><Relationship Id="rId28" Type="http://schemas.openxmlformats.org/officeDocument/2006/relationships/image" Target="../media/image80.png"/><Relationship Id="rId10" Type="http://schemas.openxmlformats.org/officeDocument/2006/relationships/image" Target="../media/image62.png"/><Relationship Id="rId19" Type="http://schemas.openxmlformats.org/officeDocument/2006/relationships/image" Target="../media/image71.png"/><Relationship Id="rId9" Type="http://schemas.openxmlformats.org/officeDocument/2006/relationships/image" Target="../media/image313.png"/><Relationship Id="rId14" Type="http://schemas.openxmlformats.org/officeDocument/2006/relationships/image" Target="../media/image66.png"/><Relationship Id="rId22" Type="http://schemas.openxmlformats.org/officeDocument/2006/relationships/image" Target="../media/image74.png"/><Relationship Id="rId27" Type="http://schemas.openxmlformats.org/officeDocument/2006/relationships/image" Target="../media/image7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 Id="rId5" Type="http://schemas.openxmlformats.org/officeDocument/2006/relationships/image" Target="../media/image402.png"/></Relationships>
</file>

<file path=ppt/slides/_rels/slide52.xml.rels><?xml version="1.0" encoding="UTF-8" standalone="yes"?>
<Relationships xmlns="http://schemas.openxmlformats.org/package/2006/relationships"><Relationship Id="rId7" Type="http://schemas.openxmlformats.org/officeDocument/2006/relationships/image" Target="../media/image712.png"/><Relationship Id="rId2" Type="http://schemas.openxmlformats.org/officeDocument/2006/relationships/slideLayout" Target="../slideLayouts/slideLayout2.xml"/><Relationship Id="rId1" Type="http://schemas.openxmlformats.org/officeDocument/2006/relationships/tags" Target="../tags/tag41.xml"/><Relationship Id="rId6" Type="http://schemas.openxmlformats.org/officeDocument/2006/relationships/image" Target="../media/image612.png"/><Relationship Id="rId5" Type="http://schemas.openxmlformats.org/officeDocument/2006/relationships/image" Target="../media/image503.png"/></Relationships>
</file>

<file path=ppt/slides/_rels/slide53.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18" Type="http://schemas.openxmlformats.org/officeDocument/2006/relationships/image" Target="../media/image93.png"/><Relationship Id="rId26" Type="http://schemas.openxmlformats.org/officeDocument/2006/relationships/image" Target="../media/image142.png"/><Relationship Id="rId21" Type="http://schemas.openxmlformats.org/officeDocument/2006/relationships/image" Target="../media/image96.png"/><Relationship Id="rId7" Type="http://schemas.openxmlformats.org/officeDocument/2006/relationships/image" Target="../media/image82.png"/><Relationship Id="rId12" Type="http://schemas.openxmlformats.org/officeDocument/2006/relationships/image" Target="../media/image87.png"/><Relationship Id="rId17" Type="http://schemas.openxmlformats.org/officeDocument/2006/relationships/image" Target="../media/image92.png"/><Relationship Id="rId25" Type="http://schemas.openxmlformats.org/officeDocument/2006/relationships/image" Target="../media/image133.png"/><Relationship Id="rId2" Type="http://schemas.openxmlformats.org/officeDocument/2006/relationships/slideLayout" Target="../slideLayouts/slideLayout2.xml"/><Relationship Id="rId16" Type="http://schemas.openxmlformats.org/officeDocument/2006/relationships/image" Target="../media/image91.png"/><Relationship Id="rId20" Type="http://schemas.openxmlformats.org/officeDocument/2006/relationships/image" Target="../media/image95.png"/><Relationship Id="rId29" Type="http://schemas.openxmlformats.org/officeDocument/2006/relationships/image" Target="../media/image172.png"/><Relationship Id="rId1" Type="http://schemas.openxmlformats.org/officeDocument/2006/relationships/tags" Target="../tags/tag42.xml"/><Relationship Id="rId6" Type="http://schemas.openxmlformats.org/officeDocument/2006/relationships/image" Target="../media/image99.png"/><Relationship Id="rId11" Type="http://schemas.openxmlformats.org/officeDocument/2006/relationships/image" Target="../media/image86.png"/><Relationship Id="rId24" Type="http://schemas.openxmlformats.org/officeDocument/2006/relationships/image" Target="../media/image122.png"/><Relationship Id="rId5" Type="http://schemas.openxmlformats.org/officeDocument/2006/relationships/image" Target="../media/image813.png"/><Relationship Id="rId15" Type="http://schemas.openxmlformats.org/officeDocument/2006/relationships/image" Target="../media/image900.png"/><Relationship Id="rId23" Type="http://schemas.openxmlformats.org/officeDocument/2006/relationships/image" Target="../media/image112.png"/><Relationship Id="rId28" Type="http://schemas.openxmlformats.org/officeDocument/2006/relationships/image" Target="../media/image162.png"/><Relationship Id="rId10" Type="http://schemas.openxmlformats.org/officeDocument/2006/relationships/image" Target="../media/image85.png"/><Relationship Id="rId19" Type="http://schemas.openxmlformats.org/officeDocument/2006/relationships/image" Target="../media/image94.png"/><Relationship Id="rId9" Type="http://schemas.openxmlformats.org/officeDocument/2006/relationships/image" Target="../media/image84.png"/><Relationship Id="rId14" Type="http://schemas.openxmlformats.org/officeDocument/2006/relationships/image" Target="../media/image89.png"/><Relationship Id="rId22" Type="http://schemas.openxmlformats.org/officeDocument/2006/relationships/image" Target="../media/image103.png"/><Relationship Id="rId27" Type="http://schemas.openxmlformats.org/officeDocument/2006/relationships/image" Target="../media/image155.png"/><Relationship Id="rId30" Type="http://schemas.openxmlformats.org/officeDocument/2006/relationships/image" Target="../media/image18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7" Type="http://schemas.openxmlformats.org/officeDocument/2006/relationships/image" Target="../media/image212.png"/><Relationship Id="rId2" Type="http://schemas.openxmlformats.org/officeDocument/2006/relationships/slideLayout" Target="../slideLayouts/slideLayout2.xml"/><Relationship Id="rId1" Type="http://schemas.openxmlformats.org/officeDocument/2006/relationships/tags" Target="../tags/tag43.xml"/><Relationship Id="rId6" Type="http://schemas.openxmlformats.org/officeDocument/2006/relationships/image" Target="../media/image204.png"/><Relationship Id="rId5" Type="http://schemas.openxmlformats.org/officeDocument/2006/relationships/image" Target="../media/image191.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 Id="rId6" Type="http://schemas.openxmlformats.org/officeDocument/2006/relationships/image" Target="../media/image1400.png"/><Relationship Id="rId5" Type="http://schemas.openxmlformats.org/officeDocument/2006/relationships/image" Target="../media/image2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 Id="rId5" Type="http://schemas.openxmlformats.org/officeDocument/2006/relationships/image" Target="../media/image31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 Id="rId5" Type="http://schemas.openxmlformats.org/officeDocument/2006/relationships/image" Target="../media/image302.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 Id="rId5" Type="http://schemas.openxmlformats.org/officeDocument/2006/relationships/image" Target="../media/image416.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 Id="rId6" Type="http://schemas.openxmlformats.org/officeDocument/2006/relationships/image" Target="../media/image613.png"/><Relationship Id="rId5" Type="http://schemas.openxmlformats.org/officeDocument/2006/relationships/image" Target="../media/image513.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 Id="rId5" Type="http://schemas.openxmlformats.org/officeDocument/2006/relationships/image" Target="../media/image7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3" y="0"/>
            <a:ext cx="12198350" cy="6859588"/>
          </a:xfrm>
          <a:prstGeom prst="rect">
            <a:avLst/>
          </a:prstGeom>
        </p:spPr>
      </p:pic>
      <p:sp>
        <p:nvSpPr>
          <p:cNvPr id="17" name="TextBox 16"/>
          <p:cNvSpPr txBox="1"/>
          <p:nvPr/>
        </p:nvSpPr>
        <p:spPr>
          <a:xfrm>
            <a:off x="2322796" y="1109298"/>
            <a:ext cx="4560279" cy="954150"/>
          </a:xfrm>
          <a:prstGeom prst="rect">
            <a:avLst/>
          </a:prstGeom>
          <a:noFill/>
        </p:spPr>
        <p:txBody>
          <a:bodyPr wrap="square" lIns="121963" tIns="60981" rIns="121963" bIns="60981" rtlCol="0">
            <a:spAutoFit/>
          </a:bodyPr>
          <a:lstStyle/>
          <a:p>
            <a:r>
              <a:rPr lang="en-US" altLang="zh-CN" sz="5400" dirty="0">
                <a:solidFill>
                  <a:schemeClr val="bg1"/>
                </a:solidFill>
                <a:latin typeface="+mn-ea"/>
              </a:rPr>
              <a:t>《</a:t>
            </a:r>
            <a:r>
              <a:rPr lang="zh-CN" altLang="en-US" sz="5400" dirty="0">
                <a:solidFill>
                  <a:schemeClr val="bg1"/>
                </a:solidFill>
                <a:latin typeface="+mn-ea"/>
              </a:rPr>
              <a:t>离散数学</a:t>
            </a:r>
            <a:r>
              <a:rPr lang="en-US" altLang="zh-CN" sz="5400" dirty="0">
                <a:solidFill>
                  <a:schemeClr val="bg1"/>
                </a:solidFill>
                <a:latin typeface="+mn-ea"/>
              </a:rPr>
              <a:t>》</a:t>
            </a:r>
            <a:endParaRPr lang="zh-CN" altLang="en-US" sz="5400" dirty="0">
              <a:solidFill>
                <a:schemeClr val="bg1"/>
              </a:solidFill>
              <a:latin typeface="+mn-ea"/>
            </a:endParaRPr>
          </a:p>
        </p:txBody>
      </p:sp>
      <p:sp>
        <p:nvSpPr>
          <p:cNvPr id="18" name="TextBox 17"/>
          <p:cNvSpPr txBox="1"/>
          <p:nvPr/>
        </p:nvSpPr>
        <p:spPr>
          <a:xfrm>
            <a:off x="3127375" y="2435421"/>
            <a:ext cx="2076056"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latin typeface="+mn-ea"/>
              </a:rPr>
              <a:t>第十章 </a:t>
            </a:r>
          </a:p>
        </p:txBody>
      </p:sp>
      <p:sp>
        <p:nvSpPr>
          <p:cNvPr id="19" name="TextBox 18"/>
          <p:cNvSpPr txBox="1"/>
          <p:nvPr/>
        </p:nvSpPr>
        <p:spPr>
          <a:xfrm>
            <a:off x="6632575" y="2583648"/>
            <a:ext cx="2743200" cy="615596"/>
          </a:xfrm>
          <a:prstGeom prst="rect">
            <a:avLst/>
          </a:prstGeom>
          <a:noFill/>
        </p:spPr>
        <p:txBody>
          <a:bodyPr wrap="square" lIns="121963" tIns="60981" rIns="121963" bIns="60981" rtlCol="0">
            <a:spAutoFit/>
          </a:bodyPr>
          <a:lstStyle/>
          <a:p>
            <a:r>
              <a:rPr lang="zh-CN" altLang="en-US" sz="3200" dirty="0">
                <a:solidFill>
                  <a:schemeClr val="bg1"/>
                </a:solidFill>
                <a:latin typeface="+mn-ea"/>
              </a:rPr>
              <a:t>格与布尔代数</a:t>
            </a:r>
          </a:p>
        </p:txBody>
      </p:sp>
      <p:sp>
        <p:nvSpPr>
          <p:cNvPr id="20" name="TextBox 19"/>
          <p:cNvSpPr txBox="1"/>
          <p:nvPr/>
        </p:nvSpPr>
        <p:spPr>
          <a:xfrm>
            <a:off x="2974975" y="3609601"/>
            <a:ext cx="5746509" cy="1231149"/>
          </a:xfrm>
          <a:prstGeom prst="rect">
            <a:avLst/>
          </a:prstGeom>
          <a:noFill/>
        </p:spPr>
        <p:txBody>
          <a:bodyPr wrap="square" lIns="121963" tIns="60981" rIns="121963" bIns="60981" rtlCol="0">
            <a:spAutoFit/>
          </a:bodyPr>
          <a:lstStyle/>
          <a:p>
            <a:r>
              <a:rPr lang="zh-CN" altLang="en-US" dirty="0">
                <a:solidFill>
                  <a:schemeClr val="bg1"/>
                </a:solidFill>
                <a:latin typeface="+mn-ea"/>
              </a:rPr>
              <a:t>电子科技大学  计算机科学与工程学院</a:t>
            </a:r>
            <a:endParaRPr lang="en-US" altLang="zh-CN" dirty="0">
              <a:solidFill>
                <a:schemeClr val="bg1"/>
              </a:solidFill>
              <a:latin typeface="+mn-ea"/>
            </a:endParaRPr>
          </a:p>
          <a:p>
            <a:endParaRPr lang="en-US" altLang="zh-CN" dirty="0">
              <a:solidFill>
                <a:schemeClr val="bg1"/>
              </a:solidFill>
              <a:latin typeface="+mn-ea"/>
            </a:endParaRPr>
          </a:p>
          <a:p>
            <a:r>
              <a:rPr lang="en-US" altLang="zh-CN" dirty="0">
                <a:solidFill>
                  <a:srgbClr val="00B0F0"/>
                </a:solidFill>
                <a:latin typeface="+mn-ea"/>
              </a:rPr>
              <a:t>                          </a:t>
            </a:r>
            <a:r>
              <a:rPr lang="zh-CN" altLang="en-US" dirty="0">
                <a:solidFill>
                  <a:schemeClr val="bg1"/>
                </a:solidFill>
                <a:latin typeface="+mn-ea"/>
              </a:rPr>
              <a:t>傅    彦</a:t>
            </a:r>
            <a:r>
              <a:rPr lang="zh-CN" altLang="en-US" dirty="0">
                <a:solidFill>
                  <a:srgbClr val="00B0F0"/>
                </a:solidFill>
                <a:latin typeface="+mn-ea"/>
              </a:rPr>
              <a:t>    </a:t>
            </a:r>
          </a:p>
        </p:txBody>
      </p:sp>
      <p:sp>
        <p:nvSpPr>
          <p:cNvPr id="22" name="矩形 21"/>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26" name="矩形 25"/>
          <p:cNvSpPr/>
          <p:nvPr/>
        </p:nvSpPr>
        <p:spPr>
          <a:xfrm>
            <a:off x="2258147" y="4801394"/>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6556375" y="1420581"/>
            <a:ext cx="3200400" cy="492485"/>
          </a:xfrm>
          <a:prstGeom prst="rect">
            <a:avLst/>
          </a:prstGeom>
          <a:noFill/>
        </p:spPr>
        <p:txBody>
          <a:bodyPr wrap="square" lIns="121963" tIns="60981" rIns="121963" bIns="60981" rtlCol="0">
            <a:spAutoFit/>
          </a:bodyPr>
          <a:lstStyle/>
          <a:p>
            <a:r>
              <a:rPr lang="en-US" altLang="zh-CN" dirty="0">
                <a:solidFill>
                  <a:schemeClr val="bg1"/>
                </a:solidFill>
                <a:latin typeface="+mn-ea"/>
              </a:rPr>
              <a:t> </a:t>
            </a:r>
            <a:r>
              <a:rPr lang="en-US" altLang="zh-CN" sz="1800" dirty="0">
                <a:solidFill>
                  <a:schemeClr val="bg1">
                    <a:lumMod val="85000"/>
                  </a:schemeClr>
                </a:solidFill>
                <a:latin typeface="+mn-ea"/>
              </a:rPr>
              <a:t>Discrete Mathematics</a:t>
            </a:r>
            <a:endParaRPr lang="zh-CN" altLang="en-US" sz="1800" dirty="0">
              <a:solidFill>
                <a:schemeClr val="bg1">
                  <a:lumMod val="85000"/>
                </a:schemeClr>
              </a:solidFill>
              <a:latin typeface="+mn-ea"/>
            </a:endParaRPr>
          </a:p>
        </p:txBody>
      </p:sp>
      <p:sp>
        <p:nvSpPr>
          <p:cNvPr id="2" name="矩形 1"/>
          <p:cNvSpPr/>
          <p:nvPr/>
        </p:nvSpPr>
        <p:spPr>
          <a:xfrm>
            <a:off x="6047487" y="2728361"/>
            <a:ext cx="45719" cy="32172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827166"/>
            <a:ext cx="6858000" cy="5205255"/>
            <a:chOff x="4535407" y="1188607"/>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535407" y="1188607"/>
              <a:ext cx="6629399" cy="5205255"/>
              <a:chOff x="4535407" y="1188607"/>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535407" y="1188607"/>
                <a:ext cx="6629399" cy="5205255"/>
                <a:chOff x="4535407" y="1119665"/>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535407" y="1119665"/>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50808" y="1884935"/>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7024497" y="2000899"/>
                  <a:ext cx="2769989" cy="369353"/>
                </a:xfrm>
                <a:prstGeom prst="rect">
                  <a:avLst/>
                </a:prstGeom>
                <a:noFill/>
              </p:spPr>
              <p:txBody>
                <a:bodyPr wrap="none" lIns="0" tIns="0" rIns="0" bIns="60981" rtlCol="0">
                  <a:spAutoFit/>
                </a:bodyPr>
                <a:lstStyle/>
                <a:p>
                  <a:pPr lvl="0">
                    <a:lnSpc>
                      <a:spcPts val="2401"/>
                    </a:lnSpc>
                  </a:pPr>
                  <a:r>
                    <a:rPr lang="zh-CN" altLang="en-US" b="1" dirty="0">
                      <a:solidFill>
                        <a:prstClr val="white"/>
                      </a:solidFill>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54055" y="2671643"/>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格的定义和性质</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49641" y="3265020"/>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子格与格同态</a:t>
                  </a:r>
                </a:p>
              </p:txBody>
            </p:sp>
            <p:sp>
              <p:nvSpPr>
                <p:cNvPr id="108" name="Freeform 3">
                  <a:extLst>
                    <a:ext uri="{FF2B5EF4-FFF2-40B4-BE49-F238E27FC236}">
                      <a16:creationId xmlns:a16="http://schemas.microsoft.com/office/drawing/2014/main" id="{B90F0CC1-39D6-4CF7-88A9-B6AE46CF38C8}"/>
                    </a:ext>
                  </a:extLst>
                </p:cNvPr>
                <p:cNvSpPr/>
                <p:nvPr/>
              </p:nvSpPr>
              <p:spPr>
                <a:xfrm>
                  <a:off x="6698357" y="1649753"/>
                  <a:ext cx="45719" cy="4155852"/>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24104" y="206001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1" name="Freeform 3">
                  <a:extLst>
                    <a:ext uri="{FF2B5EF4-FFF2-40B4-BE49-F238E27FC236}">
                      <a16:creationId xmlns:a16="http://schemas.microsoft.com/office/drawing/2014/main" id="{70E10679-B7C8-4B52-A553-660324F33697}"/>
                    </a:ext>
                  </a:extLst>
                </p:cNvPr>
                <p:cNvSpPr/>
                <p:nvPr/>
              </p:nvSpPr>
              <p:spPr>
                <a:xfrm>
                  <a:off x="6624104" y="33202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24104" y="37921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82518" y="3778915"/>
                  <a:ext cx="923330"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特殊格</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870609" y="4886187"/>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格与布尔代数的应用</a:t>
                  </a:r>
                </a:p>
              </p:txBody>
            </p:sp>
            <p:sp>
              <p:nvSpPr>
                <p:cNvPr id="116" name="Freeform 3">
                  <a:extLst>
                    <a:ext uri="{FF2B5EF4-FFF2-40B4-BE49-F238E27FC236}">
                      <a16:creationId xmlns:a16="http://schemas.microsoft.com/office/drawing/2014/main" id="{74C8B829-18F9-4783-B4D6-E9A724B05A1B}"/>
                    </a:ext>
                  </a:extLst>
                </p:cNvPr>
                <p:cNvSpPr/>
                <p:nvPr/>
              </p:nvSpPr>
              <p:spPr>
                <a:xfrm>
                  <a:off x="6632575" y="437073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2575" y="4928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891013" y="2589740"/>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858954" y="3157714"/>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858954" y="3725688"/>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885928" y="429366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10.4</a:t>
                  </a:r>
                </a:p>
              </p:txBody>
            </p:sp>
            <p:sp>
              <p:nvSpPr>
                <p:cNvPr id="122" name="等腰三角形 76">
                  <a:extLst>
                    <a:ext uri="{FF2B5EF4-FFF2-40B4-BE49-F238E27FC236}">
                      <a16:creationId xmlns:a16="http://schemas.microsoft.com/office/drawing/2014/main" id="{A6FC0B70-AC0C-48DC-990F-AB7B8DC0F4F4}"/>
                    </a:ext>
                  </a:extLst>
                </p:cNvPr>
                <p:cNvSpPr/>
                <p:nvPr/>
              </p:nvSpPr>
              <p:spPr>
                <a:xfrm>
                  <a:off x="6171238" y="1938277"/>
                  <a:ext cx="304800" cy="267093"/>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TextBox 1">
                  <a:extLst>
                    <a:ext uri="{FF2B5EF4-FFF2-40B4-BE49-F238E27FC236}">
                      <a16:creationId xmlns:a16="http://schemas.microsoft.com/office/drawing/2014/main" id="{CB6962AB-78A8-43D2-80C0-E0017035964B}"/>
                    </a:ext>
                  </a:extLst>
                </p:cNvPr>
                <p:cNvSpPr txBox="1"/>
                <p:nvPr/>
              </p:nvSpPr>
              <p:spPr>
                <a:xfrm>
                  <a:off x="6947502" y="5444665"/>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50219" y="53950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841681" y="4861636"/>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10.5</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7013575" y="441308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布尔代数</a:t>
                </a:r>
              </a:p>
            </p:txBody>
          </p:sp>
          <p:sp>
            <p:nvSpPr>
              <p:cNvPr id="50" name="TextBox 1">
                <a:extLst>
                  <a:ext uri="{FF2B5EF4-FFF2-40B4-BE49-F238E27FC236}">
                    <a16:creationId xmlns:a16="http://schemas.microsoft.com/office/drawing/2014/main" id="{159A0760-2207-4EDB-B452-50B7B83350F3}"/>
                  </a:ext>
                </a:extLst>
              </p:cNvPr>
              <p:cNvSpPr txBox="1"/>
              <p:nvPr/>
            </p:nvSpPr>
            <p:spPr>
              <a:xfrm>
                <a:off x="5885927" y="549855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10.6</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2575" y="28313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342526107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72DB-89BB-4A48-83FB-032A780382B7}"/>
              </a:ext>
            </a:extLst>
          </p:cNvPr>
          <p:cNvSpPr>
            <a:spLocks noGrp="1"/>
          </p:cNvSpPr>
          <p:nvPr>
            <p:ph type="title"/>
          </p:nvPr>
        </p:nvSpPr>
        <p:spPr/>
        <p:txBody>
          <a:bodyPr/>
          <a:lstStyle/>
          <a:p>
            <a:r>
              <a:rPr lang="zh-CN" altLang="en-US" dirty="0"/>
              <a:t>本章导读</a:t>
            </a:r>
          </a:p>
        </p:txBody>
      </p:sp>
      <p:sp>
        <p:nvSpPr>
          <p:cNvPr id="3" name="Content Placeholder 2">
            <a:extLst>
              <a:ext uri="{FF2B5EF4-FFF2-40B4-BE49-F238E27FC236}">
                <a16:creationId xmlns:a16="http://schemas.microsoft.com/office/drawing/2014/main" id="{82C84325-8E27-461A-9546-72307D9E5943}"/>
              </a:ext>
            </a:extLst>
          </p:cNvPr>
          <p:cNvSpPr>
            <a:spLocks noGrp="1"/>
          </p:cNvSpPr>
          <p:nvPr>
            <p:ph idx="1"/>
          </p:nvPr>
        </p:nvSpPr>
        <p:spPr>
          <a:xfrm>
            <a:off x="381317" y="991394"/>
            <a:ext cx="10978515" cy="5638800"/>
          </a:xfrm>
        </p:spPr>
        <p:txBody>
          <a:bodyPr>
            <a:normAutofit/>
          </a:bodyPr>
          <a:lstStyle/>
          <a:p>
            <a:r>
              <a:rPr lang="zh-CN" altLang="zh-CN" dirty="0"/>
              <a:t>从数学的观点看，数学有</a:t>
            </a:r>
            <a:r>
              <a:rPr lang="zh-CN" altLang="zh-CN" dirty="0">
                <a:solidFill>
                  <a:srgbClr val="0000FF"/>
                </a:solidFill>
              </a:rPr>
              <a:t>序结构、代数结构、拓扑结构</a:t>
            </a:r>
            <a:r>
              <a:rPr lang="zh-CN" altLang="zh-CN" dirty="0"/>
              <a:t>三个基本的结构</a:t>
            </a:r>
            <a:r>
              <a:rPr lang="zh-CN" altLang="en-US" dirty="0"/>
              <a:t>。</a:t>
            </a:r>
            <a:endParaRPr lang="en-US" altLang="zh-CN" dirty="0"/>
          </a:p>
          <a:p>
            <a:r>
              <a:rPr lang="zh-CN" altLang="zh-CN" dirty="0"/>
              <a:t>格是一种</a:t>
            </a:r>
            <a:r>
              <a:rPr lang="zh-CN" altLang="zh-CN" dirty="0">
                <a:solidFill>
                  <a:srgbClr val="FF0000"/>
                </a:solidFill>
              </a:rPr>
              <a:t>兼有序和代数</a:t>
            </a:r>
            <a:r>
              <a:rPr lang="zh-CN" altLang="zh-CN" dirty="0"/>
              <a:t>的重要结构，它在抽象代数、射影几何、点集论、拓扑学、泛函分析、逻辑和概率论、模糊数学等许多领域都有广泛应用。</a:t>
            </a:r>
            <a:endParaRPr lang="en-US" altLang="zh-CN" dirty="0"/>
          </a:p>
          <a:p>
            <a:r>
              <a:rPr lang="zh-CN" altLang="en-US" dirty="0"/>
              <a:t>格的概念是在</a:t>
            </a:r>
            <a:r>
              <a:rPr lang="en-US" altLang="zh-CN" dirty="0"/>
              <a:t>19</a:t>
            </a:r>
            <a:r>
              <a:rPr lang="zh-CN" altLang="en-US" dirty="0"/>
              <a:t>世纪末，由戴德金和施罗德分别基于对偶群和逻辑代数两个方向得出的，但直到</a:t>
            </a:r>
            <a:r>
              <a:rPr lang="en-US" altLang="zh-CN" dirty="0"/>
              <a:t>1933</a:t>
            </a:r>
            <a:r>
              <a:rPr lang="zh-CN" altLang="zh-CN" dirty="0"/>
              <a:t>～</a:t>
            </a:r>
            <a:r>
              <a:rPr lang="en-US" altLang="zh-CN" dirty="0"/>
              <a:t>1938</a:t>
            </a:r>
            <a:r>
              <a:rPr lang="zh-CN" altLang="zh-CN" dirty="0"/>
              <a:t>年，经伯克霍夫、奥尔等人的工作才确立了</a:t>
            </a:r>
            <a:r>
              <a:rPr lang="zh-CN" altLang="en-US" dirty="0"/>
              <a:t>格</a:t>
            </a:r>
            <a:r>
              <a:rPr lang="zh-CN" altLang="zh-CN" dirty="0"/>
              <a:t>在代数学中的地位。</a:t>
            </a:r>
          </a:p>
        </p:txBody>
      </p:sp>
      <p:pic>
        <p:nvPicPr>
          <p:cNvPr id="8" name="图片 1365" descr="https://bkimg.cdn.bcebos.com/pic/d043ad4bd11373f01f8911ffa20f4bfbfbed041f?x-bce-process=image/resize,m_lfit,w_268,limit_1/format,f_jpg">
            <a:extLst>
              <a:ext uri="{FF2B5EF4-FFF2-40B4-BE49-F238E27FC236}">
                <a16:creationId xmlns:a16="http://schemas.microsoft.com/office/drawing/2014/main" id="{B106B4F1-5257-43CA-BFAE-29ABD28B7A3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9975" y="4033139"/>
            <a:ext cx="1905000" cy="2209800"/>
          </a:xfrm>
          <a:prstGeom prst="rect">
            <a:avLst/>
          </a:prstGeom>
          <a:noFill/>
          <a:ln>
            <a:noFill/>
          </a:ln>
        </p:spPr>
      </p:pic>
      <p:sp>
        <p:nvSpPr>
          <p:cNvPr id="5" name="Rectangle 4">
            <a:extLst>
              <a:ext uri="{FF2B5EF4-FFF2-40B4-BE49-F238E27FC236}">
                <a16:creationId xmlns:a16="http://schemas.microsoft.com/office/drawing/2014/main" id="{656ADEF4-E472-4625-8FD5-47082E5534E2}"/>
              </a:ext>
            </a:extLst>
          </p:cNvPr>
          <p:cNvSpPr/>
          <p:nvPr/>
        </p:nvSpPr>
        <p:spPr>
          <a:xfrm>
            <a:off x="3426875" y="4725194"/>
            <a:ext cx="1107996" cy="461665"/>
          </a:xfrm>
          <a:prstGeom prst="rect">
            <a:avLst/>
          </a:prstGeom>
        </p:spPr>
        <p:txBody>
          <a:bodyPr wrap="none">
            <a:spAutoFit/>
          </a:bodyPr>
          <a:lstStyle/>
          <a:p>
            <a:r>
              <a:rPr lang="zh-CN" altLang="zh-CN" b="1" dirty="0">
                <a:latin typeface="+mn-ea"/>
                <a:cs typeface="Arial" panose="020B0604020202020204" pitchFamily="34" charset="0"/>
              </a:rPr>
              <a:t>戴</a:t>
            </a:r>
            <a:r>
              <a:rPr lang="zh-CN" altLang="zh-CN" b="1">
                <a:latin typeface="+mn-ea"/>
                <a:cs typeface="Arial" panose="020B0604020202020204" pitchFamily="34" charset="0"/>
              </a:rPr>
              <a:t>德金</a:t>
            </a:r>
            <a:endParaRPr lang="en-US" altLang="zh-CN" b="1">
              <a:latin typeface="+mn-ea"/>
              <a:cs typeface="Arial" panose="020B0604020202020204" pitchFamily="34" charset="0"/>
            </a:endParaRPr>
          </a:p>
        </p:txBody>
      </p:sp>
      <p:pic>
        <p:nvPicPr>
          <p:cNvPr id="1026" name="Picture 2" descr="伯克霍夫">
            <a:extLst>
              <a:ext uri="{FF2B5EF4-FFF2-40B4-BE49-F238E27FC236}">
                <a16:creationId xmlns:a16="http://schemas.microsoft.com/office/drawing/2014/main" id="{FB05E623-51ED-4435-A5BB-986933D6F1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7453" y="3855586"/>
            <a:ext cx="2093197" cy="254620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3AFA528-42ED-4368-8F9C-520936903E76}"/>
              </a:ext>
            </a:extLst>
          </p:cNvPr>
          <p:cNvSpPr/>
          <p:nvPr/>
        </p:nvSpPr>
        <p:spPr>
          <a:xfrm>
            <a:off x="8179010" y="4801394"/>
            <a:ext cx="1415772" cy="461665"/>
          </a:xfrm>
          <a:prstGeom prst="rect">
            <a:avLst/>
          </a:prstGeom>
        </p:spPr>
        <p:txBody>
          <a:bodyPr wrap="none">
            <a:spAutoFit/>
          </a:bodyPr>
          <a:lstStyle/>
          <a:p>
            <a:r>
              <a:rPr lang="zh-CN" altLang="zh-CN" b="1" dirty="0"/>
              <a:t>伯克霍夫</a:t>
            </a:r>
            <a:endParaRPr lang="zh-CN" altLang="en-US" b="1" dirty="0"/>
          </a:p>
        </p:txBody>
      </p:sp>
    </p:spTree>
    <p:custDataLst>
      <p:tags r:id="rId1"/>
    </p:custDataLst>
    <p:extLst>
      <p:ext uri="{BB962C8B-B14F-4D97-AF65-F5344CB8AC3E}">
        <p14:creationId xmlns:p14="http://schemas.microsoft.com/office/powerpoint/2010/main" val="415211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72DB-89BB-4A48-83FB-032A780382B7}"/>
              </a:ext>
            </a:extLst>
          </p:cNvPr>
          <p:cNvSpPr>
            <a:spLocks noGrp="1"/>
          </p:cNvSpPr>
          <p:nvPr>
            <p:ph type="title"/>
          </p:nvPr>
        </p:nvSpPr>
        <p:spPr/>
        <p:txBody>
          <a:bodyPr/>
          <a:lstStyle/>
          <a:p>
            <a:r>
              <a:rPr lang="zh-CN" altLang="en-US" dirty="0"/>
              <a:t>历史人物</a:t>
            </a:r>
          </a:p>
        </p:txBody>
      </p:sp>
      <p:sp>
        <p:nvSpPr>
          <p:cNvPr id="3" name="Content Placeholder 2">
            <a:extLst>
              <a:ext uri="{FF2B5EF4-FFF2-40B4-BE49-F238E27FC236}">
                <a16:creationId xmlns:a16="http://schemas.microsoft.com/office/drawing/2014/main" id="{82C84325-8E27-461A-9546-72307D9E5943}"/>
              </a:ext>
            </a:extLst>
          </p:cNvPr>
          <p:cNvSpPr>
            <a:spLocks noGrp="1"/>
          </p:cNvSpPr>
          <p:nvPr>
            <p:ph idx="1"/>
          </p:nvPr>
        </p:nvSpPr>
        <p:spPr>
          <a:xfrm>
            <a:off x="381317" y="991394"/>
            <a:ext cx="10978515" cy="5515770"/>
          </a:xfrm>
        </p:spPr>
        <p:txBody>
          <a:bodyPr>
            <a:normAutofit/>
          </a:bodyPr>
          <a:lstStyle/>
          <a:p>
            <a:r>
              <a:rPr lang="zh-CN" altLang="zh-CN" dirty="0"/>
              <a:t>布尔研究人的思维规律，于</a:t>
            </a:r>
            <a:r>
              <a:rPr lang="en-US" altLang="zh-CN" dirty="0"/>
              <a:t>1854</a:t>
            </a:r>
            <a:r>
              <a:rPr lang="zh-CN" altLang="zh-CN" dirty="0"/>
              <a:t>年出版《思维规律的研究》，建立了逻辑代数，即布尔代数。</a:t>
            </a:r>
            <a:endParaRPr lang="en-US" altLang="zh-CN" dirty="0"/>
          </a:p>
          <a:p>
            <a:r>
              <a:rPr lang="zh-CN" altLang="zh-CN" dirty="0"/>
              <a:t>布尔代数</a:t>
            </a:r>
            <a:r>
              <a:rPr lang="zh-CN" altLang="en-US" dirty="0"/>
              <a:t>可看作</a:t>
            </a:r>
            <a:r>
              <a:rPr lang="zh-CN" altLang="zh-CN" dirty="0"/>
              <a:t>一种特殊的格</a:t>
            </a:r>
            <a:r>
              <a:rPr lang="zh-CN" altLang="en-US" dirty="0"/>
              <a:t>（尽管它的出现比格早）</a:t>
            </a:r>
            <a:r>
              <a:rPr lang="zh-CN" altLang="zh-CN" dirty="0"/>
              <a:t>，在计算机科学中具有非常重要的应用，如在密码学、计算机语义学、开关理论、计算机理论和逻辑设计以及其他一些科学和工程领域中，都有直接应用。</a:t>
            </a:r>
            <a:endParaRPr lang="en-US" altLang="zh-CN" dirty="0"/>
          </a:p>
        </p:txBody>
      </p:sp>
      <p:pic>
        <p:nvPicPr>
          <p:cNvPr id="4" name="图片 1368" descr="https://timgsa.baidu.com/timg?image&amp;quality=80&amp;size=b9999_10000&amp;sec=1607428551016&amp;di=85edddc5f4e450a4d7c98998674f1a15&amp;imgtype=0&amp;src=http%3A%2F%2Fwww.ruanyifeng.com%2Fblogimg%2Fasset%2F2016%2Fbg2016080502.jpg">
            <a:extLst>
              <a:ext uri="{FF2B5EF4-FFF2-40B4-BE49-F238E27FC236}">
                <a16:creationId xmlns:a16="http://schemas.microsoft.com/office/drawing/2014/main" id="{D4CDF517-1687-4683-8621-89D3BC23DAF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12975" y="3645241"/>
            <a:ext cx="2247898" cy="2629757"/>
          </a:xfrm>
          <a:prstGeom prst="rect">
            <a:avLst/>
          </a:prstGeom>
          <a:noFill/>
          <a:ln>
            <a:noFill/>
          </a:ln>
        </p:spPr>
      </p:pic>
      <p:sp>
        <p:nvSpPr>
          <p:cNvPr id="5" name="Rectangle 4">
            <a:extLst>
              <a:ext uri="{FF2B5EF4-FFF2-40B4-BE49-F238E27FC236}">
                <a16:creationId xmlns:a16="http://schemas.microsoft.com/office/drawing/2014/main" id="{E2687EAE-11CF-42CC-A7ED-53E4DFB779E6}"/>
              </a:ext>
            </a:extLst>
          </p:cNvPr>
          <p:cNvSpPr/>
          <p:nvPr/>
        </p:nvSpPr>
        <p:spPr>
          <a:xfrm>
            <a:off x="5032375" y="4039394"/>
            <a:ext cx="4495800" cy="1135054"/>
          </a:xfrm>
          <a:prstGeom prst="rect">
            <a:avLst/>
          </a:prstGeom>
        </p:spPr>
        <p:txBody>
          <a:bodyPr wrap="square">
            <a:spAutoFit/>
          </a:bodyPr>
          <a:lstStyle/>
          <a:p>
            <a:pPr>
              <a:lnSpc>
                <a:spcPct val="150000"/>
              </a:lnSpc>
            </a:pPr>
            <a:r>
              <a:rPr lang="zh-CN" altLang="zh-CN" b="1" dirty="0">
                <a:solidFill>
                  <a:srgbClr val="0000FF"/>
                </a:solidFill>
                <a:latin typeface="+mn-ea"/>
                <a:cs typeface="Arial" panose="020B0604020202020204" pitchFamily="34" charset="0"/>
              </a:rPr>
              <a:t>乔治</a:t>
            </a:r>
            <a:r>
              <a:rPr lang="en-US" altLang="zh-CN" b="1" dirty="0">
                <a:solidFill>
                  <a:srgbClr val="0000FF"/>
                </a:solidFill>
                <a:latin typeface="+mn-ea"/>
                <a:cs typeface="Arial" panose="020B0604020202020204" pitchFamily="34" charset="0"/>
              </a:rPr>
              <a:t>·</a:t>
            </a:r>
            <a:r>
              <a:rPr lang="zh-CN" altLang="zh-CN" b="1" dirty="0">
                <a:solidFill>
                  <a:srgbClr val="0000FF"/>
                </a:solidFill>
                <a:latin typeface="+mn-ea"/>
                <a:cs typeface="Arial" panose="020B0604020202020204" pitchFamily="34" charset="0"/>
              </a:rPr>
              <a:t>布尔</a:t>
            </a:r>
            <a:r>
              <a:rPr lang="en-US" altLang="zh-CN" b="1" dirty="0">
                <a:solidFill>
                  <a:srgbClr val="333333"/>
                </a:solidFill>
                <a:latin typeface="+mn-ea"/>
                <a:cs typeface="Arial" panose="020B0604020202020204" pitchFamily="34" charset="0"/>
              </a:rPr>
              <a:t>(1815</a:t>
            </a:r>
            <a:r>
              <a:rPr lang="zh-CN" altLang="zh-CN" b="1" dirty="0">
                <a:solidFill>
                  <a:srgbClr val="333333"/>
                </a:solidFill>
                <a:latin typeface="+mn-ea"/>
                <a:cs typeface="Arial" panose="020B0604020202020204" pitchFamily="34" charset="0"/>
              </a:rPr>
              <a:t>～</a:t>
            </a:r>
            <a:r>
              <a:rPr lang="en-US" altLang="zh-CN" b="1" dirty="0">
                <a:solidFill>
                  <a:srgbClr val="333333"/>
                </a:solidFill>
                <a:latin typeface="+mn-ea"/>
                <a:cs typeface="Arial" panose="020B0604020202020204" pitchFamily="34" charset="0"/>
              </a:rPr>
              <a:t>1864</a:t>
            </a:r>
            <a:r>
              <a:rPr lang="zh-CN" altLang="en-US" b="1" dirty="0">
                <a:solidFill>
                  <a:srgbClr val="333333"/>
                </a:solidFill>
                <a:latin typeface="+mn-ea"/>
                <a:cs typeface="Arial" panose="020B0604020202020204" pitchFamily="34" charset="0"/>
              </a:rPr>
              <a:t>），</a:t>
            </a:r>
            <a:endParaRPr lang="en-US" altLang="zh-CN" b="1" dirty="0">
              <a:solidFill>
                <a:srgbClr val="333333"/>
              </a:solidFill>
              <a:latin typeface="+mn-ea"/>
              <a:cs typeface="Arial" panose="020B0604020202020204" pitchFamily="34" charset="0"/>
            </a:endParaRPr>
          </a:p>
          <a:p>
            <a:pPr>
              <a:lnSpc>
                <a:spcPct val="150000"/>
              </a:lnSpc>
            </a:pPr>
            <a:r>
              <a:rPr lang="en-US" altLang="zh-CN" b="1" dirty="0">
                <a:solidFill>
                  <a:srgbClr val="333333"/>
                </a:solidFill>
                <a:latin typeface="+mn-ea"/>
                <a:cs typeface="Arial" panose="020B0604020202020204" pitchFamily="34" charset="0"/>
              </a:rPr>
              <a:t>英国数学家</a:t>
            </a:r>
            <a:r>
              <a:rPr lang="zh-CN" altLang="zh-CN" b="1" dirty="0">
                <a:solidFill>
                  <a:srgbClr val="333333"/>
                </a:solidFill>
                <a:latin typeface="+mn-ea"/>
                <a:cs typeface="Arial" panose="020B0604020202020204" pitchFamily="34" charset="0"/>
              </a:rPr>
              <a:t>，布尔代数的创始人。</a:t>
            </a:r>
            <a:endParaRPr lang="zh-CN" altLang="en-US" b="1" dirty="0">
              <a:latin typeface="+mn-ea"/>
            </a:endParaRPr>
          </a:p>
        </p:txBody>
      </p:sp>
    </p:spTree>
    <p:custDataLst>
      <p:tags r:id="rId1"/>
    </p:custDataLst>
    <p:extLst>
      <p:ext uri="{BB962C8B-B14F-4D97-AF65-F5344CB8AC3E}">
        <p14:creationId xmlns:p14="http://schemas.microsoft.com/office/powerpoint/2010/main" val="146906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28" name="Group 47"/>
          <p:cNvGrpSpPr>
            <a:grpSpLocks/>
          </p:cNvGrpSpPr>
          <p:nvPr/>
        </p:nvGrpSpPr>
        <p:grpSpPr bwMode="auto">
          <a:xfrm>
            <a:off x="1062407" y="2163741"/>
            <a:ext cx="1301142" cy="1016737"/>
            <a:chOff x="0" y="5"/>
            <a:chExt cx="668" cy="647"/>
          </a:xfrm>
          <a:solidFill>
            <a:srgbClr val="00B0F0"/>
          </a:solidFill>
        </p:grpSpPr>
        <p:sp>
          <p:nvSpPr>
            <p:cNvPr id="12331"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2"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3"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4"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5"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12329" name="Text Box 52"/>
          <p:cNvSpPr txBox="1">
            <a:spLocks noChangeArrowheads="1"/>
          </p:cNvSpPr>
          <p:nvPr/>
        </p:nvSpPr>
        <p:spPr bwMode="auto">
          <a:xfrm>
            <a:off x="1198023" y="2394543"/>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重点</a:t>
            </a:r>
            <a:endParaRPr lang="en-US" altLang="zh-CN" dirty="0">
              <a:solidFill>
                <a:schemeClr val="bg1"/>
              </a:solidFill>
              <a:latin typeface="+mn-ea"/>
              <a:ea typeface="+mn-ea"/>
              <a:cs typeface="Times New Roman" panose="02020603050405020304" pitchFamily="18" charset="0"/>
            </a:endParaRPr>
          </a:p>
        </p:txBody>
      </p:sp>
      <p:sp>
        <p:nvSpPr>
          <p:cNvPr id="12330" name="Text Box 53"/>
          <p:cNvSpPr txBox="1">
            <a:spLocks noChangeArrowheads="1"/>
          </p:cNvSpPr>
          <p:nvPr/>
        </p:nvSpPr>
        <p:spPr bwMode="auto">
          <a:xfrm>
            <a:off x="2375160" y="1283015"/>
            <a:ext cx="7489865" cy="2797048"/>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1 </a:t>
            </a:r>
            <a:r>
              <a:rPr lang="zh-CN" altLang="en-US" sz="2400" dirty="0">
                <a:solidFill>
                  <a:srgbClr val="003300"/>
                </a:solidFill>
                <a:latin typeface="+mn-ea"/>
                <a:ea typeface="+mn-ea"/>
              </a:rPr>
              <a:t>格和子格的判定</a:t>
            </a: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2 </a:t>
            </a:r>
            <a:r>
              <a:rPr lang="zh-CN" altLang="en-US" sz="2400" dirty="0">
                <a:solidFill>
                  <a:srgbClr val="003300"/>
                </a:solidFill>
                <a:latin typeface="+mn-ea"/>
                <a:ea typeface="+mn-ea"/>
              </a:rPr>
              <a:t>根据格的定义和性质证明</a:t>
            </a: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3 </a:t>
            </a:r>
            <a:r>
              <a:rPr lang="zh-CN" altLang="en-US" sz="2400" dirty="0">
                <a:solidFill>
                  <a:srgbClr val="003300"/>
                </a:solidFill>
                <a:latin typeface="+mn-ea"/>
                <a:ea typeface="+mn-ea"/>
              </a:rPr>
              <a:t>特殊格之间的关系及判定定理</a:t>
            </a:r>
            <a:endParaRPr lang="en-US" altLang="zh-CN" sz="2400" dirty="0">
              <a:solidFill>
                <a:srgbClr val="003300"/>
              </a:solidFill>
              <a:latin typeface="+mn-ea"/>
              <a:ea typeface="+mn-ea"/>
            </a:endParaRP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4 </a:t>
            </a:r>
            <a:r>
              <a:rPr lang="zh-CN" altLang="en-US" sz="2400" dirty="0">
                <a:solidFill>
                  <a:srgbClr val="003300"/>
                </a:solidFill>
                <a:latin typeface="+mn-ea"/>
                <a:ea typeface="+mn-ea"/>
              </a:rPr>
              <a:t>子格的求解、补元的求解</a:t>
            </a:r>
            <a:endParaRPr lang="en-US" altLang="zh-CN" sz="2400" dirty="0">
              <a:solidFill>
                <a:srgbClr val="003300"/>
              </a:solidFill>
              <a:latin typeface="+mn-ea"/>
              <a:ea typeface="+mn-ea"/>
            </a:endParaRP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5 </a:t>
            </a:r>
            <a:r>
              <a:rPr lang="zh-CN" altLang="en-US" sz="2400" dirty="0">
                <a:solidFill>
                  <a:srgbClr val="003300"/>
                </a:solidFill>
                <a:latin typeface="+mn-ea"/>
                <a:ea typeface="+mn-ea"/>
              </a:rPr>
              <a:t>同态和同构的证明</a:t>
            </a:r>
            <a:endParaRPr lang="en-US" altLang="zh-CN" sz="2400" dirty="0">
              <a:solidFill>
                <a:srgbClr val="003300"/>
              </a:solidFill>
              <a:latin typeface="+mn-ea"/>
              <a:ea typeface="+mn-ea"/>
            </a:endParaRPr>
          </a:p>
        </p:txBody>
      </p:sp>
      <p:grpSp>
        <p:nvGrpSpPr>
          <p:cNvPr id="82" name="Group 47"/>
          <p:cNvGrpSpPr>
            <a:grpSpLocks/>
          </p:cNvGrpSpPr>
          <p:nvPr/>
        </p:nvGrpSpPr>
        <p:grpSpPr bwMode="auto">
          <a:xfrm>
            <a:off x="1071678" y="4535027"/>
            <a:ext cx="1301142" cy="1016737"/>
            <a:chOff x="0" y="5"/>
            <a:chExt cx="668" cy="647"/>
          </a:xfrm>
          <a:solidFill>
            <a:srgbClr val="00B0F0"/>
          </a:solidFill>
        </p:grpSpPr>
        <p:sp>
          <p:nvSpPr>
            <p:cNvPr id="83"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4"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5"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6"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7"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88" name="Text Box 52"/>
          <p:cNvSpPr txBox="1">
            <a:spLocks noChangeArrowheads="1"/>
          </p:cNvSpPr>
          <p:nvPr/>
        </p:nvSpPr>
        <p:spPr bwMode="auto">
          <a:xfrm>
            <a:off x="1216413" y="4776362"/>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难点</a:t>
            </a:r>
            <a:endParaRPr lang="en-US" altLang="zh-CN" dirty="0">
              <a:solidFill>
                <a:schemeClr val="bg1"/>
              </a:solidFill>
              <a:latin typeface="+mn-ea"/>
              <a:ea typeface="+mn-ea"/>
              <a:cs typeface="Times New Roman" panose="02020603050405020304" pitchFamily="18" charset="0"/>
            </a:endParaRPr>
          </a:p>
        </p:txBody>
      </p:sp>
      <p:sp>
        <p:nvSpPr>
          <p:cNvPr id="89" name="Text Box 53"/>
          <p:cNvSpPr txBox="1">
            <a:spLocks noChangeArrowheads="1"/>
          </p:cNvSpPr>
          <p:nvPr/>
        </p:nvSpPr>
        <p:spPr bwMode="auto">
          <a:xfrm>
            <a:off x="2368193" y="4267994"/>
            <a:ext cx="7480594" cy="1689052"/>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1 </a:t>
            </a:r>
            <a:r>
              <a:rPr lang="zh-CN" altLang="en-US" sz="2400" dirty="0">
                <a:solidFill>
                  <a:srgbClr val="003300"/>
                </a:solidFill>
                <a:latin typeface="+mn-ea"/>
                <a:ea typeface="+mn-ea"/>
              </a:rPr>
              <a:t>利用格的定义证明相关性质</a:t>
            </a:r>
            <a:endParaRPr lang="en-US" altLang="zh-CN" sz="2400" dirty="0">
              <a:solidFill>
                <a:srgbClr val="003300"/>
              </a:solidFill>
              <a:latin typeface="+mn-ea"/>
              <a:ea typeface="+mn-ea"/>
            </a:endParaRP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2 </a:t>
            </a:r>
            <a:r>
              <a:rPr lang="zh-CN" altLang="en-US" sz="2400" dirty="0">
                <a:solidFill>
                  <a:srgbClr val="003300"/>
                </a:solidFill>
                <a:latin typeface="+mn-ea"/>
                <a:ea typeface="+mn-ea"/>
              </a:rPr>
              <a:t>格中运算定律的验证</a:t>
            </a:r>
          </a:p>
          <a:p>
            <a:pPr algn="l" eaLnBrk="1" hangingPunct="1">
              <a:lnSpc>
                <a:spcPct val="150000"/>
              </a:lnSpc>
              <a:spcBef>
                <a:spcPct val="0"/>
              </a:spcBef>
              <a:buClrTx/>
              <a:buFont typeface="Arial" panose="020B0604020202020204" pitchFamily="34" charset="0"/>
              <a:buNone/>
            </a:pPr>
            <a:r>
              <a:rPr lang="en-US" altLang="zh-CN" sz="2400" dirty="0">
                <a:solidFill>
                  <a:srgbClr val="003300"/>
                </a:solidFill>
                <a:latin typeface="+mn-ea"/>
                <a:ea typeface="+mn-ea"/>
              </a:rPr>
              <a:t>3 </a:t>
            </a:r>
            <a:r>
              <a:rPr lang="zh-CN" altLang="en-US" sz="2400" dirty="0">
                <a:solidFill>
                  <a:srgbClr val="003300"/>
                </a:solidFill>
                <a:latin typeface="+mn-ea"/>
                <a:ea typeface="+mn-ea"/>
              </a:rPr>
              <a:t>格中运算定律的综合证明</a:t>
            </a:r>
            <a:endParaRPr lang="en-US" altLang="zh-CN" sz="2400" dirty="0">
              <a:solidFill>
                <a:srgbClr val="003300"/>
              </a:solidFill>
              <a:latin typeface="+mn-ea"/>
              <a:ea typeface="+mn-ea"/>
            </a:endParaRPr>
          </a:p>
        </p:txBody>
      </p:sp>
      <p:sp>
        <p:nvSpPr>
          <p:cNvPr id="92" name="Rectangle 2"/>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kern="1200">
                <a:solidFill>
                  <a:schemeClr val="bg1"/>
                </a:solidFill>
                <a:latin typeface="+mj-lt"/>
                <a:ea typeface="+mj-ea"/>
                <a:cs typeface="+mj-cs"/>
              </a:defRPr>
            </a:lvl1pPr>
          </a:lstStyle>
          <a:p>
            <a:r>
              <a:rPr lang="zh-CN" altLang="en-US" b="1" dirty="0">
                <a:latin typeface="+mn-ea"/>
                <a:ea typeface="+mn-ea"/>
              </a:rPr>
              <a:t>学习要求</a:t>
            </a:r>
          </a:p>
        </p:txBody>
      </p:sp>
    </p:spTree>
    <p:custDataLst>
      <p:tags r:id="rId1"/>
    </p:custDataLst>
    <p:extLst>
      <p:ext uri="{BB962C8B-B14F-4D97-AF65-F5344CB8AC3E}">
        <p14:creationId xmlns:p14="http://schemas.microsoft.com/office/powerpoint/2010/main" val="1230086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651376" y="762794"/>
            <a:ext cx="6629399" cy="5205255"/>
            <a:chOff x="4619229" y="1021919"/>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619229" y="1021919"/>
              <a:ext cx="6629399" cy="5205255"/>
              <a:chOff x="4619229" y="1021919"/>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619229" y="1021919"/>
                <a:ext cx="6629399" cy="5205255"/>
                <a:chOff x="4619229" y="952977"/>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619229" y="952977"/>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858954" y="2516220"/>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TextBox 1">
                  <a:extLst>
                    <a:ext uri="{FF2B5EF4-FFF2-40B4-BE49-F238E27FC236}">
                      <a16:creationId xmlns:a16="http://schemas.microsoft.com/office/drawing/2014/main" id="{CC1830B4-B7AE-4F4E-B2A2-7EA3C57296F9}"/>
                    </a:ext>
                  </a:extLst>
                </p:cNvPr>
                <p:cNvSpPr txBox="1"/>
                <p:nvPr/>
              </p:nvSpPr>
              <p:spPr>
                <a:xfrm>
                  <a:off x="6954055" y="2671643"/>
                  <a:ext cx="2154436"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格的定义和性质</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49641" y="3265020"/>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子格与格同态</a:t>
                  </a:r>
                </a:p>
              </p:txBody>
            </p:sp>
            <p:sp>
              <p:nvSpPr>
                <p:cNvPr id="108" name="Freeform 3">
                  <a:extLst>
                    <a:ext uri="{FF2B5EF4-FFF2-40B4-BE49-F238E27FC236}">
                      <a16:creationId xmlns:a16="http://schemas.microsoft.com/office/drawing/2014/main" id="{B90F0CC1-39D6-4CF7-88A9-B6AE46CF38C8}"/>
                    </a:ext>
                  </a:extLst>
                </p:cNvPr>
                <p:cNvSpPr/>
                <p:nvPr/>
              </p:nvSpPr>
              <p:spPr>
                <a:xfrm>
                  <a:off x="6698357" y="1755261"/>
                  <a:ext cx="45719" cy="4050343"/>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10" name="Freeform 3">
                  <a:extLst>
                    <a:ext uri="{FF2B5EF4-FFF2-40B4-BE49-F238E27FC236}">
                      <a16:creationId xmlns:a16="http://schemas.microsoft.com/office/drawing/2014/main" id="{4422CB3B-D0D5-4FEA-B0A8-30267AF052B1}"/>
                    </a:ext>
                  </a:extLst>
                </p:cNvPr>
                <p:cNvSpPr/>
                <p:nvPr/>
              </p:nvSpPr>
              <p:spPr>
                <a:xfrm>
                  <a:off x="6646827" y="208999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24104" y="33202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24104" y="37921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82518" y="3778915"/>
                  <a:ext cx="923330"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特殊格</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870609" y="4886187"/>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格与布尔代数的应用</a:t>
                  </a:r>
                </a:p>
              </p:txBody>
            </p:sp>
            <p:sp>
              <p:nvSpPr>
                <p:cNvPr id="116" name="Freeform 3">
                  <a:extLst>
                    <a:ext uri="{FF2B5EF4-FFF2-40B4-BE49-F238E27FC236}">
                      <a16:creationId xmlns:a16="http://schemas.microsoft.com/office/drawing/2014/main" id="{74C8B829-18F9-4783-B4D6-E9A724B05A1B}"/>
                    </a:ext>
                  </a:extLst>
                </p:cNvPr>
                <p:cNvSpPr/>
                <p:nvPr/>
              </p:nvSpPr>
              <p:spPr>
                <a:xfrm>
                  <a:off x="6632575" y="437073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2575" y="4928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876646" y="2669024"/>
                  <a:ext cx="740587"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10.1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858954" y="3157714"/>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858954" y="3725688"/>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885928" y="429366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39918" y="2042662"/>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47502" y="5444665"/>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50219" y="53950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841681" y="4861636"/>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10.5</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7013575" y="441308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布尔代数</a:t>
                </a:r>
              </a:p>
            </p:txBody>
          </p:sp>
          <p:sp>
            <p:nvSpPr>
              <p:cNvPr id="50" name="TextBox 1">
                <a:extLst>
                  <a:ext uri="{FF2B5EF4-FFF2-40B4-BE49-F238E27FC236}">
                    <a16:creationId xmlns:a16="http://schemas.microsoft.com/office/drawing/2014/main" id="{159A0760-2207-4EDB-B452-50B7B83350F3}"/>
                  </a:ext>
                </a:extLst>
              </p:cNvPr>
              <p:cNvSpPr txBox="1"/>
              <p:nvPr/>
            </p:nvSpPr>
            <p:spPr>
              <a:xfrm>
                <a:off x="5885927" y="549855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10.6</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2575" y="28313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
        <p:nvSpPr>
          <p:cNvPr id="54" name="TextBox 1">
            <a:extLst>
              <a:ext uri="{FF2B5EF4-FFF2-40B4-BE49-F238E27FC236}">
                <a16:creationId xmlns:a16="http://schemas.microsoft.com/office/drawing/2014/main" id="{BF4591C1-0E5D-4DEB-A14A-9E6064F6CFFE}"/>
              </a:ext>
            </a:extLst>
          </p:cNvPr>
          <p:cNvSpPr txBox="1"/>
          <p:nvPr/>
        </p:nvSpPr>
        <p:spPr>
          <a:xfrm>
            <a:off x="7012641" y="1835262"/>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5922572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31837-D6F6-476A-AFF1-91B63730D2AA}"/>
              </a:ext>
            </a:extLst>
          </p:cNvPr>
          <p:cNvSpPr>
            <a:spLocks noGrp="1"/>
          </p:cNvSpPr>
          <p:nvPr>
            <p:ph type="title"/>
          </p:nvPr>
        </p:nvSpPr>
        <p:spPr/>
        <p:txBody>
          <a:bodyPr/>
          <a:lstStyle/>
          <a:p>
            <a:r>
              <a:rPr lang="zh-CN" altLang="en-US" dirty="0"/>
              <a:t>引言</a:t>
            </a:r>
          </a:p>
        </p:txBody>
      </p:sp>
      <p:sp>
        <p:nvSpPr>
          <p:cNvPr id="3" name="Content Placeholder 2">
            <a:extLst>
              <a:ext uri="{FF2B5EF4-FFF2-40B4-BE49-F238E27FC236}">
                <a16:creationId xmlns:a16="http://schemas.microsoft.com/office/drawing/2014/main" id="{7E83DE95-EBCD-4885-A7EF-F72DDDA8D5AB}"/>
              </a:ext>
            </a:extLst>
          </p:cNvPr>
          <p:cNvSpPr>
            <a:spLocks noGrp="1"/>
          </p:cNvSpPr>
          <p:nvPr>
            <p:ph idx="1"/>
          </p:nvPr>
        </p:nvSpPr>
        <p:spPr>
          <a:xfrm>
            <a:off x="737675" y="1219994"/>
            <a:ext cx="10439400" cy="4495800"/>
          </a:xfrm>
        </p:spPr>
        <p:txBody>
          <a:bodyPr>
            <a:noAutofit/>
          </a:bodyPr>
          <a:lstStyle/>
          <a:p>
            <a:r>
              <a:rPr lang="zh-CN" altLang="zh-CN" dirty="0"/>
              <a:t>格与布尔代数</a:t>
            </a:r>
            <a:r>
              <a:rPr lang="zh-CN" altLang="en-US" dirty="0"/>
              <a:t>也</a:t>
            </a:r>
            <a:r>
              <a:rPr lang="zh-CN" altLang="zh-CN" dirty="0"/>
              <a:t>是</a:t>
            </a:r>
            <a:r>
              <a:rPr lang="zh-CN" altLang="zh-CN" dirty="0">
                <a:solidFill>
                  <a:srgbClr val="0000FF"/>
                </a:solidFill>
              </a:rPr>
              <a:t>具有两个二元运算</a:t>
            </a:r>
            <a:r>
              <a:rPr lang="zh-CN" altLang="zh-CN" dirty="0"/>
              <a:t>的代数系统，这两个代数系统与群、环、域之间有很多联系，但也存在着一个重要区别：在</a:t>
            </a:r>
            <a:r>
              <a:rPr lang="zh-CN" altLang="zh-CN" dirty="0">
                <a:solidFill>
                  <a:srgbClr val="0000FF"/>
                </a:solidFill>
              </a:rPr>
              <a:t>格与布尔代数中，偏序关系具有重要意义</a:t>
            </a:r>
            <a:r>
              <a:rPr lang="zh-CN" altLang="zh-CN" dirty="0"/>
              <a:t>。</a:t>
            </a:r>
            <a:endParaRPr lang="en-US" altLang="zh-CN" dirty="0"/>
          </a:p>
          <a:p>
            <a:r>
              <a:rPr lang="zh-CN" altLang="zh-CN" dirty="0"/>
              <a:t>格有多种等价定义，但主要分为两类，一类是从偏序集的角度给出的，这种定义可以借助哈斯图表示，因而比较直观，易于理解，这样定义的格称为</a:t>
            </a:r>
            <a:r>
              <a:rPr lang="zh-CN" altLang="zh-CN" dirty="0">
                <a:solidFill>
                  <a:srgbClr val="FF0000"/>
                </a:solidFill>
              </a:rPr>
              <a:t>偏序格</a:t>
            </a:r>
            <a:r>
              <a:rPr lang="zh-CN" altLang="zh-CN" dirty="0"/>
              <a:t>；另一类是从代数系统的角度来给出的，可以借助代数系统的子代数、同态与同构等工具来讨论其性质，这样定义的格称为</a:t>
            </a:r>
            <a:r>
              <a:rPr lang="zh-CN" altLang="zh-CN" dirty="0">
                <a:solidFill>
                  <a:srgbClr val="FF0000"/>
                </a:solidFill>
              </a:rPr>
              <a:t>代数格</a:t>
            </a:r>
            <a:r>
              <a:rPr lang="zh-CN" altLang="zh-CN" dirty="0"/>
              <a:t>，代数格的定义又可分为八条件、六条件、四条件、三条件、二条件甚至一条件等几种。</a:t>
            </a:r>
          </a:p>
        </p:txBody>
      </p:sp>
    </p:spTree>
    <p:custDataLst>
      <p:tags r:id="rId1"/>
    </p:custDataLst>
    <p:extLst>
      <p:ext uri="{BB962C8B-B14F-4D97-AF65-F5344CB8AC3E}">
        <p14:creationId xmlns:p14="http://schemas.microsoft.com/office/powerpoint/2010/main" val="406136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格的定义</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199851-869F-484E-89D0-692A486C17C5}"/>
                  </a:ext>
                </a:extLst>
              </p:cNvPr>
              <p:cNvSpPr>
                <a:spLocks noGrp="1"/>
              </p:cNvSpPr>
              <p:nvPr>
                <p:ph idx="1"/>
              </p:nvPr>
            </p:nvSpPr>
            <p:spPr>
              <a:xfrm>
                <a:off x="384175" y="964775"/>
                <a:ext cx="11430000" cy="1566177"/>
              </a:xfrm>
            </p:spPr>
            <p:txBody>
              <a:bodyPr>
                <a:noAutofit/>
              </a:bodyPr>
              <a:lstStyle/>
              <a:p>
                <a:pPr marL="0" indent="0">
                  <a:buNone/>
                </a:pPr>
                <a:r>
                  <a:rPr lang="zh-CN" altLang="zh-CN" dirty="0">
                    <a:solidFill>
                      <a:srgbClr val="0000FF"/>
                    </a:solidFill>
                    <a:latin typeface="+mn-ea"/>
                  </a:rPr>
                  <a:t>定义</a:t>
                </a:r>
                <a:r>
                  <a:rPr lang="en-US" altLang="zh-CN" dirty="0">
                    <a:solidFill>
                      <a:srgbClr val="0000FF"/>
                    </a:solidFill>
                    <a:latin typeface="+mn-ea"/>
                  </a:rPr>
                  <a:t>10.1  </a:t>
                </a:r>
                <a:r>
                  <a:rPr lang="zh-CN" altLang="zh-CN" dirty="0"/>
                  <a:t>设</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𝑳</m:t>
                    </m:r>
                    <m:r>
                      <a:rPr lang="en-US" altLang="zh-CN" b="1" i="1" dirty="0" smtClean="0">
                        <a:latin typeface="Cambria Math" panose="02040503050406030204" pitchFamily="18" charset="0"/>
                      </a:rPr>
                      <m:t>, ≤ &gt;</m:t>
                    </m:r>
                  </m:oMath>
                </a14:m>
                <a:r>
                  <a:rPr lang="zh-CN" altLang="zh-CN" dirty="0"/>
                  <a:t>是一个偏序集，如果对任意</a:t>
                </a:r>
                <a14:m>
                  <m:oMath xmlns:m="http://schemas.openxmlformats.org/officeDocument/2006/math">
                    <m:r>
                      <a:rPr lang="en-US" altLang="zh-CN" b="1" i="1" dirty="0" smtClean="0">
                        <a:latin typeface="Cambria Math" panose="02040503050406030204" pitchFamily="18" charset="0"/>
                      </a:rPr>
                      <m:t>𝒙</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𝒚</m:t>
                    </m:r>
                    <m:r>
                      <a:rPr lang="en-US" altLang="zh-CN" b="1" i="1" dirty="0" smtClean="0">
                        <a:latin typeface="Cambria Math" panose="02040503050406030204" pitchFamily="18" charset="0"/>
                        <a:ea typeface="Cambria Math" panose="02040503050406030204" pitchFamily="18" charset="0"/>
                      </a:rPr>
                      <m:t>∈</m:t>
                    </m:r>
                    <m:r>
                      <a:rPr lang="en-US" altLang="zh-CN" b="1" i="1" dirty="0" smtClean="0">
                        <a:latin typeface="Cambria Math" panose="02040503050406030204" pitchFamily="18" charset="0"/>
                        <a:ea typeface="Cambria Math" panose="02040503050406030204" pitchFamily="18" charset="0"/>
                      </a:rPr>
                      <m:t>𝑳</m:t>
                    </m:r>
                  </m:oMath>
                </a14:m>
                <a:r>
                  <a:rPr lang="zh-CN" altLang="zh-CN" dirty="0"/>
                  <a:t>，子集</a:t>
                </a:r>
                <a14:m>
                  <m:oMath xmlns:m="http://schemas.openxmlformats.org/officeDocument/2006/math">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𝒙</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𝒚</m:t>
                    </m:r>
                    <m:r>
                      <a:rPr lang="en-US" altLang="zh-CN" b="1" i="1" dirty="0" smtClean="0">
                        <a:latin typeface="Cambria Math" panose="02040503050406030204" pitchFamily="18" charset="0"/>
                      </a:rPr>
                      <m:t>}</m:t>
                    </m:r>
                  </m:oMath>
                </a14:m>
                <a:r>
                  <a:rPr lang="zh-CN" altLang="zh-CN" dirty="0"/>
                  <a:t>都有</a:t>
                </a:r>
                <a:r>
                  <a:rPr lang="zh-CN" altLang="zh-CN" dirty="0">
                    <a:solidFill>
                      <a:srgbClr val="0000FF"/>
                    </a:solidFill>
                  </a:rPr>
                  <a:t>最大下界</a:t>
                </a:r>
                <a:r>
                  <a:rPr lang="en-US" altLang="zh-CN" dirty="0">
                    <a:solidFill>
                      <a:schemeClr val="tx1"/>
                    </a:solidFill>
                  </a:rPr>
                  <a:t>(</a:t>
                </a:r>
                <a:r>
                  <a:rPr lang="zh-CN" altLang="zh-CN" dirty="0">
                    <a:solidFill>
                      <a:schemeClr val="tx1"/>
                    </a:solidFill>
                  </a:rPr>
                  <a:t>记做</a:t>
                </a:r>
                <a14:m>
                  <m:oMath xmlns:m="http://schemas.openxmlformats.org/officeDocument/2006/math">
                    <m:r>
                      <a:rPr lang="en-US" altLang="zh-CN" b="1" i="0" dirty="0" smtClean="0">
                        <a:solidFill>
                          <a:srgbClr val="0000FF"/>
                        </a:solidFill>
                        <a:latin typeface="Cambria Math" panose="02040503050406030204" pitchFamily="18" charset="0"/>
                      </a:rPr>
                      <m:t>𝐢𝐧𝐟</m:t>
                    </m:r>
                    <m:r>
                      <a:rPr lang="en-US" altLang="zh-CN" b="1" i="1" dirty="0" smtClean="0">
                        <a:solidFill>
                          <a:srgbClr val="0000FF"/>
                        </a:solidFill>
                        <a:latin typeface="Cambria Math" panose="02040503050406030204" pitchFamily="18" charset="0"/>
                      </a:rPr>
                      <m:t>⁡{</m:t>
                    </m:r>
                    <m:r>
                      <a:rPr lang="en-US" altLang="zh-CN" b="1" i="1" dirty="0" smtClean="0">
                        <a:solidFill>
                          <a:srgbClr val="0000FF"/>
                        </a:solidFill>
                        <a:latin typeface="Cambria Math" panose="02040503050406030204" pitchFamily="18" charset="0"/>
                      </a:rPr>
                      <m:t>𝒙</m:t>
                    </m:r>
                    <m:r>
                      <a:rPr lang="en-US" altLang="zh-CN" b="1" i="1" dirty="0" smtClean="0">
                        <a:solidFill>
                          <a:srgbClr val="0000FF"/>
                        </a:solidFill>
                        <a:latin typeface="Cambria Math" panose="02040503050406030204" pitchFamily="18" charset="0"/>
                      </a:rPr>
                      <m:t>,</m:t>
                    </m:r>
                    <m:r>
                      <a:rPr lang="en-US" altLang="zh-CN" b="1" i="1" dirty="0" smtClean="0">
                        <a:solidFill>
                          <a:srgbClr val="0000FF"/>
                        </a:solidFill>
                        <a:latin typeface="Cambria Math" panose="02040503050406030204" pitchFamily="18" charset="0"/>
                      </a:rPr>
                      <m:t>𝒚</m:t>
                    </m:r>
                    <m:r>
                      <a:rPr lang="en-US" altLang="zh-CN" b="1" i="1" dirty="0">
                        <a:solidFill>
                          <a:srgbClr val="0000FF"/>
                        </a:solidFill>
                        <a:latin typeface="Cambria Math" panose="02040503050406030204" pitchFamily="18" charset="0"/>
                      </a:rPr>
                      <m:t>}</m:t>
                    </m:r>
                  </m:oMath>
                </a14:m>
                <a:r>
                  <a:rPr lang="en-US" altLang="zh-CN" dirty="0">
                    <a:solidFill>
                      <a:schemeClr val="tx1"/>
                    </a:solidFill>
                  </a:rPr>
                  <a:t>)</a:t>
                </a:r>
                <a:r>
                  <a:rPr lang="zh-CN" altLang="zh-CN" dirty="0"/>
                  <a:t>和</a:t>
                </a:r>
                <a:r>
                  <a:rPr lang="zh-CN" altLang="zh-CN" dirty="0">
                    <a:solidFill>
                      <a:srgbClr val="0000FF"/>
                    </a:solidFill>
                  </a:rPr>
                  <a:t>最小上界</a:t>
                </a:r>
                <a:r>
                  <a:rPr lang="en-US" altLang="zh-CN" dirty="0">
                    <a:solidFill>
                      <a:schemeClr val="tx1"/>
                    </a:solidFill>
                  </a:rPr>
                  <a:t>(</a:t>
                </a:r>
                <a:r>
                  <a:rPr lang="zh-CN" altLang="zh-CN" dirty="0">
                    <a:solidFill>
                      <a:schemeClr val="tx1"/>
                    </a:solidFill>
                  </a:rPr>
                  <a:t>记做</a:t>
                </a:r>
                <a14:m>
                  <m:oMath xmlns:m="http://schemas.openxmlformats.org/officeDocument/2006/math">
                    <m:r>
                      <a:rPr lang="en-US" altLang="zh-CN" b="1" i="0" dirty="0" smtClean="0">
                        <a:solidFill>
                          <a:srgbClr val="0000FF"/>
                        </a:solidFill>
                        <a:latin typeface="Cambria Math" panose="02040503050406030204" pitchFamily="18" charset="0"/>
                      </a:rPr>
                      <m:t>𝐬𝐮𝐩</m:t>
                    </m:r>
                    <m:r>
                      <a:rPr lang="en-US" altLang="zh-CN" b="1" i="1" dirty="0" smtClean="0">
                        <a:solidFill>
                          <a:srgbClr val="0000FF"/>
                        </a:solidFill>
                        <a:latin typeface="Cambria Math" panose="02040503050406030204" pitchFamily="18" charset="0"/>
                      </a:rPr>
                      <m:t>⁡{</m:t>
                    </m:r>
                    <m:r>
                      <a:rPr lang="en-US" altLang="zh-CN" b="1" i="1" dirty="0" smtClean="0">
                        <a:solidFill>
                          <a:srgbClr val="0000FF"/>
                        </a:solidFill>
                        <a:latin typeface="Cambria Math" panose="02040503050406030204" pitchFamily="18" charset="0"/>
                      </a:rPr>
                      <m:t>𝒙</m:t>
                    </m:r>
                    <m:r>
                      <a:rPr lang="en-US" altLang="zh-CN" b="1" i="1" dirty="0" smtClean="0">
                        <a:solidFill>
                          <a:srgbClr val="0000FF"/>
                        </a:solidFill>
                        <a:latin typeface="Cambria Math" panose="02040503050406030204" pitchFamily="18" charset="0"/>
                      </a:rPr>
                      <m:t>,</m:t>
                    </m:r>
                    <m:r>
                      <a:rPr lang="en-US" altLang="zh-CN" b="1" i="1" dirty="0" smtClean="0">
                        <a:solidFill>
                          <a:srgbClr val="0000FF"/>
                        </a:solidFill>
                        <a:latin typeface="Cambria Math" panose="02040503050406030204" pitchFamily="18" charset="0"/>
                      </a:rPr>
                      <m:t>𝒚</m:t>
                    </m:r>
                    <m:r>
                      <a:rPr lang="en-US" altLang="zh-CN" b="1" i="1" dirty="0">
                        <a:solidFill>
                          <a:srgbClr val="0000FF"/>
                        </a:solidFill>
                        <a:latin typeface="Cambria Math" panose="02040503050406030204" pitchFamily="18" charset="0"/>
                      </a:rPr>
                      <m:t>}</m:t>
                    </m:r>
                  </m:oMath>
                </a14:m>
                <a:r>
                  <a:rPr lang="en-US" altLang="zh-CN" dirty="0">
                    <a:solidFill>
                      <a:schemeClr val="tx1"/>
                    </a:solidFill>
                  </a:rPr>
                  <a:t>)</a:t>
                </a:r>
                <a:r>
                  <a:rPr lang="zh-CN" altLang="zh-CN" dirty="0"/>
                  <a:t>存在，则称</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𝑳</m:t>
                    </m:r>
                    <m:r>
                      <a:rPr lang="en-US" altLang="zh-CN" b="1" i="1" dirty="0" smtClean="0">
                        <a:latin typeface="Cambria Math" panose="02040503050406030204" pitchFamily="18" charset="0"/>
                      </a:rPr>
                      <m:t>, ≤ &gt;</m:t>
                    </m:r>
                  </m:oMath>
                </a14:m>
                <a:r>
                  <a:rPr lang="zh-CN" altLang="zh-CN" dirty="0"/>
                  <a:t>是</a:t>
                </a:r>
                <a:r>
                  <a:rPr lang="zh-CN" altLang="zh-CN" dirty="0">
                    <a:solidFill>
                      <a:srgbClr val="FF0000"/>
                    </a:solidFill>
                  </a:rPr>
                  <a:t>格</a:t>
                </a:r>
                <a:r>
                  <a:rPr lang="zh-CN" altLang="zh-CN" dirty="0"/>
                  <a:t>，简称</a:t>
                </a:r>
                <a14:m>
                  <m:oMath xmlns:m="http://schemas.openxmlformats.org/officeDocument/2006/math">
                    <m:r>
                      <a:rPr lang="en-US" altLang="zh-CN" b="1" i="1" dirty="0" smtClean="0">
                        <a:latin typeface="Cambria Math" panose="02040503050406030204" pitchFamily="18" charset="0"/>
                      </a:rPr>
                      <m:t>𝑳</m:t>
                    </m:r>
                  </m:oMath>
                </a14:m>
                <a:r>
                  <a:rPr lang="zh-CN" altLang="zh-CN" dirty="0"/>
                  <a:t>是</a:t>
                </a:r>
                <a:r>
                  <a:rPr lang="zh-CN" altLang="zh-CN" dirty="0">
                    <a:solidFill>
                      <a:srgbClr val="FF0000"/>
                    </a:solidFill>
                  </a:rPr>
                  <a:t>格</a:t>
                </a:r>
                <a:r>
                  <a:rPr lang="zh-CN" altLang="zh-CN" dirty="0"/>
                  <a:t>。若</a:t>
                </a:r>
                <a14:m>
                  <m:oMath xmlns:m="http://schemas.openxmlformats.org/officeDocument/2006/math">
                    <m:r>
                      <a:rPr lang="en-US" altLang="zh-CN" b="1" i="1" dirty="0" smtClean="0">
                        <a:latin typeface="Cambria Math" panose="02040503050406030204" pitchFamily="18" charset="0"/>
                      </a:rPr>
                      <m:t>𝑳</m:t>
                    </m:r>
                  </m:oMath>
                </a14:m>
                <a:r>
                  <a:rPr lang="zh-CN" altLang="zh-CN" dirty="0"/>
                  <a:t>为有限集，则称格</a:t>
                </a:r>
                <a14:m>
                  <m:oMath xmlns:m="http://schemas.openxmlformats.org/officeDocument/2006/math">
                    <m:r>
                      <a:rPr lang="en-US" altLang="zh-CN" b="1" i="1" dirty="0" smtClean="0">
                        <a:latin typeface="Cambria Math" panose="02040503050406030204" pitchFamily="18" charset="0"/>
                      </a:rPr>
                      <m:t>𝑳</m:t>
                    </m:r>
                  </m:oMath>
                </a14:m>
                <a:r>
                  <a:rPr lang="zh-CN" altLang="zh-CN" dirty="0"/>
                  <a:t>为</a:t>
                </a:r>
                <a:r>
                  <a:rPr lang="zh-CN" altLang="zh-CN" dirty="0">
                    <a:solidFill>
                      <a:srgbClr val="FF0000"/>
                    </a:solidFill>
                  </a:rPr>
                  <a:t>有限格</a:t>
                </a:r>
                <a:r>
                  <a:rPr lang="zh-CN" altLang="zh-CN" dirty="0"/>
                  <a:t>。</a:t>
                </a:r>
                <a:endParaRPr lang="zh-CN" altLang="zh-CN" dirty="0">
                  <a:latin typeface="+mn-ea"/>
                </a:endParaRPr>
              </a:p>
              <a:p>
                <a:pPr marL="0" indent="0">
                  <a:buNone/>
                </a:pPr>
                <a:endParaRPr lang="zh-CN" altLang="en-US" dirty="0">
                  <a:latin typeface="+mn-ea"/>
                </a:endParaRPr>
              </a:p>
            </p:txBody>
          </p:sp>
        </mc:Choice>
        <mc:Fallback xmlns="">
          <p:sp>
            <p:nvSpPr>
              <p:cNvPr id="3" name="Content Placeholder 2">
                <a:extLst>
                  <a:ext uri="{FF2B5EF4-FFF2-40B4-BE49-F238E27FC236}">
                    <a16:creationId xmlns:a16="http://schemas.microsoft.com/office/drawing/2014/main" id="{87199851-869F-484E-89D0-692A486C17C5}"/>
                  </a:ext>
                </a:extLst>
              </p:cNvPr>
              <p:cNvSpPr>
                <a:spLocks noGrp="1" noRot="1" noChangeAspect="1" noMove="1" noResize="1" noEditPoints="1" noAdjustHandles="1" noChangeArrowheads="1" noChangeShapeType="1" noTextEdit="1"/>
              </p:cNvSpPr>
              <p:nvPr>
                <p:ph idx="1"/>
              </p:nvPr>
            </p:nvSpPr>
            <p:spPr>
              <a:xfrm>
                <a:off x="384175" y="964775"/>
                <a:ext cx="11430000" cy="1566177"/>
              </a:xfrm>
              <a:blipFill>
                <a:blip r:embed="rId5"/>
                <a:stretch>
                  <a:fillRect l="-533"/>
                </a:stretch>
              </a:blipFill>
            </p:spPr>
            <p:txBody>
              <a:bodyPr/>
              <a:lstStyle/>
              <a:p>
                <a:r>
                  <a:rPr lang="zh-CN" altLang="en-US">
                    <a:noFill/>
                  </a:rPr>
                  <a:t> </a:t>
                </a:r>
              </a:p>
            </p:txBody>
          </p:sp>
        </mc:Fallback>
      </mc:AlternateContent>
      <p:sp>
        <p:nvSpPr>
          <p:cNvPr id="5" name="矩形 242">
            <a:extLst>
              <a:ext uri="{FF2B5EF4-FFF2-40B4-BE49-F238E27FC236}">
                <a16:creationId xmlns:a16="http://schemas.microsoft.com/office/drawing/2014/main" id="{6E79D368-753C-4FE5-BE15-F5F824CC41A6}"/>
              </a:ext>
            </a:extLst>
          </p:cNvPr>
          <p:cNvSpPr/>
          <p:nvPr/>
        </p:nvSpPr>
        <p:spPr>
          <a:xfrm>
            <a:off x="9525" y="2543136"/>
            <a:ext cx="12198349" cy="723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77" tIns="45738" rIns="91477" bIns="45738" rtlCol="0" anchor="ctr"/>
          <a:lstStyle/>
          <a:p>
            <a:pPr algn="ctr"/>
            <a:endParaRPr lang="zh-CN" altLang="en-US"/>
          </a:p>
        </p:txBody>
      </p:sp>
      <p:sp>
        <p:nvSpPr>
          <p:cNvPr id="6" name="Rectangle 5">
            <a:extLst>
              <a:ext uri="{FF2B5EF4-FFF2-40B4-BE49-F238E27FC236}">
                <a16:creationId xmlns:a16="http://schemas.microsoft.com/office/drawing/2014/main" id="{8CEA49DB-AF1A-41F7-BD94-B008F38A3545}"/>
              </a:ext>
            </a:extLst>
          </p:cNvPr>
          <p:cNvSpPr/>
          <p:nvPr/>
        </p:nvSpPr>
        <p:spPr>
          <a:xfrm>
            <a:off x="6601441" y="3535583"/>
            <a:ext cx="4679330" cy="1485920"/>
          </a:xfrm>
          <a:prstGeom prst="rect">
            <a:avLst/>
          </a:prstGeom>
          <a:solidFill>
            <a:srgbClr val="1A8ABC"/>
          </a:solidFill>
        </p:spPr>
        <p:txBody>
          <a:bodyPr wrap="square">
            <a:spAutoFit/>
          </a:bodyPr>
          <a:lstStyle/>
          <a:p>
            <a:pPr marL="342900" indent="-342900">
              <a:lnSpc>
                <a:spcPct val="130000"/>
              </a:lnSpc>
              <a:buFont typeface="Arial" panose="020B0604020202020204" pitchFamily="34" charset="0"/>
              <a:buChar char="•"/>
            </a:pPr>
            <a:r>
              <a:rPr lang="zh-CN" altLang="zh-CN" b="1" dirty="0">
                <a:solidFill>
                  <a:schemeClr val="bg1"/>
                </a:solidFill>
                <a:latin typeface="+mn-ea"/>
              </a:rPr>
              <a:t>所有的全序集（或链）都是格</a:t>
            </a:r>
            <a:endParaRPr lang="en-US" altLang="zh-CN" b="1" dirty="0">
              <a:solidFill>
                <a:schemeClr val="bg1"/>
              </a:solidFill>
              <a:latin typeface="+mn-ea"/>
            </a:endParaRPr>
          </a:p>
          <a:p>
            <a:pPr marL="342900" indent="-342900">
              <a:lnSpc>
                <a:spcPct val="130000"/>
              </a:lnSpc>
              <a:buFont typeface="Arial" panose="020B0604020202020204" pitchFamily="34" charset="0"/>
              <a:buChar char="•"/>
            </a:pPr>
            <a:r>
              <a:rPr lang="zh-CN" altLang="zh-CN" b="1" dirty="0">
                <a:solidFill>
                  <a:schemeClr val="bg1"/>
                </a:solidFill>
              </a:rPr>
              <a:t>为方便说明，可把由偏序集定义的格称为</a:t>
            </a:r>
            <a:r>
              <a:rPr lang="zh-CN" altLang="zh-CN" b="1" dirty="0">
                <a:solidFill>
                  <a:srgbClr val="FFFF00"/>
                </a:solidFill>
              </a:rPr>
              <a:t>偏序格</a:t>
            </a:r>
            <a:r>
              <a:rPr lang="zh-CN" altLang="zh-CN" b="1" dirty="0">
                <a:solidFill>
                  <a:schemeClr val="bg1"/>
                </a:solidFill>
              </a:rPr>
              <a:t>。</a:t>
            </a:r>
            <a:endParaRPr lang="zh-CN" altLang="en-US" b="1" dirty="0">
              <a:solidFill>
                <a:schemeClr val="bg1"/>
              </a:solidFill>
              <a:latin typeface="+mn-ea"/>
            </a:endParaRPr>
          </a:p>
        </p:txBody>
      </p:sp>
      <p:grpSp>
        <p:nvGrpSpPr>
          <p:cNvPr id="41" name="组合 40">
            <a:extLst>
              <a:ext uri="{FF2B5EF4-FFF2-40B4-BE49-F238E27FC236}">
                <a16:creationId xmlns:a16="http://schemas.microsoft.com/office/drawing/2014/main" id="{363E63E6-BF8C-4ABC-BB9F-1EEC28C3B1A2}"/>
              </a:ext>
            </a:extLst>
          </p:cNvPr>
          <p:cNvGrpSpPr/>
          <p:nvPr/>
        </p:nvGrpSpPr>
        <p:grpSpPr>
          <a:xfrm>
            <a:off x="943153" y="3018129"/>
            <a:ext cx="4283150" cy="2671365"/>
            <a:chOff x="1745920" y="1515585"/>
            <a:chExt cx="4283150" cy="2671365"/>
          </a:xfrm>
        </p:grpSpPr>
        <p:grpSp>
          <p:nvGrpSpPr>
            <p:cNvPr id="42" name="组合 41">
              <a:extLst>
                <a:ext uri="{FF2B5EF4-FFF2-40B4-BE49-F238E27FC236}">
                  <a16:creationId xmlns:a16="http://schemas.microsoft.com/office/drawing/2014/main" id="{6C43C8D2-9C88-4349-8B2B-A98D2794A634}"/>
                </a:ext>
              </a:extLst>
            </p:cNvPr>
            <p:cNvGrpSpPr/>
            <p:nvPr/>
          </p:nvGrpSpPr>
          <p:grpSpPr>
            <a:xfrm>
              <a:off x="4677746" y="1607152"/>
              <a:ext cx="1351324" cy="2579798"/>
              <a:chOff x="5693195" y="1616045"/>
              <a:chExt cx="1351324" cy="2579798"/>
            </a:xfrm>
          </p:grpSpPr>
          <p:sp>
            <p:nvSpPr>
              <p:cNvPr id="61" name="流程图: 接点 52">
                <a:extLst>
                  <a:ext uri="{FF2B5EF4-FFF2-40B4-BE49-F238E27FC236}">
                    <a16:creationId xmlns:a16="http://schemas.microsoft.com/office/drawing/2014/main" id="{10BA4332-AC04-452E-A44E-0E4D59BB6FAF}"/>
                  </a:ext>
                </a:extLst>
              </p:cNvPr>
              <p:cNvSpPr/>
              <p:nvPr/>
            </p:nvSpPr>
            <p:spPr>
              <a:xfrm>
                <a:off x="6420351" y="372069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62" name="流程图: 接点 52">
                <a:extLst>
                  <a:ext uri="{FF2B5EF4-FFF2-40B4-BE49-F238E27FC236}">
                    <a16:creationId xmlns:a16="http://schemas.microsoft.com/office/drawing/2014/main" id="{C25E63D3-E872-46E7-B4AC-6AFCDBCDB461}"/>
                  </a:ext>
                </a:extLst>
              </p:cNvPr>
              <p:cNvSpPr/>
              <p:nvPr/>
            </p:nvSpPr>
            <p:spPr>
              <a:xfrm>
                <a:off x="6008981" y="283346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63" name="流程图: 接点 52">
                <a:extLst>
                  <a:ext uri="{FF2B5EF4-FFF2-40B4-BE49-F238E27FC236}">
                    <a16:creationId xmlns:a16="http://schemas.microsoft.com/office/drawing/2014/main" id="{0A0C2511-F13F-460B-9EE9-105FD273EC0C}"/>
                  </a:ext>
                </a:extLst>
              </p:cNvPr>
              <p:cNvSpPr/>
              <p:nvPr/>
            </p:nvSpPr>
            <p:spPr>
              <a:xfrm>
                <a:off x="6420351" y="190676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64" name="流程图: 接点 63">
                <a:extLst>
                  <a:ext uri="{FF2B5EF4-FFF2-40B4-BE49-F238E27FC236}">
                    <a16:creationId xmlns:a16="http://schemas.microsoft.com/office/drawing/2014/main" id="{3CABEA53-8AAB-42EE-B0E3-A64573FE91CE}"/>
                  </a:ext>
                </a:extLst>
              </p:cNvPr>
              <p:cNvSpPr/>
              <p:nvPr/>
            </p:nvSpPr>
            <p:spPr>
              <a:xfrm>
                <a:off x="6764020" y="283346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65" name="Line 1091">
                <a:extLst>
                  <a:ext uri="{FF2B5EF4-FFF2-40B4-BE49-F238E27FC236}">
                    <a16:creationId xmlns:a16="http://schemas.microsoft.com/office/drawing/2014/main" id="{BE1428EE-06D1-4365-944C-6B4B20E736EF}"/>
                  </a:ext>
                </a:extLst>
              </p:cNvPr>
              <p:cNvCxnSpPr>
                <a:cxnSpLocks noChangeShapeType="1"/>
                <a:stCxn id="63" idx="3"/>
                <a:endCxn id="62" idx="0"/>
              </p:cNvCxnSpPr>
              <p:nvPr/>
            </p:nvCxnSpPr>
            <p:spPr bwMode="auto">
              <a:xfrm flipH="1">
                <a:off x="6054701" y="1985377"/>
                <a:ext cx="379041" cy="848086"/>
              </a:xfrm>
              <a:prstGeom prst="line">
                <a:avLst/>
              </a:prstGeom>
              <a:ln w="19050">
                <a:headEnd/>
                <a:tailEnd/>
              </a:ln>
              <a:effectLst/>
              <a:extLst>
                <a:ext uri="{909E8E84-426E-40DD-AFC4-6F175D3DCCD1}">
                  <a14:hiddenFill xmlns:a14="http://schemas.microsoft.com/office/drawing/2010/main">
                    <a:noFill/>
                  </a14:hiddenFill>
                </a:ext>
              </a:extLst>
            </p:spPr>
            <p:style>
              <a:lnRef idx="2">
                <a:schemeClr val="dk1"/>
              </a:lnRef>
              <a:fillRef idx="0">
                <a:schemeClr val="dk1"/>
              </a:fillRef>
              <a:effectRef idx="1">
                <a:schemeClr val="dk1"/>
              </a:effectRef>
              <a:fontRef idx="minor">
                <a:schemeClr val="tx1"/>
              </a:fontRef>
            </p:style>
          </p:cxnSp>
          <p:cxnSp>
            <p:nvCxnSpPr>
              <p:cNvPr id="66" name="Line 1091">
                <a:extLst>
                  <a:ext uri="{FF2B5EF4-FFF2-40B4-BE49-F238E27FC236}">
                    <a16:creationId xmlns:a16="http://schemas.microsoft.com/office/drawing/2014/main" id="{308318E6-9522-4EC5-89DB-BFCA9AB1CC57}"/>
                  </a:ext>
                </a:extLst>
              </p:cNvPr>
              <p:cNvCxnSpPr>
                <a:cxnSpLocks noChangeShapeType="1"/>
                <a:stCxn id="64" idx="4"/>
                <a:endCxn id="61" idx="7"/>
              </p:cNvCxnSpPr>
              <p:nvPr/>
            </p:nvCxnSpPr>
            <p:spPr bwMode="auto">
              <a:xfrm flipH="1">
                <a:off x="6498400" y="2925561"/>
                <a:ext cx="311340" cy="808617"/>
              </a:xfrm>
              <a:prstGeom prst="line">
                <a:avLst/>
              </a:prstGeom>
              <a:ln w="19050">
                <a:headEnd/>
                <a:tailEnd/>
              </a:ln>
              <a:effectLst/>
              <a:extLst>
                <a:ext uri="{909E8E84-426E-40DD-AFC4-6F175D3DCCD1}">
                  <a14:hiddenFill xmlns:a14="http://schemas.microsoft.com/office/drawing/2010/main">
                    <a:noFill/>
                  </a14:hiddenFill>
                </a:ext>
              </a:extLst>
            </p:spPr>
            <p:style>
              <a:lnRef idx="2">
                <a:schemeClr val="dk1"/>
              </a:lnRef>
              <a:fillRef idx="0">
                <a:schemeClr val="dk1"/>
              </a:fillRef>
              <a:effectRef idx="1">
                <a:schemeClr val="dk1"/>
              </a:effectRef>
              <a:fontRef idx="minor">
                <a:schemeClr val="tx1"/>
              </a:fontRef>
            </p:style>
          </p:cxnSp>
          <p:cxnSp>
            <p:nvCxnSpPr>
              <p:cNvPr id="67" name="Line 1091">
                <a:extLst>
                  <a:ext uri="{FF2B5EF4-FFF2-40B4-BE49-F238E27FC236}">
                    <a16:creationId xmlns:a16="http://schemas.microsoft.com/office/drawing/2014/main" id="{66B89D94-2191-4195-82C8-529B84AC87BA}"/>
                  </a:ext>
                </a:extLst>
              </p:cNvPr>
              <p:cNvCxnSpPr>
                <a:cxnSpLocks noChangeShapeType="1"/>
                <a:stCxn id="62" idx="4"/>
                <a:endCxn id="61" idx="1"/>
              </p:cNvCxnSpPr>
              <p:nvPr/>
            </p:nvCxnSpPr>
            <p:spPr bwMode="auto">
              <a:xfrm>
                <a:off x="6054701" y="2925561"/>
                <a:ext cx="379041" cy="808617"/>
              </a:xfrm>
              <a:prstGeom prst="line">
                <a:avLst/>
              </a:prstGeom>
              <a:ln w="19050">
                <a:headEnd/>
                <a:tailEnd/>
              </a:ln>
              <a:effectLst/>
              <a:extLst>
                <a:ext uri="{909E8E84-426E-40DD-AFC4-6F175D3DCCD1}">
                  <a14:hiddenFill xmlns:a14="http://schemas.microsoft.com/office/drawing/2010/main">
                    <a:noFill/>
                  </a14:hiddenFill>
                </a:ext>
              </a:extLst>
            </p:spPr>
            <p:style>
              <a:lnRef idx="2">
                <a:schemeClr val="dk1"/>
              </a:lnRef>
              <a:fillRef idx="0">
                <a:schemeClr val="dk1"/>
              </a:fillRef>
              <a:effectRef idx="1">
                <a:schemeClr val="dk1"/>
              </a:effectRef>
              <a:fontRef idx="minor">
                <a:schemeClr val="tx1"/>
              </a:fontRef>
            </p:style>
          </p:cxnSp>
          <p:cxnSp>
            <p:nvCxnSpPr>
              <p:cNvPr id="68" name="Line 1091">
                <a:extLst>
                  <a:ext uri="{FF2B5EF4-FFF2-40B4-BE49-F238E27FC236}">
                    <a16:creationId xmlns:a16="http://schemas.microsoft.com/office/drawing/2014/main" id="{F9C28F08-F170-411B-8C7B-95CA1D096558}"/>
                  </a:ext>
                </a:extLst>
              </p:cNvPr>
              <p:cNvCxnSpPr>
                <a:cxnSpLocks noChangeShapeType="1"/>
                <a:stCxn id="63" idx="5"/>
                <a:endCxn id="64" idx="0"/>
              </p:cNvCxnSpPr>
              <p:nvPr/>
            </p:nvCxnSpPr>
            <p:spPr bwMode="auto">
              <a:xfrm>
                <a:off x="6498400" y="1985377"/>
                <a:ext cx="311340" cy="848086"/>
              </a:xfrm>
              <a:prstGeom prst="line">
                <a:avLst/>
              </a:prstGeom>
              <a:ln w="19050">
                <a:headEnd/>
                <a:tailEnd/>
              </a:ln>
              <a:effectLst/>
              <a:extLst>
                <a:ext uri="{909E8E84-426E-40DD-AFC4-6F175D3DCCD1}">
                  <a14:hiddenFill xmlns:a14="http://schemas.microsoft.com/office/drawing/2010/main">
                    <a:noFill/>
                  </a14:hiddenFill>
                </a:ext>
              </a:ex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9" name="文本框 69">
                    <a:extLst>
                      <a:ext uri="{FF2B5EF4-FFF2-40B4-BE49-F238E27FC236}">
                        <a16:creationId xmlns:a16="http://schemas.microsoft.com/office/drawing/2014/main" id="{0DF04882-E042-4D0A-8DAD-20971434A83A}"/>
                      </a:ext>
                    </a:extLst>
                  </p:cNvPr>
                  <p:cNvSpPr txBox="1"/>
                  <p:nvPr/>
                </p:nvSpPr>
                <p:spPr>
                  <a:xfrm>
                    <a:off x="5693195" y="2630358"/>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69" name="文本框 69">
                    <a:extLst>
                      <a:ext uri="{FF2B5EF4-FFF2-40B4-BE49-F238E27FC236}">
                        <a16:creationId xmlns:a16="http://schemas.microsoft.com/office/drawing/2014/main" id="{0DF04882-E042-4D0A-8DAD-20971434A83A}"/>
                      </a:ext>
                    </a:extLst>
                  </p:cNvPr>
                  <p:cNvSpPr txBox="1">
                    <a:spLocks noRot="1" noChangeAspect="1" noMove="1" noResize="1" noEditPoints="1" noAdjustHandles="1" noChangeArrowheads="1" noChangeShapeType="1" noTextEdit="1"/>
                  </p:cNvSpPr>
                  <p:nvPr/>
                </p:nvSpPr>
                <p:spPr>
                  <a:xfrm>
                    <a:off x="5693195" y="2630358"/>
                    <a:ext cx="234779" cy="461665"/>
                  </a:xfrm>
                  <a:prstGeom prst="rect">
                    <a:avLst/>
                  </a:prstGeom>
                  <a:blipFill>
                    <a:blip r:embed="rId6"/>
                    <a:stretch>
                      <a:fillRect l="-10526" r="-65789"/>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C9311341-85B5-482E-9AB4-3FC138515457}"/>
                      </a:ext>
                    </a:extLst>
                  </p:cNvPr>
                  <p:cNvSpPr txBox="1"/>
                  <p:nvPr/>
                </p:nvSpPr>
                <p:spPr>
                  <a:xfrm>
                    <a:off x="6370179" y="3734178"/>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70" name="文本框 69">
                    <a:extLst>
                      <a:ext uri="{FF2B5EF4-FFF2-40B4-BE49-F238E27FC236}">
                        <a16:creationId xmlns:a16="http://schemas.microsoft.com/office/drawing/2014/main" id="{C9311341-85B5-482E-9AB4-3FC138515457}"/>
                      </a:ext>
                    </a:extLst>
                  </p:cNvPr>
                  <p:cNvSpPr txBox="1">
                    <a:spLocks noRot="1" noChangeAspect="1" noMove="1" noResize="1" noEditPoints="1" noAdjustHandles="1" noChangeArrowheads="1" noChangeShapeType="1" noTextEdit="1"/>
                  </p:cNvSpPr>
                  <p:nvPr/>
                </p:nvSpPr>
                <p:spPr>
                  <a:xfrm>
                    <a:off x="6370179" y="3734178"/>
                    <a:ext cx="234779" cy="461665"/>
                  </a:xfrm>
                  <a:prstGeom prst="rect">
                    <a:avLst/>
                  </a:prstGeom>
                  <a:blipFill>
                    <a:blip r:embed="rId7"/>
                    <a:stretch>
                      <a:fillRect r="-5526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69">
                    <a:extLst>
                      <a:ext uri="{FF2B5EF4-FFF2-40B4-BE49-F238E27FC236}">
                        <a16:creationId xmlns:a16="http://schemas.microsoft.com/office/drawing/2014/main" id="{E70335B9-394E-4A05-AF0E-D86F04C24437}"/>
                      </a:ext>
                    </a:extLst>
                  </p:cNvPr>
                  <p:cNvSpPr txBox="1"/>
                  <p:nvPr/>
                </p:nvSpPr>
                <p:spPr>
                  <a:xfrm>
                    <a:off x="6809740" y="2727408"/>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71" name="文本框 69">
                    <a:extLst>
                      <a:ext uri="{FF2B5EF4-FFF2-40B4-BE49-F238E27FC236}">
                        <a16:creationId xmlns:a16="http://schemas.microsoft.com/office/drawing/2014/main" id="{E70335B9-394E-4A05-AF0E-D86F04C24437}"/>
                      </a:ext>
                    </a:extLst>
                  </p:cNvPr>
                  <p:cNvSpPr txBox="1">
                    <a:spLocks noRot="1" noChangeAspect="1" noMove="1" noResize="1" noEditPoints="1" noAdjustHandles="1" noChangeArrowheads="1" noChangeShapeType="1" noTextEdit="1"/>
                  </p:cNvSpPr>
                  <p:nvPr/>
                </p:nvSpPr>
                <p:spPr>
                  <a:xfrm>
                    <a:off x="6809740" y="2727408"/>
                    <a:ext cx="234779" cy="461665"/>
                  </a:xfrm>
                  <a:prstGeom prst="rect">
                    <a:avLst/>
                  </a:prstGeom>
                  <a:blipFill>
                    <a:blip r:embed="rId8"/>
                    <a:stretch>
                      <a:fillRect r="-3589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69">
                    <a:extLst>
                      <a:ext uri="{FF2B5EF4-FFF2-40B4-BE49-F238E27FC236}">
                        <a16:creationId xmlns:a16="http://schemas.microsoft.com/office/drawing/2014/main" id="{72B57CA0-5566-4E81-92BC-D55836EFE5DC}"/>
                      </a:ext>
                    </a:extLst>
                  </p:cNvPr>
                  <p:cNvSpPr txBox="1"/>
                  <p:nvPr/>
                </p:nvSpPr>
                <p:spPr>
                  <a:xfrm>
                    <a:off x="6465327" y="1616045"/>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72" name="文本框 69">
                    <a:extLst>
                      <a:ext uri="{FF2B5EF4-FFF2-40B4-BE49-F238E27FC236}">
                        <a16:creationId xmlns:a16="http://schemas.microsoft.com/office/drawing/2014/main" id="{72B57CA0-5566-4E81-92BC-D55836EFE5DC}"/>
                      </a:ext>
                    </a:extLst>
                  </p:cNvPr>
                  <p:cNvSpPr txBox="1">
                    <a:spLocks noRot="1" noChangeAspect="1" noMove="1" noResize="1" noEditPoints="1" noAdjustHandles="1" noChangeArrowheads="1" noChangeShapeType="1" noTextEdit="1"/>
                  </p:cNvSpPr>
                  <p:nvPr/>
                </p:nvSpPr>
                <p:spPr>
                  <a:xfrm>
                    <a:off x="6465327" y="1616045"/>
                    <a:ext cx="234779" cy="461665"/>
                  </a:xfrm>
                  <a:prstGeom prst="rect">
                    <a:avLst/>
                  </a:prstGeom>
                  <a:blipFill>
                    <a:blip r:embed="rId9"/>
                    <a:stretch>
                      <a:fillRect l="-10526" r="-71053"/>
                    </a:stretch>
                  </a:blipFill>
                  <a:ln w="19050">
                    <a:noFill/>
                  </a:ln>
                </p:spPr>
                <p:txBody>
                  <a:bodyPr/>
                  <a:lstStyle/>
                  <a:p>
                    <a:r>
                      <a:rPr lang="zh-CN" altLang="en-US">
                        <a:noFill/>
                      </a:rPr>
                      <a:t> </a:t>
                    </a:r>
                  </a:p>
                </p:txBody>
              </p:sp>
            </mc:Fallback>
          </mc:AlternateContent>
        </p:grpSp>
        <p:grpSp>
          <p:nvGrpSpPr>
            <p:cNvPr id="43" name="组合 42">
              <a:extLst>
                <a:ext uri="{FF2B5EF4-FFF2-40B4-BE49-F238E27FC236}">
                  <a16:creationId xmlns:a16="http://schemas.microsoft.com/office/drawing/2014/main" id="{A51D2438-86E5-4DDB-810F-B078135F2549}"/>
                </a:ext>
              </a:extLst>
            </p:cNvPr>
            <p:cNvGrpSpPr/>
            <p:nvPr/>
          </p:nvGrpSpPr>
          <p:grpSpPr>
            <a:xfrm>
              <a:off x="1745920" y="1515585"/>
              <a:ext cx="2139616" cy="2646518"/>
              <a:chOff x="1745920" y="1515585"/>
              <a:chExt cx="2139616" cy="2646518"/>
            </a:xfrm>
          </p:grpSpPr>
          <p:sp>
            <p:nvSpPr>
              <p:cNvPr id="44" name="流程图: 接点 52">
                <a:extLst>
                  <a:ext uri="{FF2B5EF4-FFF2-40B4-BE49-F238E27FC236}">
                    <a16:creationId xmlns:a16="http://schemas.microsoft.com/office/drawing/2014/main" id="{6EE23880-7843-4FEC-96FD-D7B9902E907B}"/>
                  </a:ext>
                </a:extLst>
              </p:cNvPr>
              <p:cNvSpPr/>
              <p:nvPr/>
            </p:nvSpPr>
            <p:spPr>
              <a:xfrm>
                <a:off x="2090123" y="383905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5" name="流程图: 接点 52">
                <a:extLst>
                  <a:ext uri="{FF2B5EF4-FFF2-40B4-BE49-F238E27FC236}">
                    <a16:creationId xmlns:a16="http://schemas.microsoft.com/office/drawing/2014/main" id="{B58480D1-B8DF-4C4E-B21E-5AB5CF83C229}"/>
                  </a:ext>
                </a:extLst>
              </p:cNvPr>
              <p:cNvSpPr/>
              <p:nvPr/>
            </p:nvSpPr>
            <p:spPr>
              <a:xfrm>
                <a:off x="3600201" y="383905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6" name="流程图: 接点 45">
                <a:extLst>
                  <a:ext uri="{FF2B5EF4-FFF2-40B4-BE49-F238E27FC236}">
                    <a16:creationId xmlns:a16="http://schemas.microsoft.com/office/drawing/2014/main" id="{13053CED-76C0-4DE1-90F7-3357B6329707}"/>
                  </a:ext>
                </a:extLst>
              </p:cNvPr>
              <p:cNvSpPr/>
              <p:nvPr/>
            </p:nvSpPr>
            <p:spPr>
              <a:xfrm>
                <a:off x="2054430" y="1768149"/>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7" name="流程图: 接点 52">
                <a:extLst>
                  <a:ext uri="{FF2B5EF4-FFF2-40B4-BE49-F238E27FC236}">
                    <a16:creationId xmlns:a16="http://schemas.microsoft.com/office/drawing/2014/main" id="{E8431CDB-E1B9-4E40-A76F-312DC4A9F187}"/>
                  </a:ext>
                </a:extLst>
              </p:cNvPr>
              <p:cNvSpPr/>
              <p:nvPr/>
            </p:nvSpPr>
            <p:spPr>
              <a:xfrm>
                <a:off x="2847206" y="317717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8" name="流程图: 接点 52">
                <a:extLst>
                  <a:ext uri="{FF2B5EF4-FFF2-40B4-BE49-F238E27FC236}">
                    <a16:creationId xmlns:a16="http://schemas.microsoft.com/office/drawing/2014/main" id="{FC1F5682-FC4E-40B7-B5AD-D833475C8810}"/>
                  </a:ext>
                </a:extLst>
              </p:cNvPr>
              <p:cNvSpPr/>
              <p:nvPr/>
            </p:nvSpPr>
            <p:spPr>
              <a:xfrm>
                <a:off x="2830975" y="243532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49" name="Line 1091">
                <a:extLst>
                  <a:ext uri="{FF2B5EF4-FFF2-40B4-BE49-F238E27FC236}">
                    <a16:creationId xmlns:a16="http://schemas.microsoft.com/office/drawing/2014/main" id="{A3EEE1A8-703F-4B38-B47F-0D503D3C2CA5}"/>
                  </a:ext>
                </a:extLst>
              </p:cNvPr>
              <p:cNvCxnSpPr>
                <a:cxnSpLocks noChangeShapeType="1"/>
                <a:stCxn id="47" idx="5"/>
                <a:endCxn id="45" idx="1"/>
              </p:cNvCxnSpPr>
              <p:nvPr/>
            </p:nvCxnSpPr>
            <p:spPr bwMode="auto">
              <a:xfrm>
                <a:off x="2925255" y="3255783"/>
                <a:ext cx="688337" cy="5967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0" name="Line 1091">
                <a:extLst>
                  <a:ext uri="{FF2B5EF4-FFF2-40B4-BE49-F238E27FC236}">
                    <a16:creationId xmlns:a16="http://schemas.microsoft.com/office/drawing/2014/main" id="{5510E9BD-7B8D-4330-9A11-CED75A683A86}"/>
                  </a:ext>
                </a:extLst>
              </p:cNvPr>
              <p:cNvCxnSpPr>
                <a:cxnSpLocks noChangeShapeType="1"/>
                <a:stCxn id="47" idx="3"/>
                <a:endCxn id="44" idx="6"/>
              </p:cNvCxnSpPr>
              <p:nvPr/>
            </p:nvCxnSpPr>
            <p:spPr bwMode="auto">
              <a:xfrm flipH="1">
                <a:off x="2181563" y="3255783"/>
                <a:ext cx="679034" cy="62932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1" name="Line 1091">
                <a:extLst>
                  <a:ext uri="{FF2B5EF4-FFF2-40B4-BE49-F238E27FC236}">
                    <a16:creationId xmlns:a16="http://schemas.microsoft.com/office/drawing/2014/main" id="{217E5D6F-5C41-4E69-B1C3-3C081AC09EB3}"/>
                  </a:ext>
                </a:extLst>
              </p:cNvPr>
              <p:cNvCxnSpPr>
                <a:cxnSpLocks noChangeShapeType="1"/>
                <a:stCxn id="48" idx="4"/>
                <a:endCxn id="47" idx="0"/>
              </p:cNvCxnSpPr>
              <p:nvPr/>
            </p:nvCxnSpPr>
            <p:spPr bwMode="auto">
              <a:xfrm>
                <a:off x="2876695" y="2527424"/>
                <a:ext cx="16231" cy="64974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2" name="Line 1091">
                <a:extLst>
                  <a:ext uri="{FF2B5EF4-FFF2-40B4-BE49-F238E27FC236}">
                    <a16:creationId xmlns:a16="http://schemas.microsoft.com/office/drawing/2014/main" id="{C2DA7E6A-5E79-4D02-8DC0-C25E581A708F}"/>
                  </a:ext>
                </a:extLst>
              </p:cNvPr>
              <p:cNvCxnSpPr>
                <a:cxnSpLocks noChangeShapeType="1"/>
                <a:stCxn id="46" idx="5"/>
                <a:endCxn id="48" idx="1"/>
              </p:cNvCxnSpPr>
              <p:nvPr/>
            </p:nvCxnSpPr>
            <p:spPr bwMode="auto">
              <a:xfrm>
                <a:off x="2132479" y="1846760"/>
                <a:ext cx="711887" cy="60205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3" name="Line 1091">
                <a:extLst>
                  <a:ext uri="{FF2B5EF4-FFF2-40B4-BE49-F238E27FC236}">
                    <a16:creationId xmlns:a16="http://schemas.microsoft.com/office/drawing/2014/main" id="{663057DD-2163-49DF-B2AB-D4AAF7670D7A}"/>
                  </a:ext>
                </a:extLst>
              </p:cNvPr>
              <p:cNvCxnSpPr>
                <a:cxnSpLocks noChangeShapeType="1"/>
                <a:stCxn id="48" idx="7"/>
                <a:endCxn id="60" idx="3"/>
              </p:cNvCxnSpPr>
              <p:nvPr/>
            </p:nvCxnSpPr>
            <p:spPr bwMode="auto">
              <a:xfrm flipV="1">
                <a:off x="2909024" y="1846760"/>
                <a:ext cx="678972" cy="60205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54" name="文本框 69">
                    <a:extLst>
                      <a:ext uri="{FF2B5EF4-FFF2-40B4-BE49-F238E27FC236}">
                        <a16:creationId xmlns:a16="http://schemas.microsoft.com/office/drawing/2014/main" id="{8AD5B4A8-4482-40AB-B8EB-7338ED1F1DF4}"/>
                      </a:ext>
                    </a:extLst>
                  </p:cNvPr>
                  <p:cNvSpPr txBox="1"/>
                  <p:nvPr/>
                </p:nvSpPr>
                <p:spPr>
                  <a:xfrm>
                    <a:off x="1769761" y="3693867"/>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54" name="文本框 69">
                    <a:extLst>
                      <a:ext uri="{FF2B5EF4-FFF2-40B4-BE49-F238E27FC236}">
                        <a16:creationId xmlns:a16="http://schemas.microsoft.com/office/drawing/2014/main" id="{8AD5B4A8-4482-40AB-B8EB-7338ED1F1DF4}"/>
                      </a:ext>
                    </a:extLst>
                  </p:cNvPr>
                  <p:cNvSpPr txBox="1">
                    <a:spLocks noRot="1" noChangeAspect="1" noMove="1" noResize="1" noEditPoints="1" noAdjustHandles="1" noChangeArrowheads="1" noChangeShapeType="1" noTextEdit="1"/>
                  </p:cNvSpPr>
                  <p:nvPr/>
                </p:nvSpPr>
                <p:spPr>
                  <a:xfrm>
                    <a:off x="1769761" y="3693867"/>
                    <a:ext cx="234779" cy="461665"/>
                  </a:xfrm>
                  <a:prstGeom prst="rect">
                    <a:avLst/>
                  </a:prstGeom>
                  <a:blipFill>
                    <a:blip r:embed="rId10"/>
                    <a:stretch>
                      <a:fillRect r="-5526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69">
                    <a:extLst>
                      <a:ext uri="{FF2B5EF4-FFF2-40B4-BE49-F238E27FC236}">
                        <a16:creationId xmlns:a16="http://schemas.microsoft.com/office/drawing/2014/main" id="{F9AEF033-BA98-4F07-B01A-2FAFEC7D5633}"/>
                      </a:ext>
                    </a:extLst>
                  </p:cNvPr>
                  <p:cNvSpPr txBox="1"/>
                  <p:nvPr/>
                </p:nvSpPr>
                <p:spPr>
                  <a:xfrm>
                    <a:off x="3650757" y="3700438"/>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55" name="文本框 69">
                    <a:extLst>
                      <a:ext uri="{FF2B5EF4-FFF2-40B4-BE49-F238E27FC236}">
                        <a16:creationId xmlns:a16="http://schemas.microsoft.com/office/drawing/2014/main" id="{F9AEF033-BA98-4F07-B01A-2FAFEC7D5633}"/>
                      </a:ext>
                    </a:extLst>
                  </p:cNvPr>
                  <p:cNvSpPr txBox="1">
                    <a:spLocks noRot="1" noChangeAspect="1" noMove="1" noResize="1" noEditPoints="1" noAdjustHandles="1" noChangeArrowheads="1" noChangeShapeType="1" noTextEdit="1"/>
                  </p:cNvSpPr>
                  <p:nvPr/>
                </p:nvSpPr>
                <p:spPr>
                  <a:xfrm>
                    <a:off x="3650757" y="3700438"/>
                    <a:ext cx="234779" cy="461665"/>
                  </a:xfrm>
                  <a:prstGeom prst="rect">
                    <a:avLst/>
                  </a:prstGeom>
                  <a:blipFill>
                    <a:blip r:embed="rId11"/>
                    <a:stretch>
                      <a:fillRect l="-7692" r="-6410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69">
                    <a:extLst>
                      <a:ext uri="{FF2B5EF4-FFF2-40B4-BE49-F238E27FC236}">
                        <a16:creationId xmlns:a16="http://schemas.microsoft.com/office/drawing/2014/main" id="{0C6C059E-0DC6-4870-B01D-CA4D0F17FA4A}"/>
                      </a:ext>
                    </a:extLst>
                  </p:cNvPr>
                  <p:cNvSpPr txBox="1"/>
                  <p:nvPr/>
                </p:nvSpPr>
                <p:spPr>
                  <a:xfrm>
                    <a:off x="1745920" y="1515585"/>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56" name="文本框 69">
                    <a:extLst>
                      <a:ext uri="{FF2B5EF4-FFF2-40B4-BE49-F238E27FC236}">
                        <a16:creationId xmlns:a16="http://schemas.microsoft.com/office/drawing/2014/main" id="{0C6C059E-0DC6-4870-B01D-CA4D0F17FA4A}"/>
                      </a:ext>
                    </a:extLst>
                  </p:cNvPr>
                  <p:cNvSpPr txBox="1">
                    <a:spLocks noRot="1" noChangeAspect="1" noMove="1" noResize="1" noEditPoints="1" noAdjustHandles="1" noChangeArrowheads="1" noChangeShapeType="1" noTextEdit="1"/>
                  </p:cNvSpPr>
                  <p:nvPr/>
                </p:nvSpPr>
                <p:spPr>
                  <a:xfrm>
                    <a:off x="1745920" y="1515585"/>
                    <a:ext cx="234779" cy="461665"/>
                  </a:xfrm>
                  <a:prstGeom prst="rect">
                    <a:avLst/>
                  </a:prstGeom>
                  <a:blipFill>
                    <a:blip r:embed="rId12"/>
                    <a:stretch>
                      <a:fillRect r="-44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69">
                    <a:extLst>
                      <a:ext uri="{FF2B5EF4-FFF2-40B4-BE49-F238E27FC236}">
                        <a16:creationId xmlns:a16="http://schemas.microsoft.com/office/drawing/2014/main" id="{B0D685A4-401B-4EFD-B2D6-D624440A8EEC}"/>
                      </a:ext>
                    </a:extLst>
                  </p:cNvPr>
                  <p:cNvSpPr txBox="1"/>
                  <p:nvPr/>
                </p:nvSpPr>
                <p:spPr>
                  <a:xfrm>
                    <a:off x="2876695" y="2915877"/>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57" name="文本框 69">
                    <a:extLst>
                      <a:ext uri="{FF2B5EF4-FFF2-40B4-BE49-F238E27FC236}">
                        <a16:creationId xmlns:a16="http://schemas.microsoft.com/office/drawing/2014/main" id="{B0D685A4-401B-4EFD-B2D6-D624440A8EEC}"/>
                      </a:ext>
                    </a:extLst>
                  </p:cNvPr>
                  <p:cNvSpPr txBox="1">
                    <a:spLocks noRot="1" noChangeAspect="1" noMove="1" noResize="1" noEditPoints="1" noAdjustHandles="1" noChangeArrowheads="1" noChangeShapeType="1" noTextEdit="1"/>
                  </p:cNvSpPr>
                  <p:nvPr/>
                </p:nvSpPr>
                <p:spPr>
                  <a:xfrm>
                    <a:off x="2876695" y="2915877"/>
                    <a:ext cx="234779" cy="461665"/>
                  </a:xfrm>
                  <a:prstGeom prst="rect">
                    <a:avLst/>
                  </a:prstGeom>
                  <a:blipFill>
                    <a:blip r:embed="rId13"/>
                    <a:stretch>
                      <a:fillRect r="-3589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69">
                    <a:extLst>
                      <a:ext uri="{FF2B5EF4-FFF2-40B4-BE49-F238E27FC236}">
                        <a16:creationId xmlns:a16="http://schemas.microsoft.com/office/drawing/2014/main" id="{A87A9008-1F23-450F-8441-3828D5534EFB}"/>
                      </a:ext>
                    </a:extLst>
                  </p:cNvPr>
                  <p:cNvSpPr txBox="1"/>
                  <p:nvPr/>
                </p:nvSpPr>
                <p:spPr>
                  <a:xfrm>
                    <a:off x="3641369" y="1570139"/>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𝒇</m:t>
                          </m:r>
                        </m:oMath>
                      </m:oMathPara>
                    </a14:m>
                    <a:endParaRPr lang="en-US" b="1" dirty="0">
                      <a:solidFill>
                        <a:srgbClr val="FF0000"/>
                      </a:solidFill>
                    </a:endParaRPr>
                  </a:p>
                </p:txBody>
              </p:sp>
            </mc:Choice>
            <mc:Fallback xmlns="">
              <p:sp>
                <p:nvSpPr>
                  <p:cNvPr id="58" name="文本框 69">
                    <a:extLst>
                      <a:ext uri="{FF2B5EF4-FFF2-40B4-BE49-F238E27FC236}">
                        <a16:creationId xmlns:a16="http://schemas.microsoft.com/office/drawing/2014/main" id="{A87A9008-1F23-450F-8441-3828D5534EFB}"/>
                      </a:ext>
                    </a:extLst>
                  </p:cNvPr>
                  <p:cNvSpPr txBox="1">
                    <a:spLocks noRot="1" noChangeAspect="1" noMove="1" noResize="1" noEditPoints="1" noAdjustHandles="1" noChangeArrowheads="1" noChangeShapeType="1" noTextEdit="1"/>
                  </p:cNvSpPr>
                  <p:nvPr/>
                </p:nvSpPr>
                <p:spPr>
                  <a:xfrm>
                    <a:off x="3641369" y="1570139"/>
                    <a:ext cx="234779" cy="461665"/>
                  </a:xfrm>
                  <a:prstGeom prst="rect">
                    <a:avLst/>
                  </a:prstGeom>
                  <a:blipFill>
                    <a:blip r:embed="rId14"/>
                    <a:stretch>
                      <a:fillRect l="-23684" r="-73684" b="-19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69">
                    <a:extLst>
                      <a:ext uri="{FF2B5EF4-FFF2-40B4-BE49-F238E27FC236}">
                        <a16:creationId xmlns:a16="http://schemas.microsoft.com/office/drawing/2014/main" id="{E45BD084-8E28-4FE0-870C-707B5EFE8C65}"/>
                      </a:ext>
                    </a:extLst>
                  </p:cNvPr>
                  <p:cNvSpPr txBox="1"/>
                  <p:nvPr/>
                </p:nvSpPr>
                <p:spPr>
                  <a:xfrm>
                    <a:off x="2897761" y="2327054"/>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59" name="文本框 69">
                    <a:extLst>
                      <a:ext uri="{FF2B5EF4-FFF2-40B4-BE49-F238E27FC236}">
                        <a16:creationId xmlns:a16="http://schemas.microsoft.com/office/drawing/2014/main" id="{E45BD084-8E28-4FE0-870C-707B5EFE8C65}"/>
                      </a:ext>
                    </a:extLst>
                  </p:cNvPr>
                  <p:cNvSpPr txBox="1">
                    <a:spLocks noRot="1" noChangeAspect="1" noMove="1" noResize="1" noEditPoints="1" noAdjustHandles="1" noChangeArrowheads="1" noChangeShapeType="1" noTextEdit="1"/>
                  </p:cNvSpPr>
                  <p:nvPr/>
                </p:nvSpPr>
                <p:spPr>
                  <a:xfrm>
                    <a:off x="2897761" y="2327054"/>
                    <a:ext cx="234779" cy="461665"/>
                  </a:xfrm>
                  <a:prstGeom prst="rect">
                    <a:avLst/>
                  </a:prstGeom>
                  <a:blipFill>
                    <a:blip r:embed="rId15"/>
                    <a:stretch>
                      <a:fillRect l="-10526" r="-71053"/>
                    </a:stretch>
                  </a:blipFill>
                  <a:ln w="19050">
                    <a:noFill/>
                  </a:ln>
                </p:spPr>
                <p:txBody>
                  <a:bodyPr/>
                  <a:lstStyle/>
                  <a:p>
                    <a:r>
                      <a:rPr lang="zh-CN" altLang="en-US">
                        <a:noFill/>
                      </a:rPr>
                      <a:t> </a:t>
                    </a:r>
                  </a:p>
                </p:txBody>
              </p:sp>
            </mc:Fallback>
          </mc:AlternateContent>
          <p:sp>
            <p:nvSpPr>
              <p:cNvPr id="60" name="流程图: 接点 59">
                <a:extLst>
                  <a:ext uri="{FF2B5EF4-FFF2-40B4-BE49-F238E27FC236}">
                    <a16:creationId xmlns:a16="http://schemas.microsoft.com/office/drawing/2014/main" id="{1C48AA88-85A5-49FE-8260-F7F06CE4D6E7}"/>
                  </a:ext>
                </a:extLst>
              </p:cNvPr>
              <p:cNvSpPr/>
              <p:nvPr/>
            </p:nvSpPr>
            <p:spPr>
              <a:xfrm>
                <a:off x="3574605" y="1768149"/>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grpSp>
      </p:grpSp>
      <p:cxnSp>
        <p:nvCxnSpPr>
          <p:cNvPr id="73" name="直接连接符 72">
            <a:extLst>
              <a:ext uri="{FF2B5EF4-FFF2-40B4-BE49-F238E27FC236}">
                <a16:creationId xmlns:a16="http://schemas.microsoft.com/office/drawing/2014/main" id="{12289EB0-60EF-47B1-BAF2-220F11733408}"/>
              </a:ext>
            </a:extLst>
          </p:cNvPr>
          <p:cNvCxnSpPr>
            <a:cxnSpLocks/>
          </p:cNvCxnSpPr>
          <p:nvPr/>
        </p:nvCxnSpPr>
        <p:spPr>
          <a:xfrm flipH="1">
            <a:off x="6222328" y="3115498"/>
            <a:ext cx="1" cy="3048000"/>
          </a:xfrm>
          <a:prstGeom prst="line">
            <a:avLst/>
          </a:prstGeom>
          <a:noFill/>
          <a:ln w="28575" cap="flat" cmpd="sng" algn="ctr">
            <a:solidFill>
              <a:srgbClr val="A6B727"/>
            </a:solidFill>
            <a:prstDash val="sysDash"/>
            <a:miter lim="800000"/>
          </a:ln>
          <a:effectLst/>
        </p:spPr>
      </p:cxnSp>
    </p:spTree>
    <p:custDataLst>
      <p:tags r:id="rId1"/>
    </p:custDataLst>
    <p:extLst>
      <p:ext uri="{BB962C8B-B14F-4D97-AF65-F5344CB8AC3E}">
        <p14:creationId xmlns:p14="http://schemas.microsoft.com/office/powerpoint/2010/main" val="1340193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uiExpand="1"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格的判定</a:t>
            </a:r>
          </a:p>
        </p:txBody>
      </p:sp>
      <p:sp>
        <p:nvSpPr>
          <p:cNvPr id="158" name="矩形 157"/>
          <p:cNvSpPr/>
          <p:nvPr/>
        </p:nvSpPr>
        <p:spPr>
          <a:xfrm>
            <a:off x="0" y="6154950"/>
            <a:ext cx="12192000" cy="703049"/>
          </a:xfrm>
          <a:prstGeom prst="rect">
            <a:avLst/>
          </a:prstGeom>
          <a:solidFill>
            <a:srgbClr val="FFFFFF">
              <a:lumMod val="85000"/>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159" name="矩形 158"/>
          <p:cNvSpPr/>
          <p:nvPr/>
        </p:nvSpPr>
        <p:spPr>
          <a:xfrm>
            <a:off x="-15832" y="3037657"/>
            <a:ext cx="12223664" cy="87055"/>
          </a:xfrm>
          <a:prstGeom prst="rect">
            <a:avLst/>
          </a:prstGeom>
          <a:solidFill>
            <a:srgbClr val="F69200">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ED20D443-0023-47AD-BE12-D0D6B141AE04}"/>
                  </a:ext>
                </a:extLst>
              </p:cNvPr>
              <p:cNvSpPr>
                <a:spLocks noGrp="1"/>
              </p:cNvSpPr>
              <p:nvPr>
                <p:ph idx="1"/>
              </p:nvPr>
            </p:nvSpPr>
            <p:spPr>
              <a:xfrm>
                <a:off x="393700" y="903767"/>
                <a:ext cx="11430000" cy="2221227"/>
              </a:xfrm>
            </p:spPr>
            <p:txBody>
              <a:bodyPr>
                <a:noAutofit/>
              </a:bodyPr>
              <a:lstStyle/>
              <a:p>
                <a:pPr marL="0" indent="0" algn="just">
                  <a:buNone/>
                </a:pPr>
                <a:r>
                  <a:rPr lang="zh-CN" altLang="en-US" dirty="0">
                    <a:solidFill>
                      <a:srgbClr val="0000FF"/>
                    </a:solidFill>
                    <a:latin typeface="+mn-ea"/>
                  </a:rPr>
                  <a:t>例</a:t>
                </a:r>
                <a:r>
                  <a:rPr lang="en-US" altLang="zh-CN" dirty="0">
                    <a:solidFill>
                      <a:srgbClr val="0000FF"/>
                    </a:solidFill>
                    <a:latin typeface="+mn-ea"/>
                  </a:rPr>
                  <a:t>10.1  </a:t>
                </a:r>
                <a:r>
                  <a:rPr lang="zh-CN" altLang="zh-CN" dirty="0"/>
                  <a:t>考虑以下偏序集是否是格？</a:t>
                </a:r>
                <a:endParaRPr lang="en-US" altLang="zh-CN" dirty="0"/>
              </a:p>
              <a:p>
                <a:pPr marL="0" indent="0" algn="just">
                  <a:buNone/>
                </a:pPr>
                <a:r>
                  <a:rPr lang="zh-CN" altLang="zh-CN" dirty="0"/>
                  <a:t>（</a:t>
                </a:r>
                <a:r>
                  <a:rPr lang="en-US" altLang="zh-CN" dirty="0"/>
                  <a:t>1</a:t>
                </a:r>
                <a:r>
                  <a:rPr lang="zh-CN" altLang="zh-CN" dirty="0"/>
                  <a:t>）</a:t>
                </a:r>
                <a14:m>
                  <m:oMath xmlns:m="http://schemas.openxmlformats.org/officeDocument/2006/math">
                    <m:r>
                      <a:rPr lang="en-US" altLang="zh-CN" b="1" i="1" dirty="0" smtClean="0">
                        <a:latin typeface="Cambria Math" panose="02040503050406030204" pitchFamily="18" charset="0"/>
                      </a:rPr>
                      <m:t>&lt;</m:t>
                    </m:r>
                    <m:sSup>
                      <m:sSupPr>
                        <m:ctrlPr>
                          <a:rPr lang="en-US" altLang="zh-CN" b="1" i="1" dirty="0" smtClean="0">
                            <a:latin typeface="Cambria Math" panose="02040503050406030204" pitchFamily="18" charset="0"/>
                          </a:rPr>
                        </m:ctrlPr>
                      </m:sSupPr>
                      <m:e>
                        <m:r>
                          <a:rPr lang="en-US" altLang="zh-CN" b="1" i="1" dirty="0" smtClean="0">
                            <a:latin typeface="Cambria Math" panose="02040503050406030204" pitchFamily="18" charset="0"/>
                          </a:rPr>
                          <m:t>𝒁</m:t>
                        </m:r>
                      </m:e>
                      <m:sup>
                        <m:r>
                          <a:rPr lang="en-US" altLang="zh-CN" b="1" i="1" dirty="0" smtClean="0">
                            <a:latin typeface="Cambria Math" panose="02040503050406030204" pitchFamily="18" charset="0"/>
                          </a:rPr>
                          <m:t>+</m:t>
                        </m:r>
                      </m:sup>
                    </m:sSup>
                    <m:r>
                      <a:rPr lang="en-US" altLang="zh-CN" b="1" i="1" dirty="0" smtClean="0">
                        <a:latin typeface="Cambria Math" panose="02040503050406030204" pitchFamily="18" charset="0"/>
                      </a:rPr>
                      <m:t>, |&gt;</m:t>
                    </m:r>
                  </m:oMath>
                </a14:m>
                <a:r>
                  <a:rPr lang="zh-CN" altLang="zh-CN" dirty="0"/>
                  <a:t>，即正整数上的整除关系；</a:t>
                </a:r>
                <a:endParaRPr lang="en-US" altLang="zh-CN" dirty="0"/>
              </a:p>
              <a:p>
                <a:pPr marL="0" indent="0" algn="just">
                  <a:buNone/>
                </a:pPr>
                <a:r>
                  <a:rPr lang="zh-CN" altLang="zh-CN" dirty="0"/>
                  <a:t>（</a:t>
                </a:r>
                <a:r>
                  <a:rPr lang="en-US" altLang="zh-CN" dirty="0"/>
                  <a:t>2</a:t>
                </a:r>
                <a:r>
                  <a:rPr lang="zh-CN" altLang="zh-CN" dirty="0"/>
                  <a:t>）</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𝑷</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𝑨</m:t>
                    </m:r>
                    <m:r>
                      <a:rPr lang="en-US" altLang="zh-CN" b="1" i="1" dirty="0" smtClean="0">
                        <a:latin typeface="Cambria Math" panose="02040503050406030204" pitchFamily="18" charset="0"/>
                      </a:rPr>
                      <m:t>), ⊆&gt;</m:t>
                    </m:r>
                  </m:oMath>
                </a14:m>
                <a:r>
                  <a:rPr lang="zh-CN" altLang="zh-CN" dirty="0"/>
                  <a:t>，即集合</a:t>
                </a:r>
                <a14:m>
                  <m:oMath xmlns:m="http://schemas.openxmlformats.org/officeDocument/2006/math">
                    <m:r>
                      <a:rPr lang="en-US" altLang="zh-CN" b="1" i="1" dirty="0" smtClean="0">
                        <a:latin typeface="Cambria Math" panose="02040503050406030204" pitchFamily="18" charset="0"/>
                      </a:rPr>
                      <m:t>𝑨</m:t>
                    </m:r>
                  </m:oMath>
                </a14:m>
                <a:r>
                  <a:rPr lang="zh-CN" altLang="zh-CN" dirty="0"/>
                  <a:t>的幂集</a:t>
                </a:r>
                <a14:m>
                  <m:oMath xmlns:m="http://schemas.openxmlformats.org/officeDocument/2006/math">
                    <m:r>
                      <a:rPr lang="en-US" altLang="zh-CN" b="1" i="1" dirty="0" smtClean="0">
                        <a:latin typeface="Cambria Math" panose="02040503050406030204" pitchFamily="18" charset="0"/>
                      </a:rPr>
                      <m:t>𝑷</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𝑨</m:t>
                    </m:r>
                    <m:r>
                      <a:rPr lang="en-US" altLang="zh-CN" b="1" i="1" dirty="0" smtClean="0">
                        <a:latin typeface="Cambria Math" panose="02040503050406030204" pitchFamily="18" charset="0"/>
                      </a:rPr>
                      <m:t>)</m:t>
                    </m:r>
                  </m:oMath>
                </a14:m>
                <a:r>
                  <a:rPr lang="zh-CN" altLang="zh-CN" dirty="0"/>
                  <a:t>上的包含关系；</a:t>
                </a:r>
              </a:p>
              <a:p>
                <a:pPr marL="0" indent="0">
                  <a:buNone/>
                </a:pPr>
                <a:r>
                  <a:rPr lang="zh-CN" altLang="zh-CN" dirty="0"/>
                  <a:t>（</a:t>
                </a:r>
                <a:r>
                  <a:rPr lang="en-US" altLang="zh-CN" dirty="0"/>
                  <a:t>3</a:t>
                </a:r>
                <a:r>
                  <a:rPr lang="zh-CN" altLang="zh-CN" dirty="0"/>
                  <a:t>）</a:t>
                </a:r>
                <a14:m>
                  <m:oMath xmlns:m="http://schemas.openxmlformats.org/officeDocument/2006/math">
                    <m:r>
                      <a:rPr lang="en-US" altLang="zh-CN" b="1" i="1" dirty="0" smtClean="0">
                        <a:latin typeface="Cambria Math" panose="02040503050406030204" pitchFamily="18" charset="0"/>
                      </a:rPr>
                      <m:t>&lt;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𝑭</m:t>
                        </m:r>
                      </m:e>
                      <m:sub>
                        <m:r>
                          <a:rPr lang="en-US" altLang="zh-CN" b="1" i="1" dirty="0" smtClean="0">
                            <a:latin typeface="Cambria Math" panose="02040503050406030204" pitchFamily="18" charset="0"/>
                          </a:rPr>
                          <m:t>𝒏</m:t>
                        </m:r>
                      </m:sub>
                    </m:sSub>
                    <m:r>
                      <a:rPr lang="en-US" altLang="zh-CN" b="1" i="1" dirty="0" smtClean="0">
                        <a:latin typeface="Cambria Math" panose="02040503050406030204" pitchFamily="18" charset="0"/>
                      </a:rPr>
                      <m:t>, |&gt;</m:t>
                    </m:r>
                  </m:oMath>
                </a14:m>
                <a:r>
                  <a:rPr lang="zh-CN" altLang="zh-CN" dirty="0"/>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𝑭</m:t>
                        </m:r>
                      </m:e>
                      <m:sub>
                        <m:r>
                          <a:rPr lang="en-US" altLang="zh-CN" i="1" dirty="0">
                            <a:latin typeface="Cambria Math" panose="02040503050406030204" pitchFamily="18" charset="0"/>
                          </a:rPr>
                          <m:t>𝒏</m:t>
                        </m:r>
                      </m:sub>
                    </m:sSub>
                    <m:r>
                      <a:rPr lang="en-US" altLang="zh-CN" i="1" dirty="0">
                        <a:latin typeface="Cambria Math" panose="02040503050406030204" pitchFamily="18" charset="0"/>
                      </a:rPr>
                      <m:t> </m:t>
                    </m:r>
                  </m:oMath>
                </a14:m>
                <a:r>
                  <a:rPr lang="zh-CN" altLang="zh-CN" dirty="0"/>
                  <a:t>是</a:t>
                </a:r>
                <a14:m>
                  <m:oMath xmlns:m="http://schemas.openxmlformats.org/officeDocument/2006/math">
                    <m:r>
                      <a:rPr lang="en-US" altLang="zh-CN" b="1" i="1" dirty="0" smtClean="0">
                        <a:latin typeface="Cambria Math" panose="02040503050406030204" pitchFamily="18" charset="0"/>
                      </a:rPr>
                      <m:t>𝒏</m:t>
                    </m:r>
                  </m:oMath>
                </a14:m>
                <a:r>
                  <a:rPr lang="zh-CN" altLang="zh-CN" dirty="0"/>
                  <a:t>的所有因子的集合。</a:t>
                </a:r>
              </a:p>
            </p:txBody>
          </p:sp>
        </mc:Choice>
        <mc:Fallback xmlns="">
          <p:sp>
            <p:nvSpPr>
              <p:cNvPr id="10" name="Content Placeholder 2">
                <a:extLst>
                  <a:ext uri="{FF2B5EF4-FFF2-40B4-BE49-F238E27FC236}">
                    <a16:creationId xmlns:a16="http://schemas.microsoft.com/office/drawing/2014/main" id="{ED20D443-0023-47AD-BE12-D0D6B141AE04}"/>
                  </a:ext>
                </a:extLst>
              </p:cNvPr>
              <p:cNvSpPr>
                <a:spLocks noGrp="1" noRot="1" noChangeAspect="1" noMove="1" noResize="1" noEditPoints="1" noAdjustHandles="1" noChangeArrowheads="1" noChangeShapeType="1" noTextEdit="1"/>
              </p:cNvSpPr>
              <p:nvPr>
                <p:ph idx="1"/>
              </p:nvPr>
            </p:nvSpPr>
            <p:spPr>
              <a:xfrm>
                <a:off x="393700" y="903767"/>
                <a:ext cx="11430000" cy="2221227"/>
              </a:xfrm>
              <a:blipFill>
                <a:blip r:embed="rId5"/>
                <a:stretch>
                  <a:fillRect l="-5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4E9ECA1-9B15-41C5-9851-40C39834A658}"/>
                  </a:ext>
                </a:extLst>
              </p:cNvPr>
              <p:cNvSpPr txBox="1"/>
              <p:nvPr/>
            </p:nvSpPr>
            <p:spPr>
              <a:xfrm>
                <a:off x="-43043" y="3246918"/>
                <a:ext cx="11866743" cy="2196883"/>
              </a:xfrm>
              <a:prstGeom prst="rect">
                <a:avLst/>
              </a:prstGeom>
              <a:noFill/>
            </p:spPr>
            <p:txBody>
              <a:bodyPr wrap="square">
                <a:spAutoFit/>
              </a:bodyPr>
              <a:lstStyle/>
              <a:p>
                <a:pPr indent="267970" algn="just">
                  <a:lnSpc>
                    <a:spcPct val="130000"/>
                  </a:lnSpc>
                  <a:spcBef>
                    <a:spcPts val="600"/>
                  </a:spcBef>
                </a:pPr>
                <a:r>
                  <a:rPr lang="zh-CN" altLang="zh-CN" b="1" kern="100" dirty="0">
                    <a:solidFill>
                      <a:srgbClr val="FF0000"/>
                    </a:solidFill>
                    <a:effectLst/>
                    <a:latin typeface="+mn-ea"/>
                  </a:rPr>
                  <a:t>解</a:t>
                </a:r>
                <a:r>
                  <a:rPr lang="zh-CN" altLang="zh-CN" b="1" kern="100" dirty="0">
                    <a:effectLst/>
                    <a:latin typeface="+mn-ea"/>
                  </a:rPr>
                  <a:t> （</a:t>
                </a:r>
                <a:r>
                  <a:rPr lang="en-US" altLang="zh-CN" b="1" kern="100" dirty="0">
                    <a:effectLst/>
                    <a:latin typeface="+mn-ea"/>
                  </a:rPr>
                  <a:t>1</a:t>
                </a:r>
                <a:r>
                  <a:rPr lang="zh-CN" altLang="zh-CN" b="1" kern="100" dirty="0">
                    <a:effectLst/>
                    <a:latin typeface="+mn-ea"/>
                  </a:rPr>
                  <a:t>）对</a:t>
                </a:r>
                <a14:m>
                  <m:oMath xmlns:m="http://schemas.openxmlformats.org/officeDocument/2006/math">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ea typeface="Cambria Math" panose="02040503050406030204" pitchFamily="18" charset="0"/>
                      </a:rPr>
                      <m:t>∈</m:t>
                    </m:r>
                    <m:sSup>
                      <m:sSupPr>
                        <m:ctrlPr>
                          <a:rPr lang="en-US" altLang="zh-CN" b="1" i="1" kern="100" dirty="0" smtClean="0">
                            <a:effectLst/>
                            <a:latin typeface="Cambria Math" panose="02040503050406030204" pitchFamily="18" charset="0"/>
                            <a:ea typeface="Cambria Math" panose="02040503050406030204" pitchFamily="18" charset="0"/>
                          </a:rPr>
                        </m:ctrlPr>
                      </m:sSupPr>
                      <m:e>
                        <m:r>
                          <a:rPr lang="en-US" altLang="zh-CN" b="1" i="1" kern="100" dirty="0" smtClean="0">
                            <a:effectLst/>
                            <a:latin typeface="Cambria Math" panose="02040503050406030204" pitchFamily="18" charset="0"/>
                            <a:ea typeface="Cambria Math" panose="02040503050406030204" pitchFamily="18" charset="0"/>
                          </a:rPr>
                          <m:t>𝒁</m:t>
                        </m:r>
                      </m:e>
                      <m:sup>
                        <m:r>
                          <a:rPr lang="en-US" altLang="zh-CN" b="1" i="1" kern="100" dirty="0" smtClean="0">
                            <a:effectLst/>
                            <a:latin typeface="Cambria Math" panose="02040503050406030204" pitchFamily="18" charset="0"/>
                            <a:ea typeface="Cambria Math" panose="02040503050406030204" pitchFamily="18" charset="0"/>
                          </a:rPr>
                          <m:t>+</m:t>
                        </m:r>
                      </m:sup>
                    </m:sSup>
                  </m:oMath>
                </a14:m>
                <a:r>
                  <a:rPr lang="zh-CN" altLang="zh-CN" b="1" kern="100" dirty="0">
                    <a:effectLst/>
                    <a:latin typeface="+mn-ea"/>
                  </a:rPr>
                  <a:t>，有</a:t>
                </a:r>
                <a14:m>
                  <m:oMath xmlns:m="http://schemas.openxmlformats.org/officeDocument/2006/math">
                    <m:r>
                      <a:rPr lang="en-US" altLang="zh-CN" b="1" i="0" kern="100" dirty="0" smtClean="0">
                        <a:effectLst/>
                        <a:latin typeface="Cambria Math" panose="02040503050406030204" pitchFamily="18" charset="0"/>
                      </a:rPr>
                      <m:t>𝐢𝐧𝐟</m:t>
                    </m:r>
                    <m:r>
                      <a:rPr lang="en-US" altLang="zh-CN" b="1" i="1" kern="100" dirty="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cs typeface="Cambria Math" panose="02040503050406030204" pitchFamily="18" charset="0"/>
                      </a:rPr>
                      <m:t>∈</m:t>
                    </m:r>
                    <m:sSup>
                      <m:sSupPr>
                        <m:ctrlPr>
                          <a:rPr lang="en-US" altLang="zh-CN" b="1" i="1" kern="100" dirty="0">
                            <a:latin typeface="Cambria Math" panose="02040503050406030204" pitchFamily="18" charset="0"/>
                            <a:ea typeface="Cambria Math" panose="02040503050406030204" pitchFamily="18" charset="0"/>
                          </a:rPr>
                        </m:ctrlPr>
                      </m:sSupPr>
                      <m:e>
                        <m:r>
                          <a:rPr lang="en-US" altLang="zh-CN" b="1" i="1" kern="100" dirty="0">
                            <a:latin typeface="Cambria Math" panose="02040503050406030204" pitchFamily="18" charset="0"/>
                            <a:ea typeface="Cambria Math" panose="02040503050406030204" pitchFamily="18" charset="0"/>
                          </a:rPr>
                          <m:t>𝒁</m:t>
                        </m:r>
                      </m:e>
                      <m:sup>
                        <m:r>
                          <a:rPr lang="en-US" altLang="zh-CN" b="1" i="1" kern="100" dirty="0">
                            <a:latin typeface="Cambria Math" panose="02040503050406030204" pitchFamily="18" charset="0"/>
                            <a:ea typeface="Cambria Math" panose="02040503050406030204" pitchFamily="18" charset="0"/>
                          </a:rPr>
                          <m:t>+</m:t>
                        </m:r>
                      </m:sup>
                    </m:sSup>
                  </m:oMath>
                </a14:m>
                <a:r>
                  <a:rPr lang="zh-CN" altLang="zh-CN" b="1" kern="100" dirty="0">
                    <a:effectLst/>
                    <a:latin typeface="+mn-ea"/>
                  </a:rPr>
                  <a:t>，</a:t>
                </a:r>
                <a14:m>
                  <m:oMath xmlns:m="http://schemas.openxmlformats.org/officeDocument/2006/math">
                    <m:r>
                      <a:rPr lang="en-US" altLang="zh-CN" b="1" i="0" kern="100" dirty="0" smtClean="0">
                        <a:effectLst/>
                        <a:latin typeface="Cambria Math" panose="02040503050406030204" pitchFamily="18" charset="0"/>
                      </a:rPr>
                      <m:t>𝐬𝐮𝐩</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cs typeface="Cambria Math" panose="02040503050406030204" pitchFamily="18" charset="0"/>
                      </a:rPr>
                      <m:t>∈</m:t>
                    </m:r>
                    <m:sSup>
                      <m:sSupPr>
                        <m:ctrlPr>
                          <a:rPr lang="en-US" altLang="zh-CN" b="1" i="1" kern="100" dirty="0">
                            <a:latin typeface="Cambria Math" panose="02040503050406030204" pitchFamily="18" charset="0"/>
                            <a:ea typeface="Cambria Math" panose="02040503050406030204" pitchFamily="18" charset="0"/>
                          </a:rPr>
                        </m:ctrlPr>
                      </m:sSupPr>
                      <m:e>
                        <m:r>
                          <a:rPr lang="en-US" altLang="zh-CN" b="1" i="1" kern="100" dirty="0">
                            <a:latin typeface="Cambria Math" panose="02040503050406030204" pitchFamily="18" charset="0"/>
                            <a:ea typeface="Cambria Math" panose="02040503050406030204" pitchFamily="18" charset="0"/>
                          </a:rPr>
                          <m:t>𝒁</m:t>
                        </m:r>
                      </m:e>
                      <m:sup>
                        <m:r>
                          <a:rPr lang="en-US" altLang="zh-CN" b="1" i="1" kern="100" dirty="0">
                            <a:latin typeface="Cambria Math" panose="02040503050406030204" pitchFamily="18" charset="0"/>
                            <a:ea typeface="Cambria Math" panose="02040503050406030204" pitchFamily="18" charset="0"/>
                          </a:rPr>
                          <m:t>+</m:t>
                        </m:r>
                      </m:sup>
                    </m:sSup>
                  </m:oMath>
                </a14:m>
                <a:r>
                  <a:rPr lang="en-US" altLang="zh-CN" b="1" kern="100" dirty="0">
                    <a:effectLst/>
                    <a:latin typeface="+mn-ea"/>
                  </a:rPr>
                  <a:t>.</a:t>
                </a:r>
                <a:endParaRPr lang="zh-CN" altLang="zh-CN" b="1" kern="100" dirty="0">
                  <a:effectLst/>
                  <a:latin typeface="+mn-ea"/>
                </a:endParaRPr>
              </a:p>
              <a:p>
                <a:pPr indent="266700">
                  <a:lnSpc>
                    <a:spcPct val="130000"/>
                  </a:lnSpc>
                  <a:spcBef>
                    <a:spcPts val="600"/>
                  </a:spcBef>
                </a:pPr>
                <a:r>
                  <a:rPr lang="zh-CN" altLang="zh-CN" b="1" kern="100" dirty="0">
                    <a:effectLst/>
                    <a:latin typeface="+mn-ea"/>
                  </a:rPr>
                  <a:t>所以，</a:t>
                </a:r>
                <a14:m>
                  <m:oMath xmlns:m="http://schemas.openxmlformats.org/officeDocument/2006/math">
                    <m:r>
                      <a:rPr lang="en-US" altLang="zh-CN" b="1" i="1" kern="100" dirty="0" smtClean="0">
                        <a:effectLst/>
                        <a:latin typeface="Cambria Math" panose="02040503050406030204" pitchFamily="18" charset="0"/>
                      </a:rPr>
                      <m:t>&lt;</m:t>
                    </m:r>
                    <m:sSup>
                      <m:sSupPr>
                        <m:ctrlPr>
                          <a:rPr lang="en-US" altLang="zh-CN" b="1" i="1" kern="100" dirty="0">
                            <a:latin typeface="Cambria Math" panose="02040503050406030204" pitchFamily="18" charset="0"/>
                            <a:ea typeface="Cambria Math" panose="02040503050406030204" pitchFamily="18" charset="0"/>
                          </a:rPr>
                        </m:ctrlPr>
                      </m:sSupPr>
                      <m:e>
                        <m:r>
                          <a:rPr lang="en-US" altLang="zh-CN" b="1" i="1" kern="100" dirty="0">
                            <a:latin typeface="Cambria Math" panose="02040503050406030204" pitchFamily="18" charset="0"/>
                            <a:ea typeface="Cambria Math" panose="02040503050406030204" pitchFamily="18" charset="0"/>
                          </a:rPr>
                          <m:t>𝒁</m:t>
                        </m:r>
                      </m:e>
                      <m:sup>
                        <m:r>
                          <a:rPr lang="en-US" altLang="zh-CN" b="1" i="1" kern="100" dirty="0">
                            <a:latin typeface="Cambria Math" panose="02040503050406030204" pitchFamily="18" charset="0"/>
                            <a:ea typeface="Cambria Math" panose="02040503050406030204" pitchFamily="18" charset="0"/>
                          </a:rPr>
                          <m:t>+</m:t>
                        </m:r>
                      </m:sup>
                    </m:sSup>
                    <m:r>
                      <a:rPr lang="en-US" altLang="zh-CN" b="1" i="1" kern="100" dirty="0">
                        <a:effectLst/>
                        <a:latin typeface="Cambria Math" panose="02040503050406030204" pitchFamily="18" charset="0"/>
                      </a:rPr>
                      <m:t>, </m:t>
                    </m:r>
                    <m:r>
                      <a:rPr lang="en-US" altLang="zh-CN" b="1" i="1" kern="100" dirty="0" smtClean="0">
                        <a:effectLst/>
                        <a:latin typeface="Cambria Math" panose="02040503050406030204" pitchFamily="18" charset="0"/>
                      </a:rPr>
                      <m:t>|</m:t>
                    </m:r>
                    <m:r>
                      <a:rPr lang="en-US" altLang="zh-CN" b="1" i="1" kern="100" dirty="0">
                        <a:effectLst/>
                        <a:latin typeface="Cambria Math" panose="02040503050406030204" pitchFamily="18" charset="0"/>
                      </a:rPr>
                      <m:t>&gt;</m:t>
                    </m:r>
                  </m:oMath>
                </a14:m>
                <a:r>
                  <a:rPr lang="zh-CN" altLang="zh-CN" b="1" kern="100" dirty="0">
                    <a:effectLst/>
                    <a:latin typeface="+mn-ea"/>
                  </a:rPr>
                  <a:t>是一个格。</a:t>
                </a:r>
                <a:endParaRPr lang="en-US" altLang="zh-CN" b="1" kern="100" dirty="0">
                  <a:effectLst/>
                  <a:latin typeface="+mn-ea"/>
                </a:endParaRPr>
              </a:p>
              <a:p>
                <a:pPr indent="266700" algn="just">
                  <a:lnSpc>
                    <a:spcPct val="130000"/>
                  </a:lnSpc>
                  <a:spcBef>
                    <a:spcPts val="600"/>
                  </a:spcBef>
                </a:pPr>
                <a:r>
                  <a:rPr lang="zh-CN" altLang="zh-CN" b="1" kern="100" dirty="0">
                    <a:effectLst/>
                    <a:latin typeface="+mn-ea"/>
                  </a:rPr>
                  <a:t>（</a:t>
                </a:r>
                <a:r>
                  <a:rPr lang="en-US" altLang="zh-CN" b="1" kern="100" dirty="0">
                    <a:effectLst/>
                    <a:latin typeface="+mn-ea"/>
                  </a:rPr>
                  <a:t>2</a:t>
                </a:r>
                <a:r>
                  <a:rPr lang="zh-CN" altLang="zh-CN" b="1" kern="100" dirty="0">
                    <a:effectLst/>
                    <a:latin typeface="+mn-ea"/>
                  </a:rPr>
                  <a:t>）对</a:t>
                </a:r>
                <a14:m>
                  <m:oMath xmlns:m="http://schemas.openxmlformats.org/officeDocument/2006/math">
                    <m:r>
                      <a:rPr lang="en-US" altLang="zh-CN" b="1" i="1" kern="100" dirty="0" smtClean="0">
                        <a:effectLst/>
                        <a:latin typeface="Cambria Math" panose="02040503050406030204" pitchFamily="18" charset="0"/>
                        <a:sym typeface="Symbol" panose="05050102010706020507" pitchFamily="18" charset="2"/>
                      </a:rPr>
                      <m:t></m:t>
                    </m:r>
                    <m:r>
                      <a:rPr lang="en-US" altLang="zh-CN" b="1" i="1" kern="100" dirty="0">
                        <a:effectLst/>
                        <a:latin typeface="Cambria Math" panose="02040503050406030204" pitchFamily="18" charset="0"/>
                      </a:rPr>
                      <m:t>𝑺</m:t>
                    </m:r>
                    <m:r>
                      <a:rPr lang="en-US" altLang="zh-CN" b="1" i="1" kern="100" baseline="-25000" dirty="0">
                        <a:effectLst/>
                        <a:latin typeface="Cambria Math" panose="02040503050406030204" pitchFamily="18" charset="0"/>
                      </a:rPr>
                      <m:t>𝟏</m:t>
                    </m:r>
                    <m:r>
                      <a:rPr lang="en-US" altLang="zh-CN" b="1" i="1" kern="100" dirty="0" smtClean="0">
                        <a:effectLst/>
                        <a:latin typeface="Cambria Math" panose="02040503050406030204" pitchFamily="18" charset="0"/>
                      </a:rPr>
                      <m:t>,</m:t>
                    </m:r>
                    <m:r>
                      <a:rPr lang="en-US" altLang="zh-CN" b="1" i="1" kern="100" dirty="0">
                        <a:effectLst/>
                        <a:latin typeface="Cambria Math" panose="02040503050406030204" pitchFamily="18" charset="0"/>
                      </a:rPr>
                      <m:t>𝑺</m:t>
                    </m:r>
                    <m:r>
                      <a:rPr lang="en-US" altLang="zh-CN" b="1" i="1" kern="100" baseline="-25000" dirty="0">
                        <a:effectLst/>
                        <a:latin typeface="Cambria Math" panose="02040503050406030204" pitchFamily="18" charset="0"/>
                      </a:rPr>
                      <m:t>𝟐</m:t>
                    </m:r>
                    <m:r>
                      <a:rPr lang="en-US" altLang="zh-CN" b="1" i="1" kern="100" dirty="0">
                        <a:effectLst/>
                        <a:latin typeface="Cambria Math" panose="02040503050406030204" pitchFamily="18" charset="0"/>
                        <a:cs typeface="Cambria Math" panose="02040503050406030204" pitchFamily="18" charset="0"/>
                      </a:rPr>
                      <m:t>∈</m:t>
                    </m:r>
                    <m:r>
                      <a:rPr lang="en-US" altLang="zh-CN" b="1" i="1" kern="100" dirty="0">
                        <a:effectLst/>
                        <a:latin typeface="Cambria Math" panose="02040503050406030204" pitchFamily="18" charset="0"/>
                      </a:rPr>
                      <m:t>𝑷</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𝑨</m:t>
                    </m:r>
                    <m:r>
                      <a:rPr lang="en-US" altLang="zh-CN" b="1" i="1" kern="100" dirty="0">
                        <a:effectLst/>
                        <a:latin typeface="Cambria Math" panose="02040503050406030204" pitchFamily="18" charset="0"/>
                      </a:rPr>
                      <m:t>)</m:t>
                    </m:r>
                  </m:oMath>
                </a14:m>
                <a:r>
                  <a:rPr lang="zh-CN" altLang="zh-CN" b="1" kern="100" dirty="0">
                    <a:effectLst/>
                    <a:latin typeface="+mn-ea"/>
                  </a:rPr>
                  <a:t>，有</a:t>
                </a:r>
                <a14:m>
                  <m:oMath xmlns:m="http://schemas.openxmlformats.org/officeDocument/2006/math">
                    <m:r>
                      <a:rPr lang="en-US" altLang="zh-CN" b="1" i="0" kern="100" dirty="0" smtClean="0">
                        <a:effectLst/>
                        <a:latin typeface="Cambria Math" panose="02040503050406030204" pitchFamily="18" charset="0"/>
                      </a:rPr>
                      <m:t>𝐢𝐧𝐟</m:t>
                    </m:r>
                    <m:r>
                      <a:rPr lang="en-US" altLang="zh-CN" b="1" i="0" kern="100" dirty="0">
                        <a:effectLst/>
                        <a:latin typeface="Cambria Math" panose="02040503050406030204" pitchFamily="18" charset="0"/>
                      </a:rPr>
                      <m:t>⁡</m:t>
                    </m:r>
                    <m:r>
                      <a:rPr lang="en-US" altLang="zh-CN" b="1" i="1" kern="100" dirty="0">
                        <a:effectLst/>
                        <a:latin typeface="Cambria Math" panose="02040503050406030204" pitchFamily="18" charset="0"/>
                      </a:rPr>
                      <m:t>{</m:t>
                    </m:r>
                    <m:r>
                      <a:rPr lang="en-US" altLang="zh-CN" b="1" i="1" kern="100" dirty="0">
                        <a:latin typeface="Cambria Math" panose="02040503050406030204" pitchFamily="18" charset="0"/>
                      </a:rPr>
                      <m:t>𝑺</m:t>
                    </m:r>
                    <m:r>
                      <a:rPr lang="en-US" altLang="zh-CN" b="1" i="1" kern="100" baseline="-25000" dirty="0">
                        <a:latin typeface="Cambria Math" panose="02040503050406030204" pitchFamily="18" charset="0"/>
                      </a:rPr>
                      <m:t>𝟏</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𝑺</m:t>
                    </m:r>
                    <m:r>
                      <a:rPr lang="en-US" altLang="zh-CN" b="1" i="1" kern="100" baseline="-25000" dirty="0">
                        <a:latin typeface="Cambria Math" panose="02040503050406030204" pitchFamily="18" charset="0"/>
                      </a:rPr>
                      <m:t>𝟐</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𝑺</m:t>
                    </m:r>
                    <m:r>
                      <a:rPr lang="en-US" altLang="zh-CN" b="1" i="1" kern="100" baseline="-25000" dirty="0">
                        <a:effectLst/>
                        <a:latin typeface="Cambria Math" panose="02040503050406030204" pitchFamily="18" charset="0"/>
                      </a:rPr>
                      <m:t>𝟏</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𝑺</m:t>
                    </m:r>
                    <m:r>
                      <a:rPr lang="en-US" altLang="zh-CN" b="1" i="1" kern="100" baseline="-25000" dirty="0">
                        <a:effectLst/>
                        <a:latin typeface="Cambria Math" panose="02040503050406030204" pitchFamily="18" charset="0"/>
                      </a:rPr>
                      <m:t>𝟐</m:t>
                    </m:r>
                    <m:r>
                      <a:rPr lang="en-US" altLang="zh-CN" b="1" i="1" kern="100" dirty="0">
                        <a:effectLst/>
                        <a:latin typeface="Cambria Math" panose="02040503050406030204" pitchFamily="18" charset="0"/>
                        <a:cs typeface="Cambria Math" panose="02040503050406030204" pitchFamily="18" charset="0"/>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𝑷</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𝑨</m:t>
                    </m:r>
                    <m:r>
                      <a:rPr lang="en-US" altLang="zh-CN" b="1" i="1" kern="100" dirty="0">
                        <a:effectLst/>
                        <a:latin typeface="Cambria Math" panose="02040503050406030204" pitchFamily="18" charset="0"/>
                      </a:rPr>
                      <m:t>)</m:t>
                    </m:r>
                  </m:oMath>
                </a14:m>
                <a:r>
                  <a:rPr lang="zh-CN" altLang="zh-CN" b="1" kern="100" dirty="0">
                    <a:effectLst/>
                    <a:latin typeface="+mn-ea"/>
                  </a:rPr>
                  <a:t>，</a:t>
                </a:r>
                <a:endParaRPr lang="en-US" altLang="zh-CN" b="1" kern="100" dirty="0">
                  <a:effectLst/>
                  <a:latin typeface="+mn-ea"/>
                </a:endParaRPr>
              </a:p>
              <a:p>
                <a:pPr indent="266700" algn="just">
                  <a:lnSpc>
                    <a:spcPct val="130000"/>
                  </a:lnSpc>
                  <a:spcBef>
                    <a:spcPts val="600"/>
                  </a:spcBef>
                </a:pPr>
                <a14:m>
                  <m:oMath xmlns:m="http://schemas.openxmlformats.org/officeDocument/2006/math">
                    <m:r>
                      <a:rPr lang="en-US" altLang="zh-CN" b="1" i="0" kern="100" dirty="0" smtClean="0">
                        <a:effectLst/>
                        <a:latin typeface="Cambria Math" panose="02040503050406030204" pitchFamily="18" charset="0"/>
                      </a:rPr>
                      <m:t>𝐬𝐮𝐩</m:t>
                    </m:r>
                    <m:r>
                      <a:rPr lang="en-US" altLang="zh-CN" b="1" i="0"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m:t>
                    </m:r>
                    <m:r>
                      <a:rPr lang="en-US" altLang="zh-CN" b="1" i="1" kern="100" dirty="0">
                        <a:latin typeface="Cambria Math" panose="02040503050406030204" pitchFamily="18" charset="0"/>
                      </a:rPr>
                      <m:t>𝑺</m:t>
                    </m:r>
                    <m:r>
                      <a:rPr lang="en-US" altLang="zh-CN" b="1" i="1" kern="100" baseline="-25000" dirty="0">
                        <a:latin typeface="Cambria Math" panose="02040503050406030204" pitchFamily="18" charset="0"/>
                      </a:rPr>
                      <m:t>𝟏</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𝑺</m:t>
                    </m:r>
                    <m:r>
                      <a:rPr lang="en-US" altLang="zh-CN" b="1" i="1" kern="100" baseline="-25000" dirty="0">
                        <a:latin typeface="Cambria Math" panose="02040503050406030204" pitchFamily="18" charset="0"/>
                      </a:rPr>
                      <m:t>𝟐</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𝑺</m:t>
                    </m:r>
                    <m:r>
                      <a:rPr lang="en-US" altLang="zh-CN" b="1" i="1" kern="100" baseline="-25000" dirty="0">
                        <a:effectLst/>
                        <a:latin typeface="Cambria Math" panose="02040503050406030204" pitchFamily="18" charset="0"/>
                      </a:rPr>
                      <m:t>𝟏</m:t>
                    </m:r>
                    <m:r>
                      <a:rPr lang="en-US" altLang="zh-CN" b="1" i="1" kern="100" dirty="0">
                        <a:effectLst/>
                        <a:latin typeface="Cambria Math" panose="02040503050406030204" pitchFamily="18" charset="0"/>
                        <a:cs typeface="Cambria Math" panose="02040503050406030204" pitchFamily="18" charset="0"/>
                      </a:rPr>
                      <m:t>∪</m:t>
                    </m:r>
                    <m:r>
                      <a:rPr lang="en-US" altLang="zh-CN" b="1" i="1" kern="100" dirty="0">
                        <a:effectLst/>
                        <a:latin typeface="Cambria Math" panose="02040503050406030204" pitchFamily="18" charset="0"/>
                      </a:rPr>
                      <m:t>𝑺</m:t>
                    </m:r>
                    <m:r>
                      <a:rPr lang="en-US" altLang="zh-CN" b="1" i="1" kern="100" baseline="-25000" dirty="0">
                        <a:effectLst/>
                        <a:latin typeface="Cambria Math" panose="02040503050406030204" pitchFamily="18" charset="0"/>
                      </a:rPr>
                      <m:t>𝟐</m:t>
                    </m:r>
                    <m:r>
                      <a:rPr lang="en-US" altLang="zh-CN" b="1" i="1" kern="100" dirty="0">
                        <a:effectLst/>
                        <a:latin typeface="Cambria Math" panose="02040503050406030204" pitchFamily="18" charset="0"/>
                        <a:cs typeface="Cambria Math" panose="02040503050406030204" pitchFamily="18" charset="0"/>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𝑷</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𝑨</m:t>
                    </m:r>
                    <m:r>
                      <a:rPr lang="en-US" altLang="zh-CN" b="1" i="1" kern="100" dirty="0">
                        <a:effectLst/>
                        <a:latin typeface="Cambria Math" panose="02040503050406030204" pitchFamily="18" charset="0"/>
                      </a:rPr>
                      <m:t>)</m:t>
                    </m:r>
                  </m:oMath>
                </a14:m>
                <a:r>
                  <a:rPr lang="zh-CN" altLang="zh-CN" b="1" kern="100" dirty="0">
                    <a:latin typeface="+mn-ea"/>
                  </a:rPr>
                  <a:t> 。</a:t>
                </a:r>
                <a:r>
                  <a:rPr lang="zh-CN" altLang="zh-CN" b="1" kern="100" dirty="0">
                    <a:effectLst/>
                    <a:latin typeface="+mn-ea"/>
                  </a:rPr>
                  <a:t>所以，</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𝑷</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𝑨</m:t>
                    </m:r>
                    <m:r>
                      <a:rPr lang="en-US" altLang="zh-CN" b="1" i="1" kern="100" dirty="0" smtClean="0">
                        <a:effectLst/>
                        <a:latin typeface="Cambria Math" panose="02040503050406030204" pitchFamily="18" charset="0"/>
                      </a:rPr>
                      <m:t>), ⊆&gt;</m:t>
                    </m:r>
                  </m:oMath>
                </a14:m>
                <a:r>
                  <a:rPr lang="zh-CN" altLang="zh-CN" b="1" kern="100" dirty="0">
                    <a:effectLst/>
                    <a:latin typeface="+mn-ea"/>
                  </a:rPr>
                  <a:t>是一个格。</a:t>
                </a:r>
              </a:p>
            </p:txBody>
          </p:sp>
        </mc:Choice>
        <mc:Fallback xmlns="">
          <p:sp>
            <p:nvSpPr>
              <p:cNvPr id="22" name="文本框 21">
                <a:extLst>
                  <a:ext uri="{FF2B5EF4-FFF2-40B4-BE49-F238E27FC236}">
                    <a16:creationId xmlns:a16="http://schemas.microsoft.com/office/drawing/2014/main" id="{54E9ECA1-9B15-41C5-9851-40C39834A658}"/>
                  </a:ext>
                </a:extLst>
              </p:cNvPr>
              <p:cNvSpPr txBox="1">
                <a:spLocks noRot="1" noChangeAspect="1" noMove="1" noResize="1" noEditPoints="1" noAdjustHandles="1" noChangeArrowheads="1" noChangeShapeType="1" noTextEdit="1"/>
              </p:cNvSpPr>
              <p:nvPr/>
            </p:nvSpPr>
            <p:spPr>
              <a:xfrm>
                <a:off x="-43043" y="3246918"/>
                <a:ext cx="11866743" cy="2196883"/>
              </a:xfrm>
              <a:prstGeom prst="rect">
                <a:avLst/>
              </a:prstGeom>
              <a:blipFill>
                <a:blip r:embed="rId6"/>
                <a:stretch>
                  <a:fillRect b="-555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48527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格的判定</a:t>
            </a:r>
          </a:p>
        </p:txBody>
      </p:sp>
      <p:sp>
        <p:nvSpPr>
          <p:cNvPr id="158" name="矩形 157"/>
          <p:cNvSpPr/>
          <p:nvPr/>
        </p:nvSpPr>
        <p:spPr>
          <a:xfrm>
            <a:off x="0" y="6154950"/>
            <a:ext cx="12192000" cy="703049"/>
          </a:xfrm>
          <a:prstGeom prst="rect">
            <a:avLst/>
          </a:prstGeom>
          <a:solidFill>
            <a:srgbClr val="FFFFFF">
              <a:lumMod val="85000"/>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159" name="矩形 158"/>
          <p:cNvSpPr/>
          <p:nvPr/>
        </p:nvSpPr>
        <p:spPr>
          <a:xfrm>
            <a:off x="3466" y="1541043"/>
            <a:ext cx="12223664" cy="87055"/>
          </a:xfrm>
          <a:prstGeom prst="rect">
            <a:avLst/>
          </a:prstGeom>
          <a:solidFill>
            <a:srgbClr val="F69200">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ED20D443-0023-47AD-BE12-D0D6B141AE04}"/>
                  </a:ext>
                </a:extLst>
              </p:cNvPr>
              <p:cNvSpPr>
                <a:spLocks noGrp="1"/>
              </p:cNvSpPr>
              <p:nvPr>
                <p:ph idx="1"/>
              </p:nvPr>
            </p:nvSpPr>
            <p:spPr>
              <a:xfrm>
                <a:off x="400298" y="918261"/>
                <a:ext cx="7942048" cy="530333"/>
              </a:xfrm>
            </p:spPr>
            <p:txBody>
              <a:bodyPr>
                <a:noAutofit/>
              </a:bodyPr>
              <a:lstStyle/>
              <a:p>
                <a:pPr marL="0" indent="0" algn="just">
                  <a:buNone/>
                </a:pPr>
                <a:r>
                  <a:rPr lang="zh-CN" altLang="en-US" b="1" dirty="0">
                    <a:solidFill>
                      <a:srgbClr val="0000FF"/>
                    </a:solidFill>
                    <a:latin typeface="+mn-ea"/>
                  </a:rPr>
                  <a:t>例</a:t>
                </a:r>
                <a:r>
                  <a:rPr lang="en-US" altLang="zh-CN" dirty="0">
                    <a:solidFill>
                      <a:srgbClr val="0000FF"/>
                    </a:solidFill>
                    <a:latin typeface="+mn-ea"/>
                  </a:rPr>
                  <a:t>10</a:t>
                </a:r>
                <a:r>
                  <a:rPr lang="en-US" altLang="zh-CN" b="1" dirty="0">
                    <a:solidFill>
                      <a:srgbClr val="0000FF"/>
                    </a:solidFill>
                    <a:latin typeface="+mn-ea"/>
                  </a:rPr>
                  <a:t>.1(</a:t>
                </a:r>
                <a:r>
                  <a:rPr lang="zh-CN" altLang="en-US" b="1" dirty="0">
                    <a:solidFill>
                      <a:srgbClr val="0000FF"/>
                    </a:solidFill>
                    <a:latin typeface="+mn-ea"/>
                  </a:rPr>
                  <a:t>续</a:t>
                </a:r>
                <a:r>
                  <a:rPr lang="en-US" altLang="zh-CN" b="1" dirty="0">
                    <a:solidFill>
                      <a:srgbClr val="0000FF"/>
                    </a:solidFill>
                    <a:latin typeface="+mn-ea"/>
                  </a:rPr>
                  <a:t>) </a:t>
                </a:r>
                <a:r>
                  <a:rPr lang="zh-CN" altLang="zh-CN" dirty="0"/>
                  <a:t>（</a:t>
                </a:r>
                <a:r>
                  <a:rPr lang="en-US" altLang="zh-CN" dirty="0"/>
                  <a:t>3</a:t>
                </a:r>
                <a:r>
                  <a:rPr lang="zh-CN" altLang="zh-CN" dirty="0"/>
                  <a:t>）</a:t>
                </a:r>
                <a:r>
                  <a:rPr lang="en-US" altLang="zh-CN" dirty="0"/>
                  <a:t> </a:t>
                </a:r>
                <a14:m>
                  <m:oMath xmlns:m="http://schemas.openxmlformats.org/officeDocument/2006/math">
                    <m:r>
                      <a:rPr lang="en-US" altLang="zh-CN" i="1" dirty="0">
                        <a:latin typeface="Cambria Math" panose="02040503050406030204" pitchFamily="18" charset="0"/>
                      </a:rPr>
                      <m:t>&lt;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𝑭</m:t>
                        </m:r>
                      </m:e>
                      <m:sub>
                        <m:r>
                          <a:rPr lang="en-US" altLang="zh-CN" i="1" dirty="0">
                            <a:latin typeface="Cambria Math" panose="02040503050406030204" pitchFamily="18" charset="0"/>
                          </a:rPr>
                          <m:t>𝒏</m:t>
                        </m:r>
                      </m:sub>
                    </m:sSub>
                    <m:r>
                      <a:rPr lang="en-US" altLang="zh-CN" i="1" dirty="0">
                        <a:latin typeface="Cambria Math" panose="02040503050406030204" pitchFamily="18" charset="0"/>
                      </a:rPr>
                      <m:t>, |&gt;</m:t>
                    </m:r>
                  </m:oMath>
                </a14:m>
                <a:r>
                  <a:rPr lang="zh-CN" altLang="zh-CN" dirty="0"/>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𝑭</m:t>
                        </m:r>
                      </m:e>
                      <m:sub>
                        <m:r>
                          <a:rPr lang="en-US" altLang="zh-CN" i="1" dirty="0">
                            <a:latin typeface="Cambria Math" panose="02040503050406030204" pitchFamily="18" charset="0"/>
                          </a:rPr>
                          <m:t>𝒏</m:t>
                        </m:r>
                      </m:sub>
                    </m:sSub>
                    <m:r>
                      <a:rPr lang="en-US" altLang="zh-CN" i="1" dirty="0">
                        <a:latin typeface="Cambria Math" panose="02040503050406030204" pitchFamily="18" charset="0"/>
                      </a:rPr>
                      <m:t> </m:t>
                    </m:r>
                  </m:oMath>
                </a14:m>
                <a:r>
                  <a:rPr lang="zh-CN" altLang="zh-CN" dirty="0"/>
                  <a:t>是</a:t>
                </a:r>
                <a14:m>
                  <m:oMath xmlns:m="http://schemas.openxmlformats.org/officeDocument/2006/math">
                    <m:r>
                      <a:rPr lang="en-US" altLang="zh-CN" i="1" dirty="0">
                        <a:latin typeface="Cambria Math" panose="02040503050406030204" pitchFamily="18" charset="0"/>
                      </a:rPr>
                      <m:t>𝒏</m:t>
                    </m:r>
                  </m:oMath>
                </a14:m>
                <a:r>
                  <a:rPr lang="zh-CN" altLang="zh-CN" dirty="0"/>
                  <a:t>的所有因子的集合。</a:t>
                </a:r>
              </a:p>
            </p:txBody>
          </p:sp>
        </mc:Choice>
        <mc:Fallback xmlns="">
          <p:sp>
            <p:nvSpPr>
              <p:cNvPr id="10" name="Content Placeholder 2">
                <a:extLst>
                  <a:ext uri="{FF2B5EF4-FFF2-40B4-BE49-F238E27FC236}">
                    <a16:creationId xmlns:a16="http://schemas.microsoft.com/office/drawing/2014/main" id="{ED20D443-0023-47AD-BE12-D0D6B141AE04}"/>
                  </a:ext>
                </a:extLst>
              </p:cNvPr>
              <p:cNvSpPr>
                <a:spLocks noGrp="1" noRot="1" noChangeAspect="1" noMove="1" noResize="1" noEditPoints="1" noAdjustHandles="1" noChangeArrowheads="1" noChangeShapeType="1" noTextEdit="1"/>
              </p:cNvSpPr>
              <p:nvPr>
                <p:ph idx="1"/>
              </p:nvPr>
            </p:nvSpPr>
            <p:spPr>
              <a:xfrm>
                <a:off x="400298" y="918261"/>
                <a:ext cx="7942048" cy="530333"/>
              </a:xfrm>
              <a:blipFill>
                <a:blip r:embed="rId5"/>
                <a:stretch>
                  <a:fillRect l="-845" r="-768" b="-218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4E9ECA1-9B15-41C5-9851-40C39834A658}"/>
                  </a:ext>
                </a:extLst>
              </p:cNvPr>
              <p:cNvSpPr txBox="1"/>
              <p:nvPr/>
            </p:nvSpPr>
            <p:spPr>
              <a:xfrm>
                <a:off x="231775" y="1850136"/>
                <a:ext cx="7086600" cy="3886577"/>
              </a:xfrm>
              <a:prstGeom prst="rect">
                <a:avLst/>
              </a:prstGeom>
              <a:noFill/>
            </p:spPr>
            <p:txBody>
              <a:bodyPr wrap="square">
                <a:spAutoFit/>
              </a:bodyPr>
              <a:lstStyle/>
              <a:p>
                <a:pPr indent="266700" algn="just">
                  <a:lnSpc>
                    <a:spcPct val="130000"/>
                  </a:lnSpc>
                </a:pPr>
                <a:r>
                  <a:rPr lang="zh-CN" altLang="zh-CN" b="1" kern="100" dirty="0">
                    <a:solidFill>
                      <a:srgbClr val="FF0000"/>
                    </a:solidFill>
                    <a:effectLst/>
                    <a:latin typeface="+mn-ea"/>
                  </a:rPr>
                  <a:t>解</a:t>
                </a:r>
                <a:r>
                  <a:rPr lang="en-US" altLang="zh-CN" b="1" kern="100" dirty="0">
                    <a:solidFill>
                      <a:srgbClr val="FF0000"/>
                    </a:solidFill>
                    <a:effectLst/>
                    <a:latin typeface="+mn-ea"/>
                  </a:rPr>
                  <a:t>(</a:t>
                </a:r>
                <a:r>
                  <a:rPr lang="zh-CN" altLang="en-US" b="1" kern="100" dirty="0">
                    <a:solidFill>
                      <a:srgbClr val="FF0000"/>
                    </a:solidFill>
                    <a:effectLst/>
                    <a:latin typeface="+mn-ea"/>
                  </a:rPr>
                  <a:t>续</a:t>
                </a:r>
                <a:r>
                  <a:rPr lang="en-US" altLang="zh-CN" b="1" kern="100" dirty="0">
                    <a:solidFill>
                      <a:srgbClr val="FF0000"/>
                    </a:solidFill>
                    <a:effectLst/>
                    <a:latin typeface="+mn-ea"/>
                  </a:rPr>
                  <a:t>) </a:t>
                </a:r>
                <a:r>
                  <a:rPr lang="zh-CN" altLang="en-US" b="1" kern="100" dirty="0">
                    <a:effectLst/>
                    <a:latin typeface="+mn-ea"/>
                  </a:rPr>
                  <a:t>（</a:t>
                </a:r>
                <a:r>
                  <a:rPr lang="en-US" altLang="zh-CN" b="1" kern="100" dirty="0">
                    <a:effectLst/>
                    <a:latin typeface="+mn-ea"/>
                  </a:rPr>
                  <a:t>3</a:t>
                </a:r>
                <a:r>
                  <a:rPr lang="zh-CN" altLang="en-US" b="1" kern="100" dirty="0">
                    <a:effectLst/>
                    <a:latin typeface="+mn-ea"/>
                  </a:rPr>
                  <a:t>）</a:t>
                </a:r>
                <a:r>
                  <a:rPr lang="zh-CN" altLang="zh-CN" b="1" kern="100" dirty="0">
                    <a:effectLst/>
                    <a:latin typeface="+mn-ea"/>
                  </a:rPr>
                  <a:t>同样是整除关系，与</a:t>
                </a:r>
                <a:r>
                  <a:rPr lang="en-US" altLang="zh-CN" b="1" kern="100" dirty="0">
                    <a:effectLst/>
                    <a:latin typeface="+mn-ea"/>
                  </a:rPr>
                  <a:t>(1)</a:t>
                </a:r>
                <a:r>
                  <a:rPr lang="zh-CN" altLang="zh-CN" b="1" kern="100" dirty="0">
                    <a:effectLst/>
                    <a:latin typeface="+mn-ea"/>
                  </a:rPr>
                  <a:t>类似，</a:t>
                </a:r>
                <a14:m>
                  <m:oMath xmlns:m="http://schemas.openxmlformats.org/officeDocument/2006/math">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cs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𝑭</m:t>
                        </m:r>
                      </m:e>
                      <m:sub>
                        <m:r>
                          <a:rPr lang="en-US" altLang="zh-CN" i="1" dirty="0">
                            <a:latin typeface="Cambria Math" panose="02040503050406030204" pitchFamily="18" charset="0"/>
                          </a:rPr>
                          <m:t>𝒏</m:t>
                        </m:r>
                      </m:sub>
                    </m:sSub>
                  </m:oMath>
                </a14:m>
                <a:r>
                  <a:rPr lang="zh-CN" altLang="zh-CN" b="1" kern="100" dirty="0">
                    <a:effectLst/>
                    <a:latin typeface="+mn-ea"/>
                  </a:rPr>
                  <a:t>，即</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𝒏</m:t>
                    </m:r>
                    <m:r>
                      <a:rPr lang="zh-CN" altLang="zh-CN" b="1" i="1" kern="100" dirty="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𝒏</m:t>
                    </m:r>
                  </m:oMath>
                </a14:m>
                <a:r>
                  <a:rPr lang="zh-CN" altLang="zh-CN" b="1" kern="100" dirty="0">
                    <a:effectLst/>
                    <a:latin typeface="+mn-ea"/>
                  </a:rPr>
                  <a:t>，只需说明</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latin typeface="Cambria Math" panose="02040503050406030204" pitchFamily="18" charset="0"/>
                      </a:rPr>
                      <m:t>𝒂</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cs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𝑭</m:t>
                        </m:r>
                      </m:e>
                      <m:sub>
                        <m:r>
                          <a:rPr lang="en-US" altLang="zh-CN" i="1" dirty="0">
                            <a:latin typeface="Cambria Math" panose="02040503050406030204" pitchFamily="18" charset="0"/>
                          </a:rPr>
                          <m:t>𝒏</m:t>
                        </m:r>
                      </m:sub>
                    </m:sSub>
                  </m:oMath>
                </a14:m>
                <a:r>
                  <a:rPr lang="zh-CN" altLang="zh-CN" b="1" kern="100" dirty="0">
                    <a:effectLst/>
                    <a:latin typeface="+mn-ea"/>
                  </a:rPr>
                  <a:t>即可。</a:t>
                </a:r>
              </a:p>
              <a:p>
                <a:pPr indent="266700" algn="just">
                  <a:lnSpc>
                    <a:spcPct val="130000"/>
                  </a:lnSpc>
                </a:pPr>
                <a:r>
                  <a:rPr lang="zh-CN" altLang="zh-CN" b="1" kern="100" dirty="0">
                    <a:effectLst/>
                    <a:latin typeface="+mn-ea"/>
                  </a:rPr>
                  <a:t>由于</a:t>
                </a:r>
                <a14:m>
                  <m:oMath xmlns:m="http://schemas.openxmlformats.org/officeDocument/2006/math">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𝒂</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m:t>
                    </m:r>
                    <m:r>
                      <a:rPr lang="en-US" altLang="zh-CN" b="1" i="1" kern="100" dirty="0">
                        <a:latin typeface="Cambria Math" panose="02040503050406030204" pitchFamily="18" charset="0"/>
                      </a:rPr>
                      <m:t>𝒂</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rPr>
                      <m:t>，</m:t>
                    </m:r>
                  </m:oMath>
                </a14:m>
                <a:r>
                  <a:rPr lang="zh-CN" altLang="zh-CN" b="1" kern="100" dirty="0">
                    <a:effectLst/>
                    <a:latin typeface="+mn-ea"/>
                  </a:rPr>
                  <a:t>所以</a:t>
                </a:r>
                <a14:m>
                  <m:oMath xmlns:m="http://schemas.openxmlformats.org/officeDocument/2006/math">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𝒂</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𝒏</m:t>
                    </m:r>
                  </m:oMath>
                </a14:m>
                <a:r>
                  <a:rPr lang="zh-CN" altLang="zh-CN" b="1" kern="100" dirty="0">
                    <a:effectLst/>
                    <a:latin typeface="+mn-ea"/>
                  </a:rPr>
                  <a:t>，即</a:t>
                </a:r>
                <a14:m>
                  <m:oMath xmlns:m="http://schemas.openxmlformats.org/officeDocument/2006/math">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𝒂</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cs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𝑭</m:t>
                        </m:r>
                      </m:e>
                      <m:sub>
                        <m:r>
                          <a:rPr lang="en-US" altLang="zh-CN" i="1" dirty="0">
                            <a:latin typeface="Cambria Math" panose="02040503050406030204" pitchFamily="18" charset="0"/>
                          </a:rPr>
                          <m:t>𝒏</m:t>
                        </m:r>
                      </m:sub>
                    </m:sSub>
                  </m:oMath>
                </a14:m>
                <a:r>
                  <a:rPr lang="en-US" altLang="zh-CN" b="1" kern="100" baseline="-25000" dirty="0">
                    <a:effectLst/>
                    <a:latin typeface="+mn-ea"/>
                  </a:rPr>
                  <a:t>.</a:t>
                </a:r>
                <a:endParaRPr lang="zh-CN" altLang="zh-CN" b="1" kern="100" dirty="0">
                  <a:effectLst/>
                  <a:latin typeface="+mn-ea"/>
                </a:endParaRPr>
              </a:p>
              <a:p>
                <a:pPr>
                  <a:lnSpc>
                    <a:spcPct val="130000"/>
                  </a:lnSpc>
                </a:pPr>
                <a:r>
                  <a:rPr lang="zh-CN" altLang="zh-CN" b="1" dirty="0">
                    <a:effectLst/>
                    <a:latin typeface="+mn-ea"/>
                    <a:cs typeface="Times New Roman" panose="02020603050405020304" pitchFamily="18" charset="0"/>
                  </a:rPr>
                  <a:t>又由于</a:t>
                </a:r>
                <a14:m>
                  <m:oMath xmlns:m="http://schemas.openxmlformats.org/officeDocument/2006/math">
                    <m:r>
                      <a:rPr lang="en-US" altLang="zh-CN" b="1" i="1" dirty="0" smtClean="0">
                        <a:effectLst/>
                        <a:latin typeface="Cambria Math" panose="02040503050406030204" pitchFamily="18" charset="0"/>
                      </a:rPr>
                      <m:t>𝒏</m:t>
                    </m:r>
                  </m:oMath>
                </a14:m>
                <a:r>
                  <a:rPr lang="zh-CN" altLang="zh-CN" b="1" dirty="0">
                    <a:effectLst/>
                    <a:latin typeface="+mn-ea"/>
                    <a:cs typeface="Times New Roman" panose="02020603050405020304" pitchFamily="18" charset="0"/>
                  </a:rPr>
                  <a:t>是</a:t>
                </a:r>
                <a14:m>
                  <m:oMath xmlns:m="http://schemas.openxmlformats.org/officeDocument/2006/math">
                    <m:r>
                      <a:rPr lang="en-US" altLang="zh-CN" b="1" i="1" dirty="0" smtClean="0">
                        <a:effectLst/>
                        <a:latin typeface="Cambria Math" panose="02040503050406030204" pitchFamily="18" charset="0"/>
                      </a:rPr>
                      <m:t>𝒂</m:t>
                    </m:r>
                  </m:oMath>
                </a14:m>
                <a:r>
                  <a:rPr lang="zh-CN" altLang="zh-CN" b="1" dirty="0">
                    <a:effectLst/>
                    <a:latin typeface="+mn-ea"/>
                    <a:cs typeface="Times New Roman" panose="02020603050405020304" pitchFamily="18" charset="0"/>
                  </a:rPr>
                  <a:t>和</a:t>
                </a:r>
                <a14:m>
                  <m:oMath xmlns:m="http://schemas.openxmlformats.org/officeDocument/2006/math">
                    <m:r>
                      <a:rPr lang="en-US" altLang="zh-CN" b="1" i="1" dirty="0" smtClean="0">
                        <a:effectLst/>
                        <a:latin typeface="Cambria Math" panose="02040503050406030204" pitchFamily="18" charset="0"/>
                      </a:rPr>
                      <m:t>𝒃</m:t>
                    </m:r>
                  </m:oMath>
                </a14:m>
                <a:r>
                  <a:rPr lang="zh-CN" altLang="zh-CN" b="1" dirty="0">
                    <a:effectLst/>
                    <a:latin typeface="+mn-ea"/>
                    <a:cs typeface="Times New Roman" panose="02020603050405020304" pitchFamily="18" charset="0"/>
                  </a:rPr>
                  <a:t>的公倍数，而</a:t>
                </a:r>
                <a14:m>
                  <m:oMath xmlns:m="http://schemas.openxmlformats.org/officeDocument/2006/math">
                    <m:r>
                      <a:rPr lang="en-US" altLang="zh-CN" b="1" i="1" dirty="0" smtClean="0">
                        <a:effectLst/>
                        <a:latin typeface="Cambria Math" panose="02040503050406030204" pitchFamily="18" charset="0"/>
                      </a:rPr>
                      <m:t>[</m:t>
                    </m:r>
                    <m:r>
                      <a:rPr lang="en-US" altLang="zh-CN" b="1" i="1" kern="100" dirty="0">
                        <a:latin typeface="Cambria Math" panose="02040503050406030204" pitchFamily="18" charset="0"/>
                      </a:rPr>
                      <m:t>𝒂</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𝒃</m:t>
                    </m:r>
                    <m:r>
                      <a:rPr lang="en-US" altLang="zh-CN" b="1" i="1" dirty="0">
                        <a:effectLst/>
                        <a:latin typeface="Cambria Math" panose="02040503050406030204" pitchFamily="18" charset="0"/>
                      </a:rPr>
                      <m:t>]</m:t>
                    </m:r>
                  </m:oMath>
                </a14:m>
                <a:r>
                  <a:rPr lang="zh-CN" altLang="zh-CN" b="1" dirty="0">
                    <a:effectLst/>
                    <a:latin typeface="+mn-ea"/>
                    <a:cs typeface="Times New Roman" panose="02020603050405020304" pitchFamily="18" charset="0"/>
                  </a:rPr>
                  <a:t>是最小公倍数，所以</a:t>
                </a:r>
                <a14:m>
                  <m:oMath xmlns:m="http://schemas.openxmlformats.org/officeDocument/2006/math">
                    <m:r>
                      <a:rPr lang="en-US" altLang="zh-CN" b="1" i="1" dirty="0" smtClean="0">
                        <a:effectLst/>
                        <a:latin typeface="Cambria Math" panose="02040503050406030204" pitchFamily="18" charset="0"/>
                      </a:rPr>
                      <m:t>[</m:t>
                    </m:r>
                    <m:r>
                      <a:rPr lang="en-US" altLang="zh-CN" b="1" i="1" kern="100" dirty="0">
                        <a:latin typeface="Cambria Math" panose="02040503050406030204" pitchFamily="18" charset="0"/>
                      </a:rPr>
                      <m:t>𝒂</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𝒃</m:t>
                    </m:r>
                    <m:r>
                      <a:rPr lang="en-US" altLang="zh-CN" b="1" i="1" dirty="0">
                        <a:effectLst/>
                        <a:latin typeface="Cambria Math" panose="02040503050406030204" pitchFamily="18" charset="0"/>
                      </a:rPr>
                      <m:t>]|</m:t>
                    </m:r>
                    <m:r>
                      <a:rPr lang="en-US" altLang="zh-CN" b="1" i="1" dirty="0">
                        <a:effectLst/>
                        <a:latin typeface="Cambria Math" panose="02040503050406030204" pitchFamily="18" charset="0"/>
                      </a:rPr>
                      <m:t>𝒏</m:t>
                    </m:r>
                  </m:oMath>
                </a14:m>
                <a:r>
                  <a:rPr lang="zh-CN" altLang="zh-CN" b="1" dirty="0">
                    <a:effectLst/>
                    <a:latin typeface="+mn-ea"/>
                    <a:cs typeface="Times New Roman" panose="02020603050405020304" pitchFamily="18" charset="0"/>
                  </a:rPr>
                  <a:t>，即</a:t>
                </a:r>
                <a14:m>
                  <m:oMath xmlns:m="http://schemas.openxmlformats.org/officeDocument/2006/math">
                    <m:r>
                      <a:rPr lang="en-US" altLang="zh-CN" b="1" i="1" dirty="0" smtClean="0">
                        <a:effectLst/>
                        <a:latin typeface="Cambria Math" panose="02040503050406030204" pitchFamily="18" charset="0"/>
                      </a:rPr>
                      <m:t>[</m:t>
                    </m:r>
                    <m:r>
                      <a:rPr lang="en-US" altLang="zh-CN" b="1" i="1" kern="100" dirty="0">
                        <a:latin typeface="Cambria Math" panose="02040503050406030204" pitchFamily="18" charset="0"/>
                      </a:rPr>
                      <m:t>𝒂</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𝒃</m:t>
                    </m:r>
                    <m:r>
                      <a:rPr lang="en-US" altLang="zh-CN" b="1" i="1" dirty="0">
                        <a:effectLst/>
                        <a:latin typeface="Cambria Math" panose="02040503050406030204" pitchFamily="18" charset="0"/>
                      </a:rPr>
                      <m:t>]</m:t>
                    </m:r>
                    <m:r>
                      <a:rPr lang="en-US" altLang="zh-CN" b="1" i="1" dirty="0">
                        <a:effectLst/>
                        <a:latin typeface="Cambria Math" panose="02040503050406030204" pitchFamily="18" charset="0"/>
                        <a:cs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𝑭</m:t>
                        </m:r>
                      </m:e>
                      <m:sub>
                        <m:r>
                          <a:rPr lang="en-US" altLang="zh-CN" i="1" dirty="0">
                            <a:latin typeface="Cambria Math" panose="02040503050406030204" pitchFamily="18" charset="0"/>
                          </a:rPr>
                          <m:t>𝒏</m:t>
                        </m:r>
                      </m:sub>
                    </m:sSub>
                  </m:oMath>
                </a14:m>
                <a:r>
                  <a:rPr lang="zh-CN" altLang="zh-CN" b="1" baseline="-25000" dirty="0">
                    <a:effectLst/>
                    <a:latin typeface="+mn-ea"/>
                    <a:cs typeface="Times New Roman" panose="02020603050405020304" pitchFamily="18" charset="0"/>
                  </a:rPr>
                  <a:t>。</a:t>
                </a:r>
                <a:r>
                  <a:rPr lang="zh-CN" altLang="zh-CN" b="1" dirty="0">
                    <a:effectLst/>
                    <a:latin typeface="+mn-ea"/>
                    <a:cs typeface="Times New Roman" panose="02020603050405020304" pitchFamily="18" charset="0"/>
                  </a:rPr>
                  <a:t>图</a:t>
                </a:r>
                <a:r>
                  <a:rPr lang="zh-CN" altLang="en-US" b="1" dirty="0">
                    <a:latin typeface="+mn-ea"/>
                    <a:cs typeface="Times New Roman" panose="02020603050405020304" pitchFamily="18" charset="0"/>
                  </a:rPr>
                  <a:t>示</a:t>
                </a:r>
                <a:r>
                  <a:rPr lang="zh-CN" altLang="zh-CN" b="1" dirty="0">
                    <a:effectLst/>
                    <a:latin typeface="+mn-ea"/>
                    <a:cs typeface="Times New Roman" panose="02020603050405020304" pitchFamily="18" charset="0"/>
                  </a:rPr>
                  <a:t>为</a:t>
                </a:r>
                <a14:m>
                  <m:oMath xmlns:m="http://schemas.openxmlformats.org/officeDocument/2006/math">
                    <m:r>
                      <a:rPr lang="en-US" altLang="zh-CN" b="1" i="1" dirty="0" smtClean="0">
                        <a:effectLst/>
                        <a:latin typeface="Cambria Math" panose="02040503050406030204" pitchFamily="18" charset="0"/>
                      </a:rPr>
                      <m:t>𝒏</m:t>
                    </m:r>
                    <m:r>
                      <a:rPr lang="en-US" altLang="zh-CN" b="1" i="1" dirty="0" smtClean="0">
                        <a:effectLst/>
                        <a:latin typeface="Cambria Math" panose="02040503050406030204" pitchFamily="18" charset="0"/>
                      </a:rPr>
                      <m:t> = </m:t>
                    </m:r>
                    <m:r>
                      <a:rPr lang="en-US" altLang="zh-CN" b="1" i="1" dirty="0" smtClean="0">
                        <a:effectLst/>
                        <a:latin typeface="Cambria Math" panose="02040503050406030204" pitchFamily="18" charset="0"/>
                      </a:rPr>
                      <m:t>𝟔</m:t>
                    </m:r>
                  </m:oMath>
                </a14:m>
                <a:r>
                  <a:rPr lang="zh-CN" altLang="zh-CN" b="1" dirty="0">
                    <a:effectLst/>
                    <a:latin typeface="+mn-ea"/>
                    <a:cs typeface="Times New Roman" panose="02020603050405020304" pitchFamily="18" charset="0"/>
                  </a:rPr>
                  <a:t>和</a:t>
                </a:r>
                <a14:m>
                  <m:oMath xmlns:m="http://schemas.openxmlformats.org/officeDocument/2006/math">
                    <m:r>
                      <a:rPr lang="en-US" altLang="zh-CN" b="1" i="1" dirty="0" smtClean="0">
                        <a:effectLst/>
                        <a:latin typeface="Cambria Math" panose="02040503050406030204" pitchFamily="18" charset="0"/>
                      </a:rPr>
                      <m:t>𝒏</m:t>
                    </m:r>
                    <m:r>
                      <a:rPr lang="en-US" altLang="zh-CN" b="1" i="1" dirty="0" smtClean="0">
                        <a:effectLst/>
                        <a:latin typeface="Cambria Math" panose="02040503050406030204" pitchFamily="18" charset="0"/>
                      </a:rPr>
                      <m:t> = </m:t>
                    </m:r>
                    <m:r>
                      <a:rPr lang="en-US" altLang="zh-CN" b="1" i="1" dirty="0" smtClean="0">
                        <a:effectLst/>
                        <a:latin typeface="Cambria Math" panose="02040503050406030204" pitchFamily="18" charset="0"/>
                      </a:rPr>
                      <m:t>𝟐𝟒</m:t>
                    </m:r>
                  </m:oMath>
                </a14:m>
                <a:r>
                  <a:rPr lang="zh-CN" altLang="zh-CN" b="1" dirty="0">
                    <a:effectLst/>
                    <a:latin typeface="+mn-ea"/>
                    <a:cs typeface="Times New Roman" panose="02020603050405020304" pitchFamily="18" charset="0"/>
                  </a:rPr>
                  <a:t>时对应的哈斯图。</a:t>
                </a:r>
                <a:endParaRPr lang="zh-CN" altLang="zh-CN" b="1" kern="100" dirty="0">
                  <a:effectLst/>
                  <a:latin typeface="+mn-ea"/>
                </a:endParaRPr>
              </a:p>
            </p:txBody>
          </p:sp>
        </mc:Choice>
        <mc:Fallback xmlns="">
          <p:sp>
            <p:nvSpPr>
              <p:cNvPr id="22" name="文本框 21">
                <a:extLst>
                  <a:ext uri="{FF2B5EF4-FFF2-40B4-BE49-F238E27FC236}">
                    <a16:creationId xmlns:a16="http://schemas.microsoft.com/office/drawing/2014/main" id="{54E9ECA1-9B15-41C5-9851-40C39834A658}"/>
                  </a:ext>
                </a:extLst>
              </p:cNvPr>
              <p:cNvSpPr txBox="1">
                <a:spLocks noRot="1" noChangeAspect="1" noMove="1" noResize="1" noEditPoints="1" noAdjustHandles="1" noChangeArrowheads="1" noChangeShapeType="1" noTextEdit="1"/>
              </p:cNvSpPr>
              <p:nvPr/>
            </p:nvSpPr>
            <p:spPr>
              <a:xfrm>
                <a:off x="231775" y="1850136"/>
                <a:ext cx="7086600" cy="3886577"/>
              </a:xfrm>
              <a:prstGeom prst="rect">
                <a:avLst/>
              </a:prstGeom>
              <a:blipFill>
                <a:blip r:embed="rId6"/>
                <a:stretch>
                  <a:fillRect l="-1290" r="-1290" b="-2669"/>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7AF5FDE0-82BA-419F-B2FE-D39360C301E4}"/>
              </a:ext>
            </a:extLst>
          </p:cNvPr>
          <p:cNvGrpSpPr/>
          <p:nvPr/>
        </p:nvGrpSpPr>
        <p:grpSpPr>
          <a:xfrm>
            <a:off x="7470775" y="2134394"/>
            <a:ext cx="4038600" cy="3142370"/>
            <a:chOff x="6991110" y="1806390"/>
            <a:chExt cx="2981212" cy="2373822"/>
          </a:xfrm>
        </p:grpSpPr>
        <p:grpSp>
          <p:nvGrpSpPr>
            <p:cNvPr id="8" name="组合 7">
              <a:extLst>
                <a:ext uri="{FF2B5EF4-FFF2-40B4-BE49-F238E27FC236}">
                  <a16:creationId xmlns:a16="http://schemas.microsoft.com/office/drawing/2014/main" id="{2A4A84BD-CB7B-4E1F-B79B-8A15CCC191E8}"/>
                </a:ext>
              </a:extLst>
            </p:cNvPr>
            <p:cNvGrpSpPr/>
            <p:nvPr/>
          </p:nvGrpSpPr>
          <p:grpSpPr>
            <a:xfrm>
              <a:off x="6991110" y="1806390"/>
              <a:ext cx="1286482" cy="2343019"/>
              <a:chOff x="5758037" y="1787720"/>
              <a:chExt cx="1286482" cy="2343019"/>
            </a:xfrm>
          </p:grpSpPr>
          <p:sp>
            <p:nvSpPr>
              <p:cNvPr id="38" name="流程图: 接点 52">
                <a:extLst>
                  <a:ext uri="{FF2B5EF4-FFF2-40B4-BE49-F238E27FC236}">
                    <a16:creationId xmlns:a16="http://schemas.microsoft.com/office/drawing/2014/main" id="{1E8E2F59-3AEC-43C5-81D3-36E8E71206E0}"/>
                  </a:ext>
                </a:extLst>
              </p:cNvPr>
              <p:cNvSpPr/>
              <p:nvPr/>
            </p:nvSpPr>
            <p:spPr>
              <a:xfrm>
                <a:off x="6388022" y="369421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39" name="流程图: 接点 52">
                <a:extLst>
                  <a:ext uri="{FF2B5EF4-FFF2-40B4-BE49-F238E27FC236}">
                    <a16:creationId xmlns:a16="http://schemas.microsoft.com/office/drawing/2014/main" id="{6DA7B0E7-2C65-407D-825A-AF947BFF04E8}"/>
                  </a:ext>
                </a:extLst>
              </p:cNvPr>
              <p:cNvSpPr/>
              <p:nvPr/>
            </p:nvSpPr>
            <p:spPr>
              <a:xfrm>
                <a:off x="6008981" y="283346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0" name="流程图: 接点 52">
                <a:extLst>
                  <a:ext uri="{FF2B5EF4-FFF2-40B4-BE49-F238E27FC236}">
                    <a16:creationId xmlns:a16="http://schemas.microsoft.com/office/drawing/2014/main" id="{E399BCC5-6489-48EE-9C8D-241116DF7BEA}"/>
                  </a:ext>
                </a:extLst>
              </p:cNvPr>
              <p:cNvSpPr/>
              <p:nvPr/>
            </p:nvSpPr>
            <p:spPr>
              <a:xfrm>
                <a:off x="6424818" y="2018517"/>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1" name="流程图: 接点 40">
                <a:extLst>
                  <a:ext uri="{FF2B5EF4-FFF2-40B4-BE49-F238E27FC236}">
                    <a16:creationId xmlns:a16="http://schemas.microsoft.com/office/drawing/2014/main" id="{25B329B8-D317-4C45-AE6C-6815F46029E5}"/>
                  </a:ext>
                </a:extLst>
              </p:cNvPr>
              <p:cNvSpPr/>
              <p:nvPr/>
            </p:nvSpPr>
            <p:spPr>
              <a:xfrm>
                <a:off x="6764020" y="283346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42" name="Line 1091">
                <a:extLst>
                  <a:ext uri="{FF2B5EF4-FFF2-40B4-BE49-F238E27FC236}">
                    <a16:creationId xmlns:a16="http://schemas.microsoft.com/office/drawing/2014/main" id="{4AA19437-FEC4-4564-A78A-6714B52A26F8}"/>
                  </a:ext>
                </a:extLst>
              </p:cNvPr>
              <p:cNvCxnSpPr>
                <a:cxnSpLocks noChangeShapeType="1"/>
                <a:stCxn id="40" idx="3"/>
                <a:endCxn id="39" idx="0"/>
              </p:cNvCxnSpPr>
              <p:nvPr/>
            </p:nvCxnSpPr>
            <p:spPr bwMode="auto">
              <a:xfrm flipH="1">
                <a:off x="6054701" y="2097128"/>
                <a:ext cx="383508" cy="73633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43" name="Line 1091">
                <a:extLst>
                  <a:ext uri="{FF2B5EF4-FFF2-40B4-BE49-F238E27FC236}">
                    <a16:creationId xmlns:a16="http://schemas.microsoft.com/office/drawing/2014/main" id="{CFB6198D-1198-4004-80F5-196A6F28557F}"/>
                  </a:ext>
                </a:extLst>
              </p:cNvPr>
              <p:cNvCxnSpPr>
                <a:cxnSpLocks noChangeShapeType="1"/>
                <a:stCxn id="41" idx="4"/>
                <a:endCxn id="38" idx="7"/>
              </p:cNvCxnSpPr>
              <p:nvPr/>
            </p:nvCxnSpPr>
            <p:spPr bwMode="auto">
              <a:xfrm flipH="1">
                <a:off x="6466071" y="2925561"/>
                <a:ext cx="343669" cy="78213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44" name="Line 1091">
                <a:extLst>
                  <a:ext uri="{FF2B5EF4-FFF2-40B4-BE49-F238E27FC236}">
                    <a16:creationId xmlns:a16="http://schemas.microsoft.com/office/drawing/2014/main" id="{84D8725F-23E9-40D0-B8EB-DD0699266B04}"/>
                  </a:ext>
                </a:extLst>
              </p:cNvPr>
              <p:cNvCxnSpPr>
                <a:cxnSpLocks noChangeShapeType="1"/>
                <a:stCxn id="39" idx="4"/>
                <a:endCxn id="38" idx="1"/>
              </p:cNvCxnSpPr>
              <p:nvPr/>
            </p:nvCxnSpPr>
            <p:spPr bwMode="auto">
              <a:xfrm>
                <a:off x="6054701" y="2925561"/>
                <a:ext cx="346712" cy="78213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45" name="Line 1091">
                <a:extLst>
                  <a:ext uri="{FF2B5EF4-FFF2-40B4-BE49-F238E27FC236}">
                    <a16:creationId xmlns:a16="http://schemas.microsoft.com/office/drawing/2014/main" id="{9C4C0D3C-F916-42CE-92B0-F632379081A2}"/>
                  </a:ext>
                </a:extLst>
              </p:cNvPr>
              <p:cNvCxnSpPr>
                <a:cxnSpLocks noChangeShapeType="1"/>
                <a:stCxn id="40" idx="5"/>
                <a:endCxn id="41" idx="0"/>
              </p:cNvCxnSpPr>
              <p:nvPr/>
            </p:nvCxnSpPr>
            <p:spPr bwMode="auto">
              <a:xfrm>
                <a:off x="6502867" y="2097128"/>
                <a:ext cx="306873" cy="73633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46" name="文本框 69">
                    <a:extLst>
                      <a:ext uri="{FF2B5EF4-FFF2-40B4-BE49-F238E27FC236}">
                        <a16:creationId xmlns:a16="http://schemas.microsoft.com/office/drawing/2014/main" id="{0AAACA06-853B-40E1-A752-4F82D74E84DF}"/>
                      </a:ext>
                    </a:extLst>
                  </p:cNvPr>
                  <p:cNvSpPr txBox="1"/>
                  <p:nvPr/>
                </p:nvSpPr>
                <p:spPr>
                  <a:xfrm>
                    <a:off x="5758037" y="2715099"/>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𝟐</m:t>
                          </m:r>
                        </m:oMath>
                      </m:oMathPara>
                    </a14:m>
                    <a:endParaRPr lang="en-US" b="1" dirty="0">
                      <a:solidFill>
                        <a:srgbClr val="FF0000"/>
                      </a:solidFill>
                    </a:endParaRPr>
                  </a:p>
                </p:txBody>
              </p:sp>
            </mc:Choice>
            <mc:Fallback xmlns="">
              <p:sp>
                <p:nvSpPr>
                  <p:cNvPr id="46" name="文本框 69">
                    <a:extLst>
                      <a:ext uri="{FF2B5EF4-FFF2-40B4-BE49-F238E27FC236}">
                        <a16:creationId xmlns:a16="http://schemas.microsoft.com/office/drawing/2014/main" id="{0AAACA06-853B-40E1-A752-4F82D74E84DF}"/>
                      </a:ext>
                    </a:extLst>
                  </p:cNvPr>
                  <p:cNvSpPr txBox="1">
                    <a:spLocks noRot="1" noChangeAspect="1" noMove="1" noResize="1" noEditPoints="1" noAdjustHandles="1" noChangeArrowheads="1" noChangeShapeType="1" noTextEdit="1"/>
                  </p:cNvSpPr>
                  <p:nvPr/>
                </p:nvSpPr>
                <p:spPr>
                  <a:xfrm>
                    <a:off x="5758037" y="2715099"/>
                    <a:ext cx="234779" cy="348753"/>
                  </a:xfrm>
                  <a:prstGeom prst="rect">
                    <a:avLst/>
                  </a:prstGeom>
                  <a:blipFill>
                    <a:blip r:embed="rId7"/>
                    <a:stretch>
                      <a:fillRect l="-5769" r="-19231"/>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69">
                    <a:extLst>
                      <a:ext uri="{FF2B5EF4-FFF2-40B4-BE49-F238E27FC236}">
                        <a16:creationId xmlns:a16="http://schemas.microsoft.com/office/drawing/2014/main" id="{6D3B6E95-E533-4C5F-AEDC-F23B393AB5DE}"/>
                      </a:ext>
                    </a:extLst>
                  </p:cNvPr>
                  <p:cNvSpPr txBox="1"/>
                  <p:nvPr/>
                </p:nvSpPr>
                <p:spPr>
                  <a:xfrm>
                    <a:off x="6316352" y="3781986"/>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𝟏</m:t>
                          </m:r>
                        </m:oMath>
                      </m:oMathPara>
                    </a14:m>
                    <a:endParaRPr lang="en-US" b="1" dirty="0">
                      <a:solidFill>
                        <a:srgbClr val="FF0000"/>
                      </a:solidFill>
                    </a:endParaRPr>
                  </a:p>
                </p:txBody>
              </p:sp>
            </mc:Choice>
            <mc:Fallback xmlns="">
              <p:sp>
                <p:nvSpPr>
                  <p:cNvPr id="47" name="文本框 69">
                    <a:extLst>
                      <a:ext uri="{FF2B5EF4-FFF2-40B4-BE49-F238E27FC236}">
                        <a16:creationId xmlns:a16="http://schemas.microsoft.com/office/drawing/2014/main" id="{6D3B6E95-E533-4C5F-AEDC-F23B393AB5DE}"/>
                      </a:ext>
                    </a:extLst>
                  </p:cNvPr>
                  <p:cNvSpPr txBox="1">
                    <a:spLocks noRot="1" noChangeAspect="1" noMove="1" noResize="1" noEditPoints="1" noAdjustHandles="1" noChangeArrowheads="1" noChangeShapeType="1" noTextEdit="1"/>
                  </p:cNvSpPr>
                  <p:nvPr/>
                </p:nvSpPr>
                <p:spPr>
                  <a:xfrm>
                    <a:off x="6316352" y="3781986"/>
                    <a:ext cx="234779" cy="348753"/>
                  </a:xfrm>
                  <a:prstGeom prst="rect">
                    <a:avLst/>
                  </a:prstGeom>
                  <a:blipFill>
                    <a:blip r:embed="rId8"/>
                    <a:stretch>
                      <a:fillRect l="-5769" r="-19231"/>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69">
                    <a:extLst>
                      <a:ext uri="{FF2B5EF4-FFF2-40B4-BE49-F238E27FC236}">
                        <a16:creationId xmlns:a16="http://schemas.microsoft.com/office/drawing/2014/main" id="{AFE047A4-F747-459A-905A-85A7A78D61BD}"/>
                      </a:ext>
                    </a:extLst>
                  </p:cNvPr>
                  <p:cNvSpPr txBox="1"/>
                  <p:nvPr/>
                </p:nvSpPr>
                <p:spPr>
                  <a:xfrm>
                    <a:off x="6809740" y="2727408"/>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𝟑</m:t>
                          </m:r>
                        </m:oMath>
                      </m:oMathPara>
                    </a14:m>
                    <a:endParaRPr lang="en-US" b="1" dirty="0">
                      <a:solidFill>
                        <a:srgbClr val="FF0000"/>
                      </a:solidFill>
                    </a:endParaRPr>
                  </a:p>
                </p:txBody>
              </p:sp>
            </mc:Choice>
            <mc:Fallback xmlns="">
              <p:sp>
                <p:nvSpPr>
                  <p:cNvPr id="48" name="文本框 69">
                    <a:extLst>
                      <a:ext uri="{FF2B5EF4-FFF2-40B4-BE49-F238E27FC236}">
                        <a16:creationId xmlns:a16="http://schemas.microsoft.com/office/drawing/2014/main" id="{AFE047A4-F747-459A-905A-85A7A78D61BD}"/>
                      </a:ext>
                    </a:extLst>
                  </p:cNvPr>
                  <p:cNvSpPr txBox="1">
                    <a:spLocks noRot="1" noChangeAspect="1" noMove="1" noResize="1" noEditPoints="1" noAdjustHandles="1" noChangeArrowheads="1" noChangeShapeType="1" noTextEdit="1"/>
                  </p:cNvSpPr>
                  <p:nvPr/>
                </p:nvSpPr>
                <p:spPr>
                  <a:xfrm>
                    <a:off x="6809740" y="2727408"/>
                    <a:ext cx="234779" cy="348753"/>
                  </a:xfrm>
                  <a:prstGeom prst="rect">
                    <a:avLst/>
                  </a:prstGeom>
                  <a:blipFill>
                    <a:blip r:embed="rId9"/>
                    <a:stretch>
                      <a:fillRect l="-3846" r="-21154"/>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69">
                    <a:extLst>
                      <a:ext uri="{FF2B5EF4-FFF2-40B4-BE49-F238E27FC236}">
                        <a16:creationId xmlns:a16="http://schemas.microsoft.com/office/drawing/2014/main" id="{D80315D9-56D4-46BD-BAD0-DA5A0812BF71}"/>
                      </a:ext>
                    </a:extLst>
                  </p:cNvPr>
                  <p:cNvSpPr txBox="1"/>
                  <p:nvPr/>
                </p:nvSpPr>
                <p:spPr>
                  <a:xfrm>
                    <a:off x="6480480" y="1787720"/>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𝟔</m:t>
                          </m:r>
                        </m:oMath>
                      </m:oMathPara>
                    </a14:m>
                    <a:endParaRPr lang="en-US" b="1" dirty="0">
                      <a:solidFill>
                        <a:srgbClr val="FF0000"/>
                      </a:solidFill>
                    </a:endParaRPr>
                  </a:p>
                </p:txBody>
              </p:sp>
            </mc:Choice>
            <mc:Fallback xmlns="">
              <p:sp>
                <p:nvSpPr>
                  <p:cNvPr id="49" name="文本框 69">
                    <a:extLst>
                      <a:ext uri="{FF2B5EF4-FFF2-40B4-BE49-F238E27FC236}">
                        <a16:creationId xmlns:a16="http://schemas.microsoft.com/office/drawing/2014/main" id="{D80315D9-56D4-46BD-BAD0-DA5A0812BF71}"/>
                      </a:ext>
                    </a:extLst>
                  </p:cNvPr>
                  <p:cNvSpPr txBox="1">
                    <a:spLocks noRot="1" noChangeAspect="1" noMove="1" noResize="1" noEditPoints="1" noAdjustHandles="1" noChangeArrowheads="1" noChangeShapeType="1" noTextEdit="1"/>
                  </p:cNvSpPr>
                  <p:nvPr/>
                </p:nvSpPr>
                <p:spPr>
                  <a:xfrm>
                    <a:off x="6480480" y="1787720"/>
                    <a:ext cx="234779" cy="348753"/>
                  </a:xfrm>
                  <a:prstGeom prst="rect">
                    <a:avLst/>
                  </a:prstGeom>
                  <a:blipFill>
                    <a:blip r:embed="rId10"/>
                    <a:stretch>
                      <a:fillRect l="-3846" r="-21154"/>
                    </a:stretch>
                  </a:blipFill>
                  <a:ln w="19050">
                    <a:noFill/>
                  </a:ln>
                </p:spPr>
                <p:txBody>
                  <a:bodyPr/>
                  <a:lstStyle/>
                  <a:p>
                    <a:r>
                      <a:rPr lang="zh-CN" altLang="en-US">
                        <a:noFill/>
                      </a:rPr>
                      <a:t> </a:t>
                    </a:r>
                  </a:p>
                </p:txBody>
              </p:sp>
            </mc:Fallback>
          </mc:AlternateContent>
        </p:grpSp>
        <p:grpSp>
          <p:nvGrpSpPr>
            <p:cNvPr id="9" name="组合 8">
              <a:extLst>
                <a:ext uri="{FF2B5EF4-FFF2-40B4-BE49-F238E27FC236}">
                  <a16:creationId xmlns:a16="http://schemas.microsoft.com/office/drawing/2014/main" id="{BD4CB196-C8EA-466F-AC86-1328B2D02633}"/>
                </a:ext>
              </a:extLst>
            </p:cNvPr>
            <p:cNvGrpSpPr/>
            <p:nvPr/>
          </p:nvGrpSpPr>
          <p:grpSpPr>
            <a:xfrm>
              <a:off x="8742062" y="1819724"/>
              <a:ext cx="1230260" cy="2360488"/>
              <a:chOff x="8804959" y="2031045"/>
              <a:chExt cx="1230260" cy="2360488"/>
            </a:xfrm>
          </p:grpSpPr>
          <p:sp>
            <p:nvSpPr>
              <p:cNvPr id="11" name="流程图: 接点 52">
                <a:extLst>
                  <a:ext uri="{FF2B5EF4-FFF2-40B4-BE49-F238E27FC236}">
                    <a16:creationId xmlns:a16="http://schemas.microsoft.com/office/drawing/2014/main" id="{CBE12463-A0EA-4B02-A488-22D8895DA097}"/>
                  </a:ext>
                </a:extLst>
              </p:cNvPr>
              <p:cNvSpPr/>
              <p:nvPr/>
            </p:nvSpPr>
            <p:spPr>
              <a:xfrm>
                <a:off x="9384158" y="404965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2" name="流程图: 接点 52">
                <a:extLst>
                  <a:ext uri="{FF2B5EF4-FFF2-40B4-BE49-F238E27FC236}">
                    <a16:creationId xmlns:a16="http://schemas.microsoft.com/office/drawing/2014/main" id="{7D8A1E57-9BA6-4C4A-BA27-67DC16102A39}"/>
                  </a:ext>
                </a:extLst>
              </p:cNvPr>
              <p:cNvSpPr/>
              <p:nvPr/>
            </p:nvSpPr>
            <p:spPr>
              <a:xfrm>
                <a:off x="9080853" y="369331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3" name="流程图: 接点 52">
                <a:extLst>
                  <a:ext uri="{FF2B5EF4-FFF2-40B4-BE49-F238E27FC236}">
                    <a16:creationId xmlns:a16="http://schemas.microsoft.com/office/drawing/2014/main" id="{BBCA0D58-AA8B-4DB7-ADD3-326B922F7A50}"/>
                  </a:ext>
                </a:extLst>
              </p:cNvPr>
              <p:cNvSpPr/>
              <p:nvPr/>
            </p:nvSpPr>
            <p:spPr>
              <a:xfrm>
                <a:off x="9693011" y="320037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4" name="流程图: 接点 13">
                <a:extLst>
                  <a:ext uri="{FF2B5EF4-FFF2-40B4-BE49-F238E27FC236}">
                    <a16:creationId xmlns:a16="http://schemas.microsoft.com/office/drawing/2014/main" id="{5F7895BB-D112-4C02-B753-1E8A3ADC319D}"/>
                  </a:ext>
                </a:extLst>
              </p:cNvPr>
              <p:cNvSpPr/>
              <p:nvPr/>
            </p:nvSpPr>
            <p:spPr>
              <a:xfrm>
                <a:off x="9690657" y="371288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15" name="Line 1091">
                <a:extLst>
                  <a:ext uri="{FF2B5EF4-FFF2-40B4-BE49-F238E27FC236}">
                    <a16:creationId xmlns:a16="http://schemas.microsoft.com/office/drawing/2014/main" id="{BC4DCD7E-5282-4D3A-884C-04BFD847013A}"/>
                  </a:ext>
                </a:extLst>
              </p:cNvPr>
              <p:cNvCxnSpPr>
                <a:cxnSpLocks noChangeShapeType="1"/>
                <a:stCxn id="13" idx="3"/>
                <a:endCxn id="12" idx="7"/>
              </p:cNvCxnSpPr>
              <p:nvPr/>
            </p:nvCxnSpPr>
            <p:spPr bwMode="auto">
              <a:xfrm flipH="1">
                <a:off x="9158902" y="3278982"/>
                <a:ext cx="547500" cy="42781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 name="Line 1091">
                <a:extLst>
                  <a:ext uri="{FF2B5EF4-FFF2-40B4-BE49-F238E27FC236}">
                    <a16:creationId xmlns:a16="http://schemas.microsoft.com/office/drawing/2014/main" id="{961DC313-369B-4CF4-B6F6-C661DAEF42F8}"/>
                  </a:ext>
                </a:extLst>
              </p:cNvPr>
              <p:cNvCxnSpPr>
                <a:cxnSpLocks noChangeShapeType="1"/>
                <a:stCxn id="14" idx="4"/>
                <a:endCxn id="11" idx="7"/>
              </p:cNvCxnSpPr>
              <p:nvPr/>
            </p:nvCxnSpPr>
            <p:spPr bwMode="auto">
              <a:xfrm flipH="1">
                <a:off x="9462207" y="3804981"/>
                <a:ext cx="274170" cy="2581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7" name="Line 1091">
                <a:extLst>
                  <a:ext uri="{FF2B5EF4-FFF2-40B4-BE49-F238E27FC236}">
                    <a16:creationId xmlns:a16="http://schemas.microsoft.com/office/drawing/2014/main" id="{3530A002-49C5-440C-BB36-6227F4429D80}"/>
                  </a:ext>
                </a:extLst>
              </p:cNvPr>
              <p:cNvCxnSpPr>
                <a:cxnSpLocks noChangeShapeType="1"/>
                <a:stCxn id="12" idx="4"/>
                <a:endCxn id="11" idx="1"/>
              </p:cNvCxnSpPr>
              <p:nvPr/>
            </p:nvCxnSpPr>
            <p:spPr bwMode="auto">
              <a:xfrm>
                <a:off x="9126573" y="3785410"/>
                <a:ext cx="270976" cy="27773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 name="Line 1091">
                <a:extLst>
                  <a:ext uri="{FF2B5EF4-FFF2-40B4-BE49-F238E27FC236}">
                    <a16:creationId xmlns:a16="http://schemas.microsoft.com/office/drawing/2014/main" id="{672FC41B-81A6-4DEB-B0E0-2996BA0DC966}"/>
                  </a:ext>
                </a:extLst>
              </p:cNvPr>
              <p:cNvCxnSpPr>
                <a:cxnSpLocks noChangeShapeType="1"/>
                <a:stCxn id="13" idx="4"/>
                <a:endCxn id="14" idx="0"/>
              </p:cNvCxnSpPr>
              <p:nvPr/>
            </p:nvCxnSpPr>
            <p:spPr bwMode="auto">
              <a:xfrm flipH="1">
                <a:off x="9736377" y="3292469"/>
                <a:ext cx="2354" cy="42041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19" name="文本框 69">
                    <a:extLst>
                      <a:ext uri="{FF2B5EF4-FFF2-40B4-BE49-F238E27FC236}">
                        <a16:creationId xmlns:a16="http://schemas.microsoft.com/office/drawing/2014/main" id="{3EAD53B5-65F9-4B85-B661-549C85C92140}"/>
                      </a:ext>
                    </a:extLst>
                  </p:cNvPr>
                  <p:cNvSpPr txBox="1"/>
                  <p:nvPr/>
                </p:nvSpPr>
                <p:spPr>
                  <a:xfrm>
                    <a:off x="8828624" y="3568182"/>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𝟐</m:t>
                          </m:r>
                        </m:oMath>
                      </m:oMathPara>
                    </a14:m>
                    <a:endParaRPr lang="en-US" b="1" dirty="0">
                      <a:solidFill>
                        <a:srgbClr val="FF0000"/>
                      </a:solidFill>
                    </a:endParaRPr>
                  </a:p>
                </p:txBody>
              </p:sp>
            </mc:Choice>
            <mc:Fallback xmlns="">
              <p:sp>
                <p:nvSpPr>
                  <p:cNvPr id="19" name="文本框 69">
                    <a:extLst>
                      <a:ext uri="{FF2B5EF4-FFF2-40B4-BE49-F238E27FC236}">
                        <a16:creationId xmlns:a16="http://schemas.microsoft.com/office/drawing/2014/main" id="{3EAD53B5-65F9-4B85-B661-549C85C92140}"/>
                      </a:ext>
                    </a:extLst>
                  </p:cNvPr>
                  <p:cNvSpPr txBox="1">
                    <a:spLocks noRot="1" noChangeAspect="1" noMove="1" noResize="1" noEditPoints="1" noAdjustHandles="1" noChangeArrowheads="1" noChangeShapeType="1" noTextEdit="1"/>
                  </p:cNvSpPr>
                  <p:nvPr/>
                </p:nvSpPr>
                <p:spPr>
                  <a:xfrm>
                    <a:off x="8828624" y="3568182"/>
                    <a:ext cx="234779" cy="348753"/>
                  </a:xfrm>
                  <a:prstGeom prst="rect">
                    <a:avLst/>
                  </a:prstGeom>
                  <a:blipFill>
                    <a:blip r:embed="rId11"/>
                    <a:stretch>
                      <a:fillRect l="-5769" r="-19231"/>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69">
                    <a:extLst>
                      <a:ext uri="{FF2B5EF4-FFF2-40B4-BE49-F238E27FC236}">
                        <a16:creationId xmlns:a16="http://schemas.microsoft.com/office/drawing/2014/main" id="{320BC363-99DC-4938-A5D7-6B632D33C634}"/>
                      </a:ext>
                    </a:extLst>
                  </p:cNvPr>
                  <p:cNvSpPr txBox="1"/>
                  <p:nvPr/>
                </p:nvSpPr>
                <p:spPr>
                  <a:xfrm>
                    <a:off x="9373416" y="4042780"/>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𝟏</m:t>
                          </m:r>
                        </m:oMath>
                      </m:oMathPara>
                    </a14:m>
                    <a:endParaRPr lang="en-US" b="1" dirty="0">
                      <a:solidFill>
                        <a:srgbClr val="FF0000"/>
                      </a:solidFill>
                    </a:endParaRPr>
                  </a:p>
                </p:txBody>
              </p:sp>
            </mc:Choice>
            <mc:Fallback xmlns="">
              <p:sp>
                <p:nvSpPr>
                  <p:cNvPr id="20" name="文本框 69">
                    <a:extLst>
                      <a:ext uri="{FF2B5EF4-FFF2-40B4-BE49-F238E27FC236}">
                        <a16:creationId xmlns:a16="http://schemas.microsoft.com/office/drawing/2014/main" id="{320BC363-99DC-4938-A5D7-6B632D33C634}"/>
                      </a:ext>
                    </a:extLst>
                  </p:cNvPr>
                  <p:cNvSpPr txBox="1">
                    <a:spLocks noRot="1" noChangeAspect="1" noMove="1" noResize="1" noEditPoints="1" noAdjustHandles="1" noChangeArrowheads="1" noChangeShapeType="1" noTextEdit="1"/>
                  </p:cNvSpPr>
                  <p:nvPr/>
                </p:nvSpPr>
                <p:spPr>
                  <a:xfrm>
                    <a:off x="9373416" y="4042780"/>
                    <a:ext cx="234779" cy="348753"/>
                  </a:xfrm>
                  <a:prstGeom prst="rect">
                    <a:avLst/>
                  </a:prstGeom>
                  <a:blipFill>
                    <a:blip r:embed="rId12"/>
                    <a:stretch>
                      <a:fillRect l="-5769" r="-19231"/>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69">
                    <a:extLst>
                      <a:ext uri="{FF2B5EF4-FFF2-40B4-BE49-F238E27FC236}">
                        <a16:creationId xmlns:a16="http://schemas.microsoft.com/office/drawing/2014/main" id="{81CE568F-8F1F-4A6F-BA9F-C5741A1D9CE3}"/>
                      </a:ext>
                    </a:extLst>
                  </p:cNvPr>
                  <p:cNvSpPr txBox="1"/>
                  <p:nvPr/>
                </p:nvSpPr>
                <p:spPr>
                  <a:xfrm>
                    <a:off x="9800440" y="3600744"/>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𝟑</m:t>
                          </m:r>
                        </m:oMath>
                      </m:oMathPara>
                    </a14:m>
                    <a:endParaRPr lang="en-US" b="1" dirty="0">
                      <a:solidFill>
                        <a:srgbClr val="FF0000"/>
                      </a:solidFill>
                    </a:endParaRPr>
                  </a:p>
                </p:txBody>
              </p:sp>
            </mc:Choice>
            <mc:Fallback xmlns="">
              <p:sp>
                <p:nvSpPr>
                  <p:cNvPr id="21" name="文本框 69">
                    <a:extLst>
                      <a:ext uri="{FF2B5EF4-FFF2-40B4-BE49-F238E27FC236}">
                        <a16:creationId xmlns:a16="http://schemas.microsoft.com/office/drawing/2014/main" id="{81CE568F-8F1F-4A6F-BA9F-C5741A1D9CE3}"/>
                      </a:ext>
                    </a:extLst>
                  </p:cNvPr>
                  <p:cNvSpPr txBox="1">
                    <a:spLocks noRot="1" noChangeAspect="1" noMove="1" noResize="1" noEditPoints="1" noAdjustHandles="1" noChangeArrowheads="1" noChangeShapeType="1" noTextEdit="1"/>
                  </p:cNvSpPr>
                  <p:nvPr/>
                </p:nvSpPr>
                <p:spPr>
                  <a:xfrm>
                    <a:off x="9800440" y="3600744"/>
                    <a:ext cx="234779" cy="348753"/>
                  </a:xfrm>
                  <a:prstGeom prst="rect">
                    <a:avLst/>
                  </a:prstGeom>
                  <a:blipFill>
                    <a:blip r:embed="rId13"/>
                    <a:stretch>
                      <a:fillRect l="-5769" r="-19231"/>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69">
                    <a:extLst>
                      <a:ext uri="{FF2B5EF4-FFF2-40B4-BE49-F238E27FC236}">
                        <a16:creationId xmlns:a16="http://schemas.microsoft.com/office/drawing/2014/main" id="{1C24D77A-5D44-4D21-8405-657F2C63BA5C}"/>
                      </a:ext>
                    </a:extLst>
                  </p:cNvPr>
                  <p:cNvSpPr txBox="1"/>
                  <p:nvPr/>
                </p:nvSpPr>
                <p:spPr>
                  <a:xfrm>
                    <a:off x="9746152" y="3059668"/>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𝟔</m:t>
                          </m:r>
                        </m:oMath>
                      </m:oMathPara>
                    </a14:m>
                    <a:endParaRPr lang="en-US" b="1" dirty="0">
                      <a:solidFill>
                        <a:srgbClr val="FF0000"/>
                      </a:solidFill>
                    </a:endParaRPr>
                  </a:p>
                </p:txBody>
              </p:sp>
            </mc:Choice>
            <mc:Fallback xmlns="">
              <p:sp>
                <p:nvSpPr>
                  <p:cNvPr id="23" name="文本框 69">
                    <a:extLst>
                      <a:ext uri="{FF2B5EF4-FFF2-40B4-BE49-F238E27FC236}">
                        <a16:creationId xmlns:a16="http://schemas.microsoft.com/office/drawing/2014/main" id="{1C24D77A-5D44-4D21-8405-657F2C63BA5C}"/>
                      </a:ext>
                    </a:extLst>
                  </p:cNvPr>
                  <p:cNvSpPr txBox="1">
                    <a:spLocks noRot="1" noChangeAspect="1" noMove="1" noResize="1" noEditPoints="1" noAdjustHandles="1" noChangeArrowheads="1" noChangeShapeType="1" noTextEdit="1"/>
                  </p:cNvSpPr>
                  <p:nvPr/>
                </p:nvSpPr>
                <p:spPr>
                  <a:xfrm>
                    <a:off x="9746152" y="3059668"/>
                    <a:ext cx="234779" cy="348753"/>
                  </a:xfrm>
                  <a:prstGeom prst="rect">
                    <a:avLst/>
                  </a:prstGeom>
                  <a:blipFill>
                    <a:blip r:embed="rId14"/>
                    <a:stretch>
                      <a:fillRect l="-5769" r="-19231"/>
                    </a:stretch>
                  </a:blipFill>
                  <a:ln w="19050">
                    <a:noFill/>
                  </a:ln>
                </p:spPr>
                <p:txBody>
                  <a:bodyPr/>
                  <a:lstStyle/>
                  <a:p>
                    <a:r>
                      <a:rPr lang="zh-CN" altLang="en-US">
                        <a:noFill/>
                      </a:rPr>
                      <a:t> </a:t>
                    </a:r>
                  </a:p>
                </p:txBody>
              </p:sp>
            </mc:Fallback>
          </mc:AlternateContent>
          <p:sp>
            <p:nvSpPr>
              <p:cNvPr id="24" name="流程图: 接点 52">
                <a:extLst>
                  <a:ext uri="{FF2B5EF4-FFF2-40B4-BE49-F238E27FC236}">
                    <a16:creationId xmlns:a16="http://schemas.microsoft.com/office/drawing/2014/main" id="{6F7A3F2E-4E6D-4625-A63D-6B941A46456C}"/>
                  </a:ext>
                </a:extLst>
              </p:cNvPr>
              <p:cNvSpPr/>
              <p:nvPr/>
            </p:nvSpPr>
            <p:spPr>
              <a:xfrm>
                <a:off x="9094253" y="267737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25" name="流程图: 接点 52">
                <a:extLst>
                  <a:ext uri="{FF2B5EF4-FFF2-40B4-BE49-F238E27FC236}">
                    <a16:creationId xmlns:a16="http://schemas.microsoft.com/office/drawing/2014/main" id="{F1544660-9CA3-41F1-8007-BBFC2673C810}"/>
                  </a:ext>
                </a:extLst>
              </p:cNvPr>
              <p:cNvSpPr/>
              <p:nvPr/>
            </p:nvSpPr>
            <p:spPr>
              <a:xfrm>
                <a:off x="9090628" y="319494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26" name="流程图: 接点 25">
                <a:extLst>
                  <a:ext uri="{FF2B5EF4-FFF2-40B4-BE49-F238E27FC236}">
                    <a16:creationId xmlns:a16="http://schemas.microsoft.com/office/drawing/2014/main" id="{823196D7-8DBB-424D-B170-F4F3C5BCC9EB}"/>
                  </a:ext>
                </a:extLst>
              </p:cNvPr>
              <p:cNvSpPr/>
              <p:nvPr/>
            </p:nvSpPr>
            <p:spPr>
              <a:xfrm>
                <a:off x="9693011" y="267737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27" name="Line 1091">
                <a:extLst>
                  <a:ext uri="{FF2B5EF4-FFF2-40B4-BE49-F238E27FC236}">
                    <a16:creationId xmlns:a16="http://schemas.microsoft.com/office/drawing/2014/main" id="{F5C949BA-AFCC-4EA6-A73D-888CAA5E3982}"/>
                  </a:ext>
                </a:extLst>
              </p:cNvPr>
              <p:cNvCxnSpPr>
                <a:cxnSpLocks noChangeShapeType="1"/>
                <a:stCxn id="25" idx="4"/>
                <a:endCxn id="12" idx="0"/>
              </p:cNvCxnSpPr>
              <p:nvPr/>
            </p:nvCxnSpPr>
            <p:spPr bwMode="auto">
              <a:xfrm flipH="1">
                <a:off x="9126573" y="3287041"/>
                <a:ext cx="9775" cy="40627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 name="Line 1091">
                <a:extLst>
                  <a:ext uri="{FF2B5EF4-FFF2-40B4-BE49-F238E27FC236}">
                    <a16:creationId xmlns:a16="http://schemas.microsoft.com/office/drawing/2014/main" id="{6B4F71D3-AC69-4D51-820B-3526300ACFD5}"/>
                  </a:ext>
                </a:extLst>
              </p:cNvPr>
              <p:cNvCxnSpPr>
                <a:cxnSpLocks noChangeShapeType="1"/>
                <a:stCxn id="26" idx="4"/>
                <a:endCxn id="13" idx="0"/>
              </p:cNvCxnSpPr>
              <p:nvPr/>
            </p:nvCxnSpPr>
            <p:spPr bwMode="auto">
              <a:xfrm>
                <a:off x="9738731" y="2769474"/>
                <a:ext cx="0" cy="4308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29" name="文本框 69">
                    <a:extLst>
                      <a:ext uri="{FF2B5EF4-FFF2-40B4-BE49-F238E27FC236}">
                        <a16:creationId xmlns:a16="http://schemas.microsoft.com/office/drawing/2014/main" id="{ACAD8918-B529-469A-9151-7AA66B3DDB1D}"/>
                      </a:ext>
                    </a:extLst>
                  </p:cNvPr>
                  <p:cNvSpPr txBox="1"/>
                  <p:nvPr/>
                </p:nvSpPr>
                <p:spPr>
                  <a:xfrm>
                    <a:off x="9734756" y="2534934"/>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𝟏𝟐</m:t>
                          </m:r>
                        </m:oMath>
                      </m:oMathPara>
                    </a14:m>
                    <a:endParaRPr lang="en-US" b="1" dirty="0">
                      <a:solidFill>
                        <a:srgbClr val="FF0000"/>
                      </a:solidFill>
                    </a:endParaRPr>
                  </a:p>
                </p:txBody>
              </p:sp>
            </mc:Choice>
            <mc:Fallback xmlns="">
              <p:sp>
                <p:nvSpPr>
                  <p:cNvPr id="29" name="文本框 69">
                    <a:extLst>
                      <a:ext uri="{FF2B5EF4-FFF2-40B4-BE49-F238E27FC236}">
                        <a16:creationId xmlns:a16="http://schemas.microsoft.com/office/drawing/2014/main" id="{ACAD8918-B529-469A-9151-7AA66B3DDB1D}"/>
                      </a:ext>
                    </a:extLst>
                  </p:cNvPr>
                  <p:cNvSpPr txBox="1">
                    <a:spLocks noRot="1" noChangeAspect="1" noMove="1" noResize="1" noEditPoints="1" noAdjustHandles="1" noChangeArrowheads="1" noChangeShapeType="1" noTextEdit="1"/>
                  </p:cNvSpPr>
                  <p:nvPr/>
                </p:nvSpPr>
                <p:spPr>
                  <a:xfrm>
                    <a:off x="9734756" y="2534934"/>
                    <a:ext cx="234779" cy="348753"/>
                  </a:xfrm>
                  <a:prstGeom prst="rect">
                    <a:avLst/>
                  </a:prstGeom>
                  <a:blipFill>
                    <a:blip r:embed="rId15"/>
                    <a:stretch>
                      <a:fillRect l="-3846" r="-78846"/>
                    </a:stretch>
                  </a:blipFill>
                  <a:ln w="19050">
                    <a:noFill/>
                  </a:ln>
                </p:spPr>
                <p:txBody>
                  <a:bodyPr/>
                  <a:lstStyle/>
                  <a:p>
                    <a:r>
                      <a:rPr lang="zh-CN" altLang="en-US">
                        <a:noFill/>
                      </a:rPr>
                      <a:t> </a:t>
                    </a:r>
                  </a:p>
                </p:txBody>
              </p:sp>
            </mc:Fallback>
          </mc:AlternateContent>
          <p:cxnSp>
            <p:nvCxnSpPr>
              <p:cNvPr id="30" name="Line 1091">
                <a:extLst>
                  <a:ext uri="{FF2B5EF4-FFF2-40B4-BE49-F238E27FC236}">
                    <a16:creationId xmlns:a16="http://schemas.microsoft.com/office/drawing/2014/main" id="{7DCB8D2B-638B-43C6-B8E0-D1C88CB2CB87}"/>
                  </a:ext>
                </a:extLst>
              </p:cNvPr>
              <p:cNvCxnSpPr>
                <a:cxnSpLocks noChangeShapeType="1"/>
                <a:stCxn id="26" idx="3"/>
                <a:endCxn id="25" idx="7"/>
              </p:cNvCxnSpPr>
              <p:nvPr/>
            </p:nvCxnSpPr>
            <p:spPr bwMode="auto">
              <a:xfrm flipH="1">
                <a:off x="9168677" y="2755987"/>
                <a:ext cx="537725" cy="45244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 name="Line 1091">
                <a:extLst>
                  <a:ext uri="{FF2B5EF4-FFF2-40B4-BE49-F238E27FC236}">
                    <a16:creationId xmlns:a16="http://schemas.microsoft.com/office/drawing/2014/main" id="{29A4520E-B500-4396-9711-FEE02027164F}"/>
                  </a:ext>
                </a:extLst>
              </p:cNvPr>
              <p:cNvCxnSpPr>
                <a:cxnSpLocks noChangeShapeType="1"/>
                <a:stCxn id="24" idx="4"/>
                <a:endCxn id="25" idx="0"/>
              </p:cNvCxnSpPr>
              <p:nvPr/>
            </p:nvCxnSpPr>
            <p:spPr bwMode="auto">
              <a:xfrm flipH="1">
                <a:off x="9136348" y="2769474"/>
                <a:ext cx="3625" cy="42546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2" name="文本框 69">
                    <a:extLst>
                      <a:ext uri="{FF2B5EF4-FFF2-40B4-BE49-F238E27FC236}">
                        <a16:creationId xmlns:a16="http://schemas.microsoft.com/office/drawing/2014/main" id="{D800CF2C-5E4D-432E-9098-9ACEA41C4BA6}"/>
                      </a:ext>
                    </a:extLst>
                  </p:cNvPr>
                  <p:cNvSpPr txBox="1"/>
                  <p:nvPr/>
                </p:nvSpPr>
                <p:spPr>
                  <a:xfrm>
                    <a:off x="8804959" y="3059668"/>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𝟒</m:t>
                          </m:r>
                        </m:oMath>
                      </m:oMathPara>
                    </a14:m>
                    <a:endParaRPr lang="en-US" b="1" dirty="0">
                      <a:solidFill>
                        <a:srgbClr val="FF0000"/>
                      </a:solidFill>
                    </a:endParaRPr>
                  </a:p>
                </p:txBody>
              </p:sp>
            </mc:Choice>
            <mc:Fallback xmlns="">
              <p:sp>
                <p:nvSpPr>
                  <p:cNvPr id="32" name="文本框 69">
                    <a:extLst>
                      <a:ext uri="{FF2B5EF4-FFF2-40B4-BE49-F238E27FC236}">
                        <a16:creationId xmlns:a16="http://schemas.microsoft.com/office/drawing/2014/main" id="{D800CF2C-5E4D-432E-9098-9ACEA41C4BA6}"/>
                      </a:ext>
                    </a:extLst>
                  </p:cNvPr>
                  <p:cNvSpPr txBox="1">
                    <a:spLocks noRot="1" noChangeAspect="1" noMove="1" noResize="1" noEditPoints="1" noAdjustHandles="1" noChangeArrowheads="1" noChangeShapeType="1" noTextEdit="1"/>
                  </p:cNvSpPr>
                  <p:nvPr/>
                </p:nvSpPr>
                <p:spPr>
                  <a:xfrm>
                    <a:off x="8804959" y="3059668"/>
                    <a:ext cx="234779" cy="348753"/>
                  </a:xfrm>
                  <a:prstGeom prst="rect">
                    <a:avLst/>
                  </a:prstGeom>
                  <a:blipFill>
                    <a:blip r:embed="rId16"/>
                    <a:stretch>
                      <a:fillRect l="-5769" r="-19231"/>
                    </a:stretch>
                  </a:blipFill>
                  <a:ln w="19050">
                    <a:noFill/>
                  </a:ln>
                </p:spPr>
                <p:txBody>
                  <a:bodyPr/>
                  <a:lstStyle/>
                  <a:p>
                    <a:r>
                      <a:rPr lang="zh-CN" altLang="en-US">
                        <a:noFill/>
                      </a:rPr>
                      <a:t> </a:t>
                    </a:r>
                  </a:p>
                </p:txBody>
              </p:sp>
            </mc:Fallback>
          </mc:AlternateContent>
          <p:sp>
            <p:nvSpPr>
              <p:cNvPr id="33" name="流程图: 接点 52">
                <a:extLst>
                  <a:ext uri="{FF2B5EF4-FFF2-40B4-BE49-F238E27FC236}">
                    <a16:creationId xmlns:a16="http://schemas.microsoft.com/office/drawing/2014/main" id="{AD84DEEC-6718-4C75-94BD-EF1F27F6D9ED}"/>
                  </a:ext>
                </a:extLst>
              </p:cNvPr>
              <p:cNvSpPr/>
              <p:nvPr/>
            </p:nvSpPr>
            <p:spPr>
              <a:xfrm>
                <a:off x="9429878" y="226199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34" name="Line 1091">
                <a:extLst>
                  <a:ext uri="{FF2B5EF4-FFF2-40B4-BE49-F238E27FC236}">
                    <a16:creationId xmlns:a16="http://schemas.microsoft.com/office/drawing/2014/main" id="{E77739FD-A41A-4721-9FF1-686C47F5536A}"/>
                  </a:ext>
                </a:extLst>
              </p:cNvPr>
              <p:cNvCxnSpPr>
                <a:cxnSpLocks noChangeShapeType="1"/>
                <a:stCxn id="26" idx="0"/>
                <a:endCxn id="33" idx="5"/>
              </p:cNvCxnSpPr>
              <p:nvPr/>
            </p:nvCxnSpPr>
            <p:spPr bwMode="auto">
              <a:xfrm flipH="1" flipV="1">
                <a:off x="9507927" y="2340606"/>
                <a:ext cx="230804" cy="3367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5" name="文本框 69">
                    <a:extLst>
                      <a:ext uri="{FF2B5EF4-FFF2-40B4-BE49-F238E27FC236}">
                        <a16:creationId xmlns:a16="http://schemas.microsoft.com/office/drawing/2014/main" id="{7E8E8BD3-3238-4488-9E4A-D049779345E8}"/>
                      </a:ext>
                    </a:extLst>
                  </p:cNvPr>
                  <p:cNvSpPr txBox="1"/>
                  <p:nvPr/>
                </p:nvSpPr>
                <p:spPr>
                  <a:xfrm>
                    <a:off x="9465656" y="2031045"/>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𝟐𝟒</m:t>
                          </m:r>
                        </m:oMath>
                      </m:oMathPara>
                    </a14:m>
                    <a:endParaRPr lang="en-US" b="1" dirty="0">
                      <a:solidFill>
                        <a:srgbClr val="FF0000"/>
                      </a:solidFill>
                    </a:endParaRPr>
                  </a:p>
                </p:txBody>
              </p:sp>
            </mc:Choice>
            <mc:Fallback xmlns="">
              <p:sp>
                <p:nvSpPr>
                  <p:cNvPr id="35" name="文本框 69">
                    <a:extLst>
                      <a:ext uri="{FF2B5EF4-FFF2-40B4-BE49-F238E27FC236}">
                        <a16:creationId xmlns:a16="http://schemas.microsoft.com/office/drawing/2014/main" id="{7E8E8BD3-3238-4488-9E4A-D049779345E8}"/>
                      </a:ext>
                    </a:extLst>
                  </p:cNvPr>
                  <p:cNvSpPr txBox="1">
                    <a:spLocks noRot="1" noChangeAspect="1" noMove="1" noResize="1" noEditPoints="1" noAdjustHandles="1" noChangeArrowheads="1" noChangeShapeType="1" noTextEdit="1"/>
                  </p:cNvSpPr>
                  <p:nvPr/>
                </p:nvSpPr>
                <p:spPr>
                  <a:xfrm>
                    <a:off x="9465656" y="2031045"/>
                    <a:ext cx="234779" cy="348753"/>
                  </a:xfrm>
                  <a:prstGeom prst="rect">
                    <a:avLst/>
                  </a:prstGeom>
                  <a:blipFill>
                    <a:blip r:embed="rId17"/>
                    <a:stretch>
                      <a:fillRect l="-3774" r="-75472"/>
                    </a:stretch>
                  </a:blipFill>
                  <a:ln w="19050">
                    <a:noFill/>
                  </a:ln>
                </p:spPr>
                <p:txBody>
                  <a:bodyPr/>
                  <a:lstStyle/>
                  <a:p>
                    <a:r>
                      <a:rPr lang="zh-CN" altLang="en-US">
                        <a:noFill/>
                      </a:rPr>
                      <a:t> </a:t>
                    </a:r>
                  </a:p>
                </p:txBody>
              </p:sp>
            </mc:Fallback>
          </mc:AlternateContent>
          <p:cxnSp>
            <p:nvCxnSpPr>
              <p:cNvPr id="36" name="Line 1091">
                <a:extLst>
                  <a:ext uri="{FF2B5EF4-FFF2-40B4-BE49-F238E27FC236}">
                    <a16:creationId xmlns:a16="http://schemas.microsoft.com/office/drawing/2014/main" id="{6FC2A6A0-0ED8-48E8-9A1E-106287239FD4}"/>
                  </a:ext>
                </a:extLst>
              </p:cNvPr>
              <p:cNvCxnSpPr>
                <a:cxnSpLocks noChangeShapeType="1"/>
                <a:stCxn id="33" idx="3"/>
                <a:endCxn id="24" idx="7"/>
              </p:cNvCxnSpPr>
              <p:nvPr/>
            </p:nvCxnSpPr>
            <p:spPr bwMode="auto">
              <a:xfrm flipH="1">
                <a:off x="9172302" y="2340606"/>
                <a:ext cx="270967" cy="35025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7" name="文本框 69">
                    <a:extLst>
                      <a:ext uri="{FF2B5EF4-FFF2-40B4-BE49-F238E27FC236}">
                        <a16:creationId xmlns:a16="http://schemas.microsoft.com/office/drawing/2014/main" id="{AA07D44F-6245-44B7-83F5-0155B0360F17}"/>
                      </a:ext>
                    </a:extLst>
                  </p:cNvPr>
                  <p:cNvSpPr txBox="1"/>
                  <p:nvPr/>
                </p:nvSpPr>
                <p:spPr>
                  <a:xfrm>
                    <a:off x="8804959" y="2508991"/>
                    <a:ext cx="234779" cy="348753"/>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𝟖</m:t>
                          </m:r>
                        </m:oMath>
                      </m:oMathPara>
                    </a14:m>
                    <a:endParaRPr lang="en-US" b="1" dirty="0">
                      <a:solidFill>
                        <a:srgbClr val="FF0000"/>
                      </a:solidFill>
                    </a:endParaRPr>
                  </a:p>
                </p:txBody>
              </p:sp>
            </mc:Choice>
            <mc:Fallback xmlns="">
              <p:sp>
                <p:nvSpPr>
                  <p:cNvPr id="37" name="文本框 69">
                    <a:extLst>
                      <a:ext uri="{FF2B5EF4-FFF2-40B4-BE49-F238E27FC236}">
                        <a16:creationId xmlns:a16="http://schemas.microsoft.com/office/drawing/2014/main" id="{AA07D44F-6245-44B7-83F5-0155B0360F17}"/>
                      </a:ext>
                    </a:extLst>
                  </p:cNvPr>
                  <p:cNvSpPr txBox="1">
                    <a:spLocks noRot="1" noChangeAspect="1" noMove="1" noResize="1" noEditPoints="1" noAdjustHandles="1" noChangeArrowheads="1" noChangeShapeType="1" noTextEdit="1"/>
                  </p:cNvSpPr>
                  <p:nvPr/>
                </p:nvSpPr>
                <p:spPr>
                  <a:xfrm>
                    <a:off x="8804959" y="2508991"/>
                    <a:ext cx="234779" cy="348753"/>
                  </a:xfrm>
                  <a:prstGeom prst="rect">
                    <a:avLst/>
                  </a:prstGeom>
                  <a:blipFill>
                    <a:blip r:embed="rId18"/>
                    <a:stretch>
                      <a:fillRect l="-5769" r="-19231"/>
                    </a:stretch>
                  </a:blipFill>
                  <a:ln w="19050">
                    <a:noFill/>
                  </a:ln>
                </p:spPr>
                <p:txBody>
                  <a:bodyPr/>
                  <a:lstStyle/>
                  <a:p>
                    <a:r>
                      <a:rPr lang="zh-CN" altLang="en-US">
                        <a:noFill/>
                      </a:rPr>
                      <a:t> </a:t>
                    </a:r>
                  </a:p>
                </p:txBody>
              </p:sp>
            </mc:Fallback>
          </mc:AlternateContent>
        </p:grpSp>
      </p:grpSp>
    </p:spTree>
    <p:custDataLst>
      <p:tags r:id="rId1"/>
    </p:custDataLst>
    <p:extLst>
      <p:ext uri="{BB962C8B-B14F-4D97-AF65-F5344CB8AC3E}">
        <p14:creationId xmlns:p14="http://schemas.microsoft.com/office/powerpoint/2010/main" val="174789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5A31E-A17C-4941-9633-27D76E68FC9C}"/>
              </a:ext>
            </a:extLst>
          </p:cNvPr>
          <p:cNvSpPr>
            <a:spLocks noGrp="1"/>
          </p:cNvSpPr>
          <p:nvPr>
            <p:ph type="title"/>
          </p:nvPr>
        </p:nvSpPr>
        <p:spPr/>
        <p:txBody>
          <a:bodyPr/>
          <a:lstStyle/>
          <a:p>
            <a:r>
              <a:rPr lang="zh-CN" altLang="en-US" sz="2400" dirty="0"/>
              <a:t>格的</a:t>
            </a:r>
            <a:r>
              <a:rPr lang="zh-CN" altLang="en-US" dirty="0"/>
              <a:t>判定</a:t>
            </a:r>
            <a:endParaRPr lang="zh-CN" altLang="en-US" sz="2400" dirty="0"/>
          </a:p>
        </p:txBody>
      </p:sp>
      <p:sp>
        <p:nvSpPr>
          <p:cNvPr id="3" name="Content Placeholder 2">
            <a:extLst>
              <a:ext uri="{FF2B5EF4-FFF2-40B4-BE49-F238E27FC236}">
                <a16:creationId xmlns:a16="http://schemas.microsoft.com/office/drawing/2014/main" id="{3836EF2A-9A8D-4ECE-B1A1-125C11854CD2}"/>
              </a:ext>
            </a:extLst>
          </p:cNvPr>
          <p:cNvSpPr>
            <a:spLocks noGrp="1"/>
          </p:cNvSpPr>
          <p:nvPr>
            <p:ph idx="1"/>
          </p:nvPr>
        </p:nvSpPr>
        <p:spPr>
          <a:xfrm>
            <a:off x="536444" y="1032665"/>
            <a:ext cx="10978515" cy="761999"/>
          </a:xfrm>
        </p:spPr>
        <p:txBody>
          <a:bodyPr>
            <a:normAutofit/>
          </a:bodyPr>
          <a:lstStyle/>
          <a:p>
            <a:pPr marL="0" indent="0">
              <a:lnSpc>
                <a:spcPct val="130000"/>
              </a:lnSpc>
              <a:buNone/>
            </a:pPr>
            <a:r>
              <a:rPr lang="zh-CN" altLang="zh-CN" dirty="0">
                <a:solidFill>
                  <a:srgbClr val="0000FF"/>
                </a:solidFill>
              </a:rPr>
              <a:t>例</a:t>
            </a:r>
            <a:r>
              <a:rPr lang="en-US" altLang="zh-CN" dirty="0">
                <a:solidFill>
                  <a:srgbClr val="0000FF"/>
                </a:solidFill>
              </a:rPr>
              <a:t>10.2  </a:t>
            </a:r>
            <a:r>
              <a:rPr lang="zh-CN" altLang="zh-CN" dirty="0"/>
              <a:t>判断如图所示哈斯图对应的偏序集是否是格。</a:t>
            </a:r>
            <a:endParaRPr lang="zh-CN" altLang="en-US" dirty="0"/>
          </a:p>
        </p:txBody>
      </p:sp>
      <p:grpSp>
        <p:nvGrpSpPr>
          <p:cNvPr id="248" name="组合 247">
            <a:extLst>
              <a:ext uri="{FF2B5EF4-FFF2-40B4-BE49-F238E27FC236}">
                <a16:creationId xmlns:a16="http://schemas.microsoft.com/office/drawing/2014/main" id="{79D20545-DCBE-48FE-9526-57456DB859F9}"/>
              </a:ext>
            </a:extLst>
          </p:cNvPr>
          <p:cNvGrpSpPr/>
          <p:nvPr/>
        </p:nvGrpSpPr>
        <p:grpSpPr>
          <a:xfrm>
            <a:off x="640131" y="1753394"/>
            <a:ext cx="10966788" cy="4598346"/>
            <a:chOff x="580975" y="867272"/>
            <a:chExt cx="10966788" cy="4598346"/>
          </a:xfrm>
        </p:grpSpPr>
        <p:sp>
          <p:nvSpPr>
            <p:cNvPr id="249" name="Text Box 404">
              <a:extLst>
                <a:ext uri="{FF2B5EF4-FFF2-40B4-BE49-F238E27FC236}">
                  <a16:creationId xmlns:a16="http://schemas.microsoft.com/office/drawing/2014/main" id="{FFB4EA66-7240-43DB-8EC7-9ABF21BF918F}"/>
                </a:ext>
              </a:extLst>
            </p:cNvPr>
            <p:cNvSpPr txBox="1">
              <a:spLocks noChangeArrowheads="1"/>
            </p:cNvSpPr>
            <p:nvPr/>
          </p:nvSpPr>
          <p:spPr bwMode="auto">
            <a:xfrm>
              <a:off x="965090" y="4810695"/>
              <a:ext cx="460611" cy="654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50" name="Oval 405">
              <a:extLst>
                <a:ext uri="{FF2B5EF4-FFF2-40B4-BE49-F238E27FC236}">
                  <a16:creationId xmlns:a16="http://schemas.microsoft.com/office/drawing/2014/main" id="{89A203BD-A904-42B5-8E54-B2BAC00CEA74}"/>
                </a:ext>
              </a:extLst>
            </p:cNvPr>
            <p:cNvSpPr>
              <a:spLocks noChangeArrowheads="1"/>
            </p:cNvSpPr>
            <p:nvPr/>
          </p:nvSpPr>
          <p:spPr bwMode="auto">
            <a:xfrm>
              <a:off x="1157146" y="127688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51" name="Oval 406">
              <a:extLst>
                <a:ext uri="{FF2B5EF4-FFF2-40B4-BE49-F238E27FC236}">
                  <a16:creationId xmlns:a16="http://schemas.microsoft.com/office/drawing/2014/main" id="{DC8F11B6-CF88-4AC9-939C-FFFE1F514938}"/>
                </a:ext>
              </a:extLst>
            </p:cNvPr>
            <p:cNvSpPr>
              <a:spLocks noChangeArrowheads="1"/>
            </p:cNvSpPr>
            <p:nvPr/>
          </p:nvSpPr>
          <p:spPr bwMode="auto">
            <a:xfrm>
              <a:off x="774659" y="1966524"/>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52" name="Oval 407">
              <a:extLst>
                <a:ext uri="{FF2B5EF4-FFF2-40B4-BE49-F238E27FC236}">
                  <a16:creationId xmlns:a16="http://schemas.microsoft.com/office/drawing/2014/main" id="{F9BA1E94-85CA-412B-B0A9-0B161395F6C0}"/>
                </a:ext>
              </a:extLst>
            </p:cNvPr>
            <p:cNvSpPr>
              <a:spLocks noChangeArrowheads="1"/>
            </p:cNvSpPr>
            <p:nvPr/>
          </p:nvSpPr>
          <p:spPr bwMode="auto">
            <a:xfrm>
              <a:off x="1542888" y="1966524"/>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53" name="Oval 408">
              <a:extLst>
                <a:ext uri="{FF2B5EF4-FFF2-40B4-BE49-F238E27FC236}">
                  <a16:creationId xmlns:a16="http://schemas.microsoft.com/office/drawing/2014/main" id="{9BFD3050-2E68-46AC-A225-0E90DD64231B}"/>
                </a:ext>
              </a:extLst>
            </p:cNvPr>
            <p:cNvSpPr>
              <a:spLocks noChangeArrowheads="1"/>
            </p:cNvSpPr>
            <p:nvPr/>
          </p:nvSpPr>
          <p:spPr bwMode="auto">
            <a:xfrm>
              <a:off x="1157146" y="403774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54" name="Oval 409">
              <a:extLst>
                <a:ext uri="{FF2B5EF4-FFF2-40B4-BE49-F238E27FC236}">
                  <a16:creationId xmlns:a16="http://schemas.microsoft.com/office/drawing/2014/main" id="{8B70A30E-E786-46ED-A786-BA6A8B7DA0DB}"/>
                </a:ext>
              </a:extLst>
            </p:cNvPr>
            <p:cNvSpPr>
              <a:spLocks noChangeArrowheads="1"/>
            </p:cNvSpPr>
            <p:nvPr/>
          </p:nvSpPr>
          <p:spPr bwMode="auto">
            <a:xfrm>
              <a:off x="1526612" y="3345796"/>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55" name="Oval 410">
              <a:extLst>
                <a:ext uri="{FF2B5EF4-FFF2-40B4-BE49-F238E27FC236}">
                  <a16:creationId xmlns:a16="http://schemas.microsoft.com/office/drawing/2014/main" id="{9BA444E1-FED8-4DC8-894B-467855DF2B4F}"/>
                </a:ext>
              </a:extLst>
            </p:cNvPr>
            <p:cNvSpPr>
              <a:spLocks noChangeArrowheads="1"/>
            </p:cNvSpPr>
            <p:nvPr/>
          </p:nvSpPr>
          <p:spPr bwMode="auto">
            <a:xfrm>
              <a:off x="781170" y="3345796"/>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cxnSp>
          <p:nvCxnSpPr>
            <p:cNvPr id="256" name="Line 411">
              <a:extLst>
                <a:ext uri="{FF2B5EF4-FFF2-40B4-BE49-F238E27FC236}">
                  <a16:creationId xmlns:a16="http://schemas.microsoft.com/office/drawing/2014/main" id="{5976EAC3-1031-409F-8B1C-47C377DCED4C}"/>
                </a:ext>
              </a:extLst>
            </p:cNvPr>
            <p:cNvCxnSpPr>
              <a:cxnSpLocks noChangeShapeType="1"/>
              <a:stCxn id="250" idx="3"/>
              <a:endCxn id="251" idx="0"/>
            </p:cNvCxnSpPr>
            <p:nvPr/>
          </p:nvCxnSpPr>
          <p:spPr bwMode="auto">
            <a:xfrm flipH="1">
              <a:off x="828659" y="1369071"/>
              <a:ext cx="344303" cy="59745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57" name="Line 412">
              <a:extLst>
                <a:ext uri="{FF2B5EF4-FFF2-40B4-BE49-F238E27FC236}">
                  <a16:creationId xmlns:a16="http://schemas.microsoft.com/office/drawing/2014/main" id="{5BDF9105-3245-45CE-BE82-0BDFF2D82550}"/>
                </a:ext>
              </a:extLst>
            </p:cNvPr>
            <p:cNvCxnSpPr>
              <a:cxnSpLocks noChangeShapeType="1"/>
              <a:stCxn id="252" idx="4"/>
              <a:endCxn id="264" idx="7"/>
            </p:cNvCxnSpPr>
            <p:nvPr/>
          </p:nvCxnSpPr>
          <p:spPr bwMode="auto">
            <a:xfrm flipH="1">
              <a:off x="1249330" y="2074524"/>
              <a:ext cx="347558" cy="59745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58" name="Line 413">
              <a:extLst>
                <a:ext uri="{FF2B5EF4-FFF2-40B4-BE49-F238E27FC236}">
                  <a16:creationId xmlns:a16="http://schemas.microsoft.com/office/drawing/2014/main" id="{329BBF1C-7B06-4DD1-9C25-1C0BF0F34B1E}"/>
                </a:ext>
              </a:extLst>
            </p:cNvPr>
            <p:cNvCxnSpPr>
              <a:cxnSpLocks noChangeShapeType="1"/>
              <a:stCxn id="254" idx="3"/>
              <a:endCxn id="253" idx="7"/>
            </p:cNvCxnSpPr>
            <p:nvPr/>
          </p:nvCxnSpPr>
          <p:spPr bwMode="auto">
            <a:xfrm flipH="1">
              <a:off x="1249330" y="3437980"/>
              <a:ext cx="293098" cy="61558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59" name="Line 414">
              <a:extLst>
                <a:ext uri="{FF2B5EF4-FFF2-40B4-BE49-F238E27FC236}">
                  <a16:creationId xmlns:a16="http://schemas.microsoft.com/office/drawing/2014/main" id="{50AE566D-FC9F-48B6-AFC6-EE7B285094F9}"/>
                </a:ext>
              </a:extLst>
            </p:cNvPr>
            <p:cNvCxnSpPr>
              <a:cxnSpLocks noChangeShapeType="1"/>
              <a:endCxn id="255" idx="0"/>
            </p:cNvCxnSpPr>
            <p:nvPr/>
          </p:nvCxnSpPr>
          <p:spPr bwMode="auto">
            <a:xfrm flipH="1">
              <a:off x="835170" y="2746414"/>
              <a:ext cx="333372" cy="59938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0" name="Line 415">
              <a:extLst>
                <a:ext uri="{FF2B5EF4-FFF2-40B4-BE49-F238E27FC236}">
                  <a16:creationId xmlns:a16="http://schemas.microsoft.com/office/drawing/2014/main" id="{BCF81883-5887-401F-9863-9694C3FC6399}"/>
                </a:ext>
              </a:extLst>
            </p:cNvPr>
            <p:cNvCxnSpPr>
              <a:cxnSpLocks noChangeShapeType="1"/>
              <a:stCxn id="250" idx="5"/>
              <a:endCxn id="252" idx="0"/>
            </p:cNvCxnSpPr>
            <p:nvPr/>
          </p:nvCxnSpPr>
          <p:spPr bwMode="auto">
            <a:xfrm>
              <a:off x="1249330" y="1369071"/>
              <a:ext cx="347558" cy="59745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1" name="Line 416">
              <a:extLst>
                <a:ext uri="{FF2B5EF4-FFF2-40B4-BE49-F238E27FC236}">
                  <a16:creationId xmlns:a16="http://schemas.microsoft.com/office/drawing/2014/main" id="{D1A42805-19CA-449D-982F-A8B49AC3B72D}"/>
                </a:ext>
              </a:extLst>
            </p:cNvPr>
            <p:cNvCxnSpPr>
              <a:cxnSpLocks noChangeShapeType="1"/>
              <a:endCxn id="254" idx="0"/>
            </p:cNvCxnSpPr>
            <p:nvPr/>
          </p:nvCxnSpPr>
          <p:spPr bwMode="auto">
            <a:xfrm>
              <a:off x="1223879" y="2746414"/>
              <a:ext cx="356733" cy="59938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2" name="Line 417">
              <a:extLst>
                <a:ext uri="{FF2B5EF4-FFF2-40B4-BE49-F238E27FC236}">
                  <a16:creationId xmlns:a16="http://schemas.microsoft.com/office/drawing/2014/main" id="{D250138F-8A46-41DB-88F1-6BDBE6C5FAD1}"/>
                </a:ext>
              </a:extLst>
            </p:cNvPr>
            <p:cNvCxnSpPr>
              <a:cxnSpLocks noChangeShapeType="1"/>
              <a:stCxn id="251" idx="4"/>
              <a:endCxn id="264" idx="1"/>
            </p:cNvCxnSpPr>
            <p:nvPr/>
          </p:nvCxnSpPr>
          <p:spPr bwMode="auto">
            <a:xfrm>
              <a:off x="828659" y="2074524"/>
              <a:ext cx="344303" cy="59745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3" name="Line 418">
              <a:extLst>
                <a:ext uri="{FF2B5EF4-FFF2-40B4-BE49-F238E27FC236}">
                  <a16:creationId xmlns:a16="http://schemas.microsoft.com/office/drawing/2014/main" id="{0D97629B-D171-4290-BE49-B1156D9D41A2}"/>
                </a:ext>
              </a:extLst>
            </p:cNvPr>
            <p:cNvCxnSpPr>
              <a:cxnSpLocks noChangeShapeType="1"/>
              <a:stCxn id="255" idx="4"/>
            </p:cNvCxnSpPr>
            <p:nvPr/>
          </p:nvCxnSpPr>
          <p:spPr bwMode="auto">
            <a:xfrm>
              <a:off x="835170" y="3453796"/>
              <a:ext cx="333370" cy="60940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64" name="Oval 419">
              <a:extLst>
                <a:ext uri="{FF2B5EF4-FFF2-40B4-BE49-F238E27FC236}">
                  <a16:creationId xmlns:a16="http://schemas.microsoft.com/office/drawing/2014/main" id="{568EB482-D6F3-4557-8DD5-A03D8B4E98BB}"/>
                </a:ext>
              </a:extLst>
            </p:cNvPr>
            <p:cNvSpPr>
              <a:spLocks noChangeArrowheads="1"/>
            </p:cNvSpPr>
            <p:nvPr/>
          </p:nvSpPr>
          <p:spPr bwMode="auto">
            <a:xfrm>
              <a:off x="1157146" y="2656160"/>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65" name="Text Box 420">
              <a:extLst>
                <a:ext uri="{FF2B5EF4-FFF2-40B4-BE49-F238E27FC236}">
                  <a16:creationId xmlns:a16="http://schemas.microsoft.com/office/drawing/2014/main" id="{19655886-168D-4429-993C-10C33BA4B1F6}"/>
                </a:ext>
              </a:extLst>
            </p:cNvPr>
            <p:cNvSpPr txBox="1">
              <a:spLocks noChangeArrowheads="1"/>
            </p:cNvSpPr>
            <p:nvPr/>
          </p:nvSpPr>
          <p:spPr bwMode="auto">
            <a:xfrm>
              <a:off x="1124261" y="4199742"/>
              <a:ext cx="183919" cy="19840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66" name="Text Box 421">
              <a:extLst>
                <a:ext uri="{FF2B5EF4-FFF2-40B4-BE49-F238E27FC236}">
                  <a16:creationId xmlns:a16="http://schemas.microsoft.com/office/drawing/2014/main" id="{1BCD996A-8567-4633-858E-45DD17A2A1E0}"/>
                </a:ext>
              </a:extLst>
            </p:cNvPr>
            <p:cNvSpPr txBox="1">
              <a:spLocks noChangeArrowheads="1"/>
            </p:cNvSpPr>
            <p:nvPr/>
          </p:nvSpPr>
          <p:spPr bwMode="auto">
            <a:xfrm>
              <a:off x="590740" y="3328439"/>
              <a:ext cx="183919" cy="16199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67" name="Text Box 422">
              <a:extLst>
                <a:ext uri="{FF2B5EF4-FFF2-40B4-BE49-F238E27FC236}">
                  <a16:creationId xmlns:a16="http://schemas.microsoft.com/office/drawing/2014/main" id="{D091C451-781C-41D2-8E80-3354D5543856}"/>
                </a:ext>
              </a:extLst>
            </p:cNvPr>
            <p:cNvSpPr txBox="1">
              <a:spLocks noChangeArrowheads="1"/>
            </p:cNvSpPr>
            <p:nvPr/>
          </p:nvSpPr>
          <p:spPr bwMode="auto">
            <a:xfrm>
              <a:off x="1639049" y="3301825"/>
              <a:ext cx="183919" cy="2175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68" name="Text Box 423">
              <a:extLst>
                <a:ext uri="{FF2B5EF4-FFF2-40B4-BE49-F238E27FC236}">
                  <a16:creationId xmlns:a16="http://schemas.microsoft.com/office/drawing/2014/main" id="{6A9444F3-3CDB-46A1-A10E-5A447A8F0951}"/>
                </a:ext>
              </a:extLst>
            </p:cNvPr>
            <p:cNvSpPr txBox="1">
              <a:spLocks noChangeArrowheads="1"/>
            </p:cNvSpPr>
            <p:nvPr/>
          </p:nvSpPr>
          <p:spPr bwMode="auto">
            <a:xfrm>
              <a:off x="1372923" y="2543728"/>
              <a:ext cx="183919" cy="22023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69" name="Text Box 424">
              <a:extLst>
                <a:ext uri="{FF2B5EF4-FFF2-40B4-BE49-F238E27FC236}">
                  <a16:creationId xmlns:a16="http://schemas.microsoft.com/office/drawing/2014/main" id="{F7C02FB6-C240-483B-94AC-C0C6520F135D}"/>
                </a:ext>
              </a:extLst>
            </p:cNvPr>
            <p:cNvSpPr txBox="1">
              <a:spLocks noChangeArrowheads="1"/>
            </p:cNvSpPr>
            <p:nvPr/>
          </p:nvSpPr>
          <p:spPr bwMode="auto">
            <a:xfrm>
              <a:off x="580975" y="1912392"/>
              <a:ext cx="183919" cy="18180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70" name="Text Box 425">
              <a:extLst>
                <a:ext uri="{FF2B5EF4-FFF2-40B4-BE49-F238E27FC236}">
                  <a16:creationId xmlns:a16="http://schemas.microsoft.com/office/drawing/2014/main" id="{3117B42D-CA4C-4654-AF48-32FAE3CD4B96}"/>
                </a:ext>
              </a:extLst>
            </p:cNvPr>
            <p:cNvSpPr txBox="1">
              <a:spLocks noChangeArrowheads="1"/>
            </p:cNvSpPr>
            <p:nvPr/>
          </p:nvSpPr>
          <p:spPr bwMode="auto">
            <a:xfrm>
              <a:off x="1650888" y="1926040"/>
              <a:ext cx="183919" cy="21830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f</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71" name="Text Box 426">
              <a:extLst>
                <a:ext uri="{FF2B5EF4-FFF2-40B4-BE49-F238E27FC236}">
                  <a16:creationId xmlns:a16="http://schemas.microsoft.com/office/drawing/2014/main" id="{39BD5CB8-BF99-4BC6-85CB-65F60403C571}"/>
                </a:ext>
              </a:extLst>
            </p:cNvPr>
            <p:cNvSpPr txBox="1">
              <a:spLocks noChangeArrowheads="1"/>
            </p:cNvSpPr>
            <p:nvPr/>
          </p:nvSpPr>
          <p:spPr bwMode="auto">
            <a:xfrm>
              <a:off x="1290720" y="957772"/>
              <a:ext cx="183919" cy="2651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g</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72" name="Text Box 428">
              <a:extLst>
                <a:ext uri="{FF2B5EF4-FFF2-40B4-BE49-F238E27FC236}">
                  <a16:creationId xmlns:a16="http://schemas.microsoft.com/office/drawing/2014/main" id="{A62ED962-39B0-4B9B-8441-6B9257D3FEB7}"/>
                </a:ext>
              </a:extLst>
            </p:cNvPr>
            <p:cNvSpPr txBox="1">
              <a:spLocks noChangeArrowheads="1"/>
            </p:cNvSpPr>
            <p:nvPr/>
          </p:nvSpPr>
          <p:spPr bwMode="auto">
            <a:xfrm>
              <a:off x="2604086" y="4810695"/>
              <a:ext cx="460611" cy="654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73" name="Text Box 429">
              <a:extLst>
                <a:ext uri="{FF2B5EF4-FFF2-40B4-BE49-F238E27FC236}">
                  <a16:creationId xmlns:a16="http://schemas.microsoft.com/office/drawing/2014/main" id="{03110D7D-75BF-4376-B7CE-D7BE55EF62BF}"/>
                </a:ext>
              </a:extLst>
            </p:cNvPr>
            <p:cNvSpPr txBox="1">
              <a:spLocks noChangeArrowheads="1"/>
            </p:cNvSpPr>
            <p:nvPr/>
          </p:nvSpPr>
          <p:spPr bwMode="auto">
            <a:xfrm>
              <a:off x="2621990" y="4810695"/>
              <a:ext cx="460611" cy="654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274" name="Line 430">
              <a:extLst>
                <a:ext uri="{FF2B5EF4-FFF2-40B4-BE49-F238E27FC236}">
                  <a16:creationId xmlns:a16="http://schemas.microsoft.com/office/drawing/2014/main" id="{0DAA5A0D-1312-4768-BBEB-08FF3629CA9D}"/>
                </a:ext>
              </a:extLst>
            </p:cNvPr>
            <p:cNvCxnSpPr>
              <a:cxnSpLocks noChangeShapeType="1"/>
              <a:endCxn id="279" idx="0"/>
            </p:cNvCxnSpPr>
            <p:nvPr/>
          </p:nvCxnSpPr>
          <p:spPr bwMode="auto">
            <a:xfrm flipH="1">
              <a:off x="2879439" y="1354856"/>
              <a:ext cx="378" cy="268289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75" name="Oval 431">
              <a:extLst>
                <a:ext uri="{FF2B5EF4-FFF2-40B4-BE49-F238E27FC236}">
                  <a16:creationId xmlns:a16="http://schemas.microsoft.com/office/drawing/2014/main" id="{E7F66054-5C25-493B-8132-CF14176EED9A}"/>
                </a:ext>
              </a:extLst>
            </p:cNvPr>
            <p:cNvSpPr>
              <a:spLocks noChangeArrowheads="1"/>
            </p:cNvSpPr>
            <p:nvPr/>
          </p:nvSpPr>
          <p:spPr bwMode="auto">
            <a:xfrm>
              <a:off x="2825439" y="127688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76" name="Oval 432">
              <a:extLst>
                <a:ext uri="{FF2B5EF4-FFF2-40B4-BE49-F238E27FC236}">
                  <a16:creationId xmlns:a16="http://schemas.microsoft.com/office/drawing/2014/main" id="{731FA82B-7121-4E94-9A77-7F185C107D18}"/>
                </a:ext>
              </a:extLst>
            </p:cNvPr>
            <p:cNvSpPr>
              <a:spLocks noChangeArrowheads="1"/>
            </p:cNvSpPr>
            <p:nvPr/>
          </p:nvSpPr>
          <p:spPr bwMode="auto">
            <a:xfrm>
              <a:off x="2825439" y="1966524"/>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77" name="Oval 433">
              <a:extLst>
                <a:ext uri="{FF2B5EF4-FFF2-40B4-BE49-F238E27FC236}">
                  <a16:creationId xmlns:a16="http://schemas.microsoft.com/office/drawing/2014/main" id="{6D9049EB-5844-4C83-97EB-197C0A46DEAE}"/>
                </a:ext>
              </a:extLst>
            </p:cNvPr>
            <p:cNvSpPr>
              <a:spLocks noChangeArrowheads="1"/>
            </p:cNvSpPr>
            <p:nvPr/>
          </p:nvSpPr>
          <p:spPr bwMode="auto">
            <a:xfrm>
              <a:off x="2825439" y="2656160"/>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78" name="Oval 434">
              <a:extLst>
                <a:ext uri="{FF2B5EF4-FFF2-40B4-BE49-F238E27FC236}">
                  <a16:creationId xmlns:a16="http://schemas.microsoft.com/office/drawing/2014/main" id="{315D76BF-1AAF-45DD-84BD-4294625104DB}"/>
                </a:ext>
              </a:extLst>
            </p:cNvPr>
            <p:cNvSpPr>
              <a:spLocks noChangeArrowheads="1"/>
            </p:cNvSpPr>
            <p:nvPr/>
          </p:nvSpPr>
          <p:spPr bwMode="auto">
            <a:xfrm>
              <a:off x="2825439" y="3345796"/>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79" name="Oval 435">
              <a:extLst>
                <a:ext uri="{FF2B5EF4-FFF2-40B4-BE49-F238E27FC236}">
                  <a16:creationId xmlns:a16="http://schemas.microsoft.com/office/drawing/2014/main" id="{EF2A3240-2CD5-4108-95D3-3F0952A44B73}"/>
                </a:ext>
              </a:extLst>
            </p:cNvPr>
            <p:cNvSpPr>
              <a:spLocks noChangeArrowheads="1"/>
            </p:cNvSpPr>
            <p:nvPr/>
          </p:nvSpPr>
          <p:spPr bwMode="auto">
            <a:xfrm>
              <a:off x="2825439" y="403774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80" name="Text Box 436">
              <a:extLst>
                <a:ext uri="{FF2B5EF4-FFF2-40B4-BE49-F238E27FC236}">
                  <a16:creationId xmlns:a16="http://schemas.microsoft.com/office/drawing/2014/main" id="{5E8FF4CB-9609-4F3F-AB9D-11435B6057EF}"/>
                </a:ext>
              </a:extLst>
            </p:cNvPr>
            <p:cNvSpPr txBox="1">
              <a:spLocks noChangeArrowheads="1"/>
            </p:cNvSpPr>
            <p:nvPr/>
          </p:nvSpPr>
          <p:spPr bwMode="auto">
            <a:xfrm>
              <a:off x="2792109" y="4180607"/>
              <a:ext cx="183919" cy="19840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81" name="Text Box 437">
              <a:extLst>
                <a:ext uri="{FF2B5EF4-FFF2-40B4-BE49-F238E27FC236}">
                  <a16:creationId xmlns:a16="http://schemas.microsoft.com/office/drawing/2014/main" id="{57B62DDE-0E64-4176-B3FC-767032641410}"/>
                </a:ext>
              </a:extLst>
            </p:cNvPr>
            <p:cNvSpPr txBox="1">
              <a:spLocks noChangeArrowheads="1"/>
            </p:cNvSpPr>
            <p:nvPr/>
          </p:nvSpPr>
          <p:spPr bwMode="auto">
            <a:xfrm>
              <a:off x="2615479" y="3301825"/>
              <a:ext cx="183919" cy="19840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82" name="Text Box 438">
              <a:extLst>
                <a:ext uri="{FF2B5EF4-FFF2-40B4-BE49-F238E27FC236}">
                  <a16:creationId xmlns:a16="http://schemas.microsoft.com/office/drawing/2014/main" id="{BF40E3D5-7F14-4213-A2AC-FFC77650D63C}"/>
                </a:ext>
              </a:extLst>
            </p:cNvPr>
            <p:cNvSpPr txBox="1">
              <a:spLocks noChangeArrowheads="1"/>
            </p:cNvSpPr>
            <p:nvPr/>
          </p:nvSpPr>
          <p:spPr bwMode="auto">
            <a:xfrm>
              <a:off x="2966805" y="2598928"/>
              <a:ext cx="183919" cy="2655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83" name="Text Box 439">
              <a:extLst>
                <a:ext uri="{FF2B5EF4-FFF2-40B4-BE49-F238E27FC236}">
                  <a16:creationId xmlns:a16="http://schemas.microsoft.com/office/drawing/2014/main" id="{14CCCF0C-A96E-4A4E-98E2-164B1D74D34B}"/>
                </a:ext>
              </a:extLst>
            </p:cNvPr>
            <p:cNvSpPr txBox="1">
              <a:spLocks noChangeArrowheads="1"/>
            </p:cNvSpPr>
            <p:nvPr/>
          </p:nvSpPr>
          <p:spPr bwMode="auto">
            <a:xfrm>
              <a:off x="2641809" y="1956109"/>
              <a:ext cx="183919" cy="23142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84" name="Text Box 440">
              <a:extLst>
                <a:ext uri="{FF2B5EF4-FFF2-40B4-BE49-F238E27FC236}">
                  <a16:creationId xmlns:a16="http://schemas.microsoft.com/office/drawing/2014/main" id="{D38C56C9-0E66-4F5E-BF0E-BBE22935F9D2}"/>
                </a:ext>
              </a:extLst>
            </p:cNvPr>
            <p:cNvSpPr txBox="1">
              <a:spLocks noChangeArrowheads="1"/>
            </p:cNvSpPr>
            <p:nvPr/>
          </p:nvSpPr>
          <p:spPr bwMode="auto">
            <a:xfrm>
              <a:off x="2886120" y="1026207"/>
              <a:ext cx="345371" cy="3286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85" name="Text Box 442">
              <a:extLst>
                <a:ext uri="{FF2B5EF4-FFF2-40B4-BE49-F238E27FC236}">
                  <a16:creationId xmlns:a16="http://schemas.microsoft.com/office/drawing/2014/main" id="{F0A417AB-6BD8-453C-862B-6098C2C3229E}"/>
                </a:ext>
              </a:extLst>
            </p:cNvPr>
            <p:cNvSpPr txBox="1">
              <a:spLocks noChangeArrowheads="1"/>
            </p:cNvSpPr>
            <p:nvPr/>
          </p:nvSpPr>
          <p:spPr bwMode="auto">
            <a:xfrm>
              <a:off x="4321206" y="4810695"/>
              <a:ext cx="460612" cy="654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86" name="Oval 443">
              <a:extLst>
                <a:ext uri="{FF2B5EF4-FFF2-40B4-BE49-F238E27FC236}">
                  <a16:creationId xmlns:a16="http://schemas.microsoft.com/office/drawing/2014/main" id="{DF57CC03-EDAB-4077-9EEB-13ABEA57128D}"/>
                </a:ext>
              </a:extLst>
            </p:cNvPr>
            <p:cNvSpPr>
              <a:spLocks noChangeArrowheads="1"/>
            </p:cNvSpPr>
            <p:nvPr/>
          </p:nvSpPr>
          <p:spPr bwMode="auto">
            <a:xfrm>
              <a:off x="4513262" y="127688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87" name="Oval 444">
              <a:extLst>
                <a:ext uri="{FF2B5EF4-FFF2-40B4-BE49-F238E27FC236}">
                  <a16:creationId xmlns:a16="http://schemas.microsoft.com/office/drawing/2014/main" id="{96C78925-08A1-4762-A182-0DC2CE668298}"/>
                </a:ext>
              </a:extLst>
            </p:cNvPr>
            <p:cNvSpPr>
              <a:spLocks noChangeArrowheads="1"/>
            </p:cNvSpPr>
            <p:nvPr/>
          </p:nvSpPr>
          <p:spPr bwMode="auto">
            <a:xfrm>
              <a:off x="4513262" y="403774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88" name="Oval 445">
              <a:extLst>
                <a:ext uri="{FF2B5EF4-FFF2-40B4-BE49-F238E27FC236}">
                  <a16:creationId xmlns:a16="http://schemas.microsoft.com/office/drawing/2014/main" id="{79EC8622-E546-4A7E-8D0D-ABFAD371CBE2}"/>
                </a:ext>
              </a:extLst>
            </p:cNvPr>
            <p:cNvSpPr>
              <a:spLocks noChangeArrowheads="1"/>
            </p:cNvSpPr>
            <p:nvPr/>
          </p:nvSpPr>
          <p:spPr bwMode="auto">
            <a:xfrm>
              <a:off x="4882728" y="3116689"/>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89" name="Oval 446">
              <a:extLst>
                <a:ext uri="{FF2B5EF4-FFF2-40B4-BE49-F238E27FC236}">
                  <a16:creationId xmlns:a16="http://schemas.microsoft.com/office/drawing/2014/main" id="{DE61B6A1-F0A5-4BD4-B135-5AE555C967C7}"/>
                </a:ext>
              </a:extLst>
            </p:cNvPr>
            <p:cNvSpPr>
              <a:spLocks noChangeArrowheads="1"/>
            </p:cNvSpPr>
            <p:nvPr/>
          </p:nvSpPr>
          <p:spPr bwMode="auto">
            <a:xfrm>
              <a:off x="4137286" y="3116689"/>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cxnSp>
          <p:nvCxnSpPr>
            <p:cNvPr id="290" name="Line 447">
              <a:extLst>
                <a:ext uri="{FF2B5EF4-FFF2-40B4-BE49-F238E27FC236}">
                  <a16:creationId xmlns:a16="http://schemas.microsoft.com/office/drawing/2014/main" id="{349D70F1-82E7-456E-96DA-49710BC4FF32}"/>
                </a:ext>
              </a:extLst>
            </p:cNvPr>
            <p:cNvCxnSpPr>
              <a:cxnSpLocks noChangeShapeType="1"/>
              <a:stCxn id="288" idx="4"/>
              <a:endCxn id="287" idx="7"/>
            </p:cNvCxnSpPr>
            <p:nvPr/>
          </p:nvCxnSpPr>
          <p:spPr bwMode="auto">
            <a:xfrm flipH="1">
              <a:off x="4605446" y="3224689"/>
              <a:ext cx="331282" cy="8288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91" name="Line 448">
              <a:extLst>
                <a:ext uri="{FF2B5EF4-FFF2-40B4-BE49-F238E27FC236}">
                  <a16:creationId xmlns:a16="http://schemas.microsoft.com/office/drawing/2014/main" id="{268BD2DB-DC0E-4C4A-A50A-537F627DAE26}"/>
                </a:ext>
              </a:extLst>
            </p:cNvPr>
            <p:cNvCxnSpPr>
              <a:cxnSpLocks noChangeShapeType="1"/>
              <a:stCxn id="294" idx="3"/>
              <a:endCxn id="289" idx="0"/>
            </p:cNvCxnSpPr>
            <p:nvPr/>
          </p:nvCxnSpPr>
          <p:spPr bwMode="auto">
            <a:xfrm flipH="1">
              <a:off x="4191286" y="2287815"/>
              <a:ext cx="337792" cy="8288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92" name="Line 449">
              <a:extLst>
                <a:ext uri="{FF2B5EF4-FFF2-40B4-BE49-F238E27FC236}">
                  <a16:creationId xmlns:a16="http://schemas.microsoft.com/office/drawing/2014/main" id="{1C097873-6E09-4807-8ED0-3D46CC41579D}"/>
                </a:ext>
              </a:extLst>
            </p:cNvPr>
            <p:cNvCxnSpPr>
              <a:cxnSpLocks noChangeShapeType="1"/>
              <a:stCxn id="294" idx="5"/>
              <a:endCxn id="288" idx="0"/>
            </p:cNvCxnSpPr>
            <p:nvPr/>
          </p:nvCxnSpPr>
          <p:spPr bwMode="auto">
            <a:xfrm>
              <a:off x="4605446" y="2287815"/>
              <a:ext cx="331282" cy="8288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93" name="Line 450">
              <a:extLst>
                <a:ext uri="{FF2B5EF4-FFF2-40B4-BE49-F238E27FC236}">
                  <a16:creationId xmlns:a16="http://schemas.microsoft.com/office/drawing/2014/main" id="{5CC9A6E0-C6A5-428A-AC64-BD27D3141ED0}"/>
                </a:ext>
              </a:extLst>
            </p:cNvPr>
            <p:cNvCxnSpPr>
              <a:cxnSpLocks noChangeShapeType="1"/>
              <a:stCxn id="289" idx="4"/>
              <a:endCxn id="287" idx="1"/>
            </p:cNvCxnSpPr>
            <p:nvPr/>
          </p:nvCxnSpPr>
          <p:spPr bwMode="auto">
            <a:xfrm>
              <a:off x="4191286" y="3224689"/>
              <a:ext cx="337792" cy="8288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94" name="Oval 451">
              <a:extLst>
                <a:ext uri="{FF2B5EF4-FFF2-40B4-BE49-F238E27FC236}">
                  <a16:creationId xmlns:a16="http://schemas.microsoft.com/office/drawing/2014/main" id="{047EE003-78D3-48D6-8CD1-646FAAD97300}"/>
                </a:ext>
              </a:extLst>
            </p:cNvPr>
            <p:cNvSpPr>
              <a:spLocks noChangeArrowheads="1"/>
            </p:cNvSpPr>
            <p:nvPr/>
          </p:nvSpPr>
          <p:spPr bwMode="auto">
            <a:xfrm>
              <a:off x="4513262" y="219563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295" name="Text Box 452">
              <a:extLst>
                <a:ext uri="{FF2B5EF4-FFF2-40B4-BE49-F238E27FC236}">
                  <a16:creationId xmlns:a16="http://schemas.microsoft.com/office/drawing/2014/main" id="{0F069322-44C7-437C-8308-6F280C9511EB}"/>
                </a:ext>
              </a:extLst>
            </p:cNvPr>
            <p:cNvSpPr txBox="1">
              <a:spLocks noChangeArrowheads="1"/>
            </p:cNvSpPr>
            <p:nvPr/>
          </p:nvSpPr>
          <p:spPr bwMode="auto">
            <a:xfrm>
              <a:off x="4443277" y="4249497"/>
              <a:ext cx="157977" cy="4229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96" name="Text Box 453">
              <a:extLst>
                <a:ext uri="{FF2B5EF4-FFF2-40B4-BE49-F238E27FC236}">
                  <a16:creationId xmlns:a16="http://schemas.microsoft.com/office/drawing/2014/main" id="{4C399A42-D7A1-4F47-8764-7C47C841ED6F}"/>
                </a:ext>
              </a:extLst>
            </p:cNvPr>
            <p:cNvSpPr txBox="1">
              <a:spLocks noChangeArrowheads="1"/>
            </p:cNvSpPr>
            <p:nvPr/>
          </p:nvSpPr>
          <p:spPr bwMode="auto">
            <a:xfrm>
              <a:off x="3927326" y="2852868"/>
              <a:ext cx="183919" cy="6549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97" name="Text Box 454">
              <a:extLst>
                <a:ext uri="{FF2B5EF4-FFF2-40B4-BE49-F238E27FC236}">
                  <a16:creationId xmlns:a16="http://schemas.microsoft.com/office/drawing/2014/main" id="{63EFC713-A211-42F9-BF56-0486DF2C46D8}"/>
                </a:ext>
              </a:extLst>
            </p:cNvPr>
            <p:cNvSpPr txBox="1">
              <a:spLocks noChangeArrowheads="1"/>
            </p:cNvSpPr>
            <p:nvPr/>
          </p:nvSpPr>
          <p:spPr bwMode="auto">
            <a:xfrm>
              <a:off x="5045490" y="2852868"/>
              <a:ext cx="183919" cy="6549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98" name="Text Box 455">
              <a:extLst>
                <a:ext uri="{FF2B5EF4-FFF2-40B4-BE49-F238E27FC236}">
                  <a16:creationId xmlns:a16="http://schemas.microsoft.com/office/drawing/2014/main" id="{49A1150B-2B4F-4808-AF5E-3568167F0FA5}"/>
                </a:ext>
              </a:extLst>
            </p:cNvPr>
            <p:cNvSpPr txBox="1">
              <a:spLocks noChangeArrowheads="1"/>
            </p:cNvSpPr>
            <p:nvPr/>
          </p:nvSpPr>
          <p:spPr bwMode="auto">
            <a:xfrm>
              <a:off x="4627196" y="1897097"/>
              <a:ext cx="183919" cy="6549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99" name="Text Box 456">
              <a:extLst>
                <a:ext uri="{FF2B5EF4-FFF2-40B4-BE49-F238E27FC236}">
                  <a16:creationId xmlns:a16="http://schemas.microsoft.com/office/drawing/2014/main" id="{5434D9DA-5A5F-4A21-9CBF-682870CC831B}"/>
                </a:ext>
              </a:extLst>
            </p:cNvPr>
            <p:cNvSpPr txBox="1">
              <a:spLocks noChangeArrowheads="1"/>
            </p:cNvSpPr>
            <p:nvPr/>
          </p:nvSpPr>
          <p:spPr bwMode="auto">
            <a:xfrm>
              <a:off x="4663054" y="1060689"/>
              <a:ext cx="183919" cy="4754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300" name="Line 457">
              <a:extLst>
                <a:ext uri="{FF2B5EF4-FFF2-40B4-BE49-F238E27FC236}">
                  <a16:creationId xmlns:a16="http://schemas.microsoft.com/office/drawing/2014/main" id="{1A032B73-4BC0-4DFE-8E4B-3E8EDE6E6413}"/>
                </a:ext>
              </a:extLst>
            </p:cNvPr>
            <p:cNvCxnSpPr>
              <a:cxnSpLocks noChangeShapeType="1"/>
              <a:stCxn id="286" idx="4"/>
              <a:endCxn id="294" idx="0"/>
            </p:cNvCxnSpPr>
            <p:nvPr/>
          </p:nvCxnSpPr>
          <p:spPr bwMode="auto">
            <a:xfrm>
              <a:off x="4567262" y="1384887"/>
              <a:ext cx="0" cy="8107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1" name="Line 459">
              <a:extLst>
                <a:ext uri="{FF2B5EF4-FFF2-40B4-BE49-F238E27FC236}">
                  <a16:creationId xmlns:a16="http://schemas.microsoft.com/office/drawing/2014/main" id="{44141505-9F26-4E1F-B11C-378172EA5164}"/>
                </a:ext>
              </a:extLst>
            </p:cNvPr>
            <p:cNvCxnSpPr>
              <a:cxnSpLocks noChangeShapeType="1"/>
              <a:stCxn id="315" idx="4"/>
              <a:endCxn id="305" idx="0"/>
            </p:cNvCxnSpPr>
            <p:nvPr/>
          </p:nvCxnSpPr>
          <p:spPr bwMode="auto">
            <a:xfrm>
              <a:off x="9220579" y="2264289"/>
              <a:ext cx="0" cy="9195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02" name="Text Box 461">
              <a:extLst>
                <a:ext uri="{FF2B5EF4-FFF2-40B4-BE49-F238E27FC236}">
                  <a16:creationId xmlns:a16="http://schemas.microsoft.com/office/drawing/2014/main" id="{288354AF-1C1C-4FED-B2A3-153899B635A8}"/>
                </a:ext>
              </a:extLst>
            </p:cNvPr>
            <p:cNvSpPr txBox="1">
              <a:spLocks noChangeArrowheads="1"/>
            </p:cNvSpPr>
            <p:nvPr/>
          </p:nvSpPr>
          <p:spPr bwMode="auto">
            <a:xfrm>
              <a:off x="8605057" y="4810695"/>
              <a:ext cx="460612" cy="654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03" name="Oval 462">
              <a:extLst>
                <a:ext uri="{FF2B5EF4-FFF2-40B4-BE49-F238E27FC236}">
                  <a16:creationId xmlns:a16="http://schemas.microsoft.com/office/drawing/2014/main" id="{91C319FB-9AE0-4FC0-A1A4-CF87084E5234}"/>
                </a:ext>
              </a:extLst>
            </p:cNvPr>
            <p:cNvSpPr>
              <a:spLocks noChangeArrowheads="1"/>
            </p:cNvSpPr>
            <p:nvPr/>
          </p:nvSpPr>
          <p:spPr bwMode="auto">
            <a:xfrm>
              <a:off x="8797113" y="127688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04" name="Oval 463">
              <a:extLst>
                <a:ext uri="{FF2B5EF4-FFF2-40B4-BE49-F238E27FC236}">
                  <a16:creationId xmlns:a16="http://schemas.microsoft.com/office/drawing/2014/main" id="{FFF079C1-C0AE-4C28-956E-167FBE5A32A7}"/>
                </a:ext>
              </a:extLst>
            </p:cNvPr>
            <p:cNvSpPr>
              <a:spLocks noChangeArrowheads="1"/>
            </p:cNvSpPr>
            <p:nvPr/>
          </p:nvSpPr>
          <p:spPr bwMode="auto">
            <a:xfrm>
              <a:off x="8797113" y="403774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05" name="Oval 464">
              <a:extLst>
                <a:ext uri="{FF2B5EF4-FFF2-40B4-BE49-F238E27FC236}">
                  <a16:creationId xmlns:a16="http://schemas.microsoft.com/office/drawing/2014/main" id="{59626E56-1D75-4484-B334-7CDA7CCC9039}"/>
                </a:ext>
              </a:extLst>
            </p:cNvPr>
            <p:cNvSpPr>
              <a:spLocks noChangeArrowheads="1"/>
            </p:cNvSpPr>
            <p:nvPr/>
          </p:nvSpPr>
          <p:spPr bwMode="auto">
            <a:xfrm>
              <a:off x="9166579" y="318380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06" name="Oval 465">
              <a:extLst>
                <a:ext uri="{FF2B5EF4-FFF2-40B4-BE49-F238E27FC236}">
                  <a16:creationId xmlns:a16="http://schemas.microsoft.com/office/drawing/2014/main" id="{15E96C6B-0316-41C3-9BC4-8664C1FC9112}"/>
                </a:ext>
              </a:extLst>
            </p:cNvPr>
            <p:cNvSpPr>
              <a:spLocks noChangeArrowheads="1"/>
            </p:cNvSpPr>
            <p:nvPr/>
          </p:nvSpPr>
          <p:spPr bwMode="auto">
            <a:xfrm>
              <a:off x="8421137" y="2656160"/>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cxnSp>
          <p:nvCxnSpPr>
            <p:cNvPr id="307" name="Line 466">
              <a:extLst>
                <a:ext uri="{FF2B5EF4-FFF2-40B4-BE49-F238E27FC236}">
                  <a16:creationId xmlns:a16="http://schemas.microsoft.com/office/drawing/2014/main" id="{E0367B42-1D54-45D9-B2E7-4E7B70B9491C}"/>
                </a:ext>
              </a:extLst>
            </p:cNvPr>
            <p:cNvCxnSpPr>
              <a:cxnSpLocks noChangeShapeType="1"/>
              <a:stCxn id="305" idx="4"/>
              <a:endCxn id="304" idx="7"/>
            </p:cNvCxnSpPr>
            <p:nvPr/>
          </p:nvCxnSpPr>
          <p:spPr bwMode="auto">
            <a:xfrm flipH="1">
              <a:off x="8889297" y="3291801"/>
              <a:ext cx="331282" cy="7617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8" name="Line 467">
              <a:extLst>
                <a:ext uri="{FF2B5EF4-FFF2-40B4-BE49-F238E27FC236}">
                  <a16:creationId xmlns:a16="http://schemas.microsoft.com/office/drawing/2014/main" id="{16258A72-CC43-4FD5-B62F-6CE9BCE88C77}"/>
                </a:ext>
              </a:extLst>
            </p:cNvPr>
            <p:cNvCxnSpPr>
              <a:cxnSpLocks noChangeShapeType="1"/>
              <a:stCxn id="303" idx="3"/>
              <a:endCxn id="306" idx="0"/>
            </p:cNvCxnSpPr>
            <p:nvPr/>
          </p:nvCxnSpPr>
          <p:spPr bwMode="auto">
            <a:xfrm flipH="1">
              <a:off x="8475137" y="1369071"/>
              <a:ext cx="337792" cy="128708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9" name="Line 468">
              <a:extLst>
                <a:ext uri="{FF2B5EF4-FFF2-40B4-BE49-F238E27FC236}">
                  <a16:creationId xmlns:a16="http://schemas.microsoft.com/office/drawing/2014/main" id="{355DE9A6-3781-469D-85DB-D9DB0D01EF0A}"/>
                </a:ext>
              </a:extLst>
            </p:cNvPr>
            <p:cNvCxnSpPr>
              <a:cxnSpLocks noChangeShapeType="1"/>
              <a:stCxn id="303" idx="5"/>
              <a:endCxn id="315" idx="0"/>
            </p:cNvCxnSpPr>
            <p:nvPr/>
          </p:nvCxnSpPr>
          <p:spPr bwMode="auto">
            <a:xfrm>
              <a:off x="8889297" y="1369071"/>
              <a:ext cx="331282" cy="78721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0" name="Line 469">
              <a:extLst>
                <a:ext uri="{FF2B5EF4-FFF2-40B4-BE49-F238E27FC236}">
                  <a16:creationId xmlns:a16="http://schemas.microsoft.com/office/drawing/2014/main" id="{C590D05C-C4BE-4391-911D-64A76AAD985E}"/>
                </a:ext>
              </a:extLst>
            </p:cNvPr>
            <p:cNvCxnSpPr>
              <a:cxnSpLocks noChangeShapeType="1"/>
              <a:stCxn id="306" idx="4"/>
              <a:endCxn id="304" idx="1"/>
            </p:cNvCxnSpPr>
            <p:nvPr/>
          </p:nvCxnSpPr>
          <p:spPr bwMode="auto">
            <a:xfrm>
              <a:off x="8475137" y="2764160"/>
              <a:ext cx="337792" cy="128940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11" name="Text Box 470">
              <a:extLst>
                <a:ext uri="{FF2B5EF4-FFF2-40B4-BE49-F238E27FC236}">
                  <a16:creationId xmlns:a16="http://schemas.microsoft.com/office/drawing/2014/main" id="{8AAE10E3-10C2-42F7-B105-56A45D2F3618}"/>
                </a:ext>
              </a:extLst>
            </p:cNvPr>
            <p:cNvSpPr txBox="1">
              <a:spLocks noChangeArrowheads="1"/>
            </p:cNvSpPr>
            <p:nvPr/>
          </p:nvSpPr>
          <p:spPr bwMode="auto">
            <a:xfrm>
              <a:off x="8157466" y="2408539"/>
              <a:ext cx="183919" cy="2634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2" name="Text Box 471">
              <a:extLst>
                <a:ext uri="{FF2B5EF4-FFF2-40B4-BE49-F238E27FC236}">
                  <a16:creationId xmlns:a16="http://schemas.microsoft.com/office/drawing/2014/main" id="{FA499D84-CA49-431F-AB4F-B1EBE7930E96}"/>
                </a:ext>
              </a:extLst>
            </p:cNvPr>
            <p:cNvSpPr txBox="1">
              <a:spLocks noChangeArrowheads="1"/>
            </p:cNvSpPr>
            <p:nvPr/>
          </p:nvSpPr>
          <p:spPr bwMode="auto">
            <a:xfrm>
              <a:off x="9329340" y="2864440"/>
              <a:ext cx="183919" cy="252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3" name="Text Box 472">
              <a:extLst>
                <a:ext uri="{FF2B5EF4-FFF2-40B4-BE49-F238E27FC236}">
                  <a16:creationId xmlns:a16="http://schemas.microsoft.com/office/drawing/2014/main" id="{57E5A4F6-AA27-46BA-83D1-6B68341AE39C}"/>
                </a:ext>
              </a:extLst>
            </p:cNvPr>
            <p:cNvSpPr txBox="1">
              <a:spLocks noChangeArrowheads="1"/>
            </p:cNvSpPr>
            <p:nvPr/>
          </p:nvSpPr>
          <p:spPr bwMode="auto">
            <a:xfrm>
              <a:off x="9329340" y="1871642"/>
              <a:ext cx="183919" cy="2846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4" name="Text Box 473">
              <a:extLst>
                <a:ext uri="{FF2B5EF4-FFF2-40B4-BE49-F238E27FC236}">
                  <a16:creationId xmlns:a16="http://schemas.microsoft.com/office/drawing/2014/main" id="{949332AD-63AC-47CD-8699-923234012647}"/>
                </a:ext>
              </a:extLst>
            </p:cNvPr>
            <p:cNvSpPr txBox="1">
              <a:spLocks noChangeArrowheads="1"/>
            </p:cNvSpPr>
            <p:nvPr/>
          </p:nvSpPr>
          <p:spPr bwMode="auto">
            <a:xfrm>
              <a:off x="8779716" y="936214"/>
              <a:ext cx="183919" cy="25687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5" name="Oval 474">
              <a:extLst>
                <a:ext uri="{FF2B5EF4-FFF2-40B4-BE49-F238E27FC236}">
                  <a16:creationId xmlns:a16="http://schemas.microsoft.com/office/drawing/2014/main" id="{BF61C2BE-F526-484B-ABF9-381AC6A0B6C7}"/>
                </a:ext>
              </a:extLst>
            </p:cNvPr>
            <p:cNvSpPr>
              <a:spLocks noChangeArrowheads="1"/>
            </p:cNvSpPr>
            <p:nvPr/>
          </p:nvSpPr>
          <p:spPr bwMode="auto">
            <a:xfrm>
              <a:off x="9166579" y="2156289"/>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cxnSp>
          <p:nvCxnSpPr>
            <p:cNvPr id="316" name="Line 476">
              <a:extLst>
                <a:ext uri="{FF2B5EF4-FFF2-40B4-BE49-F238E27FC236}">
                  <a16:creationId xmlns:a16="http://schemas.microsoft.com/office/drawing/2014/main" id="{5A7476EA-52A6-40AC-AE02-C6E7E7E7DCD4}"/>
                </a:ext>
              </a:extLst>
            </p:cNvPr>
            <p:cNvCxnSpPr>
              <a:cxnSpLocks noChangeShapeType="1"/>
              <a:stCxn id="331" idx="4"/>
              <a:endCxn id="320" idx="0"/>
            </p:cNvCxnSpPr>
            <p:nvPr/>
          </p:nvCxnSpPr>
          <p:spPr bwMode="auto">
            <a:xfrm>
              <a:off x="6709189" y="2764160"/>
              <a:ext cx="6937" cy="126945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17" name="Text Box 477">
              <a:extLst>
                <a:ext uri="{FF2B5EF4-FFF2-40B4-BE49-F238E27FC236}">
                  <a16:creationId xmlns:a16="http://schemas.microsoft.com/office/drawing/2014/main" id="{C8CC6977-254F-4664-915C-4F2D15C43E3F}"/>
                </a:ext>
              </a:extLst>
            </p:cNvPr>
            <p:cNvSpPr txBox="1">
              <a:spLocks noChangeArrowheads="1"/>
            </p:cNvSpPr>
            <p:nvPr/>
          </p:nvSpPr>
          <p:spPr bwMode="auto">
            <a:xfrm>
              <a:off x="6624166" y="4247956"/>
              <a:ext cx="157977" cy="34414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8" name="Text Box 478">
              <a:extLst>
                <a:ext uri="{FF2B5EF4-FFF2-40B4-BE49-F238E27FC236}">
                  <a16:creationId xmlns:a16="http://schemas.microsoft.com/office/drawing/2014/main" id="{65F510F9-42F5-4846-88AF-1D4E68A20E08}"/>
                </a:ext>
              </a:extLst>
            </p:cNvPr>
            <p:cNvSpPr txBox="1">
              <a:spLocks noChangeArrowheads="1"/>
            </p:cNvSpPr>
            <p:nvPr/>
          </p:nvSpPr>
          <p:spPr bwMode="auto">
            <a:xfrm>
              <a:off x="6463133" y="4810695"/>
              <a:ext cx="460612" cy="654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9" name="Oval 479">
              <a:extLst>
                <a:ext uri="{FF2B5EF4-FFF2-40B4-BE49-F238E27FC236}">
                  <a16:creationId xmlns:a16="http://schemas.microsoft.com/office/drawing/2014/main" id="{0BB378B8-E2AF-42D7-8D65-46CFB11FF570}"/>
                </a:ext>
              </a:extLst>
            </p:cNvPr>
            <p:cNvSpPr>
              <a:spLocks noChangeArrowheads="1"/>
            </p:cNvSpPr>
            <p:nvPr/>
          </p:nvSpPr>
          <p:spPr bwMode="auto">
            <a:xfrm>
              <a:off x="6655189" y="127688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20" name="Oval 480">
              <a:extLst>
                <a:ext uri="{FF2B5EF4-FFF2-40B4-BE49-F238E27FC236}">
                  <a16:creationId xmlns:a16="http://schemas.microsoft.com/office/drawing/2014/main" id="{52A767E3-AFC1-42D4-88C8-6201802B747E}"/>
                </a:ext>
              </a:extLst>
            </p:cNvPr>
            <p:cNvSpPr>
              <a:spLocks noChangeArrowheads="1"/>
            </p:cNvSpPr>
            <p:nvPr/>
          </p:nvSpPr>
          <p:spPr bwMode="auto">
            <a:xfrm>
              <a:off x="6662126" y="403361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21" name="Oval 481">
              <a:extLst>
                <a:ext uri="{FF2B5EF4-FFF2-40B4-BE49-F238E27FC236}">
                  <a16:creationId xmlns:a16="http://schemas.microsoft.com/office/drawing/2014/main" id="{F9C872C2-5EFA-404C-AF39-369E3ADCD219}"/>
                </a:ext>
              </a:extLst>
            </p:cNvPr>
            <p:cNvSpPr>
              <a:spLocks noChangeArrowheads="1"/>
            </p:cNvSpPr>
            <p:nvPr/>
          </p:nvSpPr>
          <p:spPr bwMode="auto">
            <a:xfrm>
              <a:off x="6279213" y="2656160"/>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cxnSp>
          <p:nvCxnSpPr>
            <p:cNvPr id="322" name="Line 482">
              <a:extLst>
                <a:ext uri="{FF2B5EF4-FFF2-40B4-BE49-F238E27FC236}">
                  <a16:creationId xmlns:a16="http://schemas.microsoft.com/office/drawing/2014/main" id="{4D9927ED-FF74-4703-B591-A100575D561D}"/>
                </a:ext>
              </a:extLst>
            </p:cNvPr>
            <p:cNvCxnSpPr>
              <a:cxnSpLocks noChangeShapeType="1"/>
              <a:stCxn id="332" idx="4"/>
              <a:endCxn id="320" idx="7"/>
            </p:cNvCxnSpPr>
            <p:nvPr/>
          </p:nvCxnSpPr>
          <p:spPr bwMode="auto">
            <a:xfrm flipH="1">
              <a:off x="6754310" y="2764160"/>
              <a:ext cx="324345" cy="128526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3" name="Line 483">
              <a:extLst>
                <a:ext uri="{FF2B5EF4-FFF2-40B4-BE49-F238E27FC236}">
                  <a16:creationId xmlns:a16="http://schemas.microsoft.com/office/drawing/2014/main" id="{642467E4-152F-4C1D-820E-FA815AAEF2AD}"/>
                </a:ext>
              </a:extLst>
            </p:cNvPr>
            <p:cNvCxnSpPr>
              <a:cxnSpLocks noChangeShapeType="1"/>
              <a:stCxn id="319" idx="3"/>
              <a:endCxn id="321" idx="0"/>
            </p:cNvCxnSpPr>
            <p:nvPr/>
          </p:nvCxnSpPr>
          <p:spPr bwMode="auto">
            <a:xfrm flipH="1">
              <a:off x="6333213" y="1369071"/>
              <a:ext cx="337792" cy="128708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4" name="Line 484">
              <a:extLst>
                <a:ext uri="{FF2B5EF4-FFF2-40B4-BE49-F238E27FC236}">
                  <a16:creationId xmlns:a16="http://schemas.microsoft.com/office/drawing/2014/main" id="{5B73D8D2-DAB9-47B8-9D63-7CFEBC568031}"/>
                </a:ext>
              </a:extLst>
            </p:cNvPr>
            <p:cNvCxnSpPr>
              <a:cxnSpLocks noChangeShapeType="1"/>
              <a:stCxn id="319" idx="5"/>
              <a:endCxn id="332" idx="0"/>
            </p:cNvCxnSpPr>
            <p:nvPr/>
          </p:nvCxnSpPr>
          <p:spPr bwMode="auto">
            <a:xfrm>
              <a:off x="6747373" y="1369071"/>
              <a:ext cx="331282" cy="128708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5" name="Line 485">
              <a:extLst>
                <a:ext uri="{FF2B5EF4-FFF2-40B4-BE49-F238E27FC236}">
                  <a16:creationId xmlns:a16="http://schemas.microsoft.com/office/drawing/2014/main" id="{F8976902-9A0C-4FEE-8FFC-CB7863B0BB2F}"/>
                </a:ext>
              </a:extLst>
            </p:cNvPr>
            <p:cNvCxnSpPr>
              <a:cxnSpLocks noChangeShapeType="1"/>
              <a:stCxn id="321" idx="4"/>
              <a:endCxn id="320" idx="1"/>
            </p:cNvCxnSpPr>
            <p:nvPr/>
          </p:nvCxnSpPr>
          <p:spPr bwMode="auto">
            <a:xfrm>
              <a:off x="6333213" y="2764160"/>
              <a:ext cx="344729" cy="128526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26" name="Text Box 486">
              <a:extLst>
                <a:ext uri="{FF2B5EF4-FFF2-40B4-BE49-F238E27FC236}">
                  <a16:creationId xmlns:a16="http://schemas.microsoft.com/office/drawing/2014/main" id="{C3371821-D627-432E-82D9-660E363DC963}"/>
                </a:ext>
              </a:extLst>
            </p:cNvPr>
            <p:cNvSpPr txBox="1">
              <a:spLocks noChangeArrowheads="1"/>
            </p:cNvSpPr>
            <p:nvPr/>
          </p:nvSpPr>
          <p:spPr bwMode="auto">
            <a:xfrm>
              <a:off x="6015542" y="2408539"/>
              <a:ext cx="183919" cy="6549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27" name="Text Box 487">
              <a:extLst>
                <a:ext uri="{FF2B5EF4-FFF2-40B4-BE49-F238E27FC236}">
                  <a16:creationId xmlns:a16="http://schemas.microsoft.com/office/drawing/2014/main" id="{1AFDA69B-70CF-4C39-87C5-9285E497D72F}"/>
                </a:ext>
              </a:extLst>
            </p:cNvPr>
            <p:cNvSpPr txBox="1">
              <a:spLocks noChangeArrowheads="1"/>
            </p:cNvSpPr>
            <p:nvPr/>
          </p:nvSpPr>
          <p:spPr bwMode="auto">
            <a:xfrm>
              <a:off x="6782143" y="2408539"/>
              <a:ext cx="183919" cy="65492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28" name="Text Box 488">
              <a:extLst>
                <a:ext uri="{FF2B5EF4-FFF2-40B4-BE49-F238E27FC236}">
                  <a16:creationId xmlns:a16="http://schemas.microsoft.com/office/drawing/2014/main" id="{EE23B1F6-A84A-4D5F-A1CC-A1FFDAFAF7EC}"/>
                </a:ext>
              </a:extLst>
            </p:cNvPr>
            <p:cNvSpPr txBox="1">
              <a:spLocks noChangeArrowheads="1"/>
            </p:cNvSpPr>
            <p:nvPr/>
          </p:nvSpPr>
          <p:spPr bwMode="auto">
            <a:xfrm>
              <a:off x="7128823" y="2606047"/>
              <a:ext cx="183919" cy="2082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29" name="Text Box 489">
              <a:extLst>
                <a:ext uri="{FF2B5EF4-FFF2-40B4-BE49-F238E27FC236}">
                  <a16:creationId xmlns:a16="http://schemas.microsoft.com/office/drawing/2014/main" id="{E0C98AEF-120E-4113-A36E-A5E03BF9C19B}"/>
                </a:ext>
              </a:extLst>
            </p:cNvPr>
            <p:cNvSpPr txBox="1">
              <a:spLocks noChangeArrowheads="1"/>
            </p:cNvSpPr>
            <p:nvPr/>
          </p:nvSpPr>
          <p:spPr bwMode="auto">
            <a:xfrm>
              <a:off x="6787778" y="955025"/>
              <a:ext cx="183919" cy="4373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330" name="Line 490">
              <a:extLst>
                <a:ext uri="{FF2B5EF4-FFF2-40B4-BE49-F238E27FC236}">
                  <a16:creationId xmlns:a16="http://schemas.microsoft.com/office/drawing/2014/main" id="{B1E1E44E-D5C6-4467-A210-2F8DB1802673}"/>
                </a:ext>
              </a:extLst>
            </p:cNvPr>
            <p:cNvCxnSpPr>
              <a:cxnSpLocks noChangeShapeType="1"/>
              <a:stCxn id="319" idx="4"/>
              <a:endCxn id="331" idx="0"/>
            </p:cNvCxnSpPr>
            <p:nvPr/>
          </p:nvCxnSpPr>
          <p:spPr bwMode="auto">
            <a:xfrm>
              <a:off x="6709189" y="1384887"/>
              <a:ext cx="0" cy="127127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31" name="Oval 491">
              <a:extLst>
                <a:ext uri="{FF2B5EF4-FFF2-40B4-BE49-F238E27FC236}">
                  <a16:creationId xmlns:a16="http://schemas.microsoft.com/office/drawing/2014/main" id="{C18194BE-1852-4FFC-B4EF-A0DA35455D8B}"/>
                </a:ext>
              </a:extLst>
            </p:cNvPr>
            <p:cNvSpPr>
              <a:spLocks noChangeArrowheads="1"/>
            </p:cNvSpPr>
            <p:nvPr/>
          </p:nvSpPr>
          <p:spPr bwMode="auto">
            <a:xfrm>
              <a:off x="6655189" y="2656160"/>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32" name="Oval 492">
              <a:extLst>
                <a:ext uri="{FF2B5EF4-FFF2-40B4-BE49-F238E27FC236}">
                  <a16:creationId xmlns:a16="http://schemas.microsoft.com/office/drawing/2014/main" id="{EDE847E3-A071-41A3-900C-10F602958CF2}"/>
                </a:ext>
              </a:extLst>
            </p:cNvPr>
            <p:cNvSpPr>
              <a:spLocks noChangeArrowheads="1"/>
            </p:cNvSpPr>
            <p:nvPr/>
          </p:nvSpPr>
          <p:spPr bwMode="auto">
            <a:xfrm>
              <a:off x="7024655" y="2656160"/>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33" name="Text Box 524">
              <a:extLst>
                <a:ext uri="{FF2B5EF4-FFF2-40B4-BE49-F238E27FC236}">
                  <a16:creationId xmlns:a16="http://schemas.microsoft.com/office/drawing/2014/main" id="{8E3F9BF8-4E56-433F-8202-130FA8EA67F7}"/>
                </a:ext>
              </a:extLst>
            </p:cNvPr>
            <p:cNvSpPr txBox="1">
              <a:spLocks noChangeArrowheads="1"/>
            </p:cNvSpPr>
            <p:nvPr/>
          </p:nvSpPr>
          <p:spPr bwMode="auto">
            <a:xfrm>
              <a:off x="10299392" y="2864440"/>
              <a:ext cx="183919" cy="252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334" name="Line 525">
              <a:extLst>
                <a:ext uri="{FF2B5EF4-FFF2-40B4-BE49-F238E27FC236}">
                  <a16:creationId xmlns:a16="http://schemas.microsoft.com/office/drawing/2014/main" id="{2C776808-CDFF-4FE9-9A40-8A88AEE3A191}"/>
                </a:ext>
              </a:extLst>
            </p:cNvPr>
            <p:cNvCxnSpPr>
              <a:cxnSpLocks noChangeShapeType="1"/>
              <a:stCxn id="349" idx="4"/>
              <a:endCxn id="348" idx="0"/>
            </p:cNvCxnSpPr>
            <p:nvPr/>
          </p:nvCxnSpPr>
          <p:spPr bwMode="auto">
            <a:xfrm>
              <a:off x="11301469" y="2252718"/>
              <a:ext cx="0" cy="9195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35" name="Text Box 526">
              <a:extLst>
                <a:ext uri="{FF2B5EF4-FFF2-40B4-BE49-F238E27FC236}">
                  <a16:creationId xmlns:a16="http://schemas.microsoft.com/office/drawing/2014/main" id="{CD30B802-8FCC-405A-A8BE-CCB70BA94BF6}"/>
                </a:ext>
              </a:extLst>
            </p:cNvPr>
            <p:cNvSpPr txBox="1">
              <a:spLocks noChangeArrowheads="1"/>
            </p:cNvSpPr>
            <p:nvPr/>
          </p:nvSpPr>
          <p:spPr bwMode="auto">
            <a:xfrm>
              <a:off x="10813714" y="4199742"/>
              <a:ext cx="183919" cy="247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36" name="Text Box 527">
              <a:extLst>
                <a:ext uri="{FF2B5EF4-FFF2-40B4-BE49-F238E27FC236}">
                  <a16:creationId xmlns:a16="http://schemas.microsoft.com/office/drawing/2014/main" id="{4BD119F7-4D03-4CFE-B538-433EB3FEA206}"/>
                </a:ext>
              </a:extLst>
            </p:cNvPr>
            <p:cNvSpPr txBox="1">
              <a:spLocks noChangeArrowheads="1"/>
            </p:cNvSpPr>
            <p:nvPr/>
          </p:nvSpPr>
          <p:spPr bwMode="auto">
            <a:xfrm>
              <a:off x="10675368" y="4810695"/>
              <a:ext cx="460611" cy="6549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(f)</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37" name="Oval 528">
              <a:extLst>
                <a:ext uri="{FF2B5EF4-FFF2-40B4-BE49-F238E27FC236}">
                  <a16:creationId xmlns:a16="http://schemas.microsoft.com/office/drawing/2014/main" id="{B57F6771-1DA5-48CA-A87D-C593160DAC18}"/>
                </a:ext>
              </a:extLst>
            </p:cNvPr>
            <p:cNvSpPr>
              <a:spLocks noChangeArrowheads="1"/>
            </p:cNvSpPr>
            <p:nvPr/>
          </p:nvSpPr>
          <p:spPr bwMode="auto">
            <a:xfrm>
              <a:off x="10867424" y="1276887"/>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cxnSp>
          <p:nvCxnSpPr>
            <p:cNvPr id="338" name="Line 531">
              <a:extLst>
                <a:ext uri="{FF2B5EF4-FFF2-40B4-BE49-F238E27FC236}">
                  <a16:creationId xmlns:a16="http://schemas.microsoft.com/office/drawing/2014/main" id="{08312EF4-9962-466D-8CE1-D94968105A6A}"/>
                </a:ext>
              </a:extLst>
            </p:cNvPr>
            <p:cNvCxnSpPr>
              <a:cxnSpLocks noChangeShapeType="1"/>
              <a:stCxn id="348" idx="4"/>
            </p:cNvCxnSpPr>
            <p:nvPr/>
          </p:nvCxnSpPr>
          <p:spPr bwMode="auto">
            <a:xfrm flipH="1">
              <a:off x="10934159" y="3280230"/>
              <a:ext cx="367310" cy="7783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39" name="Line 532">
              <a:extLst>
                <a:ext uri="{FF2B5EF4-FFF2-40B4-BE49-F238E27FC236}">
                  <a16:creationId xmlns:a16="http://schemas.microsoft.com/office/drawing/2014/main" id="{561AE1D3-FA8B-45B3-954C-5725B5F46DD5}"/>
                </a:ext>
              </a:extLst>
            </p:cNvPr>
            <p:cNvCxnSpPr>
              <a:cxnSpLocks noChangeShapeType="1"/>
              <a:stCxn id="337" idx="3"/>
              <a:endCxn id="351" idx="0"/>
            </p:cNvCxnSpPr>
            <p:nvPr/>
          </p:nvCxnSpPr>
          <p:spPr bwMode="auto">
            <a:xfrm flipH="1">
              <a:off x="10556553" y="1369071"/>
              <a:ext cx="326687" cy="79724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40" name="Line 533">
              <a:extLst>
                <a:ext uri="{FF2B5EF4-FFF2-40B4-BE49-F238E27FC236}">
                  <a16:creationId xmlns:a16="http://schemas.microsoft.com/office/drawing/2014/main" id="{0671D03B-5960-4E95-9D31-63752F8CF446}"/>
                </a:ext>
              </a:extLst>
            </p:cNvPr>
            <p:cNvCxnSpPr>
              <a:cxnSpLocks noChangeShapeType="1"/>
              <a:stCxn id="337" idx="5"/>
              <a:endCxn id="349" idx="0"/>
            </p:cNvCxnSpPr>
            <p:nvPr/>
          </p:nvCxnSpPr>
          <p:spPr bwMode="auto">
            <a:xfrm>
              <a:off x="10959608" y="1369071"/>
              <a:ext cx="341861" cy="77564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41" name="Line 534">
              <a:extLst>
                <a:ext uri="{FF2B5EF4-FFF2-40B4-BE49-F238E27FC236}">
                  <a16:creationId xmlns:a16="http://schemas.microsoft.com/office/drawing/2014/main" id="{14C84240-89F6-4507-BEF4-BA1F0C151A9C}"/>
                </a:ext>
              </a:extLst>
            </p:cNvPr>
            <p:cNvCxnSpPr>
              <a:cxnSpLocks noChangeShapeType="1"/>
              <a:stCxn id="350" idx="4"/>
            </p:cNvCxnSpPr>
            <p:nvPr/>
          </p:nvCxnSpPr>
          <p:spPr bwMode="auto">
            <a:xfrm>
              <a:off x="10583696" y="3280230"/>
              <a:ext cx="300005" cy="7783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42" name="Text Box 535">
              <a:extLst>
                <a:ext uri="{FF2B5EF4-FFF2-40B4-BE49-F238E27FC236}">
                  <a16:creationId xmlns:a16="http://schemas.microsoft.com/office/drawing/2014/main" id="{9951C2AB-8B9E-437F-B25F-556411A9650E}"/>
                </a:ext>
              </a:extLst>
            </p:cNvPr>
            <p:cNvSpPr txBox="1">
              <a:spLocks noChangeArrowheads="1"/>
            </p:cNvSpPr>
            <p:nvPr/>
          </p:nvSpPr>
          <p:spPr bwMode="auto">
            <a:xfrm>
              <a:off x="11363844" y="2864440"/>
              <a:ext cx="183919" cy="360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43" name="Text Box 536">
              <a:extLst>
                <a:ext uri="{FF2B5EF4-FFF2-40B4-BE49-F238E27FC236}">
                  <a16:creationId xmlns:a16="http://schemas.microsoft.com/office/drawing/2014/main" id="{5BBF1932-89CC-4A7C-96C1-83734B84FCD6}"/>
                </a:ext>
              </a:extLst>
            </p:cNvPr>
            <p:cNvSpPr txBox="1">
              <a:spLocks noChangeArrowheads="1"/>
            </p:cNvSpPr>
            <p:nvPr/>
          </p:nvSpPr>
          <p:spPr bwMode="auto">
            <a:xfrm>
              <a:off x="11363844" y="1871642"/>
              <a:ext cx="183919" cy="360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44" name="Text Box 537">
              <a:extLst>
                <a:ext uri="{FF2B5EF4-FFF2-40B4-BE49-F238E27FC236}">
                  <a16:creationId xmlns:a16="http://schemas.microsoft.com/office/drawing/2014/main" id="{46EF4D36-6B3E-461E-8090-31A91FBB1BFF}"/>
                </a:ext>
              </a:extLst>
            </p:cNvPr>
            <p:cNvSpPr txBox="1">
              <a:spLocks noChangeArrowheads="1"/>
            </p:cNvSpPr>
            <p:nvPr/>
          </p:nvSpPr>
          <p:spPr bwMode="auto">
            <a:xfrm>
              <a:off x="10928259" y="867272"/>
              <a:ext cx="183919" cy="14348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f</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345" name="Line 539">
              <a:extLst>
                <a:ext uri="{FF2B5EF4-FFF2-40B4-BE49-F238E27FC236}">
                  <a16:creationId xmlns:a16="http://schemas.microsoft.com/office/drawing/2014/main" id="{192F2A7E-4ED2-4ABE-A778-46B461EBC118}"/>
                </a:ext>
              </a:extLst>
            </p:cNvPr>
            <p:cNvCxnSpPr>
              <a:cxnSpLocks noChangeShapeType="1"/>
              <a:stCxn id="351" idx="4"/>
              <a:endCxn id="350" idx="0"/>
            </p:cNvCxnSpPr>
            <p:nvPr/>
          </p:nvCxnSpPr>
          <p:spPr bwMode="auto">
            <a:xfrm>
              <a:off x="10556553" y="2274314"/>
              <a:ext cx="27143" cy="89791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46" name="Text Box 541">
              <a:extLst>
                <a:ext uri="{FF2B5EF4-FFF2-40B4-BE49-F238E27FC236}">
                  <a16:creationId xmlns:a16="http://schemas.microsoft.com/office/drawing/2014/main" id="{D17BDC31-EB5A-4982-A1F9-AC8987A7B9BC}"/>
                </a:ext>
              </a:extLst>
            </p:cNvPr>
            <p:cNvSpPr txBox="1">
              <a:spLocks noChangeArrowheads="1"/>
            </p:cNvSpPr>
            <p:nvPr/>
          </p:nvSpPr>
          <p:spPr bwMode="auto">
            <a:xfrm>
              <a:off x="10299393" y="1871641"/>
              <a:ext cx="126792" cy="40267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47" name="Oval 529">
              <a:extLst>
                <a:ext uri="{FF2B5EF4-FFF2-40B4-BE49-F238E27FC236}">
                  <a16:creationId xmlns:a16="http://schemas.microsoft.com/office/drawing/2014/main" id="{6BCD9156-E88C-4A92-AB65-AFDBD2D02929}"/>
                </a:ext>
              </a:extLst>
            </p:cNvPr>
            <p:cNvSpPr>
              <a:spLocks noChangeArrowheads="1"/>
            </p:cNvSpPr>
            <p:nvPr/>
          </p:nvSpPr>
          <p:spPr bwMode="auto">
            <a:xfrm>
              <a:off x="10878003" y="4046482"/>
              <a:ext cx="94797" cy="8769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48" name="Oval 530">
              <a:extLst>
                <a:ext uri="{FF2B5EF4-FFF2-40B4-BE49-F238E27FC236}">
                  <a16:creationId xmlns:a16="http://schemas.microsoft.com/office/drawing/2014/main" id="{388A5181-2B0B-4082-BEB4-0231BD579E85}"/>
                </a:ext>
              </a:extLst>
            </p:cNvPr>
            <p:cNvSpPr>
              <a:spLocks noChangeArrowheads="1"/>
            </p:cNvSpPr>
            <p:nvPr/>
          </p:nvSpPr>
          <p:spPr bwMode="auto">
            <a:xfrm>
              <a:off x="11247469" y="3172230"/>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49" name="Oval 538">
              <a:extLst>
                <a:ext uri="{FF2B5EF4-FFF2-40B4-BE49-F238E27FC236}">
                  <a16:creationId xmlns:a16="http://schemas.microsoft.com/office/drawing/2014/main" id="{849B0EA3-6A0D-4B5C-A639-316DE2511EEA}"/>
                </a:ext>
              </a:extLst>
            </p:cNvPr>
            <p:cNvSpPr>
              <a:spLocks noChangeArrowheads="1"/>
            </p:cNvSpPr>
            <p:nvPr/>
          </p:nvSpPr>
          <p:spPr bwMode="auto">
            <a:xfrm>
              <a:off x="11247469" y="2144718"/>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50" name="Oval 540">
              <a:extLst>
                <a:ext uri="{FF2B5EF4-FFF2-40B4-BE49-F238E27FC236}">
                  <a16:creationId xmlns:a16="http://schemas.microsoft.com/office/drawing/2014/main" id="{2F506BC0-DCCE-4AE6-A99C-85748BDAC5FF}"/>
                </a:ext>
              </a:extLst>
            </p:cNvPr>
            <p:cNvSpPr>
              <a:spLocks noChangeArrowheads="1"/>
            </p:cNvSpPr>
            <p:nvPr/>
          </p:nvSpPr>
          <p:spPr bwMode="auto">
            <a:xfrm>
              <a:off x="10529696" y="3172230"/>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51" name="Oval 542">
              <a:extLst>
                <a:ext uri="{FF2B5EF4-FFF2-40B4-BE49-F238E27FC236}">
                  <a16:creationId xmlns:a16="http://schemas.microsoft.com/office/drawing/2014/main" id="{8CFA1707-2BBB-44B4-BB8E-046BE2B7F038}"/>
                </a:ext>
              </a:extLst>
            </p:cNvPr>
            <p:cNvSpPr>
              <a:spLocks noChangeArrowheads="1"/>
            </p:cNvSpPr>
            <p:nvPr/>
          </p:nvSpPr>
          <p:spPr bwMode="auto">
            <a:xfrm>
              <a:off x="10502553" y="2166314"/>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i="1">
                <a:solidFill>
                  <a:srgbClr val="FF0000"/>
                </a:solidFill>
              </a:endParaRPr>
            </a:p>
          </p:txBody>
        </p:sp>
        <p:sp>
          <p:nvSpPr>
            <p:cNvPr id="352" name="Text Box 436">
              <a:extLst>
                <a:ext uri="{FF2B5EF4-FFF2-40B4-BE49-F238E27FC236}">
                  <a16:creationId xmlns:a16="http://schemas.microsoft.com/office/drawing/2014/main" id="{A7C19ECD-879D-422F-9239-0EEF00AC8429}"/>
                </a:ext>
              </a:extLst>
            </p:cNvPr>
            <p:cNvSpPr txBox="1">
              <a:spLocks noChangeArrowheads="1"/>
            </p:cNvSpPr>
            <p:nvPr/>
          </p:nvSpPr>
          <p:spPr bwMode="auto">
            <a:xfrm>
              <a:off x="8756313" y="4202871"/>
              <a:ext cx="183919" cy="19840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grpSp>
    </p:spTree>
    <p:extLst>
      <p:ext uri="{BB962C8B-B14F-4D97-AF65-F5344CB8AC3E}">
        <p14:creationId xmlns:p14="http://schemas.microsoft.com/office/powerpoint/2010/main" val="3972475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B3A40-955D-4652-9858-16405F36887E}"/>
              </a:ext>
            </a:extLst>
          </p:cNvPr>
          <p:cNvSpPr>
            <a:spLocks noGrp="1"/>
          </p:cNvSpPr>
          <p:nvPr>
            <p:ph type="title"/>
          </p:nvPr>
        </p:nvSpPr>
        <p:spPr/>
        <p:txBody>
          <a:bodyPr/>
          <a:lstStyle/>
          <a:p>
            <a:r>
              <a:rPr lang="zh-CN" altLang="en-US" dirty="0"/>
              <a:t>格的判定</a:t>
            </a:r>
          </a:p>
        </p:txBody>
      </p:sp>
      <mc:AlternateContent xmlns:mc="http://schemas.openxmlformats.org/markup-compatibility/2006" xmlns:a14="http://schemas.microsoft.com/office/drawing/2010/main">
        <mc:Choice Requires="a14">
          <p:sp>
            <p:nvSpPr>
              <p:cNvPr id="7" name="内容占位符 6">
                <a:extLst>
                  <a:ext uri="{FF2B5EF4-FFF2-40B4-BE49-F238E27FC236}">
                    <a16:creationId xmlns:a16="http://schemas.microsoft.com/office/drawing/2014/main" id="{26381D7D-7CA3-45F0-9BEE-CC0D98363B58}"/>
                  </a:ext>
                </a:extLst>
              </p:cNvPr>
              <p:cNvSpPr>
                <a:spLocks noGrp="1"/>
              </p:cNvSpPr>
              <p:nvPr>
                <p:ph idx="1"/>
              </p:nvPr>
            </p:nvSpPr>
            <p:spPr>
              <a:xfrm>
                <a:off x="740196" y="5823360"/>
                <a:ext cx="9397579" cy="541935"/>
              </a:xfrm>
            </p:spPr>
            <p:txBody>
              <a:bodyPr>
                <a:noAutofit/>
              </a:bodyPr>
              <a:lstStyle/>
              <a:p>
                <a:pPr marL="0" indent="0">
                  <a:buNone/>
                </a:pPr>
                <a:r>
                  <a:rPr lang="zh-CN" altLang="zh-CN" dirty="0">
                    <a:solidFill>
                      <a:srgbClr val="FF0000"/>
                    </a:solidFill>
                    <a:effectLst/>
                    <a:latin typeface="+mn-ea"/>
                    <a:cs typeface="Times New Roman" panose="02020603050405020304" pitchFamily="18" charset="0"/>
                  </a:rPr>
                  <a:t>解</a:t>
                </a:r>
                <a:r>
                  <a:rPr lang="en-US" altLang="zh-CN" dirty="0">
                    <a:solidFill>
                      <a:srgbClr val="FF0000"/>
                    </a:solidFill>
                    <a:effectLst/>
                    <a:latin typeface="+mn-ea"/>
                    <a:cs typeface="Times New Roman" panose="02020603050405020304" pitchFamily="18" charset="0"/>
                  </a:rPr>
                  <a:t> </a:t>
                </a:r>
                <a:r>
                  <a:rPr lang="zh-CN" altLang="zh-CN" dirty="0">
                    <a:effectLst/>
                    <a:latin typeface="+mn-ea"/>
                  </a:rPr>
                  <a:t> </a:t>
                </a:r>
                <a:r>
                  <a:rPr lang="zh-CN" altLang="zh-CN" dirty="0">
                    <a:effectLst/>
                    <a:latin typeface="+mn-ea"/>
                    <a:cs typeface="Times New Roman" panose="02020603050405020304" pitchFamily="18" charset="0"/>
                  </a:rPr>
                  <a:t>图</a:t>
                </a:r>
                <a:r>
                  <a:rPr lang="zh-CN" altLang="en-US" dirty="0">
                    <a:effectLst/>
                    <a:latin typeface="+mn-ea"/>
                  </a:rPr>
                  <a:t>中</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𝒂</m:t>
                    </m:r>
                    <m:r>
                      <a:rPr lang="en-US" altLang="zh-CN" b="1" i="1" dirty="0" smtClean="0">
                        <a:effectLst/>
                        <a:latin typeface="Cambria Math" panose="02040503050406030204" pitchFamily="18" charset="0"/>
                      </a:rPr>
                      <m:t>)</m:t>
                    </m:r>
                  </m:oMath>
                </a14:m>
                <a:r>
                  <a:rPr lang="zh-CN" altLang="zh-CN" dirty="0">
                    <a:effectLst/>
                    <a:latin typeface="+mn-ea"/>
                    <a:cs typeface="Times New Roman" panose="02020603050405020304" pitchFamily="18" charset="0"/>
                  </a:rPr>
                  <a:t>至</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𝒈</m:t>
                    </m:r>
                    <m:r>
                      <a:rPr lang="en-US" altLang="zh-CN" b="1" i="1" dirty="0" smtClean="0">
                        <a:effectLst/>
                        <a:latin typeface="Cambria Math" panose="02040503050406030204" pitchFamily="18" charset="0"/>
                      </a:rPr>
                      <m:t>)</m:t>
                    </m:r>
                  </m:oMath>
                </a14:m>
                <a:r>
                  <a:rPr lang="zh-CN" altLang="zh-CN" kern="1100" dirty="0">
                    <a:solidFill>
                      <a:srgbClr val="000000"/>
                    </a:solidFill>
                    <a:effectLst/>
                    <a:latin typeface="+mn-ea"/>
                    <a:cs typeface="Times New Roman" panose="02020603050405020304" pitchFamily="18" charset="0"/>
                  </a:rPr>
                  <a:t> </a:t>
                </a:r>
                <a:r>
                  <a:rPr lang="zh-CN" altLang="zh-CN" dirty="0">
                    <a:effectLst/>
                    <a:latin typeface="+mn-ea"/>
                    <a:cs typeface="Times New Roman" panose="02020603050405020304" pitchFamily="18" charset="0"/>
                  </a:rPr>
                  <a:t>都是格。而</a:t>
                </a:r>
                <a14:m>
                  <m:oMath xmlns:m="http://schemas.openxmlformats.org/officeDocument/2006/math">
                    <m:r>
                      <a:rPr lang="en-US" altLang="zh-CN" b="1" i="1" dirty="0" smtClean="0">
                        <a:effectLst/>
                        <a:latin typeface="Cambria Math" panose="02040503050406030204" pitchFamily="18" charset="0"/>
                      </a:rPr>
                      <m:t>(</m:t>
                    </m:r>
                    <m:r>
                      <a:rPr lang="en-US" altLang="zh-CN" b="1" i="1" dirty="0">
                        <a:effectLst/>
                        <a:latin typeface="Cambria Math" panose="02040503050406030204" pitchFamily="18" charset="0"/>
                      </a:rPr>
                      <m:t>𝒉</m:t>
                    </m:r>
                    <m:r>
                      <a:rPr lang="en-US" altLang="zh-CN" b="1" i="1" dirty="0">
                        <a:effectLst/>
                        <a:latin typeface="Cambria Math" panose="02040503050406030204" pitchFamily="18" charset="0"/>
                      </a:rPr>
                      <m:t>)</m:t>
                    </m:r>
                  </m:oMath>
                </a14:m>
                <a:r>
                  <a:rPr lang="zh-CN" altLang="zh-CN" dirty="0">
                    <a:effectLst/>
                    <a:latin typeface="+mn-ea"/>
                    <a:cs typeface="Times New Roman" panose="02020603050405020304" pitchFamily="18" charset="0"/>
                  </a:rPr>
                  <a:t>至</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𝒍</m:t>
                    </m:r>
                    <m:r>
                      <a:rPr lang="en-US" altLang="zh-CN" b="1" i="1" dirty="0" smtClean="0">
                        <a:effectLst/>
                        <a:latin typeface="Cambria Math" panose="02040503050406030204" pitchFamily="18" charset="0"/>
                      </a:rPr>
                      <m:t>)</m:t>
                    </m:r>
                  </m:oMath>
                </a14:m>
                <a:r>
                  <a:rPr lang="zh-CN" altLang="zh-CN" kern="1100" dirty="0">
                    <a:solidFill>
                      <a:srgbClr val="000000"/>
                    </a:solidFill>
                    <a:effectLst/>
                    <a:latin typeface="+mn-ea"/>
                    <a:cs typeface="Times New Roman" panose="02020603050405020304" pitchFamily="18" charset="0"/>
                  </a:rPr>
                  <a:t>中的</a:t>
                </a:r>
                <a:r>
                  <a:rPr lang="zh-CN" altLang="zh-CN" dirty="0">
                    <a:effectLst/>
                    <a:latin typeface="+mn-ea"/>
                    <a:cs typeface="Times New Roman" panose="02020603050405020304" pitchFamily="18" charset="0"/>
                  </a:rPr>
                  <a:t>偏序集都不是格。</a:t>
                </a:r>
                <a:endParaRPr lang="zh-CN" altLang="en-US" dirty="0">
                  <a:latin typeface="+mn-ea"/>
                </a:endParaRPr>
              </a:p>
            </p:txBody>
          </p:sp>
        </mc:Choice>
        <mc:Fallback xmlns="">
          <p:sp>
            <p:nvSpPr>
              <p:cNvPr id="7" name="内容占位符 6">
                <a:extLst>
                  <a:ext uri="{FF2B5EF4-FFF2-40B4-BE49-F238E27FC236}">
                    <a16:creationId xmlns:a16="http://schemas.microsoft.com/office/drawing/2014/main" id="{26381D7D-7CA3-45F0-9BEE-CC0D98363B58}"/>
                  </a:ext>
                </a:extLst>
              </p:cNvPr>
              <p:cNvSpPr>
                <a:spLocks noGrp="1" noRot="1" noChangeAspect="1" noMove="1" noResize="1" noEditPoints="1" noAdjustHandles="1" noChangeArrowheads="1" noChangeShapeType="1" noTextEdit="1"/>
              </p:cNvSpPr>
              <p:nvPr>
                <p:ph idx="1"/>
              </p:nvPr>
            </p:nvSpPr>
            <p:spPr>
              <a:xfrm>
                <a:off x="740196" y="5823360"/>
                <a:ext cx="9397579" cy="541935"/>
              </a:xfrm>
              <a:blipFill>
                <a:blip r:embed="rId5"/>
                <a:stretch>
                  <a:fillRect l="-649" b="-20225"/>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C32D510E-543A-4874-A29C-05AB210078F2}"/>
              </a:ext>
            </a:extLst>
          </p:cNvPr>
          <p:cNvGrpSpPr/>
          <p:nvPr/>
        </p:nvGrpSpPr>
        <p:grpSpPr>
          <a:xfrm>
            <a:off x="451860" y="929869"/>
            <a:ext cx="11343516" cy="4535749"/>
            <a:chOff x="451860" y="929869"/>
            <a:chExt cx="11343516" cy="4535749"/>
          </a:xfrm>
        </p:grpSpPr>
        <p:sp>
          <p:nvSpPr>
            <p:cNvPr id="9" name="Text Box 494">
              <a:extLst>
                <a:ext uri="{FF2B5EF4-FFF2-40B4-BE49-F238E27FC236}">
                  <a16:creationId xmlns:a16="http://schemas.microsoft.com/office/drawing/2014/main" id="{6EB89A00-941C-47FD-B966-4E1FDC5160FD}"/>
                </a:ext>
              </a:extLst>
            </p:cNvPr>
            <p:cNvSpPr txBox="1">
              <a:spLocks noChangeArrowheads="1"/>
            </p:cNvSpPr>
            <p:nvPr/>
          </p:nvSpPr>
          <p:spPr bwMode="auto">
            <a:xfrm>
              <a:off x="1188672" y="4103753"/>
              <a:ext cx="268681" cy="35693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10" name="Line 495">
              <a:extLst>
                <a:ext uri="{FF2B5EF4-FFF2-40B4-BE49-F238E27FC236}">
                  <a16:creationId xmlns:a16="http://schemas.microsoft.com/office/drawing/2014/main" id="{CA0121A1-81F7-477C-9F07-09FF884F368B}"/>
                </a:ext>
              </a:extLst>
            </p:cNvPr>
            <p:cNvCxnSpPr>
              <a:cxnSpLocks noChangeShapeType="1"/>
              <a:stCxn id="26" idx="5"/>
              <a:endCxn id="14" idx="1"/>
            </p:cNvCxnSpPr>
            <p:nvPr/>
          </p:nvCxnSpPr>
          <p:spPr bwMode="auto">
            <a:xfrm>
              <a:off x="778380" y="3270470"/>
              <a:ext cx="487711" cy="7732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1" name="Line 496">
              <a:extLst>
                <a:ext uri="{FF2B5EF4-FFF2-40B4-BE49-F238E27FC236}">
                  <a16:creationId xmlns:a16="http://schemas.microsoft.com/office/drawing/2014/main" id="{ECB8FDBE-D83E-415D-ABC9-B5CCE7F27827}"/>
                </a:ext>
              </a:extLst>
            </p:cNvPr>
            <p:cNvCxnSpPr>
              <a:cxnSpLocks noChangeShapeType="1"/>
              <a:stCxn id="15" idx="4"/>
              <a:endCxn id="14" idx="7"/>
            </p:cNvCxnSpPr>
            <p:nvPr/>
          </p:nvCxnSpPr>
          <p:spPr bwMode="auto">
            <a:xfrm flipH="1">
              <a:off x="1342459" y="3275476"/>
              <a:ext cx="669844" cy="76826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2" name="Text Box 497">
              <a:extLst>
                <a:ext uri="{FF2B5EF4-FFF2-40B4-BE49-F238E27FC236}">
                  <a16:creationId xmlns:a16="http://schemas.microsoft.com/office/drawing/2014/main" id="{9B09ACE7-C7B0-431F-B111-B119A1A7D9A0}"/>
                </a:ext>
              </a:extLst>
            </p:cNvPr>
            <p:cNvSpPr txBox="1">
              <a:spLocks noChangeArrowheads="1"/>
            </p:cNvSpPr>
            <p:nvPr/>
          </p:nvSpPr>
          <p:spPr bwMode="auto">
            <a:xfrm>
              <a:off x="1052763" y="4750016"/>
              <a:ext cx="473693" cy="611829"/>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(g)</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3" name="Oval 498">
              <a:extLst>
                <a:ext uri="{FF2B5EF4-FFF2-40B4-BE49-F238E27FC236}">
                  <a16:creationId xmlns:a16="http://schemas.microsoft.com/office/drawing/2014/main" id="{3E53C311-FCB6-474E-B0F1-9486FFB8B237}"/>
                </a:ext>
              </a:extLst>
            </p:cNvPr>
            <p:cNvSpPr>
              <a:spLocks noChangeArrowheads="1"/>
            </p:cNvSpPr>
            <p:nvPr/>
          </p:nvSpPr>
          <p:spPr bwMode="auto">
            <a:xfrm>
              <a:off x="1250275" y="1448735"/>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14" name="Oval 499">
              <a:extLst>
                <a:ext uri="{FF2B5EF4-FFF2-40B4-BE49-F238E27FC236}">
                  <a16:creationId xmlns:a16="http://schemas.microsoft.com/office/drawing/2014/main" id="{E59F4648-C0D4-4881-942F-A0DB48CFA0B8}"/>
                </a:ext>
              </a:extLst>
            </p:cNvPr>
            <p:cNvSpPr>
              <a:spLocks noChangeArrowheads="1"/>
            </p:cNvSpPr>
            <p:nvPr/>
          </p:nvSpPr>
          <p:spPr bwMode="auto">
            <a:xfrm>
              <a:off x="1250275" y="4027928"/>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15" name="Oval 500">
              <a:extLst>
                <a:ext uri="{FF2B5EF4-FFF2-40B4-BE49-F238E27FC236}">
                  <a16:creationId xmlns:a16="http://schemas.microsoft.com/office/drawing/2014/main" id="{F011631E-9D00-4EF0-A57B-CDF2501FE1AD}"/>
                </a:ext>
              </a:extLst>
            </p:cNvPr>
            <p:cNvSpPr>
              <a:spLocks noChangeArrowheads="1"/>
            </p:cNvSpPr>
            <p:nvPr/>
          </p:nvSpPr>
          <p:spPr bwMode="auto">
            <a:xfrm>
              <a:off x="1958303" y="3167476"/>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16" name="Oval 501">
              <a:extLst>
                <a:ext uri="{FF2B5EF4-FFF2-40B4-BE49-F238E27FC236}">
                  <a16:creationId xmlns:a16="http://schemas.microsoft.com/office/drawing/2014/main" id="{A0EA4EC4-3F2E-418A-AA7B-B9149DBC43B4}"/>
                </a:ext>
              </a:extLst>
            </p:cNvPr>
            <p:cNvSpPr>
              <a:spLocks noChangeArrowheads="1"/>
            </p:cNvSpPr>
            <p:nvPr/>
          </p:nvSpPr>
          <p:spPr bwMode="auto">
            <a:xfrm>
              <a:off x="1250275" y="3167476"/>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17" name="Line 502">
              <a:extLst>
                <a:ext uri="{FF2B5EF4-FFF2-40B4-BE49-F238E27FC236}">
                  <a16:creationId xmlns:a16="http://schemas.microsoft.com/office/drawing/2014/main" id="{C6284413-5121-4C2E-94E0-73D19781C2F0}"/>
                </a:ext>
              </a:extLst>
            </p:cNvPr>
            <p:cNvCxnSpPr>
              <a:cxnSpLocks noChangeShapeType="1"/>
              <a:stCxn id="19" idx="3"/>
              <a:endCxn id="26" idx="7"/>
            </p:cNvCxnSpPr>
            <p:nvPr/>
          </p:nvCxnSpPr>
          <p:spPr bwMode="auto">
            <a:xfrm flipH="1">
              <a:off x="778380" y="2399209"/>
              <a:ext cx="487711" cy="79489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 name="Line 503">
              <a:extLst>
                <a:ext uri="{FF2B5EF4-FFF2-40B4-BE49-F238E27FC236}">
                  <a16:creationId xmlns:a16="http://schemas.microsoft.com/office/drawing/2014/main" id="{EF2CA8A2-1373-4298-8FEF-EF535CE05CF7}"/>
                </a:ext>
              </a:extLst>
            </p:cNvPr>
            <p:cNvCxnSpPr>
              <a:cxnSpLocks noChangeShapeType="1"/>
              <a:stCxn id="19" idx="5"/>
              <a:endCxn id="15" idx="1"/>
            </p:cNvCxnSpPr>
            <p:nvPr/>
          </p:nvCxnSpPr>
          <p:spPr bwMode="auto">
            <a:xfrm>
              <a:off x="1342459" y="2399209"/>
              <a:ext cx="631660" cy="78408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9" name="Oval 504">
              <a:extLst>
                <a:ext uri="{FF2B5EF4-FFF2-40B4-BE49-F238E27FC236}">
                  <a16:creationId xmlns:a16="http://schemas.microsoft.com/office/drawing/2014/main" id="{6EA2C597-3B09-444B-BD44-C51FC04A223C}"/>
                </a:ext>
              </a:extLst>
            </p:cNvPr>
            <p:cNvSpPr>
              <a:spLocks noChangeArrowheads="1"/>
            </p:cNvSpPr>
            <p:nvPr/>
          </p:nvSpPr>
          <p:spPr bwMode="auto">
            <a:xfrm>
              <a:off x="1250275" y="2307025"/>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20" name="Text Box 505">
              <a:extLst>
                <a:ext uri="{FF2B5EF4-FFF2-40B4-BE49-F238E27FC236}">
                  <a16:creationId xmlns:a16="http://schemas.microsoft.com/office/drawing/2014/main" id="{CC5D9A7A-626E-4EF4-8EDB-26D3FC7419D9}"/>
                </a:ext>
              </a:extLst>
            </p:cNvPr>
            <p:cNvSpPr txBox="1">
              <a:spLocks noChangeArrowheads="1"/>
            </p:cNvSpPr>
            <p:nvPr/>
          </p:nvSpPr>
          <p:spPr bwMode="auto">
            <a:xfrm>
              <a:off x="451860" y="2921016"/>
              <a:ext cx="197512" cy="2399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1" name="Text Box 506">
              <a:extLst>
                <a:ext uri="{FF2B5EF4-FFF2-40B4-BE49-F238E27FC236}">
                  <a16:creationId xmlns:a16="http://schemas.microsoft.com/office/drawing/2014/main" id="{C135B4D6-4887-4799-9727-56FA7567A806}"/>
                </a:ext>
              </a:extLst>
            </p:cNvPr>
            <p:cNvSpPr txBox="1">
              <a:spLocks noChangeArrowheads="1"/>
            </p:cNvSpPr>
            <p:nvPr/>
          </p:nvSpPr>
          <p:spPr bwMode="auto">
            <a:xfrm>
              <a:off x="2135728" y="2921016"/>
              <a:ext cx="229303" cy="2399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2" name="Text Box 507">
              <a:extLst>
                <a:ext uri="{FF2B5EF4-FFF2-40B4-BE49-F238E27FC236}">
                  <a16:creationId xmlns:a16="http://schemas.microsoft.com/office/drawing/2014/main" id="{9DD0DF37-115E-4CF8-A512-A8BD9C4B5613}"/>
                </a:ext>
              </a:extLst>
            </p:cNvPr>
            <p:cNvSpPr txBox="1">
              <a:spLocks noChangeArrowheads="1"/>
            </p:cNvSpPr>
            <p:nvPr/>
          </p:nvSpPr>
          <p:spPr bwMode="auto">
            <a:xfrm>
              <a:off x="1398495" y="2116774"/>
              <a:ext cx="205880" cy="24213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f</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3" name="Text Box 508">
              <a:extLst>
                <a:ext uri="{FF2B5EF4-FFF2-40B4-BE49-F238E27FC236}">
                  <a16:creationId xmlns:a16="http://schemas.microsoft.com/office/drawing/2014/main" id="{E530A49C-7A25-45F7-96BF-008EF88B2367}"/>
                </a:ext>
              </a:extLst>
            </p:cNvPr>
            <p:cNvSpPr txBox="1">
              <a:spLocks noChangeArrowheads="1"/>
            </p:cNvSpPr>
            <p:nvPr/>
          </p:nvSpPr>
          <p:spPr bwMode="auto">
            <a:xfrm>
              <a:off x="1115024" y="1140679"/>
              <a:ext cx="147296" cy="3523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h</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24" name="Line 509">
              <a:extLst>
                <a:ext uri="{FF2B5EF4-FFF2-40B4-BE49-F238E27FC236}">
                  <a16:creationId xmlns:a16="http://schemas.microsoft.com/office/drawing/2014/main" id="{27B1CE9B-F479-4F97-8584-40D3E4E1E073}"/>
                </a:ext>
              </a:extLst>
            </p:cNvPr>
            <p:cNvCxnSpPr>
              <a:cxnSpLocks noChangeShapeType="1"/>
              <a:stCxn id="13" idx="4"/>
              <a:endCxn id="19" idx="0"/>
            </p:cNvCxnSpPr>
            <p:nvPr/>
          </p:nvCxnSpPr>
          <p:spPr bwMode="auto">
            <a:xfrm>
              <a:off x="1304275" y="1556735"/>
              <a:ext cx="0" cy="75029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5" name="Line 510">
              <a:extLst>
                <a:ext uri="{FF2B5EF4-FFF2-40B4-BE49-F238E27FC236}">
                  <a16:creationId xmlns:a16="http://schemas.microsoft.com/office/drawing/2014/main" id="{A398EF2D-4090-444C-A5C0-4D75C216AF64}"/>
                </a:ext>
              </a:extLst>
            </p:cNvPr>
            <p:cNvCxnSpPr>
              <a:cxnSpLocks noChangeShapeType="1"/>
              <a:stCxn id="16" idx="4"/>
              <a:endCxn id="14" idx="0"/>
            </p:cNvCxnSpPr>
            <p:nvPr/>
          </p:nvCxnSpPr>
          <p:spPr bwMode="auto">
            <a:xfrm>
              <a:off x="1304275" y="3275476"/>
              <a:ext cx="0" cy="75245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6" name="Oval 511">
              <a:extLst>
                <a:ext uri="{FF2B5EF4-FFF2-40B4-BE49-F238E27FC236}">
                  <a16:creationId xmlns:a16="http://schemas.microsoft.com/office/drawing/2014/main" id="{4C7C9784-E70B-49F7-8DC5-DD87AAAFB4E7}"/>
                </a:ext>
              </a:extLst>
            </p:cNvPr>
            <p:cNvSpPr>
              <a:spLocks noChangeArrowheads="1"/>
            </p:cNvSpPr>
            <p:nvPr/>
          </p:nvSpPr>
          <p:spPr bwMode="auto">
            <a:xfrm>
              <a:off x="686196" y="3178286"/>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27" name="Oval 512">
              <a:extLst>
                <a:ext uri="{FF2B5EF4-FFF2-40B4-BE49-F238E27FC236}">
                  <a16:creationId xmlns:a16="http://schemas.microsoft.com/office/drawing/2014/main" id="{D17C730B-C612-420A-B80D-2278CBC651CA}"/>
                </a:ext>
              </a:extLst>
            </p:cNvPr>
            <p:cNvSpPr>
              <a:spLocks noChangeArrowheads="1"/>
            </p:cNvSpPr>
            <p:nvPr/>
          </p:nvSpPr>
          <p:spPr bwMode="auto">
            <a:xfrm>
              <a:off x="686196" y="2317834"/>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28" name="Line 513">
              <a:extLst>
                <a:ext uri="{FF2B5EF4-FFF2-40B4-BE49-F238E27FC236}">
                  <a16:creationId xmlns:a16="http://schemas.microsoft.com/office/drawing/2014/main" id="{454ACD12-FC56-49BD-93BF-61A45220B588}"/>
                </a:ext>
              </a:extLst>
            </p:cNvPr>
            <p:cNvCxnSpPr>
              <a:cxnSpLocks noChangeShapeType="1"/>
              <a:stCxn id="27" idx="4"/>
              <a:endCxn id="26" idx="0"/>
            </p:cNvCxnSpPr>
            <p:nvPr/>
          </p:nvCxnSpPr>
          <p:spPr bwMode="auto">
            <a:xfrm>
              <a:off x="740196" y="2425834"/>
              <a:ext cx="0" cy="75245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9" name="Oval 514">
              <a:extLst>
                <a:ext uri="{FF2B5EF4-FFF2-40B4-BE49-F238E27FC236}">
                  <a16:creationId xmlns:a16="http://schemas.microsoft.com/office/drawing/2014/main" id="{067D0A75-D724-465F-9816-23B7B8376049}"/>
                </a:ext>
              </a:extLst>
            </p:cNvPr>
            <p:cNvSpPr>
              <a:spLocks noChangeArrowheads="1"/>
            </p:cNvSpPr>
            <p:nvPr/>
          </p:nvSpPr>
          <p:spPr bwMode="auto">
            <a:xfrm>
              <a:off x="1985084" y="2317834"/>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30" name="Line 515">
              <a:extLst>
                <a:ext uri="{FF2B5EF4-FFF2-40B4-BE49-F238E27FC236}">
                  <a16:creationId xmlns:a16="http://schemas.microsoft.com/office/drawing/2014/main" id="{63A4ACD1-434E-4867-A58F-708809C7CD70}"/>
                </a:ext>
              </a:extLst>
            </p:cNvPr>
            <p:cNvCxnSpPr>
              <a:cxnSpLocks noChangeShapeType="1"/>
              <a:stCxn id="29" idx="4"/>
              <a:endCxn id="15" idx="7"/>
            </p:cNvCxnSpPr>
            <p:nvPr/>
          </p:nvCxnSpPr>
          <p:spPr bwMode="auto">
            <a:xfrm>
              <a:off x="2039084" y="2425834"/>
              <a:ext cx="11403" cy="75745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 name="Line 516">
              <a:extLst>
                <a:ext uri="{FF2B5EF4-FFF2-40B4-BE49-F238E27FC236}">
                  <a16:creationId xmlns:a16="http://schemas.microsoft.com/office/drawing/2014/main" id="{67D2314C-3F5A-4E22-B94E-2C1DFB0C226B}"/>
                </a:ext>
              </a:extLst>
            </p:cNvPr>
            <p:cNvCxnSpPr>
              <a:cxnSpLocks noChangeShapeType="1"/>
              <a:stCxn id="27" idx="5"/>
              <a:endCxn id="16" idx="1"/>
            </p:cNvCxnSpPr>
            <p:nvPr/>
          </p:nvCxnSpPr>
          <p:spPr bwMode="auto">
            <a:xfrm>
              <a:off x="778380" y="2410018"/>
              <a:ext cx="487711" cy="7732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 name="Line 517">
              <a:extLst>
                <a:ext uri="{FF2B5EF4-FFF2-40B4-BE49-F238E27FC236}">
                  <a16:creationId xmlns:a16="http://schemas.microsoft.com/office/drawing/2014/main" id="{332651DF-12B0-46CF-868E-EEB08EF33007}"/>
                </a:ext>
              </a:extLst>
            </p:cNvPr>
            <p:cNvCxnSpPr>
              <a:cxnSpLocks noChangeShapeType="1"/>
              <a:stCxn id="29" idx="3"/>
              <a:endCxn id="16" idx="0"/>
            </p:cNvCxnSpPr>
            <p:nvPr/>
          </p:nvCxnSpPr>
          <p:spPr bwMode="auto">
            <a:xfrm flipH="1">
              <a:off x="1304275" y="2410018"/>
              <a:ext cx="696625" cy="75745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3" name="Line 518">
              <a:extLst>
                <a:ext uri="{FF2B5EF4-FFF2-40B4-BE49-F238E27FC236}">
                  <a16:creationId xmlns:a16="http://schemas.microsoft.com/office/drawing/2014/main" id="{DC3A8AB3-80D0-45D6-A1AB-BD94235E2D09}"/>
                </a:ext>
              </a:extLst>
            </p:cNvPr>
            <p:cNvCxnSpPr>
              <a:cxnSpLocks noChangeShapeType="1"/>
              <a:stCxn id="13" idx="5"/>
              <a:endCxn id="29" idx="1"/>
            </p:cNvCxnSpPr>
            <p:nvPr/>
          </p:nvCxnSpPr>
          <p:spPr bwMode="auto">
            <a:xfrm>
              <a:off x="1342459" y="1540919"/>
              <a:ext cx="658441" cy="79273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4" name="Line 519">
              <a:extLst>
                <a:ext uri="{FF2B5EF4-FFF2-40B4-BE49-F238E27FC236}">
                  <a16:creationId xmlns:a16="http://schemas.microsoft.com/office/drawing/2014/main" id="{CAE195E8-B9DB-4750-8368-AE53D0525D01}"/>
                </a:ext>
              </a:extLst>
            </p:cNvPr>
            <p:cNvCxnSpPr>
              <a:cxnSpLocks noChangeShapeType="1"/>
              <a:stCxn id="13" idx="3"/>
              <a:endCxn id="27" idx="0"/>
            </p:cNvCxnSpPr>
            <p:nvPr/>
          </p:nvCxnSpPr>
          <p:spPr bwMode="auto">
            <a:xfrm flipH="1">
              <a:off x="740196" y="1540919"/>
              <a:ext cx="525895" cy="77691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5" name="Text Box 520">
              <a:extLst>
                <a:ext uri="{FF2B5EF4-FFF2-40B4-BE49-F238E27FC236}">
                  <a16:creationId xmlns:a16="http://schemas.microsoft.com/office/drawing/2014/main" id="{179F062B-35E9-4629-961F-A4EB89825343}"/>
                </a:ext>
              </a:extLst>
            </p:cNvPr>
            <p:cNvSpPr txBox="1">
              <a:spLocks noChangeArrowheads="1"/>
            </p:cNvSpPr>
            <p:nvPr/>
          </p:nvSpPr>
          <p:spPr bwMode="auto">
            <a:xfrm>
              <a:off x="1314650" y="3081454"/>
              <a:ext cx="268688" cy="31524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6" name="Text Box 521">
              <a:extLst>
                <a:ext uri="{FF2B5EF4-FFF2-40B4-BE49-F238E27FC236}">
                  <a16:creationId xmlns:a16="http://schemas.microsoft.com/office/drawing/2014/main" id="{5AA0B315-3DE0-4B84-A841-35E20A315E17}"/>
                </a:ext>
              </a:extLst>
            </p:cNvPr>
            <p:cNvSpPr txBox="1">
              <a:spLocks noChangeArrowheads="1"/>
            </p:cNvSpPr>
            <p:nvPr/>
          </p:nvSpPr>
          <p:spPr bwMode="auto">
            <a:xfrm>
              <a:off x="451860" y="2028135"/>
              <a:ext cx="184122" cy="3610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7" name="Text Box 522">
              <a:extLst>
                <a:ext uri="{FF2B5EF4-FFF2-40B4-BE49-F238E27FC236}">
                  <a16:creationId xmlns:a16="http://schemas.microsoft.com/office/drawing/2014/main" id="{FD384282-973B-4406-81D7-71FA7CC9D854}"/>
                </a:ext>
              </a:extLst>
            </p:cNvPr>
            <p:cNvSpPr txBox="1">
              <a:spLocks noChangeArrowheads="1"/>
            </p:cNvSpPr>
            <p:nvPr/>
          </p:nvSpPr>
          <p:spPr bwMode="auto">
            <a:xfrm>
              <a:off x="2135728" y="2028135"/>
              <a:ext cx="241031" cy="31780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g</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8" name="Text Box 545">
              <a:extLst>
                <a:ext uri="{FF2B5EF4-FFF2-40B4-BE49-F238E27FC236}">
                  <a16:creationId xmlns:a16="http://schemas.microsoft.com/office/drawing/2014/main" id="{20ADE4CD-407A-4C7B-B555-22B46A69B00A}"/>
                </a:ext>
              </a:extLst>
            </p:cNvPr>
            <p:cNvSpPr txBox="1">
              <a:spLocks noChangeArrowheads="1"/>
            </p:cNvSpPr>
            <p:nvPr/>
          </p:nvSpPr>
          <p:spPr bwMode="auto">
            <a:xfrm>
              <a:off x="4015158" y="1004814"/>
              <a:ext cx="189142" cy="2724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h</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39" name="Line 546">
              <a:extLst>
                <a:ext uri="{FF2B5EF4-FFF2-40B4-BE49-F238E27FC236}">
                  <a16:creationId xmlns:a16="http://schemas.microsoft.com/office/drawing/2014/main" id="{9893FC8A-2D6C-4ED8-BC0E-F5A04C3C40E9}"/>
                </a:ext>
              </a:extLst>
            </p:cNvPr>
            <p:cNvCxnSpPr>
              <a:cxnSpLocks noChangeShapeType="1"/>
              <a:stCxn id="49" idx="4"/>
              <a:endCxn id="44" idx="0"/>
            </p:cNvCxnSpPr>
            <p:nvPr/>
          </p:nvCxnSpPr>
          <p:spPr bwMode="auto">
            <a:xfrm>
              <a:off x="3250934" y="1487552"/>
              <a:ext cx="0" cy="266793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40" name="Oval 547">
              <a:extLst>
                <a:ext uri="{FF2B5EF4-FFF2-40B4-BE49-F238E27FC236}">
                  <a16:creationId xmlns:a16="http://schemas.microsoft.com/office/drawing/2014/main" id="{FF940B1E-DA35-4E84-B96B-11F900E32521}"/>
                </a:ext>
              </a:extLst>
            </p:cNvPr>
            <p:cNvSpPr>
              <a:spLocks noChangeArrowheads="1"/>
            </p:cNvSpPr>
            <p:nvPr/>
          </p:nvSpPr>
          <p:spPr bwMode="auto">
            <a:xfrm>
              <a:off x="3196934" y="316099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41" name="Oval 548">
              <a:extLst>
                <a:ext uri="{FF2B5EF4-FFF2-40B4-BE49-F238E27FC236}">
                  <a16:creationId xmlns:a16="http://schemas.microsoft.com/office/drawing/2014/main" id="{C391739C-0133-43EC-B18F-60BA7C0F8F72}"/>
                </a:ext>
              </a:extLst>
            </p:cNvPr>
            <p:cNvSpPr>
              <a:spLocks noChangeArrowheads="1"/>
            </p:cNvSpPr>
            <p:nvPr/>
          </p:nvSpPr>
          <p:spPr bwMode="auto">
            <a:xfrm>
              <a:off x="3196934" y="2270272"/>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42" name="Line 549">
              <a:extLst>
                <a:ext uri="{FF2B5EF4-FFF2-40B4-BE49-F238E27FC236}">
                  <a16:creationId xmlns:a16="http://schemas.microsoft.com/office/drawing/2014/main" id="{C98C870D-AB1D-4010-8CD5-9981FE5693D0}"/>
                </a:ext>
              </a:extLst>
            </p:cNvPr>
            <p:cNvCxnSpPr>
              <a:cxnSpLocks noChangeShapeType="1"/>
              <a:stCxn id="40" idx="5"/>
              <a:endCxn id="43" idx="0"/>
            </p:cNvCxnSpPr>
            <p:nvPr/>
          </p:nvCxnSpPr>
          <p:spPr bwMode="auto">
            <a:xfrm>
              <a:off x="3289118" y="3253175"/>
              <a:ext cx="780317" cy="90230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43" name="Oval 550">
              <a:extLst>
                <a:ext uri="{FF2B5EF4-FFF2-40B4-BE49-F238E27FC236}">
                  <a16:creationId xmlns:a16="http://schemas.microsoft.com/office/drawing/2014/main" id="{4F98F28D-35DA-4FE2-8E22-42C84BCF3CCE}"/>
                </a:ext>
              </a:extLst>
            </p:cNvPr>
            <p:cNvSpPr>
              <a:spLocks noChangeArrowheads="1"/>
            </p:cNvSpPr>
            <p:nvPr/>
          </p:nvSpPr>
          <p:spPr bwMode="auto">
            <a:xfrm>
              <a:off x="4015435" y="4155483"/>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44" name="Oval 551">
              <a:extLst>
                <a:ext uri="{FF2B5EF4-FFF2-40B4-BE49-F238E27FC236}">
                  <a16:creationId xmlns:a16="http://schemas.microsoft.com/office/drawing/2014/main" id="{307F7A0F-1C45-4563-9299-E03E8D5C2628}"/>
                </a:ext>
              </a:extLst>
            </p:cNvPr>
            <p:cNvSpPr>
              <a:spLocks noChangeArrowheads="1"/>
            </p:cNvSpPr>
            <p:nvPr/>
          </p:nvSpPr>
          <p:spPr bwMode="auto">
            <a:xfrm>
              <a:off x="3196934" y="4155483"/>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45" name="Line 552">
              <a:extLst>
                <a:ext uri="{FF2B5EF4-FFF2-40B4-BE49-F238E27FC236}">
                  <a16:creationId xmlns:a16="http://schemas.microsoft.com/office/drawing/2014/main" id="{AA75322A-E04B-442A-9EF4-6900A778857A}"/>
                </a:ext>
              </a:extLst>
            </p:cNvPr>
            <p:cNvCxnSpPr>
              <a:cxnSpLocks noChangeShapeType="1"/>
              <a:stCxn id="48" idx="4"/>
              <a:endCxn id="43" idx="0"/>
            </p:cNvCxnSpPr>
            <p:nvPr/>
          </p:nvCxnSpPr>
          <p:spPr bwMode="auto">
            <a:xfrm flipH="1">
              <a:off x="4069435" y="1487552"/>
              <a:ext cx="1674" cy="266793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46" name="Oval 553">
              <a:extLst>
                <a:ext uri="{FF2B5EF4-FFF2-40B4-BE49-F238E27FC236}">
                  <a16:creationId xmlns:a16="http://schemas.microsoft.com/office/drawing/2014/main" id="{FC804CAD-D142-4C5C-9B9E-2DC33ED12EC4}"/>
                </a:ext>
              </a:extLst>
            </p:cNvPr>
            <p:cNvSpPr>
              <a:spLocks noChangeArrowheads="1"/>
            </p:cNvSpPr>
            <p:nvPr/>
          </p:nvSpPr>
          <p:spPr bwMode="auto">
            <a:xfrm>
              <a:off x="4017109" y="316099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47" name="Oval 554">
              <a:extLst>
                <a:ext uri="{FF2B5EF4-FFF2-40B4-BE49-F238E27FC236}">
                  <a16:creationId xmlns:a16="http://schemas.microsoft.com/office/drawing/2014/main" id="{0F4E775D-17A4-4912-B10D-456115831305}"/>
                </a:ext>
              </a:extLst>
            </p:cNvPr>
            <p:cNvSpPr>
              <a:spLocks noChangeArrowheads="1"/>
            </p:cNvSpPr>
            <p:nvPr/>
          </p:nvSpPr>
          <p:spPr bwMode="auto">
            <a:xfrm>
              <a:off x="4017109" y="2270272"/>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48" name="Oval 555">
              <a:extLst>
                <a:ext uri="{FF2B5EF4-FFF2-40B4-BE49-F238E27FC236}">
                  <a16:creationId xmlns:a16="http://schemas.microsoft.com/office/drawing/2014/main" id="{96A08A8A-5449-4F72-BA95-5A714E710B96}"/>
                </a:ext>
              </a:extLst>
            </p:cNvPr>
            <p:cNvSpPr>
              <a:spLocks noChangeArrowheads="1"/>
            </p:cNvSpPr>
            <p:nvPr/>
          </p:nvSpPr>
          <p:spPr bwMode="auto">
            <a:xfrm>
              <a:off x="4017109" y="1379552"/>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49" name="Oval 556">
              <a:extLst>
                <a:ext uri="{FF2B5EF4-FFF2-40B4-BE49-F238E27FC236}">
                  <a16:creationId xmlns:a16="http://schemas.microsoft.com/office/drawing/2014/main" id="{EA273CF6-710D-4A9C-84B0-AD72E326270C}"/>
                </a:ext>
              </a:extLst>
            </p:cNvPr>
            <p:cNvSpPr>
              <a:spLocks noChangeArrowheads="1"/>
            </p:cNvSpPr>
            <p:nvPr/>
          </p:nvSpPr>
          <p:spPr bwMode="auto">
            <a:xfrm>
              <a:off x="3196934" y="1379552"/>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50" name="Text Box 557">
              <a:extLst>
                <a:ext uri="{FF2B5EF4-FFF2-40B4-BE49-F238E27FC236}">
                  <a16:creationId xmlns:a16="http://schemas.microsoft.com/office/drawing/2014/main" id="{8C61C5B9-CE54-4120-9918-16B10B9455D7}"/>
                </a:ext>
              </a:extLst>
            </p:cNvPr>
            <p:cNvSpPr txBox="1">
              <a:spLocks noChangeArrowheads="1"/>
            </p:cNvSpPr>
            <p:nvPr/>
          </p:nvSpPr>
          <p:spPr bwMode="auto">
            <a:xfrm>
              <a:off x="3965219" y="4226827"/>
              <a:ext cx="207553" cy="29393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1" name="Text Box 558">
              <a:extLst>
                <a:ext uri="{FF2B5EF4-FFF2-40B4-BE49-F238E27FC236}">
                  <a16:creationId xmlns:a16="http://schemas.microsoft.com/office/drawing/2014/main" id="{18B85AED-424F-475A-9801-2D3586F034AC}"/>
                </a:ext>
              </a:extLst>
            </p:cNvPr>
            <p:cNvSpPr txBox="1">
              <a:spLocks noChangeArrowheads="1"/>
            </p:cNvSpPr>
            <p:nvPr/>
          </p:nvSpPr>
          <p:spPr bwMode="auto">
            <a:xfrm>
              <a:off x="4156036" y="2901559"/>
              <a:ext cx="200857" cy="38266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2" name="Text Box 559">
              <a:extLst>
                <a:ext uri="{FF2B5EF4-FFF2-40B4-BE49-F238E27FC236}">
                  <a16:creationId xmlns:a16="http://schemas.microsoft.com/office/drawing/2014/main" id="{1200DF2A-0738-4CD9-ADAB-22BA09E5DDAF}"/>
                </a:ext>
              </a:extLst>
            </p:cNvPr>
            <p:cNvSpPr txBox="1">
              <a:spLocks noChangeArrowheads="1"/>
            </p:cNvSpPr>
            <p:nvPr/>
          </p:nvSpPr>
          <p:spPr bwMode="auto">
            <a:xfrm>
              <a:off x="3119938" y="4226827"/>
              <a:ext cx="189142" cy="29393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3" name="Text Box 560">
              <a:extLst>
                <a:ext uri="{FF2B5EF4-FFF2-40B4-BE49-F238E27FC236}">
                  <a16:creationId xmlns:a16="http://schemas.microsoft.com/office/drawing/2014/main" id="{53F41F34-8916-4588-BBD9-12584251E724}"/>
                </a:ext>
              </a:extLst>
            </p:cNvPr>
            <p:cNvSpPr txBox="1">
              <a:spLocks noChangeArrowheads="1"/>
            </p:cNvSpPr>
            <p:nvPr/>
          </p:nvSpPr>
          <p:spPr bwMode="auto">
            <a:xfrm>
              <a:off x="2969293" y="2901558"/>
              <a:ext cx="202513" cy="29393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4" name="Text Box 561">
              <a:extLst>
                <a:ext uri="{FF2B5EF4-FFF2-40B4-BE49-F238E27FC236}">
                  <a16:creationId xmlns:a16="http://schemas.microsoft.com/office/drawing/2014/main" id="{C5492516-CE11-44EE-8805-69C140949DC2}"/>
                </a:ext>
              </a:extLst>
            </p:cNvPr>
            <p:cNvSpPr txBox="1">
              <a:spLocks noChangeArrowheads="1"/>
            </p:cNvSpPr>
            <p:nvPr/>
          </p:nvSpPr>
          <p:spPr bwMode="auto">
            <a:xfrm>
              <a:off x="4156037" y="1969762"/>
              <a:ext cx="170727" cy="2464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f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5" name="Text Box 562">
              <a:extLst>
                <a:ext uri="{FF2B5EF4-FFF2-40B4-BE49-F238E27FC236}">
                  <a16:creationId xmlns:a16="http://schemas.microsoft.com/office/drawing/2014/main" id="{3EB6BC9A-D6B1-4C9D-84E0-69AA78DE0AEF}"/>
                </a:ext>
              </a:extLst>
            </p:cNvPr>
            <p:cNvSpPr txBox="1">
              <a:spLocks noChangeArrowheads="1"/>
            </p:cNvSpPr>
            <p:nvPr/>
          </p:nvSpPr>
          <p:spPr bwMode="auto">
            <a:xfrm>
              <a:off x="3352600" y="4853789"/>
              <a:ext cx="569101" cy="61182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(h)</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56" name="Line 563">
              <a:extLst>
                <a:ext uri="{FF2B5EF4-FFF2-40B4-BE49-F238E27FC236}">
                  <a16:creationId xmlns:a16="http://schemas.microsoft.com/office/drawing/2014/main" id="{FC82AC15-AF33-4593-8D1C-CCFFF688C6EB}"/>
                </a:ext>
              </a:extLst>
            </p:cNvPr>
            <p:cNvCxnSpPr>
              <a:cxnSpLocks noChangeShapeType="1"/>
              <a:stCxn id="41" idx="5"/>
              <a:endCxn id="46" idx="1"/>
            </p:cNvCxnSpPr>
            <p:nvPr/>
          </p:nvCxnSpPr>
          <p:spPr bwMode="auto">
            <a:xfrm>
              <a:off x="3289118" y="2362456"/>
              <a:ext cx="743807" cy="81435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 name="Line 564">
              <a:extLst>
                <a:ext uri="{FF2B5EF4-FFF2-40B4-BE49-F238E27FC236}">
                  <a16:creationId xmlns:a16="http://schemas.microsoft.com/office/drawing/2014/main" id="{3676EAF1-78FA-4325-8571-7BF0AB3D7451}"/>
                </a:ext>
              </a:extLst>
            </p:cNvPr>
            <p:cNvCxnSpPr>
              <a:cxnSpLocks noChangeShapeType="1"/>
              <a:stCxn id="49" idx="5"/>
              <a:endCxn id="47" idx="1"/>
            </p:cNvCxnSpPr>
            <p:nvPr/>
          </p:nvCxnSpPr>
          <p:spPr bwMode="auto">
            <a:xfrm>
              <a:off x="3289118" y="1471736"/>
              <a:ext cx="743807" cy="81435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8" name="Line 565">
              <a:extLst>
                <a:ext uri="{FF2B5EF4-FFF2-40B4-BE49-F238E27FC236}">
                  <a16:creationId xmlns:a16="http://schemas.microsoft.com/office/drawing/2014/main" id="{01815AC4-5F8C-4BA0-9487-80043F0980AC}"/>
                </a:ext>
              </a:extLst>
            </p:cNvPr>
            <p:cNvCxnSpPr>
              <a:cxnSpLocks noChangeShapeType="1"/>
              <a:stCxn id="44" idx="0"/>
              <a:endCxn id="46" idx="3"/>
            </p:cNvCxnSpPr>
            <p:nvPr/>
          </p:nvCxnSpPr>
          <p:spPr bwMode="auto">
            <a:xfrm flipV="1">
              <a:off x="3250934" y="3253175"/>
              <a:ext cx="781991" cy="90230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9" name="Line 566">
              <a:extLst>
                <a:ext uri="{FF2B5EF4-FFF2-40B4-BE49-F238E27FC236}">
                  <a16:creationId xmlns:a16="http://schemas.microsoft.com/office/drawing/2014/main" id="{F59DCD54-2933-4155-BD8D-597B3E13C6ED}"/>
                </a:ext>
              </a:extLst>
            </p:cNvPr>
            <p:cNvCxnSpPr>
              <a:cxnSpLocks noChangeShapeType="1"/>
              <a:stCxn id="41" idx="7"/>
              <a:endCxn id="48" idx="3"/>
            </p:cNvCxnSpPr>
            <p:nvPr/>
          </p:nvCxnSpPr>
          <p:spPr bwMode="auto">
            <a:xfrm flipV="1">
              <a:off x="3289118" y="1471736"/>
              <a:ext cx="743807" cy="81435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60" name="Line 567">
              <a:extLst>
                <a:ext uri="{FF2B5EF4-FFF2-40B4-BE49-F238E27FC236}">
                  <a16:creationId xmlns:a16="http://schemas.microsoft.com/office/drawing/2014/main" id="{CDF2DA93-1A23-4C9E-86D9-CED6D8F9C762}"/>
                </a:ext>
              </a:extLst>
            </p:cNvPr>
            <p:cNvCxnSpPr>
              <a:cxnSpLocks noChangeShapeType="1"/>
              <a:stCxn id="40" idx="7"/>
              <a:endCxn id="47" idx="3"/>
            </p:cNvCxnSpPr>
            <p:nvPr/>
          </p:nvCxnSpPr>
          <p:spPr bwMode="auto">
            <a:xfrm flipV="1">
              <a:off x="3289118" y="2362456"/>
              <a:ext cx="743807" cy="81435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61" name="Text Box 568">
              <a:extLst>
                <a:ext uri="{FF2B5EF4-FFF2-40B4-BE49-F238E27FC236}">
                  <a16:creationId xmlns:a16="http://schemas.microsoft.com/office/drawing/2014/main" id="{82B480ED-E6BC-4DF7-84E1-DE9662042E2B}"/>
                </a:ext>
              </a:extLst>
            </p:cNvPr>
            <p:cNvSpPr txBox="1">
              <a:spLocks noChangeArrowheads="1"/>
            </p:cNvSpPr>
            <p:nvPr/>
          </p:nvSpPr>
          <p:spPr bwMode="auto">
            <a:xfrm>
              <a:off x="3119938" y="976461"/>
              <a:ext cx="195813" cy="2464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g</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62" name="Text Box 569">
              <a:extLst>
                <a:ext uri="{FF2B5EF4-FFF2-40B4-BE49-F238E27FC236}">
                  <a16:creationId xmlns:a16="http://schemas.microsoft.com/office/drawing/2014/main" id="{CD07D355-7B72-4A0F-B1B1-5E71E7546571}"/>
                </a:ext>
              </a:extLst>
            </p:cNvPr>
            <p:cNvSpPr txBox="1">
              <a:spLocks noChangeArrowheads="1"/>
            </p:cNvSpPr>
            <p:nvPr/>
          </p:nvSpPr>
          <p:spPr bwMode="auto">
            <a:xfrm>
              <a:off x="2969293" y="1969762"/>
              <a:ext cx="195813" cy="2464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63" name="Text Box 571">
              <a:extLst>
                <a:ext uri="{FF2B5EF4-FFF2-40B4-BE49-F238E27FC236}">
                  <a16:creationId xmlns:a16="http://schemas.microsoft.com/office/drawing/2014/main" id="{AA7B9358-D2BF-499A-A3B9-D70035B50A40}"/>
                </a:ext>
              </a:extLst>
            </p:cNvPr>
            <p:cNvSpPr txBox="1">
              <a:spLocks noChangeArrowheads="1"/>
            </p:cNvSpPr>
            <p:nvPr/>
          </p:nvSpPr>
          <p:spPr bwMode="auto">
            <a:xfrm>
              <a:off x="5394667" y="4853789"/>
              <a:ext cx="473693" cy="611829"/>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a:t>
              </a:r>
              <a:r>
                <a:rPr lang="en-US" b="1" i="1" kern="100" dirty="0" err="1">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i</a:t>
              </a: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64" name="Oval 572">
              <a:extLst>
                <a:ext uri="{FF2B5EF4-FFF2-40B4-BE49-F238E27FC236}">
                  <a16:creationId xmlns:a16="http://schemas.microsoft.com/office/drawing/2014/main" id="{1F1AC862-673D-4CCC-AC1E-498D4D65A3D2}"/>
                </a:ext>
              </a:extLst>
            </p:cNvPr>
            <p:cNvSpPr>
              <a:spLocks noChangeArrowheads="1"/>
            </p:cNvSpPr>
            <p:nvPr/>
          </p:nvSpPr>
          <p:spPr bwMode="auto">
            <a:xfrm>
              <a:off x="5205525" y="1552508"/>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65" name="Oval 573">
              <a:extLst>
                <a:ext uri="{FF2B5EF4-FFF2-40B4-BE49-F238E27FC236}">
                  <a16:creationId xmlns:a16="http://schemas.microsoft.com/office/drawing/2014/main" id="{2B2F0A10-95B6-4015-9DEB-40CAB9ACDB5C}"/>
                </a:ext>
              </a:extLst>
            </p:cNvPr>
            <p:cNvSpPr>
              <a:spLocks noChangeArrowheads="1"/>
            </p:cNvSpPr>
            <p:nvPr/>
          </p:nvSpPr>
          <p:spPr bwMode="auto">
            <a:xfrm>
              <a:off x="5592178" y="413170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66" name="Oval 574">
              <a:extLst>
                <a:ext uri="{FF2B5EF4-FFF2-40B4-BE49-F238E27FC236}">
                  <a16:creationId xmlns:a16="http://schemas.microsoft.com/office/drawing/2014/main" id="{350DF34F-07F5-4549-AB69-2EC646BB7499}"/>
                </a:ext>
              </a:extLst>
            </p:cNvPr>
            <p:cNvSpPr>
              <a:spLocks noChangeArrowheads="1"/>
            </p:cNvSpPr>
            <p:nvPr/>
          </p:nvSpPr>
          <p:spPr bwMode="auto">
            <a:xfrm>
              <a:off x="5972137" y="3271249"/>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67" name="Oval 575">
              <a:extLst>
                <a:ext uri="{FF2B5EF4-FFF2-40B4-BE49-F238E27FC236}">
                  <a16:creationId xmlns:a16="http://schemas.microsoft.com/office/drawing/2014/main" id="{2A50A575-F43D-4750-89E0-9E0D502F929C}"/>
                </a:ext>
              </a:extLst>
            </p:cNvPr>
            <p:cNvSpPr>
              <a:spLocks noChangeArrowheads="1"/>
            </p:cNvSpPr>
            <p:nvPr/>
          </p:nvSpPr>
          <p:spPr bwMode="auto">
            <a:xfrm>
              <a:off x="5205525" y="3271249"/>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68" name="Line 576">
              <a:extLst>
                <a:ext uri="{FF2B5EF4-FFF2-40B4-BE49-F238E27FC236}">
                  <a16:creationId xmlns:a16="http://schemas.microsoft.com/office/drawing/2014/main" id="{56FD8526-9D2E-470A-A1D6-075258CF2C6C}"/>
                </a:ext>
              </a:extLst>
            </p:cNvPr>
            <p:cNvCxnSpPr>
              <a:cxnSpLocks noChangeShapeType="1"/>
              <a:stCxn id="66" idx="4"/>
              <a:endCxn id="65" idx="7"/>
            </p:cNvCxnSpPr>
            <p:nvPr/>
          </p:nvCxnSpPr>
          <p:spPr bwMode="auto">
            <a:xfrm flipH="1">
              <a:off x="5684362" y="3379249"/>
              <a:ext cx="341775" cy="76826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69" name="Line 577">
              <a:extLst>
                <a:ext uri="{FF2B5EF4-FFF2-40B4-BE49-F238E27FC236}">
                  <a16:creationId xmlns:a16="http://schemas.microsoft.com/office/drawing/2014/main" id="{8DBB366D-5C30-4DBC-8F41-D37CDE133B66}"/>
                </a:ext>
              </a:extLst>
            </p:cNvPr>
            <p:cNvCxnSpPr>
              <a:cxnSpLocks noChangeShapeType="1"/>
              <a:stCxn id="72" idx="3"/>
              <a:endCxn id="67" idx="0"/>
            </p:cNvCxnSpPr>
            <p:nvPr/>
          </p:nvCxnSpPr>
          <p:spPr bwMode="auto">
            <a:xfrm flipH="1">
              <a:off x="5259525" y="2502982"/>
              <a:ext cx="348469" cy="76826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70" name="Line 578">
              <a:extLst>
                <a:ext uri="{FF2B5EF4-FFF2-40B4-BE49-F238E27FC236}">
                  <a16:creationId xmlns:a16="http://schemas.microsoft.com/office/drawing/2014/main" id="{D436FB0C-A137-4BFF-85B8-E05B904A3D6F}"/>
                </a:ext>
              </a:extLst>
            </p:cNvPr>
            <p:cNvCxnSpPr>
              <a:cxnSpLocks noChangeShapeType="1"/>
              <a:stCxn id="72" idx="5"/>
              <a:endCxn id="66" idx="0"/>
            </p:cNvCxnSpPr>
            <p:nvPr/>
          </p:nvCxnSpPr>
          <p:spPr bwMode="auto">
            <a:xfrm>
              <a:off x="5684362" y="2502982"/>
              <a:ext cx="341775" cy="76826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71" name="Line 579">
              <a:extLst>
                <a:ext uri="{FF2B5EF4-FFF2-40B4-BE49-F238E27FC236}">
                  <a16:creationId xmlns:a16="http://schemas.microsoft.com/office/drawing/2014/main" id="{62284641-091A-48E5-84E6-E1BCB399CA6A}"/>
                </a:ext>
              </a:extLst>
            </p:cNvPr>
            <p:cNvCxnSpPr>
              <a:cxnSpLocks noChangeShapeType="1"/>
              <a:stCxn id="67" idx="5"/>
              <a:endCxn id="65" idx="1"/>
            </p:cNvCxnSpPr>
            <p:nvPr/>
          </p:nvCxnSpPr>
          <p:spPr bwMode="auto">
            <a:xfrm>
              <a:off x="5297709" y="3363433"/>
              <a:ext cx="310285" cy="78408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72" name="Oval 580">
              <a:extLst>
                <a:ext uri="{FF2B5EF4-FFF2-40B4-BE49-F238E27FC236}">
                  <a16:creationId xmlns:a16="http://schemas.microsoft.com/office/drawing/2014/main" id="{393E4910-374D-46D2-9840-434E583A1748}"/>
                </a:ext>
              </a:extLst>
            </p:cNvPr>
            <p:cNvSpPr>
              <a:spLocks noChangeArrowheads="1"/>
            </p:cNvSpPr>
            <p:nvPr/>
          </p:nvSpPr>
          <p:spPr bwMode="auto">
            <a:xfrm>
              <a:off x="5592178" y="2410798"/>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73" name="Text Box 581">
              <a:extLst>
                <a:ext uri="{FF2B5EF4-FFF2-40B4-BE49-F238E27FC236}">
                  <a16:creationId xmlns:a16="http://schemas.microsoft.com/office/drawing/2014/main" id="{3B690361-E233-4214-B6D1-3C4624582E22}"/>
                </a:ext>
              </a:extLst>
            </p:cNvPr>
            <p:cNvSpPr txBox="1">
              <a:spLocks noChangeArrowheads="1"/>
            </p:cNvSpPr>
            <p:nvPr/>
          </p:nvSpPr>
          <p:spPr bwMode="auto">
            <a:xfrm>
              <a:off x="5557846" y="4234978"/>
              <a:ext cx="189142" cy="1869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74" name="Text Box 582">
              <a:extLst>
                <a:ext uri="{FF2B5EF4-FFF2-40B4-BE49-F238E27FC236}">
                  <a16:creationId xmlns:a16="http://schemas.microsoft.com/office/drawing/2014/main" id="{0C1BC1A5-42D3-4445-A2D7-82ABC6CBFB80}"/>
                </a:ext>
              </a:extLst>
            </p:cNvPr>
            <p:cNvSpPr txBox="1">
              <a:spLocks noChangeArrowheads="1"/>
            </p:cNvSpPr>
            <p:nvPr/>
          </p:nvSpPr>
          <p:spPr bwMode="auto">
            <a:xfrm>
              <a:off x="4989601" y="3024788"/>
              <a:ext cx="179098" cy="27672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75" name="Text Box 583">
              <a:extLst>
                <a:ext uri="{FF2B5EF4-FFF2-40B4-BE49-F238E27FC236}">
                  <a16:creationId xmlns:a16="http://schemas.microsoft.com/office/drawing/2014/main" id="{DC8F83B8-1108-4AED-95CD-1B07183A94AD}"/>
                </a:ext>
              </a:extLst>
            </p:cNvPr>
            <p:cNvSpPr txBox="1">
              <a:spLocks noChangeArrowheads="1"/>
            </p:cNvSpPr>
            <p:nvPr/>
          </p:nvSpPr>
          <p:spPr bwMode="auto">
            <a:xfrm>
              <a:off x="6139519" y="3024788"/>
              <a:ext cx="222617" cy="2464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76" name="Text Box 584">
              <a:extLst>
                <a:ext uri="{FF2B5EF4-FFF2-40B4-BE49-F238E27FC236}">
                  <a16:creationId xmlns:a16="http://schemas.microsoft.com/office/drawing/2014/main" id="{EFC70DF1-5498-4467-AAB4-AF10E5E867EC}"/>
                </a:ext>
              </a:extLst>
            </p:cNvPr>
            <p:cNvSpPr txBox="1">
              <a:spLocks noChangeArrowheads="1"/>
            </p:cNvSpPr>
            <p:nvPr/>
          </p:nvSpPr>
          <p:spPr bwMode="auto">
            <a:xfrm>
              <a:off x="5709346" y="2131908"/>
              <a:ext cx="297940" cy="2983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77" name="Text Box 585">
              <a:extLst>
                <a:ext uri="{FF2B5EF4-FFF2-40B4-BE49-F238E27FC236}">
                  <a16:creationId xmlns:a16="http://schemas.microsoft.com/office/drawing/2014/main" id="{F079DBBD-08E5-4074-B3D5-D4FF44C496E2}"/>
                </a:ext>
              </a:extLst>
            </p:cNvPr>
            <p:cNvSpPr txBox="1">
              <a:spLocks noChangeArrowheads="1"/>
            </p:cNvSpPr>
            <p:nvPr/>
          </p:nvSpPr>
          <p:spPr bwMode="auto">
            <a:xfrm>
              <a:off x="5156984" y="1129739"/>
              <a:ext cx="237683" cy="19736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78" name="Line 586">
              <a:extLst>
                <a:ext uri="{FF2B5EF4-FFF2-40B4-BE49-F238E27FC236}">
                  <a16:creationId xmlns:a16="http://schemas.microsoft.com/office/drawing/2014/main" id="{6ECAE9F7-6F16-4F84-8108-CEE7C118600E}"/>
                </a:ext>
              </a:extLst>
            </p:cNvPr>
            <p:cNvCxnSpPr>
              <a:cxnSpLocks noChangeShapeType="1"/>
              <a:stCxn id="80" idx="4"/>
              <a:endCxn id="72" idx="7"/>
            </p:cNvCxnSpPr>
            <p:nvPr/>
          </p:nvCxnSpPr>
          <p:spPr bwMode="auto">
            <a:xfrm flipH="1">
              <a:off x="5684362" y="1660508"/>
              <a:ext cx="341775" cy="76610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79" name="Line 587">
              <a:extLst>
                <a:ext uri="{FF2B5EF4-FFF2-40B4-BE49-F238E27FC236}">
                  <a16:creationId xmlns:a16="http://schemas.microsoft.com/office/drawing/2014/main" id="{5A091FAB-7535-419F-A598-E17CFDC8D89F}"/>
                </a:ext>
              </a:extLst>
            </p:cNvPr>
            <p:cNvCxnSpPr>
              <a:cxnSpLocks noChangeShapeType="1"/>
              <a:stCxn id="64" idx="4"/>
              <a:endCxn id="72" idx="1"/>
            </p:cNvCxnSpPr>
            <p:nvPr/>
          </p:nvCxnSpPr>
          <p:spPr bwMode="auto">
            <a:xfrm>
              <a:off x="5259525" y="1660508"/>
              <a:ext cx="348469" cy="76610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80" name="Oval 588">
              <a:extLst>
                <a:ext uri="{FF2B5EF4-FFF2-40B4-BE49-F238E27FC236}">
                  <a16:creationId xmlns:a16="http://schemas.microsoft.com/office/drawing/2014/main" id="{3AC4594A-BC11-4BCF-95EC-30710C7F86F8}"/>
                </a:ext>
              </a:extLst>
            </p:cNvPr>
            <p:cNvSpPr>
              <a:spLocks noChangeArrowheads="1"/>
            </p:cNvSpPr>
            <p:nvPr/>
          </p:nvSpPr>
          <p:spPr bwMode="auto">
            <a:xfrm>
              <a:off x="5972137" y="1552508"/>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81" name="Text Box 589">
              <a:extLst>
                <a:ext uri="{FF2B5EF4-FFF2-40B4-BE49-F238E27FC236}">
                  <a16:creationId xmlns:a16="http://schemas.microsoft.com/office/drawing/2014/main" id="{85D60473-068A-44BA-944F-C11E580F705B}"/>
                </a:ext>
              </a:extLst>
            </p:cNvPr>
            <p:cNvSpPr txBox="1">
              <a:spLocks noChangeArrowheads="1"/>
            </p:cNvSpPr>
            <p:nvPr/>
          </p:nvSpPr>
          <p:spPr bwMode="auto">
            <a:xfrm>
              <a:off x="6007286" y="1093584"/>
              <a:ext cx="189142" cy="19736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f</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82" name="Text Box 591">
              <a:extLst>
                <a:ext uri="{FF2B5EF4-FFF2-40B4-BE49-F238E27FC236}">
                  <a16:creationId xmlns:a16="http://schemas.microsoft.com/office/drawing/2014/main" id="{FB56A967-0570-44C3-B030-391ECD4A7947}"/>
                </a:ext>
              </a:extLst>
            </p:cNvPr>
            <p:cNvSpPr txBox="1">
              <a:spLocks noChangeArrowheads="1"/>
            </p:cNvSpPr>
            <p:nvPr/>
          </p:nvSpPr>
          <p:spPr bwMode="auto">
            <a:xfrm>
              <a:off x="7519668" y="1168763"/>
              <a:ext cx="331416" cy="4777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f</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83" name="Text Box 592">
              <a:extLst>
                <a:ext uri="{FF2B5EF4-FFF2-40B4-BE49-F238E27FC236}">
                  <a16:creationId xmlns:a16="http://schemas.microsoft.com/office/drawing/2014/main" id="{ED8DF8B3-D090-49FB-879C-F9DE495DE6AB}"/>
                </a:ext>
              </a:extLst>
            </p:cNvPr>
            <p:cNvSpPr txBox="1">
              <a:spLocks noChangeArrowheads="1"/>
            </p:cNvSpPr>
            <p:nvPr/>
          </p:nvSpPr>
          <p:spPr bwMode="auto">
            <a:xfrm>
              <a:off x="7454782" y="4314762"/>
              <a:ext cx="230594" cy="2918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84" name="Text Box 593">
              <a:extLst>
                <a:ext uri="{FF2B5EF4-FFF2-40B4-BE49-F238E27FC236}">
                  <a16:creationId xmlns:a16="http://schemas.microsoft.com/office/drawing/2014/main" id="{5DCA2456-7934-4E9A-93B6-009DCA619A16}"/>
                </a:ext>
              </a:extLst>
            </p:cNvPr>
            <p:cNvSpPr txBox="1">
              <a:spLocks noChangeArrowheads="1"/>
            </p:cNvSpPr>
            <p:nvPr/>
          </p:nvSpPr>
          <p:spPr bwMode="auto">
            <a:xfrm>
              <a:off x="7083557" y="4853789"/>
              <a:ext cx="473693" cy="611829"/>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(j)</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85" name="Oval 594">
              <a:extLst>
                <a:ext uri="{FF2B5EF4-FFF2-40B4-BE49-F238E27FC236}">
                  <a16:creationId xmlns:a16="http://schemas.microsoft.com/office/drawing/2014/main" id="{EAFB053B-4D89-4F2C-ADB6-FA6DD80EB630}"/>
                </a:ext>
              </a:extLst>
            </p:cNvPr>
            <p:cNvSpPr>
              <a:spLocks noChangeArrowheads="1"/>
            </p:cNvSpPr>
            <p:nvPr/>
          </p:nvSpPr>
          <p:spPr bwMode="auto">
            <a:xfrm>
              <a:off x="7495319" y="1552508"/>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86" name="Oval 595">
              <a:extLst>
                <a:ext uri="{FF2B5EF4-FFF2-40B4-BE49-F238E27FC236}">
                  <a16:creationId xmlns:a16="http://schemas.microsoft.com/office/drawing/2014/main" id="{0AE0B847-5FFB-476A-8E07-3758C8A1C72F}"/>
                </a:ext>
              </a:extLst>
            </p:cNvPr>
            <p:cNvSpPr>
              <a:spLocks noChangeArrowheads="1"/>
            </p:cNvSpPr>
            <p:nvPr/>
          </p:nvSpPr>
          <p:spPr bwMode="auto">
            <a:xfrm>
              <a:off x="7495319" y="413170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87" name="Line 596">
              <a:extLst>
                <a:ext uri="{FF2B5EF4-FFF2-40B4-BE49-F238E27FC236}">
                  <a16:creationId xmlns:a16="http://schemas.microsoft.com/office/drawing/2014/main" id="{0CF80AE0-57EF-4999-BD95-E86308F8D9B2}"/>
                </a:ext>
              </a:extLst>
            </p:cNvPr>
            <p:cNvCxnSpPr>
              <a:cxnSpLocks noChangeShapeType="1"/>
              <a:stCxn id="85" idx="4"/>
              <a:endCxn id="98" idx="0"/>
            </p:cNvCxnSpPr>
            <p:nvPr/>
          </p:nvCxnSpPr>
          <p:spPr bwMode="auto">
            <a:xfrm flipH="1">
              <a:off x="7199489" y="1660508"/>
              <a:ext cx="349830" cy="118051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88" name="Line 597">
              <a:extLst>
                <a:ext uri="{FF2B5EF4-FFF2-40B4-BE49-F238E27FC236}">
                  <a16:creationId xmlns:a16="http://schemas.microsoft.com/office/drawing/2014/main" id="{2DCB38E5-9CB4-46ED-B3B7-FAB3D9286264}"/>
                </a:ext>
              </a:extLst>
            </p:cNvPr>
            <p:cNvCxnSpPr>
              <a:cxnSpLocks noChangeShapeType="1"/>
              <a:stCxn id="98" idx="4"/>
              <a:endCxn id="86" idx="0"/>
            </p:cNvCxnSpPr>
            <p:nvPr/>
          </p:nvCxnSpPr>
          <p:spPr bwMode="auto">
            <a:xfrm>
              <a:off x="7199489" y="2949023"/>
              <a:ext cx="349830" cy="11826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89" name="Text Box 598">
              <a:extLst>
                <a:ext uri="{FF2B5EF4-FFF2-40B4-BE49-F238E27FC236}">
                  <a16:creationId xmlns:a16="http://schemas.microsoft.com/office/drawing/2014/main" id="{24D6E364-E8B7-442F-9F18-CE147793C0B4}"/>
                </a:ext>
              </a:extLst>
            </p:cNvPr>
            <p:cNvSpPr txBox="1">
              <a:spLocks noChangeArrowheads="1"/>
            </p:cNvSpPr>
            <p:nvPr/>
          </p:nvSpPr>
          <p:spPr bwMode="auto">
            <a:xfrm>
              <a:off x="7552229" y="2562133"/>
              <a:ext cx="189142" cy="61182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0" name="Text Box 599">
              <a:extLst>
                <a:ext uri="{FF2B5EF4-FFF2-40B4-BE49-F238E27FC236}">
                  <a16:creationId xmlns:a16="http://schemas.microsoft.com/office/drawing/2014/main" id="{842E18AA-B64A-4ECF-B145-FABADDD5BA42}"/>
                </a:ext>
              </a:extLst>
            </p:cNvPr>
            <p:cNvSpPr txBox="1">
              <a:spLocks noChangeArrowheads="1"/>
            </p:cNvSpPr>
            <p:nvPr/>
          </p:nvSpPr>
          <p:spPr bwMode="auto">
            <a:xfrm>
              <a:off x="6995422" y="4263483"/>
              <a:ext cx="224290" cy="3055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1" name="Oval 600">
              <a:extLst>
                <a:ext uri="{FF2B5EF4-FFF2-40B4-BE49-F238E27FC236}">
                  <a16:creationId xmlns:a16="http://schemas.microsoft.com/office/drawing/2014/main" id="{CE366D3F-C94A-4C2C-A6A7-203EF450527D}"/>
                </a:ext>
              </a:extLst>
            </p:cNvPr>
            <p:cNvSpPr>
              <a:spLocks noChangeArrowheads="1"/>
            </p:cNvSpPr>
            <p:nvPr/>
          </p:nvSpPr>
          <p:spPr bwMode="auto">
            <a:xfrm>
              <a:off x="7065145" y="1552508"/>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92" name="Oval 601">
              <a:extLst>
                <a:ext uri="{FF2B5EF4-FFF2-40B4-BE49-F238E27FC236}">
                  <a16:creationId xmlns:a16="http://schemas.microsoft.com/office/drawing/2014/main" id="{59A128F1-D1D5-4556-B20E-B05BE4D47E33}"/>
                </a:ext>
              </a:extLst>
            </p:cNvPr>
            <p:cNvSpPr>
              <a:spLocks noChangeArrowheads="1"/>
            </p:cNvSpPr>
            <p:nvPr/>
          </p:nvSpPr>
          <p:spPr bwMode="auto">
            <a:xfrm>
              <a:off x="7065145" y="413170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93" name="Line 602">
              <a:extLst>
                <a:ext uri="{FF2B5EF4-FFF2-40B4-BE49-F238E27FC236}">
                  <a16:creationId xmlns:a16="http://schemas.microsoft.com/office/drawing/2014/main" id="{378822D7-831E-43BC-B74B-AB3D3EB90D0F}"/>
                </a:ext>
              </a:extLst>
            </p:cNvPr>
            <p:cNvCxnSpPr>
              <a:cxnSpLocks noChangeShapeType="1"/>
              <a:stCxn id="97" idx="4"/>
              <a:endCxn id="92" idx="0"/>
            </p:cNvCxnSpPr>
            <p:nvPr/>
          </p:nvCxnSpPr>
          <p:spPr bwMode="auto">
            <a:xfrm flipH="1">
              <a:off x="7119145" y="2949023"/>
              <a:ext cx="361547" cy="11826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4" name="Line 603">
              <a:extLst>
                <a:ext uri="{FF2B5EF4-FFF2-40B4-BE49-F238E27FC236}">
                  <a16:creationId xmlns:a16="http://schemas.microsoft.com/office/drawing/2014/main" id="{FEE24C35-8DFE-4881-9EE7-8CB298003818}"/>
                </a:ext>
              </a:extLst>
            </p:cNvPr>
            <p:cNvCxnSpPr>
              <a:cxnSpLocks noChangeShapeType="1"/>
              <a:stCxn id="91" idx="4"/>
              <a:endCxn id="97" idx="0"/>
            </p:cNvCxnSpPr>
            <p:nvPr/>
          </p:nvCxnSpPr>
          <p:spPr bwMode="auto">
            <a:xfrm>
              <a:off x="7119145" y="1660508"/>
              <a:ext cx="361547" cy="118051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95" name="Text Box 604">
              <a:extLst>
                <a:ext uri="{FF2B5EF4-FFF2-40B4-BE49-F238E27FC236}">
                  <a16:creationId xmlns:a16="http://schemas.microsoft.com/office/drawing/2014/main" id="{7921F14B-CC51-4BD9-9747-46D0F5993EA1}"/>
                </a:ext>
              </a:extLst>
            </p:cNvPr>
            <p:cNvSpPr txBox="1">
              <a:spLocks noChangeArrowheads="1"/>
            </p:cNvSpPr>
            <p:nvPr/>
          </p:nvSpPr>
          <p:spPr bwMode="auto">
            <a:xfrm>
              <a:off x="6973085" y="2562133"/>
              <a:ext cx="189142" cy="61182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6" name="Text Box 605">
              <a:extLst>
                <a:ext uri="{FF2B5EF4-FFF2-40B4-BE49-F238E27FC236}">
                  <a16:creationId xmlns:a16="http://schemas.microsoft.com/office/drawing/2014/main" id="{A6E4F554-4D6F-4B58-AD30-71B5ADE34953}"/>
                </a:ext>
              </a:extLst>
            </p:cNvPr>
            <p:cNvSpPr txBox="1">
              <a:spLocks noChangeArrowheads="1"/>
            </p:cNvSpPr>
            <p:nvPr/>
          </p:nvSpPr>
          <p:spPr bwMode="auto">
            <a:xfrm>
              <a:off x="6965959" y="1150916"/>
              <a:ext cx="219428" cy="3523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7" name="Oval 606">
              <a:extLst>
                <a:ext uri="{FF2B5EF4-FFF2-40B4-BE49-F238E27FC236}">
                  <a16:creationId xmlns:a16="http://schemas.microsoft.com/office/drawing/2014/main" id="{2434CE3B-D5BF-4AC1-9E50-3726318DB5F7}"/>
                </a:ext>
              </a:extLst>
            </p:cNvPr>
            <p:cNvSpPr>
              <a:spLocks noChangeArrowheads="1"/>
            </p:cNvSpPr>
            <p:nvPr/>
          </p:nvSpPr>
          <p:spPr bwMode="auto">
            <a:xfrm>
              <a:off x="7426692" y="2841023"/>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98" name="Oval 607">
              <a:extLst>
                <a:ext uri="{FF2B5EF4-FFF2-40B4-BE49-F238E27FC236}">
                  <a16:creationId xmlns:a16="http://schemas.microsoft.com/office/drawing/2014/main" id="{599D79F0-9F64-4B18-9735-0D4BDF86FA17}"/>
                </a:ext>
              </a:extLst>
            </p:cNvPr>
            <p:cNvSpPr>
              <a:spLocks noChangeArrowheads="1"/>
            </p:cNvSpPr>
            <p:nvPr/>
          </p:nvSpPr>
          <p:spPr bwMode="auto">
            <a:xfrm>
              <a:off x="7145489" y="2841023"/>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99" name="Text Box 609">
              <a:extLst>
                <a:ext uri="{FF2B5EF4-FFF2-40B4-BE49-F238E27FC236}">
                  <a16:creationId xmlns:a16="http://schemas.microsoft.com/office/drawing/2014/main" id="{5BF1FD36-FFA0-4796-867A-D9F35A5BE638}"/>
                </a:ext>
              </a:extLst>
            </p:cNvPr>
            <p:cNvSpPr txBox="1">
              <a:spLocks noChangeArrowheads="1"/>
            </p:cNvSpPr>
            <p:nvPr/>
          </p:nvSpPr>
          <p:spPr bwMode="auto">
            <a:xfrm>
              <a:off x="8385792" y="2609697"/>
              <a:ext cx="202533" cy="3545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100" name="Line 610">
              <a:extLst>
                <a:ext uri="{FF2B5EF4-FFF2-40B4-BE49-F238E27FC236}">
                  <a16:creationId xmlns:a16="http://schemas.microsoft.com/office/drawing/2014/main" id="{A5538FFC-6067-4CCF-9DFF-3652045B8005}"/>
                </a:ext>
              </a:extLst>
            </p:cNvPr>
            <p:cNvCxnSpPr>
              <a:cxnSpLocks noChangeShapeType="1"/>
              <a:stCxn id="115" idx="4"/>
              <a:endCxn id="114" idx="0"/>
            </p:cNvCxnSpPr>
            <p:nvPr/>
          </p:nvCxnSpPr>
          <p:spPr bwMode="auto">
            <a:xfrm>
              <a:off x="8741081" y="2949023"/>
              <a:ext cx="0" cy="118267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1" name="Text Box 611">
              <a:extLst>
                <a:ext uri="{FF2B5EF4-FFF2-40B4-BE49-F238E27FC236}">
                  <a16:creationId xmlns:a16="http://schemas.microsoft.com/office/drawing/2014/main" id="{FA8F533A-A058-4883-926D-411C7641AB48}"/>
                </a:ext>
              </a:extLst>
            </p:cNvPr>
            <p:cNvSpPr txBox="1">
              <a:spLocks noChangeArrowheads="1"/>
            </p:cNvSpPr>
            <p:nvPr/>
          </p:nvSpPr>
          <p:spPr bwMode="auto">
            <a:xfrm>
              <a:off x="8650975" y="4263483"/>
              <a:ext cx="200859" cy="3055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02" name="Text Box 612">
              <a:extLst>
                <a:ext uri="{FF2B5EF4-FFF2-40B4-BE49-F238E27FC236}">
                  <a16:creationId xmlns:a16="http://schemas.microsoft.com/office/drawing/2014/main" id="{DFCB37AB-D8F5-489B-A07A-6B0A0ED8EED6}"/>
                </a:ext>
              </a:extLst>
            </p:cNvPr>
            <p:cNvSpPr txBox="1">
              <a:spLocks noChangeArrowheads="1"/>
            </p:cNvSpPr>
            <p:nvPr/>
          </p:nvSpPr>
          <p:spPr bwMode="auto">
            <a:xfrm>
              <a:off x="8846095" y="4853789"/>
              <a:ext cx="473692" cy="611829"/>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(k)</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03" name="Oval 613">
              <a:extLst>
                <a:ext uri="{FF2B5EF4-FFF2-40B4-BE49-F238E27FC236}">
                  <a16:creationId xmlns:a16="http://schemas.microsoft.com/office/drawing/2014/main" id="{BEFA1ABD-ED46-41C2-8044-7DFEBC4A3478}"/>
                </a:ext>
              </a:extLst>
            </p:cNvPr>
            <p:cNvSpPr>
              <a:spLocks noChangeArrowheads="1"/>
            </p:cNvSpPr>
            <p:nvPr/>
          </p:nvSpPr>
          <p:spPr bwMode="auto">
            <a:xfrm>
              <a:off x="9043606" y="1552508"/>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104" name="Line 615">
              <a:extLst>
                <a:ext uri="{FF2B5EF4-FFF2-40B4-BE49-F238E27FC236}">
                  <a16:creationId xmlns:a16="http://schemas.microsoft.com/office/drawing/2014/main" id="{17A4C697-CF5C-405D-A4CB-B25B920DAD37}"/>
                </a:ext>
              </a:extLst>
            </p:cNvPr>
            <p:cNvCxnSpPr>
              <a:cxnSpLocks noChangeShapeType="1"/>
              <a:stCxn id="113" idx="3"/>
              <a:endCxn id="114" idx="7"/>
            </p:cNvCxnSpPr>
            <p:nvPr/>
          </p:nvCxnSpPr>
          <p:spPr bwMode="auto">
            <a:xfrm flipH="1">
              <a:off x="8779265" y="2933207"/>
              <a:ext cx="660115" cy="12143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5" name="Line 616">
              <a:extLst>
                <a:ext uri="{FF2B5EF4-FFF2-40B4-BE49-F238E27FC236}">
                  <a16:creationId xmlns:a16="http://schemas.microsoft.com/office/drawing/2014/main" id="{396E7AB8-814D-4F30-8D04-575B8AD308A9}"/>
                </a:ext>
              </a:extLst>
            </p:cNvPr>
            <p:cNvCxnSpPr>
              <a:cxnSpLocks noChangeShapeType="1"/>
              <a:stCxn id="103" idx="3"/>
              <a:endCxn id="115" idx="0"/>
            </p:cNvCxnSpPr>
            <p:nvPr/>
          </p:nvCxnSpPr>
          <p:spPr bwMode="auto">
            <a:xfrm flipH="1">
              <a:off x="8741081" y="1644692"/>
              <a:ext cx="318341" cy="119633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6" name="Line 617">
              <a:extLst>
                <a:ext uri="{FF2B5EF4-FFF2-40B4-BE49-F238E27FC236}">
                  <a16:creationId xmlns:a16="http://schemas.microsoft.com/office/drawing/2014/main" id="{48431F9F-7FB3-436C-B6F9-C5F46E8F8F1E}"/>
                </a:ext>
              </a:extLst>
            </p:cNvPr>
            <p:cNvCxnSpPr>
              <a:cxnSpLocks noChangeShapeType="1"/>
              <a:stCxn id="103" idx="5"/>
              <a:endCxn id="113" idx="0"/>
            </p:cNvCxnSpPr>
            <p:nvPr/>
          </p:nvCxnSpPr>
          <p:spPr bwMode="auto">
            <a:xfrm>
              <a:off x="9135790" y="1644692"/>
              <a:ext cx="341774" cy="119633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7" name="Line 618">
              <a:extLst>
                <a:ext uri="{FF2B5EF4-FFF2-40B4-BE49-F238E27FC236}">
                  <a16:creationId xmlns:a16="http://schemas.microsoft.com/office/drawing/2014/main" id="{70C9A15A-D87F-4078-A138-7A5EF1051AF9}"/>
                </a:ext>
              </a:extLst>
            </p:cNvPr>
            <p:cNvCxnSpPr>
              <a:cxnSpLocks noChangeShapeType="1"/>
              <a:stCxn id="115" idx="5"/>
              <a:endCxn id="112" idx="1"/>
            </p:cNvCxnSpPr>
            <p:nvPr/>
          </p:nvCxnSpPr>
          <p:spPr bwMode="auto">
            <a:xfrm>
              <a:off x="8779265" y="2933207"/>
              <a:ext cx="654656" cy="122404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8" name="Text Box 619">
              <a:extLst>
                <a:ext uri="{FF2B5EF4-FFF2-40B4-BE49-F238E27FC236}">
                  <a16:creationId xmlns:a16="http://schemas.microsoft.com/office/drawing/2014/main" id="{04373D01-76FA-4A5A-B1EE-8BA6FC81FE58}"/>
                </a:ext>
              </a:extLst>
            </p:cNvPr>
            <p:cNvSpPr txBox="1">
              <a:spLocks noChangeArrowheads="1"/>
            </p:cNvSpPr>
            <p:nvPr/>
          </p:nvSpPr>
          <p:spPr bwMode="auto">
            <a:xfrm>
              <a:off x="9381719" y="4285415"/>
              <a:ext cx="209228" cy="23534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09" name="Text Box 620">
              <a:extLst>
                <a:ext uri="{FF2B5EF4-FFF2-40B4-BE49-F238E27FC236}">
                  <a16:creationId xmlns:a16="http://schemas.microsoft.com/office/drawing/2014/main" id="{186EF88F-4329-4F23-8A97-98C2599F3A82}"/>
                </a:ext>
              </a:extLst>
            </p:cNvPr>
            <p:cNvSpPr txBox="1">
              <a:spLocks noChangeArrowheads="1"/>
            </p:cNvSpPr>
            <p:nvPr/>
          </p:nvSpPr>
          <p:spPr bwMode="auto">
            <a:xfrm>
              <a:off x="9590947" y="2609697"/>
              <a:ext cx="220944" cy="3113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10" name="Text Box 621">
              <a:extLst>
                <a:ext uri="{FF2B5EF4-FFF2-40B4-BE49-F238E27FC236}">
                  <a16:creationId xmlns:a16="http://schemas.microsoft.com/office/drawing/2014/main" id="{52EA0130-599E-4000-B6D0-07D45CA6B936}"/>
                </a:ext>
              </a:extLst>
            </p:cNvPr>
            <p:cNvSpPr txBox="1">
              <a:spLocks noChangeArrowheads="1"/>
            </p:cNvSpPr>
            <p:nvPr/>
          </p:nvSpPr>
          <p:spPr bwMode="auto">
            <a:xfrm>
              <a:off x="9106593" y="1172984"/>
              <a:ext cx="189142" cy="1686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111" name="Line 622">
              <a:extLst>
                <a:ext uri="{FF2B5EF4-FFF2-40B4-BE49-F238E27FC236}">
                  <a16:creationId xmlns:a16="http://schemas.microsoft.com/office/drawing/2014/main" id="{356AD2FE-F2C8-4354-A6B3-BEF499B9C7EA}"/>
                </a:ext>
              </a:extLst>
            </p:cNvPr>
            <p:cNvCxnSpPr>
              <a:cxnSpLocks noChangeShapeType="1"/>
              <a:stCxn id="113" idx="4"/>
              <a:endCxn id="112" idx="0"/>
            </p:cNvCxnSpPr>
            <p:nvPr/>
          </p:nvCxnSpPr>
          <p:spPr bwMode="auto">
            <a:xfrm flipH="1">
              <a:off x="9472105" y="2949023"/>
              <a:ext cx="5459" cy="11924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12" name="Oval 623">
              <a:extLst>
                <a:ext uri="{FF2B5EF4-FFF2-40B4-BE49-F238E27FC236}">
                  <a16:creationId xmlns:a16="http://schemas.microsoft.com/office/drawing/2014/main" id="{27BB18F5-54F4-4761-A5B9-1F2BF3BBA637}"/>
                </a:ext>
              </a:extLst>
            </p:cNvPr>
            <p:cNvSpPr>
              <a:spLocks noChangeArrowheads="1"/>
            </p:cNvSpPr>
            <p:nvPr/>
          </p:nvSpPr>
          <p:spPr bwMode="auto">
            <a:xfrm>
              <a:off x="9418105" y="4141433"/>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113" name="Oval 624">
              <a:extLst>
                <a:ext uri="{FF2B5EF4-FFF2-40B4-BE49-F238E27FC236}">
                  <a16:creationId xmlns:a16="http://schemas.microsoft.com/office/drawing/2014/main" id="{D1D68299-E38D-421F-A707-6142D1484A5C}"/>
                </a:ext>
              </a:extLst>
            </p:cNvPr>
            <p:cNvSpPr>
              <a:spLocks noChangeArrowheads="1"/>
            </p:cNvSpPr>
            <p:nvPr/>
          </p:nvSpPr>
          <p:spPr bwMode="auto">
            <a:xfrm>
              <a:off x="9423564" y="2841023"/>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114" name="Oval 625">
              <a:extLst>
                <a:ext uri="{FF2B5EF4-FFF2-40B4-BE49-F238E27FC236}">
                  <a16:creationId xmlns:a16="http://schemas.microsoft.com/office/drawing/2014/main" id="{0B125A09-EC5D-464B-B2ED-58E6BA8B9527}"/>
                </a:ext>
              </a:extLst>
            </p:cNvPr>
            <p:cNvSpPr>
              <a:spLocks noChangeArrowheads="1"/>
            </p:cNvSpPr>
            <p:nvPr/>
          </p:nvSpPr>
          <p:spPr bwMode="auto">
            <a:xfrm>
              <a:off x="8687081" y="413170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115" name="Oval 626">
              <a:extLst>
                <a:ext uri="{FF2B5EF4-FFF2-40B4-BE49-F238E27FC236}">
                  <a16:creationId xmlns:a16="http://schemas.microsoft.com/office/drawing/2014/main" id="{FB34FA3D-6222-4128-9097-ABEF7CF4CCF0}"/>
                </a:ext>
              </a:extLst>
            </p:cNvPr>
            <p:cNvSpPr>
              <a:spLocks noChangeArrowheads="1"/>
            </p:cNvSpPr>
            <p:nvPr/>
          </p:nvSpPr>
          <p:spPr bwMode="auto">
            <a:xfrm>
              <a:off x="8687081" y="2841023"/>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116" name="Text Box 628">
              <a:extLst>
                <a:ext uri="{FF2B5EF4-FFF2-40B4-BE49-F238E27FC236}">
                  <a16:creationId xmlns:a16="http://schemas.microsoft.com/office/drawing/2014/main" id="{E913B17A-265F-4DAC-9498-98902BB92AC3}"/>
                </a:ext>
              </a:extLst>
            </p:cNvPr>
            <p:cNvSpPr txBox="1">
              <a:spLocks noChangeArrowheads="1"/>
            </p:cNvSpPr>
            <p:nvPr/>
          </p:nvSpPr>
          <p:spPr bwMode="auto">
            <a:xfrm>
              <a:off x="11043646" y="4314762"/>
              <a:ext cx="170730" cy="3055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17" name="Text Box 629">
              <a:extLst>
                <a:ext uri="{FF2B5EF4-FFF2-40B4-BE49-F238E27FC236}">
                  <a16:creationId xmlns:a16="http://schemas.microsoft.com/office/drawing/2014/main" id="{8F0C75A9-1ECD-4E13-8A1E-7892A788BB30}"/>
                </a:ext>
              </a:extLst>
            </p:cNvPr>
            <p:cNvSpPr txBox="1">
              <a:spLocks noChangeArrowheads="1"/>
            </p:cNvSpPr>
            <p:nvPr/>
          </p:nvSpPr>
          <p:spPr bwMode="auto">
            <a:xfrm>
              <a:off x="10847991" y="4853789"/>
              <a:ext cx="473693" cy="611829"/>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(l)</a:t>
              </a:r>
              <a:endParaRPr lang="zh-CN"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18" name="Oval 630">
              <a:extLst>
                <a:ext uri="{FF2B5EF4-FFF2-40B4-BE49-F238E27FC236}">
                  <a16:creationId xmlns:a16="http://schemas.microsoft.com/office/drawing/2014/main" id="{52FBDA36-235A-4CDB-A350-A5AD9064D997}"/>
                </a:ext>
              </a:extLst>
            </p:cNvPr>
            <p:cNvSpPr>
              <a:spLocks noChangeArrowheads="1"/>
            </p:cNvSpPr>
            <p:nvPr/>
          </p:nvSpPr>
          <p:spPr bwMode="auto">
            <a:xfrm>
              <a:off x="11045502" y="1552508"/>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119" name="Oval 631">
              <a:extLst>
                <a:ext uri="{FF2B5EF4-FFF2-40B4-BE49-F238E27FC236}">
                  <a16:creationId xmlns:a16="http://schemas.microsoft.com/office/drawing/2014/main" id="{3A01A130-4915-48A7-9ABB-579941CD441E}"/>
                </a:ext>
              </a:extLst>
            </p:cNvPr>
            <p:cNvSpPr>
              <a:spLocks noChangeArrowheads="1"/>
            </p:cNvSpPr>
            <p:nvPr/>
          </p:nvSpPr>
          <p:spPr bwMode="auto">
            <a:xfrm>
              <a:off x="11045502" y="4131701"/>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sp>
          <p:nvSpPr>
            <p:cNvPr id="120" name="Oval 632">
              <a:extLst>
                <a:ext uri="{FF2B5EF4-FFF2-40B4-BE49-F238E27FC236}">
                  <a16:creationId xmlns:a16="http://schemas.microsoft.com/office/drawing/2014/main" id="{9DE9B83C-31E0-4B42-9A7E-1E8A10B988D5}"/>
                </a:ext>
              </a:extLst>
            </p:cNvPr>
            <p:cNvSpPr>
              <a:spLocks noChangeArrowheads="1"/>
            </p:cNvSpPr>
            <p:nvPr/>
          </p:nvSpPr>
          <p:spPr bwMode="auto">
            <a:xfrm>
              <a:off x="10658849" y="2841023"/>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121" name="Line 633">
              <a:extLst>
                <a:ext uri="{FF2B5EF4-FFF2-40B4-BE49-F238E27FC236}">
                  <a16:creationId xmlns:a16="http://schemas.microsoft.com/office/drawing/2014/main" id="{80A3FDD4-0DEA-4F0A-BB8A-B340A0E7FB6E}"/>
                </a:ext>
              </a:extLst>
            </p:cNvPr>
            <p:cNvCxnSpPr>
              <a:cxnSpLocks noChangeShapeType="1"/>
            </p:cNvCxnSpPr>
            <p:nvPr/>
          </p:nvCxnSpPr>
          <p:spPr bwMode="auto">
            <a:xfrm flipH="1">
              <a:off x="11132541" y="2925339"/>
              <a:ext cx="331417" cy="12258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2" name="Line 634">
              <a:extLst>
                <a:ext uri="{FF2B5EF4-FFF2-40B4-BE49-F238E27FC236}">
                  <a16:creationId xmlns:a16="http://schemas.microsoft.com/office/drawing/2014/main" id="{95A1E4EB-16E6-4F7D-9E51-F77208FD8765}"/>
                </a:ext>
              </a:extLst>
            </p:cNvPr>
            <p:cNvCxnSpPr>
              <a:cxnSpLocks noChangeShapeType="1"/>
            </p:cNvCxnSpPr>
            <p:nvPr/>
          </p:nvCxnSpPr>
          <p:spPr bwMode="auto">
            <a:xfrm flipH="1">
              <a:off x="10725802" y="1658443"/>
              <a:ext cx="331417" cy="12258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3" name="Line 635">
              <a:extLst>
                <a:ext uri="{FF2B5EF4-FFF2-40B4-BE49-F238E27FC236}">
                  <a16:creationId xmlns:a16="http://schemas.microsoft.com/office/drawing/2014/main" id="{13FC6094-1036-401C-9F21-BD0E4DBEB5F5}"/>
                </a:ext>
              </a:extLst>
            </p:cNvPr>
            <p:cNvCxnSpPr>
              <a:cxnSpLocks noChangeShapeType="1"/>
            </p:cNvCxnSpPr>
            <p:nvPr/>
          </p:nvCxnSpPr>
          <p:spPr bwMode="auto">
            <a:xfrm>
              <a:off x="11132541" y="1658443"/>
              <a:ext cx="331417" cy="12258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4" name="Line 636">
              <a:extLst>
                <a:ext uri="{FF2B5EF4-FFF2-40B4-BE49-F238E27FC236}">
                  <a16:creationId xmlns:a16="http://schemas.microsoft.com/office/drawing/2014/main" id="{092D1B42-A425-4AF0-B424-E3AFF53E6782}"/>
                </a:ext>
              </a:extLst>
            </p:cNvPr>
            <p:cNvCxnSpPr>
              <a:cxnSpLocks noChangeShapeType="1"/>
            </p:cNvCxnSpPr>
            <p:nvPr/>
          </p:nvCxnSpPr>
          <p:spPr bwMode="auto">
            <a:xfrm>
              <a:off x="10730823" y="2925339"/>
              <a:ext cx="331417" cy="122582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25" name="Text Box 637">
              <a:extLst>
                <a:ext uri="{FF2B5EF4-FFF2-40B4-BE49-F238E27FC236}">
                  <a16:creationId xmlns:a16="http://schemas.microsoft.com/office/drawing/2014/main" id="{3A5266C6-BDF3-492F-AB08-7FDE8BF688CD}"/>
                </a:ext>
              </a:extLst>
            </p:cNvPr>
            <p:cNvSpPr txBox="1">
              <a:spLocks noChangeArrowheads="1"/>
            </p:cNvSpPr>
            <p:nvPr/>
          </p:nvSpPr>
          <p:spPr bwMode="auto">
            <a:xfrm>
              <a:off x="10424512" y="2609697"/>
              <a:ext cx="204207" cy="27456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26" name="Text Box 638">
              <a:extLst>
                <a:ext uri="{FF2B5EF4-FFF2-40B4-BE49-F238E27FC236}">
                  <a16:creationId xmlns:a16="http://schemas.microsoft.com/office/drawing/2014/main" id="{AE79498C-DBBF-41E6-8D92-556E344258B9}"/>
                </a:ext>
              </a:extLst>
            </p:cNvPr>
            <p:cNvSpPr txBox="1">
              <a:spLocks noChangeArrowheads="1"/>
            </p:cNvSpPr>
            <p:nvPr/>
          </p:nvSpPr>
          <p:spPr bwMode="auto">
            <a:xfrm>
              <a:off x="11550998" y="2609697"/>
              <a:ext cx="244378" cy="3545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27" name="Text Box 639">
              <a:extLst>
                <a:ext uri="{FF2B5EF4-FFF2-40B4-BE49-F238E27FC236}">
                  <a16:creationId xmlns:a16="http://schemas.microsoft.com/office/drawing/2014/main" id="{6F3E0453-AA46-4616-885C-7571C6A1E893}"/>
                </a:ext>
              </a:extLst>
            </p:cNvPr>
            <p:cNvSpPr txBox="1">
              <a:spLocks noChangeArrowheads="1"/>
            </p:cNvSpPr>
            <p:nvPr/>
          </p:nvSpPr>
          <p:spPr bwMode="auto">
            <a:xfrm>
              <a:off x="11005760" y="2425834"/>
              <a:ext cx="189142" cy="2539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28" name="Text Box 640">
              <a:extLst>
                <a:ext uri="{FF2B5EF4-FFF2-40B4-BE49-F238E27FC236}">
                  <a16:creationId xmlns:a16="http://schemas.microsoft.com/office/drawing/2014/main" id="{3A4CF7CC-C316-43E3-AF3E-DF5DE8AF2073}"/>
                </a:ext>
              </a:extLst>
            </p:cNvPr>
            <p:cNvSpPr txBox="1">
              <a:spLocks noChangeArrowheads="1"/>
            </p:cNvSpPr>
            <p:nvPr/>
          </p:nvSpPr>
          <p:spPr bwMode="auto">
            <a:xfrm>
              <a:off x="11008678" y="929869"/>
              <a:ext cx="189142" cy="3274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29" name="Oval 641">
              <a:extLst>
                <a:ext uri="{FF2B5EF4-FFF2-40B4-BE49-F238E27FC236}">
                  <a16:creationId xmlns:a16="http://schemas.microsoft.com/office/drawing/2014/main" id="{636F44F3-08C2-4FA3-8DF3-DE75953AE997}"/>
                </a:ext>
              </a:extLst>
            </p:cNvPr>
            <p:cNvSpPr>
              <a:spLocks noChangeArrowheads="1"/>
            </p:cNvSpPr>
            <p:nvPr/>
          </p:nvSpPr>
          <p:spPr bwMode="auto">
            <a:xfrm>
              <a:off x="11425461" y="2841023"/>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cxnSp>
          <p:nvCxnSpPr>
            <p:cNvPr id="130" name="Line 642">
              <a:extLst>
                <a:ext uri="{FF2B5EF4-FFF2-40B4-BE49-F238E27FC236}">
                  <a16:creationId xmlns:a16="http://schemas.microsoft.com/office/drawing/2014/main" id="{3381276F-43F0-4DE7-98AA-085C70839CDE}"/>
                </a:ext>
              </a:extLst>
            </p:cNvPr>
            <p:cNvCxnSpPr>
              <a:cxnSpLocks noChangeShapeType="1"/>
            </p:cNvCxnSpPr>
            <p:nvPr/>
          </p:nvCxnSpPr>
          <p:spPr bwMode="auto">
            <a:xfrm flipH="1">
              <a:off x="10744214" y="2272433"/>
              <a:ext cx="331417" cy="61182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1" name="Line 643">
              <a:extLst>
                <a:ext uri="{FF2B5EF4-FFF2-40B4-BE49-F238E27FC236}">
                  <a16:creationId xmlns:a16="http://schemas.microsoft.com/office/drawing/2014/main" id="{29340DF8-51A5-4667-B503-ABF01FE7E5B5}"/>
                </a:ext>
              </a:extLst>
            </p:cNvPr>
            <p:cNvCxnSpPr>
              <a:cxnSpLocks noChangeShapeType="1"/>
            </p:cNvCxnSpPr>
            <p:nvPr/>
          </p:nvCxnSpPr>
          <p:spPr bwMode="auto">
            <a:xfrm>
              <a:off x="11114129" y="2272433"/>
              <a:ext cx="331417" cy="61182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32" name="Oval 644">
              <a:extLst>
                <a:ext uri="{FF2B5EF4-FFF2-40B4-BE49-F238E27FC236}">
                  <a16:creationId xmlns:a16="http://schemas.microsoft.com/office/drawing/2014/main" id="{5AFA2D1D-8577-4856-A273-C02CEB13760E}"/>
                </a:ext>
              </a:extLst>
            </p:cNvPr>
            <p:cNvSpPr>
              <a:spLocks noChangeArrowheads="1"/>
            </p:cNvSpPr>
            <p:nvPr/>
          </p:nvSpPr>
          <p:spPr bwMode="auto">
            <a:xfrm>
              <a:off x="11045502" y="2196766"/>
              <a:ext cx="108000" cy="10800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b="1">
                <a:solidFill>
                  <a:srgbClr val="FF0000"/>
                </a:solidFill>
              </a:endParaRPr>
            </a:p>
          </p:txBody>
        </p:sp>
      </p:grpSp>
    </p:spTree>
    <p:custDataLst>
      <p:tags r:id="rId1"/>
    </p:custDataLst>
    <p:extLst>
      <p:ext uri="{BB962C8B-B14F-4D97-AF65-F5344CB8AC3E}">
        <p14:creationId xmlns:p14="http://schemas.microsoft.com/office/powerpoint/2010/main" val="129066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格的判定</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199851-869F-484E-89D0-692A486C17C5}"/>
                  </a:ext>
                </a:extLst>
              </p:cNvPr>
              <p:cNvSpPr>
                <a:spLocks noGrp="1"/>
              </p:cNvSpPr>
              <p:nvPr>
                <p:ph idx="1"/>
              </p:nvPr>
            </p:nvSpPr>
            <p:spPr>
              <a:xfrm>
                <a:off x="238637" y="3575111"/>
                <a:ext cx="11506200" cy="2590800"/>
              </a:xfrm>
            </p:spPr>
            <p:txBody>
              <a:bodyPr>
                <a:noAutofit/>
              </a:bodyPr>
              <a:lstStyle/>
              <a:p>
                <a:pPr marL="0" indent="0" algn="just">
                  <a:buNone/>
                </a:pPr>
                <a:r>
                  <a:rPr lang="zh-CN" altLang="zh-CN" kern="100" dirty="0">
                    <a:effectLst/>
                    <a:latin typeface="+mn-ea"/>
                  </a:rPr>
                  <a:t>由于最大下界和最小上界</a:t>
                </a:r>
                <a:r>
                  <a:rPr lang="zh-CN" altLang="zh-CN" kern="100">
                    <a:effectLst/>
                    <a:latin typeface="+mn-ea"/>
                  </a:rPr>
                  <a:t>都是</a:t>
                </a:r>
                <a:r>
                  <a:rPr lang="zh-CN" altLang="en-US" kern="100">
                    <a:latin typeface="+mn-ea"/>
                  </a:rPr>
                  <a:t>唯</a:t>
                </a:r>
                <a:r>
                  <a:rPr lang="zh-CN" altLang="zh-CN" kern="100">
                    <a:effectLst/>
                    <a:latin typeface="+mn-ea"/>
                  </a:rPr>
                  <a:t>一</a:t>
                </a:r>
                <a:r>
                  <a:rPr lang="zh-CN" altLang="zh-CN" kern="100" dirty="0">
                    <a:effectLst/>
                    <a:latin typeface="+mn-ea"/>
                  </a:rPr>
                  <a:t>存在的，可以</a:t>
                </a:r>
                <a:r>
                  <a:rPr lang="zh-CN" altLang="zh-CN" kern="100" dirty="0">
                    <a:solidFill>
                      <a:srgbClr val="0000FF"/>
                    </a:solidFill>
                    <a:effectLst/>
                    <a:latin typeface="+mn-ea"/>
                  </a:rPr>
                  <a:t>将</a:t>
                </a:r>
                <a:r>
                  <a:rPr lang="zh-CN" altLang="en-US" kern="100" dirty="0">
                    <a:solidFill>
                      <a:srgbClr val="0000FF"/>
                    </a:solidFill>
                    <a:effectLst/>
                    <a:latin typeface="+mn-ea"/>
                  </a:rPr>
                  <a:t>其</a:t>
                </a:r>
                <a:r>
                  <a:rPr lang="zh-CN" altLang="zh-CN" kern="100" dirty="0">
                    <a:solidFill>
                      <a:srgbClr val="0000FF"/>
                    </a:solidFill>
                    <a:effectLst/>
                    <a:latin typeface="+mn-ea"/>
                  </a:rPr>
                  <a:t>看做是两个二元运算</a:t>
                </a:r>
                <a:r>
                  <a:rPr lang="zh-CN" altLang="zh-CN" kern="100" dirty="0">
                    <a:effectLst/>
                    <a:latin typeface="+mn-ea"/>
                  </a:rPr>
                  <a:t>，分别使用</a:t>
                </a:r>
                <a14:m>
                  <m:oMath xmlns:m="http://schemas.openxmlformats.org/officeDocument/2006/math">
                    <m:r>
                      <a:rPr lang="zh-CN" altLang="en-US" i="1" kern="100" dirty="0" smtClean="0">
                        <a:solidFill>
                          <a:srgbClr val="FF0000"/>
                        </a:solidFill>
                        <a:effectLst/>
                        <a:latin typeface="Cambria Math" panose="02040503050406030204" pitchFamily="18" charset="0"/>
                        <a:cs typeface="宋体" panose="02010600030101010101" pitchFamily="2" charset="-122"/>
                      </a:rPr>
                      <m:t>⋀</m:t>
                    </m:r>
                  </m:oMath>
                </a14:m>
                <a:r>
                  <a:rPr lang="zh-CN" altLang="zh-CN" kern="100" dirty="0">
                    <a:solidFill>
                      <a:srgbClr val="FF0000"/>
                    </a:solidFill>
                    <a:effectLst/>
                    <a:latin typeface="+mn-ea"/>
                  </a:rPr>
                  <a:t>和</a:t>
                </a:r>
                <a14:m>
                  <m:oMath xmlns:m="http://schemas.openxmlformats.org/officeDocument/2006/math">
                    <m:r>
                      <a:rPr lang="zh-CN" altLang="en-US" i="1" kern="100" dirty="0" smtClean="0">
                        <a:solidFill>
                          <a:srgbClr val="FF0000"/>
                        </a:solidFill>
                        <a:effectLst/>
                        <a:latin typeface="Cambria Math" panose="02040503050406030204" pitchFamily="18" charset="0"/>
                        <a:cs typeface="宋体" panose="02010600030101010101" pitchFamily="2" charset="-122"/>
                      </a:rPr>
                      <m:t>⋁</m:t>
                    </m:r>
                  </m:oMath>
                </a14:m>
                <a:r>
                  <a:rPr lang="zh-CN" altLang="zh-CN" kern="100" dirty="0">
                    <a:effectLst/>
                    <a:latin typeface="+mn-ea"/>
                  </a:rPr>
                  <a:t>来表示，称为格</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kern="100" dirty="0">
                    <a:effectLst/>
                    <a:latin typeface="+mn-ea"/>
                  </a:rPr>
                  <a:t>的</a:t>
                </a:r>
                <a:r>
                  <a:rPr lang="zh-CN" altLang="zh-CN" kern="100" dirty="0">
                    <a:solidFill>
                      <a:srgbClr val="FF0000"/>
                    </a:solidFill>
                    <a:effectLst/>
                    <a:latin typeface="+mn-ea"/>
                  </a:rPr>
                  <a:t>自然运算</a:t>
                </a:r>
                <a:r>
                  <a:rPr lang="zh-CN" altLang="zh-CN" kern="100" dirty="0">
                    <a:effectLst/>
                    <a:latin typeface="+mn-ea"/>
                  </a:rPr>
                  <a:t>（也可分别称为</a:t>
                </a:r>
                <a:r>
                  <a:rPr lang="zh-CN" altLang="zh-CN" kern="100" dirty="0">
                    <a:solidFill>
                      <a:srgbClr val="FF0000"/>
                    </a:solidFill>
                    <a:effectLst/>
                    <a:latin typeface="+mn-ea"/>
                  </a:rPr>
                  <a:t>保交和保联运算</a:t>
                </a:r>
                <a:r>
                  <a:rPr lang="zh-CN" altLang="zh-CN" kern="100" dirty="0">
                    <a:effectLst/>
                    <a:latin typeface="+mn-ea"/>
                  </a:rPr>
                  <a:t>）。即</a:t>
                </a:r>
              </a:p>
              <a:p>
                <a:pPr marL="0" indent="0" algn="ctr">
                  <a:buNone/>
                </a:pPr>
                <a14:m>
                  <m:oMathPara xmlns:m="http://schemas.openxmlformats.org/officeDocument/2006/math">
                    <m:oMathParaPr>
                      <m:jc m:val="centerGroup"/>
                    </m:oMathParaPr>
                    <m:oMath xmlns:m="http://schemas.openxmlformats.org/officeDocument/2006/math">
                      <m:r>
                        <a:rPr lang="en-US" altLang="zh-CN" b="1" i="1" kern="100" dirty="0" smtClean="0">
                          <a:solidFill>
                            <a:srgbClr val="0000FF"/>
                          </a:solidFill>
                          <a:effectLst/>
                          <a:latin typeface="Cambria Math" panose="02040503050406030204" pitchFamily="18" charset="0"/>
                          <a:sym typeface="Symbol" panose="05050102010706020507" pitchFamily="18" charset="2"/>
                        </a:rPr>
                        <m:t></m:t>
                      </m:r>
                      <m:r>
                        <a:rPr lang="en-US" altLang="zh-CN" i="1" kern="100" dirty="0">
                          <a:solidFill>
                            <a:srgbClr val="0000FF"/>
                          </a:solidFill>
                          <a:latin typeface="Cambria Math" panose="02040503050406030204" pitchFamily="18" charset="0"/>
                        </a:rPr>
                        <m:t>𝒙</m:t>
                      </m:r>
                      <m:r>
                        <a:rPr lang="en-US" altLang="zh-CN" i="1" kern="100" dirty="0">
                          <a:solidFill>
                            <a:srgbClr val="0000FF"/>
                          </a:solidFill>
                          <a:latin typeface="Cambria Math" panose="02040503050406030204" pitchFamily="18" charset="0"/>
                        </a:rPr>
                        <m:t>,</m:t>
                      </m:r>
                      <m:r>
                        <a:rPr lang="en-US" altLang="zh-CN" i="1" kern="100" dirty="0">
                          <a:solidFill>
                            <a:srgbClr val="0000FF"/>
                          </a:solidFill>
                          <a:latin typeface="Cambria Math" panose="02040503050406030204" pitchFamily="18" charset="0"/>
                        </a:rPr>
                        <m:t>𝒚</m:t>
                      </m:r>
                      <m:r>
                        <a:rPr lang="en-US" altLang="zh-CN" b="1" i="1" kern="100" dirty="0" err="1">
                          <a:solidFill>
                            <a:srgbClr val="0000FF"/>
                          </a:solidFill>
                          <a:effectLst/>
                          <a:latin typeface="Cambria Math" panose="02040503050406030204" pitchFamily="18" charset="0"/>
                          <a:sym typeface="Symbol" panose="05050102010706020507" pitchFamily="18" charset="2"/>
                        </a:rPr>
                        <m:t></m:t>
                      </m:r>
                      <m:r>
                        <a:rPr lang="en-US" altLang="zh-CN" b="1" i="1" kern="100" dirty="0" err="1">
                          <a:solidFill>
                            <a:srgbClr val="0000FF"/>
                          </a:solidFill>
                          <a:effectLst/>
                          <a:latin typeface="Cambria Math" panose="02040503050406030204" pitchFamily="18" charset="0"/>
                        </a:rPr>
                        <m:t>𝑳</m:t>
                      </m:r>
                      <m:r>
                        <a:rPr lang="en-US" altLang="zh-CN" b="1" i="1" kern="100" dirty="0">
                          <a:solidFill>
                            <a:srgbClr val="0000FF"/>
                          </a:solidFill>
                          <a:effectLst/>
                          <a:latin typeface="Cambria Math" panose="02040503050406030204" pitchFamily="18" charset="0"/>
                        </a:rPr>
                        <m:t>, </m:t>
                      </m:r>
                      <m:r>
                        <a:rPr lang="en-US" altLang="zh-CN" b="1" i="1" kern="100" dirty="0">
                          <a:solidFill>
                            <a:srgbClr val="0000FF"/>
                          </a:solidFill>
                          <a:effectLst/>
                          <a:latin typeface="Cambria Math" panose="02040503050406030204" pitchFamily="18" charset="0"/>
                        </a:rPr>
                        <m:t>𝒙</m:t>
                      </m:r>
                      <m:r>
                        <a:rPr lang="zh-CN" altLang="en-US" b="1" i="1" kern="100" dirty="0" smtClean="0">
                          <a:solidFill>
                            <a:srgbClr val="0000FF"/>
                          </a:solidFill>
                          <a:effectLst/>
                          <a:latin typeface="Cambria Math" panose="02040503050406030204" pitchFamily="18" charset="0"/>
                          <a:cs typeface="宋体" panose="02010600030101010101" pitchFamily="2" charset="-122"/>
                        </a:rPr>
                        <m:t>⋀</m:t>
                      </m:r>
                      <m:r>
                        <a:rPr lang="en-US" altLang="zh-CN" b="1" i="1" kern="100" dirty="0">
                          <a:solidFill>
                            <a:srgbClr val="0000FF"/>
                          </a:solidFill>
                          <a:effectLst/>
                          <a:latin typeface="Cambria Math" panose="02040503050406030204" pitchFamily="18" charset="0"/>
                        </a:rPr>
                        <m:t>𝒚</m:t>
                      </m:r>
                      <m:r>
                        <a:rPr lang="en-US" altLang="zh-CN" b="1" i="1" kern="100" dirty="0">
                          <a:solidFill>
                            <a:srgbClr val="0000FF"/>
                          </a:solidFill>
                          <a:effectLst/>
                          <a:latin typeface="Cambria Math" panose="02040503050406030204" pitchFamily="18" charset="0"/>
                        </a:rPr>
                        <m:t>=</m:t>
                      </m:r>
                      <m:r>
                        <a:rPr lang="en-US" altLang="zh-CN" b="1" i="0" kern="100" dirty="0">
                          <a:solidFill>
                            <a:srgbClr val="0000FF"/>
                          </a:solidFill>
                          <a:effectLst/>
                          <a:latin typeface="Cambria Math" panose="02040503050406030204" pitchFamily="18" charset="0"/>
                        </a:rPr>
                        <m:t>𝐢𝐧𝐟</m:t>
                      </m:r>
                      <m:r>
                        <a:rPr lang="en-US" altLang="zh-CN" b="1" i="1" kern="100" dirty="0">
                          <a:solidFill>
                            <a:srgbClr val="0000FF"/>
                          </a:solidFill>
                          <a:effectLst/>
                          <a:latin typeface="Cambria Math" panose="02040503050406030204" pitchFamily="18" charset="0"/>
                        </a:rPr>
                        <m:t>⁡{</m:t>
                      </m:r>
                      <m:r>
                        <a:rPr lang="en-US" altLang="zh-CN" b="1" i="1" kern="100" dirty="0" smtClean="0">
                          <a:solidFill>
                            <a:srgbClr val="0000FF"/>
                          </a:solidFill>
                          <a:effectLst/>
                          <a:latin typeface="Cambria Math" panose="02040503050406030204" pitchFamily="18" charset="0"/>
                        </a:rPr>
                        <m:t>𝒙</m:t>
                      </m:r>
                      <m:r>
                        <a:rPr lang="en-US" altLang="zh-CN" b="1" i="1" kern="100" dirty="0" smtClean="0">
                          <a:solidFill>
                            <a:srgbClr val="0000FF"/>
                          </a:solidFill>
                          <a:effectLst/>
                          <a:latin typeface="Cambria Math" panose="02040503050406030204" pitchFamily="18" charset="0"/>
                        </a:rPr>
                        <m:t>,</m:t>
                      </m:r>
                      <m:r>
                        <a:rPr lang="en-US" altLang="zh-CN" b="1" i="1" kern="100" dirty="0" smtClean="0">
                          <a:solidFill>
                            <a:srgbClr val="0000FF"/>
                          </a:solidFill>
                          <a:effectLst/>
                          <a:latin typeface="Cambria Math" panose="02040503050406030204" pitchFamily="18" charset="0"/>
                        </a:rPr>
                        <m:t>𝒚</m:t>
                      </m:r>
                      <m:r>
                        <a:rPr lang="en-US" altLang="zh-CN" b="1" i="1" kern="100" dirty="0">
                          <a:solidFill>
                            <a:srgbClr val="0000FF"/>
                          </a:solidFill>
                          <a:effectLst/>
                          <a:latin typeface="Cambria Math" panose="02040503050406030204" pitchFamily="18" charset="0"/>
                        </a:rPr>
                        <m:t>}</m:t>
                      </m:r>
                      <m:r>
                        <a:rPr lang="zh-CN" altLang="en-US" i="1" kern="100" dirty="0">
                          <a:solidFill>
                            <a:srgbClr val="0000FF"/>
                          </a:solidFill>
                          <a:latin typeface="Cambria Math" panose="02040503050406030204" pitchFamily="18" charset="0"/>
                        </a:rPr>
                        <m:t>，</m:t>
                      </m:r>
                      <m:r>
                        <a:rPr lang="en-US" altLang="zh-CN" b="1" i="1" kern="100" dirty="0">
                          <a:solidFill>
                            <a:srgbClr val="0000FF"/>
                          </a:solidFill>
                          <a:effectLst/>
                          <a:latin typeface="Cambria Math" panose="02040503050406030204" pitchFamily="18" charset="0"/>
                        </a:rPr>
                        <m:t> </m:t>
                      </m:r>
                      <m:r>
                        <a:rPr lang="en-US" altLang="zh-CN" b="1" i="1" kern="100" dirty="0">
                          <a:solidFill>
                            <a:srgbClr val="0000FF"/>
                          </a:solidFill>
                          <a:effectLst/>
                          <a:latin typeface="Cambria Math" panose="02040503050406030204" pitchFamily="18" charset="0"/>
                        </a:rPr>
                        <m:t>𝒙</m:t>
                      </m:r>
                      <m:r>
                        <a:rPr lang="zh-CN" altLang="en-US" b="1" i="1" kern="100" dirty="0" smtClean="0">
                          <a:solidFill>
                            <a:srgbClr val="0000FF"/>
                          </a:solidFill>
                          <a:effectLst/>
                          <a:latin typeface="Cambria Math" panose="02040503050406030204" pitchFamily="18" charset="0"/>
                          <a:cs typeface="宋体" panose="02010600030101010101" pitchFamily="2" charset="-122"/>
                        </a:rPr>
                        <m:t>⋁</m:t>
                      </m:r>
                      <m:r>
                        <a:rPr lang="en-US" altLang="zh-CN" b="1" i="1" kern="100" dirty="0">
                          <a:solidFill>
                            <a:srgbClr val="0000FF"/>
                          </a:solidFill>
                          <a:effectLst/>
                          <a:latin typeface="Cambria Math" panose="02040503050406030204" pitchFamily="18" charset="0"/>
                        </a:rPr>
                        <m:t>𝒚</m:t>
                      </m:r>
                      <m:r>
                        <a:rPr lang="en-US" altLang="zh-CN" b="1" i="1" kern="100" dirty="0">
                          <a:solidFill>
                            <a:srgbClr val="0000FF"/>
                          </a:solidFill>
                          <a:effectLst/>
                          <a:latin typeface="Cambria Math" panose="02040503050406030204" pitchFamily="18" charset="0"/>
                        </a:rPr>
                        <m:t>=</m:t>
                      </m:r>
                      <m:r>
                        <a:rPr lang="en-US" altLang="zh-CN" b="1" i="0" kern="100" dirty="0">
                          <a:solidFill>
                            <a:srgbClr val="0000FF"/>
                          </a:solidFill>
                          <a:effectLst/>
                          <a:latin typeface="Cambria Math" panose="02040503050406030204" pitchFamily="18" charset="0"/>
                        </a:rPr>
                        <m:t>𝐬𝐮𝐩</m:t>
                      </m:r>
                      <m:r>
                        <a:rPr lang="en-US" altLang="zh-CN" b="1" i="1" kern="100" dirty="0">
                          <a:solidFill>
                            <a:srgbClr val="0000FF"/>
                          </a:solidFill>
                          <a:effectLst/>
                          <a:latin typeface="Cambria Math" panose="02040503050406030204" pitchFamily="18" charset="0"/>
                        </a:rPr>
                        <m:t>⁡{</m:t>
                      </m:r>
                      <m:r>
                        <a:rPr lang="en-US" altLang="zh-CN" i="1" kern="100" dirty="0">
                          <a:solidFill>
                            <a:srgbClr val="0000FF"/>
                          </a:solidFill>
                          <a:latin typeface="Cambria Math" panose="02040503050406030204" pitchFamily="18" charset="0"/>
                        </a:rPr>
                        <m:t>𝒙</m:t>
                      </m:r>
                      <m:r>
                        <a:rPr lang="en-US" altLang="zh-CN" i="1" kern="100" dirty="0">
                          <a:solidFill>
                            <a:srgbClr val="0000FF"/>
                          </a:solidFill>
                          <a:latin typeface="Cambria Math" panose="02040503050406030204" pitchFamily="18" charset="0"/>
                        </a:rPr>
                        <m:t>,</m:t>
                      </m:r>
                      <m:r>
                        <a:rPr lang="en-US" altLang="zh-CN" i="1" kern="100" dirty="0">
                          <a:solidFill>
                            <a:srgbClr val="0000FF"/>
                          </a:solidFill>
                          <a:latin typeface="Cambria Math" panose="02040503050406030204" pitchFamily="18" charset="0"/>
                        </a:rPr>
                        <m:t>𝒚</m:t>
                      </m:r>
                      <m:r>
                        <a:rPr lang="en-US" altLang="zh-CN" b="1" i="1" kern="100" dirty="0">
                          <a:solidFill>
                            <a:srgbClr val="0000FF"/>
                          </a:solidFill>
                          <a:effectLst/>
                          <a:latin typeface="Cambria Math" panose="02040503050406030204" pitchFamily="18" charset="0"/>
                        </a:rPr>
                        <m:t>}</m:t>
                      </m:r>
                    </m:oMath>
                  </m:oMathPara>
                </a14:m>
                <a:endParaRPr lang="zh-CN" altLang="zh-CN" kern="100" dirty="0">
                  <a:solidFill>
                    <a:srgbClr val="0000FF"/>
                  </a:solidFill>
                  <a:effectLst/>
                  <a:latin typeface="+mn-ea"/>
                </a:endParaRPr>
              </a:p>
              <a:p>
                <a:pPr marL="0" indent="0">
                  <a:buNone/>
                </a:pPr>
                <a:r>
                  <a:rPr lang="zh-CN" altLang="zh-CN" dirty="0">
                    <a:effectLst/>
                    <a:latin typeface="+mn-ea"/>
                    <a:cs typeface="Times New Roman" panose="02020603050405020304" pitchFamily="18" charset="0"/>
                  </a:rPr>
                  <a:t>注意，本章的</a:t>
                </a:r>
                <a14:m>
                  <m:oMath xmlns:m="http://schemas.openxmlformats.org/officeDocument/2006/math">
                    <m:r>
                      <a:rPr lang="zh-CN" altLang="en-US" b="1" i="1" dirty="0" smtClean="0">
                        <a:effectLst/>
                        <a:latin typeface="Cambria Math" panose="02040503050406030204" pitchFamily="18" charset="0"/>
                        <a:cs typeface="宋体" panose="02010600030101010101" pitchFamily="2" charset="-122"/>
                      </a:rPr>
                      <m:t>⋀</m:t>
                    </m:r>
                  </m:oMath>
                </a14:m>
                <a:r>
                  <a:rPr lang="zh-CN" altLang="zh-CN" dirty="0">
                    <a:effectLst/>
                    <a:latin typeface="+mn-ea"/>
                    <a:cs typeface="Times New Roman" panose="02020603050405020304" pitchFamily="18" charset="0"/>
                  </a:rPr>
                  <a:t>和</a:t>
                </a:r>
                <a14:m>
                  <m:oMath xmlns:m="http://schemas.openxmlformats.org/officeDocument/2006/math">
                    <m:r>
                      <a:rPr lang="zh-CN" altLang="en-US" b="1" i="1" dirty="0" smtClean="0">
                        <a:effectLst/>
                        <a:latin typeface="Cambria Math" panose="02040503050406030204" pitchFamily="18" charset="0"/>
                        <a:cs typeface="宋体" panose="02010600030101010101" pitchFamily="2" charset="-122"/>
                      </a:rPr>
                      <m:t>⋁</m:t>
                    </m:r>
                  </m:oMath>
                </a14:m>
                <a:r>
                  <a:rPr lang="zh-CN" altLang="zh-CN" dirty="0">
                    <a:effectLst/>
                    <a:latin typeface="+mn-ea"/>
                    <a:cs typeface="Times New Roman" panose="02020603050405020304" pitchFamily="18" charset="0"/>
                  </a:rPr>
                  <a:t>代表格中的两个运算，而不一定是其本来常用的合取和析取的含义。有时候也可能用</a:t>
                </a:r>
                <a14:m>
                  <m:oMath xmlns:m="http://schemas.openxmlformats.org/officeDocument/2006/math">
                    <m:r>
                      <a:rPr lang="en-US" altLang="zh-CN" b="1" i="1" dirty="0" smtClean="0">
                        <a:solidFill>
                          <a:srgbClr val="0000FF"/>
                        </a:solidFill>
                        <a:effectLst/>
                        <a:latin typeface="Cambria Math" panose="02040503050406030204" pitchFamily="18" charset="0"/>
                      </a:rPr>
                      <m:t>∩</m:t>
                    </m:r>
                  </m:oMath>
                </a14:m>
                <a:r>
                  <a:rPr lang="zh-CN" altLang="zh-CN" dirty="0">
                    <a:solidFill>
                      <a:srgbClr val="0000FF"/>
                    </a:solidFill>
                    <a:effectLst/>
                    <a:latin typeface="+mn-ea"/>
                    <a:cs typeface="Times New Roman" panose="02020603050405020304" pitchFamily="18" charset="0"/>
                  </a:rPr>
                  <a:t>和</a:t>
                </a:r>
                <a14:m>
                  <m:oMath xmlns:m="http://schemas.openxmlformats.org/officeDocument/2006/math">
                    <m:r>
                      <a:rPr lang="en-US" altLang="zh-CN" b="1" i="1" dirty="0" smtClean="0">
                        <a:solidFill>
                          <a:srgbClr val="0000FF"/>
                        </a:solidFill>
                        <a:effectLst/>
                        <a:latin typeface="Cambria Math" panose="02040503050406030204" pitchFamily="18" charset="0"/>
                        <a:cs typeface="Cambria Math" panose="02040503050406030204" pitchFamily="18" charset="0"/>
                      </a:rPr>
                      <m:t>∪</m:t>
                    </m:r>
                  </m:oMath>
                </a14:m>
                <a:r>
                  <a:rPr lang="zh-CN" altLang="zh-CN" dirty="0">
                    <a:solidFill>
                      <a:srgbClr val="0000FF"/>
                    </a:solidFill>
                    <a:effectLst/>
                    <a:latin typeface="+mn-ea"/>
                    <a:cs typeface="Times New Roman" panose="02020603050405020304" pitchFamily="18" charset="0"/>
                  </a:rPr>
                  <a:t>、</a:t>
                </a:r>
                <a14:m>
                  <m:oMath xmlns:m="http://schemas.openxmlformats.org/officeDocument/2006/math">
                    <m:r>
                      <a:rPr lang="en-US" altLang="zh-CN" b="1" i="1" dirty="0" smtClean="0">
                        <a:solidFill>
                          <a:srgbClr val="0000FF"/>
                        </a:solidFill>
                        <a:effectLst/>
                        <a:latin typeface="Cambria Math" panose="02040503050406030204" pitchFamily="18" charset="0"/>
                      </a:rPr>
                      <m:t>·</m:t>
                    </m:r>
                  </m:oMath>
                </a14:m>
                <a:r>
                  <a:rPr lang="zh-CN" altLang="zh-CN" dirty="0">
                    <a:solidFill>
                      <a:srgbClr val="0000FF"/>
                    </a:solidFill>
                    <a:effectLst/>
                    <a:latin typeface="+mn-ea"/>
                    <a:cs typeface="Times New Roman" panose="02020603050405020304" pitchFamily="18" charset="0"/>
                  </a:rPr>
                  <a:t>和</a:t>
                </a:r>
                <a14:m>
                  <m:oMath xmlns:m="http://schemas.openxmlformats.org/officeDocument/2006/math">
                    <m:r>
                      <a:rPr lang="zh-CN" altLang="zh-CN" b="1" i="1" dirty="0" smtClean="0">
                        <a:solidFill>
                          <a:srgbClr val="0000FF"/>
                        </a:solidFill>
                        <a:effectLst/>
                        <a:latin typeface="Cambria Math" panose="02040503050406030204" pitchFamily="18" charset="0"/>
                        <a:cs typeface="Times New Roman" panose="02020603050405020304" pitchFamily="18" charset="0"/>
                      </a:rPr>
                      <m:t>＋</m:t>
                    </m:r>
                  </m:oMath>
                </a14:m>
                <a:r>
                  <a:rPr lang="zh-CN" altLang="zh-CN" dirty="0">
                    <a:solidFill>
                      <a:srgbClr val="0000FF"/>
                    </a:solidFill>
                    <a:effectLst/>
                    <a:latin typeface="+mn-ea"/>
                    <a:cs typeface="Times New Roman" panose="02020603050405020304" pitchFamily="18" charset="0"/>
                  </a:rPr>
                  <a:t>、</a:t>
                </a:r>
                <a14:m>
                  <m:oMath xmlns:m="http://schemas.openxmlformats.org/officeDocument/2006/math">
                    <m:r>
                      <a:rPr lang="en-US" altLang="zh-CN" b="1" i="1" dirty="0" smtClean="0">
                        <a:solidFill>
                          <a:srgbClr val="0000FF"/>
                        </a:solidFill>
                        <a:effectLst/>
                        <a:latin typeface="Cambria Math" panose="02040503050406030204" pitchFamily="18" charset="0"/>
                      </a:rPr>
                      <m:t>∗</m:t>
                    </m:r>
                  </m:oMath>
                </a14:m>
                <a:r>
                  <a:rPr lang="zh-CN" altLang="zh-CN" dirty="0">
                    <a:solidFill>
                      <a:srgbClr val="0000FF"/>
                    </a:solidFill>
                    <a:effectLst/>
                    <a:latin typeface="+mn-ea"/>
                    <a:cs typeface="Times New Roman" panose="02020603050405020304" pitchFamily="18" charset="0"/>
                  </a:rPr>
                  <a:t>和</a:t>
                </a:r>
                <a14:m>
                  <m:oMath xmlns:m="http://schemas.openxmlformats.org/officeDocument/2006/math">
                    <m:r>
                      <a:rPr lang="en-US" altLang="zh-CN" b="1" i="1" dirty="0" smtClean="0">
                        <a:solidFill>
                          <a:srgbClr val="0000FF"/>
                        </a:solidFill>
                        <a:effectLst/>
                        <a:latin typeface="Cambria Math" panose="02040503050406030204" pitchFamily="18" charset="0"/>
                        <a:cs typeface="Times New Roman" panose="02020603050405020304" pitchFamily="18" charset="0"/>
                        <a:sym typeface="Symbol" panose="05050102010706020507" pitchFamily="18" charset="2"/>
                      </a:rPr>
                      <m:t></m:t>
                    </m:r>
                  </m:oMath>
                </a14:m>
                <a:r>
                  <a:rPr lang="zh-CN" altLang="zh-CN" dirty="0">
                    <a:effectLst/>
                    <a:latin typeface="+mn-ea"/>
                    <a:cs typeface="Times New Roman" panose="02020603050405020304" pitchFamily="18" charset="0"/>
                  </a:rPr>
                  <a:t>等符号来表示。</a:t>
                </a:r>
                <a:endParaRPr lang="zh-CN" altLang="en-US" dirty="0">
                  <a:latin typeface="+mn-ea"/>
                </a:endParaRPr>
              </a:p>
            </p:txBody>
          </p:sp>
        </mc:Choice>
        <mc:Fallback xmlns="">
          <p:sp>
            <p:nvSpPr>
              <p:cNvPr id="3" name="Content Placeholder 2">
                <a:extLst>
                  <a:ext uri="{FF2B5EF4-FFF2-40B4-BE49-F238E27FC236}">
                    <a16:creationId xmlns:a16="http://schemas.microsoft.com/office/drawing/2014/main" id="{87199851-869F-484E-89D0-692A486C17C5}"/>
                  </a:ext>
                </a:extLst>
              </p:cNvPr>
              <p:cNvSpPr>
                <a:spLocks noGrp="1" noRot="1" noChangeAspect="1" noMove="1" noResize="1" noEditPoints="1" noAdjustHandles="1" noChangeArrowheads="1" noChangeShapeType="1" noTextEdit="1"/>
              </p:cNvSpPr>
              <p:nvPr>
                <p:ph idx="1"/>
              </p:nvPr>
            </p:nvSpPr>
            <p:spPr>
              <a:xfrm>
                <a:off x="238637" y="3575111"/>
                <a:ext cx="11506200" cy="2590800"/>
              </a:xfrm>
              <a:blipFill>
                <a:blip r:embed="rId5"/>
                <a:stretch>
                  <a:fillRect l="-530" r="-530"/>
                </a:stretch>
              </a:blipFill>
            </p:spPr>
            <p:txBody>
              <a:bodyPr/>
              <a:lstStyle/>
              <a:p>
                <a:r>
                  <a:rPr lang="zh-CN" altLang="en-US">
                    <a:noFill/>
                  </a:rPr>
                  <a:t> </a:t>
                </a:r>
              </a:p>
            </p:txBody>
          </p:sp>
        </mc:Fallback>
      </mc:AlternateContent>
      <p:sp>
        <p:nvSpPr>
          <p:cNvPr id="6" name="Rectangle 5">
            <a:extLst>
              <a:ext uri="{FF2B5EF4-FFF2-40B4-BE49-F238E27FC236}">
                <a16:creationId xmlns:a16="http://schemas.microsoft.com/office/drawing/2014/main" id="{8CEA49DB-AF1A-41F7-BD94-B008F38A3545}"/>
              </a:ext>
            </a:extLst>
          </p:cNvPr>
          <p:cNvSpPr/>
          <p:nvPr/>
        </p:nvSpPr>
        <p:spPr>
          <a:xfrm>
            <a:off x="352937" y="958819"/>
            <a:ext cx="11277600" cy="1966051"/>
          </a:xfrm>
          <a:prstGeom prst="rect">
            <a:avLst/>
          </a:prstGeom>
          <a:solidFill>
            <a:srgbClr val="1A8ABC"/>
          </a:solidFill>
        </p:spPr>
        <p:txBody>
          <a:bodyPr wrap="square">
            <a:spAutoFit/>
          </a:bodyPr>
          <a:lstStyle/>
          <a:p>
            <a:pPr algn="just">
              <a:lnSpc>
                <a:spcPct val="130000"/>
              </a:lnSpc>
            </a:pPr>
            <a:r>
              <a:rPr lang="zh-CN" altLang="zh-CN" b="1" kern="100" dirty="0">
                <a:solidFill>
                  <a:srgbClr val="FFC000"/>
                </a:solidFill>
                <a:effectLst/>
                <a:latin typeface="华文行楷" panose="02010800040101010101" pitchFamily="2" charset="-122"/>
                <a:ea typeface="华文行楷" panose="02010800040101010101" pitchFamily="2" charset="-122"/>
              </a:rPr>
              <a:t>解题小贴士</a:t>
            </a:r>
            <a:r>
              <a:rPr lang="zh-CN" altLang="zh-CN" b="1" kern="100" dirty="0">
                <a:solidFill>
                  <a:schemeClr val="bg1"/>
                </a:solidFill>
                <a:effectLst/>
                <a:latin typeface="+mn-ea"/>
              </a:rPr>
              <a:t>—</a:t>
            </a:r>
            <a:r>
              <a:rPr lang="zh-CN" altLang="zh-CN" b="1" kern="100" dirty="0">
                <a:solidFill>
                  <a:srgbClr val="FFC000"/>
                </a:solidFill>
                <a:effectLst/>
                <a:latin typeface="+mn-ea"/>
              </a:rPr>
              <a:t>通过哈斯图判断是否是格的方法</a:t>
            </a:r>
          </a:p>
          <a:p>
            <a:pPr algn="just">
              <a:lnSpc>
                <a:spcPct val="130000"/>
              </a:lnSpc>
            </a:pPr>
            <a:r>
              <a:rPr lang="zh-CN" altLang="zh-CN" b="1" kern="100" dirty="0">
                <a:solidFill>
                  <a:schemeClr val="bg1"/>
                </a:solidFill>
                <a:effectLst/>
                <a:latin typeface="+mn-ea"/>
              </a:rPr>
              <a:t>哈斯图中，同一条链上的元素一定存在最大下界和最小上界。因此，判断一个哈斯图是否是格，只需考虑不在同一条链上的元素，即不可比的元素是否有最大下界和最小上界。</a:t>
            </a:r>
          </a:p>
        </p:txBody>
      </p:sp>
      <p:sp>
        <p:nvSpPr>
          <p:cNvPr id="7" name="内容占位符 4">
            <a:extLst>
              <a:ext uri="{FF2B5EF4-FFF2-40B4-BE49-F238E27FC236}">
                <a16:creationId xmlns:a16="http://schemas.microsoft.com/office/drawing/2014/main" id="{5BE111C5-F8CE-411F-B47E-14BD8A95A288}"/>
              </a:ext>
            </a:extLst>
          </p:cNvPr>
          <p:cNvSpPr txBox="1">
            <a:spLocks/>
          </p:cNvSpPr>
          <p:nvPr/>
        </p:nvSpPr>
        <p:spPr>
          <a:xfrm>
            <a:off x="-10737" y="3261153"/>
            <a:ext cx="12209087" cy="45719"/>
          </a:xfrm>
          <a:prstGeom prst="rect">
            <a:avLst/>
          </a:prstGeom>
          <a:solidFill>
            <a:srgbClr val="74B836"/>
          </a:solidFill>
        </p:spPr>
        <p:txBody>
          <a:bodyPr>
            <a:normAutofit fontScale="25000" lnSpcReduction="20000"/>
          </a:bodyPr>
          <a:lstStyle>
            <a:lvl1pPr marL="457360" indent="-457360" algn="l" defTabSz="1219627" rtl="0" eaLnBrk="1" latinLnBrk="0" hangingPunct="1">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endParaRPr lang="zh-CN" altLang="en-US" b="1" dirty="0">
              <a:solidFill>
                <a:schemeClr val="bg1"/>
              </a:solidFill>
            </a:endParaRPr>
          </a:p>
        </p:txBody>
      </p:sp>
    </p:spTree>
    <p:custDataLst>
      <p:tags r:id="rId1"/>
    </p:custDataLst>
    <p:extLst>
      <p:ext uri="{BB962C8B-B14F-4D97-AF65-F5344CB8AC3E}">
        <p14:creationId xmlns:p14="http://schemas.microsoft.com/office/powerpoint/2010/main" val="218745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格的运算性质</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199851-869F-484E-89D0-692A486C17C5}"/>
                  </a:ext>
                </a:extLst>
              </p:cNvPr>
              <p:cNvSpPr>
                <a:spLocks noGrp="1"/>
              </p:cNvSpPr>
              <p:nvPr>
                <p:ph idx="1"/>
              </p:nvPr>
            </p:nvSpPr>
            <p:spPr>
              <a:xfrm>
                <a:off x="307975" y="1009089"/>
                <a:ext cx="11430000" cy="3030305"/>
              </a:xfrm>
            </p:spPr>
            <p:txBody>
              <a:bodyPr>
                <a:noAutofit/>
              </a:bodyPr>
              <a:lstStyle/>
              <a:p>
                <a:pPr marL="0" indent="0" algn="just">
                  <a:buNone/>
                </a:pPr>
                <a:r>
                  <a:rPr lang="zh-CN" altLang="zh-CN" dirty="0">
                    <a:solidFill>
                      <a:srgbClr val="0000FF"/>
                    </a:solidFill>
                    <a:latin typeface="+mn-ea"/>
                  </a:rPr>
                  <a:t>定理</a:t>
                </a:r>
                <a:r>
                  <a:rPr lang="en-US" altLang="zh-CN" dirty="0">
                    <a:solidFill>
                      <a:srgbClr val="0000FF"/>
                    </a:solidFill>
                    <a:latin typeface="+mn-ea"/>
                  </a:rPr>
                  <a:t>10.1 </a:t>
                </a:r>
                <a:r>
                  <a:rPr lang="zh-CN" altLang="zh-CN" dirty="0">
                    <a:latin typeface="+mn-ea"/>
                  </a:rPr>
                  <a:t>设</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𝑳</m:t>
                    </m:r>
                    <m:r>
                      <a:rPr lang="en-US" altLang="zh-CN" b="1" i="1" dirty="0" smtClean="0">
                        <a:latin typeface="Cambria Math" panose="02040503050406030204" pitchFamily="18" charset="0"/>
                      </a:rPr>
                      <m:t>, ≤ &gt;</m:t>
                    </m:r>
                  </m:oMath>
                </a14:m>
                <a:r>
                  <a:rPr lang="zh-CN" altLang="zh-CN" dirty="0">
                    <a:latin typeface="+mn-ea"/>
                  </a:rPr>
                  <a:t>是格，则</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m:t>
                    </m:r>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𝒂</m:t>
                    </m:r>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m:t>
                    </m:r>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𝒃</m:t>
                    </m:r>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m:t>
                    </m:r>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𝑳</m:t>
                    </m:r>
                    <m:r>
                      <a:rPr lang="en-US" altLang="zh-CN" b="1" i="1" dirty="0">
                        <a:latin typeface="Cambria Math" panose="02040503050406030204" pitchFamily="18" charset="0"/>
                      </a:rPr>
                      <m:t>,</m:t>
                    </m:r>
                  </m:oMath>
                </a14:m>
                <a:r>
                  <a:rPr lang="zh-CN" altLang="zh-CN" dirty="0">
                    <a:latin typeface="+mn-ea"/>
                  </a:rPr>
                  <a:t>两个自然运算</a:t>
                </a:r>
                <a14:m>
                  <m:oMath xmlns:m="http://schemas.openxmlformats.org/officeDocument/2006/math">
                    <m:r>
                      <a:rPr lang="zh-CN" altLang="zh-CN" b="1" i="1" dirty="0" smtClean="0">
                        <a:latin typeface="Cambria Math" panose="02040503050406030204" pitchFamily="18" charset="0"/>
                      </a:rPr>
                      <m:t>∧</m:t>
                    </m:r>
                  </m:oMath>
                </a14:m>
                <a:r>
                  <a:rPr lang="zh-CN" altLang="zh-CN" dirty="0">
                    <a:latin typeface="+mn-ea"/>
                  </a:rPr>
                  <a:t>和</a:t>
                </a:r>
                <a14:m>
                  <m:oMath xmlns:m="http://schemas.openxmlformats.org/officeDocument/2006/math">
                    <m:r>
                      <a:rPr lang="zh-CN" altLang="zh-CN" b="1" i="1" dirty="0" smtClean="0">
                        <a:latin typeface="Cambria Math" panose="02040503050406030204" pitchFamily="18" charset="0"/>
                      </a:rPr>
                      <m:t>∨</m:t>
                    </m:r>
                  </m:oMath>
                </a14:m>
                <a:r>
                  <a:rPr lang="zh-CN" altLang="zh-CN" dirty="0">
                    <a:latin typeface="+mn-ea"/>
                  </a:rPr>
                  <a:t>满足以下定律：</a:t>
                </a:r>
              </a:p>
              <a:p>
                <a:pPr marL="0" indent="0" algn="just">
                  <a:buNone/>
                </a:pPr>
                <a:r>
                  <a:rPr lang="zh-CN" altLang="zh-CN" dirty="0">
                    <a:latin typeface="+mn-ea"/>
                  </a:rPr>
                  <a:t>（</a:t>
                </a:r>
                <a:r>
                  <a:rPr lang="en-US" altLang="zh-CN" dirty="0">
                    <a:latin typeface="+mn-ea"/>
                  </a:rPr>
                  <a:t>1</a:t>
                </a:r>
                <a:r>
                  <a:rPr lang="zh-CN" altLang="zh-CN" dirty="0">
                    <a:latin typeface="+mn-ea"/>
                  </a:rPr>
                  <a:t>）交换律：</a:t>
                </a:r>
                <a14:m>
                  <m:oMath xmlns:m="http://schemas.openxmlformats.org/officeDocument/2006/math">
                    <m:r>
                      <a:rPr lang="en-US" altLang="zh-CN" b="1" i="1" dirty="0" smtClean="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 </m:t>
                    </m:r>
                    <m:r>
                      <a:rPr lang="en-US" altLang="zh-CN" b="1" i="1" dirty="0">
                        <a:latin typeface="Cambria Math" panose="02040503050406030204" pitchFamily="18" charset="0"/>
                      </a:rPr>
                      <m:t>𝒃</m:t>
                    </m:r>
                    <m:r>
                      <a:rPr lang="zh-CN"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	</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 </m:t>
                    </m:r>
                    <m:r>
                      <a:rPr lang="en-US" altLang="zh-CN" b="1" i="1" dirty="0">
                        <a:latin typeface="Cambria Math" panose="02040503050406030204" pitchFamily="18" charset="0"/>
                      </a:rPr>
                      <m:t>𝒃</m:t>
                    </m:r>
                    <m:r>
                      <a:rPr lang="zh-CN" altLang="zh-CN" b="1" i="1" dirty="0">
                        <a:latin typeface="Cambria Math" panose="02040503050406030204" pitchFamily="18" charset="0"/>
                      </a:rPr>
                      <m:t>∨</m:t>
                    </m:r>
                    <m:r>
                      <a:rPr lang="en-US" altLang="zh-CN" b="1" i="1" dirty="0">
                        <a:latin typeface="Cambria Math" panose="02040503050406030204" pitchFamily="18" charset="0"/>
                      </a:rPr>
                      <m:t>𝒂</m:t>
                    </m:r>
                  </m:oMath>
                </a14:m>
                <a:endParaRPr lang="zh-CN" altLang="zh-CN" dirty="0">
                  <a:latin typeface="+mn-ea"/>
                </a:endParaRPr>
              </a:p>
              <a:p>
                <a:pPr marL="0" indent="0" algn="just">
                  <a:buNone/>
                </a:pPr>
                <a:r>
                  <a:rPr lang="zh-CN" altLang="zh-CN" dirty="0">
                    <a:latin typeface="+mn-ea"/>
                  </a:rPr>
                  <a:t>（</a:t>
                </a:r>
                <a:r>
                  <a:rPr lang="en-US" altLang="zh-CN" dirty="0">
                    <a:latin typeface="+mn-ea"/>
                  </a:rPr>
                  <a:t>2</a:t>
                </a:r>
                <a:r>
                  <a:rPr lang="zh-CN" altLang="zh-CN" dirty="0">
                    <a:latin typeface="+mn-ea"/>
                  </a:rPr>
                  <a:t>）结合律：</a:t>
                </a:r>
                <a14:m>
                  <m:oMath xmlns:m="http://schemas.openxmlformats.org/officeDocument/2006/math">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m:t>
                    </m:r>
                    <m:r>
                      <a:rPr lang="en-US" altLang="zh-CN" b="1" i="1" dirty="0">
                        <a:latin typeface="Cambria Math" panose="02040503050406030204" pitchFamily="18" charset="0"/>
                      </a:rPr>
                      <m:t>𝒄</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𝒃</m:t>
                    </m:r>
                    <m:r>
                      <a:rPr lang="zh-CN" altLang="zh-CN" b="1" i="1" dirty="0">
                        <a:latin typeface="Cambria Math" panose="02040503050406030204" pitchFamily="18" charset="0"/>
                      </a:rPr>
                      <m:t>∧</m:t>
                    </m:r>
                    <m:r>
                      <a:rPr lang="en-US" altLang="zh-CN" b="1" i="1" dirty="0">
                        <a:latin typeface="Cambria Math" panose="02040503050406030204" pitchFamily="18" charset="0"/>
                      </a:rPr>
                      <m:t>𝒄</m:t>
                    </m:r>
                    <m:r>
                      <a:rPr lang="en-US" altLang="zh-CN" b="1" i="1" dirty="0">
                        <a:latin typeface="Cambria Math" panose="02040503050406030204" pitchFamily="18" charset="0"/>
                      </a:rPr>
                      <m:t>)</m:t>
                    </m:r>
                    <m:r>
                      <a:rPr lang="zh-CN" altLang="zh-CN" b="1" i="1" dirty="0">
                        <a:latin typeface="Cambria Math" panose="02040503050406030204" pitchFamily="18" charset="0"/>
                      </a:rPr>
                      <m:t>；</m:t>
                    </m:r>
                    <m:r>
                      <a:rPr lang="en-US"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m:t>
                    </m:r>
                    <m:r>
                      <a:rPr lang="en-US" altLang="zh-CN" b="1" i="1" dirty="0">
                        <a:latin typeface="Cambria Math" panose="02040503050406030204" pitchFamily="18" charset="0"/>
                      </a:rPr>
                      <m:t>𝒄</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𝒃</m:t>
                    </m:r>
                    <m:r>
                      <a:rPr lang="zh-CN" altLang="zh-CN" b="1" i="1" dirty="0">
                        <a:latin typeface="Cambria Math" panose="02040503050406030204" pitchFamily="18" charset="0"/>
                      </a:rPr>
                      <m:t>∨</m:t>
                    </m:r>
                    <m:r>
                      <a:rPr lang="en-US" altLang="zh-CN" b="1" i="1" dirty="0">
                        <a:latin typeface="Cambria Math" panose="02040503050406030204" pitchFamily="18" charset="0"/>
                      </a:rPr>
                      <m:t>𝒄</m:t>
                    </m:r>
                    <m:r>
                      <a:rPr lang="en-US" altLang="zh-CN" b="1" i="1" dirty="0">
                        <a:latin typeface="Cambria Math" panose="02040503050406030204" pitchFamily="18" charset="0"/>
                      </a:rPr>
                      <m:t>)</m:t>
                    </m:r>
                  </m:oMath>
                </a14:m>
                <a:endParaRPr lang="zh-CN" altLang="zh-CN" dirty="0">
                  <a:latin typeface="+mn-ea"/>
                </a:endParaRPr>
              </a:p>
              <a:p>
                <a:pPr marL="0" indent="0" algn="just">
                  <a:buNone/>
                </a:pPr>
                <a:r>
                  <a:rPr lang="zh-CN" altLang="zh-CN" dirty="0">
                    <a:latin typeface="+mn-ea"/>
                  </a:rPr>
                  <a:t>（</a:t>
                </a:r>
                <a:r>
                  <a:rPr lang="en-US" altLang="zh-CN" dirty="0">
                    <a:latin typeface="+mn-ea"/>
                  </a:rPr>
                  <a:t>3</a:t>
                </a:r>
                <a:r>
                  <a:rPr lang="zh-CN" altLang="zh-CN" dirty="0">
                    <a:latin typeface="+mn-ea"/>
                  </a:rPr>
                  <a:t>）幂等律：</a:t>
                </a:r>
                <a14:m>
                  <m:oMath xmlns:m="http://schemas.openxmlformats.org/officeDocument/2006/math">
                    <m:r>
                      <a:rPr lang="en-US" altLang="zh-CN" b="1" i="1" dirty="0" smtClean="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𝒂</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𝒂</m:t>
                    </m:r>
                    <m:r>
                      <a:rPr lang="en-US" altLang="zh-CN" b="1" i="1" dirty="0">
                        <a:latin typeface="Cambria Math" panose="02040503050406030204" pitchFamily="18" charset="0"/>
                      </a:rPr>
                      <m:t> = </m:t>
                    </m:r>
                    <m:r>
                      <a:rPr lang="en-US" altLang="zh-CN" b="1" i="1" dirty="0">
                        <a:latin typeface="Cambria Math" panose="02040503050406030204" pitchFamily="18" charset="0"/>
                      </a:rPr>
                      <m:t>𝒂</m:t>
                    </m:r>
                  </m:oMath>
                </a14:m>
                <a:endParaRPr lang="zh-CN" altLang="zh-CN" dirty="0">
                  <a:latin typeface="+mn-ea"/>
                </a:endParaRPr>
              </a:p>
              <a:p>
                <a:pPr marL="0" indent="0" algn="just">
                  <a:buNone/>
                </a:pPr>
                <a:r>
                  <a:rPr lang="zh-CN" altLang="zh-CN" dirty="0">
                    <a:latin typeface="+mn-ea"/>
                  </a:rPr>
                  <a:t>（</a:t>
                </a:r>
                <a:r>
                  <a:rPr lang="en-US" altLang="zh-CN" dirty="0">
                    <a:latin typeface="+mn-ea"/>
                  </a:rPr>
                  <a:t>4</a:t>
                </a:r>
                <a:r>
                  <a:rPr lang="zh-CN" altLang="zh-CN" dirty="0">
                    <a:latin typeface="+mn-ea"/>
                  </a:rPr>
                  <a:t>）吸收律：</a:t>
                </a:r>
                <a14:m>
                  <m:oMath xmlns:m="http://schemas.openxmlformats.org/officeDocument/2006/math">
                    <m:r>
                      <a:rPr lang="en-US" altLang="zh-CN" b="1" i="1" dirty="0" smtClean="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zh-CN" altLang="zh-CN" b="1" i="1" dirty="0">
                        <a:latin typeface="Cambria Math" panose="02040503050406030204" pitchFamily="18" charset="0"/>
                      </a:rPr>
                      <m:t> </m:t>
                    </m:r>
                    <m:r>
                      <a:rPr lang="en-US" altLang="zh-CN" b="1" i="1" dirty="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 </m:t>
                    </m:r>
                    <m:r>
                      <a:rPr lang="en-US" altLang="zh-CN" b="1" i="1" dirty="0">
                        <a:latin typeface="Cambria Math" panose="02040503050406030204" pitchFamily="18" charset="0"/>
                      </a:rPr>
                      <m:t>𝒂</m:t>
                    </m:r>
                  </m:oMath>
                </a14:m>
                <a:endParaRPr lang="zh-CN" altLang="zh-CN" dirty="0">
                  <a:latin typeface="+mn-ea"/>
                </a:endParaRPr>
              </a:p>
              <a:p>
                <a:endParaRPr lang="zh-CN" altLang="en-US" dirty="0">
                  <a:latin typeface="+mn-ea"/>
                </a:endParaRPr>
              </a:p>
            </p:txBody>
          </p:sp>
        </mc:Choice>
        <mc:Fallback xmlns="">
          <p:sp>
            <p:nvSpPr>
              <p:cNvPr id="3" name="Content Placeholder 2">
                <a:extLst>
                  <a:ext uri="{FF2B5EF4-FFF2-40B4-BE49-F238E27FC236}">
                    <a16:creationId xmlns:a16="http://schemas.microsoft.com/office/drawing/2014/main" id="{87199851-869F-484E-89D0-692A486C17C5}"/>
                  </a:ext>
                </a:extLst>
              </p:cNvPr>
              <p:cNvSpPr>
                <a:spLocks noGrp="1" noRot="1" noChangeAspect="1" noMove="1" noResize="1" noEditPoints="1" noAdjustHandles="1" noChangeArrowheads="1" noChangeShapeType="1" noTextEdit="1"/>
              </p:cNvSpPr>
              <p:nvPr>
                <p:ph idx="1"/>
              </p:nvPr>
            </p:nvSpPr>
            <p:spPr>
              <a:xfrm>
                <a:off x="307975" y="1009089"/>
                <a:ext cx="11430000" cy="3030305"/>
              </a:xfrm>
              <a:blipFill>
                <a:blip r:embed="rId5"/>
                <a:stretch>
                  <a:fillRect l="-587"/>
                </a:stretch>
              </a:blipFill>
            </p:spPr>
            <p:txBody>
              <a:bodyPr/>
              <a:lstStyle/>
              <a:p>
                <a:r>
                  <a:rPr lang="zh-CN" altLang="en-US">
                    <a:noFill/>
                  </a:rPr>
                  <a:t> </a:t>
                </a:r>
              </a:p>
            </p:txBody>
          </p:sp>
        </mc:Fallback>
      </mc:AlternateContent>
      <p:sp>
        <p:nvSpPr>
          <p:cNvPr id="5" name="矩形 242">
            <a:extLst>
              <a:ext uri="{FF2B5EF4-FFF2-40B4-BE49-F238E27FC236}">
                <a16:creationId xmlns:a16="http://schemas.microsoft.com/office/drawing/2014/main" id="{6E79D368-753C-4FE5-BE15-F5F824CC41A6}"/>
              </a:ext>
            </a:extLst>
          </p:cNvPr>
          <p:cNvSpPr/>
          <p:nvPr/>
        </p:nvSpPr>
        <p:spPr>
          <a:xfrm>
            <a:off x="0" y="4181229"/>
            <a:ext cx="12198349" cy="723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77" tIns="45738" rIns="91477" bIns="45738" rtlCol="0" anchor="ctr"/>
          <a:lstStyle/>
          <a:p>
            <a:pPr algn="ctr"/>
            <a:endParaRPr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1ABDE69-606A-40B9-9D7B-2D77FC12C6A6}"/>
                  </a:ext>
                </a:extLst>
              </p:cNvPr>
              <p:cNvSpPr txBox="1"/>
              <p:nvPr/>
            </p:nvSpPr>
            <p:spPr>
              <a:xfrm>
                <a:off x="384175" y="4572794"/>
                <a:ext cx="10851945" cy="1384353"/>
              </a:xfrm>
              <a:prstGeom prst="rect">
                <a:avLst/>
              </a:prstGeom>
              <a:noFill/>
            </p:spPr>
            <p:txBody>
              <a:bodyPr wrap="square">
                <a:spAutoFit/>
              </a:bodyPr>
              <a:lstStyle/>
              <a:p>
                <a:pPr>
                  <a:lnSpc>
                    <a:spcPct val="120000"/>
                  </a:lnSpc>
                  <a:spcBef>
                    <a:spcPct val="20000"/>
                  </a:spcBef>
                  <a:buSzPct val="80000"/>
                </a:pPr>
                <a:r>
                  <a:rPr lang="zh-CN" altLang="zh-CN" b="1" dirty="0">
                    <a:solidFill>
                      <a:srgbClr val="FF0000"/>
                    </a:solidFill>
                    <a:latin typeface="+mn-ea"/>
                  </a:rPr>
                  <a:t>证明</a:t>
                </a:r>
                <a:r>
                  <a:rPr lang="zh-CN" altLang="zh-CN" b="1" dirty="0">
                    <a:solidFill>
                      <a:schemeClr val="tx1">
                        <a:lumMod val="75000"/>
                        <a:lumOff val="25000"/>
                      </a:schemeClr>
                    </a:solidFill>
                    <a:latin typeface="+mn-ea"/>
                  </a:rPr>
                  <a:t> （</a:t>
                </a:r>
                <a:r>
                  <a:rPr lang="en-US" altLang="zh-CN" b="1" dirty="0">
                    <a:solidFill>
                      <a:schemeClr val="tx1">
                        <a:lumMod val="75000"/>
                        <a:lumOff val="25000"/>
                      </a:schemeClr>
                    </a:solidFill>
                    <a:latin typeface="+mn-ea"/>
                  </a:rPr>
                  <a:t>1</a:t>
                </a:r>
                <a:r>
                  <a:rPr lang="zh-CN" altLang="zh-CN" b="1" dirty="0">
                    <a:solidFill>
                      <a:schemeClr val="tx1">
                        <a:lumMod val="75000"/>
                        <a:lumOff val="25000"/>
                      </a:schemeClr>
                    </a:solidFill>
                    <a:latin typeface="+mn-ea"/>
                  </a:rPr>
                  <a:t>）根据两个自然运算的定义</a:t>
                </a:r>
                <a:r>
                  <a:rPr lang="en-US" altLang="zh-CN" b="1" dirty="0">
                    <a:solidFill>
                      <a:schemeClr val="tx1">
                        <a:lumMod val="75000"/>
                        <a:lumOff val="25000"/>
                      </a:schemeClr>
                    </a:solidFill>
                    <a:latin typeface="+mn-ea"/>
                  </a:rPr>
                  <a:t>, </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0" dirty="0">
                        <a:solidFill>
                          <a:schemeClr val="tx1">
                            <a:lumMod val="75000"/>
                            <a:lumOff val="25000"/>
                          </a:schemeClr>
                        </a:solidFill>
                        <a:latin typeface="Cambria Math" panose="02040503050406030204" pitchFamily="18" charset="0"/>
                      </a:rPr>
                      <m:t>𝐢𝐧𝐟</m:t>
                    </m:r>
                    <m:r>
                      <a:rPr lang="en-US" altLang="zh-CN" b="1" i="1" dirty="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r>
                      <a:rPr lang="en-US" altLang="zh-CN" b="1" i="0" dirty="0">
                        <a:solidFill>
                          <a:schemeClr val="tx1">
                            <a:lumMod val="75000"/>
                            <a:lumOff val="25000"/>
                          </a:schemeClr>
                        </a:solidFill>
                        <a:latin typeface="Cambria Math" panose="02040503050406030204" pitchFamily="18" charset="0"/>
                      </a:rPr>
                      <m:t>𝐢𝐧𝐟</m:t>
                    </m:r>
                    <m:r>
                      <a:rPr lang="en-US" altLang="zh-CN" b="1" i="1" dirty="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𝒃</m:t>
                    </m:r>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0" dirty="0">
                        <a:solidFill>
                          <a:schemeClr val="tx1">
                            <a:lumMod val="75000"/>
                            <a:lumOff val="25000"/>
                          </a:schemeClr>
                        </a:solidFill>
                        <a:latin typeface="Cambria Math" panose="02040503050406030204" pitchFamily="18" charset="0"/>
                      </a:rPr>
                      <m:t>𝐬𝐮𝐩</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zh-CN" altLang="zh-CN" b="1" i="1" dirty="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𝒃</m:t>
                    </m:r>
                    <m:r>
                      <a:rPr lang="zh-CN" altLang="zh-CN" b="1" i="1" dirty="0">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r>
                      <a:rPr lang="en-US" altLang="zh-CN" b="1" i="0" dirty="0">
                        <a:solidFill>
                          <a:schemeClr val="tx1">
                            <a:lumMod val="75000"/>
                            <a:lumOff val="25000"/>
                          </a:schemeClr>
                        </a:solidFill>
                        <a:latin typeface="Cambria Math" panose="02040503050406030204" pitchFamily="18" charset="0"/>
                      </a:rPr>
                      <m:t>𝐬𝐮𝐩</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r>
                      <a:rPr lang="zh-CN"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由于集合中元素是无序的，</a:t>
                </a:r>
                <a14:m>
                  <m:oMath xmlns:m="http://schemas.openxmlformats.org/officeDocument/2006/math">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，显然满足交换律。</a:t>
                </a:r>
              </a:p>
            </p:txBody>
          </p:sp>
        </mc:Choice>
        <mc:Fallback xmlns="">
          <p:sp>
            <p:nvSpPr>
              <p:cNvPr id="7" name="文本框 6">
                <a:extLst>
                  <a:ext uri="{FF2B5EF4-FFF2-40B4-BE49-F238E27FC236}">
                    <a16:creationId xmlns:a16="http://schemas.microsoft.com/office/drawing/2014/main" id="{51ABDE69-606A-40B9-9D7B-2D77FC12C6A6}"/>
                  </a:ext>
                </a:extLst>
              </p:cNvPr>
              <p:cNvSpPr txBox="1">
                <a:spLocks noRot="1" noChangeAspect="1" noMove="1" noResize="1" noEditPoints="1" noAdjustHandles="1" noChangeArrowheads="1" noChangeShapeType="1" noTextEdit="1"/>
              </p:cNvSpPr>
              <p:nvPr/>
            </p:nvSpPr>
            <p:spPr>
              <a:xfrm>
                <a:off x="384175" y="4572794"/>
                <a:ext cx="10851945" cy="1384353"/>
              </a:xfrm>
              <a:prstGeom prst="rect">
                <a:avLst/>
              </a:prstGeom>
              <a:blipFill>
                <a:blip r:embed="rId6"/>
                <a:stretch>
                  <a:fillRect l="-843" t="-881" b="-925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27290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格的运算性质</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199851-869F-484E-89D0-692A486C17C5}"/>
                  </a:ext>
                </a:extLst>
              </p:cNvPr>
              <p:cNvSpPr>
                <a:spLocks noGrp="1"/>
              </p:cNvSpPr>
              <p:nvPr>
                <p:ph idx="1"/>
              </p:nvPr>
            </p:nvSpPr>
            <p:spPr>
              <a:xfrm>
                <a:off x="307975" y="1009089"/>
                <a:ext cx="11430000" cy="668105"/>
              </a:xfrm>
            </p:spPr>
            <p:txBody>
              <a:bodyPr>
                <a:noAutofit/>
              </a:bodyPr>
              <a:lstStyle/>
              <a:p>
                <a:pPr marL="0" indent="0" algn="just">
                  <a:buNone/>
                </a:pPr>
                <a:r>
                  <a:rPr lang="zh-CN" altLang="zh-CN" dirty="0">
                    <a:latin typeface="+mn-ea"/>
                  </a:rPr>
                  <a:t>（</a:t>
                </a:r>
                <a:r>
                  <a:rPr lang="en-US" altLang="zh-CN" dirty="0">
                    <a:latin typeface="+mn-ea"/>
                  </a:rPr>
                  <a:t>2</a:t>
                </a:r>
                <a:r>
                  <a:rPr lang="zh-CN" altLang="zh-CN" dirty="0">
                    <a:latin typeface="+mn-ea"/>
                  </a:rPr>
                  <a:t>）结合律：</a:t>
                </a:r>
                <a14:m>
                  <m:oMath xmlns:m="http://schemas.openxmlformats.org/officeDocument/2006/math">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m:t>
                    </m:r>
                    <m:r>
                      <a:rPr lang="en-US" altLang="zh-CN" b="1" i="1" dirty="0">
                        <a:latin typeface="Cambria Math" panose="02040503050406030204" pitchFamily="18" charset="0"/>
                      </a:rPr>
                      <m:t>𝒄</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𝒃</m:t>
                    </m:r>
                    <m:r>
                      <a:rPr lang="zh-CN" altLang="zh-CN" b="1" i="1" dirty="0">
                        <a:latin typeface="Cambria Math" panose="02040503050406030204" pitchFamily="18" charset="0"/>
                      </a:rPr>
                      <m:t>∧</m:t>
                    </m:r>
                    <m:r>
                      <a:rPr lang="en-US" altLang="zh-CN" b="1" i="1" dirty="0">
                        <a:latin typeface="Cambria Math" panose="02040503050406030204" pitchFamily="18" charset="0"/>
                      </a:rPr>
                      <m:t>𝒄</m:t>
                    </m:r>
                    <m:r>
                      <a:rPr lang="en-US" altLang="zh-CN" b="1" i="1" dirty="0">
                        <a:latin typeface="Cambria Math" panose="02040503050406030204" pitchFamily="18" charset="0"/>
                      </a:rPr>
                      <m:t>)</m:t>
                    </m:r>
                    <m:r>
                      <a:rPr lang="zh-CN" altLang="zh-CN" b="1" i="1" dirty="0">
                        <a:latin typeface="Cambria Math" panose="02040503050406030204" pitchFamily="18" charset="0"/>
                      </a:rPr>
                      <m:t>；</m:t>
                    </m:r>
                    <m:r>
                      <a:rPr lang="en-US"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m:t>
                    </m:r>
                    <m:r>
                      <a:rPr lang="en-US" altLang="zh-CN" b="1" i="1" dirty="0">
                        <a:latin typeface="Cambria Math" panose="02040503050406030204" pitchFamily="18" charset="0"/>
                      </a:rPr>
                      <m:t>𝒄</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𝒃</m:t>
                    </m:r>
                    <m:r>
                      <a:rPr lang="zh-CN" altLang="zh-CN" b="1" i="1" dirty="0">
                        <a:latin typeface="Cambria Math" panose="02040503050406030204" pitchFamily="18" charset="0"/>
                      </a:rPr>
                      <m:t>∨</m:t>
                    </m:r>
                    <m:r>
                      <a:rPr lang="en-US" altLang="zh-CN" b="1" i="1" dirty="0">
                        <a:latin typeface="Cambria Math" panose="02040503050406030204" pitchFamily="18" charset="0"/>
                      </a:rPr>
                      <m:t>𝒄</m:t>
                    </m:r>
                    <m:r>
                      <a:rPr lang="en-US" altLang="zh-CN" b="1" i="1" dirty="0">
                        <a:latin typeface="Cambria Math" panose="02040503050406030204" pitchFamily="18" charset="0"/>
                      </a:rPr>
                      <m:t>)</m:t>
                    </m:r>
                  </m:oMath>
                </a14:m>
                <a:endParaRPr lang="zh-CN" altLang="zh-CN" dirty="0">
                  <a:latin typeface="+mn-ea"/>
                </a:endParaRPr>
              </a:p>
            </p:txBody>
          </p:sp>
        </mc:Choice>
        <mc:Fallback xmlns="">
          <p:sp>
            <p:nvSpPr>
              <p:cNvPr id="3" name="Content Placeholder 2">
                <a:extLst>
                  <a:ext uri="{FF2B5EF4-FFF2-40B4-BE49-F238E27FC236}">
                    <a16:creationId xmlns:a16="http://schemas.microsoft.com/office/drawing/2014/main" id="{87199851-869F-484E-89D0-692A486C17C5}"/>
                  </a:ext>
                </a:extLst>
              </p:cNvPr>
              <p:cNvSpPr>
                <a:spLocks noGrp="1" noRot="1" noChangeAspect="1" noMove="1" noResize="1" noEditPoints="1" noAdjustHandles="1" noChangeArrowheads="1" noChangeShapeType="1" noTextEdit="1"/>
              </p:cNvSpPr>
              <p:nvPr>
                <p:ph idx="1"/>
              </p:nvPr>
            </p:nvSpPr>
            <p:spPr>
              <a:xfrm>
                <a:off x="307975" y="1009089"/>
                <a:ext cx="11430000" cy="668105"/>
              </a:xfrm>
              <a:blipFill>
                <a:blip r:embed="rId5"/>
                <a:stretch>
                  <a:fillRect l="-5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E9173ED-14EC-442A-AE56-495EEAC0E237}"/>
                  </a:ext>
                </a:extLst>
              </p:cNvPr>
              <p:cNvSpPr/>
              <p:nvPr/>
            </p:nvSpPr>
            <p:spPr>
              <a:xfrm>
                <a:off x="2310484" y="5037321"/>
                <a:ext cx="3724225" cy="461665"/>
              </a:xfrm>
              <a:prstGeom prst="rect">
                <a:avLst/>
              </a:prstGeom>
              <a:solidFill>
                <a:schemeClr val="accent6">
                  <a:lumMod val="20000"/>
                  <a:lumOff val="80000"/>
                </a:schemeClr>
              </a:solidFill>
              <a:ln>
                <a:solidFill>
                  <a:schemeClr val="tx1"/>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m:t>
                      </m:r>
                    </m:oMath>
                  </m:oMathPara>
                </a14:m>
                <a:endParaRPr lang="zh-CN" altLang="en-US" dirty="0"/>
              </a:p>
            </p:txBody>
          </p:sp>
        </mc:Choice>
        <mc:Fallback xmlns="">
          <p:sp>
            <p:nvSpPr>
              <p:cNvPr id="4" name="Rectangle 3">
                <a:extLst>
                  <a:ext uri="{FF2B5EF4-FFF2-40B4-BE49-F238E27FC236}">
                    <a16:creationId xmlns:a16="http://schemas.microsoft.com/office/drawing/2014/main" id="{4E9173ED-14EC-442A-AE56-495EEAC0E237}"/>
                  </a:ext>
                </a:extLst>
              </p:cNvPr>
              <p:cNvSpPr>
                <a:spLocks noRot="1" noChangeAspect="1" noMove="1" noResize="1" noEditPoints="1" noAdjustHandles="1" noChangeArrowheads="1" noChangeShapeType="1" noTextEdit="1"/>
              </p:cNvSpPr>
              <p:nvPr/>
            </p:nvSpPr>
            <p:spPr>
              <a:xfrm>
                <a:off x="2310484" y="5037321"/>
                <a:ext cx="3724225" cy="461665"/>
              </a:xfrm>
              <a:prstGeom prst="rect">
                <a:avLst/>
              </a:prstGeom>
              <a:blipFill>
                <a:blip r:embed="rId6"/>
                <a:stretch>
                  <a:fillRect b="-17949"/>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019446C-C024-41C6-AAF0-921323E7B0CE}"/>
                  </a:ext>
                </a:extLst>
              </p:cNvPr>
              <p:cNvSpPr/>
              <p:nvPr/>
            </p:nvSpPr>
            <p:spPr>
              <a:xfrm>
                <a:off x="205899" y="2196773"/>
                <a:ext cx="2928558" cy="461665"/>
              </a:xfrm>
              <a:prstGeom prst="rect">
                <a:avLst/>
              </a:prstGeom>
              <a:solidFill>
                <a:schemeClr val="bg1">
                  <a:lumMod val="95000"/>
                </a:schemeClr>
              </a:solidFill>
              <a:ln w="28575">
                <a:solidFill>
                  <a:srgbClr val="CC00CC"/>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oMath>
                  </m:oMathPara>
                </a14:m>
                <a:endParaRPr lang="zh-CN" altLang="en-US" dirty="0"/>
              </a:p>
            </p:txBody>
          </p:sp>
        </mc:Choice>
        <mc:Fallback xmlns="">
          <p:sp>
            <p:nvSpPr>
              <p:cNvPr id="8" name="Rectangle 7">
                <a:extLst>
                  <a:ext uri="{FF2B5EF4-FFF2-40B4-BE49-F238E27FC236}">
                    <a16:creationId xmlns:a16="http://schemas.microsoft.com/office/drawing/2014/main" id="{E019446C-C024-41C6-AAF0-921323E7B0CE}"/>
                  </a:ext>
                </a:extLst>
              </p:cNvPr>
              <p:cNvSpPr>
                <a:spLocks noRot="1" noChangeAspect="1" noMove="1" noResize="1" noEditPoints="1" noAdjustHandles="1" noChangeArrowheads="1" noChangeShapeType="1" noTextEdit="1"/>
              </p:cNvSpPr>
              <p:nvPr/>
            </p:nvSpPr>
            <p:spPr>
              <a:xfrm>
                <a:off x="205899" y="2196773"/>
                <a:ext cx="2928558" cy="461665"/>
              </a:xfrm>
              <a:prstGeom prst="rect">
                <a:avLst/>
              </a:prstGeom>
              <a:blipFill>
                <a:blip r:embed="rId7"/>
                <a:stretch>
                  <a:fillRect b="-14815"/>
                </a:stretch>
              </a:blipFill>
              <a:ln w="28575">
                <a:solidFill>
                  <a:srgbClr val="CC00CC"/>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3915920-DD35-4963-B02D-1544F373AB73}"/>
                  </a:ext>
                </a:extLst>
              </p:cNvPr>
              <p:cNvSpPr/>
              <p:nvPr/>
            </p:nvSpPr>
            <p:spPr>
              <a:xfrm>
                <a:off x="202694" y="3547599"/>
                <a:ext cx="2928558" cy="461665"/>
              </a:xfrm>
              <a:prstGeom prst="rect">
                <a:avLst/>
              </a:prstGeom>
              <a:solidFill>
                <a:schemeClr val="bg1">
                  <a:lumMod val="95000"/>
                </a:schemeClr>
              </a:solidFill>
              <a:ln w="28575">
                <a:solidFill>
                  <a:srgbClr val="CC00CC"/>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𝒄</m:t>
                      </m:r>
                    </m:oMath>
                  </m:oMathPara>
                </a14:m>
                <a:endParaRPr lang="zh-CN" altLang="en-US" dirty="0"/>
              </a:p>
            </p:txBody>
          </p:sp>
        </mc:Choice>
        <mc:Fallback xmlns="">
          <p:sp>
            <p:nvSpPr>
              <p:cNvPr id="9" name="Rectangle 8">
                <a:extLst>
                  <a:ext uri="{FF2B5EF4-FFF2-40B4-BE49-F238E27FC236}">
                    <a16:creationId xmlns:a16="http://schemas.microsoft.com/office/drawing/2014/main" id="{33915920-DD35-4963-B02D-1544F373AB73}"/>
                  </a:ext>
                </a:extLst>
              </p:cNvPr>
              <p:cNvSpPr>
                <a:spLocks noRot="1" noChangeAspect="1" noMove="1" noResize="1" noEditPoints="1" noAdjustHandles="1" noChangeArrowheads="1" noChangeShapeType="1" noTextEdit="1"/>
              </p:cNvSpPr>
              <p:nvPr/>
            </p:nvSpPr>
            <p:spPr>
              <a:xfrm>
                <a:off x="202694" y="3547599"/>
                <a:ext cx="2928558" cy="461665"/>
              </a:xfrm>
              <a:prstGeom prst="rect">
                <a:avLst/>
              </a:prstGeom>
              <a:blipFill>
                <a:blip r:embed="rId8"/>
                <a:stretch>
                  <a:fillRect b="-14815"/>
                </a:stretch>
              </a:blipFill>
              <a:ln w="28575">
                <a:solidFill>
                  <a:srgbClr val="CC00CC"/>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7F0D9223-AB05-4FC8-8827-F503EF388A39}"/>
                  </a:ext>
                </a:extLst>
              </p:cNvPr>
              <p:cNvSpPr/>
              <p:nvPr/>
            </p:nvSpPr>
            <p:spPr>
              <a:xfrm>
                <a:off x="1441366" y="1591434"/>
                <a:ext cx="1693091" cy="461665"/>
              </a:xfrm>
              <a:prstGeom prst="rect">
                <a:avLst/>
              </a:prstGeom>
              <a:ln w="28575">
                <a:solidFill>
                  <a:srgbClr val="CC00CC"/>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oMath>
                  </m:oMathPara>
                </a14:m>
                <a:endParaRPr lang="zh-CN" altLang="en-US" dirty="0"/>
              </a:p>
            </p:txBody>
          </p:sp>
        </mc:Choice>
        <mc:Fallback xmlns="">
          <p:sp>
            <p:nvSpPr>
              <p:cNvPr id="10" name="Rectangle 9">
                <a:extLst>
                  <a:ext uri="{FF2B5EF4-FFF2-40B4-BE49-F238E27FC236}">
                    <a16:creationId xmlns:a16="http://schemas.microsoft.com/office/drawing/2014/main" id="{7F0D9223-AB05-4FC8-8827-F503EF388A39}"/>
                  </a:ext>
                </a:extLst>
              </p:cNvPr>
              <p:cNvSpPr>
                <a:spLocks noRot="1" noChangeAspect="1" noMove="1" noResize="1" noEditPoints="1" noAdjustHandles="1" noChangeArrowheads="1" noChangeShapeType="1" noTextEdit="1"/>
              </p:cNvSpPr>
              <p:nvPr/>
            </p:nvSpPr>
            <p:spPr>
              <a:xfrm>
                <a:off x="1441366" y="1591434"/>
                <a:ext cx="1693091" cy="461665"/>
              </a:xfrm>
              <a:prstGeom prst="rect">
                <a:avLst/>
              </a:prstGeom>
              <a:blipFill>
                <a:blip r:embed="rId9"/>
                <a:stretch>
                  <a:fillRect/>
                </a:stretch>
              </a:blipFill>
              <a:ln w="28575">
                <a:solidFill>
                  <a:srgbClr val="CC00CC"/>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2FCBD6A-7D43-4941-A13E-F978B99ED194}"/>
                  </a:ext>
                </a:extLst>
              </p:cNvPr>
              <p:cNvSpPr/>
              <p:nvPr/>
            </p:nvSpPr>
            <p:spPr>
              <a:xfrm>
                <a:off x="1441366" y="2830539"/>
                <a:ext cx="1689886" cy="461665"/>
              </a:xfrm>
              <a:prstGeom prst="rect">
                <a:avLst/>
              </a:prstGeom>
              <a:ln w="28575">
                <a:solidFill>
                  <a:srgbClr val="CC00CC"/>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𝒃</m:t>
                      </m:r>
                    </m:oMath>
                  </m:oMathPara>
                </a14:m>
                <a:endParaRPr lang="zh-CN" altLang="en-US" dirty="0"/>
              </a:p>
            </p:txBody>
          </p:sp>
        </mc:Choice>
        <mc:Fallback xmlns="">
          <p:sp>
            <p:nvSpPr>
              <p:cNvPr id="11" name="Rectangle 10">
                <a:extLst>
                  <a:ext uri="{FF2B5EF4-FFF2-40B4-BE49-F238E27FC236}">
                    <a16:creationId xmlns:a16="http://schemas.microsoft.com/office/drawing/2014/main" id="{22FCBD6A-7D43-4941-A13E-F978B99ED194}"/>
                  </a:ext>
                </a:extLst>
              </p:cNvPr>
              <p:cNvSpPr>
                <a:spLocks noRot="1" noChangeAspect="1" noMove="1" noResize="1" noEditPoints="1" noAdjustHandles="1" noChangeArrowheads="1" noChangeShapeType="1" noTextEdit="1"/>
              </p:cNvSpPr>
              <p:nvPr/>
            </p:nvSpPr>
            <p:spPr>
              <a:xfrm>
                <a:off x="1441366" y="2830539"/>
                <a:ext cx="1689886" cy="461665"/>
              </a:xfrm>
              <a:prstGeom prst="rect">
                <a:avLst/>
              </a:prstGeom>
              <a:blipFill>
                <a:blip r:embed="rId10"/>
                <a:stretch>
                  <a:fillRect/>
                </a:stretch>
              </a:blipFill>
              <a:ln w="28575">
                <a:solidFill>
                  <a:srgbClr val="CC00CC"/>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3E687B2-F50A-46DC-85C3-8765A13F1DB2}"/>
                  </a:ext>
                </a:extLst>
              </p:cNvPr>
              <p:cNvSpPr/>
              <p:nvPr/>
            </p:nvSpPr>
            <p:spPr>
              <a:xfrm>
                <a:off x="3632988" y="1831187"/>
                <a:ext cx="2490362" cy="461665"/>
              </a:xfrm>
              <a:prstGeom prst="rect">
                <a:avLst/>
              </a:prstGeom>
              <a:ln w="28575">
                <a:solidFill>
                  <a:srgbClr val="CC00CC"/>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oMath>
                  </m:oMathPara>
                </a14:m>
                <a:endParaRPr lang="zh-CN" altLang="en-US" dirty="0"/>
              </a:p>
            </p:txBody>
          </p:sp>
        </mc:Choice>
        <mc:Fallback xmlns="">
          <p:sp>
            <p:nvSpPr>
              <p:cNvPr id="12" name="Rectangle 11">
                <a:extLst>
                  <a:ext uri="{FF2B5EF4-FFF2-40B4-BE49-F238E27FC236}">
                    <a16:creationId xmlns:a16="http://schemas.microsoft.com/office/drawing/2014/main" id="{83E687B2-F50A-46DC-85C3-8765A13F1DB2}"/>
                  </a:ext>
                </a:extLst>
              </p:cNvPr>
              <p:cNvSpPr>
                <a:spLocks noRot="1" noChangeAspect="1" noMove="1" noResize="1" noEditPoints="1" noAdjustHandles="1" noChangeArrowheads="1" noChangeShapeType="1" noTextEdit="1"/>
              </p:cNvSpPr>
              <p:nvPr/>
            </p:nvSpPr>
            <p:spPr>
              <a:xfrm>
                <a:off x="3632988" y="1831187"/>
                <a:ext cx="2490362" cy="461665"/>
              </a:xfrm>
              <a:prstGeom prst="rect">
                <a:avLst/>
              </a:prstGeom>
              <a:blipFill>
                <a:blip r:embed="rId11"/>
                <a:stretch>
                  <a:fillRect b="-14815"/>
                </a:stretch>
              </a:blipFill>
              <a:ln w="28575">
                <a:solidFill>
                  <a:srgbClr val="CC00CC"/>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0280BD46-EE6A-42A1-BC07-CC6867FFCA41}"/>
                  </a:ext>
                </a:extLst>
              </p:cNvPr>
              <p:cNvSpPr/>
              <p:nvPr/>
            </p:nvSpPr>
            <p:spPr>
              <a:xfrm>
                <a:off x="3609795" y="2583542"/>
                <a:ext cx="2487155" cy="461665"/>
              </a:xfrm>
              <a:prstGeom prst="rect">
                <a:avLst/>
              </a:prstGeom>
              <a:ln w="28575">
                <a:solidFill>
                  <a:srgbClr val="CC00CC"/>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𝒃</m:t>
                      </m:r>
                    </m:oMath>
                  </m:oMathPara>
                </a14:m>
                <a:endParaRPr lang="zh-CN" altLang="en-US" dirty="0"/>
              </a:p>
            </p:txBody>
          </p:sp>
        </mc:Choice>
        <mc:Fallback xmlns="">
          <p:sp>
            <p:nvSpPr>
              <p:cNvPr id="13" name="Rectangle 12">
                <a:extLst>
                  <a:ext uri="{FF2B5EF4-FFF2-40B4-BE49-F238E27FC236}">
                    <a16:creationId xmlns:a16="http://schemas.microsoft.com/office/drawing/2014/main" id="{0280BD46-EE6A-42A1-BC07-CC6867FFCA41}"/>
                  </a:ext>
                </a:extLst>
              </p:cNvPr>
              <p:cNvSpPr>
                <a:spLocks noRot="1" noChangeAspect="1" noMove="1" noResize="1" noEditPoints="1" noAdjustHandles="1" noChangeArrowheads="1" noChangeShapeType="1" noTextEdit="1"/>
              </p:cNvSpPr>
              <p:nvPr/>
            </p:nvSpPr>
            <p:spPr>
              <a:xfrm>
                <a:off x="3609795" y="2583542"/>
                <a:ext cx="2487155" cy="461665"/>
              </a:xfrm>
              <a:prstGeom prst="rect">
                <a:avLst/>
              </a:prstGeom>
              <a:blipFill>
                <a:blip r:embed="rId12"/>
                <a:stretch>
                  <a:fillRect b="-14815"/>
                </a:stretch>
              </a:blipFill>
              <a:ln w="28575">
                <a:solidFill>
                  <a:srgbClr val="CC00CC"/>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2A83287-8A68-4BB9-BAB2-821FCC06C875}"/>
                  </a:ext>
                </a:extLst>
              </p:cNvPr>
              <p:cNvSpPr/>
              <p:nvPr/>
            </p:nvSpPr>
            <p:spPr>
              <a:xfrm>
                <a:off x="6480175" y="3198961"/>
                <a:ext cx="2960618" cy="461665"/>
              </a:xfrm>
              <a:prstGeom prst="rect">
                <a:avLst/>
              </a:prstGeom>
              <a:ln w="28575">
                <a:solidFill>
                  <a:srgbClr val="CC00CC"/>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oMath>
                  </m:oMathPara>
                </a14:m>
                <a:endParaRPr lang="zh-CN" altLang="en-US" dirty="0"/>
              </a:p>
            </p:txBody>
          </p:sp>
        </mc:Choice>
        <mc:Fallback xmlns="">
          <p:sp>
            <p:nvSpPr>
              <p:cNvPr id="14" name="Rectangle 13">
                <a:extLst>
                  <a:ext uri="{FF2B5EF4-FFF2-40B4-BE49-F238E27FC236}">
                    <a16:creationId xmlns:a16="http://schemas.microsoft.com/office/drawing/2014/main" id="{D2A83287-8A68-4BB9-BAB2-821FCC06C875}"/>
                  </a:ext>
                </a:extLst>
              </p:cNvPr>
              <p:cNvSpPr>
                <a:spLocks noRot="1" noChangeAspect="1" noMove="1" noResize="1" noEditPoints="1" noAdjustHandles="1" noChangeArrowheads="1" noChangeShapeType="1" noTextEdit="1"/>
              </p:cNvSpPr>
              <p:nvPr/>
            </p:nvSpPr>
            <p:spPr>
              <a:xfrm>
                <a:off x="6480175" y="3198961"/>
                <a:ext cx="2960618" cy="461665"/>
              </a:xfrm>
              <a:prstGeom prst="rect">
                <a:avLst/>
              </a:prstGeom>
              <a:blipFill>
                <a:blip r:embed="rId13"/>
                <a:stretch>
                  <a:fillRect b="-16250"/>
                </a:stretch>
              </a:blipFill>
              <a:ln w="28575">
                <a:solidFill>
                  <a:srgbClr val="CC00CC"/>
                </a:solidFill>
              </a:ln>
            </p:spPr>
            <p:txBody>
              <a:bodyPr/>
              <a:lstStyle/>
              <a:p>
                <a:r>
                  <a:rPr lang="zh-CN" altLang="en-US">
                    <a:noFill/>
                  </a:rPr>
                  <a:t> </a:t>
                </a:r>
              </a:p>
            </p:txBody>
          </p:sp>
        </mc:Fallback>
      </mc:AlternateContent>
      <p:cxnSp>
        <p:nvCxnSpPr>
          <p:cNvPr id="17" name="Connector: Curved 16">
            <a:extLst>
              <a:ext uri="{FF2B5EF4-FFF2-40B4-BE49-F238E27FC236}">
                <a16:creationId xmlns:a16="http://schemas.microsoft.com/office/drawing/2014/main" id="{3AD51834-BA09-441C-99FF-1FE08E5FE607}"/>
              </a:ext>
            </a:extLst>
          </p:cNvPr>
          <p:cNvCxnSpPr>
            <a:cxnSpLocks/>
            <a:stCxn id="10" idx="3"/>
            <a:endCxn id="12" idx="1"/>
          </p:cNvCxnSpPr>
          <p:nvPr/>
        </p:nvCxnSpPr>
        <p:spPr>
          <a:xfrm>
            <a:off x="3134457" y="1822267"/>
            <a:ext cx="498531" cy="239753"/>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9" name="Connector: Curved 18">
            <a:extLst>
              <a:ext uri="{FF2B5EF4-FFF2-40B4-BE49-F238E27FC236}">
                <a16:creationId xmlns:a16="http://schemas.microsoft.com/office/drawing/2014/main" id="{16C4DF06-B241-4857-A91D-ADBE99531F94}"/>
              </a:ext>
            </a:extLst>
          </p:cNvPr>
          <p:cNvCxnSpPr>
            <a:cxnSpLocks/>
            <a:stCxn id="8" idx="3"/>
            <a:endCxn id="12" idx="1"/>
          </p:cNvCxnSpPr>
          <p:nvPr/>
        </p:nvCxnSpPr>
        <p:spPr>
          <a:xfrm flipV="1">
            <a:off x="3134457" y="2062020"/>
            <a:ext cx="498531" cy="365586"/>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2" name="Connector: Curved 21">
            <a:extLst>
              <a:ext uri="{FF2B5EF4-FFF2-40B4-BE49-F238E27FC236}">
                <a16:creationId xmlns:a16="http://schemas.microsoft.com/office/drawing/2014/main" id="{77B5098F-3394-4EC0-AE67-6842A62C038E}"/>
              </a:ext>
            </a:extLst>
          </p:cNvPr>
          <p:cNvCxnSpPr>
            <a:cxnSpLocks/>
            <a:stCxn id="8" idx="3"/>
            <a:endCxn id="13" idx="1"/>
          </p:cNvCxnSpPr>
          <p:nvPr/>
        </p:nvCxnSpPr>
        <p:spPr>
          <a:xfrm>
            <a:off x="3134457" y="2427606"/>
            <a:ext cx="475338" cy="386769"/>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5" name="Connector: Curved 24">
            <a:extLst>
              <a:ext uri="{FF2B5EF4-FFF2-40B4-BE49-F238E27FC236}">
                <a16:creationId xmlns:a16="http://schemas.microsoft.com/office/drawing/2014/main" id="{9531E430-86D7-42CE-BFCD-1C75BC528059}"/>
              </a:ext>
            </a:extLst>
          </p:cNvPr>
          <p:cNvCxnSpPr>
            <a:cxnSpLocks/>
            <a:stCxn id="11" idx="3"/>
            <a:endCxn id="13" idx="1"/>
          </p:cNvCxnSpPr>
          <p:nvPr/>
        </p:nvCxnSpPr>
        <p:spPr>
          <a:xfrm flipV="1">
            <a:off x="3131252" y="2814375"/>
            <a:ext cx="478543" cy="246997"/>
          </a:xfrm>
          <a:prstGeom prst="curvedConnector3">
            <a:avLst>
              <a:gd name="adj1" fmla="val 50000"/>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8" name="Connector: Curved 27">
            <a:extLst>
              <a:ext uri="{FF2B5EF4-FFF2-40B4-BE49-F238E27FC236}">
                <a16:creationId xmlns:a16="http://schemas.microsoft.com/office/drawing/2014/main" id="{571A346B-0CF4-41FF-B7A2-6744824FE501}"/>
              </a:ext>
            </a:extLst>
          </p:cNvPr>
          <p:cNvCxnSpPr>
            <a:cxnSpLocks/>
            <a:stCxn id="9" idx="3"/>
            <a:endCxn id="14" idx="1"/>
          </p:cNvCxnSpPr>
          <p:nvPr/>
        </p:nvCxnSpPr>
        <p:spPr>
          <a:xfrm flipV="1">
            <a:off x="3131252" y="3429794"/>
            <a:ext cx="3348923" cy="348638"/>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1" name="Connector: Curved 30">
            <a:extLst>
              <a:ext uri="{FF2B5EF4-FFF2-40B4-BE49-F238E27FC236}">
                <a16:creationId xmlns:a16="http://schemas.microsoft.com/office/drawing/2014/main" id="{7153F7D0-786F-494B-9046-F0B667B38C8B}"/>
              </a:ext>
            </a:extLst>
          </p:cNvPr>
          <p:cNvCxnSpPr>
            <a:cxnSpLocks/>
            <a:stCxn id="13" idx="3"/>
            <a:endCxn id="14" idx="1"/>
          </p:cNvCxnSpPr>
          <p:nvPr/>
        </p:nvCxnSpPr>
        <p:spPr>
          <a:xfrm>
            <a:off x="6096950" y="2814375"/>
            <a:ext cx="383225" cy="615419"/>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4" name="Connector: Curved 33">
            <a:extLst>
              <a:ext uri="{FF2B5EF4-FFF2-40B4-BE49-F238E27FC236}">
                <a16:creationId xmlns:a16="http://schemas.microsoft.com/office/drawing/2014/main" id="{AEEC4C8C-9FBD-43E3-A75F-A11AB15DAB8A}"/>
              </a:ext>
            </a:extLst>
          </p:cNvPr>
          <p:cNvCxnSpPr>
            <a:cxnSpLocks/>
            <a:stCxn id="12" idx="3"/>
            <a:endCxn id="5" idx="3"/>
          </p:cNvCxnSpPr>
          <p:nvPr/>
        </p:nvCxnSpPr>
        <p:spPr>
          <a:xfrm>
            <a:off x="6123350" y="2062020"/>
            <a:ext cx="4616053" cy="2704142"/>
          </a:xfrm>
          <a:prstGeom prst="curvedConnector3">
            <a:avLst>
              <a:gd name="adj1" fmla="val 104952"/>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5" name="Connector: Curved 34">
            <a:extLst>
              <a:ext uri="{FF2B5EF4-FFF2-40B4-BE49-F238E27FC236}">
                <a16:creationId xmlns:a16="http://schemas.microsoft.com/office/drawing/2014/main" id="{552D2E85-96FF-4713-898D-2450FFAEA86B}"/>
              </a:ext>
            </a:extLst>
          </p:cNvPr>
          <p:cNvCxnSpPr>
            <a:cxnSpLocks/>
            <a:stCxn id="14" idx="3"/>
            <a:endCxn id="5" idx="3"/>
          </p:cNvCxnSpPr>
          <p:nvPr/>
        </p:nvCxnSpPr>
        <p:spPr>
          <a:xfrm>
            <a:off x="9440793" y="3429794"/>
            <a:ext cx="1298610" cy="1336368"/>
          </a:xfrm>
          <a:prstGeom prst="curvedConnector3">
            <a:avLst>
              <a:gd name="adj1" fmla="val 117603"/>
            </a:avLst>
          </a:prstGeom>
          <a:ln>
            <a:tailEnd type="triangle"/>
          </a:ln>
        </p:spPr>
        <p:style>
          <a:lnRef idx="3">
            <a:schemeClr val="accent5"/>
          </a:lnRef>
          <a:fillRef idx="0">
            <a:schemeClr val="accent5"/>
          </a:fillRef>
          <a:effectRef idx="2">
            <a:schemeClr val="accent5"/>
          </a:effectRef>
          <a:fontRef idx="minor">
            <a:schemeClr val="tx1"/>
          </a:fontRef>
        </p:style>
      </p:cxnSp>
      <p:grpSp>
        <p:nvGrpSpPr>
          <p:cNvPr id="60" name="Group 59">
            <a:extLst>
              <a:ext uri="{FF2B5EF4-FFF2-40B4-BE49-F238E27FC236}">
                <a16:creationId xmlns:a16="http://schemas.microsoft.com/office/drawing/2014/main" id="{00F1146E-E721-4AC0-831A-403D19F6443F}"/>
              </a:ext>
            </a:extLst>
          </p:cNvPr>
          <p:cNvGrpSpPr/>
          <p:nvPr/>
        </p:nvGrpSpPr>
        <p:grpSpPr>
          <a:xfrm>
            <a:off x="6034709" y="4535329"/>
            <a:ext cx="4772019" cy="1379636"/>
            <a:chOff x="6034709" y="4535329"/>
            <a:chExt cx="4772019" cy="1379636"/>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9C2F81E-A163-4CA1-B47C-2AB8198D8F55}"/>
                    </a:ext>
                  </a:extLst>
                </p:cNvPr>
                <p:cNvSpPr/>
                <p:nvPr/>
              </p:nvSpPr>
              <p:spPr>
                <a:xfrm>
                  <a:off x="7013575" y="4535329"/>
                  <a:ext cx="3725828" cy="461665"/>
                </a:xfrm>
                <a:prstGeom prst="rect">
                  <a:avLst/>
                </a:prstGeom>
                <a:solidFill>
                  <a:srgbClr val="FFFF00"/>
                </a:solidFill>
                <a:ln w="28575">
                  <a:solidFill>
                    <a:srgbClr val="CC00CC"/>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m:t>
                        </m:r>
                      </m:oMath>
                    </m:oMathPara>
                  </a14:m>
                  <a:endParaRPr lang="zh-CN" altLang="en-US" dirty="0"/>
                </a:p>
              </p:txBody>
            </p:sp>
          </mc:Choice>
          <mc:Fallback xmlns="">
            <p:sp>
              <p:nvSpPr>
                <p:cNvPr id="5" name="Rectangle 4">
                  <a:extLst>
                    <a:ext uri="{FF2B5EF4-FFF2-40B4-BE49-F238E27FC236}">
                      <a16:creationId xmlns:a16="http://schemas.microsoft.com/office/drawing/2014/main" id="{89C2F81E-A163-4CA1-B47C-2AB8198D8F55}"/>
                    </a:ext>
                  </a:extLst>
                </p:cNvPr>
                <p:cNvSpPr>
                  <a:spLocks noRot="1" noChangeAspect="1" noMove="1" noResize="1" noEditPoints="1" noAdjustHandles="1" noChangeArrowheads="1" noChangeShapeType="1" noTextEdit="1"/>
                </p:cNvSpPr>
                <p:nvPr/>
              </p:nvSpPr>
              <p:spPr>
                <a:xfrm>
                  <a:off x="7013575" y="4535329"/>
                  <a:ext cx="3725828" cy="461665"/>
                </a:xfrm>
                <a:prstGeom prst="rect">
                  <a:avLst/>
                </a:prstGeom>
                <a:blipFill>
                  <a:blip r:embed="rId14"/>
                  <a:stretch>
                    <a:fillRect b="-14815"/>
                  </a:stretch>
                </a:blipFill>
                <a:ln w="28575">
                  <a:solidFill>
                    <a:srgbClr val="CC00CC"/>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31A2231-0F24-4010-B555-261BBC99B31D}"/>
                    </a:ext>
                  </a:extLst>
                </p:cNvPr>
                <p:cNvSpPr/>
                <p:nvPr/>
              </p:nvSpPr>
              <p:spPr>
                <a:xfrm>
                  <a:off x="7013575" y="5453300"/>
                  <a:ext cx="3793153" cy="461665"/>
                </a:xfrm>
                <a:prstGeom prst="rect">
                  <a:avLst/>
                </a:prstGeom>
                <a:solidFill>
                  <a:srgbClr val="FFFF00"/>
                </a:solidFill>
                <a:ln w="28575">
                  <a:solidFill>
                    <a:srgbClr val="CC00CC"/>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 ≤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𝒄</m:t>
                        </m:r>
                      </m:oMath>
                    </m:oMathPara>
                  </a14:m>
                  <a:endParaRPr lang="zh-CN" altLang="en-US" dirty="0"/>
                </a:p>
              </p:txBody>
            </p:sp>
          </mc:Choice>
          <mc:Fallback xmlns="">
            <p:sp>
              <p:nvSpPr>
                <p:cNvPr id="6" name="Rectangle 5">
                  <a:extLst>
                    <a:ext uri="{FF2B5EF4-FFF2-40B4-BE49-F238E27FC236}">
                      <a16:creationId xmlns:a16="http://schemas.microsoft.com/office/drawing/2014/main" id="{331A2231-0F24-4010-B555-261BBC99B31D}"/>
                    </a:ext>
                  </a:extLst>
                </p:cNvPr>
                <p:cNvSpPr>
                  <a:spLocks noRot="1" noChangeAspect="1" noMove="1" noResize="1" noEditPoints="1" noAdjustHandles="1" noChangeArrowheads="1" noChangeShapeType="1" noTextEdit="1"/>
                </p:cNvSpPr>
                <p:nvPr/>
              </p:nvSpPr>
              <p:spPr>
                <a:xfrm>
                  <a:off x="7013575" y="5453300"/>
                  <a:ext cx="3793153" cy="461665"/>
                </a:xfrm>
                <a:prstGeom prst="rect">
                  <a:avLst/>
                </a:prstGeom>
                <a:blipFill>
                  <a:blip r:embed="rId15"/>
                  <a:stretch>
                    <a:fillRect b="-16250"/>
                  </a:stretch>
                </a:blipFill>
                <a:ln w="28575">
                  <a:solidFill>
                    <a:srgbClr val="CC00CC"/>
                  </a:solidFill>
                </a:ln>
              </p:spPr>
              <p:txBody>
                <a:bodyPr/>
                <a:lstStyle/>
                <a:p>
                  <a:r>
                    <a:rPr lang="zh-CN" altLang="en-US">
                      <a:noFill/>
                    </a:rPr>
                    <a:t> </a:t>
                  </a:r>
                </a:p>
              </p:txBody>
            </p:sp>
          </mc:Fallback>
        </mc:AlternateContent>
        <p:cxnSp>
          <p:nvCxnSpPr>
            <p:cNvPr id="40" name="Connector: Curved 39">
              <a:extLst>
                <a:ext uri="{FF2B5EF4-FFF2-40B4-BE49-F238E27FC236}">
                  <a16:creationId xmlns:a16="http://schemas.microsoft.com/office/drawing/2014/main" id="{E286BA8E-4270-4DAF-AF4A-2FA3C78782B3}"/>
                </a:ext>
              </a:extLst>
            </p:cNvPr>
            <p:cNvCxnSpPr>
              <a:cxnSpLocks/>
              <a:stCxn id="5" idx="1"/>
              <a:endCxn id="4" idx="3"/>
            </p:cNvCxnSpPr>
            <p:nvPr/>
          </p:nvCxnSpPr>
          <p:spPr>
            <a:xfrm rot="10800000" flipV="1">
              <a:off x="6034709" y="4766162"/>
              <a:ext cx="978866" cy="501992"/>
            </a:xfrm>
            <a:prstGeom prst="curvedConnector3">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43" name="Connector: Curved 42">
              <a:extLst>
                <a:ext uri="{FF2B5EF4-FFF2-40B4-BE49-F238E27FC236}">
                  <a16:creationId xmlns:a16="http://schemas.microsoft.com/office/drawing/2014/main" id="{9EAFCAFD-608F-4C7D-B8AE-8F5F8155B0BA}"/>
                </a:ext>
              </a:extLst>
            </p:cNvPr>
            <p:cNvCxnSpPr>
              <a:cxnSpLocks/>
              <a:stCxn id="6" idx="1"/>
              <a:endCxn id="4" idx="3"/>
            </p:cNvCxnSpPr>
            <p:nvPr/>
          </p:nvCxnSpPr>
          <p:spPr>
            <a:xfrm rot="10800000">
              <a:off x="6034709" y="5268155"/>
              <a:ext cx="978866" cy="415979"/>
            </a:xfrm>
            <a:prstGeom prst="curvedConnector3">
              <a:avLst>
                <a:gd name="adj1" fmla="val 50000"/>
              </a:avLst>
            </a:prstGeom>
            <a:ln>
              <a:tailEnd type="triangle"/>
            </a:ln>
          </p:spPr>
          <p:style>
            <a:lnRef idx="3">
              <a:schemeClr val="accent5"/>
            </a:lnRef>
            <a:fillRef idx="0">
              <a:schemeClr val="accent5"/>
            </a:fillRef>
            <a:effectRef idx="2">
              <a:schemeClr val="accent5"/>
            </a:effectRef>
            <a:fontRef idx="minor">
              <a:schemeClr val="tx1"/>
            </a:fontRef>
          </p:style>
        </p:cxnSp>
      </p:grpSp>
    </p:spTree>
    <p:custDataLst>
      <p:tags r:id="rId1"/>
    </p:custDataLst>
    <p:extLst>
      <p:ext uri="{BB962C8B-B14F-4D97-AF65-F5344CB8AC3E}">
        <p14:creationId xmlns:p14="http://schemas.microsoft.com/office/powerpoint/2010/main" val="168344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P spid="12"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格的运算性质</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199851-869F-484E-89D0-692A486C17C5}"/>
                  </a:ext>
                </a:extLst>
              </p:cNvPr>
              <p:cNvSpPr>
                <a:spLocks noGrp="1"/>
              </p:cNvSpPr>
              <p:nvPr>
                <p:ph idx="1"/>
              </p:nvPr>
            </p:nvSpPr>
            <p:spPr>
              <a:xfrm>
                <a:off x="307975" y="1009089"/>
                <a:ext cx="11430000" cy="668105"/>
              </a:xfrm>
            </p:spPr>
            <p:txBody>
              <a:bodyPr>
                <a:noAutofit/>
              </a:bodyPr>
              <a:lstStyle/>
              <a:p>
                <a:pPr marL="0" indent="0" algn="just">
                  <a:buNone/>
                </a:pPr>
                <a:r>
                  <a:rPr lang="zh-CN" altLang="zh-CN" dirty="0">
                    <a:latin typeface="+mn-ea"/>
                  </a:rPr>
                  <a:t>（</a:t>
                </a:r>
                <a:r>
                  <a:rPr lang="en-US" altLang="zh-CN" dirty="0">
                    <a:latin typeface="+mn-ea"/>
                  </a:rPr>
                  <a:t>2</a:t>
                </a:r>
                <a:r>
                  <a:rPr lang="zh-CN" altLang="zh-CN" dirty="0">
                    <a:latin typeface="+mn-ea"/>
                  </a:rPr>
                  <a:t>）结合律：</a:t>
                </a:r>
                <a14:m>
                  <m:oMath xmlns:m="http://schemas.openxmlformats.org/officeDocument/2006/math">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m:t>
                    </m:r>
                    <m:r>
                      <a:rPr lang="en-US" altLang="zh-CN" b="1" i="1" dirty="0">
                        <a:latin typeface="Cambria Math" panose="02040503050406030204" pitchFamily="18" charset="0"/>
                      </a:rPr>
                      <m:t>𝒄</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𝒃</m:t>
                    </m:r>
                    <m:r>
                      <a:rPr lang="zh-CN" altLang="zh-CN" b="1" i="1" dirty="0">
                        <a:latin typeface="Cambria Math" panose="02040503050406030204" pitchFamily="18" charset="0"/>
                      </a:rPr>
                      <m:t>∧</m:t>
                    </m:r>
                    <m:r>
                      <a:rPr lang="en-US" altLang="zh-CN" b="1" i="1" dirty="0">
                        <a:latin typeface="Cambria Math" panose="02040503050406030204" pitchFamily="18" charset="0"/>
                      </a:rPr>
                      <m:t>𝒄</m:t>
                    </m:r>
                    <m:r>
                      <a:rPr lang="en-US" altLang="zh-CN" b="1" i="1" dirty="0">
                        <a:latin typeface="Cambria Math" panose="02040503050406030204" pitchFamily="18" charset="0"/>
                      </a:rPr>
                      <m:t>)</m:t>
                    </m:r>
                    <m:r>
                      <a:rPr lang="zh-CN" altLang="zh-CN" b="1" i="1" dirty="0">
                        <a:latin typeface="Cambria Math" panose="02040503050406030204" pitchFamily="18" charset="0"/>
                      </a:rPr>
                      <m:t>；</m:t>
                    </m:r>
                    <m:r>
                      <a:rPr lang="en-US"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m:t>
                    </m:r>
                    <m:r>
                      <a:rPr lang="en-US" altLang="zh-CN" b="1" i="1" dirty="0">
                        <a:latin typeface="Cambria Math" panose="02040503050406030204" pitchFamily="18" charset="0"/>
                      </a:rPr>
                      <m:t>𝒄</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𝒃</m:t>
                    </m:r>
                    <m:r>
                      <a:rPr lang="zh-CN" altLang="zh-CN" b="1" i="1" dirty="0">
                        <a:latin typeface="Cambria Math" panose="02040503050406030204" pitchFamily="18" charset="0"/>
                      </a:rPr>
                      <m:t>∨</m:t>
                    </m:r>
                    <m:r>
                      <a:rPr lang="en-US" altLang="zh-CN" b="1" i="1" dirty="0">
                        <a:latin typeface="Cambria Math" panose="02040503050406030204" pitchFamily="18" charset="0"/>
                      </a:rPr>
                      <m:t>𝒄</m:t>
                    </m:r>
                    <m:r>
                      <a:rPr lang="en-US" altLang="zh-CN" b="1" i="1" dirty="0">
                        <a:latin typeface="Cambria Math" panose="02040503050406030204" pitchFamily="18" charset="0"/>
                      </a:rPr>
                      <m:t>)</m:t>
                    </m:r>
                  </m:oMath>
                </a14:m>
                <a:endParaRPr lang="zh-CN" altLang="zh-CN" dirty="0">
                  <a:latin typeface="+mn-ea"/>
                </a:endParaRPr>
              </a:p>
            </p:txBody>
          </p:sp>
        </mc:Choice>
        <mc:Fallback xmlns="">
          <p:sp>
            <p:nvSpPr>
              <p:cNvPr id="3" name="Content Placeholder 2">
                <a:extLst>
                  <a:ext uri="{FF2B5EF4-FFF2-40B4-BE49-F238E27FC236}">
                    <a16:creationId xmlns:a16="http://schemas.microsoft.com/office/drawing/2014/main" id="{87199851-869F-484E-89D0-692A486C17C5}"/>
                  </a:ext>
                </a:extLst>
              </p:cNvPr>
              <p:cNvSpPr>
                <a:spLocks noGrp="1" noRot="1" noChangeAspect="1" noMove="1" noResize="1" noEditPoints="1" noAdjustHandles="1" noChangeArrowheads="1" noChangeShapeType="1" noTextEdit="1"/>
              </p:cNvSpPr>
              <p:nvPr>
                <p:ph idx="1"/>
              </p:nvPr>
            </p:nvSpPr>
            <p:spPr>
              <a:xfrm>
                <a:off x="307975" y="1009089"/>
                <a:ext cx="11430000" cy="668105"/>
              </a:xfrm>
              <a:blipFill>
                <a:blip r:embed="rId5"/>
                <a:stretch>
                  <a:fillRect l="-5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1ABDE69-606A-40B9-9D7B-2D77FC12C6A6}"/>
                  </a:ext>
                </a:extLst>
              </p:cNvPr>
              <p:cNvSpPr txBox="1"/>
              <p:nvPr/>
            </p:nvSpPr>
            <p:spPr>
              <a:xfrm>
                <a:off x="216156" y="1677194"/>
                <a:ext cx="11613638" cy="4923784"/>
              </a:xfrm>
              <a:prstGeom prst="rect">
                <a:avLst/>
              </a:prstGeom>
              <a:solidFill>
                <a:schemeClr val="accent3">
                  <a:lumMod val="20000"/>
                  <a:lumOff val="80000"/>
                </a:schemeClr>
              </a:solidFill>
            </p:spPr>
            <p:txBody>
              <a:bodyPr wrap="square">
                <a:spAutoFit/>
              </a:bodyPr>
              <a:lstStyle/>
              <a:p>
                <a:pPr algn="just">
                  <a:lnSpc>
                    <a:spcPct val="130000"/>
                  </a:lnSpc>
                  <a:spcBef>
                    <a:spcPts val="600"/>
                  </a:spcBef>
                  <a:buSzPct val="80000"/>
                </a:pPr>
                <a:r>
                  <a:rPr lang="zh-CN" altLang="zh-CN" b="1" dirty="0">
                    <a:solidFill>
                      <a:srgbClr val="FF0000"/>
                    </a:solidFill>
                    <a:latin typeface="+mn-ea"/>
                  </a:rPr>
                  <a:t>证明</a:t>
                </a:r>
                <a:r>
                  <a:rPr lang="zh-CN" altLang="zh-CN" b="1" dirty="0">
                    <a:solidFill>
                      <a:schemeClr val="tx1">
                        <a:lumMod val="75000"/>
                        <a:lumOff val="25000"/>
                      </a:schemeClr>
                    </a:solidFill>
                    <a:latin typeface="+mn-ea"/>
                  </a:rPr>
                  <a:t> （</a:t>
                </a:r>
                <a:r>
                  <a:rPr lang="en-US" altLang="zh-CN" b="1" dirty="0">
                    <a:solidFill>
                      <a:schemeClr val="tx1">
                        <a:lumMod val="75000"/>
                        <a:lumOff val="25000"/>
                      </a:schemeClr>
                    </a:solidFill>
                    <a:latin typeface="+mn-ea"/>
                  </a:rPr>
                  <a:t>2</a:t>
                </a:r>
                <a:r>
                  <a:rPr lang="zh-CN" altLang="zh-CN" b="1" dirty="0">
                    <a:solidFill>
                      <a:schemeClr val="tx1">
                        <a:lumMod val="75000"/>
                        <a:lumOff val="25000"/>
                      </a:schemeClr>
                    </a:solidFill>
                    <a:latin typeface="+mn-ea"/>
                  </a:rPr>
                  <a:t>）</a:t>
                </a:r>
                <a14:m>
                  <m:oMath xmlns:m="http://schemas.openxmlformats.org/officeDocument/2006/math">
                    <m:r>
                      <a:rPr lang="zh-CN" altLang="zh-CN" b="1" i="1" dirty="0" smtClean="0">
                        <a:solidFill>
                          <a:srgbClr val="0000FF"/>
                        </a:solidFill>
                        <a:latin typeface="Cambria Math" panose="02040503050406030204" pitchFamily="18" charset="0"/>
                      </a:rPr>
                      <m:t>∧</m:t>
                    </m:r>
                  </m:oMath>
                </a14:m>
                <a:r>
                  <a:rPr lang="zh-CN" altLang="zh-CN" b="1" dirty="0">
                    <a:solidFill>
                      <a:srgbClr val="0000FF"/>
                    </a:solidFill>
                    <a:latin typeface="+mn-ea"/>
                  </a:rPr>
                  <a:t>运算对应求两个元素的最大下界</a:t>
                </a:r>
                <a:r>
                  <a:rPr lang="zh-CN" altLang="zh-CN" b="1" dirty="0">
                    <a:solidFill>
                      <a:schemeClr val="tx1">
                        <a:lumMod val="75000"/>
                        <a:lumOff val="25000"/>
                      </a:schemeClr>
                    </a:solidFill>
                    <a:latin typeface="+mn-ea"/>
                  </a:rPr>
                  <a:t>，所以</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𝒄</m:t>
                    </m:r>
                  </m:oMath>
                </a14:m>
                <a:r>
                  <a:rPr lang="zh-CN" altLang="zh-CN" b="1" dirty="0">
                    <a:solidFill>
                      <a:schemeClr val="tx1">
                        <a:lumMod val="75000"/>
                        <a:lumOff val="25000"/>
                      </a:schemeClr>
                    </a:solidFill>
                    <a:latin typeface="+mn-ea"/>
                  </a:rPr>
                  <a:t>，又有</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𝒃</m:t>
                    </m:r>
                  </m:oMath>
                </a14:m>
                <a:r>
                  <a:rPr lang="zh-CN" altLang="zh-CN" b="1" dirty="0">
                    <a:solidFill>
                      <a:schemeClr val="tx1">
                        <a:lumMod val="75000"/>
                        <a:lumOff val="25000"/>
                      </a:schemeClr>
                    </a:solidFill>
                    <a:latin typeface="+mn-ea"/>
                  </a:rPr>
                  <a:t>，从而得到</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oMath>
                </a14:m>
                <a:r>
                  <a:rPr lang="zh-CN" altLang="en-US" b="1" i="0" dirty="0">
                    <a:solidFill>
                      <a:schemeClr val="tx1">
                        <a:lumMod val="75000"/>
                        <a:lumOff val="25000"/>
                      </a:schemeClr>
                    </a:solidFill>
                    <a:latin typeface="+mj-lt"/>
                  </a:rPr>
                  <a:t>又</a:t>
                </a:r>
                <a:r>
                  <a:rPr lang="zh-CN" altLang="zh-CN" b="1" dirty="0">
                    <a:solidFill>
                      <a:schemeClr val="tx1">
                        <a:lumMod val="75000"/>
                        <a:lumOff val="25000"/>
                      </a:schemeClr>
                    </a:solidFill>
                    <a:latin typeface="+mn-ea"/>
                  </a:rPr>
                  <a:t>根据</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𝒄</m:t>
                    </m:r>
                  </m:oMath>
                </a14:m>
                <a:r>
                  <a:rPr lang="zh-CN" altLang="zh-CN" b="1" dirty="0">
                    <a:solidFill>
                      <a:schemeClr val="tx1">
                        <a:lumMod val="75000"/>
                        <a:lumOff val="25000"/>
                      </a:schemeClr>
                    </a:solidFill>
                    <a:latin typeface="+mn-ea"/>
                  </a:rPr>
                  <a:t>，可推出</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oMath>
                </a14:m>
                <a:r>
                  <a:rPr lang="zh-CN" altLang="zh-CN" b="1" dirty="0">
                    <a:solidFill>
                      <a:schemeClr val="tx1">
                        <a:lumMod val="75000"/>
                        <a:lumOff val="25000"/>
                      </a:schemeClr>
                    </a:solidFill>
                    <a:latin typeface="+mn-ea"/>
                  </a:rPr>
                  <a:t>。再根据</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r>
                      <a:rPr lang="zh-CN"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可推出</a:t>
                </a:r>
                <a:r>
                  <a:rPr lang="en-US" altLang="zh-CN" b="1" dirty="0">
                    <a:solidFill>
                      <a:schemeClr val="tx1">
                        <a:lumMod val="75000"/>
                        <a:lumOff val="25000"/>
                      </a:schemeClr>
                    </a:solidFill>
                    <a:latin typeface="+mn-ea"/>
                  </a:rPr>
                  <a:t> </a:t>
                </a:r>
                <a14:m>
                  <m:oMath xmlns:m="http://schemas.openxmlformats.org/officeDocument/2006/math">
                    <m:r>
                      <a:rPr lang="en-US" altLang="zh-CN" b="1" i="1" dirty="0" smtClean="0">
                        <a:solidFill>
                          <a:srgbClr val="0000FF"/>
                        </a:solidFill>
                        <a:latin typeface="Cambria Math" panose="02040503050406030204" pitchFamily="18" charset="0"/>
                      </a:rPr>
                      <m:t>(</m:t>
                    </m:r>
                    <m:r>
                      <a:rPr lang="en-US" altLang="zh-CN" b="1" i="1" dirty="0" smtClean="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m:t>
                    </m:r>
                  </m:oMath>
                </a14:m>
                <a:r>
                  <a:rPr lang="zh-CN" altLang="zh-CN" b="1" dirty="0">
                    <a:solidFill>
                      <a:schemeClr val="tx1">
                        <a:lumMod val="75000"/>
                        <a:lumOff val="25000"/>
                      </a:schemeClr>
                    </a:solidFill>
                    <a:latin typeface="+mn-ea"/>
                  </a:rPr>
                  <a:t>。同理可证，</a:t>
                </a:r>
                <a14:m>
                  <m:oMath xmlns:m="http://schemas.openxmlformats.org/officeDocument/2006/math">
                    <m:r>
                      <a:rPr lang="en-US" altLang="zh-CN" b="1" i="1" dirty="0" smtClean="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 ≤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𝒄</m:t>
                    </m:r>
                  </m:oMath>
                </a14:m>
                <a:r>
                  <a:rPr lang="zh-CN" altLang="zh-CN" b="1" dirty="0">
                    <a:solidFill>
                      <a:schemeClr val="tx1">
                        <a:lumMod val="75000"/>
                        <a:lumOff val="25000"/>
                      </a:schemeClr>
                    </a:solidFill>
                    <a:latin typeface="+mn-ea"/>
                  </a:rPr>
                  <a:t>，因而</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a:t>
                </a:r>
              </a:p>
              <a:p>
                <a:pPr algn="just">
                  <a:lnSpc>
                    <a:spcPct val="130000"/>
                  </a:lnSpc>
                  <a:spcBef>
                    <a:spcPts val="600"/>
                  </a:spcBef>
                  <a:buSzPct val="80000"/>
                </a:pPr>
                <a:r>
                  <a:rPr lang="zh-CN" altLang="zh-CN" b="1" dirty="0">
                    <a:solidFill>
                      <a:srgbClr val="0000FF"/>
                    </a:solidFill>
                    <a:latin typeface="+mn-ea"/>
                  </a:rPr>
                  <a:t>∨运算对应求两个元素的最小上界</a:t>
                </a:r>
                <a:r>
                  <a:rPr lang="zh-CN" altLang="zh-CN" b="1" dirty="0">
                    <a:solidFill>
                      <a:schemeClr val="tx1">
                        <a:lumMod val="75000"/>
                        <a:lumOff val="25000"/>
                      </a:schemeClr>
                    </a:solidFill>
                    <a:latin typeface="+mn-ea"/>
                  </a:rPr>
                  <a:t>，所以</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zh-CN"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又有</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en-US" altLang="zh-CN" b="1" i="1" dirty="0" smtClean="0">
                        <a:solidFill>
                          <a:schemeClr val="tx1">
                            <a:lumMod val="75000"/>
                            <a:lumOff val="25000"/>
                          </a:schemeClr>
                        </a:solidFill>
                        <a:latin typeface="Cambria Math" panose="02040503050406030204" pitchFamily="18" charset="0"/>
                      </a:rPr>
                      <m:t>≤ </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从而得到</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en-US" altLang="zh-CN" b="1" i="1" dirty="0" smtClean="0">
                        <a:solidFill>
                          <a:schemeClr val="tx1">
                            <a:lumMod val="75000"/>
                            <a:lumOff val="25000"/>
                          </a:schemeClr>
                        </a:solidFill>
                        <a:latin typeface="Cambria Math" panose="02040503050406030204" pitchFamily="18" charset="0"/>
                      </a:rPr>
                      <m:t>≤ (</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zh-CN"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从而根据</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𝒃</m:t>
                    </m:r>
                    <m:r>
                      <a:rPr lang="en-US" altLang="zh-CN" b="1" i="1" dirty="0" smtClean="0">
                        <a:solidFill>
                          <a:schemeClr val="tx1">
                            <a:lumMod val="75000"/>
                            <a:lumOff val="25000"/>
                          </a:schemeClr>
                        </a:solidFill>
                        <a:latin typeface="Cambria Math" panose="02040503050406030204" pitchFamily="18" charset="0"/>
                      </a:rPr>
                      <m:t>≤ (</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m:t>
                    </m:r>
                    <m:r>
                      <a:rPr lang="zh-CN"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可推出</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oMath>
                </a14:m>
                <a:r>
                  <a:rPr lang="zh-CN" altLang="zh-CN" b="1" dirty="0">
                    <a:solidFill>
                      <a:schemeClr val="tx1">
                        <a:lumMod val="75000"/>
                        <a:lumOff val="25000"/>
                      </a:schemeClr>
                    </a:solidFill>
                    <a:latin typeface="+mn-ea"/>
                  </a:rPr>
                  <a:t>。再根据</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en-US" altLang="zh-CN" b="1" i="1" dirty="0" smtClean="0">
                        <a:solidFill>
                          <a:schemeClr val="tx1">
                            <a:lumMod val="75000"/>
                            <a:lumOff val="25000"/>
                          </a:schemeClr>
                        </a:solidFill>
                        <a:latin typeface="Cambria Math" panose="02040503050406030204" pitchFamily="18" charset="0"/>
                      </a:rPr>
                      <m:t>≤ (</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m:t>
                    </m:r>
                    <m:r>
                      <a:rPr lang="en-US" altLang="zh-CN" b="1" i="1" dirty="0" smtClean="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zh-CN"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可推出</a:t>
                </a:r>
                <a14:m>
                  <m:oMath xmlns:m="http://schemas.openxmlformats.org/officeDocument/2006/math">
                    <m:r>
                      <a:rPr lang="en-US" altLang="zh-CN" b="1" i="1" dirty="0" smtClean="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𝒃</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𝒄</m:t>
                    </m:r>
                  </m:oMath>
                </a14:m>
                <a:r>
                  <a:rPr lang="zh-CN" altLang="zh-CN" b="1" dirty="0">
                    <a:solidFill>
                      <a:schemeClr val="tx1">
                        <a:lumMod val="75000"/>
                        <a:lumOff val="25000"/>
                      </a:schemeClr>
                    </a:solidFill>
                    <a:latin typeface="+mn-ea"/>
                  </a:rPr>
                  <a:t>。同理可证，</a:t>
                </a:r>
                <a14:m>
                  <m:oMath xmlns:m="http://schemas.openxmlformats.org/officeDocument/2006/math">
                    <m:r>
                      <a:rPr lang="en-US" altLang="zh-CN" b="1" i="1" dirty="0" smtClean="0">
                        <a:solidFill>
                          <a:srgbClr val="0000FF"/>
                        </a:solidFill>
                        <a:latin typeface="Cambria Math" panose="02040503050406030204" pitchFamily="18" charset="0"/>
                      </a:rPr>
                      <m:t>(</m:t>
                    </m:r>
                    <m:r>
                      <a:rPr lang="en-US" altLang="zh-CN" b="1" i="1" dirty="0" smtClean="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𝒃</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m:t>
                    </m:r>
                  </m:oMath>
                </a14:m>
                <a:r>
                  <a:rPr lang="zh-CN" altLang="zh-CN" b="1" dirty="0">
                    <a:solidFill>
                      <a:schemeClr val="tx1">
                        <a:lumMod val="75000"/>
                        <a:lumOff val="25000"/>
                      </a:schemeClr>
                    </a:solidFill>
                    <a:latin typeface="+mn-ea"/>
                  </a:rPr>
                  <a:t>，因而</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𝒃</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𝒄</m:t>
                    </m:r>
                    <m:r>
                      <a:rPr lang="en-US"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a:t>
                </a:r>
              </a:p>
            </p:txBody>
          </p:sp>
        </mc:Choice>
        <mc:Fallback xmlns="">
          <p:sp>
            <p:nvSpPr>
              <p:cNvPr id="7" name="文本框 6">
                <a:extLst>
                  <a:ext uri="{FF2B5EF4-FFF2-40B4-BE49-F238E27FC236}">
                    <a16:creationId xmlns:a16="http://schemas.microsoft.com/office/drawing/2014/main" id="{51ABDE69-606A-40B9-9D7B-2D77FC12C6A6}"/>
                  </a:ext>
                </a:extLst>
              </p:cNvPr>
              <p:cNvSpPr txBox="1">
                <a:spLocks noRot="1" noChangeAspect="1" noMove="1" noResize="1" noEditPoints="1" noAdjustHandles="1" noChangeArrowheads="1" noChangeShapeType="1" noTextEdit="1"/>
              </p:cNvSpPr>
              <p:nvPr/>
            </p:nvSpPr>
            <p:spPr>
              <a:xfrm>
                <a:off x="216156" y="1677194"/>
                <a:ext cx="11613638" cy="4923784"/>
              </a:xfrm>
              <a:prstGeom prst="rect">
                <a:avLst/>
              </a:prstGeom>
              <a:blipFill>
                <a:blip r:embed="rId6"/>
                <a:stretch>
                  <a:fillRect l="-787" r="-787" b="-185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19866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格的运算性质</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199851-869F-484E-89D0-692A486C17C5}"/>
                  </a:ext>
                </a:extLst>
              </p:cNvPr>
              <p:cNvSpPr>
                <a:spLocks noGrp="1"/>
              </p:cNvSpPr>
              <p:nvPr>
                <p:ph idx="1"/>
              </p:nvPr>
            </p:nvSpPr>
            <p:spPr>
              <a:xfrm>
                <a:off x="460375" y="938227"/>
                <a:ext cx="8762590" cy="1066800"/>
              </a:xfrm>
            </p:spPr>
            <p:txBody>
              <a:bodyPr>
                <a:noAutofit/>
              </a:bodyPr>
              <a:lstStyle/>
              <a:p>
                <a:pPr marL="0" indent="0" algn="just">
                  <a:buNone/>
                </a:pPr>
                <a:r>
                  <a:rPr lang="zh-CN" altLang="zh-CN" dirty="0">
                    <a:latin typeface="+mn-ea"/>
                  </a:rPr>
                  <a:t>（</a:t>
                </a:r>
                <a:r>
                  <a:rPr lang="en-US" altLang="zh-CN" dirty="0">
                    <a:latin typeface="+mn-ea"/>
                  </a:rPr>
                  <a:t>3</a:t>
                </a:r>
                <a:r>
                  <a:rPr lang="zh-CN" altLang="zh-CN" dirty="0">
                    <a:latin typeface="+mn-ea"/>
                  </a:rPr>
                  <a:t>）幂等律：</a:t>
                </a:r>
                <a14:m>
                  <m:oMath xmlns:m="http://schemas.openxmlformats.org/officeDocument/2006/math">
                    <m:r>
                      <a:rPr lang="en-US" altLang="zh-CN" b="1" i="1" dirty="0" smtClean="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𝒂</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𝒂</m:t>
                    </m:r>
                    <m:r>
                      <a:rPr lang="en-US" altLang="zh-CN" b="1" i="1" dirty="0">
                        <a:latin typeface="Cambria Math" panose="02040503050406030204" pitchFamily="18" charset="0"/>
                      </a:rPr>
                      <m:t> = </m:t>
                    </m:r>
                    <m:r>
                      <a:rPr lang="en-US" altLang="zh-CN" b="1" i="1" dirty="0">
                        <a:latin typeface="Cambria Math" panose="02040503050406030204" pitchFamily="18" charset="0"/>
                      </a:rPr>
                      <m:t>𝒂</m:t>
                    </m:r>
                  </m:oMath>
                </a14:m>
                <a:endParaRPr lang="zh-CN" altLang="zh-CN" dirty="0">
                  <a:latin typeface="+mn-ea"/>
                </a:endParaRPr>
              </a:p>
              <a:p>
                <a:pPr marL="0" indent="0" algn="just">
                  <a:buNone/>
                </a:pPr>
                <a:r>
                  <a:rPr lang="zh-CN" altLang="zh-CN" dirty="0">
                    <a:latin typeface="+mn-ea"/>
                  </a:rPr>
                  <a:t>（</a:t>
                </a:r>
                <a:r>
                  <a:rPr lang="en-US" altLang="zh-CN" dirty="0">
                    <a:latin typeface="+mn-ea"/>
                  </a:rPr>
                  <a:t>4</a:t>
                </a:r>
                <a:r>
                  <a:rPr lang="zh-CN" altLang="zh-CN" dirty="0">
                    <a:latin typeface="+mn-ea"/>
                  </a:rPr>
                  <a:t>）吸收律：</a:t>
                </a:r>
                <a14:m>
                  <m:oMath xmlns:m="http://schemas.openxmlformats.org/officeDocument/2006/math">
                    <m:r>
                      <a:rPr lang="en-US" altLang="zh-CN" b="1" i="1" dirty="0" smtClean="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 </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zh-CN" altLang="zh-CN" b="1" i="1" dirty="0">
                        <a:latin typeface="Cambria Math" panose="02040503050406030204" pitchFamily="18" charset="0"/>
                      </a:rPr>
                      <m:t> </m:t>
                    </m:r>
                    <m:r>
                      <a:rPr lang="en-US" altLang="zh-CN" b="1" i="1" dirty="0">
                        <a:latin typeface="Cambria Math" panose="02040503050406030204" pitchFamily="18" charset="0"/>
                      </a:rPr>
                      <m:t>𝒂</m:t>
                    </m:r>
                    <m:r>
                      <a:rPr lang="zh-CN" altLang="zh-CN" b="1" i="1" dirty="0">
                        <a:latin typeface="Cambria Math" panose="02040503050406030204" pitchFamily="18" charset="0"/>
                      </a:rPr>
                      <m:t>∨ </m:t>
                    </m:r>
                    <m:r>
                      <a:rPr lang="en-US" altLang="zh-CN" b="1" i="1" dirty="0">
                        <a:latin typeface="Cambria Math" panose="02040503050406030204" pitchFamily="18" charset="0"/>
                      </a:rPr>
                      <m:t>(</m:t>
                    </m:r>
                    <m:r>
                      <a:rPr lang="en-US" altLang="zh-CN" b="1" i="1" dirty="0">
                        <a:latin typeface="Cambria Math" panose="02040503050406030204" pitchFamily="18" charset="0"/>
                      </a:rPr>
                      <m:t>𝒂</m:t>
                    </m:r>
                    <m:r>
                      <a:rPr lang="zh-CN" altLang="zh-CN" b="1" i="1" dirty="0">
                        <a:latin typeface="Cambria Math" panose="02040503050406030204" pitchFamily="18" charset="0"/>
                      </a:rPr>
                      <m:t>∧</m:t>
                    </m:r>
                    <m:r>
                      <a:rPr lang="en-US" altLang="zh-CN" b="1" i="1" dirty="0">
                        <a:latin typeface="Cambria Math" panose="02040503050406030204" pitchFamily="18" charset="0"/>
                      </a:rPr>
                      <m:t>𝒃</m:t>
                    </m:r>
                    <m:r>
                      <a:rPr lang="en-US" altLang="zh-CN" b="1" i="1" dirty="0">
                        <a:latin typeface="Cambria Math" panose="02040503050406030204" pitchFamily="18" charset="0"/>
                      </a:rPr>
                      <m:t>) = </m:t>
                    </m:r>
                    <m:r>
                      <a:rPr lang="en-US" altLang="zh-CN" b="1" i="1" dirty="0">
                        <a:latin typeface="Cambria Math" panose="02040503050406030204" pitchFamily="18" charset="0"/>
                      </a:rPr>
                      <m:t>𝒂</m:t>
                    </m:r>
                  </m:oMath>
                </a14:m>
                <a:endParaRPr lang="zh-CN" altLang="zh-CN" dirty="0">
                  <a:latin typeface="+mn-ea"/>
                </a:endParaRPr>
              </a:p>
            </p:txBody>
          </p:sp>
        </mc:Choice>
        <mc:Fallback xmlns="">
          <p:sp>
            <p:nvSpPr>
              <p:cNvPr id="3" name="Content Placeholder 2">
                <a:extLst>
                  <a:ext uri="{FF2B5EF4-FFF2-40B4-BE49-F238E27FC236}">
                    <a16:creationId xmlns:a16="http://schemas.microsoft.com/office/drawing/2014/main" id="{87199851-869F-484E-89D0-692A486C17C5}"/>
                  </a:ext>
                </a:extLst>
              </p:cNvPr>
              <p:cNvSpPr>
                <a:spLocks noGrp="1" noRot="1" noChangeAspect="1" noMove="1" noResize="1" noEditPoints="1" noAdjustHandles="1" noChangeArrowheads="1" noChangeShapeType="1" noTextEdit="1"/>
              </p:cNvSpPr>
              <p:nvPr>
                <p:ph idx="1"/>
              </p:nvPr>
            </p:nvSpPr>
            <p:spPr>
              <a:xfrm>
                <a:off x="460375" y="938227"/>
                <a:ext cx="8762590" cy="1066800"/>
              </a:xfrm>
              <a:blipFill>
                <a:blip r:embed="rId5"/>
                <a:stretch>
                  <a:fillRect l="-765" b="-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1ABDE69-606A-40B9-9D7B-2D77FC12C6A6}"/>
                  </a:ext>
                </a:extLst>
              </p:cNvPr>
              <p:cNvSpPr txBox="1"/>
              <p:nvPr/>
            </p:nvSpPr>
            <p:spPr>
              <a:xfrm>
                <a:off x="393700" y="2188623"/>
                <a:ext cx="11430000" cy="4241161"/>
              </a:xfrm>
              <a:prstGeom prst="rect">
                <a:avLst/>
              </a:prstGeom>
              <a:solidFill>
                <a:schemeClr val="accent2">
                  <a:lumMod val="20000"/>
                  <a:lumOff val="80000"/>
                </a:schemeClr>
              </a:solidFill>
            </p:spPr>
            <p:txBody>
              <a:bodyPr wrap="square">
                <a:spAutoFit/>
              </a:bodyPr>
              <a:lstStyle/>
              <a:p>
                <a:pPr algn="just">
                  <a:lnSpc>
                    <a:spcPct val="130000"/>
                  </a:lnSpc>
                  <a:spcBef>
                    <a:spcPts val="600"/>
                  </a:spcBef>
                  <a:buSzPct val="80000"/>
                </a:pPr>
                <a:r>
                  <a:rPr lang="zh-CN" altLang="zh-CN" b="1" dirty="0">
                    <a:solidFill>
                      <a:srgbClr val="FF0000"/>
                    </a:solidFill>
                    <a:latin typeface="+mn-ea"/>
                  </a:rPr>
                  <a:t>证明</a:t>
                </a:r>
                <a:r>
                  <a:rPr lang="zh-CN" altLang="zh-CN" b="1" dirty="0">
                    <a:solidFill>
                      <a:schemeClr val="tx1">
                        <a:lumMod val="75000"/>
                        <a:lumOff val="25000"/>
                      </a:schemeClr>
                    </a:solidFill>
                    <a:latin typeface="+mn-ea"/>
                  </a:rPr>
                  <a:t> （</a:t>
                </a:r>
                <a:r>
                  <a:rPr lang="en-US" altLang="zh-CN" b="1" dirty="0">
                    <a:solidFill>
                      <a:schemeClr val="tx1">
                        <a:lumMod val="75000"/>
                        <a:lumOff val="25000"/>
                      </a:schemeClr>
                    </a:solidFill>
                    <a:latin typeface="+mn-ea"/>
                  </a:rPr>
                  <a:t>3</a:t>
                </a:r>
                <a:r>
                  <a:rPr lang="zh-CN" altLang="zh-CN" b="1" dirty="0">
                    <a:solidFill>
                      <a:schemeClr val="tx1">
                        <a:lumMod val="75000"/>
                        <a:lumOff val="25000"/>
                      </a:schemeClr>
                    </a:solidFill>
                    <a:latin typeface="+mn-ea"/>
                  </a:rPr>
                  <a:t>）根据</a:t>
                </a:r>
                <a14:m>
                  <m:oMath xmlns:m="http://schemas.openxmlformats.org/officeDocument/2006/math">
                    <m:r>
                      <a:rPr lang="zh-CN" altLang="zh-CN" b="1" i="1" dirty="0">
                        <a:solidFill>
                          <a:schemeClr val="tx1">
                            <a:lumMod val="75000"/>
                            <a:lumOff val="25000"/>
                          </a:schemeClr>
                        </a:solidFill>
                        <a:latin typeface="Cambria Math" panose="02040503050406030204" pitchFamily="18" charset="0"/>
                      </a:rPr>
                      <m:t>∧</m:t>
                    </m:r>
                  </m:oMath>
                </a14:m>
                <a:r>
                  <a:rPr lang="zh-CN" altLang="en-US" b="1" dirty="0">
                    <a:solidFill>
                      <a:schemeClr val="tx1">
                        <a:lumMod val="75000"/>
                        <a:lumOff val="25000"/>
                      </a:schemeClr>
                    </a:solidFill>
                    <a:latin typeface="+mn-ea"/>
                  </a:rPr>
                  <a:t>和</a:t>
                </a:r>
                <a14:m>
                  <m:oMath xmlns:m="http://schemas.openxmlformats.org/officeDocument/2006/math">
                    <m:r>
                      <a:rPr lang="zh-CN" altLang="zh-CN" b="1" i="1" dirty="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运算的定义</a:t>
                </a:r>
                <a:r>
                  <a:rPr lang="en-US" altLang="zh-CN" b="1" dirty="0">
                    <a:solidFill>
                      <a:schemeClr val="tx1">
                        <a:lumMod val="75000"/>
                        <a:lumOff val="25000"/>
                      </a:schemeClr>
                    </a:solidFill>
                    <a:latin typeface="+mn-ea"/>
                  </a:rPr>
                  <a:t>,</a:t>
                </a:r>
                <a:r>
                  <a:rPr lang="zh-CN" altLang="zh-CN" b="1" dirty="0">
                    <a:solidFill>
                      <a:schemeClr val="tx1">
                        <a:lumMod val="75000"/>
                        <a:lumOff val="25000"/>
                      </a:schemeClr>
                    </a:solidFill>
                    <a:latin typeface="+mn-ea"/>
                  </a:rPr>
                  <a:t>显然有</a:t>
                </a:r>
                <a:endParaRPr lang="en-US" altLang="zh-CN" b="1" dirty="0">
                  <a:solidFill>
                    <a:schemeClr val="tx1">
                      <a:lumMod val="75000"/>
                      <a:lumOff val="25000"/>
                    </a:schemeClr>
                  </a:solidFill>
                  <a:latin typeface="+mn-ea"/>
                </a:endParaRPr>
              </a:p>
              <a:p>
                <a:pPr algn="ctr">
                  <a:lnSpc>
                    <a:spcPct val="130000"/>
                  </a:lnSpc>
                  <a:spcBef>
                    <a:spcPts val="600"/>
                  </a:spcBef>
                  <a:buSzPct val="80000"/>
                </a:pP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en-US" altLang="zh-CN" b="1" i="1" dirty="0" smtClean="0">
                        <a:solidFill>
                          <a:schemeClr val="tx1">
                            <a:lumMod val="75000"/>
                            <a:lumOff val="25000"/>
                          </a:schemeClr>
                        </a:solidFill>
                        <a:latin typeface="Cambria Math" panose="02040503050406030204" pitchFamily="18" charset="0"/>
                        <a:ea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r>
                      <a:rPr lang="en-US" altLang="zh-CN" b="1" i="0" dirty="0">
                        <a:solidFill>
                          <a:schemeClr val="tx1">
                            <a:lumMod val="75000"/>
                            <a:lumOff val="25000"/>
                          </a:schemeClr>
                        </a:solidFill>
                        <a:latin typeface="Cambria Math" panose="02040503050406030204" pitchFamily="18" charset="0"/>
                      </a:rPr>
                      <m:t>𝐢𝐧𝐟</m:t>
                    </m:r>
                    <m:r>
                      <a:rPr lang="en-US" altLang="zh-CN" b="1" i="1" dirty="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smtClean="0">
                        <a:solidFill>
                          <a:schemeClr val="tx1">
                            <a:lumMod val="75000"/>
                            <a:lumOff val="25000"/>
                          </a:schemeClr>
                        </a:solidFill>
                        <a:latin typeface="Cambria Math" panose="02040503050406030204" pitchFamily="18" charset="0"/>
                        <a:ea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r>
                      <a:rPr lang="en-US" altLang="zh-CN" b="1" i="0" dirty="0">
                        <a:solidFill>
                          <a:schemeClr val="tx1">
                            <a:lumMod val="75000"/>
                            <a:lumOff val="25000"/>
                          </a:schemeClr>
                        </a:solidFill>
                        <a:latin typeface="Cambria Math" panose="02040503050406030204" pitchFamily="18" charset="0"/>
                      </a:rPr>
                      <m:t>𝐬𝐮𝐩</m:t>
                    </m:r>
                    <m:r>
                      <a:rPr lang="en-US" altLang="zh-CN" b="1" i="1" dirty="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oMath>
                </a14:m>
                <a:r>
                  <a:rPr lang="en-US" altLang="zh-CN" b="1" dirty="0">
                    <a:solidFill>
                      <a:schemeClr val="tx1">
                        <a:lumMod val="75000"/>
                        <a:lumOff val="25000"/>
                      </a:schemeClr>
                    </a:solidFill>
                    <a:latin typeface="+mn-ea"/>
                  </a:rPr>
                  <a:t>.</a:t>
                </a:r>
                <a:endParaRPr lang="zh-CN" altLang="zh-CN" b="1" dirty="0">
                  <a:solidFill>
                    <a:schemeClr val="tx1">
                      <a:lumMod val="75000"/>
                      <a:lumOff val="25000"/>
                    </a:schemeClr>
                  </a:solidFill>
                  <a:latin typeface="+mn-ea"/>
                </a:endParaRPr>
              </a:p>
              <a:p>
                <a:pPr algn="just">
                  <a:lnSpc>
                    <a:spcPct val="130000"/>
                  </a:lnSpc>
                  <a:spcBef>
                    <a:spcPts val="600"/>
                  </a:spcBef>
                  <a:buSzPct val="80000"/>
                </a:pPr>
                <a:r>
                  <a:rPr lang="zh-CN" altLang="zh-CN" b="1" dirty="0">
                    <a:solidFill>
                      <a:schemeClr val="tx1">
                        <a:lumMod val="75000"/>
                        <a:lumOff val="25000"/>
                      </a:schemeClr>
                    </a:solidFill>
                    <a:latin typeface="+mn-ea"/>
                  </a:rPr>
                  <a:t>（</a:t>
                </a:r>
                <a:r>
                  <a:rPr lang="en-US" altLang="zh-CN" b="1" dirty="0">
                    <a:solidFill>
                      <a:schemeClr val="tx1">
                        <a:lumMod val="75000"/>
                        <a:lumOff val="25000"/>
                      </a:schemeClr>
                    </a:solidFill>
                    <a:latin typeface="+mn-ea"/>
                  </a:rPr>
                  <a:t>4</a:t>
                </a:r>
                <a:r>
                  <a:rPr lang="zh-CN" altLang="zh-CN" b="1" dirty="0">
                    <a:solidFill>
                      <a:schemeClr val="tx1">
                        <a:lumMod val="75000"/>
                        <a:lumOff val="25000"/>
                      </a:schemeClr>
                    </a:solidFill>
                    <a:latin typeface="+mn-ea"/>
                  </a:rPr>
                  <a:t>）根据</a:t>
                </a:r>
                <a14:m>
                  <m:oMath xmlns:m="http://schemas.openxmlformats.org/officeDocument/2006/math">
                    <m:r>
                      <a:rPr lang="zh-CN" altLang="zh-CN" b="1" i="1" dirty="0" smtClean="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运算的定义，必然有</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en-US" altLang="zh-CN" b="1" i="1" dirty="0" smtClean="0">
                        <a:solidFill>
                          <a:schemeClr val="tx1">
                            <a:lumMod val="75000"/>
                            <a:lumOff val="25000"/>
                          </a:schemeClr>
                        </a:solidFill>
                        <a:latin typeface="Cambria Math" panose="02040503050406030204" pitchFamily="18" charset="0"/>
                      </a:rPr>
                      <m:t>≤</m:t>
                    </m:r>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oMath>
                </a14:m>
                <a:r>
                  <a:rPr lang="zh-CN" altLang="zh-CN" b="1" dirty="0">
                    <a:solidFill>
                      <a:schemeClr val="tx1">
                        <a:lumMod val="75000"/>
                        <a:lumOff val="25000"/>
                      </a:schemeClr>
                    </a:solidFill>
                    <a:latin typeface="+mn-ea"/>
                  </a:rPr>
                  <a:t>，从而</a:t>
                </a:r>
                <a:r>
                  <a:rPr lang="en-US" altLang="zh-CN" b="1" dirty="0">
                    <a:solidFill>
                      <a:schemeClr val="tx1">
                        <a:lumMod val="75000"/>
                        <a:lumOff val="25000"/>
                      </a:schemeClr>
                    </a:solidFill>
                    <a:latin typeface="+mn-ea"/>
                  </a:rPr>
                  <a:t> </a:t>
                </a:r>
              </a:p>
              <a:p>
                <a:pPr algn="ctr">
                  <a:lnSpc>
                    <a:spcPct val="130000"/>
                  </a:lnSpc>
                  <a:spcBef>
                    <a:spcPts val="600"/>
                  </a:spcBef>
                  <a:buSzPct val="80000"/>
                </a:pPr>
                <a14:m>
                  <m:oMathPara xmlns:m="http://schemas.openxmlformats.org/officeDocument/2006/math">
                    <m:oMathParaPr>
                      <m:jc m:val="centerGroup"/>
                    </m:oMathParaPr>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0" dirty="0">
                          <a:solidFill>
                            <a:schemeClr val="tx1">
                              <a:lumMod val="75000"/>
                              <a:lumOff val="25000"/>
                            </a:schemeClr>
                          </a:solidFill>
                          <a:latin typeface="Cambria Math" panose="02040503050406030204" pitchFamily="18" charset="0"/>
                        </a:rPr>
                        <m:t>𝐢𝐧𝐟</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oMath>
                  </m:oMathPara>
                </a14:m>
                <a:endParaRPr lang="zh-CN" altLang="zh-CN" b="1" dirty="0">
                  <a:solidFill>
                    <a:schemeClr val="tx1">
                      <a:lumMod val="75000"/>
                      <a:lumOff val="25000"/>
                    </a:schemeClr>
                  </a:solidFill>
                  <a:latin typeface="+mn-ea"/>
                </a:endParaRPr>
              </a:p>
              <a:p>
                <a:pPr algn="just">
                  <a:lnSpc>
                    <a:spcPct val="130000"/>
                  </a:lnSpc>
                  <a:spcBef>
                    <a:spcPts val="600"/>
                  </a:spcBef>
                  <a:buSzPct val="80000"/>
                </a:pPr>
                <a:r>
                  <a:rPr lang="zh-CN" altLang="zh-CN" b="1" dirty="0">
                    <a:solidFill>
                      <a:schemeClr val="tx1">
                        <a:lumMod val="75000"/>
                        <a:lumOff val="25000"/>
                      </a:schemeClr>
                    </a:solidFill>
                    <a:latin typeface="+mn-ea"/>
                  </a:rPr>
                  <a:t>同理，根据</a:t>
                </a:r>
                <a14:m>
                  <m:oMath xmlns:m="http://schemas.openxmlformats.org/officeDocument/2006/math">
                    <m:r>
                      <a:rPr lang="zh-CN" altLang="zh-CN" b="1" i="1" dirty="0" smtClean="0">
                        <a:solidFill>
                          <a:schemeClr val="tx1">
                            <a:lumMod val="75000"/>
                            <a:lumOff val="25000"/>
                          </a:schemeClr>
                        </a:solidFill>
                        <a:latin typeface="Cambria Math" panose="02040503050406030204" pitchFamily="18" charset="0"/>
                      </a:rPr>
                      <m:t>∧</m:t>
                    </m:r>
                  </m:oMath>
                </a14:m>
                <a:r>
                  <a:rPr lang="zh-CN" altLang="zh-CN" b="1" dirty="0">
                    <a:solidFill>
                      <a:schemeClr val="tx1">
                        <a:lumMod val="75000"/>
                        <a:lumOff val="25000"/>
                      </a:schemeClr>
                    </a:solidFill>
                    <a:latin typeface="+mn-ea"/>
                  </a:rPr>
                  <a:t>运算的定义，必然有</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oMath>
                </a14:m>
                <a:r>
                  <a:rPr lang="zh-CN" altLang="zh-CN" b="1" dirty="0">
                    <a:solidFill>
                      <a:schemeClr val="tx1">
                        <a:lumMod val="75000"/>
                        <a:lumOff val="25000"/>
                      </a:schemeClr>
                    </a:solidFill>
                    <a:latin typeface="+mn-ea"/>
                  </a:rPr>
                  <a:t>，从而</a:t>
                </a:r>
                <a:endParaRPr lang="en-US" altLang="zh-CN" b="1" dirty="0">
                  <a:solidFill>
                    <a:schemeClr val="tx1">
                      <a:lumMod val="75000"/>
                      <a:lumOff val="25000"/>
                    </a:schemeClr>
                  </a:solidFill>
                  <a:latin typeface="+mn-ea"/>
                </a:endParaRPr>
              </a:p>
              <a:p>
                <a:pPr algn="ctr">
                  <a:lnSpc>
                    <a:spcPct val="130000"/>
                  </a:lnSpc>
                  <a:spcBef>
                    <a:spcPts val="600"/>
                  </a:spcBef>
                  <a:buSzPct val="80000"/>
                </a:pPr>
                <a14:m>
                  <m:oMathPara xmlns:m="http://schemas.openxmlformats.org/officeDocument/2006/math">
                    <m:oMathParaPr>
                      <m:jc m:val="centerGroup"/>
                    </m:oMathParaPr>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0" dirty="0">
                          <a:solidFill>
                            <a:schemeClr val="tx1">
                              <a:lumMod val="75000"/>
                              <a:lumOff val="25000"/>
                            </a:schemeClr>
                          </a:solidFill>
                          <a:latin typeface="Cambria Math" panose="02040503050406030204" pitchFamily="18" charset="0"/>
                        </a:rPr>
                        <m:t>𝐬𝐮𝐩</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oMath>
                  </m:oMathPara>
                </a14:m>
                <a:endParaRPr lang="zh-CN" altLang="zh-CN" b="1" dirty="0">
                  <a:solidFill>
                    <a:schemeClr val="tx1">
                      <a:lumMod val="75000"/>
                      <a:lumOff val="25000"/>
                    </a:schemeClr>
                  </a:solidFill>
                  <a:latin typeface="+mn-ea"/>
                </a:endParaRPr>
              </a:p>
              <a:p>
                <a:pPr algn="just">
                  <a:lnSpc>
                    <a:spcPct val="130000"/>
                  </a:lnSpc>
                  <a:spcBef>
                    <a:spcPts val="600"/>
                  </a:spcBef>
                  <a:buSzPct val="80000"/>
                </a:pPr>
                <a:r>
                  <a:rPr lang="zh-CN" altLang="zh-CN" b="1" dirty="0">
                    <a:solidFill>
                      <a:schemeClr val="tx1">
                        <a:lumMod val="75000"/>
                        <a:lumOff val="25000"/>
                      </a:schemeClr>
                    </a:solidFill>
                    <a:latin typeface="+mn-ea"/>
                  </a:rPr>
                  <a:t>实际上，幂等律可由吸收律推出：</a:t>
                </a:r>
                <a:endParaRPr lang="en-US" altLang="zh-CN" b="1" dirty="0">
                  <a:solidFill>
                    <a:schemeClr val="tx1">
                      <a:lumMod val="75000"/>
                      <a:lumOff val="25000"/>
                    </a:schemeClr>
                  </a:solidFill>
                  <a:latin typeface="+mn-ea"/>
                </a:endParaRPr>
              </a:p>
              <a:p>
                <a:pPr algn="just">
                  <a:lnSpc>
                    <a:spcPct val="130000"/>
                  </a:lnSpc>
                  <a:spcBef>
                    <a:spcPts val="600"/>
                  </a:spcBef>
                  <a:buSzPct val="80000"/>
                </a:pPr>
                <a14:m>
                  <m:oMathPara xmlns:m="http://schemas.openxmlformats.org/officeDocument/2006/math">
                    <m:oMathParaPr>
                      <m:jc m:val="centerGroup"/>
                    </m:oMathParaPr>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en-US" altLang="zh-CN" b="1" i="1" dirty="0">
                          <a:solidFill>
                            <a:schemeClr val="tx1">
                              <a:lumMod val="75000"/>
                              <a:lumOff val="25000"/>
                            </a:schemeClr>
                          </a:solidFill>
                          <a:latin typeface="Cambria Math" panose="02040503050406030204" pitchFamily="18" charset="0"/>
                        </a:rPr>
                        <m:t> =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 </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𝒃</m:t>
                      </m:r>
                      <m:r>
                        <a:rPr lang="en-US" altLang="zh-CN" b="1" i="1" dirty="0">
                          <a:solidFill>
                            <a:schemeClr val="tx1">
                              <a:lumMod val="75000"/>
                              <a:lumOff val="25000"/>
                            </a:schemeClr>
                          </a:solidFill>
                          <a:latin typeface="Cambria Math" panose="02040503050406030204" pitchFamily="18" charset="0"/>
                        </a:rPr>
                        <m:t>))=</m:t>
                      </m:r>
                      <m:r>
                        <a:rPr lang="en-US" altLang="zh-CN" b="1" i="1" dirty="0">
                          <a:solidFill>
                            <a:schemeClr val="tx1">
                              <a:lumMod val="75000"/>
                              <a:lumOff val="25000"/>
                            </a:schemeClr>
                          </a:solidFill>
                          <a:latin typeface="Cambria Math" panose="02040503050406030204" pitchFamily="18" charset="0"/>
                        </a:rPr>
                        <m:t>𝒂</m:t>
                      </m:r>
                      <m:r>
                        <a:rPr lang="zh-CN" altLang="zh-CN" b="1" i="1" dirty="0">
                          <a:solidFill>
                            <a:schemeClr val="tx1">
                              <a:lumMod val="75000"/>
                              <a:lumOff val="25000"/>
                            </a:schemeClr>
                          </a:solidFill>
                          <a:latin typeface="Cambria Math" panose="02040503050406030204" pitchFamily="18" charset="0"/>
                        </a:rPr>
                        <m:t>。</m:t>
                      </m:r>
                    </m:oMath>
                  </m:oMathPara>
                </a14:m>
                <a:endParaRPr lang="zh-CN" altLang="zh-CN" b="1" dirty="0">
                  <a:solidFill>
                    <a:schemeClr val="tx1">
                      <a:lumMod val="75000"/>
                      <a:lumOff val="25000"/>
                    </a:schemeClr>
                  </a:solidFill>
                  <a:latin typeface="+mn-ea"/>
                </a:endParaRPr>
              </a:p>
            </p:txBody>
          </p:sp>
        </mc:Choice>
        <mc:Fallback xmlns="">
          <p:sp>
            <p:nvSpPr>
              <p:cNvPr id="7" name="文本框 6">
                <a:extLst>
                  <a:ext uri="{FF2B5EF4-FFF2-40B4-BE49-F238E27FC236}">
                    <a16:creationId xmlns:a16="http://schemas.microsoft.com/office/drawing/2014/main" id="{51ABDE69-606A-40B9-9D7B-2D77FC12C6A6}"/>
                  </a:ext>
                </a:extLst>
              </p:cNvPr>
              <p:cNvSpPr txBox="1">
                <a:spLocks noRot="1" noChangeAspect="1" noMove="1" noResize="1" noEditPoints="1" noAdjustHandles="1" noChangeArrowheads="1" noChangeShapeType="1" noTextEdit="1"/>
              </p:cNvSpPr>
              <p:nvPr/>
            </p:nvSpPr>
            <p:spPr>
              <a:xfrm>
                <a:off x="393700" y="2188623"/>
                <a:ext cx="11430000" cy="4241161"/>
              </a:xfrm>
              <a:prstGeom prst="rect">
                <a:avLst/>
              </a:prstGeom>
              <a:blipFill>
                <a:blip r:embed="rId6"/>
                <a:stretch>
                  <a:fillRect l="-853"/>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893395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代数格的定义</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199851-869F-484E-89D0-692A486C17C5}"/>
                  </a:ext>
                </a:extLst>
              </p:cNvPr>
              <p:cNvSpPr>
                <a:spLocks noGrp="1"/>
              </p:cNvSpPr>
              <p:nvPr>
                <p:ph idx="1"/>
              </p:nvPr>
            </p:nvSpPr>
            <p:spPr>
              <a:xfrm>
                <a:off x="529550" y="944788"/>
                <a:ext cx="10544175" cy="1644887"/>
              </a:xfrm>
            </p:spPr>
            <p:txBody>
              <a:bodyPr>
                <a:noAutofit/>
              </a:bodyPr>
              <a:lstStyle/>
              <a:p>
                <a:pPr marL="0" indent="0" fontAlgn="b">
                  <a:buNone/>
                </a:pPr>
                <a:r>
                  <a:rPr lang="zh-CN" altLang="zh-CN" dirty="0">
                    <a:solidFill>
                      <a:srgbClr val="0000FF"/>
                    </a:solidFill>
                    <a:latin typeface="Times New Roman" panose="02020603050405020304" pitchFamily="18" charset="0"/>
                  </a:rPr>
                  <a:t>定义</a:t>
                </a:r>
                <a:r>
                  <a:rPr lang="en-US" altLang="zh-CN" dirty="0">
                    <a:solidFill>
                      <a:srgbClr val="0000FF"/>
                    </a:solidFill>
                    <a:latin typeface="Times New Roman" panose="02020603050405020304" pitchFamily="18" charset="0"/>
                  </a:rPr>
                  <a:t>10.2  </a:t>
                </a:r>
                <a:r>
                  <a:rPr lang="zh-CN" altLang="zh-CN" dirty="0">
                    <a:latin typeface="Times New Roman" panose="02020603050405020304" pitchFamily="18" charset="0"/>
                  </a:rPr>
                  <a:t>设</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𝑳</m:t>
                    </m:r>
                    <m:r>
                      <a:rPr lang="en-US" altLang="zh-CN" b="1" i="1" dirty="0" smtClean="0">
                        <a:latin typeface="Cambria Math" panose="02040503050406030204" pitchFamily="18" charset="0"/>
                      </a:rPr>
                      <m:t>, ⋀, ⋁&gt;</m:t>
                    </m:r>
                  </m:oMath>
                </a14:m>
                <a:r>
                  <a:rPr lang="zh-CN" altLang="zh-CN" dirty="0">
                    <a:latin typeface="Times New Roman" panose="02020603050405020304" pitchFamily="18" charset="0"/>
                  </a:rPr>
                  <a:t>是具有两个二元运算的代数系统，如果</a:t>
                </a:r>
                <a:r>
                  <a:rPr lang="zh-CN" altLang="zh-CN" dirty="0">
                    <a:solidFill>
                      <a:srgbClr val="0000FF"/>
                    </a:solidFill>
                    <a:latin typeface="Times New Roman" panose="02020603050405020304" pitchFamily="18" charset="0"/>
                  </a:rPr>
                  <a:t>运算</a:t>
                </a:r>
                <a14:m>
                  <m:oMath xmlns:m="http://schemas.openxmlformats.org/officeDocument/2006/math">
                    <m:r>
                      <a:rPr lang="zh-CN" altLang="en-US" b="1" i="1" dirty="0" smtClean="0">
                        <a:solidFill>
                          <a:srgbClr val="0000FF"/>
                        </a:solidFill>
                        <a:latin typeface="Cambria Math" panose="02040503050406030204" pitchFamily="18" charset="0"/>
                      </a:rPr>
                      <m:t>⋀</m:t>
                    </m:r>
                  </m:oMath>
                </a14:m>
                <a:r>
                  <a:rPr lang="zh-CN" altLang="zh-CN" dirty="0">
                    <a:solidFill>
                      <a:srgbClr val="0000FF"/>
                    </a:solidFill>
                    <a:latin typeface="Times New Roman" panose="02020603050405020304" pitchFamily="18" charset="0"/>
                  </a:rPr>
                  <a:t>和</a:t>
                </a:r>
                <a14:m>
                  <m:oMath xmlns:m="http://schemas.openxmlformats.org/officeDocument/2006/math">
                    <m:r>
                      <a:rPr lang="zh-CN" altLang="en-US" b="1" i="1" dirty="0" smtClean="0">
                        <a:solidFill>
                          <a:srgbClr val="0000FF"/>
                        </a:solidFill>
                        <a:latin typeface="Cambria Math" panose="02040503050406030204" pitchFamily="18" charset="0"/>
                      </a:rPr>
                      <m:t>⋁</m:t>
                    </m:r>
                  </m:oMath>
                </a14:m>
                <a:r>
                  <a:rPr lang="zh-CN" altLang="zh-CN" dirty="0">
                    <a:solidFill>
                      <a:srgbClr val="0000FF"/>
                    </a:solidFill>
                    <a:latin typeface="Times New Roman" panose="02020603050405020304" pitchFamily="18" charset="0"/>
                  </a:rPr>
                  <a:t>满足交换律、结合律和吸收律</a:t>
                </a:r>
                <a:r>
                  <a:rPr lang="zh-CN" altLang="zh-CN" dirty="0">
                    <a:latin typeface="Times New Roman" panose="02020603050405020304" pitchFamily="18" charset="0"/>
                  </a:rPr>
                  <a:t>，则称</a:t>
                </a:r>
                <a14:m>
                  <m:oMath xmlns:m="http://schemas.openxmlformats.org/officeDocument/2006/math">
                    <m:r>
                      <a:rPr lang="en-US" altLang="zh-CN" i="1" dirty="0">
                        <a:latin typeface="Cambria Math" panose="02040503050406030204" pitchFamily="18" charset="0"/>
                      </a:rPr>
                      <m:t>&lt;</m:t>
                    </m:r>
                    <m:r>
                      <a:rPr lang="en-US" altLang="zh-CN" i="1" dirty="0">
                        <a:latin typeface="Cambria Math" panose="02040503050406030204" pitchFamily="18" charset="0"/>
                      </a:rPr>
                      <m:t>𝑳</m:t>
                    </m:r>
                    <m:r>
                      <a:rPr lang="en-US" altLang="zh-CN" i="1" dirty="0">
                        <a:latin typeface="Cambria Math" panose="02040503050406030204" pitchFamily="18" charset="0"/>
                      </a:rPr>
                      <m:t>, ⋀, ⋁&gt;</m:t>
                    </m:r>
                  </m:oMath>
                </a14:m>
                <a:r>
                  <a:rPr lang="zh-CN" altLang="zh-CN" dirty="0">
                    <a:latin typeface="Times New Roman" panose="02020603050405020304" pitchFamily="18" charset="0"/>
                  </a:rPr>
                  <a:t>为</a:t>
                </a:r>
                <a:r>
                  <a:rPr lang="zh-CN" altLang="zh-CN" dirty="0">
                    <a:solidFill>
                      <a:srgbClr val="FF0000"/>
                    </a:solidFill>
                    <a:latin typeface="Times New Roman" panose="02020603050405020304" pitchFamily="18" charset="0"/>
                  </a:rPr>
                  <a:t>格</a:t>
                </a:r>
                <a:r>
                  <a:rPr lang="zh-CN" altLang="zh-CN" dirty="0">
                    <a:latin typeface="Times New Roman" panose="02020603050405020304" pitchFamily="18" charset="0"/>
                  </a:rPr>
                  <a:t>。</a:t>
                </a:r>
              </a:p>
              <a:p>
                <a:pPr marL="0" indent="0" fontAlgn="b">
                  <a:buNone/>
                </a:pPr>
                <a:r>
                  <a:rPr lang="zh-CN" altLang="zh-CN" dirty="0">
                    <a:latin typeface="Times New Roman" panose="02020603050405020304" pitchFamily="18" charset="0"/>
                  </a:rPr>
                  <a:t>为了和偏序格有所区别，可把由代数系统定义的格称为</a:t>
                </a:r>
                <a:r>
                  <a:rPr lang="zh-CN" altLang="zh-CN" dirty="0">
                    <a:solidFill>
                      <a:srgbClr val="FF0000"/>
                    </a:solidFill>
                    <a:latin typeface="Times New Roman" panose="02020603050405020304" pitchFamily="18" charset="0"/>
                  </a:rPr>
                  <a:t>代数格</a:t>
                </a:r>
                <a:r>
                  <a:rPr lang="zh-CN" altLang="zh-CN" dirty="0">
                    <a:latin typeface="Times New Roman" panose="02020603050405020304" pitchFamily="18" charset="0"/>
                  </a:rPr>
                  <a:t>。</a:t>
                </a:r>
              </a:p>
            </p:txBody>
          </p:sp>
        </mc:Choice>
        <mc:Fallback xmlns="">
          <p:sp>
            <p:nvSpPr>
              <p:cNvPr id="3" name="Content Placeholder 2">
                <a:extLst>
                  <a:ext uri="{FF2B5EF4-FFF2-40B4-BE49-F238E27FC236}">
                    <a16:creationId xmlns:a16="http://schemas.microsoft.com/office/drawing/2014/main" id="{87199851-869F-484E-89D0-692A486C17C5}"/>
                  </a:ext>
                </a:extLst>
              </p:cNvPr>
              <p:cNvSpPr>
                <a:spLocks noGrp="1" noRot="1" noChangeAspect="1" noMove="1" noResize="1" noEditPoints="1" noAdjustHandles="1" noChangeArrowheads="1" noChangeShapeType="1" noTextEdit="1"/>
              </p:cNvSpPr>
              <p:nvPr>
                <p:ph idx="1"/>
              </p:nvPr>
            </p:nvSpPr>
            <p:spPr>
              <a:xfrm>
                <a:off x="529550" y="944788"/>
                <a:ext cx="10544175" cy="1644887"/>
              </a:xfrm>
              <a:blipFill>
                <a:blip r:embed="rId5"/>
                <a:stretch>
                  <a:fillRect l="-636" t="-2222"/>
                </a:stretch>
              </a:blipFill>
            </p:spPr>
            <p:txBody>
              <a:bodyPr/>
              <a:lstStyle/>
              <a:p>
                <a:r>
                  <a:rPr lang="zh-CN" altLang="en-US">
                    <a:noFill/>
                  </a:rPr>
                  <a:t> </a:t>
                </a:r>
              </a:p>
            </p:txBody>
          </p:sp>
        </mc:Fallback>
      </mc:AlternateContent>
      <p:sp>
        <p:nvSpPr>
          <p:cNvPr id="5" name="矩形 242">
            <a:extLst>
              <a:ext uri="{FF2B5EF4-FFF2-40B4-BE49-F238E27FC236}">
                <a16:creationId xmlns:a16="http://schemas.microsoft.com/office/drawing/2014/main" id="{6E79D368-753C-4FE5-BE15-F5F824CC41A6}"/>
              </a:ext>
            </a:extLst>
          </p:cNvPr>
          <p:cNvSpPr/>
          <p:nvPr/>
        </p:nvSpPr>
        <p:spPr>
          <a:xfrm>
            <a:off x="9525" y="2743994"/>
            <a:ext cx="12198349" cy="723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77" tIns="45738" rIns="91477" bIns="45738" rtlCol="0" anchor="ctr"/>
          <a:lstStyle/>
          <a:p>
            <a:pPr algn="ctr"/>
            <a:endParaRPr lang="zh-CN" alt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B6EC7FA-0863-4144-9413-36F2C12CA8AE}"/>
                  </a:ext>
                </a:extLst>
              </p:cNvPr>
              <p:cNvSpPr/>
              <p:nvPr/>
            </p:nvSpPr>
            <p:spPr>
              <a:xfrm>
                <a:off x="384175" y="3000228"/>
                <a:ext cx="11506200" cy="1929695"/>
              </a:xfrm>
              <a:prstGeom prst="rect">
                <a:avLst/>
              </a:prstGeom>
              <a:solidFill>
                <a:schemeClr val="accent1">
                  <a:lumMod val="20000"/>
                  <a:lumOff val="80000"/>
                </a:schemeClr>
              </a:solidFill>
            </p:spPr>
            <p:txBody>
              <a:bodyPr wrap="square">
                <a:spAutoFit/>
              </a:bodyPr>
              <a:lstStyle/>
              <a:p>
                <a:pPr marL="285750" indent="-285750" algn="just" fontAlgn="b">
                  <a:lnSpc>
                    <a:spcPct val="130000"/>
                  </a:lnSpc>
                  <a:spcAft>
                    <a:spcPts val="0"/>
                  </a:spcAft>
                  <a:buFont typeface="Arial" panose="020B0604020202020204" pitchFamily="34" charset="0"/>
                  <a:buChar char="•"/>
                </a:pPr>
                <a:r>
                  <a:rPr lang="zh-CN" altLang="en-US" b="1" dirty="0">
                    <a:effectLst/>
                    <a:latin typeface="+mn-ea"/>
                    <a:cs typeface="Times New Roman" panose="02020603050405020304" pitchFamily="18" charset="0"/>
                  </a:rPr>
                  <a:t>任意</a:t>
                </a:r>
                <a:r>
                  <a:rPr lang="zh-CN" altLang="zh-CN" b="1" dirty="0">
                    <a:effectLst/>
                    <a:latin typeface="+mn-ea"/>
                    <a:cs typeface="Times New Roman" panose="02020603050405020304" pitchFamily="18" charset="0"/>
                  </a:rPr>
                  <a:t>集合</a:t>
                </a:r>
                <a14:m>
                  <m:oMath xmlns:m="http://schemas.openxmlformats.org/officeDocument/2006/math">
                    <m:r>
                      <a:rPr lang="en-US" altLang="zh-CN" b="1" i="1" dirty="0" smtClean="0">
                        <a:effectLst/>
                        <a:latin typeface="Cambria Math" panose="02040503050406030204" pitchFamily="18" charset="0"/>
                      </a:rPr>
                      <m:t>𝑨</m:t>
                    </m:r>
                  </m:oMath>
                </a14:m>
                <a:r>
                  <a:rPr lang="zh-CN" altLang="zh-CN" b="1" dirty="0">
                    <a:effectLst/>
                    <a:latin typeface="+mn-ea"/>
                    <a:cs typeface="Times New Roman" panose="02020603050405020304" pitchFamily="18" charset="0"/>
                  </a:rPr>
                  <a:t>的幂集</a:t>
                </a:r>
                <a14:m>
                  <m:oMath xmlns:m="http://schemas.openxmlformats.org/officeDocument/2006/math">
                    <m:r>
                      <a:rPr lang="en-US" altLang="zh-CN" b="1" i="1" dirty="0" smtClean="0">
                        <a:effectLst/>
                        <a:latin typeface="Cambria Math" panose="02040503050406030204" pitchFamily="18" charset="0"/>
                      </a:rPr>
                      <m:t>𝑷</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𝑨</m:t>
                    </m:r>
                    <m:r>
                      <a:rPr lang="en-US" altLang="zh-CN" b="1" i="1" dirty="0" smtClean="0">
                        <a:effectLst/>
                        <a:latin typeface="Cambria Math" panose="02040503050406030204" pitchFamily="18" charset="0"/>
                      </a:rPr>
                      <m:t>)</m:t>
                    </m:r>
                  </m:oMath>
                </a14:m>
                <a:r>
                  <a:rPr lang="zh-CN" altLang="zh-CN" b="1" dirty="0">
                    <a:effectLst/>
                    <a:latin typeface="+mn-ea"/>
                    <a:cs typeface="Times New Roman" panose="02020603050405020304" pitchFamily="18" charset="0"/>
                  </a:rPr>
                  <a:t>及</a:t>
                </a:r>
                <a14:m>
                  <m:oMath xmlns:m="http://schemas.openxmlformats.org/officeDocument/2006/math">
                    <m:r>
                      <a:rPr lang="en-US" altLang="zh-CN" b="1" i="1" dirty="0" smtClean="0">
                        <a:effectLst/>
                        <a:latin typeface="Cambria Math" panose="02040503050406030204" pitchFamily="18" charset="0"/>
                      </a:rPr>
                      <m:t>𝑷</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𝑨</m:t>
                    </m:r>
                    <m:r>
                      <a:rPr lang="en-US" altLang="zh-CN" b="1" i="1" dirty="0" smtClean="0">
                        <a:effectLst/>
                        <a:latin typeface="Cambria Math" panose="02040503050406030204" pitchFamily="18" charset="0"/>
                      </a:rPr>
                      <m:t>)</m:t>
                    </m:r>
                  </m:oMath>
                </a14:m>
                <a:r>
                  <a:rPr lang="zh-CN" altLang="zh-CN" b="1" dirty="0">
                    <a:effectLst/>
                    <a:latin typeface="+mn-ea"/>
                    <a:cs typeface="Times New Roman" panose="02020603050405020304" pitchFamily="18" charset="0"/>
                  </a:rPr>
                  <a:t>上定义的</a:t>
                </a:r>
                <a:r>
                  <a:rPr lang="zh-CN" altLang="en-US" b="1" dirty="0">
                    <a:effectLst/>
                    <a:latin typeface="+mn-ea"/>
                    <a:cs typeface="Times New Roman" panose="02020603050405020304" pitchFamily="18" charset="0"/>
                  </a:rPr>
                  <a:t>交和并</a:t>
                </a:r>
                <a:r>
                  <a:rPr lang="zh-CN" altLang="zh-CN" b="1" dirty="0">
                    <a:effectLst/>
                    <a:latin typeface="+mn-ea"/>
                    <a:cs typeface="Times New Roman" panose="02020603050405020304" pitchFamily="18" charset="0"/>
                  </a:rPr>
                  <a:t>两个运算可构成一个格</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𝑷</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𝑨</m:t>
                    </m:r>
                    <m:r>
                      <a:rPr lang="en-US" altLang="zh-CN" b="1" i="1" dirty="0" smtClean="0">
                        <a:effectLst/>
                        <a:latin typeface="Cambria Math" panose="02040503050406030204" pitchFamily="18" charset="0"/>
                      </a:rPr>
                      <m:t>), ∩, ∪&gt;</m:t>
                    </m:r>
                  </m:oMath>
                </a14:m>
                <a:r>
                  <a:rPr lang="zh-CN" altLang="zh-CN" b="1" dirty="0">
                    <a:effectLst/>
                    <a:latin typeface="+mn-ea"/>
                    <a:cs typeface="Times New Roman" panose="02020603050405020304" pitchFamily="18" charset="0"/>
                  </a:rPr>
                  <a:t>，称为</a:t>
                </a:r>
                <a:r>
                  <a:rPr lang="zh-CN" altLang="zh-CN" b="1" dirty="0">
                    <a:solidFill>
                      <a:srgbClr val="FF0000"/>
                    </a:solidFill>
                    <a:effectLst/>
                    <a:latin typeface="+mn-ea"/>
                    <a:cs typeface="Times New Roman" panose="02020603050405020304" pitchFamily="18" charset="0"/>
                  </a:rPr>
                  <a:t>幂集格</a:t>
                </a:r>
                <a:r>
                  <a:rPr lang="zh-CN" altLang="zh-CN" b="1" dirty="0">
                    <a:effectLst/>
                    <a:latin typeface="+mn-ea"/>
                    <a:cs typeface="Times New Roman" panose="02020603050405020304" pitchFamily="18" charset="0"/>
                  </a:rPr>
                  <a:t>。</a:t>
                </a:r>
                <a:endParaRPr lang="en-US" altLang="zh-CN" b="1" dirty="0">
                  <a:effectLst/>
                  <a:latin typeface="+mn-ea"/>
                  <a:cs typeface="Times New Roman" panose="02020603050405020304" pitchFamily="18" charset="0"/>
                </a:endParaRPr>
              </a:p>
              <a:p>
                <a:pPr marL="285750" indent="-285750" algn="just" fontAlgn="b">
                  <a:lnSpc>
                    <a:spcPct val="130000"/>
                  </a:lnSpc>
                  <a:spcAft>
                    <a:spcPts val="0"/>
                  </a:spcAft>
                  <a:buFont typeface="Arial" panose="020B0604020202020204" pitchFamily="34" charset="0"/>
                  <a:buChar char="•"/>
                </a:pPr>
                <a:r>
                  <a:rPr lang="zh-CN" altLang="zh-CN" b="1" dirty="0">
                    <a:effectLst/>
                    <a:latin typeface="+mn-ea"/>
                    <a:cs typeface="Times New Roman" panose="02020603050405020304" pitchFamily="18" charset="0"/>
                  </a:rPr>
                  <a:t>设</a:t>
                </a:r>
                <a14:m>
                  <m:oMath xmlns:m="http://schemas.openxmlformats.org/officeDocument/2006/math">
                    <m:r>
                      <a:rPr lang="en-US" altLang="zh-CN" b="1" i="1" dirty="0" smtClean="0">
                        <a:effectLst/>
                        <a:latin typeface="Cambria Math" panose="02040503050406030204" pitchFamily="18" charset="0"/>
                      </a:rPr>
                      <m:t>𝑺</m:t>
                    </m:r>
                  </m:oMath>
                </a14:m>
                <a:r>
                  <a:rPr lang="zh-CN" altLang="zh-CN" b="1" dirty="0">
                    <a:effectLst/>
                    <a:latin typeface="+mn-ea"/>
                    <a:cs typeface="Times New Roman" panose="02020603050405020304" pitchFamily="18" charset="0"/>
                  </a:rPr>
                  <a:t>是所有命题公式的集合，则对</a:t>
                </a:r>
                <a14:m>
                  <m:oMath xmlns:m="http://schemas.openxmlformats.org/officeDocument/2006/math">
                    <m:r>
                      <a:rPr lang="en-US" altLang="zh-CN" b="1" i="1" dirty="0" smtClean="0">
                        <a:effectLst/>
                        <a:latin typeface="Cambria Math" panose="02040503050406030204" pitchFamily="18" charset="0"/>
                      </a:rPr>
                      <m:t>𝑺</m:t>
                    </m:r>
                  </m:oMath>
                </a14:m>
                <a:r>
                  <a:rPr lang="zh-CN" altLang="zh-CN" b="1" dirty="0">
                    <a:effectLst/>
                    <a:latin typeface="+mn-ea"/>
                    <a:cs typeface="Times New Roman" panose="02020603050405020304" pitchFamily="18" charset="0"/>
                  </a:rPr>
                  <a:t>上定义的合取和析取两个运算可构成一个格</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𝑺</m:t>
                    </m:r>
                    <m:r>
                      <a:rPr lang="en-US" altLang="zh-CN" b="1" i="1" dirty="0" smtClean="0">
                        <a:effectLst/>
                        <a:latin typeface="Cambria Math" panose="02040503050406030204" pitchFamily="18" charset="0"/>
                      </a:rPr>
                      <m:t>, ∧, ∨&gt;</m:t>
                    </m:r>
                  </m:oMath>
                </a14:m>
                <a:r>
                  <a:rPr lang="zh-CN" altLang="zh-CN" b="1" dirty="0">
                    <a:effectLst/>
                    <a:latin typeface="+mn-ea"/>
                    <a:cs typeface="Times New Roman" panose="02020603050405020304" pitchFamily="18" charset="0"/>
                  </a:rPr>
                  <a:t>，可称为</a:t>
                </a:r>
                <a:r>
                  <a:rPr lang="zh-CN" altLang="zh-CN" b="1" dirty="0">
                    <a:solidFill>
                      <a:srgbClr val="FF0000"/>
                    </a:solidFill>
                    <a:effectLst/>
                    <a:latin typeface="+mn-ea"/>
                    <a:cs typeface="Times New Roman" panose="02020603050405020304" pitchFamily="18" charset="0"/>
                  </a:rPr>
                  <a:t>命题格</a:t>
                </a:r>
                <a:r>
                  <a:rPr lang="zh-CN" altLang="zh-CN" b="1" dirty="0">
                    <a:effectLst/>
                    <a:latin typeface="+mn-ea"/>
                    <a:cs typeface="Times New Roman" panose="02020603050405020304" pitchFamily="18" charset="0"/>
                  </a:rPr>
                  <a:t>。</a:t>
                </a:r>
                <a:endParaRPr lang="zh-CN" altLang="zh-CN" b="1" kern="100" dirty="0">
                  <a:latin typeface="+mn-ea"/>
                </a:endParaRPr>
              </a:p>
            </p:txBody>
          </p:sp>
        </mc:Choice>
        <mc:Fallback xmlns="">
          <p:sp>
            <p:nvSpPr>
              <p:cNvPr id="4" name="Rectangle 3">
                <a:extLst>
                  <a:ext uri="{FF2B5EF4-FFF2-40B4-BE49-F238E27FC236}">
                    <a16:creationId xmlns:a16="http://schemas.microsoft.com/office/drawing/2014/main" id="{9B6EC7FA-0863-4144-9413-36F2C12CA8AE}"/>
                  </a:ext>
                </a:extLst>
              </p:cNvPr>
              <p:cNvSpPr>
                <a:spLocks noRot="1" noChangeAspect="1" noMove="1" noResize="1" noEditPoints="1" noAdjustHandles="1" noChangeArrowheads="1" noChangeShapeType="1" noTextEdit="1"/>
              </p:cNvSpPr>
              <p:nvPr/>
            </p:nvSpPr>
            <p:spPr>
              <a:xfrm>
                <a:off x="384175" y="3000228"/>
                <a:ext cx="11506200" cy="1929695"/>
              </a:xfrm>
              <a:prstGeom prst="rect">
                <a:avLst/>
              </a:prstGeom>
              <a:blipFill>
                <a:blip r:embed="rId6"/>
                <a:stretch>
                  <a:fillRect l="-689" t="-946" r="-3443" b="-6309"/>
                </a:stretch>
              </a:blipFill>
            </p:spPr>
            <p:txBody>
              <a:bodyPr/>
              <a:lstStyle/>
              <a:p>
                <a:r>
                  <a:rPr lang="zh-CN" altLang="en-US">
                    <a:noFill/>
                  </a:rPr>
                  <a:t> </a:t>
                </a:r>
              </a:p>
            </p:txBody>
          </p:sp>
        </mc:Fallback>
      </mc:AlternateContent>
      <p:sp>
        <p:nvSpPr>
          <p:cNvPr id="11" name="卷形: 水平 10">
            <a:extLst>
              <a:ext uri="{FF2B5EF4-FFF2-40B4-BE49-F238E27FC236}">
                <a16:creationId xmlns:a16="http://schemas.microsoft.com/office/drawing/2014/main" id="{FBC4C494-B26A-497D-BD47-670CF3CC521E}"/>
              </a:ext>
            </a:extLst>
          </p:cNvPr>
          <p:cNvSpPr/>
          <p:nvPr/>
        </p:nvSpPr>
        <p:spPr>
          <a:xfrm>
            <a:off x="617537" y="5334794"/>
            <a:ext cx="10963275" cy="791370"/>
          </a:xfrm>
          <a:prstGeom prst="horizontalScroll">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zh-CN" b="1" kern="1100" dirty="0">
                <a:solidFill>
                  <a:srgbClr val="000000"/>
                </a:solidFill>
                <a:effectLst/>
                <a:latin typeface="+mn-ea"/>
                <a:cs typeface="Times New Roman" panose="02020603050405020304" pitchFamily="18" charset="0"/>
              </a:rPr>
              <a:t>偏序格与代数格是等价的。</a:t>
            </a:r>
            <a:endParaRPr lang="zh-CN" altLang="en-US" b="1" dirty="0">
              <a:latin typeface="+mn-ea"/>
            </a:endParaRPr>
          </a:p>
        </p:txBody>
      </p:sp>
    </p:spTree>
    <p:custDataLst>
      <p:tags r:id="rId1"/>
    </p:custDataLst>
    <p:extLst>
      <p:ext uri="{BB962C8B-B14F-4D97-AF65-F5344CB8AC3E}">
        <p14:creationId xmlns:p14="http://schemas.microsoft.com/office/powerpoint/2010/main" val="135675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代数格</a:t>
            </a:r>
            <a:r>
              <a:rPr lang="en-US" altLang="zh-CN" dirty="0">
                <a:sym typeface="Wingdings" panose="05000000000000000000" pitchFamily="2" charset="2"/>
              </a:rPr>
              <a:t></a:t>
            </a:r>
            <a:r>
              <a:rPr lang="zh-CN" altLang="en-US" dirty="0">
                <a:sym typeface="Wingdings" panose="05000000000000000000" pitchFamily="2" charset="2"/>
              </a:rPr>
              <a:t>偏序格</a:t>
            </a:r>
            <a:endParaRPr lang="zh-CN" altLang="en-US" dirty="0"/>
          </a:p>
        </p:txBody>
      </p:sp>
      <p:sp>
        <p:nvSpPr>
          <p:cNvPr id="5" name="矩形 242">
            <a:extLst>
              <a:ext uri="{FF2B5EF4-FFF2-40B4-BE49-F238E27FC236}">
                <a16:creationId xmlns:a16="http://schemas.microsoft.com/office/drawing/2014/main" id="{6E79D368-753C-4FE5-BE15-F5F824CC41A6}"/>
              </a:ext>
            </a:extLst>
          </p:cNvPr>
          <p:cNvSpPr/>
          <p:nvPr/>
        </p:nvSpPr>
        <p:spPr>
          <a:xfrm>
            <a:off x="-2825" y="2554867"/>
            <a:ext cx="12198349" cy="723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77" tIns="45738" rIns="91477" bIns="45738" rtlCol="0" anchor="ctr"/>
          <a:lstStyle/>
          <a:p>
            <a:pPr algn="ctr"/>
            <a:endParaRPr lang="zh-CN" altLang="en-US"/>
          </a:p>
        </p:txBody>
      </p:sp>
      <mc:AlternateContent xmlns:mc="http://schemas.openxmlformats.org/markup-compatibility/2006" xmlns:a14="http://schemas.microsoft.com/office/drawing/2010/main">
        <mc:Choice Requires="a14">
          <p:sp>
            <p:nvSpPr>
              <p:cNvPr id="11" name="内容占位符 10">
                <a:extLst>
                  <a:ext uri="{FF2B5EF4-FFF2-40B4-BE49-F238E27FC236}">
                    <a16:creationId xmlns:a16="http://schemas.microsoft.com/office/drawing/2014/main" id="{86E0A3B1-D0E6-4293-9B5D-BBEFF04AFDD7}"/>
                  </a:ext>
                </a:extLst>
              </p:cNvPr>
              <p:cNvSpPr>
                <a:spLocks noGrp="1"/>
              </p:cNvSpPr>
              <p:nvPr>
                <p:ph idx="1"/>
              </p:nvPr>
            </p:nvSpPr>
            <p:spPr>
              <a:xfrm>
                <a:off x="384175" y="924516"/>
                <a:ext cx="9448800" cy="1667078"/>
              </a:xfrm>
            </p:spPr>
            <p:txBody>
              <a:bodyPr>
                <a:noAutofit/>
              </a:bodyPr>
              <a:lstStyle/>
              <a:p>
                <a:pPr indent="0" algn="just">
                  <a:buNone/>
                </a:pPr>
                <a:r>
                  <a:rPr lang="zh-CN" altLang="zh-CN" kern="100" dirty="0">
                    <a:solidFill>
                      <a:srgbClr val="0000FF"/>
                    </a:solidFill>
                    <a:effectLst/>
                    <a:latin typeface="+mn-ea"/>
                  </a:rPr>
                  <a:t>定理</a:t>
                </a:r>
                <a:r>
                  <a:rPr lang="en-US" altLang="zh-CN" kern="100" dirty="0">
                    <a:solidFill>
                      <a:srgbClr val="0000FF"/>
                    </a:solidFill>
                    <a:effectLst/>
                    <a:latin typeface="+mn-ea"/>
                  </a:rPr>
                  <a:t>10.2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 </m:t>
                    </m:r>
                    <m:r>
                      <a:rPr lang="en-US" altLang="zh-CN" i="1" dirty="0">
                        <a:latin typeface="Cambria Math" panose="02040503050406030204" pitchFamily="18" charset="0"/>
                        <a:ea typeface="Cambria Math" panose="02040503050406030204" pitchFamily="18" charset="0"/>
                      </a:rPr>
                      <m:t>⋁</m:t>
                    </m:r>
                    <m:r>
                      <a:rPr lang="en-US" altLang="zh-CN" b="1" i="1" kern="100" dirty="0">
                        <a:effectLst/>
                        <a:latin typeface="Cambria Math" panose="02040503050406030204" pitchFamily="18" charset="0"/>
                      </a:rPr>
                      <m:t>&gt;</m:t>
                    </m:r>
                  </m:oMath>
                </a14:m>
                <a:r>
                  <a:rPr lang="zh-CN" altLang="zh-CN" kern="100" dirty="0">
                    <a:effectLst/>
                    <a:latin typeface="+mn-ea"/>
                  </a:rPr>
                  <a:t>是格，在</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上定义一种关系</a:t>
                </a:r>
                <a14:m>
                  <m:oMath xmlns:m="http://schemas.openxmlformats.org/officeDocument/2006/math">
                    <m:r>
                      <a:rPr lang="en-US" altLang="zh-CN" b="1" i="1" kern="100" dirty="0" smtClean="0">
                        <a:effectLst/>
                        <a:latin typeface="Cambria Math" panose="02040503050406030204" pitchFamily="18" charset="0"/>
                      </a:rPr>
                      <m:t>“ ≤ ”</m:t>
                    </m:r>
                  </m:oMath>
                </a14:m>
                <a:r>
                  <a:rPr lang="zh-CN" altLang="zh-CN" kern="100" dirty="0">
                    <a:effectLst/>
                    <a:latin typeface="+mn-ea"/>
                  </a:rPr>
                  <a:t>如下： </a:t>
                </a:r>
              </a:p>
              <a:p>
                <a:pPr indent="0" algn="ctr">
                  <a:buNone/>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sym typeface="Symbol" panose="05050102010706020507" pitchFamily="18" charset="2"/>
                        </a:rPr>
                        <m:t></m:t>
                      </m:r>
                      <m:r>
                        <a:rPr lang="en-US" altLang="zh-CN" b="1" i="1" kern="100" dirty="0" err="1">
                          <a:effectLst/>
                          <a:latin typeface="Cambria Math" panose="02040503050406030204" pitchFamily="18" charset="0"/>
                        </a:rPr>
                        <m:t>𝒂</m:t>
                      </m:r>
                      <m:r>
                        <a:rPr lang="en-US" altLang="zh-CN" b="1" i="1" kern="100" dirty="0" err="1">
                          <a:effectLst/>
                          <a:latin typeface="Cambria Math" panose="02040503050406030204" pitchFamily="18" charset="0"/>
                        </a:rPr>
                        <m:t>,</m:t>
                      </m:r>
                      <m:r>
                        <a:rPr lang="en-US" altLang="zh-CN" b="1" i="1" kern="100" dirty="0" err="1">
                          <a:effectLst/>
                          <a:latin typeface="Cambria Math" panose="02040503050406030204" pitchFamily="18" charset="0"/>
                        </a:rPr>
                        <m:t>𝒃</m:t>
                      </m:r>
                      <m:r>
                        <a:rPr lang="en-US" altLang="zh-CN" b="1" i="1" kern="100" dirty="0" err="1">
                          <a:effectLst/>
                          <a:latin typeface="Cambria Math" panose="02040503050406030204" pitchFamily="18" charset="0"/>
                          <a:sym typeface="Symbol" panose="05050102010706020507" pitchFamily="18" charset="2"/>
                        </a:rPr>
                        <m:t></m:t>
                      </m:r>
                      <m:r>
                        <a:rPr lang="en-US" altLang="zh-CN" b="1" i="1" kern="100" dirty="0" err="1">
                          <a:effectLst/>
                          <a:latin typeface="Cambria Math" panose="02040503050406030204" pitchFamily="18" charset="0"/>
                        </a:rPr>
                        <m:t>𝑳</m:t>
                      </m:r>
                      <m:r>
                        <a:rPr lang="en-US" altLang="zh-CN" b="1" i="1" kern="100" dirty="0">
                          <a:effectLst/>
                          <a:latin typeface="Cambria Math" panose="02040503050406030204" pitchFamily="18" charset="0"/>
                        </a:rPr>
                        <m:t> </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m:t>
                      </m:r>
                    </m:oMath>
                  </m:oMathPara>
                </a14:m>
                <a:endParaRPr lang="zh-CN" altLang="zh-CN" kern="100" dirty="0">
                  <a:effectLst/>
                  <a:latin typeface="+mn-ea"/>
                </a:endParaRPr>
              </a:p>
              <a:p>
                <a:pPr indent="0" algn="just">
                  <a:buNone/>
                </a:pPr>
                <a:r>
                  <a:rPr lang="zh-CN" altLang="zh-CN" kern="1100" dirty="0">
                    <a:solidFill>
                      <a:srgbClr val="000000"/>
                    </a:solidFill>
                    <a:effectLst/>
                    <a:latin typeface="+mn-ea"/>
                  </a:rPr>
                  <a:t>则有（</a:t>
                </a:r>
                <a:r>
                  <a:rPr lang="en-US" altLang="zh-CN" kern="1100" dirty="0">
                    <a:solidFill>
                      <a:srgbClr val="000000"/>
                    </a:solidFill>
                    <a:effectLst/>
                    <a:latin typeface="+mn-ea"/>
                  </a:rPr>
                  <a:t>1</a:t>
                </a:r>
                <a:r>
                  <a:rPr lang="zh-CN" altLang="zh-CN" kern="1100" dirty="0">
                    <a:solidFill>
                      <a:srgbClr val="000000"/>
                    </a:solidFill>
                    <a:effectLst/>
                    <a:latin typeface="+mn-ea"/>
                  </a:rPr>
                  <a:t>）</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oMath>
                </a14:m>
                <a:r>
                  <a:rPr lang="zh-CN" altLang="zh-CN" kern="100" dirty="0">
                    <a:effectLst/>
                    <a:latin typeface="+mn-ea"/>
                  </a:rPr>
                  <a:t>（</a:t>
                </a:r>
                <a:r>
                  <a:rPr lang="en-US" altLang="zh-CN" kern="100" dirty="0">
                    <a:effectLst/>
                    <a:latin typeface="+mn-ea"/>
                  </a:rPr>
                  <a:t>2</a:t>
                </a:r>
                <a:r>
                  <a:rPr lang="zh-CN" altLang="zh-CN" kern="100" dirty="0">
                    <a:effectLst/>
                    <a:latin typeface="+mn-ea"/>
                  </a:rPr>
                  <a:t>）</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≤&gt;</m:t>
                    </m:r>
                  </m:oMath>
                </a14:m>
                <a:r>
                  <a:rPr lang="zh-CN" altLang="zh-CN" kern="100" dirty="0">
                    <a:effectLst/>
                    <a:latin typeface="+mn-ea"/>
                  </a:rPr>
                  <a:t>是一个格。</a:t>
                </a:r>
              </a:p>
            </p:txBody>
          </p:sp>
        </mc:Choice>
        <mc:Fallback xmlns="">
          <p:sp>
            <p:nvSpPr>
              <p:cNvPr id="11" name="内容占位符 10">
                <a:extLst>
                  <a:ext uri="{FF2B5EF4-FFF2-40B4-BE49-F238E27FC236}">
                    <a16:creationId xmlns:a16="http://schemas.microsoft.com/office/drawing/2014/main" id="{86E0A3B1-D0E6-4293-9B5D-BBEFF04AFDD7}"/>
                  </a:ext>
                </a:extLst>
              </p:cNvPr>
              <p:cNvSpPr>
                <a:spLocks noGrp="1" noRot="1" noChangeAspect="1" noMove="1" noResize="1" noEditPoints="1" noAdjustHandles="1" noChangeArrowheads="1" noChangeShapeType="1" noTextEdit="1"/>
              </p:cNvSpPr>
              <p:nvPr>
                <p:ph idx="1"/>
              </p:nvPr>
            </p:nvSpPr>
            <p:spPr>
              <a:xfrm>
                <a:off x="384175" y="924516"/>
                <a:ext cx="9448800" cy="1667078"/>
              </a:xfr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31AF0C3-5A46-4A88-AD3A-E9E64D1876BE}"/>
                  </a:ext>
                </a:extLst>
              </p:cNvPr>
              <p:cNvSpPr txBox="1"/>
              <p:nvPr/>
            </p:nvSpPr>
            <p:spPr>
              <a:xfrm>
                <a:off x="774700" y="2896394"/>
                <a:ext cx="9210675" cy="2935547"/>
              </a:xfrm>
              <a:prstGeom prst="rect">
                <a:avLst/>
              </a:prstGeom>
              <a:noFill/>
            </p:spPr>
            <p:txBody>
              <a:bodyPr wrap="square">
                <a:spAutoFit/>
              </a:bodyPr>
              <a:lstStyle/>
              <a:p>
                <a:pPr marL="457360" algn="just">
                  <a:lnSpc>
                    <a:spcPct val="120000"/>
                  </a:lnSpc>
                  <a:spcBef>
                    <a:spcPct val="20000"/>
                  </a:spcBef>
                  <a:buSzPct val="80000"/>
                </a:pPr>
                <a:r>
                  <a:rPr lang="zh-CN" altLang="zh-CN" b="1" kern="100" dirty="0">
                    <a:solidFill>
                      <a:srgbClr val="FF0000"/>
                    </a:solidFill>
                    <a:latin typeface="+mn-ea"/>
                  </a:rPr>
                  <a:t>证明</a:t>
                </a:r>
                <a:r>
                  <a:rPr lang="zh-CN" altLang="zh-CN" b="1" kern="100" dirty="0">
                    <a:solidFill>
                      <a:schemeClr val="tx1">
                        <a:lumMod val="75000"/>
                        <a:lumOff val="25000"/>
                      </a:schemeClr>
                    </a:solidFill>
                    <a:latin typeface="+mn-ea"/>
                  </a:rPr>
                  <a:t>  （</a:t>
                </a:r>
                <a:r>
                  <a:rPr lang="en-US" altLang="zh-CN" b="1" kern="100" dirty="0">
                    <a:solidFill>
                      <a:schemeClr val="tx1">
                        <a:lumMod val="75000"/>
                        <a:lumOff val="25000"/>
                      </a:schemeClr>
                    </a:solidFill>
                    <a:latin typeface="+mn-ea"/>
                  </a:rPr>
                  <a:t>1</a:t>
                </a:r>
                <a:r>
                  <a:rPr lang="zh-CN" altLang="zh-CN" b="1" kern="100" dirty="0">
                    <a:solidFill>
                      <a:schemeClr val="tx1">
                        <a:lumMod val="75000"/>
                        <a:lumOff val="25000"/>
                      </a:schemeClr>
                    </a:solidFill>
                    <a:latin typeface="+mn-ea"/>
                  </a:rPr>
                  <a:t>）若有</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oMath>
                </a14:m>
                <a:r>
                  <a:rPr lang="zh-CN" altLang="zh-CN" b="1" kern="100" dirty="0">
                    <a:solidFill>
                      <a:schemeClr val="tx1">
                        <a:lumMod val="75000"/>
                        <a:lumOff val="25000"/>
                      </a:schemeClr>
                    </a:solidFill>
                    <a:latin typeface="+mn-ea"/>
                  </a:rPr>
                  <a:t>，则由吸收律</a:t>
                </a:r>
              </a:p>
              <a:p>
                <a:pPr marL="457360" algn="ctr">
                  <a:lnSpc>
                    <a:spcPct val="120000"/>
                  </a:lnSpc>
                  <a:spcBef>
                    <a:spcPct val="20000"/>
                  </a:spcBef>
                  <a:buSzPct val="80000"/>
                </a:pPr>
                <a14:m>
                  <m:oMathPara xmlns:m="http://schemas.openxmlformats.org/officeDocument/2006/math">
                    <m:oMathParaPr>
                      <m:jc m:val="centerGroup"/>
                    </m:oMathParaPr>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𝒃</m:t>
                      </m:r>
                    </m:oMath>
                  </m:oMathPara>
                </a14:m>
                <a:endParaRPr lang="zh-CN" altLang="zh-CN" b="1" kern="100" dirty="0">
                  <a:solidFill>
                    <a:schemeClr val="tx1">
                      <a:lumMod val="75000"/>
                      <a:lumOff val="25000"/>
                    </a:schemeClr>
                  </a:solidFill>
                  <a:latin typeface="+mn-ea"/>
                </a:endParaRPr>
              </a:p>
              <a:p>
                <a:pPr marL="457360" algn="just">
                  <a:lnSpc>
                    <a:spcPct val="120000"/>
                  </a:lnSpc>
                  <a:spcBef>
                    <a:spcPct val="20000"/>
                  </a:spcBef>
                  <a:buSzPct val="80000"/>
                </a:pPr>
                <a:r>
                  <a:rPr lang="zh-CN" altLang="zh-CN" b="1" kern="100" dirty="0">
                    <a:solidFill>
                      <a:schemeClr val="tx1">
                        <a:lumMod val="75000"/>
                        <a:lumOff val="25000"/>
                      </a:schemeClr>
                    </a:solidFill>
                    <a:latin typeface="+mn-ea"/>
                  </a:rPr>
                  <a:t>反之，若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𝒃</m:t>
                    </m:r>
                  </m:oMath>
                </a14:m>
                <a:r>
                  <a:rPr lang="zh-CN" altLang="zh-CN" b="1" kern="100" dirty="0">
                    <a:solidFill>
                      <a:schemeClr val="tx1">
                        <a:lumMod val="75000"/>
                        <a:lumOff val="25000"/>
                      </a:schemeClr>
                    </a:solidFill>
                    <a:latin typeface="+mn-ea"/>
                  </a:rPr>
                  <a:t>，再由吸收律</a:t>
                </a:r>
              </a:p>
              <a:p>
                <a:pPr marL="457360" algn="ctr">
                  <a:lnSpc>
                    <a:spcPct val="120000"/>
                  </a:lnSpc>
                  <a:spcBef>
                    <a:spcPct val="20000"/>
                  </a:spcBef>
                  <a:buSzPct val="80000"/>
                </a:pPr>
                <a14:m>
                  <m:oMathPara xmlns:m="http://schemas.openxmlformats.org/officeDocument/2006/math">
                    <m:oMathParaPr>
                      <m:jc m:val="centerGroup"/>
                    </m:oMathParaPr>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oMath>
                  </m:oMathPara>
                </a14:m>
                <a:endParaRPr lang="zh-CN" altLang="zh-CN" b="1" kern="100" dirty="0">
                  <a:solidFill>
                    <a:schemeClr val="tx1">
                      <a:lumMod val="75000"/>
                      <a:lumOff val="25000"/>
                    </a:schemeClr>
                  </a:solidFill>
                  <a:latin typeface="+mn-ea"/>
                </a:endParaRPr>
              </a:p>
              <a:p>
                <a:pPr marL="457360" algn="just">
                  <a:lnSpc>
                    <a:spcPct val="120000"/>
                  </a:lnSpc>
                  <a:spcBef>
                    <a:spcPct val="20000"/>
                  </a:spcBef>
                  <a:buSzPct val="80000"/>
                </a:pPr>
                <a:r>
                  <a:rPr lang="zh-CN" altLang="zh-CN" b="1" kern="100" dirty="0">
                    <a:solidFill>
                      <a:schemeClr val="tx1">
                        <a:lumMod val="75000"/>
                        <a:lumOff val="25000"/>
                      </a:schemeClr>
                    </a:solidFill>
                    <a:latin typeface="+mn-ea"/>
                  </a:rPr>
                  <a:t>因此，</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 </m:t>
                    </m:r>
                    <m:r>
                      <a:rPr lang="en-US" altLang="zh-CN" b="1" i="1" kern="100" dirty="0" smtClean="0">
                        <a:solidFill>
                          <a:schemeClr val="tx1">
                            <a:lumMod val="75000"/>
                            <a:lumOff val="25000"/>
                          </a:schemeClr>
                        </a:solidFill>
                        <a:latin typeface="Cambria Math" panose="02040503050406030204" pitchFamily="18" charset="0"/>
                      </a:rPr>
                      <m:t>𝒃</m:t>
                    </m:r>
                    <m:r>
                      <a:rPr lang="en-US" altLang="zh-CN" b="1" i="1" kern="100" dirty="0" smtClean="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oMath>
                </a14:m>
                <a:endParaRPr lang="en-US" altLang="zh-CN" b="1" kern="100" dirty="0">
                  <a:solidFill>
                    <a:schemeClr val="tx1">
                      <a:lumMod val="75000"/>
                      <a:lumOff val="25000"/>
                    </a:schemeClr>
                  </a:solidFill>
                  <a:latin typeface="+mn-ea"/>
                </a:endParaRPr>
              </a:p>
              <a:p>
                <a:pPr marL="457360" algn="just">
                  <a:lnSpc>
                    <a:spcPct val="120000"/>
                  </a:lnSpc>
                  <a:spcBef>
                    <a:spcPct val="20000"/>
                  </a:spcBef>
                  <a:buSzPct val="80000"/>
                </a:pPr>
                <a:r>
                  <a:rPr lang="zh-CN" altLang="en-US" b="1" kern="100" dirty="0">
                    <a:solidFill>
                      <a:schemeClr val="tx1">
                        <a:lumMod val="75000"/>
                        <a:lumOff val="25000"/>
                      </a:schemeClr>
                    </a:solidFill>
                    <a:latin typeface="+mn-ea"/>
                  </a:rPr>
                  <a:t>（</a:t>
                </a:r>
                <a:r>
                  <a:rPr lang="en-US" altLang="zh-CN" b="1" kern="100" dirty="0">
                    <a:solidFill>
                      <a:schemeClr val="tx1">
                        <a:lumMod val="75000"/>
                        <a:lumOff val="25000"/>
                      </a:schemeClr>
                    </a:solidFill>
                    <a:latin typeface="+mn-ea"/>
                  </a:rPr>
                  <a:t>2</a:t>
                </a:r>
                <a:r>
                  <a:rPr lang="zh-CN" altLang="en-US" b="1" kern="100" dirty="0">
                    <a:solidFill>
                      <a:schemeClr val="tx1">
                        <a:lumMod val="75000"/>
                        <a:lumOff val="25000"/>
                      </a:schemeClr>
                    </a:solidFill>
                    <a:latin typeface="+mn-ea"/>
                  </a:rPr>
                  <a:t>）思路：偏序关系</a:t>
                </a:r>
                <a:r>
                  <a:rPr lang="en-US" altLang="zh-CN" b="1" kern="100" dirty="0">
                    <a:solidFill>
                      <a:schemeClr val="tx1">
                        <a:lumMod val="75000"/>
                        <a:lumOff val="25000"/>
                      </a:schemeClr>
                    </a:solidFill>
                    <a:latin typeface="+mn-ea"/>
                  </a:rPr>
                  <a:t>+</a:t>
                </a:r>
                <a:r>
                  <a:rPr lang="zh-CN" altLang="en-US" b="1" kern="100" dirty="0">
                    <a:solidFill>
                      <a:schemeClr val="tx1">
                        <a:lumMod val="75000"/>
                        <a:lumOff val="25000"/>
                      </a:schemeClr>
                    </a:solidFill>
                    <a:latin typeface="+mn-ea"/>
                  </a:rPr>
                  <a:t>最大下界和最小上界存在</a:t>
                </a:r>
                <a:endParaRPr lang="zh-CN" altLang="zh-CN" b="1" kern="100" dirty="0">
                  <a:solidFill>
                    <a:schemeClr val="tx1">
                      <a:lumMod val="75000"/>
                      <a:lumOff val="25000"/>
                    </a:schemeClr>
                  </a:solidFill>
                  <a:latin typeface="+mn-ea"/>
                </a:endParaRPr>
              </a:p>
            </p:txBody>
          </p:sp>
        </mc:Choice>
        <mc:Fallback xmlns="">
          <p:sp>
            <p:nvSpPr>
              <p:cNvPr id="18" name="文本框 17">
                <a:extLst>
                  <a:ext uri="{FF2B5EF4-FFF2-40B4-BE49-F238E27FC236}">
                    <a16:creationId xmlns:a16="http://schemas.microsoft.com/office/drawing/2014/main" id="{731AF0C3-5A46-4A88-AD3A-E9E64D1876BE}"/>
                  </a:ext>
                </a:extLst>
              </p:cNvPr>
              <p:cNvSpPr txBox="1">
                <a:spLocks noRot="1" noChangeAspect="1" noMove="1" noResize="1" noEditPoints="1" noAdjustHandles="1" noChangeArrowheads="1" noChangeShapeType="1" noTextEdit="1"/>
              </p:cNvSpPr>
              <p:nvPr/>
            </p:nvSpPr>
            <p:spPr>
              <a:xfrm>
                <a:off x="774700" y="2896394"/>
                <a:ext cx="9210675" cy="2935547"/>
              </a:xfrm>
              <a:prstGeom prst="rect">
                <a:avLst/>
              </a:prstGeom>
              <a:blipFill>
                <a:blip r:embed="rId6"/>
                <a:stretch>
                  <a:fillRect t="-415" b="-3734"/>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17082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代数格</a:t>
            </a:r>
            <a:r>
              <a:rPr lang="en-US" altLang="zh-CN" dirty="0">
                <a:sym typeface="Wingdings" panose="05000000000000000000" pitchFamily="2" charset="2"/>
              </a:rPr>
              <a:t></a:t>
            </a:r>
            <a:r>
              <a:rPr lang="zh-CN" altLang="en-US" dirty="0">
                <a:sym typeface="Wingdings" panose="05000000000000000000" pitchFamily="2" charset="2"/>
              </a:rPr>
              <a:t>偏序格</a:t>
            </a:r>
            <a:endParaRPr lang="zh-CN" altLang="en-US" dirty="0"/>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31AF0C3-5A46-4A88-AD3A-E9E64D1876BE}"/>
                  </a:ext>
                </a:extLst>
              </p:cNvPr>
              <p:cNvSpPr txBox="1"/>
              <p:nvPr/>
            </p:nvSpPr>
            <p:spPr>
              <a:xfrm>
                <a:off x="774699" y="1067594"/>
                <a:ext cx="10506076" cy="4828373"/>
              </a:xfrm>
              <a:prstGeom prst="rect">
                <a:avLst/>
              </a:prstGeom>
              <a:noFill/>
            </p:spPr>
            <p:txBody>
              <a:bodyPr wrap="square">
                <a:spAutoFit/>
              </a:bodyPr>
              <a:lstStyle/>
              <a:p>
                <a:pPr algn="just">
                  <a:lnSpc>
                    <a:spcPct val="130000"/>
                  </a:lnSpc>
                  <a:spcBef>
                    <a:spcPts val="600"/>
                  </a:spcBef>
                  <a:buSzPct val="80000"/>
                </a:pPr>
                <a:r>
                  <a:rPr lang="zh-CN" altLang="zh-CN" b="1" kern="100" dirty="0">
                    <a:solidFill>
                      <a:srgbClr val="FF0000"/>
                    </a:solidFill>
                    <a:latin typeface="+mn-ea"/>
                  </a:rPr>
                  <a:t>证明</a:t>
                </a:r>
                <a:r>
                  <a:rPr lang="zh-CN" altLang="zh-CN" b="1" kern="100" dirty="0">
                    <a:solidFill>
                      <a:schemeClr val="tx1">
                        <a:lumMod val="75000"/>
                        <a:lumOff val="25000"/>
                      </a:schemeClr>
                    </a:solidFill>
                    <a:latin typeface="+mn-ea"/>
                  </a:rPr>
                  <a:t>  （</a:t>
                </a:r>
                <a:r>
                  <a:rPr lang="en-US" altLang="zh-CN" b="1" kern="100" dirty="0">
                    <a:solidFill>
                      <a:schemeClr val="tx1">
                        <a:lumMod val="75000"/>
                        <a:lumOff val="25000"/>
                      </a:schemeClr>
                    </a:solidFill>
                    <a:latin typeface="+mn-ea"/>
                  </a:rPr>
                  <a:t>2</a:t>
                </a:r>
                <a:r>
                  <a:rPr lang="zh-CN" altLang="zh-CN" b="1" kern="100" dirty="0">
                    <a:solidFill>
                      <a:schemeClr val="tx1">
                        <a:lumMod val="75000"/>
                        <a:lumOff val="25000"/>
                      </a:schemeClr>
                    </a:solidFill>
                    <a:latin typeface="+mn-ea"/>
                  </a:rPr>
                  <a:t>）</a:t>
                </a:r>
                <a:r>
                  <a:rPr lang="zh-CN" altLang="zh-CN" b="1" kern="100" dirty="0">
                    <a:solidFill>
                      <a:srgbClr val="CC00CC"/>
                    </a:solidFill>
                    <a:latin typeface="+mn-ea"/>
                  </a:rPr>
                  <a:t>首先证明 </a:t>
                </a:r>
                <a14:m>
                  <m:oMath xmlns:m="http://schemas.openxmlformats.org/officeDocument/2006/math">
                    <m:r>
                      <a:rPr lang="en-US" altLang="zh-CN" b="1" i="1" kern="100" dirty="0" smtClean="0">
                        <a:solidFill>
                          <a:srgbClr val="CC00CC"/>
                        </a:solidFill>
                        <a:latin typeface="Cambria Math" panose="02040503050406030204" pitchFamily="18" charset="0"/>
                      </a:rPr>
                      <m:t>≤</m:t>
                    </m:r>
                  </m:oMath>
                </a14:m>
                <a:r>
                  <a:rPr lang="en-US" altLang="zh-CN" b="1" kern="100" dirty="0">
                    <a:solidFill>
                      <a:srgbClr val="CC00CC"/>
                    </a:solidFill>
                    <a:latin typeface="+mn-ea"/>
                  </a:rPr>
                  <a:t> </a:t>
                </a:r>
                <a:r>
                  <a:rPr lang="zh-CN" altLang="zh-CN" b="1" kern="100" dirty="0">
                    <a:solidFill>
                      <a:srgbClr val="CC00CC"/>
                    </a:solidFill>
                    <a:latin typeface="+mn-ea"/>
                  </a:rPr>
                  <a:t>是偏序关系</a:t>
                </a:r>
                <a:r>
                  <a:rPr lang="zh-CN" altLang="zh-CN" b="1" kern="100" dirty="0">
                    <a:solidFill>
                      <a:schemeClr val="tx1">
                        <a:lumMod val="75000"/>
                        <a:lumOff val="25000"/>
                      </a:schemeClr>
                    </a:solidFill>
                    <a:latin typeface="+mn-ea"/>
                  </a:rPr>
                  <a:t>。</a:t>
                </a:r>
              </a:p>
              <a:p>
                <a:pPr algn="just">
                  <a:lnSpc>
                    <a:spcPct val="130000"/>
                  </a:lnSpc>
                  <a:spcBef>
                    <a:spcPts val="600"/>
                  </a:spcBef>
                  <a:buSzPct val="80000"/>
                </a:pPr>
                <a:r>
                  <a:rPr lang="zh-CN" altLang="zh-CN" b="1" kern="100" dirty="0">
                    <a:solidFill>
                      <a:schemeClr val="tx1">
                        <a:lumMod val="75000"/>
                        <a:lumOff val="25000"/>
                      </a:schemeClr>
                    </a:solidFill>
                    <a:latin typeface="+mn-ea"/>
                  </a:rPr>
                  <a:t>对任意</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𝑳</m:t>
                    </m:r>
                  </m:oMath>
                </a14:m>
                <a:r>
                  <a:rPr lang="zh-CN" altLang="zh-CN" b="1" kern="100" dirty="0">
                    <a:solidFill>
                      <a:schemeClr val="tx1">
                        <a:lumMod val="75000"/>
                        <a:lumOff val="25000"/>
                      </a:schemeClr>
                    </a:solidFill>
                    <a:latin typeface="+mn-ea"/>
                  </a:rPr>
                  <a:t>，由吸收律有</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oMath>
                </a14:m>
                <a:r>
                  <a:rPr lang="zh-CN" altLang="zh-CN" b="1" kern="100" dirty="0">
                    <a:solidFill>
                      <a:schemeClr val="tx1">
                        <a:lumMod val="75000"/>
                        <a:lumOff val="25000"/>
                      </a:schemeClr>
                    </a:solidFill>
                    <a:latin typeface="+mn-ea"/>
                  </a:rPr>
                  <a:t>，故</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 </m:t>
                    </m:r>
                    <m:r>
                      <a:rPr lang="en-US" altLang="zh-CN" b="1" i="1" kern="100" dirty="0" smtClean="0">
                        <a:solidFill>
                          <a:schemeClr val="tx1">
                            <a:lumMod val="75000"/>
                            <a:lumOff val="25000"/>
                          </a:schemeClr>
                        </a:solidFill>
                        <a:latin typeface="Cambria Math" panose="02040503050406030204" pitchFamily="18" charset="0"/>
                      </a:rPr>
                      <m:t>𝒂</m:t>
                    </m:r>
                  </m:oMath>
                </a14:m>
                <a:r>
                  <a:rPr lang="zh-CN" altLang="zh-CN" b="1" kern="100" dirty="0">
                    <a:solidFill>
                      <a:schemeClr val="tx1">
                        <a:lumMod val="75000"/>
                        <a:lumOff val="25000"/>
                      </a:schemeClr>
                    </a:solidFill>
                    <a:latin typeface="+mn-ea"/>
                  </a:rPr>
                  <a:t>，即</a:t>
                </a:r>
                <a:r>
                  <a:rPr lang="zh-CN" altLang="zh-CN" b="1" kern="100" dirty="0">
                    <a:solidFill>
                      <a:srgbClr val="0000FF"/>
                    </a:solidFill>
                    <a:latin typeface="+mn-ea"/>
                  </a:rPr>
                  <a:t>关系</a:t>
                </a:r>
                <a:r>
                  <a:rPr lang="en-US" altLang="zh-CN" b="1" kern="100" dirty="0">
                    <a:solidFill>
                      <a:srgbClr val="0000FF"/>
                    </a:solidFill>
                    <a:latin typeface="+mn-ea"/>
                  </a:rPr>
                  <a:t> </a:t>
                </a:r>
                <a14:m>
                  <m:oMath xmlns:m="http://schemas.openxmlformats.org/officeDocument/2006/math">
                    <m:r>
                      <a:rPr lang="en-US" altLang="zh-CN" b="1" i="1" kern="100" dirty="0" smtClean="0">
                        <a:solidFill>
                          <a:srgbClr val="0000FF"/>
                        </a:solidFill>
                        <a:latin typeface="Cambria Math" panose="02040503050406030204" pitchFamily="18" charset="0"/>
                      </a:rPr>
                      <m:t>≤</m:t>
                    </m:r>
                  </m:oMath>
                </a14:m>
                <a:r>
                  <a:rPr lang="en-US" altLang="zh-CN" b="1" kern="100" dirty="0">
                    <a:solidFill>
                      <a:srgbClr val="0000FF"/>
                    </a:solidFill>
                    <a:latin typeface="+mn-ea"/>
                  </a:rPr>
                  <a:t> </a:t>
                </a:r>
                <a:r>
                  <a:rPr lang="zh-CN" altLang="zh-CN" b="1" kern="100" dirty="0">
                    <a:solidFill>
                      <a:srgbClr val="0000FF"/>
                    </a:solidFill>
                    <a:latin typeface="+mn-ea"/>
                  </a:rPr>
                  <a:t>是自反的</a:t>
                </a:r>
                <a:r>
                  <a:rPr lang="zh-CN" altLang="zh-CN" b="1" kern="100" dirty="0">
                    <a:solidFill>
                      <a:schemeClr val="tx1">
                        <a:lumMod val="75000"/>
                        <a:lumOff val="25000"/>
                      </a:schemeClr>
                    </a:solidFill>
                    <a:latin typeface="+mn-ea"/>
                  </a:rPr>
                  <a:t>。</a:t>
                </a:r>
              </a:p>
              <a:p>
                <a:pPr algn="just">
                  <a:lnSpc>
                    <a:spcPct val="130000"/>
                  </a:lnSpc>
                  <a:spcBef>
                    <a:spcPts val="600"/>
                  </a:spcBef>
                  <a:buSzPct val="80000"/>
                </a:pPr>
                <a:r>
                  <a:rPr lang="zh-CN" altLang="zh-CN" b="1" kern="100" dirty="0">
                    <a:solidFill>
                      <a:schemeClr val="tx1">
                        <a:lumMod val="75000"/>
                        <a:lumOff val="25000"/>
                      </a:schemeClr>
                    </a:solidFill>
                    <a:latin typeface="+mn-ea"/>
                  </a:rPr>
                  <a:t>对任意</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m:t>
                    </m:r>
                    <m:r>
                      <a:rPr lang="en-US" altLang="zh-CN" b="1" i="1" kern="100" dirty="0" err="1">
                        <a:solidFill>
                          <a:schemeClr val="tx1">
                            <a:lumMod val="75000"/>
                            <a:lumOff val="25000"/>
                          </a:schemeClr>
                        </a:solidFill>
                        <a:latin typeface="Cambria Math" panose="02040503050406030204" pitchFamily="18" charset="0"/>
                      </a:rPr>
                      <m:t>𝒃</m:t>
                    </m:r>
                    <m:r>
                      <a:rPr lang="en-US" altLang="zh-CN" b="1" i="1" kern="100" dirty="0" err="1">
                        <a:solidFill>
                          <a:schemeClr val="tx1">
                            <a:lumMod val="75000"/>
                            <a:lumOff val="25000"/>
                          </a:schemeClr>
                        </a:solidFill>
                        <a:latin typeface="Cambria Math" panose="02040503050406030204" pitchFamily="18" charset="0"/>
                      </a:rPr>
                      <m:t>∈</m:t>
                    </m:r>
                    <m:r>
                      <a:rPr lang="en-US" altLang="zh-CN" b="1" i="1" kern="100" dirty="0" err="1">
                        <a:solidFill>
                          <a:schemeClr val="tx1">
                            <a:lumMod val="75000"/>
                            <a:lumOff val="25000"/>
                          </a:schemeClr>
                        </a:solidFill>
                        <a:latin typeface="Cambria Math" panose="02040503050406030204" pitchFamily="18" charset="0"/>
                      </a:rPr>
                      <m:t>𝑳</m:t>
                    </m:r>
                  </m:oMath>
                </a14:m>
                <a:r>
                  <a:rPr lang="zh-CN" altLang="zh-CN" b="1" kern="100" dirty="0">
                    <a:solidFill>
                      <a:schemeClr val="tx1">
                        <a:lumMod val="75000"/>
                        <a:lumOff val="25000"/>
                      </a:schemeClr>
                    </a:solidFill>
                    <a:latin typeface="+mn-ea"/>
                  </a:rPr>
                  <a:t>，若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 </m:t>
                    </m:r>
                    <m:r>
                      <a:rPr lang="en-US" altLang="zh-CN" b="1" i="1" kern="100" dirty="0" smtClean="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oMath>
                </a14:m>
                <a:r>
                  <a:rPr lang="zh-CN" altLang="zh-CN" b="1" kern="100" dirty="0">
                    <a:solidFill>
                      <a:schemeClr val="tx1">
                        <a:lumMod val="75000"/>
                        <a:lumOff val="25000"/>
                      </a:schemeClr>
                    </a:solidFill>
                    <a:latin typeface="+mn-ea"/>
                  </a:rPr>
                  <a:t>，根据</a:t>
                </a:r>
                <a:r>
                  <a:rPr lang="en-US" altLang="zh-CN" b="1" kern="100" dirty="0">
                    <a:solidFill>
                      <a:schemeClr val="tx1">
                        <a:lumMod val="75000"/>
                        <a:lumOff val="25000"/>
                      </a:schemeClr>
                    </a:solidFill>
                    <a:latin typeface="+mn-ea"/>
                  </a:rPr>
                  <a:t>≤</a:t>
                </a:r>
                <a:r>
                  <a:rPr lang="zh-CN" altLang="zh-CN" b="1" kern="100" dirty="0">
                    <a:solidFill>
                      <a:schemeClr val="tx1">
                        <a:lumMod val="75000"/>
                        <a:lumOff val="25000"/>
                      </a:schemeClr>
                    </a:solidFill>
                    <a:latin typeface="+mn-ea"/>
                  </a:rPr>
                  <a:t>的定义有：</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𝒃</m:t>
                    </m:r>
                  </m:oMath>
                </a14:m>
                <a:r>
                  <a:rPr lang="zh-CN" altLang="en-US" b="1" kern="100" dirty="0">
                    <a:solidFill>
                      <a:schemeClr val="tx1">
                        <a:lumMod val="75000"/>
                        <a:lumOff val="25000"/>
                      </a:schemeClr>
                    </a:solidFill>
                    <a:latin typeface="+mn-ea"/>
                  </a:rPr>
                  <a:t>，</a:t>
                </a:r>
                <a:r>
                  <a:rPr lang="zh-CN" altLang="zh-CN" b="1" kern="100" dirty="0">
                    <a:solidFill>
                      <a:schemeClr val="tx1">
                        <a:lumMod val="75000"/>
                        <a:lumOff val="25000"/>
                      </a:schemeClr>
                    </a:solidFill>
                    <a:latin typeface="+mn-ea"/>
                  </a:rPr>
                  <a:t>所以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 </m:t>
                    </m:r>
                    <m:r>
                      <a:rPr lang="en-US" altLang="zh-CN" b="1" i="1" kern="100" dirty="0" smtClean="0">
                        <a:solidFill>
                          <a:schemeClr val="tx1">
                            <a:lumMod val="75000"/>
                            <a:lumOff val="25000"/>
                          </a:schemeClr>
                        </a:solidFill>
                        <a:latin typeface="Cambria Math" panose="02040503050406030204" pitchFamily="18" charset="0"/>
                      </a:rPr>
                      <m:t>𝒃</m:t>
                    </m:r>
                  </m:oMath>
                </a14:m>
                <a:r>
                  <a:rPr lang="zh-CN" altLang="zh-CN" b="1" kern="100" dirty="0">
                    <a:solidFill>
                      <a:schemeClr val="tx1">
                        <a:lumMod val="75000"/>
                        <a:lumOff val="25000"/>
                      </a:schemeClr>
                    </a:solidFill>
                    <a:latin typeface="+mn-ea"/>
                  </a:rPr>
                  <a:t>，即</a:t>
                </a:r>
                <a:r>
                  <a:rPr lang="zh-CN" altLang="zh-CN" b="1" kern="100" dirty="0">
                    <a:solidFill>
                      <a:srgbClr val="0000FF"/>
                    </a:solidFill>
                    <a:latin typeface="+mn-ea"/>
                  </a:rPr>
                  <a:t>关系</a:t>
                </a:r>
                <a:r>
                  <a:rPr lang="en-US" altLang="zh-CN" b="1" kern="100" dirty="0">
                    <a:solidFill>
                      <a:srgbClr val="0000FF"/>
                    </a:solidFill>
                    <a:latin typeface="+mn-ea"/>
                  </a:rPr>
                  <a:t> </a:t>
                </a:r>
                <a14:m>
                  <m:oMath xmlns:m="http://schemas.openxmlformats.org/officeDocument/2006/math">
                    <m:r>
                      <a:rPr lang="en-US" altLang="zh-CN" b="1" i="1" kern="100" dirty="0" smtClean="0">
                        <a:solidFill>
                          <a:srgbClr val="0000FF"/>
                        </a:solidFill>
                        <a:latin typeface="Cambria Math" panose="02040503050406030204" pitchFamily="18" charset="0"/>
                      </a:rPr>
                      <m:t>≤</m:t>
                    </m:r>
                  </m:oMath>
                </a14:m>
                <a:r>
                  <a:rPr lang="en-US" altLang="zh-CN" b="1" kern="100" dirty="0">
                    <a:solidFill>
                      <a:srgbClr val="0000FF"/>
                    </a:solidFill>
                    <a:latin typeface="+mn-ea"/>
                  </a:rPr>
                  <a:t> </a:t>
                </a:r>
                <a:r>
                  <a:rPr lang="zh-CN" altLang="zh-CN" b="1" kern="100" dirty="0">
                    <a:solidFill>
                      <a:srgbClr val="0000FF"/>
                    </a:solidFill>
                    <a:latin typeface="+mn-ea"/>
                  </a:rPr>
                  <a:t>是反对称的</a:t>
                </a:r>
                <a:r>
                  <a:rPr lang="zh-CN" altLang="zh-CN" b="1" kern="100" dirty="0">
                    <a:solidFill>
                      <a:schemeClr val="tx1">
                        <a:lumMod val="75000"/>
                        <a:lumOff val="25000"/>
                      </a:schemeClr>
                    </a:solidFill>
                    <a:latin typeface="+mn-ea"/>
                  </a:rPr>
                  <a:t>。</a:t>
                </a:r>
              </a:p>
              <a:p>
                <a:pPr algn="just">
                  <a:lnSpc>
                    <a:spcPct val="130000"/>
                  </a:lnSpc>
                  <a:spcBef>
                    <a:spcPts val="600"/>
                  </a:spcBef>
                  <a:buSzPct val="80000"/>
                </a:pPr>
                <a:r>
                  <a:rPr lang="zh-CN" altLang="zh-CN" b="1" kern="100" dirty="0">
                    <a:solidFill>
                      <a:schemeClr val="tx1">
                        <a:lumMod val="75000"/>
                        <a:lumOff val="25000"/>
                      </a:schemeClr>
                    </a:solidFill>
                    <a:latin typeface="+mn-ea"/>
                  </a:rPr>
                  <a:t>对任意</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m:t>
                    </m:r>
                    <m:r>
                      <a:rPr lang="en-US" altLang="zh-CN" b="1" i="1" kern="100" dirty="0" smtClean="0">
                        <a:solidFill>
                          <a:schemeClr val="tx1">
                            <a:lumMod val="75000"/>
                            <a:lumOff val="25000"/>
                          </a:schemeClr>
                        </a:solidFill>
                        <a:latin typeface="Cambria Math" panose="02040503050406030204" pitchFamily="18" charset="0"/>
                      </a:rPr>
                      <m:t>𝒃</m:t>
                    </m:r>
                    <m:r>
                      <a:rPr lang="en-US" altLang="zh-CN" b="1" i="1" kern="100" dirty="0" smtClean="0">
                        <a:solidFill>
                          <a:schemeClr val="tx1">
                            <a:lumMod val="75000"/>
                            <a:lumOff val="25000"/>
                          </a:schemeClr>
                        </a:solidFill>
                        <a:latin typeface="Cambria Math" panose="02040503050406030204" pitchFamily="18" charset="0"/>
                      </a:rPr>
                      <m:t>, </m:t>
                    </m:r>
                    <m:r>
                      <a:rPr lang="en-US" altLang="zh-CN" b="1" i="1" kern="100" dirty="0" err="1">
                        <a:solidFill>
                          <a:schemeClr val="tx1">
                            <a:lumMod val="75000"/>
                            <a:lumOff val="25000"/>
                          </a:schemeClr>
                        </a:solidFill>
                        <a:latin typeface="Cambria Math" panose="02040503050406030204" pitchFamily="18" charset="0"/>
                      </a:rPr>
                      <m:t>𝒄</m:t>
                    </m:r>
                    <m:r>
                      <a:rPr lang="en-US" altLang="zh-CN" b="1" i="1" kern="100" dirty="0" err="1">
                        <a:solidFill>
                          <a:schemeClr val="tx1">
                            <a:lumMod val="75000"/>
                            <a:lumOff val="25000"/>
                          </a:schemeClr>
                        </a:solidFill>
                        <a:latin typeface="Cambria Math" panose="02040503050406030204" pitchFamily="18" charset="0"/>
                      </a:rPr>
                      <m:t>∈</m:t>
                    </m:r>
                    <m:r>
                      <a:rPr lang="en-US" altLang="zh-CN" b="1" i="1" kern="100" dirty="0" err="1">
                        <a:solidFill>
                          <a:schemeClr val="tx1">
                            <a:lumMod val="75000"/>
                            <a:lumOff val="25000"/>
                          </a:schemeClr>
                        </a:solidFill>
                        <a:latin typeface="Cambria Math" panose="02040503050406030204" pitchFamily="18" charset="0"/>
                      </a:rPr>
                      <m:t>𝑳</m:t>
                    </m:r>
                  </m:oMath>
                </a14:m>
                <a:r>
                  <a:rPr lang="zh-CN" altLang="zh-CN" b="1" kern="100" dirty="0">
                    <a:solidFill>
                      <a:schemeClr val="tx1">
                        <a:lumMod val="75000"/>
                        <a:lumOff val="25000"/>
                      </a:schemeClr>
                    </a:solidFill>
                    <a:latin typeface="+mn-ea"/>
                  </a:rPr>
                  <a:t>，若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 </m:t>
                    </m:r>
                    <m:r>
                      <a:rPr lang="en-US" altLang="zh-CN" b="1" i="1" kern="100" dirty="0" smtClean="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𝒄</m:t>
                    </m:r>
                    <m:r>
                      <a:rPr lang="zh-CN"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根据</a:t>
                </a:r>
                <a:r>
                  <a:rPr lang="en-US" altLang="zh-CN" b="1" kern="100" dirty="0">
                    <a:solidFill>
                      <a:schemeClr val="tx1">
                        <a:lumMod val="75000"/>
                        <a:lumOff val="25000"/>
                      </a:schemeClr>
                    </a:solidFill>
                    <a:latin typeface="+mn-ea"/>
                  </a:rPr>
                  <a:t>≤</a:t>
                </a:r>
                <a:r>
                  <a:rPr lang="zh-CN" altLang="zh-CN" b="1" kern="100" dirty="0">
                    <a:solidFill>
                      <a:schemeClr val="tx1">
                        <a:lumMod val="75000"/>
                        <a:lumOff val="25000"/>
                      </a:schemeClr>
                    </a:solidFill>
                    <a:latin typeface="+mn-ea"/>
                  </a:rPr>
                  <a:t>的定义有</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en-US"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𝒃</m:t>
                    </m:r>
                  </m:oMath>
                </a14:m>
                <a:endParaRPr lang="zh-CN" altLang="zh-CN" b="1" kern="100" dirty="0">
                  <a:solidFill>
                    <a:schemeClr val="tx1">
                      <a:lumMod val="75000"/>
                      <a:lumOff val="25000"/>
                    </a:schemeClr>
                  </a:solidFill>
                  <a:latin typeface="+mn-ea"/>
                </a:endParaRPr>
              </a:p>
              <a:p>
                <a:pPr algn="just">
                  <a:lnSpc>
                    <a:spcPct val="130000"/>
                  </a:lnSpc>
                  <a:spcBef>
                    <a:spcPts val="600"/>
                  </a:spcBef>
                  <a:buSzPct val="80000"/>
                </a:pPr>
                <a:r>
                  <a:rPr lang="zh-CN" altLang="zh-CN" b="1" kern="100" dirty="0">
                    <a:solidFill>
                      <a:schemeClr val="tx1">
                        <a:lumMod val="75000"/>
                        <a:lumOff val="25000"/>
                      </a:schemeClr>
                    </a:solidFill>
                    <a:latin typeface="+mn-ea"/>
                  </a:rPr>
                  <a:t>由结合律知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en-US" b="1" i="1" kern="100" dirty="0">
                        <a:solidFill>
                          <a:schemeClr val="tx1">
                            <a:lumMod val="75000"/>
                            <a:lumOff val="25000"/>
                          </a:schemeClr>
                        </a:solidFill>
                        <a:latin typeface="Cambria Math" panose="02040503050406030204" pitchFamily="18" charset="0"/>
                      </a:rPr>
                      <m:t>。</m:t>
                    </m:r>
                  </m:oMath>
                </a14:m>
                <a:endParaRPr lang="zh-CN" altLang="zh-CN" b="1" kern="100" dirty="0">
                  <a:solidFill>
                    <a:schemeClr val="tx1">
                      <a:lumMod val="75000"/>
                      <a:lumOff val="25000"/>
                    </a:schemeClr>
                  </a:solidFill>
                  <a:latin typeface="+mn-ea"/>
                </a:endParaRPr>
              </a:p>
              <a:p>
                <a:pPr algn="just">
                  <a:lnSpc>
                    <a:spcPct val="130000"/>
                  </a:lnSpc>
                  <a:spcBef>
                    <a:spcPts val="600"/>
                  </a:spcBef>
                  <a:buSzPct val="80000"/>
                </a:pPr>
                <a:r>
                  <a:rPr lang="zh-CN" altLang="zh-CN" b="1" kern="100" dirty="0">
                    <a:solidFill>
                      <a:schemeClr val="tx1">
                        <a:lumMod val="75000"/>
                        <a:lumOff val="25000"/>
                      </a:schemeClr>
                    </a:solidFill>
                    <a:latin typeface="+mn-ea"/>
                  </a:rPr>
                  <a:t>所以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 </m:t>
                    </m:r>
                    <m:r>
                      <a:rPr lang="en-US" altLang="zh-CN" b="1" i="1" kern="100" dirty="0" smtClean="0">
                        <a:solidFill>
                          <a:schemeClr val="tx1">
                            <a:lumMod val="75000"/>
                            <a:lumOff val="25000"/>
                          </a:schemeClr>
                        </a:solidFill>
                        <a:latin typeface="Cambria Math" panose="02040503050406030204" pitchFamily="18" charset="0"/>
                      </a:rPr>
                      <m:t>𝒄</m:t>
                    </m:r>
                  </m:oMath>
                </a14:m>
                <a:r>
                  <a:rPr lang="zh-CN" altLang="zh-CN" b="1" kern="100" dirty="0">
                    <a:solidFill>
                      <a:schemeClr val="tx1">
                        <a:lumMod val="75000"/>
                        <a:lumOff val="25000"/>
                      </a:schemeClr>
                    </a:solidFill>
                    <a:latin typeface="+mn-ea"/>
                  </a:rPr>
                  <a:t>，即</a:t>
                </a:r>
                <a:r>
                  <a:rPr lang="zh-CN" altLang="zh-CN" b="1" kern="100" dirty="0">
                    <a:solidFill>
                      <a:srgbClr val="0000FF"/>
                    </a:solidFill>
                    <a:latin typeface="+mn-ea"/>
                  </a:rPr>
                  <a:t>关系</a:t>
                </a:r>
                <a:r>
                  <a:rPr lang="en-US" altLang="zh-CN" b="1" kern="100" dirty="0">
                    <a:solidFill>
                      <a:srgbClr val="0000FF"/>
                    </a:solidFill>
                    <a:latin typeface="+mn-ea"/>
                  </a:rPr>
                  <a:t> </a:t>
                </a:r>
                <a14:m>
                  <m:oMath xmlns:m="http://schemas.openxmlformats.org/officeDocument/2006/math">
                    <m:r>
                      <a:rPr lang="en-US" altLang="zh-CN" b="1" i="1" kern="100" dirty="0" smtClean="0">
                        <a:solidFill>
                          <a:srgbClr val="0000FF"/>
                        </a:solidFill>
                        <a:latin typeface="Cambria Math" panose="02040503050406030204" pitchFamily="18" charset="0"/>
                      </a:rPr>
                      <m:t>≤</m:t>
                    </m:r>
                  </m:oMath>
                </a14:m>
                <a:r>
                  <a:rPr lang="en-US" altLang="zh-CN" b="1" kern="100" dirty="0">
                    <a:solidFill>
                      <a:srgbClr val="0000FF"/>
                    </a:solidFill>
                    <a:latin typeface="+mn-ea"/>
                  </a:rPr>
                  <a:t> </a:t>
                </a:r>
                <a:r>
                  <a:rPr lang="zh-CN" altLang="zh-CN" b="1" kern="100" dirty="0">
                    <a:solidFill>
                      <a:srgbClr val="0000FF"/>
                    </a:solidFill>
                    <a:latin typeface="+mn-ea"/>
                  </a:rPr>
                  <a:t>是传递的</a:t>
                </a:r>
                <a:r>
                  <a:rPr lang="zh-CN" altLang="zh-CN" b="1" kern="100" dirty="0">
                    <a:solidFill>
                      <a:schemeClr val="tx1">
                        <a:lumMod val="75000"/>
                        <a:lumOff val="25000"/>
                      </a:schemeClr>
                    </a:solidFill>
                    <a:latin typeface="+mn-ea"/>
                  </a:rPr>
                  <a:t>。</a:t>
                </a:r>
              </a:p>
              <a:p>
                <a:pPr>
                  <a:lnSpc>
                    <a:spcPct val="130000"/>
                  </a:lnSpc>
                  <a:spcBef>
                    <a:spcPts val="600"/>
                  </a:spcBef>
                  <a:buSzPct val="80000"/>
                </a:pPr>
                <a:r>
                  <a:rPr lang="zh-CN" altLang="zh-CN" b="1" kern="100" dirty="0">
                    <a:solidFill>
                      <a:schemeClr val="tx1">
                        <a:lumMod val="75000"/>
                        <a:lumOff val="25000"/>
                      </a:schemeClr>
                    </a:solidFill>
                    <a:latin typeface="+mn-ea"/>
                  </a:rPr>
                  <a:t>故</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 ≤ </m:t>
                    </m:r>
                  </m:oMath>
                </a14:m>
                <a:r>
                  <a:rPr lang="zh-CN" altLang="zh-CN" b="1" kern="100" dirty="0">
                    <a:solidFill>
                      <a:schemeClr val="tx1">
                        <a:lumMod val="75000"/>
                        <a:lumOff val="25000"/>
                      </a:schemeClr>
                    </a:solidFill>
                    <a:latin typeface="+mn-ea"/>
                  </a:rPr>
                  <a:t>是一个偏序关系，即</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&lt;</m:t>
                    </m:r>
                    <m:r>
                      <a:rPr lang="en-US" altLang="zh-CN" b="1" i="1" kern="100" dirty="0" smtClean="0">
                        <a:solidFill>
                          <a:schemeClr val="tx1">
                            <a:lumMod val="75000"/>
                            <a:lumOff val="25000"/>
                          </a:schemeClr>
                        </a:solidFill>
                        <a:latin typeface="Cambria Math" panose="02040503050406030204" pitchFamily="18" charset="0"/>
                      </a:rPr>
                      <m:t>𝑳</m:t>
                    </m:r>
                    <m:r>
                      <a:rPr lang="en-US" altLang="zh-CN" b="1" i="1" kern="100" dirty="0" smtClean="0">
                        <a:solidFill>
                          <a:schemeClr val="tx1">
                            <a:lumMod val="75000"/>
                            <a:lumOff val="25000"/>
                          </a:schemeClr>
                        </a:solidFill>
                        <a:latin typeface="Cambria Math" panose="02040503050406030204" pitchFamily="18" charset="0"/>
                      </a:rPr>
                      <m:t>, ≤ &gt;</m:t>
                    </m:r>
                  </m:oMath>
                </a14:m>
                <a:r>
                  <a:rPr lang="zh-CN" altLang="zh-CN" b="1" kern="100" dirty="0">
                    <a:solidFill>
                      <a:schemeClr val="tx1">
                        <a:lumMod val="75000"/>
                        <a:lumOff val="25000"/>
                      </a:schemeClr>
                    </a:solidFill>
                    <a:latin typeface="+mn-ea"/>
                  </a:rPr>
                  <a:t>是一个偏序集。</a:t>
                </a:r>
              </a:p>
            </p:txBody>
          </p:sp>
        </mc:Choice>
        <mc:Fallback xmlns="">
          <p:sp>
            <p:nvSpPr>
              <p:cNvPr id="18" name="文本框 17">
                <a:extLst>
                  <a:ext uri="{FF2B5EF4-FFF2-40B4-BE49-F238E27FC236}">
                    <a16:creationId xmlns:a16="http://schemas.microsoft.com/office/drawing/2014/main" id="{731AF0C3-5A46-4A88-AD3A-E9E64D1876BE}"/>
                  </a:ext>
                </a:extLst>
              </p:cNvPr>
              <p:cNvSpPr txBox="1">
                <a:spLocks noRot="1" noChangeAspect="1" noMove="1" noResize="1" noEditPoints="1" noAdjustHandles="1" noChangeArrowheads="1" noChangeShapeType="1" noTextEdit="1"/>
              </p:cNvSpPr>
              <p:nvPr/>
            </p:nvSpPr>
            <p:spPr>
              <a:xfrm>
                <a:off x="774699" y="1067594"/>
                <a:ext cx="10506076" cy="4828373"/>
              </a:xfrm>
              <a:prstGeom prst="rect">
                <a:avLst/>
              </a:prstGeom>
              <a:blipFill>
                <a:blip r:embed="rId5"/>
                <a:stretch>
                  <a:fillRect l="-870" r="-870" b="-2020"/>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08423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3287-0DF4-4820-BEDB-99FEA31F314E}"/>
              </a:ext>
            </a:extLst>
          </p:cNvPr>
          <p:cNvSpPr>
            <a:spLocks noGrp="1"/>
          </p:cNvSpPr>
          <p:nvPr>
            <p:ph type="title"/>
          </p:nvPr>
        </p:nvSpPr>
        <p:spPr/>
        <p:txBody>
          <a:bodyPr/>
          <a:lstStyle/>
          <a:p>
            <a:r>
              <a:rPr lang="zh-CN" altLang="en-US" dirty="0"/>
              <a:t>代数格</a:t>
            </a:r>
            <a:r>
              <a:rPr lang="en-US" altLang="zh-CN" dirty="0">
                <a:sym typeface="Wingdings" panose="05000000000000000000" pitchFamily="2" charset="2"/>
              </a:rPr>
              <a:t></a:t>
            </a:r>
            <a:r>
              <a:rPr lang="zh-CN" altLang="en-US" dirty="0">
                <a:sym typeface="Wingdings" panose="05000000000000000000" pitchFamily="2" charset="2"/>
              </a:rPr>
              <a:t>偏序格</a:t>
            </a:r>
            <a:endParaRPr lang="zh-CN" altLang="en-US" dirty="0"/>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31AF0C3-5A46-4A88-AD3A-E9E64D1876BE}"/>
                  </a:ext>
                </a:extLst>
              </p:cNvPr>
              <p:cNvSpPr txBox="1"/>
              <p:nvPr/>
            </p:nvSpPr>
            <p:spPr>
              <a:xfrm>
                <a:off x="841375" y="1067594"/>
                <a:ext cx="10439400" cy="4905317"/>
              </a:xfrm>
              <a:prstGeom prst="rect">
                <a:avLst/>
              </a:prstGeom>
              <a:noFill/>
            </p:spPr>
            <p:txBody>
              <a:bodyPr wrap="square">
                <a:spAutoFit/>
              </a:bodyPr>
              <a:lstStyle/>
              <a:p>
                <a:pPr algn="just">
                  <a:lnSpc>
                    <a:spcPct val="130000"/>
                  </a:lnSpc>
                  <a:spcBef>
                    <a:spcPts val="600"/>
                  </a:spcBef>
                  <a:buSzPct val="80000"/>
                </a:pPr>
                <a:r>
                  <a:rPr lang="zh-CN" altLang="zh-CN" b="1" kern="100" dirty="0">
                    <a:solidFill>
                      <a:srgbClr val="FF0000"/>
                    </a:solidFill>
                    <a:latin typeface="+mn-ea"/>
                  </a:rPr>
                  <a:t>证明</a:t>
                </a:r>
                <a:r>
                  <a:rPr lang="zh-CN" altLang="zh-CN" b="1" kern="100" dirty="0">
                    <a:solidFill>
                      <a:schemeClr val="tx1">
                        <a:lumMod val="75000"/>
                        <a:lumOff val="25000"/>
                      </a:schemeClr>
                    </a:solidFill>
                    <a:latin typeface="+mn-ea"/>
                  </a:rPr>
                  <a:t>  （</a:t>
                </a:r>
                <a:r>
                  <a:rPr lang="en-US" altLang="zh-CN" b="1" kern="100" dirty="0">
                    <a:solidFill>
                      <a:schemeClr val="tx1">
                        <a:lumMod val="75000"/>
                        <a:lumOff val="25000"/>
                      </a:schemeClr>
                    </a:solidFill>
                    <a:latin typeface="+mn-ea"/>
                  </a:rPr>
                  <a:t>2</a:t>
                </a:r>
                <a:r>
                  <a:rPr lang="zh-CN" altLang="zh-CN" b="1" kern="100" dirty="0">
                    <a:solidFill>
                      <a:schemeClr val="tx1">
                        <a:lumMod val="75000"/>
                        <a:lumOff val="25000"/>
                      </a:schemeClr>
                    </a:solidFill>
                    <a:latin typeface="+mn-ea"/>
                  </a:rPr>
                  <a:t>）</a:t>
                </a:r>
                <a:r>
                  <a:rPr lang="zh-CN" altLang="zh-CN" b="1" kern="100" dirty="0">
                    <a:solidFill>
                      <a:srgbClr val="CC00CC"/>
                    </a:solidFill>
                    <a:latin typeface="+mn-ea"/>
                  </a:rPr>
                  <a:t>再证明对任意</a:t>
                </a:r>
                <a14:m>
                  <m:oMath xmlns:m="http://schemas.openxmlformats.org/officeDocument/2006/math">
                    <m:r>
                      <a:rPr lang="en-US" altLang="zh-CN" b="1" i="1" kern="100" dirty="0" smtClean="0">
                        <a:solidFill>
                          <a:srgbClr val="CC00CC"/>
                        </a:solidFill>
                        <a:latin typeface="Cambria Math" panose="02040503050406030204" pitchFamily="18" charset="0"/>
                      </a:rPr>
                      <m:t>𝒂</m:t>
                    </m:r>
                    <m:r>
                      <a:rPr lang="en-US" altLang="zh-CN" b="1" i="1" kern="100" dirty="0" smtClean="0">
                        <a:solidFill>
                          <a:srgbClr val="CC00CC"/>
                        </a:solidFill>
                        <a:latin typeface="Cambria Math" panose="02040503050406030204" pitchFamily="18" charset="0"/>
                      </a:rPr>
                      <m:t>, </m:t>
                    </m:r>
                    <m:r>
                      <a:rPr lang="en-US" altLang="zh-CN" b="1" i="1" kern="100" dirty="0" smtClean="0">
                        <a:solidFill>
                          <a:srgbClr val="CC00CC"/>
                        </a:solidFill>
                        <a:latin typeface="Cambria Math" panose="02040503050406030204" pitchFamily="18" charset="0"/>
                      </a:rPr>
                      <m:t>𝒃</m:t>
                    </m:r>
                    <m:r>
                      <a:rPr lang="en-US" altLang="zh-CN" b="1" i="1" kern="100" dirty="0" smtClean="0">
                        <a:solidFill>
                          <a:srgbClr val="CC00CC"/>
                        </a:solidFill>
                        <a:latin typeface="Cambria Math" panose="02040503050406030204" pitchFamily="18" charset="0"/>
                        <a:ea typeface="Cambria Math" panose="02040503050406030204" pitchFamily="18" charset="0"/>
                      </a:rPr>
                      <m:t>∈</m:t>
                    </m:r>
                    <m:r>
                      <a:rPr lang="en-US" altLang="zh-CN" b="1" i="1" kern="100" dirty="0" smtClean="0">
                        <a:solidFill>
                          <a:srgbClr val="CC00CC"/>
                        </a:solidFill>
                        <a:latin typeface="Cambria Math" panose="02040503050406030204" pitchFamily="18" charset="0"/>
                        <a:ea typeface="Cambria Math" panose="02040503050406030204" pitchFamily="18" charset="0"/>
                      </a:rPr>
                      <m:t>𝑳</m:t>
                    </m:r>
                  </m:oMath>
                </a14:m>
                <a:r>
                  <a:rPr lang="zh-CN" altLang="zh-CN" b="1" kern="100" dirty="0">
                    <a:solidFill>
                      <a:srgbClr val="CC00CC"/>
                    </a:solidFill>
                    <a:latin typeface="+mn-ea"/>
                  </a:rPr>
                  <a:t>，</a:t>
                </a:r>
                <a14:m>
                  <m:oMath xmlns:m="http://schemas.openxmlformats.org/officeDocument/2006/math">
                    <m:r>
                      <a:rPr lang="en-US" altLang="zh-CN" b="1" i="1" kern="100" dirty="0" smtClean="0">
                        <a:solidFill>
                          <a:srgbClr val="CC00CC"/>
                        </a:solidFill>
                        <a:latin typeface="Cambria Math" panose="02040503050406030204" pitchFamily="18" charset="0"/>
                      </a:rPr>
                      <m:t>{</m:t>
                    </m:r>
                    <m:r>
                      <a:rPr lang="en-US" altLang="zh-CN" b="1" i="1" kern="100" dirty="0" smtClean="0">
                        <a:solidFill>
                          <a:srgbClr val="CC00CC"/>
                        </a:solidFill>
                        <a:latin typeface="Cambria Math" panose="02040503050406030204" pitchFamily="18" charset="0"/>
                      </a:rPr>
                      <m:t>𝒂</m:t>
                    </m:r>
                    <m:r>
                      <a:rPr lang="en-US" altLang="zh-CN" b="1" i="1" kern="100" dirty="0" smtClean="0">
                        <a:solidFill>
                          <a:srgbClr val="CC00CC"/>
                        </a:solidFill>
                        <a:latin typeface="Cambria Math" panose="02040503050406030204" pitchFamily="18" charset="0"/>
                      </a:rPr>
                      <m:t>, </m:t>
                    </m:r>
                    <m:r>
                      <a:rPr lang="en-US" altLang="zh-CN" b="1" i="1" kern="100" dirty="0" smtClean="0">
                        <a:solidFill>
                          <a:srgbClr val="CC00CC"/>
                        </a:solidFill>
                        <a:latin typeface="Cambria Math" panose="02040503050406030204" pitchFamily="18" charset="0"/>
                      </a:rPr>
                      <m:t>𝒃</m:t>
                    </m:r>
                    <m:r>
                      <a:rPr lang="en-US" altLang="zh-CN" b="1" i="1" kern="100" dirty="0" smtClean="0">
                        <a:solidFill>
                          <a:srgbClr val="CC00CC"/>
                        </a:solidFill>
                        <a:latin typeface="Cambria Math" panose="02040503050406030204" pitchFamily="18" charset="0"/>
                      </a:rPr>
                      <m:t>}</m:t>
                    </m:r>
                  </m:oMath>
                </a14:m>
                <a:r>
                  <a:rPr lang="zh-CN" altLang="zh-CN" b="1" kern="100" dirty="0">
                    <a:solidFill>
                      <a:srgbClr val="CC00CC"/>
                    </a:solidFill>
                    <a:latin typeface="+mn-ea"/>
                  </a:rPr>
                  <a:t>存在最大下界和最小上界</a:t>
                </a:r>
                <a:r>
                  <a:rPr lang="zh-CN" altLang="zh-CN" b="1" kern="100" dirty="0">
                    <a:solidFill>
                      <a:schemeClr val="tx1">
                        <a:lumMod val="75000"/>
                        <a:lumOff val="25000"/>
                      </a:schemeClr>
                    </a:solidFill>
                    <a:latin typeface="+mn-ea"/>
                  </a:rPr>
                  <a:t>。</a:t>
                </a:r>
                <a:endParaRPr lang="en-US" altLang="zh-CN" b="1" kern="100" dirty="0">
                  <a:solidFill>
                    <a:schemeClr val="tx1">
                      <a:lumMod val="75000"/>
                      <a:lumOff val="25000"/>
                    </a:schemeClr>
                  </a:solidFill>
                  <a:latin typeface="+mn-ea"/>
                </a:endParaRPr>
              </a:p>
              <a:p>
                <a:pPr algn="just">
                  <a:lnSpc>
                    <a:spcPct val="130000"/>
                  </a:lnSpc>
                  <a:spcBef>
                    <a:spcPts val="600"/>
                  </a:spcBef>
                  <a:buSzPct val="80000"/>
                </a:pPr>
                <a:r>
                  <a:rPr lang="zh-CN" altLang="zh-CN" b="1" kern="100" dirty="0">
                    <a:solidFill>
                      <a:schemeClr val="tx1">
                        <a:lumMod val="75000"/>
                        <a:lumOff val="25000"/>
                      </a:schemeClr>
                    </a:solidFill>
                    <a:latin typeface="+mn-ea"/>
                  </a:rPr>
                  <a:t>由吸收律</a:t>
                </a:r>
                <a:r>
                  <a:rPr lang="zh-CN" altLang="en-US" b="1" kern="100" dirty="0">
                    <a:solidFill>
                      <a:schemeClr val="tx1">
                        <a:lumMod val="75000"/>
                        <a:lumOff val="25000"/>
                      </a:schemeClr>
                    </a:solidFill>
                    <a:latin typeface="+mn-ea"/>
                  </a:rPr>
                  <a:t>：</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en-US"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oMath>
                </a14:m>
                <a:endParaRPr lang="zh-CN" altLang="zh-CN" b="1" kern="100" dirty="0">
                  <a:solidFill>
                    <a:schemeClr val="tx1">
                      <a:lumMod val="75000"/>
                      <a:lumOff val="25000"/>
                    </a:schemeClr>
                  </a:solidFill>
                  <a:latin typeface="+mn-ea"/>
                </a:endParaRPr>
              </a:p>
              <a:p>
                <a:pPr algn="just">
                  <a:lnSpc>
                    <a:spcPct val="130000"/>
                  </a:lnSpc>
                  <a:spcBef>
                    <a:spcPts val="600"/>
                  </a:spcBef>
                  <a:buSzPct val="80000"/>
                </a:pPr>
                <a:r>
                  <a:rPr lang="zh-CN" altLang="zh-CN" b="1" kern="100" dirty="0">
                    <a:solidFill>
                      <a:schemeClr val="tx1">
                        <a:lumMod val="75000"/>
                        <a:lumOff val="25000"/>
                      </a:schemeClr>
                    </a:solidFill>
                    <a:latin typeface="+mn-ea"/>
                  </a:rPr>
                  <a:t>因此，</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oMath>
                </a14:m>
                <a:r>
                  <a:rPr lang="zh-CN" altLang="zh-CN" b="1" kern="100" dirty="0">
                    <a:solidFill>
                      <a:schemeClr val="tx1">
                        <a:lumMod val="75000"/>
                        <a:lumOff val="25000"/>
                      </a:schemeClr>
                    </a:solidFill>
                    <a:latin typeface="+mn-ea"/>
                  </a:rPr>
                  <a:t>是</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m:t>
                    </m:r>
                    <m:r>
                      <a:rPr lang="en-US" altLang="zh-CN" b="1" i="1" kern="100" dirty="0" smtClean="0">
                        <a:solidFill>
                          <a:schemeClr val="tx1">
                            <a:lumMod val="75000"/>
                            <a:lumOff val="25000"/>
                          </a:schemeClr>
                        </a:solidFill>
                        <a:latin typeface="Cambria Math" panose="02040503050406030204" pitchFamily="18" charset="0"/>
                      </a:rPr>
                      <m:t>𝒃</m:t>
                    </m:r>
                    <m:r>
                      <a:rPr lang="en-US" altLang="zh-CN" b="1" i="1" kern="100" dirty="0" smtClean="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的一个上界。</a:t>
                </a:r>
              </a:p>
              <a:p>
                <a:pPr indent="266700" algn="just">
                  <a:lnSpc>
                    <a:spcPct val="130000"/>
                  </a:lnSpc>
                  <a:spcBef>
                    <a:spcPts val="600"/>
                  </a:spcBef>
                  <a:buSzPct val="80000"/>
                </a:pPr>
                <a:r>
                  <a:rPr lang="zh-CN" altLang="zh-CN" b="1" kern="100" dirty="0">
                    <a:solidFill>
                      <a:schemeClr val="tx1">
                        <a:lumMod val="75000"/>
                        <a:lumOff val="25000"/>
                      </a:schemeClr>
                    </a:solidFill>
                    <a:latin typeface="+mn-ea"/>
                  </a:rPr>
                  <a:t>设</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𝒄</m:t>
                    </m:r>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𝑳</m:t>
                    </m:r>
                  </m:oMath>
                </a14:m>
                <a:r>
                  <a:rPr lang="zh-CN" altLang="zh-CN" b="1" kern="100" dirty="0">
                    <a:solidFill>
                      <a:schemeClr val="tx1">
                        <a:lumMod val="75000"/>
                        <a:lumOff val="25000"/>
                      </a:schemeClr>
                    </a:solidFill>
                    <a:latin typeface="+mn-ea"/>
                  </a:rPr>
                  <a:t>是</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m:t>
                    </m:r>
                    <m:r>
                      <a:rPr lang="en-US" altLang="zh-CN" b="1" i="1" kern="100" dirty="0" smtClean="0">
                        <a:solidFill>
                          <a:schemeClr val="tx1">
                            <a:lumMod val="75000"/>
                            <a:lumOff val="25000"/>
                          </a:schemeClr>
                        </a:solidFill>
                        <a:latin typeface="Cambria Math" panose="02040503050406030204" pitchFamily="18" charset="0"/>
                      </a:rPr>
                      <m:t>𝒃</m:t>
                    </m:r>
                    <m:r>
                      <a:rPr lang="en-US" altLang="zh-CN" b="1" i="1" kern="100" dirty="0" smtClean="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的任意一个上界，即</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 ≤ </m:t>
                    </m:r>
                    <m:r>
                      <a:rPr lang="en-US" altLang="zh-CN" b="1" i="1" kern="100" dirty="0" smtClean="0">
                        <a:solidFill>
                          <a:schemeClr val="tx1">
                            <a:lumMod val="75000"/>
                            <a:lumOff val="25000"/>
                          </a:schemeClr>
                        </a:solidFill>
                        <a:latin typeface="Cambria Math" panose="02040503050406030204" pitchFamily="18" charset="0"/>
                      </a:rPr>
                      <m:t>𝒄</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𝒄</m:t>
                    </m:r>
                    <m:r>
                      <a:rPr lang="zh-CN"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于是有</a:t>
                </a:r>
              </a:p>
              <a:p>
                <a:pPr algn="just">
                  <a:lnSpc>
                    <a:spcPct val="130000"/>
                  </a:lnSpc>
                  <a:spcBef>
                    <a:spcPts val="600"/>
                  </a:spcBef>
                  <a:buSzPct val="80000"/>
                </a:pPr>
                <a14:m>
                  <m:oMathPara xmlns:m="http://schemas.openxmlformats.org/officeDocument/2006/math">
                    <m:oMathParaPr>
                      <m:jc m:val="centerGroup"/>
                    </m:oMathParaPr>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𝒄</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𝒄</m:t>
                      </m:r>
                    </m:oMath>
                  </m:oMathPara>
                </a14:m>
                <a:endParaRPr lang="zh-CN" altLang="zh-CN" b="1" kern="100" dirty="0">
                  <a:solidFill>
                    <a:schemeClr val="tx1">
                      <a:lumMod val="75000"/>
                      <a:lumOff val="25000"/>
                    </a:schemeClr>
                  </a:solidFill>
                  <a:latin typeface="+mn-ea"/>
                </a:endParaRPr>
              </a:p>
              <a:p>
                <a:pPr algn="just">
                  <a:lnSpc>
                    <a:spcPct val="130000"/>
                  </a:lnSpc>
                  <a:spcBef>
                    <a:spcPts val="600"/>
                  </a:spcBef>
                  <a:buSzPct val="80000"/>
                </a:pPr>
                <a:r>
                  <a:rPr lang="zh-CN" altLang="zh-CN" b="1" kern="100" dirty="0">
                    <a:solidFill>
                      <a:schemeClr val="tx1">
                        <a:lumMod val="75000"/>
                        <a:lumOff val="25000"/>
                      </a:schemeClr>
                    </a:solidFill>
                    <a:latin typeface="+mn-ea"/>
                  </a:rPr>
                  <a:t>由结合律知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𝒄</m:t>
                    </m:r>
                  </m:oMath>
                </a14:m>
                <a:endParaRPr lang="zh-CN" altLang="zh-CN" b="1" kern="100" dirty="0">
                  <a:solidFill>
                    <a:schemeClr val="tx1">
                      <a:lumMod val="75000"/>
                      <a:lumOff val="25000"/>
                    </a:schemeClr>
                  </a:solidFill>
                  <a:latin typeface="+mn-ea"/>
                </a:endParaRPr>
              </a:p>
              <a:p>
                <a:pPr algn="just">
                  <a:lnSpc>
                    <a:spcPct val="130000"/>
                  </a:lnSpc>
                  <a:spcBef>
                    <a:spcPts val="600"/>
                  </a:spcBef>
                  <a:buSzPct val="80000"/>
                </a:pPr>
                <a:r>
                  <a:rPr lang="zh-CN" altLang="zh-CN" b="1" kern="100" dirty="0">
                    <a:solidFill>
                      <a:schemeClr val="tx1">
                        <a:lumMod val="75000"/>
                        <a:lumOff val="25000"/>
                      </a:schemeClr>
                    </a:solidFill>
                    <a:latin typeface="+mn-ea"/>
                  </a:rPr>
                  <a:t>故有</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𝒄</m:t>
                    </m:r>
                    <m:r>
                      <a:rPr lang="zh-CN"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即</a:t>
                </a:r>
                <a14:m>
                  <m:oMath xmlns:m="http://schemas.openxmlformats.org/officeDocument/2006/math">
                    <m:r>
                      <a:rPr lang="en-US" altLang="zh-CN" b="1" i="1" kern="100" dirty="0" smtClean="0">
                        <a:solidFill>
                          <a:srgbClr val="0000FF"/>
                        </a:solidFill>
                        <a:latin typeface="Cambria Math" panose="02040503050406030204" pitchFamily="18" charset="0"/>
                      </a:rPr>
                      <m:t>𝒂</m:t>
                    </m:r>
                    <m:r>
                      <a:rPr lang="zh-CN" altLang="zh-CN" b="1" i="1" kern="100" dirty="0">
                        <a:solidFill>
                          <a:srgbClr val="0000FF"/>
                        </a:solidFill>
                        <a:latin typeface="Cambria Math" panose="02040503050406030204" pitchFamily="18" charset="0"/>
                      </a:rPr>
                      <m:t>∨</m:t>
                    </m:r>
                    <m:r>
                      <a:rPr lang="en-US" altLang="zh-CN" b="1" i="1" kern="100" dirty="0">
                        <a:solidFill>
                          <a:srgbClr val="0000FF"/>
                        </a:solidFill>
                        <a:latin typeface="Cambria Math" panose="02040503050406030204" pitchFamily="18" charset="0"/>
                      </a:rPr>
                      <m:t>𝒃</m:t>
                    </m:r>
                  </m:oMath>
                </a14:m>
                <a:r>
                  <a:rPr lang="zh-CN" altLang="zh-CN" b="1" kern="100" dirty="0">
                    <a:solidFill>
                      <a:srgbClr val="0000FF"/>
                    </a:solidFill>
                    <a:latin typeface="+mn-ea"/>
                  </a:rPr>
                  <a:t>是</a:t>
                </a:r>
                <a14:m>
                  <m:oMath xmlns:m="http://schemas.openxmlformats.org/officeDocument/2006/math">
                    <m:r>
                      <a:rPr lang="en-US" altLang="zh-CN" b="1" i="1" kern="100" dirty="0" smtClean="0">
                        <a:solidFill>
                          <a:srgbClr val="0000FF"/>
                        </a:solidFill>
                        <a:latin typeface="Cambria Math" panose="02040503050406030204" pitchFamily="18" charset="0"/>
                      </a:rPr>
                      <m:t>{</m:t>
                    </m:r>
                    <m:r>
                      <a:rPr lang="en-US" altLang="zh-CN" b="1" i="1" kern="100" dirty="0" smtClean="0">
                        <a:solidFill>
                          <a:srgbClr val="0000FF"/>
                        </a:solidFill>
                        <a:latin typeface="Cambria Math" panose="02040503050406030204" pitchFamily="18" charset="0"/>
                      </a:rPr>
                      <m:t>𝒂</m:t>
                    </m:r>
                    <m:r>
                      <a:rPr lang="en-US" altLang="zh-CN" b="1" i="1" kern="100" dirty="0" smtClean="0">
                        <a:solidFill>
                          <a:srgbClr val="0000FF"/>
                        </a:solidFill>
                        <a:latin typeface="Cambria Math" panose="02040503050406030204" pitchFamily="18" charset="0"/>
                      </a:rPr>
                      <m:t>, </m:t>
                    </m:r>
                    <m:r>
                      <a:rPr lang="en-US" altLang="zh-CN" b="1" i="1" kern="100" dirty="0" smtClean="0">
                        <a:solidFill>
                          <a:srgbClr val="0000FF"/>
                        </a:solidFill>
                        <a:latin typeface="Cambria Math" panose="02040503050406030204" pitchFamily="18" charset="0"/>
                      </a:rPr>
                      <m:t>𝒃</m:t>
                    </m:r>
                    <m:r>
                      <a:rPr lang="en-US" altLang="zh-CN" b="1" i="1" kern="100" dirty="0" smtClean="0">
                        <a:solidFill>
                          <a:srgbClr val="0000FF"/>
                        </a:solidFill>
                        <a:latin typeface="Cambria Math" panose="02040503050406030204" pitchFamily="18" charset="0"/>
                      </a:rPr>
                      <m:t>}</m:t>
                    </m:r>
                  </m:oMath>
                </a14:m>
                <a:r>
                  <a:rPr lang="zh-CN" altLang="zh-CN" b="1" kern="100" dirty="0">
                    <a:solidFill>
                      <a:srgbClr val="0000FF"/>
                    </a:solidFill>
                    <a:latin typeface="+mn-ea"/>
                  </a:rPr>
                  <a:t>的最小上界</a:t>
                </a:r>
                <a:r>
                  <a:rPr lang="zh-CN" altLang="zh-CN" b="1" kern="100" dirty="0">
                    <a:solidFill>
                      <a:schemeClr val="tx1">
                        <a:lumMod val="75000"/>
                        <a:lumOff val="25000"/>
                      </a:schemeClr>
                    </a:solidFill>
                    <a:latin typeface="+mn-ea"/>
                  </a:rPr>
                  <a:t>。</a:t>
                </a:r>
              </a:p>
              <a:p>
                <a:pPr indent="266700" algn="just">
                  <a:lnSpc>
                    <a:spcPct val="130000"/>
                  </a:lnSpc>
                  <a:spcBef>
                    <a:spcPts val="600"/>
                  </a:spcBef>
                  <a:buSzPct val="80000"/>
                </a:pPr>
                <a:r>
                  <a:rPr lang="zh-CN" altLang="zh-CN" b="1" kern="100" dirty="0">
                    <a:solidFill>
                      <a:schemeClr val="tx1">
                        <a:lumMod val="75000"/>
                        <a:lumOff val="25000"/>
                      </a:schemeClr>
                    </a:solidFill>
                    <a:latin typeface="+mn-ea"/>
                  </a:rPr>
                  <a:t>同理，</a:t>
                </a:r>
                <a14:m>
                  <m:oMath xmlns:m="http://schemas.openxmlformats.org/officeDocument/2006/math">
                    <m:r>
                      <a:rPr lang="en-US" altLang="zh-CN" b="1" i="1" kern="100" dirty="0" smtClean="0">
                        <a:solidFill>
                          <a:srgbClr val="0000FF"/>
                        </a:solidFill>
                        <a:latin typeface="Cambria Math" panose="02040503050406030204" pitchFamily="18" charset="0"/>
                      </a:rPr>
                      <m:t>𝒂</m:t>
                    </m:r>
                    <m:r>
                      <a:rPr lang="zh-CN" altLang="zh-CN" b="1" i="1" kern="100" dirty="0">
                        <a:solidFill>
                          <a:srgbClr val="0000FF"/>
                        </a:solidFill>
                        <a:latin typeface="Cambria Math" panose="02040503050406030204" pitchFamily="18" charset="0"/>
                      </a:rPr>
                      <m:t>∧</m:t>
                    </m:r>
                    <m:r>
                      <a:rPr lang="en-US" altLang="zh-CN" b="1" i="1" kern="100" dirty="0">
                        <a:solidFill>
                          <a:srgbClr val="0000FF"/>
                        </a:solidFill>
                        <a:latin typeface="Cambria Math" panose="02040503050406030204" pitchFamily="18" charset="0"/>
                      </a:rPr>
                      <m:t>𝒃</m:t>
                    </m:r>
                  </m:oMath>
                </a14:m>
                <a:r>
                  <a:rPr lang="zh-CN" altLang="zh-CN" b="1" kern="100" dirty="0">
                    <a:solidFill>
                      <a:srgbClr val="0000FF"/>
                    </a:solidFill>
                    <a:latin typeface="+mn-ea"/>
                  </a:rPr>
                  <a:t>是</a:t>
                </a:r>
                <a14:m>
                  <m:oMath xmlns:m="http://schemas.openxmlformats.org/officeDocument/2006/math">
                    <m:r>
                      <a:rPr lang="en-US" altLang="zh-CN" b="1" i="1" kern="100" dirty="0" smtClean="0">
                        <a:solidFill>
                          <a:srgbClr val="0000FF"/>
                        </a:solidFill>
                        <a:latin typeface="Cambria Math" panose="02040503050406030204" pitchFamily="18" charset="0"/>
                      </a:rPr>
                      <m:t>{</m:t>
                    </m:r>
                    <m:r>
                      <a:rPr lang="en-US" altLang="zh-CN" b="1" i="1" kern="100" dirty="0" smtClean="0">
                        <a:solidFill>
                          <a:srgbClr val="0000FF"/>
                        </a:solidFill>
                        <a:latin typeface="Cambria Math" panose="02040503050406030204" pitchFamily="18" charset="0"/>
                      </a:rPr>
                      <m:t>𝒂</m:t>
                    </m:r>
                    <m:r>
                      <a:rPr lang="en-US" altLang="zh-CN" b="1" i="1" kern="100" dirty="0" smtClean="0">
                        <a:solidFill>
                          <a:srgbClr val="0000FF"/>
                        </a:solidFill>
                        <a:latin typeface="Cambria Math" panose="02040503050406030204" pitchFamily="18" charset="0"/>
                      </a:rPr>
                      <m:t>, </m:t>
                    </m:r>
                    <m:r>
                      <a:rPr lang="en-US" altLang="zh-CN" b="1" i="1" kern="100" dirty="0" smtClean="0">
                        <a:solidFill>
                          <a:srgbClr val="0000FF"/>
                        </a:solidFill>
                        <a:latin typeface="Cambria Math" panose="02040503050406030204" pitchFamily="18" charset="0"/>
                      </a:rPr>
                      <m:t>𝒃</m:t>
                    </m:r>
                    <m:r>
                      <a:rPr lang="en-US" altLang="zh-CN" b="1" i="1" kern="100" dirty="0" smtClean="0">
                        <a:solidFill>
                          <a:srgbClr val="0000FF"/>
                        </a:solidFill>
                        <a:latin typeface="Cambria Math" panose="02040503050406030204" pitchFamily="18" charset="0"/>
                      </a:rPr>
                      <m:t>}</m:t>
                    </m:r>
                  </m:oMath>
                </a14:m>
                <a:r>
                  <a:rPr lang="zh-CN" altLang="zh-CN" b="1" kern="100" dirty="0">
                    <a:solidFill>
                      <a:srgbClr val="0000FF"/>
                    </a:solidFill>
                    <a:latin typeface="+mn-ea"/>
                  </a:rPr>
                  <a:t>的最大下界</a:t>
                </a:r>
                <a:r>
                  <a:rPr lang="zh-CN" altLang="zh-CN" b="1" kern="100" dirty="0">
                    <a:solidFill>
                      <a:schemeClr val="tx1">
                        <a:lumMod val="75000"/>
                        <a:lumOff val="25000"/>
                      </a:schemeClr>
                    </a:solidFill>
                    <a:latin typeface="+mn-ea"/>
                  </a:rPr>
                  <a:t>。</a:t>
                </a:r>
              </a:p>
              <a:p>
                <a:pPr algn="just">
                  <a:lnSpc>
                    <a:spcPct val="130000"/>
                  </a:lnSpc>
                  <a:spcBef>
                    <a:spcPts val="600"/>
                  </a:spcBef>
                  <a:buSzPct val="80000"/>
                </a:pPr>
                <a:r>
                  <a:rPr lang="zh-CN" altLang="zh-CN" b="1" kern="100" dirty="0">
                    <a:solidFill>
                      <a:schemeClr val="tx1">
                        <a:lumMod val="75000"/>
                        <a:lumOff val="25000"/>
                      </a:schemeClr>
                    </a:solidFill>
                    <a:latin typeface="+mn-ea"/>
                  </a:rPr>
                  <a:t>故</a:t>
                </a:r>
                <a14:m>
                  <m:oMath xmlns:m="http://schemas.openxmlformats.org/officeDocument/2006/math">
                    <m:r>
                      <a:rPr lang="en-US" altLang="zh-CN" b="1" i="1" kern="100" dirty="0" smtClean="0">
                        <a:solidFill>
                          <a:srgbClr val="CC00CC"/>
                        </a:solidFill>
                        <a:latin typeface="Cambria Math" panose="02040503050406030204" pitchFamily="18" charset="0"/>
                      </a:rPr>
                      <m:t>&lt;</m:t>
                    </m:r>
                    <m:r>
                      <a:rPr lang="en-US" altLang="zh-CN" b="1" i="1" kern="100" dirty="0" smtClean="0">
                        <a:solidFill>
                          <a:srgbClr val="CC00CC"/>
                        </a:solidFill>
                        <a:latin typeface="Cambria Math" panose="02040503050406030204" pitchFamily="18" charset="0"/>
                      </a:rPr>
                      <m:t>𝑳</m:t>
                    </m:r>
                    <m:r>
                      <a:rPr lang="en-US" altLang="zh-CN" b="1" i="1" kern="100" dirty="0" smtClean="0">
                        <a:solidFill>
                          <a:srgbClr val="CC00CC"/>
                        </a:solidFill>
                        <a:latin typeface="Cambria Math" panose="02040503050406030204" pitchFamily="18" charset="0"/>
                      </a:rPr>
                      <m:t>, ≤ &gt;</m:t>
                    </m:r>
                  </m:oMath>
                </a14:m>
                <a:r>
                  <a:rPr lang="zh-CN" altLang="zh-CN" b="1" kern="100" dirty="0">
                    <a:solidFill>
                      <a:srgbClr val="CC00CC"/>
                    </a:solidFill>
                    <a:latin typeface="+mn-ea"/>
                  </a:rPr>
                  <a:t>是一个格</a:t>
                </a:r>
                <a:r>
                  <a:rPr lang="zh-CN" altLang="zh-CN" b="1" kern="100" dirty="0">
                    <a:solidFill>
                      <a:schemeClr val="tx1">
                        <a:lumMod val="75000"/>
                        <a:lumOff val="25000"/>
                      </a:schemeClr>
                    </a:solidFill>
                    <a:latin typeface="+mn-ea"/>
                  </a:rPr>
                  <a:t>。</a:t>
                </a:r>
              </a:p>
            </p:txBody>
          </p:sp>
        </mc:Choice>
        <mc:Fallback xmlns="">
          <p:sp>
            <p:nvSpPr>
              <p:cNvPr id="18" name="文本框 17">
                <a:extLst>
                  <a:ext uri="{FF2B5EF4-FFF2-40B4-BE49-F238E27FC236}">
                    <a16:creationId xmlns:a16="http://schemas.microsoft.com/office/drawing/2014/main" id="{731AF0C3-5A46-4A88-AD3A-E9E64D1876BE}"/>
                  </a:ext>
                </a:extLst>
              </p:cNvPr>
              <p:cNvSpPr txBox="1">
                <a:spLocks noRot="1" noChangeAspect="1" noMove="1" noResize="1" noEditPoints="1" noAdjustHandles="1" noChangeArrowheads="1" noChangeShapeType="1" noTextEdit="1"/>
              </p:cNvSpPr>
              <p:nvPr/>
            </p:nvSpPr>
            <p:spPr>
              <a:xfrm>
                <a:off x="841375" y="1067594"/>
                <a:ext cx="10439400" cy="4905317"/>
              </a:xfrm>
              <a:prstGeom prst="rect">
                <a:avLst/>
              </a:prstGeom>
              <a:blipFill>
                <a:blip r:embed="rId5"/>
                <a:stretch>
                  <a:fillRect l="-876" b="-1863"/>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58747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CD1-2428-4A5A-8788-29026EC5CEEC}"/>
              </a:ext>
            </a:extLst>
          </p:cNvPr>
          <p:cNvSpPr>
            <a:spLocks noGrp="1"/>
          </p:cNvSpPr>
          <p:nvPr>
            <p:ph type="title"/>
          </p:nvPr>
        </p:nvSpPr>
        <p:spPr/>
        <p:txBody>
          <a:bodyPr/>
          <a:lstStyle/>
          <a:p>
            <a:r>
              <a:rPr lang="zh-CN" altLang="en-US" dirty="0"/>
              <a:t>代数格</a:t>
            </a:r>
            <a:r>
              <a:rPr lang="en-US" altLang="zh-CN" dirty="0">
                <a:sym typeface="Wingdings" panose="05000000000000000000" pitchFamily="2" charset="2"/>
              </a:rPr>
              <a:t></a:t>
            </a:r>
            <a:r>
              <a:rPr lang="zh-CN" altLang="en-US" dirty="0">
                <a:sym typeface="Wingdings" panose="05000000000000000000" pitchFamily="2" charset="2"/>
              </a:rPr>
              <a:t>偏序格</a:t>
            </a:r>
            <a:endParaRPr lang="zh-CN" altLang="en-US" dirty="0"/>
          </a:p>
        </p:txBody>
      </p:sp>
      <mc:AlternateContent xmlns:mc="http://schemas.openxmlformats.org/markup-compatibility/2006" xmlns:a14="http://schemas.microsoft.com/office/drawing/2010/main">
        <mc:Choice Requires="a14">
          <p:sp>
            <p:nvSpPr>
              <p:cNvPr id="7" name="内容占位符 6">
                <a:extLst>
                  <a:ext uri="{FF2B5EF4-FFF2-40B4-BE49-F238E27FC236}">
                    <a16:creationId xmlns:a16="http://schemas.microsoft.com/office/drawing/2014/main" id="{54DD351F-273D-4E14-BA40-D2DB79DC1209}"/>
                  </a:ext>
                </a:extLst>
              </p:cNvPr>
              <p:cNvSpPr>
                <a:spLocks noGrp="1"/>
              </p:cNvSpPr>
              <p:nvPr>
                <p:ph idx="1"/>
              </p:nvPr>
            </p:nvSpPr>
            <p:spPr>
              <a:xfrm>
                <a:off x="688975" y="1258094"/>
                <a:ext cx="10366057" cy="4343399"/>
              </a:xfrm>
            </p:spPr>
            <p:txBody>
              <a:bodyPr>
                <a:normAutofit/>
              </a:bodyPr>
              <a:lstStyle/>
              <a:p>
                <a:pPr algn="just">
                  <a:lnSpc>
                    <a:spcPct val="130000"/>
                  </a:lnSpc>
                  <a:spcBef>
                    <a:spcPts val="600"/>
                  </a:spcBef>
                </a:pPr>
                <a:r>
                  <a:rPr lang="zh-CN" altLang="zh-CN" kern="100" dirty="0">
                    <a:effectLst/>
                    <a:latin typeface="+mn-ea"/>
                  </a:rPr>
                  <a:t>定理</a:t>
                </a:r>
                <a:r>
                  <a:rPr lang="en-US" altLang="zh-CN" kern="100" dirty="0">
                    <a:effectLst/>
                    <a:latin typeface="+mn-ea"/>
                  </a:rPr>
                  <a:t>10.2</a:t>
                </a:r>
                <a:r>
                  <a:rPr lang="zh-CN" altLang="zh-CN" kern="100" dirty="0">
                    <a:effectLst/>
                    <a:latin typeface="+mn-ea"/>
                  </a:rPr>
                  <a:t>给出了</a:t>
                </a:r>
                <a:r>
                  <a:rPr lang="zh-CN" altLang="zh-CN" kern="100" dirty="0">
                    <a:solidFill>
                      <a:srgbClr val="0000FF"/>
                    </a:solidFill>
                    <a:effectLst/>
                    <a:latin typeface="+mn-ea"/>
                  </a:rPr>
                  <a:t>从代数格</a:t>
                </a:r>
                <a14:m>
                  <m:oMath xmlns:m="http://schemas.openxmlformats.org/officeDocument/2006/math">
                    <m:r>
                      <a:rPr lang="en-US" altLang="zh-CN" b="1" i="1" kern="100" dirty="0" smtClean="0">
                        <a:solidFill>
                          <a:srgbClr val="0000FF"/>
                        </a:solidFill>
                        <a:effectLst/>
                        <a:latin typeface="Cambria Math" panose="02040503050406030204" pitchFamily="18" charset="0"/>
                      </a:rPr>
                      <m:t>&lt;</m:t>
                    </m:r>
                    <m:r>
                      <a:rPr lang="en-US" altLang="zh-CN" b="1" i="1" kern="100" dirty="0" smtClean="0">
                        <a:solidFill>
                          <a:srgbClr val="0000FF"/>
                        </a:solidFill>
                        <a:effectLst/>
                        <a:latin typeface="Cambria Math" panose="02040503050406030204" pitchFamily="18" charset="0"/>
                      </a:rPr>
                      <m:t>𝑳</m:t>
                    </m:r>
                    <m:r>
                      <a:rPr lang="en-US" altLang="zh-CN" b="1" i="1" kern="100" dirty="0" smtClean="0">
                        <a:solidFill>
                          <a:srgbClr val="0000FF"/>
                        </a:solidFill>
                        <a:effectLst/>
                        <a:latin typeface="Cambria Math" panose="02040503050406030204" pitchFamily="18" charset="0"/>
                      </a:rPr>
                      <m:t>, ⋀, ⋁&gt;</m:t>
                    </m:r>
                  </m:oMath>
                </a14:m>
                <a:r>
                  <a:rPr lang="zh-CN" altLang="zh-CN" kern="100" dirty="0">
                    <a:solidFill>
                      <a:srgbClr val="0000FF"/>
                    </a:solidFill>
                    <a:effectLst/>
                    <a:latin typeface="+mn-ea"/>
                  </a:rPr>
                  <a:t>确定偏序格</a:t>
                </a:r>
                <a14:m>
                  <m:oMath xmlns:m="http://schemas.openxmlformats.org/officeDocument/2006/math">
                    <m:r>
                      <a:rPr lang="en-US" altLang="zh-CN" b="1" i="1" kern="100" dirty="0" smtClean="0">
                        <a:solidFill>
                          <a:srgbClr val="0000FF"/>
                        </a:solidFill>
                        <a:effectLst/>
                        <a:latin typeface="Cambria Math" panose="02040503050406030204" pitchFamily="18" charset="0"/>
                      </a:rPr>
                      <m:t>&lt;</m:t>
                    </m:r>
                    <m:r>
                      <a:rPr lang="en-US" altLang="zh-CN" b="1" i="1" kern="100" dirty="0" smtClean="0">
                        <a:solidFill>
                          <a:srgbClr val="0000FF"/>
                        </a:solidFill>
                        <a:effectLst/>
                        <a:latin typeface="Cambria Math" panose="02040503050406030204" pitchFamily="18" charset="0"/>
                      </a:rPr>
                      <m:t>𝑳</m:t>
                    </m:r>
                    <m:r>
                      <a:rPr lang="en-US" altLang="zh-CN" b="1" i="1" kern="100" dirty="0" smtClean="0">
                        <a:solidFill>
                          <a:srgbClr val="0000FF"/>
                        </a:solidFill>
                        <a:effectLst/>
                        <a:latin typeface="Cambria Math" panose="02040503050406030204" pitchFamily="18" charset="0"/>
                      </a:rPr>
                      <m:t>, ≤ &gt;</m:t>
                    </m:r>
                  </m:oMath>
                </a14:m>
                <a:r>
                  <a:rPr lang="zh-CN" altLang="zh-CN" kern="100" dirty="0">
                    <a:effectLst/>
                    <a:latin typeface="+mn-ea"/>
                  </a:rPr>
                  <a:t>的方法，这个偏序关系</a:t>
                </a:r>
                <a14:m>
                  <m:oMath xmlns:m="http://schemas.openxmlformats.org/officeDocument/2006/math">
                    <m:r>
                      <a:rPr lang="en-US" altLang="zh-CN" b="1" i="1" kern="100" dirty="0" smtClean="0">
                        <a:effectLst/>
                        <a:latin typeface="Cambria Math" panose="02040503050406030204" pitchFamily="18" charset="0"/>
                      </a:rPr>
                      <m:t>≤ </m:t>
                    </m:r>
                  </m:oMath>
                </a14:m>
                <a:r>
                  <a:rPr lang="zh-CN" altLang="zh-CN" kern="100" dirty="0">
                    <a:effectLst/>
                    <a:latin typeface="+mn-ea"/>
                  </a:rPr>
                  <a:t>称为格</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kern="100" dirty="0">
                    <a:effectLst/>
                    <a:latin typeface="+mn-ea"/>
                  </a:rPr>
                  <a:t>的</a:t>
                </a:r>
                <a:r>
                  <a:rPr lang="zh-CN" altLang="zh-CN" kern="100" dirty="0">
                    <a:solidFill>
                      <a:srgbClr val="FF0000"/>
                    </a:solidFill>
                    <a:effectLst/>
                    <a:latin typeface="+mn-ea"/>
                  </a:rPr>
                  <a:t>自然偏序</a:t>
                </a:r>
                <a:r>
                  <a:rPr lang="zh-CN" altLang="zh-CN" kern="100" dirty="0">
                    <a:effectLst/>
                    <a:latin typeface="+mn-ea"/>
                  </a:rPr>
                  <a:t>。可见，</a:t>
                </a:r>
                <a:r>
                  <a:rPr lang="zh-CN" altLang="zh-CN" kern="100" dirty="0">
                    <a:solidFill>
                      <a:srgbClr val="0000FF"/>
                    </a:solidFill>
                    <a:effectLst/>
                    <a:latin typeface="+mn-ea"/>
                  </a:rPr>
                  <a:t>代数格和偏序格是一一对应的，只是一个概念的两种不同表达方式而已</a:t>
                </a:r>
                <a:r>
                  <a:rPr lang="zh-CN" altLang="zh-CN" kern="100" dirty="0">
                    <a:effectLst/>
                    <a:latin typeface="+mn-ea"/>
                  </a:rPr>
                  <a:t>。后面我们不再区分这两种方式，直接使用</a:t>
                </a:r>
                <a14:m>
                  <m:oMath xmlns:m="http://schemas.openxmlformats.org/officeDocument/2006/math">
                    <m:r>
                      <a:rPr lang="en-US" altLang="zh-CN" b="1" i="1" kern="100" dirty="0" smtClean="0">
                        <a:effectLst/>
                        <a:latin typeface="Cambria Math" panose="02040503050406030204" pitchFamily="18" charset="0"/>
                      </a:rPr>
                      <m:t>≤</m:t>
                    </m:r>
                  </m:oMath>
                </a14:m>
                <a:r>
                  <a:rPr lang="zh-CN" altLang="zh-CN" kern="100" dirty="0">
                    <a:effectLst/>
                    <a:latin typeface="+mn-ea"/>
                  </a:rPr>
                  <a:t>代表格对应的偏序关系，</a:t>
                </a:r>
                <a14:m>
                  <m:oMath xmlns:m="http://schemas.openxmlformats.org/officeDocument/2006/math">
                    <m:r>
                      <a:rPr lang="zh-CN" altLang="en-US" b="1" i="1" kern="100" dirty="0" smtClean="0">
                        <a:effectLst/>
                        <a:latin typeface="Cambria Math" panose="02040503050406030204" pitchFamily="18" charset="0"/>
                      </a:rPr>
                      <m:t>⋀</m:t>
                    </m:r>
                  </m:oMath>
                </a14:m>
                <a:r>
                  <a:rPr lang="zh-CN" altLang="zh-CN" kern="100" dirty="0">
                    <a:effectLst/>
                    <a:latin typeface="+mn-ea"/>
                  </a:rPr>
                  <a:t>和</a:t>
                </a:r>
                <a14:m>
                  <m:oMath xmlns:m="http://schemas.openxmlformats.org/officeDocument/2006/math">
                    <m:r>
                      <a:rPr lang="zh-CN" altLang="en-US" b="1" i="1" kern="100" dirty="0" smtClean="0">
                        <a:effectLst/>
                        <a:latin typeface="Cambria Math" panose="02040503050406030204" pitchFamily="18" charset="0"/>
                        <a:cs typeface="宋体" panose="02010600030101010101" pitchFamily="2" charset="-122"/>
                      </a:rPr>
                      <m:t>⋁</m:t>
                    </m:r>
                  </m:oMath>
                </a14:m>
                <a:r>
                  <a:rPr lang="zh-CN" altLang="zh-CN" kern="100" dirty="0">
                    <a:effectLst/>
                    <a:latin typeface="+mn-ea"/>
                  </a:rPr>
                  <a:t>对应格的两种自然运算。</a:t>
                </a:r>
              </a:p>
              <a:p>
                <a:pPr>
                  <a:lnSpc>
                    <a:spcPct val="130000"/>
                  </a:lnSpc>
                  <a:spcBef>
                    <a:spcPts val="600"/>
                  </a:spcBef>
                </a:pPr>
                <a:r>
                  <a:rPr lang="zh-CN" altLang="zh-CN" dirty="0">
                    <a:effectLst/>
                    <a:latin typeface="+mn-ea"/>
                    <a:cs typeface="Times New Roman" panose="02020603050405020304" pitchFamily="18" charset="0"/>
                  </a:rPr>
                  <a:t>定义</a:t>
                </a:r>
                <a:r>
                  <a:rPr lang="en-US" altLang="zh-CN" dirty="0">
                    <a:effectLst/>
                    <a:latin typeface="+mn-ea"/>
                  </a:rPr>
                  <a:t>10.2</a:t>
                </a:r>
                <a:r>
                  <a:rPr lang="zh-CN" altLang="zh-CN" dirty="0">
                    <a:effectLst/>
                    <a:latin typeface="+mn-ea"/>
                    <a:cs typeface="Times New Roman" panose="02020603050405020304" pitchFamily="18" charset="0"/>
                  </a:rPr>
                  <a:t>用了</a:t>
                </a:r>
                <a:r>
                  <a:rPr lang="en-US" altLang="zh-CN" dirty="0">
                    <a:effectLst/>
                    <a:latin typeface="+mn-ea"/>
                  </a:rPr>
                  <a:t>2</a:t>
                </a:r>
                <a:r>
                  <a:rPr lang="zh-CN" altLang="zh-CN" dirty="0">
                    <a:effectLst/>
                    <a:latin typeface="+mn-ea"/>
                    <a:cs typeface="Times New Roman" panose="02020603050405020304" pitchFamily="18" charset="0"/>
                  </a:rPr>
                  <a:t>个运算，</a:t>
                </a:r>
                <a:r>
                  <a:rPr lang="en-US" altLang="zh-CN" dirty="0">
                    <a:effectLst/>
                    <a:latin typeface="+mn-ea"/>
                  </a:rPr>
                  <a:t>3</a:t>
                </a:r>
                <a:r>
                  <a:rPr lang="zh-CN" altLang="zh-CN" dirty="0">
                    <a:effectLst/>
                    <a:latin typeface="+mn-ea"/>
                    <a:cs typeface="Times New Roman" panose="02020603050405020304" pitchFamily="18" charset="0"/>
                  </a:rPr>
                  <a:t>个定律，</a:t>
                </a:r>
                <a:r>
                  <a:rPr lang="zh-CN" altLang="zh-CN" dirty="0">
                    <a:solidFill>
                      <a:srgbClr val="0000FF"/>
                    </a:solidFill>
                    <a:effectLst/>
                    <a:latin typeface="+mn-ea"/>
                    <a:cs typeface="Times New Roman" panose="02020603050405020304" pitchFamily="18" charset="0"/>
                  </a:rPr>
                  <a:t>共</a:t>
                </a:r>
                <a:r>
                  <a:rPr lang="en-US" altLang="zh-CN" dirty="0">
                    <a:solidFill>
                      <a:srgbClr val="0000FF"/>
                    </a:solidFill>
                    <a:effectLst/>
                    <a:latin typeface="+mn-ea"/>
                  </a:rPr>
                  <a:t>6</a:t>
                </a:r>
                <a:r>
                  <a:rPr lang="zh-CN" altLang="zh-CN" dirty="0">
                    <a:solidFill>
                      <a:srgbClr val="0000FF"/>
                    </a:solidFill>
                    <a:effectLst/>
                    <a:latin typeface="+mn-ea"/>
                    <a:cs typeface="Times New Roman" panose="02020603050405020304" pitchFamily="18" charset="0"/>
                  </a:rPr>
                  <a:t>个条件确定了格的定义</a:t>
                </a:r>
                <a:r>
                  <a:rPr lang="zh-CN" altLang="zh-CN" dirty="0">
                    <a:effectLst/>
                    <a:latin typeface="+mn-ea"/>
                    <a:cs typeface="Times New Roman" panose="02020603050405020304" pitchFamily="18" charset="0"/>
                  </a:rPr>
                  <a:t>，这</a:t>
                </a:r>
                <a:r>
                  <a:rPr lang="en-US" altLang="zh-CN" dirty="0">
                    <a:effectLst/>
                    <a:latin typeface="+mn-ea"/>
                  </a:rPr>
                  <a:t>6</a:t>
                </a:r>
                <a:r>
                  <a:rPr lang="zh-CN" altLang="zh-CN" dirty="0">
                    <a:effectLst/>
                    <a:latin typeface="+mn-ea"/>
                    <a:cs typeface="Times New Roman" panose="02020603050405020304" pitchFamily="18" charset="0"/>
                  </a:rPr>
                  <a:t>个条件还可进一步减少成四条件、三条件、二条件甚至一条件的等价定义。但这些等价定义因使用不便，所以用的较少，这里就不再介绍了。</a:t>
                </a:r>
                <a:endParaRPr lang="zh-CN" altLang="en-US" dirty="0">
                  <a:latin typeface="+mn-ea"/>
                </a:endParaRPr>
              </a:p>
            </p:txBody>
          </p:sp>
        </mc:Choice>
        <mc:Fallback xmlns="">
          <p:sp>
            <p:nvSpPr>
              <p:cNvPr id="7" name="内容占位符 6">
                <a:extLst>
                  <a:ext uri="{FF2B5EF4-FFF2-40B4-BE49-F238E27FC236}">
                    <a16:creationId xmlns:a16="http://schemas.microsoft.com/office/drawing/2014/main" id="{54DD351F-273D-4E14-BA40-D2DB79DC1209}"/>
                  </a:ext>
                </a:extLst>
              </p:cNvPr>
              <p:cNvSpPr>
                <a:spLocks noGrp="1" noRot="1" noChangeAspect="1" noMove="1" noResize="1" noEditPoints="1" noAdjustHandles="1" noChangeArrowheads="1" noChangeShapeType="1" noTextEdit="1"/>
              </p:cNvSpPr>
              <p:nvPr>
                <p:ph idx="1"/>
              </p:nvPr>
            </p:nvSpPr>
            <p:spPr>
              <a:xfrm>
                <a:off x="688975" y="1258094"/>
                <a:ext cx="10366057" cy="4343399"/>
              </a:xfrm>
              <a:blipFill>
                <a:blip r:embed="rId5"/>
                <a:stretch>
                  <a:fillRect l="-118" r="-647"/>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69906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1F9921-5C88-41E5-9FAD-A1613C906FBC}"/>
              </a:ext>
            </a:extLst>
          </p:cNvPr>
          <p:cNvSpPr>
            <a:spLocks noGrp="1"/>
          </p:cNvSpPr>
          <p:nvPr>
            <p:ph type="title"/>
          </p:nvPr>
        </p:nvSpPr>
        <p:spPr/>
        <p:txBody>
          <a:bodyPr/>
          <a:lstStyle/>
          <a:p>
            <a:r>
              <a:rPr lang="zh-CN" altLang="en-US" dirty="0"/>
              <a:t>对偶格</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741AEAC-8662-4BA6-988F-22C98AE92C4A}"/>
                  </a:ext>
                </a:extLst>
              </p:cNvPr>
              <p:cNvSpPr>
                <a:spLocks noGrp="1"/>
              </p:cNvSpPr>
              <p:nvPr>
                <p:ph idx="1"/>
              </p:nvPr>
            </p:nvSpPr>
            <p:spPr>
              <a:xfrm>
                <a:off x="460376" y="1143794"/>
                <a:ext cx="10210800" cy="1143000"/>
              </a:xfrm>
            </p:spPr>
            <p:txBody>
              <a:bodyPr>
                <a:noAutofit/>
              </a:bodyPr>
              <a:lstStyle/>
              <a:p>
                <a:r>
                  <a:rPr lang="zh-CN" altLang="zh-CN" dirty="0">
                    <a:effectLst/>
                    <a:latin typeface="+mn-ea"/>
                    <a:cs typeface="Times New Roman" panose="02020603050405020304" pitchFamily="18" charset="0"/>
                  </a:rPr>
                  <a:t>偏序集</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𝑳</m:t>
                    </m:r>
                    <m:r>
                      <a:rPr lang="en-US" altLang="zh-CN" b="1" i="1" dirty="0" smtClean="0">
                        <a:effectLst/>
                        <a:latin typeface="Cambria Math" panose="02040503050406030204" pitchFamily="18" charset="0"/>
                      </a:rPr>
                      <m:t>, ≤ &gt;</m:t>
                    </m:r>
                  </m:oMath>
                </a14:m>
                <a:r>
                  <a:rPr lang="zh-CN" altLang="zh-CN" dirty="0">
                    <a:effectLst/>
                    <a:latin typeface="+mn-ea"/>
                    <a:cs typeface="Times New Roman" panose="02020603050405020304" pitchFamily="18" charset="0"/>
                  </a:rPr>
                  <a:t>是格当且仅当</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𝑳</m:t>
                    </m:r>
                    <m:r>
                      <a:rPr lang="en-US" altLang="zh-CN" b="1" i="1" dirty="0" smtClean="0">
                        <a:effectLst/>
                        <a:latin typeface="Cambria Math" panose="02040503050406030204" pitchFamily="18" charset="0"/>
                      </a:rPr>
                      <m:t>, ≥&gt;</m:t>
                    </m:r>
                  </m:oMath>
                </a14:m>
                <a:r>
                  <a:rPr lang="zh-CN" altLang="zh-CN" dirty="0">
                    <a:effectLst/>
                    <a:latin typeface="+mn-ea"/>
                    <a:cs typeface="Times New Roman" panose="02020603050405020304" pitchFamily="18" charset="0"/>
                  </a:rPr>
                  <a:t>是格，我们称此两个格为</a:t>
                </a:r>
                <a:r>
                  <a:rPr lang="zh-CN" altLang="zh-CN" dirty="0">
                    <a:solidFill>
                      <a:srgbClr val="FF0000"/>
                    </a:solidFill>
                    <a:effectLst/>
                    <a:latin typeface="+mn-ea"/>
                    <a:cs typeface="Times New Roman" panose="02020603050405020304" pitchFamily="18" charset="0"/>
                  </a:rPr>
                  <a:t>对偶格</a:t>
                </a:r>
                <a:r>
                  <a:rPr lang="zh-CN" altLang="zh-CN" dirty="0">
                    <a:effectLst/>
                    <a:latin typeface="+mn-ea"/>
                    <a:cs typeface="Times New Roman" panose="02020603050405020304" pitchFamily="18" charset="0"/>
                  </a:rPr>
                  <a:t>。</a:t>
                </a:r>
                <a:endParaRPr lang="en-US" altLang="zh-CN" dirty="0">
                  <a:effectLst/>
                  <a:latin typeface="+mn-ea"/>
                  <a:cs typeface="Times New Roman" panose="02020603050405020304" pitchFamily="18" charset="0"/>
                </a:endParaRPr>
              </a:p>
              <a:p>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𝑳</m:t>
                    </m:r>
                    <m:r>
                      <a:rPr lang="en-US" altLang="zh-CN" b="1" i="1" dirty="0" smtClean="0">
                        <a:effectLst/>
                        <a:latin typeface="Cambria Math" panose="02040503050406030204" pitchFamily="18" charset="0"/>
                      </a:rPr>
                      <m:t>,</m:t>
                    </m:r>
                    <m:r>
                      <a:rPr lang="en-US" altLang="zh-CN" i="1" kern="100" dirty="0" smtClean="0">
                        <a:solidFill>
                          <a:schemeClr val="tx1"/>
                        </a:solidFill>
                        <a:latin typeface="Cambria Math" panose="02040503050406030204" pitchFamily="18" charset="0"/>
                        <a:ea typeface="Cambria Math" panose="02040503050406030204" pitchFamily="18" charset="0"/>
                      </a:rPr>
                      <m:t>⋀</m:t>
                    </m:r>
                    <m:r>
                      <a:rPr lang="en-US" altLang="zh-CN" i="1" kern="100" dirty="0">
                        <a:solidFill>
                          <a:schemeClr val="tx1"/>
                        </a:solidFill>
                        <a:latin typeface="Cambria Math" panose="02040503050406030204" pitchFamily="18" charset="0"/>
                      </a:rPr>
                      <m:t>, </m:t>
                    </m:r>
                    <m:r>
                      <a:rPr lang="en-US" altLang="zh-CN" i="1" kern="100" dirty="0">
                        <a:solidFill>
                          <a:schemeClr val="tx1"/>
                        </a:solidFill>
                        <a:latin typeface="Cambria Math" panose="02040503050406030204" pitchFamily="18" charset="0"/>
                        <a:ea typeface="Cambria Math" panose="02040503050406030204" pitchFamily="18" charset="0"/>
                      </a:rPr>
                      <m:t>⋁</m:t>
                    </m:r>
                    <m:r>
                      <a:rPr lang="en-US" altLang="zh-CN" b="1" i="1" dirty="0">
                        <a:effectLst/>
                        <a:latin typeface="Cambria Math" panose="02040503050406030204" pitchFamily="18" charset="0"/>
                      </a:rPr>
                      <m:t>&gt;</m:t>
                    </m:r>
                  </m:oMath>
                </a14:m>
                <a:r>
                  <a:rPr lang="zh-CN" altLang="zh-CN" dirty="0">
                    <a:effectLst/>
                    <a:latin typeface="+mn-ea"/>
                    <a:cs typeface="Times New Roman" panose="02020603050405020304" pitchFamily="18" charset="0"/>
                  </a:rPr>
                  <a:t>与</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𝑳</m:t>
                    </m:r>
                    <m:r>
                      <a:rPr lang="en-US" altLang="zh-CN" b="1" i="1" dirty="0" smtClean="0">
                        <a:effectLst/>
                        <a:latin typeface="Cambria Math" panose="02040503050406030204" pitchFamily="18" charset="0"/>
                      </a:rPr>
                      <m:t>,</m:t>
                    </m:r>
                    <m:r>
                      <a:rPr lang="en-US" altLang="zh-CN" i="1" kern="100" dirty="0">
                        <a:solidFill>
                          <a:schemeClr val="tx1"/>
                        </a:solidFill>
                        <a:latin typeface="Cambria Math" panose="02040503050406030204" pitchFamily="18" charset="0"/>
                        <a:ea typeface="Cambria Math" panose="02040503050406030204" pitchFamily="18" charset="0"/>
                      </a:rPr>
                      <m:t>⋁</m:t>
                    </m:r>
                    <m:r>
                      <a:rPr lang="en-US" altLang="zh-CN" b="1" i="1" dirty="0">
                        <a:effectLst/>
                        <a:latin typeface="Cambria Math" panose="02040503050406030204" pitchFamily="18" charset="0"/>
                      </a:rPr>
                      <m:t>,</m:t>
                    </m:r>
                    <m:r>
                      <a:rPr lang="en-US" altLang="zh-CN" i="1" kern="100" dirty="0">
                        <a:solidFill>
                          <a:schemeClr val="tx1"/>
                        </a:solidFill>
                        <a:latin typeface="Cambria Math" panose="02040503050406030204" pitchFamily="18" charset="0"/>
                        <a:ea typeface="Cambria Math" panose="02040503050406030204" pitchFamily="18" charset="0"/>
                      </a:rPr>
                      <m:t>⋀</m:t>
                    </m:r>
                    <m:r>
                      <a:rPr lang="en-US" altLang="zh-CN" b="1" i="1" dirty="0">
                        <a:effectLst/>
                        <a:latin typeface="Cambria Math" panose="02040503050406030204" pitchFamily="18" charset="0"/>
                      </a:rPr>
                      <m:t>&gt;</m:t>
                    </m:r>
                  </m:oMath>
                </a14:m>
                <a:r>
                  <a:rPr lang="zh-CN" altLang="zh-CN" dirty="0">
                    <a:effectLst/>
                    <a:latin typeface="+mn-ea"/>
                    <a:cs typeface="Times New Roman" panose="02020603050405020304" pitchFamily="18" charset="0"/>
                  </a:rPr>
                  <a:t>也是</a:t>
                </a:r>
                <a:r>
                  <a:rPr lang="zh-CN" altLang="zh-CN" dirty="0">
                    <a:solidFill>
                      <a:srgbClr val="FF0000"/>
                    </a:solidFill>
                    <a:effectLst/>
                    <a:latin typeface="+mn-ea"/>
                    <a:cs typeface="Times New Roman" panose="02020603050405020304" pitchFamily="18" charset="0"/>
                  </a:rPr>
                  <a:t>对偶格</a:t>
                </a:r>
                <a:r>
                  <a:rPr lang="zh-CN" altLang="zh-CN" dirty="0">
                    <a:effectLst/>
                    <a:latin typeface="+mn-ea"/>
                    <a:cs typeface="Times New Roman" panose="02020603050405020304" pitchFamily="18" charset="0"/>
                  </a:rPr>
                  <a:t>。</a:t>
                </a:r>
                <a:endParaRPr lang="en-US" altLang="zh-CN" dirty="0">
                  <a:latin typeface="+mn-ea"/>
                  <a:cs typeface="Times New Roman" panose="02020603050405020304" pitchFamily="18" charset="0"/>
                </a:endParaRPr>
              </a:p>
            </p:txBody>
          </p:sp>
        </mc:Choice>
        <mc:Fallback xmlns="">
          <p:sp>
            <p:nvSpPr>
              <p:cNvPr id="3" name="内容占位符 2">
                <a:extLst>
                  <a:ext uri="{FF2B5EF4-FFF2-40B4-BE49-F238E27FC236}">
                    <a16:creationId xmlns:a16="http://schemas.microsoft.com/office/drawing/2014/main" id="{D741AEAC-8662-4BA6-988F-22C98AE92C4A}"/>
                  </a:ext>
                </a:extLst>
              </p:cNvPr>
              <p:cNvSpPr>
                <a:spLocks noGrp="1" noRot="1" noChangeAspect="1" noMove="1" noResize="1" noEditPoints="1" noAdjustHandles="1" noChangeArrowheads="1" noChangeShapeType="1" noTextEdit="1"/>
              </p:cNvSpPr>
              <p:nvPr>
                <p:ph idx="1"/>
              </p:nvPr>
            </p:nvSpPr>
            <p:spPr>
              <a:xfrm>
                <a:off x="460376" y="1143794"/>
                <a:ext cx="10210800" cy="1143000"/>
              </a:xfrm>
              <a:blipFill>
                <a:blip r:embed="rId5"/>
                <a:stretch>
                  <a:fillRect l="-179" r="-418" b="-16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2B7A1B2-CBE4-4E70-8322-620A566051CE}"/>
                  </a:ext>
                </a:extLst>
              </p:cNvPr>
              <p:cNvSpPr txBox="1"/>
              <p:nvPr/>
            </p:nvSpPr>
            <p:spPr>
              <a:xfrm>
                <a:off x="460376" y="2689882"/>
                <a:ext cx="10963275" cy="1135054"/>
              </a:xfrm>
              <a:prstGeom prst="rect">
                <a:avLst/>
              </a:prstGeom>
              <a:solidFill>
                <a:schemeClr val="bg1">
                  <a:lumMod val="95000"/>
                </a:schemeClr>
              </a:solidFill>
            </p:spPr>
            <p:txBody>
              <a:bodyPr wrap="square">
                <a:spAutoFit/>
              </a:bodyPr>
              <a:lstStyle/>
              <a:p>
                <a:pPr>
                  <a:lnSpc>
                    <a:spcPct val="150000"/>
                  </a:lnSpc>
                </a:pPr>
                <a:r>
                  <a:rPr lang="zh-CN" altLang="zh-CN" b="1" kern="1100" dirty="0">
                    <a:solidFill>
                      <a:srgbClr val="0000FF"/>
                    </a:solidFill>
                    <a:effectLst/>
                    <a:latin typeface="+mn-ea"/>
                  </a:rPr>
                  <a:t>定义</a:t>
                </a:r>
                <a:r>
                  <a:rPr lang="en-US" altLang="zh-CN" b="1" kern="100" dirty="0">
                    <a:solidFill>
                      <a:srgbClr val="0000FF"/>
                    </a:solidFill>
                    <a:effectLst/>
                    <a:latin typeface="+mn-ea"/>
                  </a:rPr>
                  <a:t>10.</a:t>
                </a:r>
                <a:r>
                  <a:rPr lang="en-US" altLang="zh-CN" b="1" kern="1100" dirty="0">
                    <a:solidFill>
                      <a:srgbClr val="0000FF"/>
                    </a:solidFill>
                    <a:effectLst/>
                    <a:latin typeface="+mn-ea"/>
                  </a:rPr>
                  <a:t>3</a:t>
                </a:r>
                <a:r>
                  <a:rPr lang="en-US" altLang="zh-CN" b="1" kern="100" dirty="0">
                    <a:solidFill>
                      <a:srgbClr val="0000FF"/>
                    </a:solidFill>
                    <a:effectLst/>
                    <a:latin typeface="+mn-ea"/>
                  </a:rPr>
                  <a:t>  </a:t>
                </a:r>
                <a:r>
                  <a:rPr lang="zh-CN" altLang="zh-CN" b="1"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𝑷</m:t>
                    </m:r>
                  </m:oMath>
                </a14:m>
                <a:r>
                  <a:rPr lang="zh-CN" altLang="zh-CN" b="1" kern="100" dirty="0">
                    <a:effectLst/>
                    <a:latin typeface="+mn-ea"/>
                  </a:rPr>
                  <a:t>是含有格中元素以及符号</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a:effectLst/>
                        <a:latin typeface="Cambria Math" panose="02040503050406030204" pitchFamily="18" charset="0"/>
                      </a:rPr>
                      <m:t>≥</m:t>
                    </m:r>
                    <m:r>
                      <a:rPr lang="en-US" altLang="zh-CN" b="1" i="1" kern="100" dirty="0" smtClean="0">
                        <a:effectLst/>
                        <a:latin typeface="Cambria Math" panose="02040503050406030204" pitchFamily="18" charset="0"/>
                      </a:rPr>
                      <m:t>,</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 </m:t>
                    </m:r>
                    <m:r>
                      <a:rPr lang="zh-CN" altLang="zh-CN" b="1" i="1" kern="100" dirty="0">
                        <a:effectLst/>
                        <a:latin typeface="Cambria Math" panose="02040503050406030204" pitchFamily="18" charset="0"/>
                        <a:cs typeface="宋体" panose="02010600030101010101" pitchFamily="2" charset="-122"/>
                      </a:rPr>
                      <m:t>∨</m:t>
                    </m:r>
                  </m:oMath>
                </a14:m>
                <a:r>
                  <a:rPr lang="zh-CN" altLang="zh-CN" b="1" kern="100" dirty="0">
                    <a:effectLst/>
                    <a:latin typeface="+mn-ea"/>
                  </a:rPr>
                  <a:t>的命题，则把</a:t>
                </a:r>
                <a:r>
                  <a:rPr lang="en-US" altLang="zh-CN" b="1" kern="100" dirty="0">
                    <a:effectLst/>
                    <a:latin typeface="+mn-ea"/>
                  </a:rPr>
                  <a:t>P</a:t>
                </a:r>
                <a:r>
                  <a:rPr lang="zh-CN" altLang="zh-CN" b="1" kern="100" dirty="0">
                    <a:effectLst/>
                    <a:latin typeface="+mn-ea"/>
                  </a:rPr>
                  <a:t>中所有</a:t>
                </a:r>
                <a14:m>
                  <m:oMath xmlns:m="http://schemas.openxmlformats.org/officeDocument/2006/math">
                    <m:r>
                      <a:rPr lang="zh-CN" altLang="zh-CN" b="1" i="1" kern="100" dirty="0" smtClean="0">
                        <a:solidFill>
                          <a:srgbClr val="0000FF"/>
                        </a:solidFill>
                        <a:effectLst/>
                        <a:latin typeface="Cambria Math" panose="02040503050406030204" pitchFamily="18" charset="0"/>
                      </a:rPr>
                      <m:t>“</m:t>
                    </m:r>
                    <m:r>
                      <a:rPr lang="en-US" altLang="zh-CN" b="1" i="1" kern="100" dirty="0">
                        <a:solidFill>
                          <a:srgbClr val="0000FF"/>
                        </a:solidFill>
                        <a:effectLst/>
                        <a:latin typeface="Cambria Math" panose="02040503050406030204" pitchFamily="18" charset="0"/>
                      </a:rPr>
                      <m:t>≤</m:t>
                    </m:r>
                    <m:r>
                      <a:rPr lang="zh-CN" altLang="zh-CN" b="1" i="1" kern="100" dirty="0">
                        <a:solidFill>
                          <a:srgbClr val="0000FF"/>
                        </a:solidFill>
                        <a:effectLst/>
                        <a:latin typeface="Cambria Math" panose="02040503050406030204" pitchFamily="18" charset="0"/>
                      </a:rPr>
                      <m:t>”</m:t>
                    </m:r>
                  </m:oMath>
                </a14:m>
                <a:r>
                  <a:rPr lang="zh-CN" altLang="zh-CN" b="1" kern="100" dirty="0">
                    <a:solidFill>
                      <a:srgbClr val="0000FF"/>
                    </a:solidFill>
                    <a:effectLst/>
                    <a:latin typeface="+mn-ea"/>
                  </a:rPr>
                  <a:t>和</a:t>
                </a:r>
                <a14:m>
                  <m:oMath xmlns:m="http://schemas.openxmlformats.org/officeDocument/2006/math">
                    <m:r>
                      <a:rPr lang="zh-CN" altLang="zh-CN" b="1" i="1" kern="100" dirty="0" smtClean="0">
                        <a:solidFill>
                          <a:srgbClr val="0000FF"/>
                        </a:solidFill>
                        <a:effectLst/>
                        <a:latin typeface="Cambria Math" panose="02040503050406030204" pitchFamily="18" charset="0"/>
                      </a:rPr>
                      <m:t>“</m:t>
                    </m:r>
                    <m:r>
                      <a:rPr lang="en-US" altLang="zh-CN" b="1" i="1" kern="100" dirty="0">
                        <a:solidFill>
                          <a:srgbClr val="0000FF"/>
                        </a:solidFill>
                        <a:effectLst/>
                        <a:latin typeface="Cambria Math" panose="02040503050406030204" pitchFamily="18" charset="0"/>
                      </a:rPr>
                      <m:t>≥</m:t>
                    </m:r>
                    <m:r>
                      <a:rPr lang="zh-CN" altLang="zh-CN" b="1" i="1" kern="100" dirty="0">
                        <a:solidFill>
                          <a:srgbClr val="0000FF"/>
                        </a:solidFill>
                        <a:effectLst/>
                        <a:latin typeface="Cambria Math" panose="02040503050406030204" pitchFamily="18" charset="0"/>
                      </a:rPr>
                      <m:t>”</m:t>
                    </m:r>
                  </m:oMath>
                </a14:m>
                <a:r>
                  <a:rPr lang="zh-CN" altLang="zh-CN" b="1" kern="100" dirty="0">
                    <a:solidFill>
                      <a:srgbClr val="0000FF"/>
                    </a:solidFill>
                    <a:effectLst/>
                    <a:latin typeface="+mn-ea"/>
                  </a:rPr>
                  <a:t>互换，</a:t>
                </a:r>
                <a14:m>
                  <m:oMath xmlns:m="http://schemas.openxmlformats.org/officeDocument/2006/math">
                    <m:r>
                      <a:rPr lang="zh-CN" altLang="zh-CN" b="1" i="1" kern="100" dirty="0" smtClean="0">
                        <a:solidFill>
                          <a:srgbClr val="0000FF"/>
                        </a:solidFill>
                        <a:effectLst/>
                        <a:latin typeface="Cambria Math" panose="02040503050406030204" pitchFamily="18" charset="0"/>
                      </a:rPr>
                      <m:t>“∧”</m:t>
                    </m:r>
                  </m:oMath>
                </a14:m>
                <a:r>
                  <a:rPr lang="zh-CN" altLang="zh-CN" b="1" kern="100" dirty="0">
                    <a:solidFill>
                      <a:srgbClr val="0000FF"/>
                    </a:solidFill>
                    <a:effectLst/>
                    <a:latin typeface="+mn-ea"/>
                  </a:rPr>
                  <a:t>和</a:t>
                </a:r>
                <a14:m>
                  <m:oMath xmlns:m="http://schemas.openxmlformats.org/officeDocument/2006/math">
                    <m:r>
                      <a:rPr lang="zh-CN" altLang="zh-CN" b="1" i="1" kern="100" dirty="0" smtClean="0">
                        <a:solidFill>
                          <a:srgbClr val="0000FF"/>
                        </a:solidFill>
                        <a:effectLst/>
                        <a:latin typeface="Cambria Math" panose="02040503050406030204" pitchFamily="18" charset="0"/>
                      </a:rPr>
                      <m:t>“</m:t>
                    </m:r>
                    <m:r>
                      <a:rPr lang="zh-CN" altLang="zh-CN" b="1" i="1" kern="100" dirty="0">
                        <a:solidFill>
                          <a:srgbClr val="0000FF"/>
                        </a:solidFill>
                        <a:effectLst/>
                        <a:latin typeface="Cambria Math" panose="02040503050406030204" pitchFamily="18" charset="0"/>
                        <a:cs typeface="宋体" panose="02010600030101010101" pitchFamily="2" charset="-122"/>
                      </a:rPr>
                      <m:t>∨</m:t>
                    </m:r>
                    <m:r>
                      <a:rPr lang="zh-CN" altLang="zh-CN" b="1" i="1" kern="100" dirty="0">
                        <a:solidFill>
                          <a:srgbClr val="0000FF"/>
                        </a:solidFill>
                        <a:effectLst/>
                        <a:latin typeface="Cambria Math" panose="02040503050406030204" pitchFamily="18" charset="0"/>
                      </a:rPr>
                      <m:t>”</m:t>
                    </m:r>
                  </m:oMath>
                </a14:m>
                <a:r>
                  <a:rPr lang="zh-CN" altLang="zh-CN" b="1" kern="100" dirty="0">
                    <a:solidFill>
                      <a:srgbClr val="0000FF"/>
                    </a:solidFill>
                    <a:effectLst/>
                    <a:latin typeface="+mn-ea"/>
                  </a:rPr>
                  <a:t>互换</a:t>
                </a:r>
                <a:r>
                  <a:rPr lang="zh-CN" altLang="zh-CN" b="1" kern="100" dirty="0">
                    <a:effectLst/>
                    <a:latin typeface="+mn-ea"/>
                  </a:rPr>
                  <a:t>之后得到的命题</a:t>
                </a:r>
                <a14:m>
                  <m:oMath xmlns:m="http://schemas.openxmlformats.org/officeDocument/2006/math">
                    <m:r>
                      <a:rPr lang="en-US" altLang="zh-CN" b="1" i="1" kern="100" dirty="0" smtClean="0">
                        <a:effectLst/>
                        <a:latin typeface="Cambria Math" panose="02040503050406030204" pitchFamily="18" charset="0"/>
                      </a:rPr>
                      <m:t>𝑷</m:t>
                    </m:r>
                    <m:r>
                      <a:rPr lang="en-US" altLang="zh-CN" b="1" i="1" kern="100" dirty="0">
                        <a:effectLst/>
                        <a:latin typeface="Cambria Math" panose="02040503050406030204" pitchFamily="18" charset="0"/>
                        <a:sym typeface="Symbol" panose="05050102010706020507" pitchFamily="18" charset="2"/>
                      </a:rPr>
                      <m:t></m:t>
                    </m:r>
                  </m:oMath>
                </a14:m>
                <a:r>
                  <a:rPr lang="zh-CN" altLang="zh-CN" b="1" kern="100" dirty="0">
                    <a:effectLst/>
                    <a:latin typeface="+mn-ea"/>
                  </a:rPr>
                  <a:t>称为</a:t>
                </a:r>
                <a14:m>
                  <m:oMath xmlns:m="http://schemas.openxmlformats.org/officeDocument/2006/math">
                    <m:r>
                      <a:rPr lang="en-US" altLang="zh-CN" b="1" i="1" kern="100" dirty="0" smtClean="0">
                        <a:effectLst/>
                        <a:latin typeface="Cambria Math" panose="02040503050406030204" pitchFamily="18" charset="0"/>
                      </a:rPr>
                      <m:t>𝑷</m:t>
                    </m:r>
                  </m:oMath>
                </a14:m>
                <a:r>
                  <a:rPr lang="zh-CN" altLang="zh-CN" b="1" kern="100" dirty="0">
                    <a:effectLst/>
                    <a:latin typeface="+mn-ea"/>
                  </a:rPr>
                  <a:t>的</a:t>
                </a:r>
                <a:r>
                  <a:rPr lang="zh-CN" altLang="zh-CN" b="1" kern="100" dirty="0">
                    <a:solidFill>
                      <a:srgbClr val="FF0000"/>
                    </a:solidFill>
                    <a:effectLst/>
                    <a:latin typeface="+mn-ea"/>
                  </a:rPr>
                  <a:t>对偶命题</a:t>
                </a:r>
                <a:r>
                  <a:rPr lang="zh-CN" altLang="zh-CN" b="1" kern="100" dirty="0">
                    <a:effectLst/>
                    <a:latin typeface="+mn-ea"/>
                  </a:rPr>
                  <a:t>。</a:t>
                </a:r>
              </a:p>
            </p:txBody>
          </p:sp>
        </mc:Choice>
        <mc:Fallback xmlns="">
          <p:sp>
            <p:nvSpPr>
              <p:cNvPr id="5" name="文本框 4">
                <a:extLst>
                  <a:ext uri="{FF2B5EF4-FFF2-40B4-BE49-F238E27FC236}">
                    <a16:creationId xmlns:a16="http://schemas.microsoft.com/office/drawing/2014/main" id="{22B7A1B2-CBE4-4E70-8322-620A566051CE}"/>
                  </a:ext>
                </a:extLst>
              </p:cNvPr>
              <p:cNvSpPr txBox="1">
                <a:spLocks noRot="1" noChangeAspect="1" noMove="1" noResize="1" noEditPoints="1" noAdjustHandles="1" noChangeArrowheads="1" noChangeShapeType="1" noTextEdit="1"/>
              </p:cNvSpPr>
              <p:nvPr/>
            </p:nvSpPr>
            <p:spPr>
              <a:xfrm>
                <a:off x="460376" y="2689882"/>
                <a:ext cx="10963275" cy="1135054"/>
              </a:xfrm>
              <a:prstGeom prst="rect">
                <a:avLst/>
              </a:prstGeom>
              <a:blipFill>
                <a:blip r:embed="rId6"/>
                <a:stretch>
                  <a:fillRect l="-890" b="-11828"/>
                </a:stretch>
              </a:blipFill>
            </p:spPr>
            <p:txBody>
              <a:bodyPr/>
              <a:lstStyle/>
              <a:p>
                <a:r>
                  <a:rPr lang="zh-CN" altLang="en-US">
                    <a:noFill/>
                  </a:rPr>
                  <a:t> </a:t>
                </a:r>
              </a:p>
            </p:txBody>
          </p:sp>
        </mc:Fallback>
      </mc:AlternateContent>
      <p:sp>
        <p:nvSpPr>
          <p:cNvPr id="4" name="Rectangle 3">
            <a:extLst>
              <a:ext uri="{FF2B5EF4-FFF2-40B4-BE49-F238E27FC236}">
                <a16:creationId xmlns:a16="http://schemas.microsoft.com/office/drawing/2014/main" id="{0FEB0C73-3673-43A9-B147-C684F47B14D0}"/>
              </a:ext>
            </a:extLst>
          </p:cNvPr>
          <p:cNvSpPr/>
          <p:nvPr/>
        </p:nvSpPr>
        <p:spPr>
          <a:xfrm>
            <a:off x="536575" y="4609128"/>
            <a:ext cx="8229600" cy="581057"/>
          </a:xfrm>
          <a:prstGeom prst="rect">
            <a:avLst/>
          </a:prstGeom>
          <a:solidFill>
            <a:schemeClr val="accent1">
              <a:lumMod val="20000"/>
              <a:lumOff val="80000"/>
            </a:schemeClr>
          </a:solidFill>
        </p:spPr>
        <p:txBody>
          <a:bodyPr wrap="square">
            <a:spAutoFit/>
          </a:bodyPr>
          <a:lstStyle/>
          <a:p>
            <a:pPr>
              <a:lnSpc>
                <a:spcPct val="150000"/>
              </a:lnSpc>
            </a:pPr>
            <a:r>
              <a:rPr lang="zh-CN" altLang="zh-CN" b="1" kern="1100" dirty="0">
                <a:solidFill>
                  <a:srgbClr val="FF0000"/>
                </a:solidFill>
                <a:latin typeface="+mn-ea"/>
                <a:cs typeface="Times New Roman" panose="02020603050405020304" pitchFamily="18" charset="0"/>
              </a:rPr>
              <a:t>格的对偶原理</a:t>
            </a:r>
            <a:r>
              <a:rPr lang="zh-CN" altLang="zh-CN" b="1" kern="1100" dirty="0">
                <a:solidFill>
                  <a:srgbClr val="FF0000"/>
                </a:solidFill>
                <a:latin typeface="+mn-ea"/>
              </a:rPr>
              <a:t> </a:t>
            </a:r>
            <a:r>
              <a:rPr lang="en-US" altLang="zh-CN" b="1" kern="1100" dirty="0">
                <a:solidFill>
                  <a:srgbClr val="FF0000"/>
                </a:solidFill>
                <a:latin typeface="+mn-ea"/>
              </a:rPr>
              <a:t> </a:t>
            </a:r>
            <a:r>
              <a:rPr lang="zh-CN" altLang="zh-CN" b="1" kern="1100" dirty="0">
                <a:solidFill>
                  <a:srgbClr val="000000"/>
                </a:solidFill>
                <a:latin typeface="+mn-ea"/>
                <a:cs typeface="Times New Roman" panose="02020603050405020304" pitchFamily="18" charset="0"/>
              </a:rPr>
              <a:t>关于</a:t>
            </a:r>
            <a:r>
              <a:rPr lang="zh-CN" altLang="zh-CN" b="1" dirty="0">
                <a:latin typeface="+mn-ea"/>
                <a:cs typeface="Times New Roman" panose="02020603050405020304" pitchFamily="18" charset="0"/>
              </a:rPr>
              <a:t>格的任何真命题的对偶命题也是真命题。</a:t>
            </a:r>
            <a:endParaRPr lang="zh-CN" altLang="en-US" b="1" dirty="0">
              <a:latin typeface="+mn-ea"/>
            </a:endParaRPr>
          </a:p>
        </p:txBody>
      </p:sp>
    </p:spTree>
    <p:custDataLst>
      <p:tags r:id="rId1"/>
    </p:custDataLst>
    <p:extLst>
      <p:ext uri="{BB962C8B-B14F-4D97-AF65-F5344CB8AC3E}">
        <p14:creationId xmlns:p14="http://schemas.microsoft.com/office/powerpoint/2010/main" val="369387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0FE928-720C-49C0-AC4E-24127F99AA42}"/>
              </a:ext>
            </a:extLst>
          </p:cNvPr>
          <p:cNvSpPr>
            <a:spLocks noGrp="1"/>
          </p:cNvSpPr>
          <p:nvPr>
            <p:ph type="title"/>
          </p:nvPr>
        </p:nvSpPr>
        <p:spPr/>
        <p:txBody>
          <a:bodyPr/>
          <a:lstStyle/>
          <a:p>
            <a:r>
              <a:rPr lang="zh-CN" altLang="en-US" dirty="0"/>
              <a:t>格的性质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C59944E-89C9-4E2A-93B6-94FB9A3199CA}"/>
                  </a:ext>
                </a:extLst>
              </p:cNvPr>
              <p:cNvSpPr>
                <a:spLocks noGrp="1"/>
              </p:cNvSpPr>
              <p:nvPr>
                <p:ph idx="1"/>
              </p:nvPr>
            </p:nvSpPr>
            <p:spPr>
              <a:xfrm>
                <a:off x="231774" y="983637"/>
                <a:ext cx="11734800" cy="2446157"/>
              </a:xfrm>
            </p:spPr>
            <p:txBody>
              <a:bodyPr>
                <a:noAutofit/>
              </a:bodyPr>
              <a:lstStyle/>
              <a:p>
                <a:pPr marL="0" indent="0" algn="just">
                  <a:buNone/>
                </a:pPr>
                <a:r>
                  <a:rPr lang="zh-CN" altLang="zh-CN" kern="1100" dirty="0">
                    <a:solidFill>
                      <a:srgbClr val="0000FF"/>
                    </a:solidFill>
                    <a:effectLst/>
                    <a:latin typeface="+mn-ea"/>
                  </a:rPr>
                  <a:t>定理</a:t>
                </a:r>
                <a:r>
                  <a:rPr lang="en-US" altLang="zh-CN" kern="1100" dirty="0">
                    <a:solidFill>
                      <a:srgbClr val="0000FF"/>
                    </a:solidFill>
                    <a:effectLst/>
                    <a:latin typeface="+mn-ea"/>
                  </a:rPr>
                  <a:t>10.3</a:t>
                </a:r>
                <a:r>
                  <a:rPr lang="en-US" altLang="zh-CN" kern="100" dirty="0">
                    <a:solidFill>
                      <a:srgbClr val="0000FF"/>
                    </a:solidFill>
                    <a:effectLst/>
                    <a:latin typeface="+mn-ea"/>
                  </a:rPr>
                  <a:t>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kern="100" dirty="0">
                    <a:effectLst/>
                    <a:latin typeface="+mn-ea"/>
                  </a:rPr>
                  <a:t>是格，</a:t>
                </a:r>
                <a14:m>
                  <m:oMath xmlns:m="http://schemas.openxmlformats.org/officeDocument/2006/math">
                    <m:r>
                      <a:rPr lang="en-US" altLang="zh-CN" b="1" i="1" kern="100" dirty="0" smtClean="0">
                        <a:effectLst/>
                        <a:latin typeface="Cambria Math" panose="02040503050406030204" pitchFamily="18" charset="0"/>
                      </a:rPr>
                      <m:t>“≥”</m:t>
                    </m:r>
                  </m:oMath>
                </a14:m>
                <a:r>
                  <a:rPr lang="zh-CN" altLang="zh-CN"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 ≤ ”</m:t>
                    </m:r>
                  </m:oMath>
                </a14:m>
                <a:r>
                  <a:rPr lang="zh-CN" altLang="zh-CN" kern="100" dirty="0">
                    <a:effectLst/>
                    <a:latin typeface="+mn-ea"/>
                  </a:rPr>
                  <a:t>的逆关系，对应的两个自然运算是</a:t>
                </a:r>
                <a14:m>
                  <m:oMath xmlns:m="http://schemas.openxmlformats.org/officeDocument/2006/math">
                    <m:r>
                      <a:rPr lang="zh-CN" altLang="zh-CN" b="1" i="1" kern="100" dirty="0" smtClean="0">
                        <a:effectLst/>
                        <a:latin typeface="Cambria Math" panose="02040503050406030204" pitchFamily="18" charset="0"/>
                      </a:rPr>
                      <m:t>“∧”</m:t>
                    </m:r>
                  </m:oMath>
                </a14:m>
                <a:r>
                  <a:rPr lang="zh-CN" altLang="zh-CN" kern="100" dirty="0">
                    <a:effectLst/>
                    <a:latin typeface="+mn-ea"/>
                  </a:rPr>
                  <a:t>和</a:t>
                </a:r>
                <a14:m>
                  <m:oMath xmlns:m="http://schemas.openxmlformats.org/officeDocument/2006/math">
                    <m:r>
                      <a:rPr lang="zh-CN" altLang="zh-CN" b="1" i="1" kern="100" dirty="0" smtClean="0">
                        <a:effectLst/>
                        <a:latin typeface="Cambria Math" panose="02040503050406030204" pitchFamily="18" charset="0"/>
                      </a:rPr>
                      <m:t>“</m:t>
                    </m:r>
                    <m:r>
                      <a:rPr lang="zh-CN" altLang="zh-CN" b="1" i="1" kern="100" dirty="0">
                        <a:effectLst/>
                        <a:latin typeface="Cambria Math" panose="02040503050406030204" pitchFamily="18" charset="0"/>
                        <a:cs typeface="宋体" panose="02010600030101010101" pitchFamily="2" charset="-122"/>
                      </a:rPr>
                      <m:t>∨”</m:t>
                    </m:r>
                  </m:oMath>
                </a14:m>
                <a:r>
                  <a:rPr lang="zh-CN" altLang="zh-CN" kern="100" dirty="0">
                    <a:effectLst/>
                    <a:latin typeface="+mn-ea"/>
                    <a:cs typeface="宋体" panose="02010600030101010101" pitchFamily="2" charset="-122"/>
                  </a:rPr>
                  <a:t>，</a:t>
                </a:r>
                <a:r>
                  <a:rPr lang="zh-CN" altLang="zh-CN" kern="100" dirty="0">
                    <a:effectLst/>
                    <a:latin typeface="+mn-ea"/>
                  </a:rPr>
                  <a:t>则对任意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𝒅</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𝑳</m:t>
                    </m:r>
                    <m:r>
                      <a:rPr lang="zh-CN" altLang="zh-CN" b="1" i="1" kern="100" dirty="0">
                        <a:effectLst/>
                        <a:latin typeface="Cambria Math" panose="02040503050406030204" pitchFamily="18" charset="0"/>
                      </a:rPr>
                      <m:t>，</m:t>
                    </m:r>
                  </m:oMath>
                </a14:m>
                <a:r>
                  <a:rPr lang="zh-CN" altLang="zh-CN" kern="100" dirty="0">
                    <a:effectLst/>
                    <a:latin typeface="+mn-ea"/>
                  </a:rPr>
                  <a:t>有</a:t>
                </a:r>
              </a:p>
              <a:p>
                <a:pPr marL="0" indent="0" algn="just">
                  <a:buNone/>
                </a:pPr>
                <a:r>
                  <a:rPr lang="zh-CN" altLang="zh-CN" kern="100" dirty="0">
                    <a:effectLst/>
                    <a:latin typeface="+mn-ea"/>
                  </a:rPr>
                  <a:t>（</a:t>
                </a:r>
                <a:r>
                  <a:rPr lang="en-US" altLang="zh-CN" kern="100" dirty="0">
                    <a:effectLst/>
                    <a:latin typeface="+mn-ea"/>
                  </a:rPr>
                  <a:t>1</a:t>
                </a:r>
                <a:r>
                  <a:rPr lang="zh-CN" altLang="zh-CN" kern="100" dirty="0">
                    <a:effectLst/>
                    <a:latin typeface="+mn-ea"/>
                  </a:rPr>
                  <a:t>）保序性：</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𝒅</m:t>
                    </m:r>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𝒅</m:t>
                    </m:r>
                    <m:r>
                      <a:rPr lang="en-US" altLang="zh-CN" b="1" i="1" kern="100" dirty="0" smtClean="0">
                        <a:effectLst/>
                        <a:latin typeface="Cambria Math" panose="02040503050406030204" pitchFamily="18" charset="0"/>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cs typeface="宋体" panose="02010600030101010101" pitchFamily="2" charset="-122"/>
                      </a:rPr>
                      <m:t>𝒄</m:t>
                    </m:r>
                    <m:r>
                      <a:rPr lang="en-US" altLang="zh-CN" b="1" i="1" kern="100" dirty="0" smtClean="0">
                        <a:effectLst/>
                        <a:latin typeface="Cambria Math" panose="02040503050406030204" pitchFamily="18" charset="0"/>
                        <a:ea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ea typeface="Cambria Math" panose="02040503050406030204" pitchFamily="18" charset="0"/>
                        <a:cs typeface="宋体" panose="02010600030101010101" pitchFamily="2" charset="-122"/>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𝒅</m:t>
                    </m:r>
                  </m:oMath>
                </a14:m>
                <a:endParaRPr lang="zh-CN"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2</a:t>
                </a:r>
                <a:r>
                  <a:rPr lang="zh-CN" altLang="zh-CN" kern="100" dirty="0">
                    <a:effectLst/>
                    <a:latin typeface="+mn-ea"/>
                  </a:rPr>
                  <a:t>）分配不等式：</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d>
                      <m:dPr>
                        <m:ctrlPr>
                          <a:rPr lang="en-US" altLang="zh-CN" b="1" i="1" kern="100" dirty="0">
                            <a:effectLst/>
                            <a:latin typeface="Cambria Math" panose="02040503050406030204" pitchFamily="18" charset="0"/>
                          </a:rPr>
                        </m:ctrlPr>
                      </m:dPr>
                      <m:e>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e>
                    </m:d>
                    <m:r>
                      <a:rPr lang="en-US" altLang="zh-CN" b="1" i="1" kern="100" dirty="0">
                        <a:effectLst/>
                        <a:latin typeface="Cambria Math" panose="02040503050406030204" pitchFamily="18" charset="0"/>
                      </a:rPr>
                      <m:t>≤</m:t>
                    </m:r>
                    <m:d>
                      <m:dPr>
                        <m:ctrlPr>
                          <a:rPr lang="en-US" altLang="zh-CN" b="1" i="1" kern="100" dirty="0">
                            <a:effectLst/>
                            <a:latin typeface="Cambria Math" panose="02040503050406030204" pitchFamily="18" charset="0"/>
                          </a:rPr>
                        </m:ctrlPr>
                      </m:dPr>
                      <m:e>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e>
                    </m:d>
                    <m:r>
                      <a:rPr lang="zh-CN" altLang="zh-CN" b="1" i="1" kern="100" dirty="0">
                        <a:effectLst/>
                        <a:latin typeface="Cambria Math" panose="02040503050406030204" pitchFamily="18" charset="0"/>
                        <a:cs typeface="宋体" panose="02010600030101010101" pitchFamily="2" charset="-122"/>
                      </a:rPr>
                      <m:t>∧</m:t>
                    </m:r>
                    <m:d>
                      <m:dPr>
                        <m:ctrlPr>
                          <a:rPr lang="en-US" altLang="zh-CN" b="1" i="1" kern="100" dirty="0">
                            <a:effectLst/>
                            <a:latin typeface="Cambria Math" panose="02040503050406030204" pitchFamily="18" charset="0"/>
                          </a:rPr>
                        </m:ctrlPr>
                      </m:dPr>
                      <m:e>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e>
                    </m:d>
                    <m:r>
                      <a:rPr lang="en-US" altLang="zh-CN" b="1" i="1" kern="100" dirty="0" smtClean="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oMath>
                </a14:m>
                <a:endParaRPr lang="zh-CN"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3</a:t>
                </a:r>
                <a:r>
                  <a:rPr lang="zh-CN" altLang="zh-CN" kern="100" dirty="0">
                    <a:effectLst/>
                    <a:latin typeface="+mn-ea"/>
                  </a:rPr>
                  <a:t>）模不等式：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𝒄</m:t>
                    </m:r>
                  </m:oMath>
                </a14:m>
                <a:endParaRPr lang="zh-CN" altLang="zh-CN" kern="100" dirty="0">
                  <a:effectLst/>
                  <a:latin typeface="+mn-ea"/>
                </a:endParaRPr>
              </a:p>
            </p:txBody>
          </p:sp>
        </mc:Choice>
        <mc:Fallback xmlns="">
          <p:sp>
            <p:nvSpPr>
              <p:cNvPr id="3" name="内容占位符 2">
                <a:extLst>
                  <a:ext uri="{FF2B5EF4-FFF2-40B4-BE49-F238E27FC236}">
                    <a16:creationId xmlns:a16="http://schemas.microsoft.com/office/drawing/2014/main" id="{EC59944E-89C9-4E2A-93B6-94FB9A3199CA}"/>
                  </a:ext>
                </a:extLst>
              </p:cNvPr>
              <p:cNvSpPr>
                <a:spLocks noGrp="1" noRot="1" noChangeAspect="1" noMove="1" noResize="1" noEditPoints="1" noAdjustHandles="1" noChangeArrowheads="1" noChangeShapeType="1" noTextEdit="1"/>
              </p:cNvSpPr>
              <p:nvPr>
                <p:ph idx="1"/>
              </p:nvPr>
            </p:nvSpPr>
            <p:spPr>
              <a:xfrm>
                <a:off x="231774" y="983637"/>
                <a:ext cx="11734800" cy="2446157"/>
              </a:xfrm>
              <a:blipFill>
                <a:blip r:embed="rId4"/>
                <a:stretch>
                  <a:fillRect l="-519" r="-3169" b="-7214"/>
                </a:stretch>
              </a:blipFill>
            </p:spPr>
            <p:txBody>
              <a:bodyPr/>
              <a:lstStyle/>
              <a:p>
                <a:r>
                  <a:rPr lang="zh-CN" altLang="en-US">
                    <a:noFill/>
                  </a:rPr>
                  <a:t> </a:t>
                </a:r>
              </a:p>
            </p:txBody>
          </p:sp>
        </mc:Fallback>
      </mc:AlternateContent>
      <p:sp>
        <p:nvSpPr>
          <p:cNvPr id="9" name="矩形 242">
            <a:extLst>
              <a:ext uri="{FF2B5EF4-FFF2-40B4-BE49-F238E27FC236}">
                <a16:creationId xmlns:a16="http://schemas.microsoft.com/office/drawing/2014/main" id="{29140F56-66C8-4A43-A05F-111260F59039}"/>
              </a:ext>
            </a:extLst>
          </p:cNvPr>
          <p:cNvSpPr/>
          <p:nvPr/>
        </p:nvSpPr>
        <p:spPr>
          <a:xfrm>
            <a:off x="0" y="3658395"/>
            <a:ext cx="12198349" cy="723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77" tIns="45738" rIns="91477" bIns="45738" rtlCol="0" anchor="ctr"/>
          <a:lstStyle/>
          <a:p>
            <a:pPr algn="ctr"/>
            <a:endParaRPr lang="zh-CN" altLang="en-US"/>
          </a:p>
        </p:txBody>
      </p:sp>
    </p:spTree>
    <p:extLst>
      <p:ext uri="{BB962C8B-B14F-4D97-AF65-F5344CB8AC3E}">
        <p14:creationId xmlns:p14="http://schemas.microsoft.com/office/powerpoint/2010/main" val="2713196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699D80B-DE0B-4886-9FD8-AEA8A18F7A24}"/>
              </a:ext>
            </a:extLst>
          </p:cNvPr>
          <p:cNvGrpSpPr/>
          <p:nvPr/>
        </p:nvGrpSpPr>
        <p:grpSpPr>
          <a:xfrm>
            <a:off x="8792584" y="2471427"/>
            <a:ext cx="3118542" cy="3645300"/>
            <a:chOff x="329661" y="1772919"/>
            <a:chExt cx="3118542" cy="3645300"/>
          </a:xfrm>
        </p:grpSpPr>
        <p:grpSp>
          <p:nvGrpSpPr>
            <p:cNvPr id="3" name="Group 2">
              <a:extLst>
                <a:ext uri="{FF2B5EF4-FFF2-40B4-BE49-F238E27FC236}">
                  <a16:creationId xmlns:a16="http://schemas.microsoft.com/office/drawing/2014/main" id="{D88BDAC1-29E6-4D58-A433-A99706810E6F}"/>
                </a:ext>
              </a:extLst>
            </p:cNvPr>
            <p:cNvGrpSpPr/>
            <p:nvPr/>
          </p:nvGrpSpPr>
          <p:grpSpPr>
            <a:xfrm>
              <a:off x="329661" y="1772919"/>
              <a:ext cx="3118542" cy="3118998"/>
              <a:chOff x="329661" y="1772919"/>
              <a:chExt cx="3118542" cy="3118998"/>
            </a:xfrm>
          </p:grpSpPr>
          <p:cxnSp>
            <p:nvCxnSpPr>
              <p:cNvPr id="5" name="Line 814">
                <a:extLst>
                  <a:ext uri="{FF2B5EF4-FFF2-40B4-BE49-F238E27FC236}">
                    <a16:creationId xmlns:a16="http://schemas.microsoft.com/office/drawing/2014/main" id="{EE75CE90-4889-469F-A603-5EDEA66FCFD3}"/>
                  </a:ext>
                </a:extLst>
              </p:cNvPr>
              <p:cNvCxnSpPr>
                <a:cxnSpLocks noChangeShapeType="1"/>
                <a:stCxn id="19" idx="4"/>
                <a:endCxn id="9" idx="0"/>
              </p:cNvCxnSpPr>
              <p:nvPr/>
            </p:nvCxnSpPr>
            <p:spPr bwMode="auto">
              <a:xfrm>
                <a:off x="2091778" y="2879916"/>
                <a:ext cx="0" cy="776267"/>
              </a:xfrm>
              <a:prstGeom prst="line">
                <a:avLst/>
              </a:prstGeom>
              <a:noFill/>
              <a:ln w="38100">
                <a:solidFill>
                  <a:srgbClr val="0000FF"/>
                </a:solidFill>
                <a:round/>
                <a:headEnd/>
                <a:tailEnd/>
              </a:ln>
            </p:spPr>
          </p:cxnSp>
          <p:sp>
            <p:nvSpPr>
              <p:cNvPr id="6" name="Text Box 815">
                <a:extLst>
                  <a:ext uri="{FF2B5EF4-FFF2-40B4-BE49-F238E27FC236}">
                    <a16:creationId xmlns:a16="http://schemas.microsoft.com/office/drawing/2014/main" id="{87460034-4C9E-4A6C-AC03-66FAD3DE84C5}"/>
                  </a:ext>
                </a:extLst>
              </p:cNvPr>
              <p:cNvSpPr txBox="1">
                <a:spLocks noChangeArrowheads="1"/>
              </p:cNvSpPr>
              <p:nvPr/>
            </p:nvSpPr>
            <p:spPr bwMode="auto">
              <a:xfrm>
                <a:off x="1471593" y="4330440"/>
                <a:ext cx="310705" cy="356616"/>
              </a:xfrm>
              <a:prstGeom prst="rect">
                <a:avLst/>
              </a:prstGeom>
              <a:no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7" name="Oval 817">
                <a:extLst>
                  <a:ext uri="{FF2B5EF4-FFF2-40B4-BE49-F238E27FC236}">
                    <a16:creationId xmlns:a16="http://schemas.microsoft.com/office/drawing/2014/main" id="{7B60B392-7B50-42B0-86A5-16F6D3DF80A3}"/>
                  </a:ext>
                </a:extLst>
              </p:cNvPr>
              <p:cNvSpPr>
                <a:spLocks noChangeArrowheads="1"/>
              </p:cNvSpPr>
              <p:nvPr/>
            </p:nvSpPr>
            <p:spPr bwMode="auto">
              <a:xfrm>
                <a:off x="2426695" y="2003989"/>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8" name="Oval 818">
                <a:extLst>
                  <a:ext uri="{FF2B5EF4-FFF2-40B4-BE49-F238E27FC236}">
                    <a16:creationId xmlns:a16="http://schemas.microsoft.com/office/drawing/2014/main" id="{9E9960AD-7D29-45C6-AB89-6665BAA80C93}"/>
                  </a:ext>
                </a:extLst>
              </p:cNvPr>
              <p:cNvSpPr>
                <a:spLocks noChangeArrowheads="1"/>
              </p:cNvSpPr>
              <p:nvPr/>
            </p:nvSpPr>
            <p:spPr bwMode="auto">
              <a:xfrm>
                <a:off x="2442511" y="4463809"/>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9" name="Oval 819">
                <a:extLst>
                  <a:ext uri="{FF2B5EF4-FFF2-40B4-BE49-F238E27FC236}">
                    <a16:creationId xmlns:a16="http://schemas.microsoft.com/office/drawing/2014/main" id="{F78C7768-2D4B-4344-870E-DB714D899667}"/>
                  </a:ext>
                </a:extLst>
              </p:cNvPr>
              <p:cNvSpPr>
                <a:spLocks noChangeArrowheads="1"/>
              </p:cNvSpPr>
              <p:nvPr/>
            </p:nvSpPr>
            <p:spPr bwMode="auto">
              <a:xfrm>
                <a:off x="2037778" y="3656183"/>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0" name="Oval 820">
                <a:extLst>
                  <a:ext uri="{FF2B5EF4-FFF2-40B4-BE49-F238E27FC236}">
                    <a16:creationId xmlns:a16="http://schemas.microsoft.com/office/drawing/2014/main" id="{943E8F0C-F40B-43EE-B402-43ACA1A89D4F}"/>
                  </a:ext>
                </a:extLst>
              </p:cNvPr>
              <p:cNvSpPr>
                <a:spLocks noChangeArrowheads="1"/>
              </p:cNvSpPr>
              <p:nvPr/>
            </p:nvSpPr>
            <p:spPr bwMode="auto">
              <a:xfrm>
                <a:off x="2854816" y="2922810"/>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11" name="Line 821">
                <a:extLst>
                  <a:ext uri="{FF2B5EF4-FFF2-40B4-BE49-F238E27FC236}">
                    <a16:creationId xmlns:a16="http://schemas.microsoft.com/office/drawing/2014/main" id="{C5BC1E6B-1C4C-4F68-BA5B-E1A2050AABD1}"/>
                  </a:ext>
                </a:extLst>
              </p:cNvPr>
              <p:cNvCxnSpPr>
                <a:cxnSpLocks noChangeShapeType="1"/>
                <a:stCxn id="9" idx="5"/>
                <a:endCxn id="8" idx="1"/>
              </p:cNvCxnSpPr>
              <p:nvPr/>
            </p:nvCxnSpPr>
            <p:spPr bwMode="auto">
              <a:xfrm>
                <a:off x="2129962" y="3748472"/>
                <a:ext cx="328365" cy="731171"/>
              </a:xfrm>
              <a:prstGeom prst="line">
                <a:avLst/>
              </a:prstGeom>
              <a:noFill/>
              <a:ln w="19050">
                <a:solidFill>
                  <a:srgbClr val="000000"/>
                </a:solidFill>
                <a:round/>
                <a:headEnd/>
                <a:tailEnd/>
              </a:ln>
            </p:spPr>
          </p:cxnSp>
          <p:cxnSp>
            <p:nvCxnSpPr>
              <p:cNvPr id="12" name="Line 822">
                <a:extLst>
                  <a:ext uri="{FF2B5EF4-FFF2-40B4-BE49-F238E27FC236}">
                    <a16:creationId xmlns:a16="http://schemas.microsoft.com/office/drawing/2014/main" id="{717B1C7E-9FA9-431D-ADBC-A03B1597E690}"/>
                  </a:ext>
                </a:extLst>
              </p:cNvPr>
              <p:cNvCxnSpPr>
                <a:cxnSpLocks noChangeShapeType="1"/>
                <a:stCxn id="7" idx="5"/>
                <a:endCxn id="10" idx="0"/>
              </p:cNvCxnSpPr>
              <p:nvPr/>
            </p:nvCxnSpPr>
            <p:spPr bwMode="auto">
              <a:xfrm>
                <a:off x="2518879" y="2096278"/>
                <a:ext cx="389937" cy="826532"/>
              </a:xfrm>
              <a:prstGeom prst="line">
                <a:avLst/>
              </a:prstGeom>
              <a:noFill/>
              <a:ln w="19050">
                <a:solidFill>
                  <a:srgbClr val="000000"/>
                </a:solidFill>
                <a:round/>
                <a:headEnd/>
                <a:tailEnd/>
              </a:ln>
            </p:spPr>
          </p:cxnSp>
          <p:cxnSp>
            <p:nvCxnSpPr>
              <p:cNvPr id="13" name="Line 823">
                <a:extLst>
                  <a:ext uri="{FF2B5EF4-FFF2-40B4-BE49-F238E27FC236}">
                    <a16:creationId xmlns:a16="http://schemas.microsoft.com/office/drawing/2014/main" id="{DFD3693F-535A-451F-AD7A-45C267527210}"/>
                  </a:ext>
                </a:extLst>
              </p:cNvPr>
              <p:cNvCxnSpPr>
                <a:cxnSpLocks noChangeShapeType="1"/>
                <a:stCxn id="7" idx="3"/>
                <a:endCxn id="19" idx="7"/>
              </p:cNvCxnSpPr>
              <p:nvPr/>
            </p:nvCxnSpPr>
            <p:spPr bwMode="auto">
              <a:xfrm flipH="1">
                <a:off x="2129962" y="2096278"/>
                <a:ext cx="312549" cy="691349"/>
              </a:xfrm>
              <a:prstGeom prst="line">
                <a:avLst/>
              </a:prstGeom>
              <a:noFill/>
              <a:ln w="19050">
                <a:solidFill>
                  <a:srgbClr val="000000"/>
                </a:solidFill>
                <a:round/>
                <a:headEnd/>
                <a:tailEnd/>
              </a:ln>
            </p:spPr>
          </p:cxnSp>
          <p:cxnSp>
            <p:nvCxnSpPr>
              <p:cNvPr id="14" name="Line 824">
                <a:extLst>
                  <a:ext uri="{FF2B5EF4-FFF2-40B4-BE49-F238E27FC236}">
                    <a16:creationId xmlns:a16="http://schemas.microsoft.com/office/drawing/2014/main" id="{5D35F56C-759A-47E8-BE90-60FB814B7CF6}"/>
                  </a:ext>
                </a:extLst>
              </p:cNvPr>
              <p:cNvCxnSpPr>
                <a:cxnSpLocks noChangeShapeType="1"/>
                <a:stCxn id="10" idx="4"/>
                <a:endCxn id="8" idx="7"/>
              </p:cNvCxnSpPr>
              <p:nvPr/>
            </p:nvCxnSpPr>
            <p:spPr bwMode="auto">
              <a:xfrm flipH="1">
                <a:off x="2534695" y="3030933"/>
                <a:ext cx="374121" cy="1448710"/>
              </a:xfrm>
              <a:prstGeom prst="line">
                <a:avLst/>
              </a:prstGeom>
              <a:noFill/>
              <a:ln w="19050">
                <a:solidFill>
                  <a:srgbClr val="000000"/>
                </a:solidFill>
                <a:round/>
                <a:headEnd/>
                <a:tailEnd/>
              </a:ln>
            </p:spPr>
          </p:cxnSp>
          <p:sp>
            <p:nvSpPr>
              <p:cNvPr id="15" name="Text Box 825">
                <a:extLst>
                  <a:ext uri="{FF2B5EF4-FFF2-40B4-BE49-F238E27FC236}">
                    <a16:creationId xmlns:a16="http://schemas.microsoft.com/office/drawing/2014/main" id="{AB15AB47-4EE3-45AB-875A-A25AE9C229F5}"/>
                  </a:ext>
                </a:extLst>
              </p:cNvPr>
              <p:cNvSpPr txBox="1">
                <a:spLocks noChangeArrowheads="1"/>
              </p:cNvSpPr>
              <p:nvPr/>
            </p:nvSpPr>
            <p:spPr bwMode="auto">
              <a:xfrm>
                <a:off x="1344750" y="1820726"/>
                <a:ext cx="194821" cy="360409"/>
              </a:xfrm>
              <a:prstGeom prst="rect">
                <a:avLst/>
              </a:prstGeom>
              <a:noFill/>
              <a:ln w="9525">
                <a:noFill/>
                <a:miter lim="800000"/>
                <a:headEnd/>
                <a:tailEnd/>
              </a:ln>
            </p:spPr>
            <p:txBody>
              <a:bodyPr rot="0" vert="horz" wrap="square" lIns="0" tIns="0" rIns="0" bIns="0" anchor="t" anchorCtr="0" upright="1">
                <a:noAutofit/>
              </a:bodyPr>
              <a:lstStyle/>
              <a:p>
                <a:pPr algn="ctr"/>
                <a:r>
                  <a:rPr lang="en-US" alt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6" name="Text Box 826">
                <a:extLst>
                  <a:ext uri="{FF2B5EF4-FFF2-40B4-BE49-F238E27FC236}">
                    <a16:creationId xmlns:a16="http://schemas.microsoft.com/office/drawing/2014/main" id="{98BB0AD5-6F1E-4D10-B808-E421D2FE8F58}"/>
                  </a:ext>
                </a:extLst>
              </p:cNvPr>
              <p:cNvSpPr txBox="1">
                <a:spLocks noChangeArrowheads="1"/>
              </p:cNvSpPr>
              <p:nvPr/>
            </p:nvSpPr>
            <p:spPr bwMode="auto">
              <a:xfrm>
                <a:off x="3011513" y="2802942"/>
                <a:ext cx="265357" cy="430307"/>
              </a:xfrm>
              <a:prstGeom prst="rect">
                <a:avLst/>
              </a:prstGeom>
              <a:noFill/>
              <a:ln w="9525">
                <a:noFill/>
                <a:miter lim="800000"/>
                <a:headEnd/>
                <a:tailEnd/>
              </a:ln>
            </p:spPr>
            <p:txBody>
              <a:bodyPr rot="0" vert="horz" wrap="square" lIns="0" tIns="0" rIns="0" bIns="0" anchor="t" anchorCtr="0" upright="1">
                <a:noAutofit/>
              </a:bodyPr>
              <a:lstStyle/>
              <a:p>
                <a:pPr algn="ctr"/>
                <a:r>
                  <a:rPr lang="en-US" alt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17" name="Text Box 827">
                    <a:extLst>
                      <a:ext uri="{FF2B5EF4-FFF2-40B4-BE49-F238E27FC236}">
                        <a16:creationId xmlns:a16="http://schemas.microsoft.com/office/drawing/2014/main" id="{B14B6BAD-548B-451B-8F5E-B0D4EBB342B6}"/>
                      </a:ext>
                    </a:extLst>
                  </p:cNvPr>
                  <p:cNvSpPr txBox="1">
                    <a:spLocks noChangeArrowheads="1"/>
                  </p:cNvSpPr>
                  <p:nvPr/>
                </p:nvSpPr>
                <p:spPr bwMode="auto">
                  <a:xfrm>
                    <a:off x="2574823" y="4375962"/>
                    <a:ext cx="873380" cy="515955"/>
                  </a:xfrm>
                  <a:prstGeom prst="rect">
                    <a:avLst/>
                  </a:prstGeom>
                  <a:noFill/>
                  <a:ln w="9525">
                    <a:noFill/>
                    <a:miter lim="800000"/>
                    <a:headEnd/>
                    <a:tailEnd/>
                  </a:ln>
                </p:spPr>
                <p:txBody>
                  <a:bodyPr rot="0" vert="horz" wrap="square" lIns="0" tIns="0" rIns="0" bIns="0" anchor="t" anchorCtr="0" upright="1">
                    <a:noAutofit/>
                  </a:bodyPr>
                  <a:lstStyle/>
                  <a:p>
                    <a:pPr algn="ctr"/>
                    <a14:m>
                      <m:oMath xmlns:m="http://schemas.openxmlformats.org/officeDocument/2006/math">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 </m:t>
                        </m:r>
                      </m:oMath>
                    </a14:m>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17" name="Text Box 827">
                    <a:extLst>
                      <a:ext uri="{FF2B5EF4-FFF2-40B4-BE49-F238E27FC236}">
                        <a16:creationId xmlns:a16="http://schemas.microsoft.com/office/drawing/2014/main" id="{B14B6BAD-548B-451B-8F5E-B0D4EBB342B6}"/>
                      </a:ext>
                    </a:extLst>
                  </p:cNvPr>
                  <p:cNvSpPr txBox="1">
                    <a:spLocks noRot="1" noChangeAspect="1" noMove="1" noResize="1" noEditPoints="1" noAdjustHandles="1" noChangeArrowheads="1" noChangeShapeType="1" noTextEdit="1"/>
                  </p:cNvSpPr>
                  <p:nvPr/>
                </p:nvSpPr>
                <p:spPr bwMode="auto">
                  <a:xfrm>
                    <a:off x="2574823" y="4375962"/>
                    <a:ext cx="873380" cy="515955"/>
                  </a:xfrm>
                  <a:prstGeom prst="rect">
                    <a:avLst/>
                  </a:prstGeom>
                  <a:blipFill>
                    <a:blip r:embed="rId5"/>
                    <a:stretch>
                      <a:fillRect l="-9091"/>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 Box 828">
                    <a:extLst>
                      <a:ext uri="{FF2B5EF4-FFF2-40B4-BE49-F238E27FC236}">
                        <a16:creationId xmlns:a16="http://schemas.microsoft.com/office/drawing/2014/main" id="{344AB8E1-E95E-4463-AE97-7DBC14598CB6}"/>
                      </a:ext>
                    </a:extLst>
                  </p:cNvPr>
                  <p:cNvSpPr txBox="1">
                    <a:spLocks noChangeArrowheads="1"/>
                  </p:cNvSpPr>
                  <p:nvPr/>
                </p:nvSpPr>
                <p:spPr bwMode="auto">
                  <a:xfrm>
                    <a:off x="2623102" y="1772919"/>
                    <a:ext cx="776821" cy="388864"/>
                  </a:xfrm>
                  <a:prstGeom prst="rect">
                    <a:avLst/>
                  </a:prstGeom>
                  <a:noFill/>
                  <a:ln w="9525">
                    <a:noFill/>
                    <a:miter lim="800000"/>
                    <a:headEnd/>
                    <a:tailEnd/>
                  </a:ln>
                </p:spPr>
                <p:txBody>
                  <a:bodyPr rot="0" vert="horz" wrap="square" lIns="0" tIns="0" rIns="0" bIns="0" anchor="t" anchorCtr="0" upright="1">
                    <a:noAutofit/>
                  </a:bodyPr>
                  <a:lstStyle/>
                  <a:p>
                    <a:pPr algn="ctr"/>
                    <a14:m>
                      <m:oMathPara xmlns:m="http://schemas.openxmlformats.org/officeDocument/2006/math">
                        <m:oMathParaPr>
                          <m:jc m:val="centerGroup"/>
                        </m:oMathParaPr>
                        <m:oMath xmlns:m="http://schemas.openxmlformats.org/officeDocument/2006/math">
                          <m:r>
                            <a:rPr lang="en-US" altLang="zh-CN" b="1" i="1" kern="100" dirty="0" smtClean="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smtClean="0">
                              <a:latin typeface="Cambria Math" panose="02040503050406030204" pitchFamily="18" charset="0"/>
                              <a:cs typeface="宋体" panose="02010600030101010101" pitchFamily="2" charset="-122"/>
                            </a:rPr>
                            <m:t>𝒃</m:t>
                          </m:r>
                        </m:oMath>
                      </m:oMathPara>
                    </a14:m>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18" name="Text Box 828">
                    <a:extLst>
                      <a:ext uri="{FF2B5EF4-FFF2-40B4-BE49-F238E27FC236}">
                        <a16:creationId xmlns:a16="http://schemas.microsoft.com/office/drawing/2014/main" id="{344AB8E1-E95E-4463-AE97-7DBC14598CB6}"/>
                      </a:ext>
                    </a:extLst>
                  </p:cNvPr>
                  <p:cNvSpPr txBox="1">
                    <a:spLocks noRot="1" noChangeAspect="1" noMove="1" noResize="1" noEditPoints="1" noAdjustHandles="1" noChangeArrowheads="1" noChangeShapeType="1" noTextEdit="1"/>
                  </p:cNvSpPr>
                  <p:nvPr/>
                </p:nvSpPr>
                <p:spPr bwMode="auto">
                  <a:xfrm>
                    <a:off x="2623102" y="1772919"/>
                    <a:ext cx="776821" cy="388864"/>
                  </a:xfrm>
                  <a:prstGeom prst="rect">
                    <a:avLst/>
                  </a:prstGeom>
                  <a:blipFill>
                    <a:blip r:embed="rId6"/>
                    <a:stretch>
                      <a:fillRect l="-4724" r="-8661" b="-4688"/>
                    </a:stretch>
                  </a:blipFill>
                  <a:ln w="9525">
                    <a:noFill/>
                    <a:miter lim="800000"/>
                    <a:headEnd/>
                    <a:tailEnd/>
                  </a:ln>
                </p:spPr>
                <p:txBody>
                  <a:bodyPr/>
                  <a:lstStyle/>
                  <a:p>
                    <a:r>
                      <a:rPr lang="zh-CN" altLang="en-US">
                        <a:noFill/>
                      </a:rPr>
                      <a:t> </a:t>
                    </a:r>
                  </a:p>
                </p:txBody>
              </p:sp>
            </mc:Fallback>
          </mc:AlternateContent>
          <p:sp>
            <p:nvSpPr>
              <p:cNvPr id="19" name="Oval 829">
                <a:extLst>
                  <a:ext uri="{FF2B5EF4-FFF2-40B4-BE49-F238E27FC236}">
                    <a16:creationId xmlns:a16="http://schemas.microsoft.com/office/drawing/2014/main" id="{76F1A895-2DF6-49F3-8107-226989BE4CAB}"/>
                  </a:ext>
                </a:extLst>
              </p:cNvPr>
              <p:cNvSpPr>
                <a:spLocks noChangeArrowheads="1"/>
              </p:cNvSpPr>
              <p:nvPr/>
            </p:nvSpPr>
            <p:spPr bwMode="auto">
              <a:xfrm>
                <a:off x="2037778" y="2771793"/>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0" name="Oval 817">
                <a:extLst>
                  <a:ext uri="{FF2B5EF4-FFF2-40B4-BE49-F238E27FC236}">
                    <a16:creationId xmlns:a16="http://schemas.microsoft.com/office/drawing/2014/main" id="{D42C9311-2162-417F-9DE7-46E6F6C6B1D1}"/>
                  </a:ext>
                </a:extLst>
              </p:cNvPr>
              <p:cNvSpPr>
                <a:spLocks noChangeArrowheads="1"/>
              </p:cNvSpPr>
              <p:nvPr/>
            </p:nvSpPr>
            <p:spPr bwMode="auto">
              <a:xfrm>
                <a:off x="1672299" y="2041860"/>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21" name="Line 823">
                <a:extLst>
                  <a:ext uri="{FF2B5EF4-FFF2-40B4-BE49-F238E27FC236}">
                    <a16:creationId xmlns:a16="http://schemas.microsoft.com/office/drawing/2014/main" id="{DBC3FAC5-B994-498A-8370-3A665DD2EDB2}"/>
                  </a:ext>
                </a:extLst>
              </p:cNvPr>
              <p:cNvCxnSpPr>
                <a:cxnSpLocks noChangeShapeType="1"/>
                <a:stCxn id="20" idx="5"/>
                <a:endCxn id="19" idx="1"/>
              </p:cNvCxnSpPr>
              <p:nvPr/>
            </p:nvCxnSpPr>
            <p:spPr bwMode="auto">
              <a:xfrm>
                <a:off x="1764483" y="2134149"/>
                <a:ext cx="289111" cy="653478"/>
              </a:xfrm>
              <a:prstGeom prst="line">
                <a:avLst/>
              </a:prstGeom>
              <a:noFill/>
              <a:ln w="19050">
                <a:solidFill>
                  <a:srgbClr val="000000"/>
                </a:solidFill>
                <a:round/>
                <a:headEnd/>
                <a:tailEnd/>
              </a:ln>
            </p:spPr>
          </p:cxnSp>
          <p:sp>
            <p:nvSpPr>
              <p:cNvPr id="22" name="Oval 817">
                <a:extLst>
                  <a:ext uri="{FF2B5EF4-FFF2-40B4-BE49-F238E27FC236}">
                    <a16:creationId xmlns:a16="http://schemas.microsoft.com/office/drawing/2014/main" id="{1B461898-3C09-4648-B720-4F932B3B18E4}"/>
                  </a:ext>
                </a:extLst>
              </p:cNvPr>
              <p:cNvSpPr>
                <a:spLocks noChangeArrowheads="1"/>
              </p:cNvSpPr>
              <p:nvPr/>
            </p:nvSpPr>
            <p:spPr bwMode="auto">
              <a:xfrm>
                <a:off x="1780299" y="4508748"/>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23" name="Line 823">
                <a:extLst>
                  <a:ext uri="{FF2B5EF4-FFF2-40B4-BE49-F238E27FC236}">
                    <a16:creationId xmlns:a16="http://schemas.microsoft.com/office/drawing/2014/main" id="{6FA504C0-2D2B-4A77-AAF0-A25B579DA430}"/>
                  </a:ext>
                </a:extLst>
              </p:cNvPr>
              <p:cNvCxnSpPr>
                <a:cxnSpLocks noChangeShapeType="1"/>
                <a:stCxn id="22" idx="7"/>
                <a:endCxn id="9" idx="3"/>
              </p:cNvCxnSpPr>
              <p:nvPr/>
            </p:nvCxnSpPr>
            <p:spPr bwMode="auto">
              <a:xfrm flipV="1">
                <a:off x="1872483" y="3748472"/>
                <a:ext cx="181111" cy="776110"/>
              </a:xfrm>
              <a:prstGeom prst="line">
                <a:avLst/>
              </a:prstGeom>
              <a:noFill/>
              <a:ln w="19050">
                <a:solidFill>
                  <a:srgbClr val="000000"/>
                </a:solidFill>
                <a:round/>
                <a:headEnd/>
                <a:tailEnd/>
              </a:ln>
            </p:spPr>
          </p:cxn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4E651F4C-14A4-4EF0-A563-433D1B02D355}"/>
                      </a:ext>
                    </a:extLst>
                  </p:cNvPr>
                  <p:cNvSpPr/>
                  <p:nvPr/>
                </p:nvSpPr>
                <p:spPr>
                  <a:xfrm>
                    <a:off x="329661" y="3429794"/>
                    <a:ext cx="183050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 (</m:t>
                          </m:r>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 </m:t>
                          </m:r>
                        </m:oMath>
                      </m:oMathPara>
                    </a14:m>
                    <a:endParaRPr lang="zh-CN" altLang="en-US" dirty="0"/>
                  </a:p>
                </p:txBody>
              </p:sp>
            </mc:Choice>
            <mc:Fallback xmlns="">
              <p:sp>
                <p:nvSpPr>
                  <p:cNvPr id="24" name="Rectangle 23">
                    <a:extLst>
                      <a:ext uri="{FF2B5EF4-FFF2-40B4-BE49-F238E27FC236}">
                        <a16:creationId xmlns:a16="http://schemas.microsoft.com/office/drawing/2014/main" id="{4E651F4C-14A4-4EF0-A563-433D1B02D355}"/>
                      </a:ext>
                    </a:extLst>
                  </p:cNvPr>
                  <p:cNvSpPr>
                    <a:spLocks noRot="1" noChangeAspect="1" noMove="1" noResize="1" noEditPoints="1" noAdjustHandles="1" noChangeArrowheads="1" noChangeShapeType="1" noTextEdit="1"/>
                  </p:cNvSpPr>
                  <p:nvPr/>
                </p:nvSpPr>
                <p:spPr>
                  <a:xfrm>
                    <a:off x="329661" y="3429794"/>
                    <a:ext cx="1830501" cy="461665"/>
                  </a:xfrm>
                  <a:prstGeom prst="rect">
                    <a:avLst/>
                  </a:prstGeom>
                  <a:blipFill>
                    <a:blip r:embed="rId7"/>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D47CEF18-3A1A-44BB-9385-4F46EBDEE09A}"/>
                      </a:ext>
                    </a:extLst>
                  </p:cNvPr>
                  <p:cNvSpPr/>
                  <p:nvPr/>
                </p:nvSpPr>
                <p:spPr>
                  <a:xfrm>
                    <a:off x="404540" y="2548035"/>
                    <a:ext cx="1702261" cy="572464"/>
                  </a:xfrm>
                  <a:prstGeom prst="rect">
                    <a:avLst/>
                  </a:prstGeom>
                </p:spPr>
                <p:txBody>
                  <a:bodyPr wrap="none">
                    <a:spAutoFit/>
                  </a:bodyPr>
                  <a:lstStyle/>
                  <a:p>
                    <a:pPr algn="just">
                      <a:lnSpc>
                        <a:spcPct val="130000"/>
                      </a:lnSpc>
                    </a:pP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smtClean="0">
                              <a:latin typeface="Cambria Math" panose="02040503050406030204" pitchFamily="18" charset="0"/>
                            </a:rPr>
                            <m:t>𝒃</m:t>
                          </m:r>
                          <m:r>
                            <a:rPr lang="en-US" altLang="zh-CN" b="1" i="1" kern="100" dirty="0">
                              <a:latin typeface="Cambria Math" panose="02040503050406030204" pitchFamily="18" charset="0"/>
                            </a:rPr>
                            <m:t>)</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𝒄</m:t>
                          </m:r>
                        </m:oMath>
                      </m:oMathPara>
                    </a14:m>
                    <a:endParaRPr lang="zh-CN" altLang="zh-CN" kern="100" dirty="0">
                      <a:latin typeface="+mn-ea"/>
                    </a:endParaRPr>
                  </a:p>
                </p:txBody>
              </p:sp>
            </mc:Choice>
            <mc:Fallback xmlns="">
              <p:sp>
                <p:nvSpPr>
                  <p:cNvPr id="25" name="Rectangle 24">
                    <a:extLst>
                      <a:ext uri="{FF2B5EF4-FFF2-40B4-BE49-F238E27FC236}">
                        <a16:creationId xmlns:a16="http://schemas.microsoft.com/office/drawing/2014/main" id="{D47CEF18-3A1A-44BB-9385-4F46EBDEE09A}"/>
                      </a:ext>
                    </a:extLst>
                  </p:cNvPr>
                  <p:cNvSpPr>
                    <a:spLocks noRot="1" noChangeAspect="1" noMove="1" noResize="1" noEditPoints="1" noAdjustHandles="1" noChangeArrowheads="1" noChangeShapeType="1" noTextEdit="1"/>
                  </p:cNvSpPr>
                  <p:nvPr/>
                </p:nvSpPr>
                <p:spPr>
                  <a:xfrm>
                    <a:off x="404540" y="2548035"/>
                    <a:ext cx="1702261" cy="572464"/>
                  </a:xfrm>
                  <a:prstGeom prst="rect">
                    <a:avLst/>
                  </a:prstGeom>
                  <a:blipFill>
                    <a:blip r:embed="rId8"/>
                    <a:stretch>
                      <a:fillRect/>
                    </a:stretch>
                  </a:blipFill>
                </p:spPr>
                <p:txBody>
                  <a:bodyPr/>
                  <a:lstStyle/>
                  <a:p>
                    <a:r>
                      <a:rPr lang="zh-CN" altLang="en-US">
                        <a:noFill/>
                      </a:rPr>
                      <a:t> </a:t>
                    </a:r>
                  </a:p>
                </p:txBody>
              </p:sp>
            </mc:Fallback>
          </mc:AlternateContent>
        </p:grpSp>
        <p:sp>
          <p:nvSpPr>
            <p:cNvPr id="4" name="Text Box 827">
              <a:extLst>
                <a:ext uri="{FF2B5EF4-FFF2-40B4-BE49-F238E27FC236}">
                  <a16:creationId xmlns:a16="http://schemas.microsoft.com/office/drawing/2014/main" id="{F6BBDED2-3B90-401F-9D76-9472E1DD9C9D}"/>
                </a:ext>
              </a:extLst>
            </p:cNvPr>
            <p:cNvSpPr txBox="1">
              <a:spLocks noChangeArrowheads="1"/>
            </p:cNvSpPr>
            <p:nvPr/>
          </p:nvSpPr>
          <p:spPr bwMode="auto">
            <a:xfrm>
              <a:off x="1564655" y="4902264"/>
              <a:ext cx="1390588" cy="515955"/>
            </a:xfrm>
            <a:prstGeom prst="rect">
              <a:avLst/>
            </a:prstGeom>
            <a:noFill/>
            <a:ln w="9525">
              <a:noFill/>
              <a:miter lim="800000"/>
              <a:headEnd/>
              <a:tailEnd/>
            </a:ln>
          </p:spPr>
          <p:txBody>
            <a:bodyPr rot="0" vert="horz" wrap="square" lIns="0" tIns="0" rIns="0" bIns="0" anchor="t" anchorCtr="0" upright="1">
              <a:noAutofit/>
            </a:bodyPr>
            <a:lstStyle/>
            <a:p>
              <a:pPr algn="ctr"/>
              <a:r>
                <a:rPr lang="zh-CN" altLang="en-US" sz="2400" b="1" kern="100" dirty="0">
                  <a:solidFill>
                    <a:schemeClr val="tx1"/>
                  </a:solidFill>
                  <a:effectLst/>
                  <a:latin typeface="+mn-ea"/>
                  <a:cs typeface="宋体" panose="02010600030101010101" pitchFamily="2" charset="-122"/>
                </a:rPr>
                <a:t>模不等式</a:t>
              </a:r>
              <a:r>
                <a:rPr lang="en-US" sz="2400" b="1" kern="100" dirty="0">
                  <a:solidFill>
                    <a:schemeClr val="tx1"/>
                  </a:solidFill>
                  <a:effectLst/>
                  <a:latin typeface="+mn-ea"/>
                  <a:cs typeface="宋体" panose="02010600030101010101" pitchFamily="2" charset="-122"/>
                </a:rPr>
                <a:t> </a:t>
              </a:r>
              <a:endParaRPr lang="zh-CN" sz="2400" b="1" kern="100" dirty="0">
                <a:solidFill>
                  <a:schemeClr val="tx1"/>
                </a:solidFill>
                <a:effectLst/>
                <a:latin typeface="+mn-ea"/>
                <a:cs typeface="宋体" panose="02010600030101010101" pitchFamily="2" charset="-122"/>
              </a:endParaRPr>
            </a:p>
          </p:txBody>
        </p:sp>
      </p:grpSp>
      <p:grpSp>
        <p:nvGrpSpPr>
          <p:cNvPr id="76" name="Group 75">
            <a:extLst>
              <a:ext uri="{FF2B5EF4-FFF2-40B4-BE49-F238E27FC236}">
                <a16:creationId xmlns:a16="http://schemas.microsoft.com/office/drawing/2014/main" id="{D4B0336E-D293-4EF2-AD7B-21FE3B70B73C}"/>
              </a:ext>
            </a:extLst>
          </p:cNvPr>
          <p:cNvGrpSpPr/>
          <p:nvPr/>
        </p:nvGrpSpPr>
        <p:grpSpPr>
          <a:xfrm>
            <a:off x="3400484" y="2443421"/>
            <a:ext cx="4520899" cy="3771274"/>
            <a:chOff x="1877315" y="1452108"/>
            <a:chExt cx="4520899" cy="3771274"/>
          </a:xfrm>
        </p:grpSpPr>
        <p:cxnSp>
          <p:nvCxnSpPr>
            <p:cNvPr id="29" name="Line 814">
              <a:extLst>
                <a:ext uri="{FF2B5EF4-FFF2-40B4-BE49-F238E27FC236}">
                  <a16:creationId xmlns:a16="http://schemas.microsoft.com/office/drawing/2014/main" id="{E6933591-5E9C-4ACC-9DF4-EF7902CA1254}"/>
                </a:ext>
              </a:extLst>
            </p:cNvPr>
            <p:cNvCxnSpPr>
              <a:cxnSpLocks noChangeShapeType="1"/>
              <a:stCxn id="43" idx="4"/>
              <a:endCxn id="33" idx="0"/>
            </p:cNvCxnSpPr>
            <p:nvPr/>
          </p:nvCxnSpPr>
          <p:spPr bwMode="auto">
            <a:xfrm>
              <a:off x="4273445" y="2685079"/>
              <a:ext cx="0" cy="776267"/>
            </a:xfrm>
            <a:prstGeom prst="line">
              <a:avLst/>
            </a:prstGeom>
            <a:noFill/>
            <a:ln w="38100">
              <a:solidFill>
                <a:srgbClr val="0000FF"/>
              </a:solidFill>
              <a:round/>
              <a:headEnd/>
              <a:tailEnd/>
            </a:ln>
          </p:spPr>
        </p:cxnSp>
        <p:sp>
          <p:nvSpPr>
            <p:cNvPr id="30" name="Text Box 815">
              <a:extLst>
                <a:ext uri="{FF2B5EF4-FFF2-40B4-BE49-F238E27FC236}">
                  <a16:creationId xmlns:a16="http://schemas.microsoft.com/office/drawing/2014/main" id="{85307DA7-97BE-4B63-A0AE-D668653E385C}"/>
                </a:ext>
              </a:extLst>
            </p:cNvPr>
            <p:cNvSpPr txBox="1">
              <a:spLocks noChangeArrowheads="1"/>
            </p:cNvSpPr>
            <p:nvPr/>
          </p:nvSpPr>
          <p:spPr bwMode="auto">
            <a:xfrm>
              <a:off x="3655497" y="4114554"/>
              <a:ext cx="310705" cy="356616"/>
            </a:xfrm>
            <a:prstGeom prst="rect">
              <a:avLst/>
            </a:prstGeom>
            <a:no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 name="Oval 817">
              <a:extLst>
                <a:ext uri="{FF2B5EF4-FFF2-40B4-BE49-F238E27FC236}">
                  <a16:creationId xmlns:a16="http://schemas.microsoft.com/office/drawing/2014/main" id="{7074D32D-5D82-40CA-99C7-AF53D824767D}"/>
                </a:ext>
              </a:extLst>
            </p:cNvPr>
            <p:cNvSpPr>
              <a:spLocks noChangeArrowheads="1"/>
            </p:cNvSpPr>
            <p:nvPr/>
          </p:nvSpPr>
          <p:spPr bwMode="auto">
            <a:xfrm>
              <a:off x="5513393" y="1839787"/>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32" name="Oval 818">
              <a:extLst>
                <a:ext uri="{FF2B5EF4-FFF2-40B4-BE49-F238E27FC236}">
                  <a16:creationId xmlns:a16="http://schemas.microsoft.com/office/drawing/2014/main" id="{EC767C19-33A0-4E3B-8AE8-6F8079DAFC36}"/>
                </a:ext>
              </a:extLst>
            </p:cNvPr>
            <p:cNvSpPr>
              <a:spLocks noChangeArrowheads="1"/>
            </p:cNvSpPr>
            <p:nvPr/>
          </p:nvSpPr>
          <p:spPr bwMode="auto">
            <a:xfrm>
              <a:off x="5221733" y="4296550"/>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33" name="Oval 819">
              <a:extLst>
                <a:ext uri="{FF2B5EF4-FFF2-40B4-BE49-F238E27FC236}">
                  <a16:creationId xmlns:a16="http://schemas.microsoft.com/office/drawing/2014/main" id="{9DB13820-008C-482D-A4FB-0D755B550AF6}"/>
                </a:ext>
              </a:extLst>
            </p:cNvPr>
            <p:cNvSpPr>
              <a:spLocks noChangeArrowheads="1"/>
            </p:cNvSpPr>
            <p:nvPr/>
          </p:nvSpPr>
          <p:spPr bwMode="auto">
            <a:xfrm>
              <a:off x="4219445" y="3461346"/>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34" name="Oval 820">
              <a:extLst>
                <a:ext uri="{FF2B5EF4-FFF2-40B4-BE49-F238E27FC236}">
                  <a16:creationId xmlns:a16="http://schemas.microsoft.com/office/drawing/2014/main" id="{EB38AA37-8C7E-43C0-8CAE-9554C9474C0A}"/>
                </a:ext>
              </a:extLst>
            </p:cNvPr>
            <p:cNvSpPr>
              <a:spLocks noChangeArrowheads="1"/>
            </p:cNvSpPr>
            <p:nvPr/>
          </p:nvSpPr>
          <p:spPr bwMode="auto">
            <a:xfrm>
              <a:off x="5346277" y="3002089"/>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35" name="Line 821">
              <a:extLst>
                <a:ext uri="{FF2B5EF4-FFF2-40B4-BE49-F238E27FC236}">
                  <a16:creationId xmlns:a16="http://schemas.microsoft.com/office/drawing/2014/main" id="{B0736D58-4825-47C7-A1DD-B6505BD75039}"/>
                </a:ext>
              </a:extLst>
            </p:cNvPr>
            <p:cNvCxnSpPr>
              <a:cxnSpLocks noChangeShapeType="1"/>
              <a:stCxn id="33" idx="5"/>
              <a:endCxn id="32" idx="1"/>
            </p:cNvCxnSpPr>
            <p:nvPr/>
          </p:nvCxnSpPr>
          <p:spPr bwMode="auto">
            <a:xfrm>
              <a:off x="4311629" y="3553635"/>
              <a:ext cx="925920" cy="758749"/>
            </a:xfrm>
            <a:prstGeom prst="line">
              <a:avLst/>
            </a:prstGeom>
            <a:noFill/>
            <a:ln w="19050">
              <a:solidFill>
                <a:srgbClr val="000000"/>
              </a:solidFill>
              <a:round/>
              <a:headEnd/>
              <a:tailEnd/>
            </a:ln>
          </p:spPr>
        </p:cxnSp>
        <p:cxnSp>
          <p:nvCxnSpPr>
            <p:cNvPr id="36" name="Line 822">
              <a:extLst>
                <a:ext uri="{FF2B5EF4-FFF2-40B4-BE49-F238E27FC236}">
                  <a16:creationId xmlns:a16="http://schemas.microsoft.com/office/drawing/2014/main" id="{E38D8BF3-243F-4390-960A-F9861FD3CD75}"/>
                </a:ext>
              </a:extLst>
            </p:cNvPr>
            <p:cNvCxnSpPr>
              <a:cxnSpLocks noChangeShapeType="1"/>
              <a:stCxn id="31" idx="5"/>
              <a:endCxn id="34" idx="0"/>
            </p:cNvCxnSpPr>
            <p:nvPr/>
          </p:nvCxnSpPr>
          <p:spPr bwMode="auto">
            <a:xfrm flipH="1">
              <a:off x="5400277" y="1932076"/>
              <a:ext cx="205300" cy="1070013"/>
            </a:xfrm>
            <a:prstGeom prst="line">
              <a:avLst/>
            </a:prstGeom>
            <a:noFill/>
            <a:ln w="19050">
              <a:solidFill>
                <a:srgbClr val="000000"/>
              </a:solidFill>
              <a:round/>
              <a:headEnd/>
              <a:tailEnd/>
            </a:ln>
          </p:spPr>
        </p:cxnSp>
        <p:cxnSp>
          <p:nvCxnSpPr>
            <p:cNvPr id="37" name="Line 823">
              <a:extLst>
                <a:ext uri="{FF2B5EF4-FFF2-40B4-BE49-F238E27FC236}">
                  <a16:creationId xmlns:a16="http://schemas.microsoft.com/office/drawing/2014/main" id="{39B70F1E-C702-4988-A1DA-9EDAF9AE428F}"/>
                </a:ext>
              </a:extLst>
            </p:cNvPr>
            <p:cNvCxnSpPr>
              <a:cxnSpLocks noChangeShapeType="1"/>
              <a:stCxn id="31" idx="3"/>
              <a:endCxn id="43" idx="7"/>
            </p:cNvCxnSpPr>
            <p:nvPr/>
          </p:nvCxnSpPr>
          <p:spPr bwMode="auto">
            <a:xfrm flipH="1">
              <a:off x="4311629" y="1932076"/>
              <a:ext cx="1217580" cy="660714"/>
            </a:xfrm>
            <a:prstGeom prst="line">
              <a:avLst/>
            </a:prstGeom>
            <a:noFill/>
            <a:ln w="19050">
              <a:solidFill>
                <a:srgbClr val="000000"/>
              </a:solidFill>
              <a:round/>
              <a:headEnd/>
              <a:tailEnd/>
            </a:ln>
          </p:spPr>
        </p:cxnSp>
        <p:cxnSp>
          <p:nvCxnSpPr>
            <p:cNvPr id="38" name="Line 824">
              <a:extLst>
                <a:ext uri="{FF2B5EF4-FFF2-40B4-BE49-F238E27FC236}">
                  <a16:creationId xmlns:a16="http://schemas.microsoft.com/office/drawing/2014/main" id="{F21B895B-7095-477B-A072-1CCBF64A3C56}"/>
                </a:ext>
              </a:extLst>
            </p:cNvPr>
            <p:cNvCxnSpPr>
              <a:cxnSpLocks noChangeShapeType="1"/>
              <a:stCxn id="34" idx="4"/>
              <a:endCxn id="32" idx="7"/>
            </p:cNvCxnSpPr>
            <p:nvPr/>
          </p:nvCxnSpPr>
          <p:spPr bwMode="auto">
            <a:xfrm flipH="1">
              <a:off x="5313917" y="3110212"/>
              <a:ext cx="86360" cy="1202172"/>
            </a:xfrm>
            <a:prstGeom prst="line">
              <a:avLst/>
            </a:prstGeom>
            <a:noFill/>
            <a:ln w="19050">
              <a:solidFill>
                <a:srgbClr val="000000"/>
              </a:solidFill>
              <a:round/>
              <a:headEnd/>
              <a:tailEnd/>
            </a:ln>
          </p:spPr>
        </p:cxnSp>
        <p:sp>
          <p:nvSpPr>
            <p:cNvPr id="39" name="Text Box 825">
              <a:extLst>
                <a:ext uri="{FF2B5EF4-FFF2-40B4-BE49-F238E27FC236}">
                  <a16:creationId xmlns:a16="http://schemas.microsoft.com/office/drawing/2014/main" id="{9F6D5BCE-6B64-45F1-A591-08A1B9572C90}"/>
                </a:ext>
              </a:extLst>
            </p:cNvPr>
            <p:cNvSpPr txBox="1">
              <a:spLocks noChangeArrowheads="1"/>
            </p:cNvSpPr>
            <p:nvPr/>
          </p:nvSpPr>
          <p:spPr bwMode="auto">
            <a:xfrm>
              <a:off x="4899762" y="2911468"/>
              <a:ext cx="194821" cy="360409"/>
            </a:xfrm>
            <a:prstGeom prst="rect">
              <a:avLst/>
            </a:prstGeom>
            <a:noFill/>
            <a:ln w="9525">
              <a:noFill/>
              <a:miter lim="800000"/>
              <a:headEnd/>
              <a:tailEnd/>
            </a:ln>
          </p:spPr>
          <p:txBody>
            <a:bodyPr rot="0" vert="horz" wrap="square" lIns="0" tIns="0" rIns="0" bIns="0" anchor="t" anchorCtr="0" upright="1">
              <a:noAutofit/>
            </a:bodyPr>
            <a:lstStyle/>
            <a:p>
              <a:pPr algn="ctr"/>
              <a:r>
                <a:rPr lang="en-US" alt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40" name="Text Box 826">
              <a:extLst>
                <a:ext uri="{FF2B5EF4-FFF2-40B4-BE49-F238E27FC236}">
                  <a16:creationId xmlns:a16="http://schemas.microsoft.com/office/drawing/2014/main" id="{4A0E0FAD-535A-458A-95B4-E04ADDEDCE06}"/>
                </a:ext>
              </a:extLst>
            </p:cNvPr>
            <p:cNvSpPr txBox="1">
              <a:spLocks noChangeArrowheads="1"/>
            </p:cNvSpPr>
            <p:nvPr/>
          </p:nvSpPr>
          <p:spPr bwMode="auto">
            <a:xfrm>
              <a:off x="5531676" y="2843525"/>
              <a:ext cx="265357" cy="430307"/>
            </a:xfrm>
            <a:prstGeom prst="rect">
              <a:avLst/>
            </a:prstGeom>
            <a:noFill/>
            <a:ln w="9525">
              <a:noFill/>
              <a:miter lim="800000"/>
              <a:headEnd/>
              <a:tailEnd/>
            </a:ln>
          </p:spPr>
          <p:txBody>
            <a:bodyPr rot="0" vert="horz" wrap="square" lIns="0" tIns="0" rIns="0" bIns="0" anchor="t" anchorCtr="0" upright="1">
              <a:noAutofit/>
            </a:bodyPr>
            <a:lstStyle/>
            <a:p>
              <a:pPr algn="ctr"/>
              <a:r>
                <a:rPr lang="en-US" alt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41" name="Text Box 827">
                  <a:extLst>
                    <a:ext uri="{FF2B5EF4-FFF2-40B4-BE49-F238E27FC236}">
                      <a16:creationId xmlns:a16="http://schemas.microsoft.com/office/drawing/2014/main" id="{A39E53D5-0572-42F4-8818-68F4B7CBB8C1}"/>
                    </a:ext>
                  </a:extLst>
                </p:cNvPr>
                <p:cNvSpPr txBox="1">
                  <a:spLocks noChangeArrowheads="1"/>
                </p:cNvSpPr>
                <p:nvPr/>
              </p:nvSpPr>
              <p:spPr bwMode="auto">
                <a:xfrm>
                  <a:off x="5404230" y="4186183"/>
                  <a:ext cx="873380" cy="515955"/>
                </a:xfrm>
                <a:prstGeom prst="rect">
                  <a:avLst/>
                </a:prstGeom>
                <a:noFill/>
                <a:ln w="9525">
                  <a:noFill/>
                  <a:miter lim="800000"/>
                  <a:headEnd/>
                  <a:tailEnd/>
                </a:ln>
              </p:spPr>
              <p:txBody>
                <a:bodyPr rot="0" vert="horz" wrap="square" lIns="0" tIns="0" rIns="0" bIns="0" anchor="t" anchorCtr="0" upright="1">
                  <a:noAutofit/>
                </a:bodyPr>
                <a:lstStyle/>
                <a:p>
                  <a:pPr algn="ctr"/>
                  <a14:m>
                    <m:oMath xmlns:m="http://schemas.openxmlformats.org/officeDocument/2006/math">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 </m:t>
                      </m:r>
                    </m:oMath>
                  </a14:m>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41" name="Text Box 827">
                  <a:extLst>
                    <a:ext uri="{FF2B5EF4-FFF2-40B4-BE49-F238E27FC236}">
                      <a16:creationId xmlns:a16="http://schemas.microsoft.com/office/drawing/2014/main" id="{A39E53D5-0572-42F4-8818-68F4B7CBB8C1}"/>
                    </a:ext>
                  </a:extLst>
                </p:cNvPr>
                <p:cNvSpPr txBox="1">
                  <a:spLocks noRot="1" noChangeAspect="1" noMove="1" noResize="1" noEditPoints="1" noAdjustHandles="1" noChangeArrowheads="1" noChangeShapeType="1" noTextEdit="1"/>
                </p:cNvSpPr>
                <p:nvPr/>
              </p:nvSpPr>
              <p:spPr bwMode="auto">
                <a:xfrm>
                  <a:off x="5404230" y="4186183"/>
                  <a:ext cx="873380" cy="515955"/>
                </a:xfrm>
                <a:prstGeom prst="rect">
                  <a:avLst/>
                </a:prstGeom>
                <a:blipFill>
                  <a:blip r:embed="rId9"/>
                  <a:stretch>
                    <a:fillRect l="-8333"/>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Text Box 828">
                  <a:extLst>
                    <a:ext uri="{FF2B5EF4-FFF2-40B4-BE49-F238E27FC236}">
                      <a16:creationId xmlns:a16="http://schemas.microsoft.com/office/drawing/2014/main" id="{CE80848A-F92A-4EF8-8B51-1AE9C7D89D91}"/>
                    </a:ext>
                  </a:extLst>
                </p:cNvPr>
                <p:cNvSpPr txBox="1">
                  <a:spLocks noChangeArrowheads="1"/>
                </p:cNvSpPr>
                <p:nvPr/>
              </p:nvSpPr>
              <p:spPr bwMode="auto">
                <a:xfrm>
                  <a:off x="5621393" y="1452108"/>
                  <a:ext cx="776821" cy="388864"/>
                </a:xfrm>
                <a:prstGeom prst="rect">
                  <a:avLst/>
                </a:prstGeom>
                <a:noFill/>
                <a:ln w="9525">
                  <a:noFill/>
                  <a:miter lim="800000"/>
                  <a:headEnd/>
                  <a:tailEnd/>
                </a:ln>
              </p:spPr>
              <p:txBody>
                <a:bodyPr rot="0" vert="horz" wrap="square" lIns="0" tIns="0" rIns="0" bIns="0" anchor="t" anchorCtr="0" upright="1">
                  <a:noAutofit/>
                </a:bodyPr>
                <a:lstStyle/>
                <a:p>
                  <a:pPr algn="ctr"/>
                  <a14:m>
                    <m:oMathPara xmlns:m="http://schemas.openxmlformats.org/officeDocument/2006/math">
                      <m:oMathParaPr>
                        <m:jc m:val="centerGroup"/>
                      </m:oMathParaPr>
                      <m:oMath xmlns:m="http://schemas.openxmlformats.org/officeDocument/2006/math">
                        <m:r>
                          <a:rPr lang="en-US" altLang="zh-CN" b="1" i="1" kern="100" dirty="0" smtClean="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smtClean="0">
                            <a:latin typeface="Cambria Math" panose="02040503050406030204" pitchFamily="18" charset="0"/>
                            <a:cs typeface="宋体" panose="02010600030101010101" pitchFamily="2" charset="-122"/>
                          </a:rPr>
                          <m:t>𝒃</m:t>
                        </m:r>
                      </m:oMath>
                    </m:oMathPara>
                  </a14:m>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42" name="Text Box 828">
                  <a:extLst>
                    <a:ext uri="{FF2B5EF4-FFF2-40B4-BE49-F238E27FC236}">
                      <a16:creationId xmlns:a16="http://schemas.microsoft.com/office/drawing/2014/main" id="{CE80848A-F92A-4EF8-8B51-1AE9C7D89D91}"/>
                    </a:ext>
                  </a:extLst>
                </p:cNvPr>
                <p:cNvSpPr txBox="1">
                  <a:spLocks noRot="1" noChangeAspect="1" noMove="1" noResize="1" noEditPoints="1" noAdjustHandles="1" noChangeArrowheads="1" noChangeShapeType="1" noTextEdit="1"/>
                </p:cNvSpPr>
                <p:nvPr/>
              </p:nvSpPr>
              <p:spPr bwMode="auto">
                <a:xfrm>
                  <a:off x="5621393" y="1452108"/>
                  <a:ext cx="776821" cy="388864"/>
                </a:xfrm>
                <a:prstGeom prst="rect">
                  <a:avLst/>
                </a:prstGeom>
                <a:blipFill>
                  <a:blip r:embed="rId10"/>
                  <a:stretch>
                    <a:fillRect l="-9449" r="-3937" b="-3125"/>
                  </a:stretch>
                </a:blipFill>
                <a:ln w="9525">
                  <a:noFill/>
                  <a:miter lim="800000"/>
                  <a:headEnd/>
                  <a:tailEnd/>
                </a:ln>
              </p:spPr>
              <p:txBody>
                <a:bodyPr/>
                <a:lstStyle/>
                <a:p>
                  <a:r>
                    <a:rPr lang="zh-CN" altLang="en-US">
                      <a:noFill/>
                    </a:rPr>
                    <a:t> </a:t>
                  </a:r>
                </a:p>
              </p:txBody>
            </p:sp>
          </mc:Fallback>
        </mc:AlternateContent>
        <p:sp>
          <p:nvSpPr>
            <p:cNvPr id="43" name="Oval 829">
              <a:extLst>
                <a:ext uri="{FF2B5EF4-FFF2-40B4-BE49-F238E27FC236}">
                  <a16:creationId xmlns:a16="http://schemas.microsoft.com/office/drawing/2014/main" id="{7F8536AB-9E7C-40C9-A182-290C7988C536}"/>
                </a:ext>
              </a:extLst>
            </p:cNvPr>
            <p:cNvSpPr>
              <a:spLocks noChangeArrowheads="1"/>
            </p:cNvSpPr>
            <p:nvPr/>
          </p:nvSpPr>
          <p:spPr bwMode="auto">
            <a:xfrm>
              <a:off x="4219445" y="2576956"/>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44" name="Oval 817">
              <a:extLst>
                <a:ext uri="{FF2B5EF4-FFF2-40B4-BE49-F238E27FC236}">
                  <a16:creationId xmlns:a16="http://schemas.microsoft.com/office/drawing/2014/main" id="{5E27C921-234B-4EB9-9FD4-C70FA4F4B5D3}"/>
                </a:ext>
              </a:extLst>
            </p:cNvPr>
            <p:cNvSpPr>
              <a:spLocks noChangeArrowheads="1"/>
            </p:cNvSpPr>
            <p:nvPr/>
          </p:nvSpPr>
          <p:spPr bwMode="auto">
            <a:xfrm>
              <a:off x="4980138" y="1861061"/>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45" name="Line 823">
              <a:extLst>
                <a:ext uri="{FF2B5EF4-FFF2-40B4-BE49-F238E27FC236}">
                  <a16:creationId xmlns:a16="http://schemas.microsoft.com/office/drawing/2014/main" id="{BE4F93BE-0C7F-4D5D-9337-C6E79E7790D1}"/>
                </a:ext>
              </a:extLst>
            </p:cNvPr>
            <p:cNvCxnSpPr>
              <a:cxnSpLocks noChangeShapeType="1"/>
              <a:stCxn id="44" idx="3"/>
              <a:endCxn id="43" idx="1"/>
            </p:cNvCxnSpPr>
            <p:nvPr/>
          </p:nvCxnSpPr>
          <p:spPr bwMode="auto">
            <a:xfrm flipH="1">
              <a:off x="4235261" y="1953350"/>
              <a:ext cx="760693" cy="639440"/>
            </a:xfrm>
            <a:prstGeom prst="line">
              <a:avLst/>
            </a:prstGeom>
            <a:noFill/>
            <a:ln w="19050">
              <a:solidFill>
                <a:srgbClr val="000000"/>
              </a:solidFill>
              <a:round/>
              <a:headEnd/>
              <a:tailEnd/>
            </a:ln>
          </p:spPr>
        </p:cxnSp>
        <p:sp>
          <p:nvSpPr>
            <p:cNvPr id="46" name="Oval 817">
              <a:extLst>
                <a:ext uri="{FF2B5EF4-FFF2-40B4-BE49-F238E27FC236}">
                  <a16:creationId xmlns:a16="http://schemas.microsoft.com/office/drawing/2014/main" id="{7F11E57A-3415-4FC1-9538-5AC33546FF73}"/>
                </a:ext>
              </a:extLst>
            </p:cNvPr>
            <p:cNvSpPr>
              <a:spLocks noChangeArrowheads="1"/>
            </p:cNvSpPr>
            <p:nvPr/>
          </p:nvSpPr>
          <p:spPr bwMode="auto">
            <a:xfrm>
              <a:off x="3488488" y="4296550"/>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47" name="Line 823">
              <a:extLst>
                <a:ext uri="{FF2B5EF4-FFF2-40B4-BE49-F238E27FC236}">
                  <a16:creationId xmlns:a16="http://schemas.microsoft.com/office/drawing/2014/main" id="{97BB8A72-36DB-427B-A9C4-2826E06F542B}"/>
                </a:ext>
              </a:extLst>
            </p:cNvPr>
            <p:cNvCxnSpPr>
              <a:cxnSpLocks noChangeShapeType="1"/>
              <a:stCxn id="46" idx="7"/>
              <a:endCxn id="33" idx="3"/>
            </p:cNvCxnSpPr>
            <p:nvPr/>
          </p:nvCxnSpPr>
          <p:spPr bwMode="auto">
            <a:xfrm flipV="1">
              <a:off x="3580672" y="3553635"/>
              <a:ext cx="654589" cy="758749"/>
            </a:xfrm>
            <a:prstGeom prst="line">
              <a:avLst/>
            </a:prstGeom>
            <a:noFill/>
            <a:ln w="19050">
              <a:solidFill>
                <a:srgbClr val="000000"/>
              </a:solidFill>
              <a:round/>
              <a:headEnd/>
              <a:tailEnd/>
            </a:ln>
          </p:spPr>
        </p:cxn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EC0B6FDB-D953-4B14-88A4-4D5791596743}"/>
                    </a:ext>
                  </a:extLst>
                </p:cNvPr>
                <p:cNvSpPr/>
                <p:nvPr/>
              </p:nvSpPr>
              <p:spPr>
                <a:xfrm>
                  <a:off x="2511328" y="3234957"/>
                  <a:ext cx="183050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 (</m:t>
                        </m:r>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 </m:t>
                        </m:r>
                      </m:oMath>
                    </m:oMathPara>
                  </a14:m>
                  <a:endParaRPr lang="zh-CN" altLang="en-US" dirty="0"/>
                </a:p>
              </p:txBody>
            </p:sp>
          </mc:Choice>
          <mc:Fallback xmlns="">
            <p:sp>
              <p:nvSpPr>
                <p:cNvPr id="48" name="Rectangle 47">
                  <a:extLst>
                    <a:ext uri="{FF2B5EF4-FFF2-40B4-BE49-F238E27FC236}">
                      <a16:creationId xmlns:a16="http://schemas.microsoft.com/office/drawing/2014/main" id="{EC0B6FDB-D953-4B14-88A4-4D5791596743}"/>
                    </a:ext>
                  </a:extLst>
                </p:cNvPr>
                <p:cNvSpPr>
                  <a:spLocks noRot="1" noChangeAspect="1" noMove="1" noResize="1" noEditPoints="1" noAdjustHandles="1" noChangeArrowheads="1" noChangeShapeType="1" noTextEdit="1"/>
                </p:cNvSpPr>
                <p:nvPr/>
              </p:nvSpPr>
              <p:spPr>
                <a:xfrm>
                  <a:off x="2511328" y="3234957"/>
                  <a:ext cx="1830501" cy="461665"/>
                </a:xfrm>
                <a:prstGeom prst="rect">
                  <a:avLst/>
                </a:prstGeom>
                <a:blipFill>
                  <a:blip r:embed="rId11"/>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943F0C1E-A21F-4A03-BDE9-DD2DD9FD0973}"/>
                    </a:ext>
                  </a:extLst>
                </p:cNvPr>
                <p:cNvSpPr/>
                <p:nvPr/>
              </p:nvSpPr>
              <p:spPr>
                <a:xfrm>
                  <a:off x="1877315" y="2244561"/>
                  <a:ext cx="2426406" cy="572464"/>
                </a:xfrm>
                <a:prstGeom prst="rect">
                  <a:avLst/>
                </a:prstGeom>
              </p:spPr>
              <p:txBody>
                <a:bodyPr wrap="square">
                  <a:spAutoFit/>
                </a:bodyPr>
                <a:lstStyle/>
                <a:p>
                  <a:pPr algn="just">
                    <a:lnSpc>
                      <a:spcPct val="130000"/>
                    </a:lnSpc>
                  </a:pPr>
                  <a14:m>
                    <m:oMathPara xmlns:m="http://schemas.openxmlformats.org/officeDocument/2006/math">
                      <m:oMathParaPr>
                        <m:jc m:val="centerGroup"/>
                      </m:oMathParaPr>
                      <m:oMath xmlns:m="http://schemas.openxmlformats.org/officeDocument/2006/math">
                        <m:r>
                          <a:rPr lang="en-US" altLang="zh-CN" b="1" i="1" kern="100" dirty="0" smtClean="0">
                            <a:latin typeface="Cambria Math" panose="02040503050406030204" pitchFamily="18" charset="0"/>
                          </a:rPr>
                          <m:t>(</m:t>
                        </m:r>
                        <m:r>
                          <a:rPr lang="en-US" altLang="zh-CN" b="1" i="1" kern="100" dirty="0" smtClean="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smtClean="0">
                            <a:latin typeface="Cambria Math" panose="02040503050406030204" pitchFamily="18" charset="0"/>
                          </a:rPr>
                          <m:t>𝒃</m:t>
                        </m:r>
                        <m:r>
                          <a:rPr lang="en-US" altLang="zh-CN" b="1" i="1" kern="100" dirty="0">
                            <a:latin typeface="Cambria Math" panose="02040503050406030204" pitchFamily="18" charset="0"/>
                          </a:rPr>
                          <m:t>)</m:t>
                        </m:r>
                        <m:r>
                          <a:rPr lang="zh-CN" altLang="zh-CN" b="1" i="1" kern="100" dirty="0">
                            <a:latin typeface="Cambria Math" panose="02040503050406030204" pitchFamily="18" charset="0"/>
                          </a:rPr>
                          <m:t>∧</m:t>
                        </m:r>
                        <m:r>
                          <a:rPr lang="en-US" altLang="zh-CN" b="1" i="1" kern="100" dirty="0" smtClean="0">
                            <a:latin typeface="Cambria Math" panose="02040503050406030204" pitchFamily="18" charset="0"/>
                          </a:rPr>
                          <m:t>(</m:t>
                        </m:r>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𝒄</m:t>
                        </m:r>
                        <m:r>
                          <a:rPr lang="en-US" altLang="zh-CN" b="1" i="1" kern="100" dirty="0" smtClean="0">
                            <a:latin typeface="Cambria Math" panose="02040503050406030204" pitchFamily="18" charset="0"/>
                          </a:rPr>
                          <m:t>)</m:t>
                        </m:r>
                      </m:oMath>
                    </m:oMathPara>
                  </a14:m>
                  <a:endParaRPr lang="zh-CN" altLang="zh-CN" kern="100" dirty="0">
                    <a:latin typeface="+mn-ea"/>
                  </a:endParaRPr>
                </a:p>
              </p:txBody>
            </p:sp>
          </mc:Choice>
          <mc:Fallback xmlns="">
            <p:sp>
              <p:nvSpPr>
                <p:cNvPr id="49" name="Rectangle 48">
                  <a:extLst>
                    <a:ext uri="{FF2B5EF4-FFF2-40B4-BE49-F238E27FC236}">
                      <a16:creationId xmlns:a16="http://schemas.microsoft.com/office/drawing/2014/main" id="{943F0C1E-A21F-4A03-BDE9-DD2DD9FD0973}"/>
                    </a:ext>
                  </a:extLst>
                </p:cNvPr>
                <p:cNvSpPr>
                  <a:spLocks noRot="1" noChangeAspect="1" noMove="1" noResize="1" noEditPoints="1" noAdjustHandles="1" noChangeArrowheads="1" noChangeShapeType="1" noTextEdit="1"/>
                </p:cNvSpPr>
                <p:nvPr/>
              </p:nvSpPr>
              <p:spPr>
                <a:xfrm>
                  <a:off x="1877315" y="2244561"/>
                  <a:ext cx="2426406" cy="572464"/>
                </a:xfrm>
                <a:prstGeom prst="rect">
                  <a:avLst/>
                </a:prstGeom>
                <a:blipFill>
                  <a:blip r:embed="rId12"/>
                  <a:stretch>
                    <a:fillRect/>
                  </a:stretch>
                </a:blipFill>
              </p:spPr>
              <p:txBody>
                <a:bodyPr/>
                <a:lstStyle/>
                <a:p>
                  <a:r>
                    <a:rPr lang="zh-CN" altLang="en-US">
                      <a:noFill/>
                    </a:rPr>
                    <a:t> </a:t>
                  </a:r>
                </a:p>
              </p:txBody>
            </p:sp>
          </mc:Fallback>
        </mc:AlternateContent>
        <p:sp>
          <p:nvSpPr>
            <p:cNvPr id="28" name="Text Box 827">
              <a:extLst>
                <a:ext uri="{FF2B5EF4-FFF2-40B4-BE49-F238E27FC236}">
                  <a16:creationId xmlns:a16="http://schemas.microsoft.com/office/drawing/2014/main" id="{4B921CDD-94C7-48F4-9BA8-D188D62A79D0}"/>
                </a:ext>
              </a:extLst>
            </p:cNvPr>
            <p:cNvSpPr txBox="1">
              <a:spLocks noChangeArrowheads="1"/>
            </p:cNvSpPr>
            <p:nvPr/>
          </p:nvSpPr>
          <p:spPr bwMode="auto">
            <a:xfrm>
              <a:off x="3746321" y="4707427"/>
              <a:ext cx="1743253" cy="515955"/>
            </a:xfrm>
            <a:prstGeom prst="rect">
              <a:avLst/>
            </a:prstGeom>
            <a:noFill/>
            <a:ln w="9525">
              <a:noFill/>
              <a:miter lim="800000"/>
              <a:headEnd/>
              <a:tailEnd/>
            </a:ln>
          </p:spPr>
          <p:txBody>
            <a:bodyPr rot="0" vert="horz" wrap="square" lIns="0" tIns="0" rIns="0" bIns="0" anchor="t" anchorCtr="0" upright="1">
              <a:noAutofit/>
            </a:bodyPr>
            <a:lstStyle/>
            <a:p>
              <a:pPr algn="ctr"/>
              <a:r>
                <a:rPr lang="zh-CN" altLang="en-US" sz="2400" b="1" kern="100" dirty="0">
                  <a:solidFill>
                    <a:schemeClr val="tx1"/>
                  </a:solidFill>
                  <a:effectLst/>
                  <a:latin typeface="+mn-ea"/>
                  <a:cs typeface="宋体" panose="02010600030101010101" pitchFamily="2" charset="-122"/>
                </a:rPr>
                <a:t>分配不等式</a:t>
              </a:r>
              <a:r>
                <a:rPr lang="en-US" sz="2400" b="1" kern="100" dirty="0">
                  <a:solidFill>
                    <a:schemeClr val="tx1"/>
                  </a:solidFill>
                  <a:effectLst/>
                  <a:latin typeface="+mn-ea"/>
                  <a:cs typeface="宋体" panose="02010600030101010101" pitchFamily="2" charset="-122"/>
                </a:rPr>
                <a:t> </a:t>
              </a:r>
              <a:endParaRPr lang="zh-CN" sz="2400" b="1" kern="100" dirty="0">
                <a:solidFill>
                  <a:schemeClr val="tx1"/>
                </a:solidFill>
                <a:effectLst/>
                <a:latin typeface="+mn-ea"/>
                <a:cs typeface="宋体" panose="02010600030101010101" pitchFamily="2" charset="-122"/>
              </a:endParaRPr>
            </a:p>
          </p:txBody>
        </p:sp>
        <mc:AlternateContent xmlns:mc="http://schemas.openxmlformats.org/markup-compatibility/2006" xmlns:a14="http://schemas.microsoft.com/office/drawing/2010/main">
          <mc:Choice Requires="a14">
            <p:sp>
              <p:nvSpPr>
                <p:cNvPr id="50" name="Text Box 828">
                  <a:extLst>
                    <a:ext uri="{FF2B5EF4-FFF2-40B4-BE49-F238E27FC236}">
                      <a16:creationId xmlns:a16="http://schemas.microsoft.com/office/drawing/2014/main" id="{73605E72-4282-4477-86E7-B553D1A79042}"/>
                    </a:ext>
                  </a:extLst>
                </p:cNvPr>
                <p:cNvSpPr txBox="1">
                  <a:spLocks noChangeArrowheads="1"/>
                </p:cNvSpPr>
                <p:nvPr/>
              </p:nvSpPr>
              <p:spPr bwMode="auto">
                <a:xfrm>
                  <a:off x="4552912" y="1480114"/>
                  <a:ext cx="776821" cy="388864"/>
                </a:xfrm>
                <a:prstGeom prst="rect">
                  <a:avLst/>
                </a:prstGeom>
                <a:noFill/>
                <a:ln w="9525">
                  <a:noFill/>
                  <a:miter lim="800000"/>
                  <a:headEnd/>
                  <a:tailEnd/>
                </a:ln>
              </p:spPr>
              <p:txBody>
                <a:bodyPr rot="0" vert="horz" wrap="square" lIns="0" tIns="0" rIns="0" bIns="0" anchor="t" anchorCtr="0" upright="1">
                  <a:noAutofit/>
                </a:bodyPr>
                <a:lstStyle/>
                <a:p>
                  <a:pPr algn="ctr"/>
                  <a14:m>
                    <m:oMath xmlns:m="http://schemas.openxmlformats.org/officeDocument/2006/math">
                      <m:r>
                        <a:rPr lang="en-US" altLang="zh-CN" b="1" i="1" kern="100" dirty="0" smtClean="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oMath>
                  </a14:m>
                  <a:r>
                    <a:rPr lang="en-US" altLang="zh-CN" b="1" kern="100" dirty="0"/>
                    <a:t> </a:t>
                  </a:r>
                  <a14:m>
                    <m:oMath xmlns:m="http://schemas.openxmlformats.org/officeDocument/2006/math">
                      <m:r>
                        <a:rPr lang="en-US" altLang="zh-CN" b="1" i="1" kern="100" dirty="0">
                          <a:latin typeface="Cambria Math" panose="02040503050406030204" pitchFamily="18" charset="0"/>
                        </a:rPr>
                        <m:t>𝒄</m:t>
                      </m:r>
                    </m:oMath>
                  </a14:m>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50" name="Text Box 828">
                  <a:extLst>
                    <a:ext uri="{FF2B5EF4-FFF2-40B4-BE49-F238E27FC236}">
                      <a16:creationId xmlns:a16="http://schemas.microsoft.com/office/drawing/2014/main" id="{73605E72-4282-4477-86E7-B553D1A79042}"/>
                    </a:ext>
                  </a:extLst>
                </p:cNvPr>
                <p:cNvSpPr txBox="1">
                  <a:spLocks noRot="1" noChangeAspect="1" noMove="1" noResize="1" noEditPoints="1" noAdjustHandles="1" noChangeArrowheads="1" noChangeShapeType="1" noTextEdit="1"/>
                </p:cNvSpPr>
                <p:nvPr/>
              </p:nvSpPr>
              <p:spPr bwMode="auto">
                <a:xfrm>
                  <a:off x="4552912" y="1480114"/>
                  <a:ext cx="776821" cy="388864"/>
                </a:xfrm>
                <a:prstGeom prst="rect">
                  <a:avLst/>
                </a:prstGeom>
                <a:blipFill>
                  <a:blip r:embed="rId13"/>
                  <a:stretch>
                    <a:fillRect l="-3937" r="-3937"/>
                  </a:stretch>
                </a:blipFill>
                <a:ln w="9525">
                  <a:noFill/>
                  <a:miter lim="800000"/>
                  <a:headEnd/>
                  <a:tailEnd/>
                </a:ln>
              </p:spPr>
              <p:txBody>
                <a:bodyPr/>
                <a:lstStyle/>
                <a:p>
                  <a:r>
                    <a:rPr lang="zh-CN" altLang="en-US">
                      <a:noFill/>
                    </a:rPr>
                    <a:t> </a:t>
                  </a:r>
                </a:p>
              </p:txBody>
            </p:sp>
          </mc:Fallback>
        </mc:AlternateContent>
        <p:cxnSp>
          <p:nvCxnSpPr>
            <p:cNvPr id="55" name="Line 823">
              <a:extLst>
                <a:ext uri="{FF2B5EF4-FFF2-40B4-BE49-F238E27FC236}">
                  <a16:creationId xmlns:a16="http://schemas.microsoft.com/office/drawing/2014/main" id="{5A95DB11-1475-4E00-ACE1-05ED64BF5943}"/>
                </a:ext>
              </a:extLst>
            </p:cNvPr>
            <p:cNvCxnSpPr>
              <a:cxnSpLocks noChangeShapeType="1"/>
              <a:stCxn id="58" idx="4"/>
              <a:endCxn id="32" idx="0"/>
            </p:cNvCxnSpPr>
            <p:nvPr/>
          </p:nvCxnSpPr>
          <p:spPr bwMode="auto">
            <a:xfrm>
              <a:off x="4822516" y="3177468"/>
              <a:ext cx="453217" cy="1119082"/>
            </a:xfrm>
            <a:prstGeom prst="line">
              <a:avLst/>
            </a:prstGeom>
            <a:noFill/>
            <a:ln w="19050">
              <a:solidFill>
                <a:srgbClr val="000000"/>
              </a:solidFill>
              <a:round/>
              <a:headEnd/>
              <a:tailEnd/>
            </a:ln>
          </p:spPr>
        </p:cxnSp>
        <p:sp>
          <p:nvSpPr>
            <p:cNvPr id="58" name="Oval 817">
              <a:extLst>
                <a:ext uri="{FF2B5EF4-FFF2-40B4-BE49-F238E27FC236}">
                  <a16:creationId xmlns:a16="http://schemas.microsoft.com/office/drawing/2014/main" id="{DCDE2B61-F45C-4577-81BB-C69CBA607198}"/>
                </a:ext>
              </a:extLst>
            </p:cNvPr>
            <p:cNvSpPr>
              <a:spLocks noChangeArrowheads="1"/>
            </p:cNvSpPr>
            <p:nvPr/>
          </p:nvSpPr>
          <p:spPr bwMode="auto">
            <a:xfrm>
              <a:off x="4768516" y="3069345"/>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61" name="Line 823">
              <a:extLst>
                <a:ext uri="{FF2B5EF4-FFF2-40B4-BE49-F238E27FC236}">
                  <a16:creationId xmlns:a16="http://schemas.microsoft.com/office/drawing/2014/main" id="{F943E69F-1082-46F0-A43F-B97A29B05BA6}"/>
                </a:ext>
              </a:extLst>
            </p:cNvPr>
            <p:cNvCxnSpPr>
              <a:cxnSpLocks noChangeShapeType="1"/>
              <a:endCxn id="58" idx="0"/>
            </p:cNvCxnSpPr>
            <p:nvPr/>
          </p:nvCxnSpPr>
          <p:spPr bwMode="auto">
            <a:xfrm flipH="1">
              <a:off x="4822516" y="1958171"/>
              <a:ext cx="205798" cy="1111174"/>
            </a:xfrm>
            <a:prstGeom prst="line">
              <a:avLst/>
            </a:prstGeom>
            <a:noFill/>
            <a:ln w="19050">
              <a:solidFill>
                <a:srgbClr val="000000"/>
              </a:solidFill>
              <a:round/>
              <a:headEnd/>
              <a:tailEnd/>
            </a:ln>
          </p:spPr>
        </p:cxnSp>
      </p:grpSp>
      <p:grpSp>
        <p:nvGrpSpPr>
          <p:cNvPr id="127" name="Group 126">
            <a:extLst>
              <a:ext uri="{FF2B5EF4-FFF2-40B4-BE49-F238E27FC236}">
                <a16:creationId xmlns:a16="http://schemas.microsoft.com/office/drawing/2014/main" id="{558FACA7-3DF2-4543-8C94-E9C74FCFC60C}"/>
              </a:ext>
            </a:extLst>
          </p:cNvPr>
          <p:cNvGrpSpPr/>
          <p:nvPr/>
        </p:nvGrpSpPr>
        <p:grpSpPr>
          <a:xfrm>
            <a:off x="189770" y="2755052"/>
            <a:ext cx="2079634" cy="3564233"/>
            <a:chOff x="1744296" y="2103718"/>
            <a:chExt cx="2079634" cy="3564233"/>
          </a:xfrm>
        </p:grpSpPr>
        <p:cxnSp>
          <p:nvCxnSpPr>
            <p:cNvPr id="80" name="Line 814">
              <a:extLst>
                <a:ext uri="{FF2B5EF4-FFF2-40B4-BE49-F238E27FC236}">
                  <a16:creationId xmlns:a16="http://schemas.microsoft.com/office/drawing/2014/main" id="{92F1B138-9B9F-4709-A7CC-4BBC6065C2F7}"/>
                </a:ext>
              </a:extLst>
            </p:cNvPr>
            <p:cNvCxnSpPr>
              <a:cxnSpLocks noChangeShapeType="1"/>
              <a:stCxn id="94" idx="4"/>
              <a:endCxn id="84" idx="0"/>
            </p:cNvCxnSpPr>
            <p:nvPr/>
          </p:nvCxnSpPr>
          <p:spPr bwMode="auto">
            <a:xfrm flipH="1">
              <a:off x="2684615" y="3318264"/>
              <a:ext cx="10368" cy="1102924"/>
            </a:xfrm>
            <a:prstGeom prst="line">
              <a:avLst/>
            </a:prstGeom>
            <a:noFill/>
            <a:ln w="38100">
              <a:solidFill>
                <a:srgbClr val="0000FF"/>
              </a:solidFill>
              <a:round/>
              <a:headEnd/>
              <a:tailEnd/>
            </a:ln>
          </p:spPr>
        </p:cxnSp>
        <p:sp>
          <p:nvSpPr>
            <p:cNvPr id="81" name="Text Box 815">
              <a:extLst>
                <a:ext uri="{FF2B5EF4-FFF2-40B4-BE49-F238E27FC236}">
                  <a16:creationId xmlns:a16="http://schemas.microsoft.com/office/drawing/2014/main" id="{01AEDAA5-4699-4275-A9E4-0A8BBA1BF32C}"/>
                </a:ext>
              </a:extLst>
            </p:cNvPr>
            <p:cNvSpPr txBox="1">
              <a:spLocks noChangeArrowheads="1"/>
            </p:cNvSpPr>
            <p:nvPr/>
          </p:nvSpPr>
          <p:spPr bwMode="auto">
            <a:xfrm>
              <a:off x="1744296" y="3737780"/>
              <a:ext cx="310705" cy="356616"/>
            </a:xfrm>
            <a:prstGeom prst="rect">
              <a:avLst/>
            </a:prstGeom>
            <a:no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82" name="Oval 817">
              <a:extLst>
                <a:ext uri="{FF2B5EF4-FFF2-40B4-BE49-F238E27FC236}">
                  <a16:creationId xmlns:a16="http://schemas.microsoft.com/office/drawing/2014/main" id="{215B7EFF-FA54-4F81-8CA3-1755B4580169}"/>
                </a:ext>
              </a:extLst>
            </p:cNvPr>
            <p:cNvSpPr>
              <a:spLocks noChangeArrowheads="1"/>
            </p:cNvSpPr>
            <p:nvPr/>
          </p:nvSpPr>
          <p:spPr bwMode="auto">
            <a:xfrm>
              <a:off x="3301609" y="2499893"/>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84" name="Oval 819">
              <a:extLst>
                <a:ext uri="{FF2B5EF4-FFF2-40B4-BE49-F238E27FC236}">
                  <a16:creationId xmlns:a16="http://schemas.microsoft.com/office/drawing/2014/main" id="{B8D894AD-5E75-4B4E-8DF7-99F7932DE5A5}"/>
                </a:ext>
              </a:extLst>
            </p:cNvPr>
            <p:cNvSpPr>
              <a:spLocks noChangeArrowheads="1"/>
            </p:cNvSpPr>
            <p:nvPr/>
          </p:nvSpPr>
          <p:spPr bwMode="auto">
            <a:xfrm>
              <a:off x="2630615" y="4421188"/>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85" name="Oval 820">
              <a:extLst>
                <a:ext uri="{FF2B5EF4-FFF2-40B4-BE49-F238E27FC236}">
                  <a16:creationId xmlns:a16="http://schemas.microsoft.com/office/drawing/2014/main" id="{8019BAC5-ED88-4643-A58D-521D3B977BEA}"/>
                </a:ext>
              </a:extLst>
            </p:cNvPr>
            <p:cNvSpPr>
              <a:spLocks noChangeArrowheads="1"/>
            </p:cNvSpPr>
            <p:nvPr/>
          </p:nvSpPr>
          <p:spPr bwMode="auto">
            <a:xfrm>
              <a:off x="3297139" y="3728607"/>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86" name="Line 821">
              <a:extLst>
                <a:ext uri="{FF2B5EF4-FFF2-40B4-BE49-F238E27FC236}">
                  <a16:creationId xmlns:a16="http://schemas.microsoft.com/office/drawing/2014/main" id="{2D73B64A-17F3-4A80-B74D-133BF1AF4A9B}"/>
                </a:ext>
              </a:extLst>
            </p:cNvPr>
            <p:cNvCxnSpPr>
              <a:cxnSpLocks noChangeShapeType="1"/>
              <a:stCxn id="84" idx="7"/>
              <a:endCxn id="85" idx="3"/>
            </p:cNvCxnSpPr>
            <p:nvPr/>
          </p:nvCxnSpPr>
          <p:spPr bwMode="auto">
            <a:xfrm flipV="1">
              <a:off x="2722799" y="3820896"/>
              <a:ext cx="590156" cy="616126"/>
            </a:xfrm>
            <a:prstGeom prst="line">
              <a:avLst/>
            </a:prstGeom>
            <a:noFill/>
            <a:ln w="19050">
              <a:solidFill>
                <a:srgbClr val="000000"/>
              </a:solidFill>
              <a:round/>
              <a:headEnd/>
              <a:tailEnd/>
            </a:ln>
          </p:spPr>
        </p:cxnSp>
        <p:cxnSp>
          <p:nvCxnSpPr>
            <p:cNvPr id="87" name="Line 822">
              <a:extLst>
                <a:ext uri="{FF2B5EF4-FFF2-40B4-BE49-F238E27FC236}">
                  <a16:creationId xmlns:a16="http://schemas.microsoft.com/office/drawing/2014/main" id="{0B21B3B6-D8E8-4CCF-8252-9AED342DC773}"/>
                </a:ext>
              </a:extLst>
            </p:cNvPr>
            <p:cNvCxnSpPr>
              <a:cxnSpLocks noChangeShapeType="1"/>
              <a:stCxn id="82" idx="4"/>
              <a:endCxn id="85" idx="0"/>
            </p:cNvCxnSpPr>
            <p:nvPr/>
          </p:nvCxnSpPr>
          <p:spPr bwMode="auto">
            <a:xfrm flipH="1">
              <a:off x="3351139" y="2608016"/>
              <a:ext cx="4470" cy="1120591"/>
            </a:xfrm>
            <a:prstGeom prst="line">
              <a:avLst/>
            </a:prstGeom>
            <a:noFill/>
            <a:ln w="19050">
              <a:solidFill>
                <a:srgbClr val="000000"/>
              </a:solidFill>
              <a:round/>
              <a:headEnd/>
              <a:tailEnd/>
            </a:ln>
          </p:spPr>
        </p:cxnSp>
        <p:cxnSp>
          <p:nvCxnSpPr>
            <p:cNvPr id="88" name="Line 823">
              <a:extLst>
                <a:ext uri="{FF2B5EF4-FFF2-40B4-BE49-F238E27FC236}">
                  <a16:creationId xmlns:a16="http://schemas.microsoft.com/office/drawing/2014/main" id="{53559A24-BDDA-48E5-AB71-A3E186329291}"/>
                </a:ext>
              </a:extLst>
            </p:cNvPr>
            <p:cNvCxnSpPr>
              <a:cxnSpLocks noChangeShapeType="1"/>
              <a:stCxn id="82" idx="3"/>
              <a:endCxn id="94" idx="7"/>
            </p:cNvCxnSpPr>
            <p:nvPr/>
          </p:nvCxnSpPr>
          <p:spPr bwMode="auto">
            <a:xfrm flipH="1">
              <a:off x="2733167" y="2592182"/>
              <a:ext cx="584258" cy="633793"/>
            </a:xfrm>
            <a:prstGeom prst="line">
              <a:avLst/>
            </a:prstGeom>
            <a:noFill/>
            <a:ln w="19050">
              <a:solidFill>
                <a:srgbClr val="000000"/>
              </a:solidFill>
              <a:round/>
              <a:headEnd/>
              <a:tailEnd/>
            </a:ln>
          </p:spPr>
        </p:cxnSp>
        <p:sp>
          <p:nvSpPr>
            <p:cNvPr id="90" name="Text Box 825">
              <a:extLst>
                <a:ext uri="{FF2B5EF4-FFF2-40B4-BE49-F238E27FC236}">
                  <a16:creationId xmlns:a16="http://schemas.microsoft.com/office/drawing/2014/main" id="{34967E2F-7FC7-4F1E-8D8E-A2F848F7901C}"/>
                </a:ext>
              </a:extLst>
            </p:cNvPr>
            <p:cNvSpPr txBox="1">
              <a:spLocks noChangeArrowheads="1"/>
            </p:cNvSpPr>
            <p:nvPr/>
          </p:nvSpPr>
          <p:spPr bwMode="auto">
            <a:xfrm>
              <a:off x="1840621" y="2123332"/>
              <a:ext cx="194821" cy="360409"/>
            </a:xfrm>
            <a:prstGeom prst="rect">
              <a:avLst/>
            </a:prstGeom>
            <a:noFill/>
            <a:ln w="9525">
              <a:noFill/>
              <a:miter lim="800000"/>
              <a:headEnd/>
              <a:tailEnd/>
            </a:ln>
          </p:spPr>
          <p:txBody>
            <a:bodyPr rot="0" vert="horz" wrap="square" lIns="0" tIns="0" rIns="0" bIns="0" anchor="t" anchorCtr="0" upright="1">
              <a:noAutofit/>
            </a:bodyPr>
            <a:lstStyle/>
            <a:p>
              <a:pPr algn="ctr"/>
              <a:r>
                <a:rPr lang="en-US" alt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1" name="Text Box 826">
              <a:extLst>
                <a:ext uri="{FF2B5EF4-FFF2-40B4-BE49-F238E27FC236}">
                  <a16:creationId xmlns:a16="http://schemas.microsoft.com/office/drawing/2014/main" id="{CB7978EA-0CE5-4889-A250-C118EF3BDB5C}"/>
                </a:ext>
              </a:extLst>
            </p:cNvPr>
            <p:cNvSpPr txBox="1">
              <a:spLocks noChangeArrowheads="1"/>
            </p:cNvSpPr>
            <p:nvPr/>
          </p:nvSpPr>
          <p:spPr bwMode="auto">
            <a:xfrm>
              <a:off x="3381410" y="3698652"/>
              <a:ext cx="265357" cy="430307"/>
            </a:xfrm>
            <a:prstGeom prst="rect">
              <a:avLst/>
            </a:prstGeom>
            <a:noFill/>
            <a:ln w="9525">
              <a:noFill/>
              <a:miter lim="800000"/>
              <a:headEnd/>
              <a:tailEnd/>
            </a:ln>
          </p:spPr>
          <p:txBody>
            <a:bodyPr rot="0" vert="horz" wrap="square" lIns="0" tIns="0" rIns="0" bIns="0" anchor="t" anchorCtr="0" upright="1">
              <a:noAutofit/>
            </a:bodyPr>
            <a:lstStyle/>
            <a:p>
              <a:pPr algn="ctr"/>
              <a:r>
                <a:rPr lang="en-US" alt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93" name="Text Box 828">
                  <a:extLst>
                    <a:ext uri="{FF2B5EF4-FFF2-40B4-BE49-F238E27FC236}">
                      <a16:creationId xmlns:a16="http://schemas.microsoft.com/office/drawing/2014/main" id="{D2F65B31-7C31-4C1C-8C88-3348E4A9696B}"/>
                    </a:ext>
                  </a:extLst>
                </p:cNvPr>
                <p:cNvSpPr txBox="1">
                  <a:spLocks noChangeArrowheads="1"/>
                </p:cNvSpPr>
                <p:nvPr/>
              </p:nvSpPr>
              <p:spPr bwMode="auto">
                <a:xfrm>
                  <a:off x="3047109" y="2103718"/>
                  <a:ext cx="776821" cy="388864"/>
                </a:xfrm>
                <a:prstGeom prst="rect">
                  <a:avLst/>
                </a:prstGeom>
                <a:noFill/>
                <a:ln w="9525">
                  <a:noFill/>
                  <a:miter lim="800000"/>
                  <a:headEnd/>
                  <a:tailEnd/>
                </a:ln>
              </p:spPr>
              <p:txBody>
                <a:bodyPr rot="0" vert="horz" wrap="square" lIns="0" tIns="0" rIns="0" bIns="0" anchor="t" anchorCtr="0" upright="1">
                  <a:noAutofit/>
                </a:bodyPr>
                <a:lstStyle/>
                <a:p>
                  <a:pPr algn="ctr"/>
                  <a14:m>
                    <m:oMathPara xmlns:m="http://schemas.openxmlformats.org/officeDocument/2006/math">
                      <m:oMathParaPr>
                        <m:jc m:val="centerGroup"/>
                      </m:oMathParaPr>
                      <m:oMath xmlns:m="http://schemas.openxmlformats.org/officeDocument/2006/math">
                        <m:r>
                          <a:rPr lang="en-US" altLang="zh-CN" b="1" i="1" kern="100" dirty="0" smtClean="0">
                            <a:solidFill>
                              <a:srgbClr val="FF0000"/>
                            </a:solidFill>
                            <a:latin typeface="Cambria Math" panose="02040503050406030204" pitchFamily="18" charset="0"/>
                          </a:rPr>
                          <m:t>𝒅</m:t>
                        </m:r>
                      </m:oMath>
                    </m:oMathPara>
                  </a14:m>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93" name="Text Box 828">
                  <a:extLst>
                    <a:ext uri="{FF2B5EF4-FFF2-40B4-BE49-F238E27FC236}">
                      <a16:creationId xmlns:a16="http://schemas.microsoft.com/office/drawing/2014/main" id="{D2F65B31-7C31-4C1C-8C88-3348E4A9696B}"/>
                    </a:ext>
                  </a:extLst>
                </p:cNvPr>
                <p:cNvSpPr txBox="1">
                  <a:spLocks noRot="1" noChangeAspect="1" noMove="1" noResize="1" noEditPoints="1" noAdjustHandles="1" noChangeArrowheads="1" noChangeShapeType="1" noTextEdit="1"/>
                </p:cNvSpPr>
                <p:nvPr/>
              </p:nvSpPr>
              <p:spPr bwMode="auto">
                <a:xfrm>
                  <a:off x="3047109" y="2103718"/>
                  <a:ext cx="776821" cy="388864"/>
                </a:xfrm>
                <a:prstGeom prst="rect">
                  <a:avLst/>
                </a:prstGeom>
                <a:blipFill>
                  <a:blip r:embed="rId14"/>
                  <a:stretch>
                    <a:fillRect b="-3125"/>
                  </a:stretch>
                </a:blipFill>
                <a:ln w="9525">
                  <a:noFill/>
                  <a:miter lim="800000"/>
                  <a:headEnd/>
                  <a:tailEnd/>
                </a:ln>
              </p:spPr>
              <p:txBody>
                <a:bodyPr/>
                <a:lstStyle/>
                <a:p>
                  <a:r>
                    <a:rPr lang="zh-CN" altLang="en-US">
                      <a:noFill/>
                    </a:rPr>
                    <a:t> </a:t>
                  </a:r>
                </a:p>
              </p:txBody>
            </p:sp>
          </mc:Fallback>
        </mc:AlternateContent>
        <p:sp>
          <p:nvSpPr>
            <p:cNvPr id="94" name="Oval 829">
              <a:extLst>
                <a:ext uri="{FF2B5EF4-FFF2-40B4-BE49-F238E27FC236}">
                  <a16:creationId xmlns:a16="http://schemas.microsoft.com/office/drawing/2014/main" id="{BD779A96-7AEF-4EE2-9682-F9CF3856535C}"/>
                </a:ext>
              </a:extLst>
            </p:cNvPr>
            <p:cNvSpPr>
              <a:spLocks noChangeArrowheads="1"/>
            </p:cNvSpPr>
            <p:nvPr/>
          </p:nvSpPr>
          <p:spPr bwMode="auto">
            <a:xfrm>
              <a:off x="2640983" y="3210141"/>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95" name="Oval 817">
              <a:extLst>
                <a:ext uri="{FF2B5EF4-FFF2-40B4-BE49-F238E27FC236}">
                  <a16:creationId xmlns:a16="http://schemas.microsoft.com/office/drawing/2014/main" id="{B5FAFDE6-AB5A-45B5-B633-D5223DD5BE89}"/>
                </a:ext>
              </a:extLst>
            </p:cNvPr>
            <p:cNvSpPr>
              <a:spLocks noChangeArrowheads="1"/>
            </p:cNvSpPr>
            <p:nvPr/>
          </p:nvSpPr>
          <p:spPr bwMode="auto">
            <a:xfrm>
              <a:off x="1972758" y="2490259"/>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96" name="Line 823">
              <a:extLst>
                <a:ext uri="{FF2B5EF4-FFF2-40B4-BE49-F238E27FC236}">
                  <a16:creationId xmlns:a16="http://schemas.microsoft.com/office/drawing/2014/main" id="{B979D70F-5A6B-4663-AA20-30A5E1956FC3}"/>
                </a:ext>
              </a:extLst>
            </p:cNvPr>
            <p:cNvCxnSpPr>
              <a:cxnSpLocks noChangeShapeType="1"/>
              <a:stCxn id="95" idx="5"/>
              <a:endCxn id="94" idx="1"/>
            </p:cNvCxnSpPr>
            <p:nvPr/>
          </p:nvCxnSpPr>
          <p:spPr bwMode="auto">
            <a:xfrm>
              <a:off x="2064942" y="2582548"/>
              <a:ext cx="591857" cy="643427"/>
            </a:xfrm>
            <a:prstGeom prst="line">
              <a:avLst/>
            </a:prstGeom>
            <a:noFill/>
            <a:ln w="19050">
              <a:solidFill>
                <a:srgbClr val="000000"/>
              </a:solidFill>
              <a:round/>
              <a:headEnd/>
              <a:tailEnd/>
            </a:ln>
          </p:spPr>
        </p:cxnSp>
        <p:sp>
          <p:nvSpPr>
            <p:cNvPr id="97" name="Oval 817">
              <a:extLst>
                <a:ext uri="{FF2B5EF4-FFF2-40B4-BE49-F238E27FC236}">
                  <a16:creationId xmlns:a16="http://schemas.microsoft.com/office/drawing/2014/main" id="{F41FA4F4-D013-42B3-A36B-37C6C43E0436}"/>
                </a:ext>
              </a:extLst>
            </p:cNvPr>
            <p:cNvSpPr>
              <a:spLocks noChangeArrowheads="1"/>
            </p:cNvSpPr>
            <p:nvPr/>
          </p:nvSpPr>
          <p:spPr bwMode="auto">
            <a:xfrm>
              <a:off x="1932807" y="3707958"/>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98" name="Line 823">
              <a:extLst>
                <a:ext uri="{FF2B5EF4-FFF2-40B4-BE49-F238E27FC236}">
                  <a16:creationId xmlns:a16="http://schemas.microsoft.com/office/drawing/2014/main" id="{08558C05-F021-482B-AA45-ABEF6ED8A215}"/>
                </a:ext>
              </a:extLst>
            </p:cNvPr>
            <p:cNvCxnSpPr>
              <a:cxnSpLocks noChangeShapeType="1"/>
              <a:stCxn id="97" idx="5"/>
              <a:endCxn id="84" idx="1"/>
            </p:cNvCxnSpPr>
            <p:nvPr/>
          </p:nvCxnSpPr>
          <p:spPr bwMode="auto">
            <a:xfrm>
              <a:off x="2024991" y="3800247"/>
              <a:ext cx="621440" cy="636775"/>
            </a:xfrm>
            <a:prstGeom prst="line">
              <a:avLst/>
            </a:prstGeom>
            <a:noFill/>
            <a:ln w="19050">
              <a:solidFill>
                <a:srgbClr val="000000"/>
              </a:solidFill>
              <a:round/>
              <a:headEnd/>
              <a:tailEnd/>
            </a:ln>
          </p:spPr>
        </p:cxnSp>
        <mc:AlternateContent xmlns:mc="http://schemas.openxmlformats.org/markup-compatibility/2006" xmlns:a14="http://schemas.microsoft.com/office/drawing/2010/main">
          <mc:Choice Requires="a14">
            <p:sp>
              <p:nvSpPr>
                <p:cNvPr id="99" name="Rectangle 98">
                  <a:extLst>
                    <a:ext uri="{FF2B5EF4-FFF2-40B4-BE49-F238E27FC236}">
                      <a16:creationId xmlns:a16="http://schemas.microsoft.com/office/drawing/2014/main" id="{DB57B139-6549-4B21-940B-BBBABEAAA567}"/>
                    </a:ext>
                  </a:extLst>
                </p:cNvPr>
                <p:cNvSpPr/>
                <p:nvPr/>
              </p:nvSpPr>
              <p:spPr>
                <a:xfrm>
                  <a:off x="2204386" y="2548430"/>
                  <a:ext cx="104124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kern="100" dirty="0" smtClean="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smtClean="0">
                            <a:latin typeface="Cambria Math" panose="02040503050406030204" pitchFamily="18" charset="0"/>
                          </a:rPr>
                          <m:t>𝒅</m:t>
                        </m:r>
                        <m:r>
                          <a:rPr lang="en-US" altLang="zh-CN" b="1" i="1" kern="100" dirty="0">
                            <a:latin typeface="Cambria Math" panose="02040503050406030204" pitchFamily="18" charset="0"/>
                          </a:rPr>
                          <m:t> </m:t>
                        </m:r>
                      </m:oMath>
                    </m:oMathPara>
                  </a14:m>
                  <a:endParaRPr lang="zh-CN" altLang="en-US" dirty="0"/>
                </a:p>
              </p:txBody>
            </p:sp>
          </mc:Choice>
          <mc:Fallback xmlns="">
            <p:sp>
              <p:nvSpPr>
                <p:cNvPr id="99" name="Rectangle 98">
                  <a:extLst>
                    <a:ext uri="{FF2B5EF4-FFF2-40B4-BE49-F238E27FC236}">
                      <a16:creationId xmlns:a16="http://schemas.microsoft.com/office/drawing/2014/main" id="{DB57B139-6549-4B21-940B-BBBABEAAA567}"/>
                    </a:ext>
                  </a:extLst>
                </p:cNvPr>
                <p:cNvSpPr>
                  <a:spLocks noRot="1" noChangeAspect="1" noMove="1" noResize="1" noEditPoints="1" noAdjustHandles="1" noChangeArrowheads="1" noChangeShapeType="1" noTextEdit="1"/>
                </p:cNvSpPr>
                <p:nvPr/>
              </p:nvSpPr>
              <p:spPr>
                <a:xfrm>
                  <a:off x="2204386" y="2548430"/>
                  <a:ext cx="1041246" cy="461665"/>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62EC8871-A505-49B7-849D-39DA0826155D}"/>
                    </a:ext>
                  </a:extLst>
                </p:cNvPr>
                <p:cNvSpPr/>
                <p:nvPr/>
              </p:nvSpPr>
              <p:spPr>
                <a:xfrm>
                  <a:off x="2175220" y="4421188"/>
                  <a:ext cx="940257" cy="572464"/>
                </a:xfrm>
                <a:prstGeom prst="rect">
                  <a:avLst/>
                </a:prstGeom>
              </p:spPr>
              <p:txBody>
                <a:bodyPr wrap="none">
                  <a:spAutoFit/>
                </a:bodyPr>
                <a:lstStyle/>
                <a:p>
                  <a:pPr algn="just">
                    <a:lnSpc>
                      <a:spcPct val="130000"/>
                    </a:lnSpc>
                  </a:pP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𝒄</m:t>
                        </m:r>
                      </m:oMath>
                    </m:oMathPara>
                  </a14:m>
                  <a:endParaRPr lang="zh-CN" altLang="zh-CN" kern="100" dirty="0">
                    <a:latin typeface="+mn-ea"/>
                  </a:endParaRPr>
                </a:p>
              </p:txBody>
            </p:sp>
          </mc:Choice>
          <mc:Fallback xmlns="">
            <p:sp>
              <p:nvSpPr>
                <p:cNvPr id="100" name="Rectangle 99">
                  <a:extLst>
                    <a:ext uri="{FF2B5EF4-FFF2-40B4-BE49-F238E27FC236}">
                      <a16:creationId xmlns:a16="http://schemas.microsoft.com/office/drawing/2014/main" id="{62EC8871-A505-49B7-849D-39DA0826155D}"/>
                    </a:ext>
                  </a:extLst>
                </p:cNvPr>
                <p:cNvSpPr>
                  <a:spLocks noRot="1" noChangeAspect="1" noMove="1" noResize="1" noEditPoints="1" noAdjustHandles="1" noChangeArrowheads="1" noChangeShapeType="1" noTextEdit="1"/>
                </p:cNvSpPr>
                <p:nvPr/>
              </p:nvSpPr>
              <p:spPr>
                <a:xfrm>
                  <a:off x="2175220" y="4421188"/>
                  <a:ext cx="940257" cy="572464"/>
                </a:xfrm>
                <a:prstGeom prst="rect">
                  <a:avLst/>
                </a:prstGeom>
                <a:blipFill>
                  <a:blip r:embed="rId16"/>
                  <a:stretch>
                    <a:fillRect/>
                  </a:stretch>
                </a:blipFill>
              </p:spPr>
              <p:txBody>
                <a:bodyPr/>
                <a:lstStyle/>
                <a:p>
                  <a:r>
                    <a:rPr lang="zh-CN" altLang="en-US">
                      <a:noFill/>
                    </a:rPr>
                    <a:t> </a:t>
                  </a:r>
                </a:p>
              </p:txBody>
            </p:sp>
          </mc:Fallback>
        </mc:AlternateContent>
        <p:sp>
          <p:nvSpPr>
            <p:cNvPr id="79" name="Text Box 827">
              <a:extLst>
                <a:ext uri="{FF2B5EF4-FFF2-40B4-BE49-F238E27FC236}">
                  <a16:creationId xmlns:a16="http://schemas.microsoft.com/office/drawing/2014/main" id="{C3B9E068-7BE6-4073-9865-E68D6AB8F6DF}"/>
                </a:ext>
              </a:extLst>
            </p:cNvPr>
            <p:cNvSpPr txBox="1">
              <a:spLocks noChangeArrowheads="1"/>
            </p:cNvSpPr>
            <p:nvPr/>
          </p:nvSpPr>
          <p:spPr bwMode="auto">
            <a:xfrm>
              <a:off x="2010048" y="5151996"/>
              <a:ext cx="1390588" cy="515955"/>
            </a:xfrm>
            <a:prstGeom prst="rect">
              <a:avLst/>
            </a:prstGeom>
            <a:noFill/>
            <a:ln w="9525">
              <a:noFill/>
              <a:miter lim="800000"/>
              <a:headEnd/>
              <a:tailEnd/>
            </a:ln>
          </p:spPr>
          <p:txBody>
            <a:bodyPr rot="0" vert="horz" wrap="square" lIns="0" tIns="0" rIns="0" bIns="0" anchor="t" anchorCtr="0" upright="1">
              <a:noAutofit/>
            </a:bodyPr>
            <a:lstStyle/>
            <a:p>
              <a:pPr algn="ctr"/>
              <a:r>
                <a:rPr lang="zh-CN" altLang="en-US" b="1" kern="100" dirty="0">
                  <a:latin typeface="+mn-ea"/>
                  <a:cs typeface="宋体" panose="02010600030101010101" pitchFamily="2" charset="-122"/>
                </a:rPr>
                <a:t>保序性</a:t>
              </a:r>
              <a:r>
                <a:rPr lang="en-US" sz="2400" b="1" kern="100" dirty="0">
                  <a:solidFill>
                    <a:schemeClr val="tx1"/>
                  </a:solidFill>
                  <a:effectLst/>
                  <a:latin typeface="+mn-ea"/>
                  <a:cs typeface="宋体" panose="02010600030101010101" pitchFamily="2" charset="-122"/>
                </a:rPr>
                <a:t> </a:t>
              </a:r>
              <a:endParaRPr lang="zh-CN" sz="2400" b="1" kern="100" dirty="0">
                <a:solidFill>
                  <a:schemeClr val="tx1"/>
                </a:solidFill>
                <a:effectLst/>
                <a:latin typeface="+mn-ea"/>
                <a:cs typeface="宋体" panose="02010600030101010101" pitchFamily="2" charset="-122"/>
              </a:endParaRPr>
            </a:p>
          </p:txBody>
        </p:sp>
        <p:cxnSp>
          <p:nvCxnSpPr>
            <p:cNvPr id="115" name="Line 821">
              <a:extLst>
                <a:ext uri="{FF2B5EF4-FFF2-40B4-BE49-F238E27FC236}">
                  <a16:creationId xmlns:a16="http://schemas.microsoft.com/office/drawing/2014/main" id="{AF73ECF7-9CC4-486E-828C-7E103A4DCA97}"/>
                </a:ext>
              </a:extLst>
            </p:cNvPr>
            <p:cNvCxnSpPr>
              <a:cxnSpLocks noChangeShapeType="1"/>
              <a:stCxn id="97" idx="0"/>
              <a:endCxn id="95" idx="4"/>
            </p:cNvCxnSpPr>
            <p:nvPr/>
          </p:nvCxnSpPr>
          <p:spPr bwMode="auto">
            <a:xfrm flipV="1">
              <a:off x="1986807" y="2598382"/>
              <a:ext cx="39951" cy="1109576"/>
            </a:xfrm>
            <a:prstGeom prst="line">
              <a:avLst/>
            </a:prstGeom>
            <a:noFill/>
            <a:ln w="19050">
              <a:solidFill>
                <a:srgbClr val="000000"/>
              </a:solidFill>
              <a:round/>
              <a:headEnd/>
              <a:tailEnd/>
            </a:ln>
          </p:spPr>
        </p:cxnSp>
      </p:grpSp>
      <p:sp>
        <p:nvSpPr>
          <p:cNvPr id="148" name="Arrow: Right 147">
            <a:extLst>
              <a:ext uri="{FF2B5EF4-FFF2-40B4-BE49-F238E27FC236}">
                <a16:creationId xmlns:a16="http://schemas.microsoft.com/office/drawing/2014/main" id="{8A3B9F39-6C8E-459A-82E7-60C09CAE23E3}"/>
              </a:ext>
            </a:extLst>
          </p:cNvPr>
          <p:cNvSpPr/>
          <p:nvPr/>
        </p:nvSpPr>
        <p:spPr>
          <a:xfrm>
            <a:off x="2728631" y="3214137"/>
            <a:ext cx="509801" cy="376921"/>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Arrow: Right 148">
            <a:extLst>
              <a:ext uri="{FF2B5EF4-FFF2-40B4-BE49-F238E27FC236}">
                <a16:creationId xmlns:a16="http://schemas.microsoft.com/office/drawing/2014/main" id="{61615404-5712-4042-A0CE-3E8DD17A8A6F}"/>
              </a:ext>
            </a:extLst>
          </p:cNvPr>
          <p:cNvSpPr/>
          <p:nvPr/>
        </p:nvSpPr>
        <p:spPr>
          <a:xfrm>
            <a:off x="8166423" y="3290300"/>
            <a:ext cx="509801" cy="376921"/>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9" name="内容占位符 2">
                <a:extLst>
                  <a:ext uri="{FF2B5EF4-FFF2-40B4-BE49-F238E27FC236}">
                    <a16:creationId xmlns:a16="http://schemas.microsoft.com/office/drawing/2014/main" id="{B0B782B3-07B8-4CBC-9787-065A72DBC5D7}"/>
                  </a:ext>
                </a:extLst>
              </p:cNvPr>
              <p:cNvSpPr txBox="1">
                <a:spLocks/>
              </p:cNvSpPr>
              <p:nvPr/>
            </p:nvSpPr>
            <p:spPr>
              <a:xfrm>
                <a:off x="115694" y="926391"/>
                <a:ext cx="11165081" cy="1385573"/>
              </a:xfrm>
              <a:prstGeom prst="rect">
                <a:avLst/>
              </a:prstGeom>
              <a:solidFill>
                <a:schemeClr val="accent6">
                  <a:lumMod val="20000"/>
                  <a:lumOff val="80000"/>
                </a:schemeClr>
              </a:solidFill>
            </p:spPr>
            <p:txBody>
              <a:bodyPr>
                <a:noAutofit/>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buFont typeface="Wingdings" pitchFamily="2" charset="2"/>
                  <a:buNone/>
                </a:pPr>
                <a:r>
                  <a:rPr lang="zh-CN" altLang="zh-CN" kern="100" dirty="0">
                    <a:latin typeface="+mn-ea"/>
                  </a:rPr>
                  <a:t>（</a:t>
                </a:r>
                <a:r>
                  <a:rPr lang="en-US" altLang="zh-CN" kern="100" dirty="0">
                    <a:latin typeface="+mn-ea"/>
                  </a:rPr>
                  <a:t>1</a:t>
                </a:r>
                <a:r>
                  <a:rPr lang="zh-CN" altLang="zh-CN" kern="100" dirty="0">
                    <a:latin typeface="+mn-ea"/>
                  </a:rPr>
                  <a:t>）保序性：</a:t>
                </a:r>
                <a14:m>
                  <m:oMath xmlns:m="http://schemas.openxmlformats.org/officeDocument/2006/math">
                    <m:r>
                      <a:rPr lang="en-US" altLang="zh-CN" i="1" kern="100" dirty="0" smtClean="0">
                        <a:latin typeface="Cambria Math" panose="02040503050406030204" pitchFamily="18" charset="0"/>
                      </a:rPr>
                      <m:t>𝒂</m:t>
                    </m:r>
                    <m:r>
                      <a:rPr lang="en-US" altLang="zh-CN" i="1" kern="100" dirty="0" smtClean="0">
                        <a:latin typeface="Cambria Math" panose="02040503050406030204" pitchFamily="18" charset="0"/>
                        <a:ea typeface="Cambria Math" panose="02040503050406030204" pitchFamily="18" charset="0"/>
                      </a:rPr>
                      <m:t>≤</m:t>
                    </m:r>
                    <m:r>
                      <a:rPr lang="en-US" altLang="zh-CN" i="1" kern="100" dirty="0" smtClean="0">
                        <a:latin typeface="Cambria Math" panose="02040503050406030204" pitchFamily="18" charset="0"/>
                      </a:rPr>
                      <m:t>𝒃</m:t>
                    </m:r>
                    <m:r>
                      <a:rPr lang="en-US" altLang="zh-CN" i="1" kern="100" dirty="0" smtClean="0">
                        <a:latin typeface="Cambria Math" panose="02040503050406030204" pitchFamily="18" charset="0"/>
                      </a:rPr>
                      <m:t>,</m:t>
                    </m:r>
                    <m:r>
                      <a:rPr lang="en-US" altLang="zh-CN" i="1" kern="100" dirty="0" smtClean="0">
                        <a:latin typeface="Cambria Math" panose="02040503050406030204" pitchFamily="18" charset="0"/>
                      </a:rPr>
                      <m:t>𝒄</m:t>
                    </m:r>
                    <m:r>
                      <a:rPr lang="en-US" altLang="zh-CN" i="1" kern="100" dirty="0" smtClean="0">
                        <a:latin typeface="Cambria Math" panose="02040503050406030204" pitchFamily="18" charset="0"/>
                        <a:ea typeface="Cambria Math" panose="02040503050406030204" pitchFamily="18" charset="0"/>
                      </a:rPr>
                      <m:t>≤</m:t>
                    </m:r>
                    <m:r>
                      <a:rPr lang="en-US" altLang="zh-CN" i="1" kern="100" dirty="0" smtClean="0">
                        <a:latin typeface="Cambria Math" panose="02040503050406030204" pitchFamily="18" charset="0"/>
                      </a:rPr>
                      <m:t>𝒅</m:t>
                    </m:r>
                    <m:r>
                      <a:rPr lang="en-US" altLang="zh-CN" i="1" kern="100" dirty="0" smtClean="0">
                        <a:latin typeface="Cambria Math" panose="02040503050406030204" pitchFamily="18" charset="0"/>
                        <a:ea typeface="Cambria Math" panose="02040503050406030204" pitchFamily="18" charset="0"/>
                        <a:sym typeface="Symbol" panose="05050102010706020507" pitchFamily="18" charset="2"/>
                      </a:rPr>
                      <m:t>⇒</m:t>
                    </m:r>
                    <m:r>
                      <a:rPr lang="en-US" altLang="zh-CN" i="1" kern="100" dirty="0" smtClean="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smtClean="0">
                        <a:latin typeface="Cambria Math" panose="02040503050406030204" pitchFamily="18" charset="0"/>
                      </a:rPr>
                      <m:t>𝒄</m:t>
                    </m:r>
                    <m:r>
                      <a:rPr lang="en-US" altLang="zh-CN" i="1" kern="100" dirty="0" smtClean="0">
                        <a:latin typeface="Cambria Math" panose="02040503050406030204" pitchFamily="18" charset="0"/>
                        <a:ea typeface="Cambria Math" panose="02040503050406030204" pitchFamily="18" charset="0"/>
                      </a:rPr>
                      <m:t>≤</m:t>
                    </m:r>
                    <m:r>
                      <a:rPr lang="en-US" altLang="zh-CN" i="1" kern="100" dirty="0" smtClean="0">
                        <a:latin typeface="Cambria Math" panose="02040503050406030204" pitchFamily="18" charset="0"/>
                        <a:ea typeface="Cambria Math" panose="02040503050406030204" pitchFamily="18" charset="0"/>
                      </a:rPr>
                      <m:t>𝒃</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𝒅</m:t>
                    </m:r>
                    <m:r>
                      <a:rPr lang="en-US" altLang="zh-CN" i="1" kern="100" dirty="0" smtClean="0">
                        <a:latin typeface="Cambria Math" panose="02040503050406030204" pitchFamily="18" charset="0"/>
                      </a:rPr>
                      <m:t>,</m:t>
                    </m:r>
                    <m:r>
                      <a:rPr lang="zh-CN" altLang="zh-CN" i="1" kern="100" dirty="0">
                        <a:latin typeface="Cambria Math" panose="02040503050406030204" pitchFamily="18" charset="0"/>
                      </a:rPr>
                      <m:t> </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smtClean="0">
                        <a:latin typeface="Cambria Math" panose="02040503050406030204" pitchFamily="18" charset="0"/>
                        <a:cs typeface="宋体" panose="02010600030101010101" pitchFamily="2" charset="-122"/>
                      </a:rPr>
                      <m:t>𝒄</m:t>
                    </m:r>
                    <m:r>
                      <a:rPr lang="en-US" altLang="zh-CN" i="1" kern="100" dirty="0" smtClean="0">
                        <a:latin typeface="Cambria Math" panose="02040503050406030204" pitchFamily="18" charset="0"/>
                        <a:ea typeface="Cambria Math" panose="02040503050406030204" pitchFamily="18" charset="0"/>
                        <a:cs typeface="宋体" panose="02010600030101010101" pitchFamily="2" charset="-122"/>
                      </a:rPr>
                      <m:t>≤</m:t>
                    </m:r>
                    <m:r>
                      <a:rPr lang="en-US" altLang="zh-CN" i="1" kern="100" dirty="0" smtClean="0">
                        <a:latin typeface="Cambria Math" panose="02040503050406030204" pitchFamily="18" charset="0"/>
                        <a:ea typeface="Cambria Math" panose="02040503050406030204" pitchFamily="18" charset="0"/>
                        <a:cs typeface="宋体" panose="02010600030101010101" pitchFamily="2" charset="-122"/>
                      </a:rPr>
                      <m:t>𝒃</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𝒅</m:t>
                    </m:r>
                  </m:oMath>
                </a14:m>
                <a:endParaRPr lang="zh-CN" altLang="zh-CN" kern="100" dirty="0">
                  <a:latin typeface="+mn-ea"/>
                </a:endParaRPr>
              </a:p>
              <a:p>
                <a:pPr marL="0" indent="0" algn="just">
                  <a:buFont typeface="Wingdings" pitchFamily="2" charset="2"/>
                  <a:buNone/>
                </a:pPr>
                <a:r>
                  <a:rPr lang="zh-CN" altLang="zh-CN" kern="100" dirty="0">
                    <a:latin typeface="+mn-ea"/>
                  </a:rPr>
                  <a:t>（</a:t>
                </a:r>
                <a:r>
                  <a:rPr lang="en-US" altLang="zh-CN" kern="100" dirty="0">
                    <a:latin typeface="+mn-ea"/>
                  </a:rPr>
                  <a:t>2</a:t>
                </a:r>
                <a:r>
                  <a:rPr lang="zh-CN" altLang="zh-CN" kern="100" dirty="0">
                    <a:latin typeface="+mn-ea"/>
                  </a:rPr>
                  <a:t>）分配不等式：</a:t>
                </a:r>
                <a14:m>
                  <m:oMath xmlns:m="http://schemas.openxmlformats.org/officeDocument/2006/math">
                    <m:r>
                      <a:rPr lang="en-US" altLang="zh-CN" i="1" kern="100" dirty="0" smtClean="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d>
                      <m:dPr>
                        <m:ctrlPr>
                          <a:rPr lang="en-US" altLang="zh-CN" i="1" kern="100" dirty="0">
                            <a:latin typeface="Cambria Math" panose="02040503050406030204" pitchFamily="18" charset="0"/>
                          </a:rPr>
                        </m:ctrlPr>
                      </m:dPr>
                      <m:e>
                        <m:r>
                          <a:rPr lang="en-US" altLang="zh-CN" i="1" kern="100" dirty="0">
                            <a:latin typeface="Cambria Math" panose="02040503050406030204" pitchFamily="18" charset="0"/>
                          </a:rPr>
                          <m:t>𝒃</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e>
                    </m:d>
                    <m:r>
                      <a:rPr lang="en-US" altLang="zh-CN" i="1" kern="100" dirty="0">
                        <a:latin typeface="Cambria Math" panose="02040503050406030204" pitchFamily="18" charset="0"/>
                      </a:rPr>
                      <m:t>≤</m:t>
                    </m:r>
                    <m:d>
                      <m:dPr>
                        <m:ctrlPr>
                          <a:rPr lang="en-US" altLang="zh-CN" i="1" kern="100" dirty="0">
                            <a:latin typeface="Cambria Math" panose="02040503050406030204" pitchFamily="18" charset="0"/>
                          </a:rPr>
                        </m:ctrlPr>
                      </m:dPr>
                      <m:e>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𝒃</m:t>
                        </m:r>
                      </m:e>
                    </m:d>
                    <m:r>
                      <a:rPr lang="zh-CN" altLang="zh-CN" i="1" kern="100" dirty="0">
                        <a:latin typeface="Cambria Math" panose="02040503050406030204" pitchFamily="18" charset="0"/>
                        <a:cs typeface="宋体" panose="02010600030101010101" pitchFamily="2" charset="-122"/>
                      </a:rPr>
                      <m:t>∧</m:t>
                    </m:r>
                    <m:d>
                      <m:dPr>
                        <m:ctrlPr>
                          <a:rPr lang="en-US" altLang="zh-CN" i="1" kern="100" dirty="0">
                            <a:latin typeface="Cambria Math" panose="02040503050406030204" pitchFamily="18" charset="0"/>
                          </a:rPr>
                        </m:ctrlPr>
                      </m:dPr>
                      <m:e>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e>
                    </m:d>
                    <m:r>
                      <a:rPr lang="en-US" altLang="zh-CN" i="1" kern="100" dirty="0" smtClean="0">
                        <a:latin typeface="Cambria Math" panose="02040503050406030204" pitchFamily="18" charset="0"/>
                      </a:rPr>
                      <m:t>;</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zh-CN" altLang="zh-CN" i="1" kern="100" dirty="0">
                        <a:latin typeface="Cambria Math" panose="02040503050406030204" pitchFamily="18" charset="0"/>
                      </a:rPr>
                      <m:t> </m:t>
                    </m:r>
                    <m:r>
                      <a:rPr lang="en-US" altLang="zh-CN" i="1" kern="100" dirty="0">
                        <a:latin typeface="Cambria Math" panose="02040503050406030204" pitchFamily="18" charset="0"/>
                      </a:rPr>
                      <m:t>(</m:t>
                    </m:r>
                    <m:r>
                      <a:rPr lang="en-US" altLang="zh-CN" i="1" kern="100" dirty="0">
                        <a:latin typeface="Cambria Math" panose="02040503050406030204" pitchFamily="18" charset="0"/>
                      </a:rPr>
                      <m:t>𝒃</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r>
                      <a:rPr lang="en-US" altLang="zh-CN" i="1" kern="100" dirty="0">
                        <a:latin typeface="Cambria Math" panose="02040503050406030204" pitchFamily="18" charset="0"/>
                      </a:rPr>
                      <m:t>)≥(</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𝒃</m:t>
                    </m:r>
                    <m:r>
                      <a:rPr lang="en-US" altLang="zh-CN" i="1" kern="100" dirty="0">
                        <a:latin typeface="Cambria Math" panose="02040503050406030204" pitchFamily="18" charset="0"/>
                      </a:rPr>
                      <m:t>) ∨ (</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r>
                      <a:rPr lang="en-US" altLang="zh-CN" i="1" kern="100" dirty="0">
                        <a:latin typeface="Cambria Math" panose="02040503050406030204" pitchFamily="18" charset="0"/>
                      </a:rPr>
                      <m:t>)</m:t>
                    </m:r>
                  </m:oMath>
                </a14:m>
                <a:endParaRPr lang="zh-CN" altLang="zh-CN" kern="100" dirty="0">
                  <a:latin typeface="+mn-ea"/>
                </a:endParaRPr>
              </a:p>
              <a:p>
                <a:pPr marL="0" indent="0" algn="just">
                  <a:buFont typeface="Wingdings" pitchFamily="2" charset="2"/>
                  <a:buNone/>
                </a:pPr>
                <a:r>
                  <a:rPr lang="zh-CN" altLang="zh-CN" kern="100" dirty="0">
                    <a:latin typeface="+mn-ea"/>
                  </a:rPr>
                  <a:t>（</a:t>
                </a:r>
                <a:r>
                  <a:rPr lang="en-US" altLang="zh-CN" kern="100" dirty="0">
                    <a:latin typeface="+mn-ea"/>
                  </a:rPr>
                  <a:t>3</a:t>
                </a:r>
                <a:r>
                  <a:rPr lang="zh-CN" altLang="zh-CN" kern="100" dirty="0">
                    <a:latin typeface="+mn-ea"/>
                  </a:rPr>
                  <a:t>）模不等式：</a:t>
                </a:r>
                <a14:m>
                  <m:oMath xmlns:m="http://schemas.openxmlformats.org/officeDocument/2006/math">
                    <m:r>
                      <a:rPr lang="en-US" altLang="zh-CN" i="1" kern="100" dirty="0" smtClean="0">
                        <a:latin typeface="Cambria Math" panose="02040503050406030204" pitchFamily="18" charset="0"/>
                      </a:rPr>
                      <m:t>𝒂</m:t>
                    </m:r>
                    <m:r>
                      <a:rPr lang="en-US" altLang="zh-CN" i="1" kern="100" dirty="0" smtClean="0">
                        <a:latin typeface="Cambria Math" panose="02040503050406030204" pitchFamily="18" charset="0"/>
                      </a:rPr>
                      <m:t> ≤</m:t>
                    </m:r>
                    <m:r>
                      <a:rPr lang="en-US" altLang="zh-CN" i="1" kern="100" dirty="0" smtClean="0">
                        <a:latin typeface="Cambria Math" panose="02040503050406030204" pitchFamily="18" charset="0"/>
                      </a:rPr>
                      <m:t>𝒄</m:t>
                    </m:r>
                    <m:r>
                      <a:rPr lang="en-US" altLang="zh-CN" i="1" kern="100" dirty="0" smtClean="0">
                        <a:latin typeface="Cambria Math" panose="02040503050406030204" pitchFamily="18" charset="0"/>
                        <a:ea typeface="Cambria Math" panose="02040503050406030204" pitchFamily="18" charset="0"/>
                      </a:rPr>
                      <m:t>⇔</m:t>
                    </m:r>
                    <m:r>
                      <a:rPr lang="en-US" altLang="zh-CN" i="1" kern="100" dirty="0" smtClean="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zh-CN" altLang="zh-CN" i="1" kern="100" dirty="0">
                        <a:latin typeface="Cambria Math" panose="02040503050406030204" pitchFamily="18" charset="0"/>
                      </a:rPr>
                      <m:t> </m:t>
                    </m:r>
                    <m:r>
                      <a:rPr lang="en-US" altLang="zh-CN" i="1" kern="100" dirty="0">
                        <a:latin typeface="Cambria Math" panose="02040503050406030204" pitchFamily="18" charset="0"/>
                      </a:rPr>
                      <m:t>(</m:t>
                    </m:r>
                    <m:r>
                      <a:rPr lang="en-US" altLang="zh-CN" i="1" kern="100" dirty="0">
                        <a:latin typeface="Cambria Math" panose="02040503050406030204" pitchFamily="18" charset="0"/>
                      </a:rPr>
                      <m:t>𝒃</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r>
                      <a:rPr lang="en-US" altLang="zh-CN" i="1" kern="100" dirty="0">
                        <a:latin typeface="Cambria Math" panose="02040503050406030204" pitchFamily="18" charset="0"/>
                      </a:rPr>
                      <m:t>) ≤ (</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𝒃</m:t>
                    </m:r>
                    <m:r>
                      <a:rPr lang="en-US" altLang="zh-CN" i="1" kern="100" dirty="0">
                        <a:latin typeface="Cambria Math" panose="02040503050406030204" pitchFamily="18" charset="0"/>
                      </a:rPr>
                      <m:t>) ∧</m:t>
                    </m:r>
                    <m:r>
                      <a:rPr lang="en-US" altLang="zh-CN" i="1" kern="100" dirty="0">
                        <a:latin typeface="Cambria Math" panose="02040503050406030204" pitchFamily="18" charset="0"/>
                      </a:rPr>
                      <m:t>𝒄</m:t>
                    </m:r>
                  </m:oMath>
                </a14:m>
                <a:endParaRPr lang="zh-CN" altLang="zh-CN" kern="100" dirty="0">
                  <a:latin typeface="+mn-ea"/>
                </a:endParaRPr>
              </a:p>
            </p:txBody>
          </p:sp>
        </mc:Choice>
        <mc:Fallback xmlns="">
          <p:sp>
            <p:nvSpPr>
              <p:cNvPr id="159" name="内容占位符 2">
                <a:extLst>
                  <a:ext uri="{FF2B5EF4-FFF2-40B4-BE49-F238E27FC236}">
                    <a16:creationId xmlns:a16="http://schemas.microsoft.com/office/drawing/2014/main" id="{B0B782B3-07B8-4CBC-9787-065A72DBC5D7}"/>
                  </a:ext>
                </a:extLst>
              </p:cNvPr>
              <p:cNvSpPr txBox="1">
                <a:spLocks noRot="1" noChangeAspect="1" noMove="1" noResize="1" noEditPoints="1" noAdjustHandles="1" noChangeArrowheads="1" noChangeShapeType="1" noTextEdit="1"/>
              </p:cNvSpPr>
              <p:nvPr/>
            </p:nvSpPr>
            <p:spPr>
              <a:xfrm>
                <a:off x="115694" y="926391"/>
                <a:ext cx="11165081" cy="1385573"/>
              </a:xfrm>
              <a:prstGeom prst="rect">
                <a:avLst/>
              </a:prstGeom>
              <a:blipFill>
                <a:blip r:embed="rId17"/>
                <a:stretch>
                  <a:fillRect l="-873" t="-3524" b="-6608"/>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83400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animBg="1"/>
      <p:bldP spid="14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0FE928-720C-49C0-AC4E-24127F99AA42}"/>
              </a:ext>
            </a:extLst>
          </p:cNvPr>
          <p:cNvSpPr>
            <a:spLocks noGrp="1"/>
          </p:cNvSpPr>
          <p:nvPr>
            <p:ph type="title"/>
          </p:nvPr>
        </p:nvSpPr>
        <p:spPr/>
        <p:txBody>
          <a:bodyPr/>
          <a:lstStyle/>
          <a:p>
            <a:r>
              <a:rPr lang="zh-CN" altLang="en-US" dirty="0"/>
              <a:t>格的性质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C59944E-89C9-4E2A-93B6-94FB9A3199CA}"/>
                  </a:ext>
                </a:extLst>
              </p:cNvPr>
              <p:cNvSpPr>
                <a:spLocks noGrp="1"/>
              </p:cNvSpPr>
              <p:nvPr>
                <p:ph idx="1"/>
              </p:nvPr>
            </p:nvSpPr>
            <p:spPr>
              <a:xfrm>
                <a:off x="231774" y="983637"/>
                <a:ext cx="11734800" cy="2446157"/>
              </a:xfrm>
            </p:spPr>
            <p:txBody>
              <a:bodyPr>
                <a:noAutofit/>
              </a:bodyPr>
              <a:lstStyle/>
              <a:p>
                <a:pPr marL="0" indent="0" algn="just">
                  <a:buNone/>
                </a:pPr>
                <a:r>
                  <a:rPr lang="zh-CN" altLang="zh-CN" kern="1100" dirty="0">
                    <a:solidFill>
                      <a:srgbClr val="0000FF"/>
                    </a:solidFill>
                    <a:effectLst/>
                    <a:latin typeface="+mn-ea"/>
                  </a:rPr>
                  <a:t>定理</a:t>
                </a:r>
                <a:r>
                  <a:rPr lang="en-US" altLang="zh-CN" kern="1100" dirty="0">
                    <a:solidFill>
                      <a:srgbClr val="0000FF"/>
                    </a:solidFill>
                    <a:effectLst/>
                    <a:latin typeface="+mn-ea"/>
                  </a:rPr>
                  <a:t>10.3</a:t>
                </a:r>
                <a:r>
                  <a:rPr lang="en-US" altLang="zh-CN" kern="100" dirty="0">
                    <a:solidFill>
                      <a:srgbClr val="0000FF"/>
                    </a:solidFill>
                    <a:effectLst/>
                    <a:latin typeface="+mn-ea"/>
                  </a:rPr>
                  <a:t>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kern="100" dirty="0">
                    <a:effectLst/>
                    <a:latin typeface="+mn-ea"/>
                  </a:rPr>
                  <a:t>是格，</a:t>
                </a:r>
                <a14:m>
                  <m:oMath xmlns:m="http://schemas.openxmlformats.org/officeDocument/2006/math">
                    <m:r>
                      <a:rPr lang="en-US" altLang="zh-CN" b="1" i="1" kern="100" dirty="0" smtClean="0">
                        <a:effectLst/>
                        <a:latin typeface="Cambria Math" panose="02040503050406030204" pitchFamily="18" charset="0"/>
                      </a:rPr>
                      <m:t>“≥”</m:t>
                    </m:r>
                  </m:oMath>
                </a14:m>
                <a:r>
                  <a:rPr lang="zh-CN" altLang="zh-CN"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 ≤ ”</m:t>
                    </m:r>
                  </m:oMath>
                </a14:m>
                <a:r>
                  <a:rPr lang="zh-CN" altLang="zh-CN" kern="100" dirty="0">
                    <a:effectLst/>
                    <a:latin typeface="+mn-ea"/>
                  </a:rPr>
                  <a:t>的逆关系，对应的两个自然运算是</a:t>
                </a:r>
                <a14:m>
                  <m:oMath xmlns:m="http://schemas.openxmlformats.org/officeDocument/2006/math">
                    <m:r>
                      <a:rPr lang="zh-CN" altLang="zh-CN" b="1" i="1" kern="100" dirty="0" smtClean="0">
                        <a:effectLst/>
                        <a:latin typeface="Cambria Math" panose="02040503050406030204" pitchFamily="18" charset="0"/>
                      </a:rPr>
                      <m:t>“∧”</m:t>
                    </m:r>
                  </m:oMath>
                </a14:m>
                <a:r>
                  <a:rPr lang="zh-CN" altLang="zh-CN" kern="100" dirty="0">
                    <a:effectLst/>
                    <a:latin typeface="+mn-ea"/>
                  </a:rPr>
                  <a:t>和</a:t>
                </a:r>
                <a14:m>
                  <m:oMath xmlns:m="http://schemas.openxmlformats.org/officeDocument/2006/math">
                    <m:r>
                      <a:rPr lang="zh-CN" altLang="zh-CN" b="1" i="1" kern="100" dirty="0" smtClean="0">
                        <a:effectLst/>
                        <a:latin typeface="Cambria Math" panose="02040503050406030204" pitchFamily="18" charset="0"/>
                      </a:rPr>
                      <m:t>“</m:t>
                    </m:r>
                    <m:r>
                      <a:rPr lang="zh-CN" altLang="zh-CN" b="1" i="1" kern="100" dirty="0">
                        <a:effectLst/>
                        <a:latin typeface="Cambria Math" panose="02040503050406030204" pitchFamily="18" charset="0"/>
                        <a:cs typeface="宋体" panose="02010600030101010101" pitchFamily="2" charset="-122"/>
                      </a:rPr>
                      <m:t>∨”</m:t>
                    </m:r>
                  </m:oMath>
                </a14:m>
                <a:r>
                  <a:rPr lang="zh-CN" altLang="zh-CN" kern="100" dirty="0">
                    <a:effectLst/>
                    <a:latin typeface="+mn-ea"/>
                    <a:cs typeface="宋体" panose="02010600030101010101" pitchFamily="2" charset="-122"/>
                  </a:rPr>
                  <a:t>，</a:t>
                </a:r>
                <a:r>
                  <a:rPr lang="zh-CN" altLang="zh-CN" kern="100" dirty="0">
                    <a:effectLst/>
                    <a:latin typeface="+mn-ea"/>
                  </a:rPr>
                  <a:t>则对任意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𝒅</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𝑳</m:t>
                    </m:r>
                    <m:r>
                      <a:rPr lang="zh-CN" altLang="zh-CN" b="1" i="1" kern="100" dirty="0">
                        <a:effectLst/>
                        <a:latin typeface="Cambria Math" panose="02040503050406030204" pitchFamily="18" charset="0"/>
                      </a:rPr>
                      <m:t>，</m:t>
                    </m:r>
                  </m:oMath>
                </a14:m>
                <a:r>
                  <a:rPr lang="zh-CN" altLang="zh-CN" kern="100" dirty="0">
                    <a:effectLst/>
                    <a:latin typeface="+mn-ea"/>
                  </a:rPr>
                  <a:t>有</a:t>
                </a:r>
              </a:p>
              <a:p>
                <a:pPr marL="0" indent="0" algn="just">
                  <a:buNone/>
                </a:pPr>
                <a:r>
                  <a:rPr lang="zh-CN" altLang="zh-CN" kern="100" dirty="0">
                    <a:effectLst/>
                    <a:latin typeface="+mn-ea"/>
                  </a:rPr>
                  <a:t>（</a:t>
                </a:r>
                <a:r>
                  <a:rPr lang="en-US" altLang="zh-CN" kern="100" dirty="0">
                    <a:effectLst/>
                    <a:latin typeface="+mn-ea"/>
                  </a:rPr>
                  <a:t>1</a:t>
                </a:r>
                <a:r>
                  <a:rPr lang="zh-CN" altLang="zh-CN" kern="100" dirty="0">
                    <a:effectLst/>
                    <a:latin typeface="+mn-ea"/>
                  </a:rPr>
                  <a:t>）保序性：</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𝒅</m:t>
                    </m:r>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𝒅</m:t>
                    </m:r>
                    <m:r>
                      <a:rPr lang="en-US" altLang="zh-CN" b="1" i="1" kern="100" dirty="0" smtClean="0">
                        <a:effectLst/>
                        <a:latin typeface="Cambria Math" panose="02040503050406030204" pitchFamily="18" charset="0"/>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cs typeface="宋体" panose="02010600030101010101" pitchFamily="2" charset="-122"/>
                      </a:rPr>
                      <m:t>𝒄</m:t>
                    </m:r>
                    <m:r>
                      <a:rPr lang="en-US" altLang="zh-CN" b="1" i="1" kern="100" dirty="0" smtClean="0">
                        <a:effectLst/>
                        <a:latin typeface="Cambria Math" panose="02040503050406030204" pitchFamily="18" charset="0"/>
                        <a:ea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ea typeface="Cambria Math" panose="02040503050406030204" pitchFamily="18" charset="0"/>
                        <a:cs typeface="宋体" panose="02010600030101010101" pitchFamily="2" charset="-122"/>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𝒅</m:t>
                    </m:r>
                  </m:oMath>
                </a14:m>
                <a:endParaRPr lang="zh-CN"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2</a:t>
                </a:r>
                <a:r>
                  <a:rPr lang="zh-CN" altLang="zh-CN" kern="100" dirty="0">
                    <a:effectLst/>
                    <a:latin typeface="+mn-ea"/>
                  </a:rPr>
                  <a:t>）分配不等式：</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d>
                      <m:dPr>
                        <m:ctrlPr>
                          <a:rPr lang="en-US" altLang="zh-CN" b="1" i="1" kern="100" dirty="0">
                            <a:effectLst/>
                            <a:latin typeface="Cambria Math" panose="02040503050406030204" pitchFamily="18" charset="0"/>
                          </a:rPr>
                        </m:ctrlPr>
                      </m:dPr>
                      <m:e>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e>
                    </m:d>
                    <m:r>
                      <a:rPr lang="en-US" altLang="zh-CN" b="1" i="1" kern="100" dirty="0">
                        <a:effectLst/>
                        <a:latin typeface="Cambria Math" panose="02040503050406030204" pitchFamily="18" charset="0"/>
                      </a:rPr>
                      <m:t>≤</m:t>
                    </m:r>
                    <m:d>
                      <m:dPr>
                        <m:ctrlPr>
                          <a:rPr lang="en-US" altLang="zh-CN" b="1" i="1" kern="100" dirty="0">
                            <a:effectLst/>
                            <a:latin typeface="Cambria Math" panose="02040503050406030204" pitchFamily="18" charset="0"/>
                          </a:rPr>
                        </m:ctrlPr>
                      </m:dPr>
                      <m:e>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e>
                    </m:d>
                    <m:r>
                      <a:rPr lang="zh-CN" altLang="zh-CN" b="1" i="1" kern="100" dirty="0">
                        <a:effectLst/>
                        <a:latin typeface="Cambria Math" panose="02040503050406030204" pitchFamily="18" charset="0"/>
                        <a:cs typeface="宋体" panose="02010600030101010101" pitchFamily="2" charset="-122"/>
                      </a:rPr>
                      <m:t>∧</m:t>
                    </m:r>
                    <m:d>
                      <m:dPr>
                        <m:ctrlPr>
                          <a:rPr lang="en-US" altLang="zh-CN" b="1" i="1" kern="100" dirty="0">
                            <a:effectLst/>
                            <a:latin typeface="Cambria Math" panose="02040503050406030204" pitchFamily="18" charset="0"/>
                          </a:rPr>
                        </m:ctrlPr>
                      </m:dPr>
                      <m:e>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e>
                    </m:d>
                    <m:r>
                      <a:rPr lang="en-US" altLang="zh-CN" b="1" i="1" kern="100" dirty="0" smtClean="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oMath>
                </a14:m>
                <a:endParaRPr lang="zh-CN"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3</a:t>
                </a:r>
                <a:r>
                  <a:rPr lang="zh-CN" altLang="zh-CN" kern="100" dirty="0">
                    <a:effectLst/>
                    <a:latin typeface="+mn-ea"/>
                  </a:rPr>
                  <a:t>）模不等式：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𝒄</m:t>
                    </m:r>
                  </m:oMath>
                </a14:m>
                <a:endParaRPr lang="zh-CN" altLang="zh-CN" kern="100" dirty="0">
                  <a:effectLst/>
                  <a:latin typeface="+mn-ea"/>
                </a:endParaRPr>
              </a:p>
            </p:txBody>
          </p:sp>
        </mc:Choice>
        <mc:Fallback xmlns="">
          <p:sp>
            <p:nvSpPr>
              <p:cNvPr id="3" name="内容占位符 2">
                <a:extLst>
                  <a:ext uri="{FF2B5EF4-FFF2-40B4-BE49-F238E27FC236}">
                    <a16:creationId xmlns:a16="http://schemas.microsoft.com/office/drawing/2014/main" id="{EC59944E-89C9-4E2A-93B6-94FB9A3199CA}"/>
                  </a:ext>
                </a:extLst>
              </p:cNvPr>
              <p:cNvSpPr>
                <a:spLocks noGrp="1" noRot="1" noChangeAspect="1" noMove="1" noResize="1" noEditPoints="1" noAdjustHandles="1" noChangeArrowheads="1" noChangeShapeType="1" noTextEdit="1"/>
              </p:cNvSpPr>
              <p:nvPr>
                <p:ph idx="1"/>
              </p:nvPr>
            </p:nvSpPr>
            <p:spPr>
              <a:xfrm>
                <a:off x="231774" y="983637"/>
                <a:ext cx="11734800" cy="2446157"/>
              </a:xfrm>
              <a:blipFill>
                <a:blip r:embed="rId5"/>
                <a:stretch>
                  <a:fillRect l="-519" r="-3169" b="-72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23D90D0-B153-42AF-9F01-29A825E8291A}"/>
                  </a:ext>
                </a:extLst>
              </p:cNvPr>
              <p:cNvSpPr txBox="1"/>
              <p:nvPr/>
            </p:nvSpPr>
            <p:spPr>
              <a:xfrm>
                <a:off x="307975" y="3978111"/>
                <a:ext cx="11430000" cy="1485920"/>
              </a:xfrm>
              <a:prstGeom prst="rect">
                <a:avLst/>
              </a:prstGeom>
              <a:noFill/>
            </p:spPr>
            <p:txBody>
              <a:bodyPr wrap="square">
                <a:spAutoFit/>
              </a:bodyPr>
              <a:lstStyle/>
              <a:p>
                <a:pPr indent="267970" algn="just">
                  <a:lnSpc>
                    <a:spcPct val="130000"/>
                  </a:lnSpc>
                </a:pPr>
                <a:r>
                  <a:rPr lang="zh-CN" altLang="zh-CN" b="1" kern="1100" dirty="0">
                    <a:solidFill>
                      <a:srgbClr val="FF0000"/>
                    </a:solidFill>
                    <a:effectLst/>
                    <a:latin typeface="+mn-ea"/>
                  </a:rPr>
                  <a:t>证明</a:t>
                </a:r>
                <a:r>
                  <a:rPr lang="en-US" altLang="zh-CN" b="1" kern="100" dirty="0">
                    <a:effectLst/>
                    <a:latin typeface="+mn-ea"/>
                  </a:rPr>
                  <a:t>  (1)</a:t>
                </a:r>
                <a:r>
                  <a:rPr lang="zh-CN" altLang="zh-CN" b="1" kern="100" dirty="0">
                    <a:effectLst/>
                    <a:latin typeface="+mn-ea"/>
                  </a:rPr>
                  <a:t>因</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𝒄</m:t>
                    </m:r>
                    <m:r>
                      <a:rPr lang="zh-CN" altLang="zh-CN" b="1" i="1" kern="100" dirty="0">
                        <a:effectLst/>
                        <a:latin typeface="Cambria Math" panose="02040503050406030204" pitchFamily="18" charset="0"/>
                      </a:rPr>
                      <m:t>，</m:t>
                    </m:r>
                  </m:oMath>
                </a14:m>
                <a:r>
                  <a:rPr lang="zh-CN" altLang="zh-CN" b="1" kern="100" dirty="0">
                    <a:effectLst/>
                    <a:latin typeface="+mn-ea"/>
                  </a:rPr>
                  <a:t>由假设</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𝒃</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𝒅</m:t>
                    </m:r>
                    <m:r>
                      <a:rPr lang="zh-CN" altLang="zh-CN" b="1" i="1" kern="100" dirty="0">
                        <a:effectLst/>
                        <a:latin typeface="Cambria Math" panose="02040503050406030204" pitchFamily="18" charset="0"/>
                      </a:rPr>
                      <m:t>，</m:t>
                    </m:r>
                  </m:oMath>
                </a14:m>
                <a:r>
                  <a:rPr lang="zh-CN" altLang="zh-CN" b="1" kern="100" dirty="0">
                    <a:effectLst/>
                    <a:latin typeface="+mn-ea"/>
                  </a:rPr>
                  <a:t>利用</a:t>
                </a:r>
                <a:r>
                  <a:rPr lang="zh-CN" altLang="zh-CN" b="1" kern="100" dirty="0">
                    <a:solidFill>
                      <a:srgbClr val="0000FF"/>
                    </a:solidFill>
                    <a:effectLst/>
                    <a:latin typeface="+mn-ea"/>
                  </a:rPr>
                  <a:t>传递性</a:t>
                </a:r>
                <a:r>
                  <a:rPr lang="zh-CN" altLang="zh-CN" b="1" kern="100" dirty="0">
                    <a:effectLst/>
                    <a:latin typeface="+mn-ea"/>
                  </a:rPr>
                  <a:t>得</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𝒅</m:t>
                    </m:r>
                    <m:r>
                      <a:rPr lang="zh-CN" altLang="zh-CN" b="1" i="1" kern="100" dirty="0">
                        <a:effectLst/>
                        <a:latin typeface="Cambria Math" panose="02040503050406030204" pitchFamily="18" charset="0"/>
                      </a:rPr>
                      <m:t>，</m:t>
                    </m:r>
                  </m:oMath>
                </a14:m>
                <a:r>
                  <a:rPr lang="zh-CN" altLang="zh-CN" b="1" kern="100" dirty="0">
                    <a:effectLst/>
                    <a:latin typeface="+mn-ea"/>
                  </a:rPr>
                  <a:t>可</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oMath>
                </a14:m>
                <a:r>
                  <a:rPr lang="zh-CN" altLang="zh-CN" b="1"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𝒅</m:t>
                    </m:r>
                    <m:r>
                      <a:rPr lang="en-US" altLang="zh-CN" b="1" i="1" kern="100" dirty="0">
                        <a:effectLst/>
                        <a:latin typeface="Cambria Math" panose="02040503050406030204" pitchFamily="18" charset="0"/>
                      </a:rPr>
                      <m:t>}</m:t>
                    </m:r>
                  </m:oMath>
                </a14:m>
                <a:r>
                  <a:rPr lang="zh-CN" altLang="zh-CN" b="1" kern="100" dirty="0">
                    <a:effectLst/>
                    <a:latin typeface="+mn-ea"/>
                  </a:rPr>
                  <a:t>的一个下界，而</a:t>
                </a:r>
                <a14:m>
                  <m:oMath xmlns:m="http://schemas.openxmlformats.org/officeDocument/2006/math">
                    <m:r>
                      <a:rPr lang="en-US" altLang="zh-CN" b="1" i="1" kern="100" dirty="0" smtClean="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𝒅</m:t>
                    </m:r>
                  </m:oMath>
                </a14:m>
                <a:r>
                  <a:rPr lang="zh-CN" altLang="zh-CN" b="1"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b="1" i="1" kern="100" dirty="0">
                        <a:effectLst/>
                        <a:latin typeface="Cambria Math" panose="02040503050406030204" pitchFamily="18" charset="0"/>
                      </a:rPr>
                      <m:t>𝒅</m:t>
                    </m:r>
                    <m:r>
                      <a:rPr lang="en-US" altLang="zh-CN" b="1" i="1" kern="100" dirty="0">
                        <a:effectLst/>
                        <a:latin typeface="Cambria Math" panose="02040503050406030204" pitchFamily="18" charset="0"/>
                      </a:rPr>
                      <m:t>}</m:t>
                    </m:r>
                  </m:oMath>
                </a14:m>
                <a:r>
                  <a:rPr lang="zh-CN" altLang="zh-CN" b="1" kern="100" dirty="0">
                    <a:effectLst/>
                    <a:latin typeface="+mn-ea"/>
                  </a:rPr>
                  <a:t>的最大下界，从而</a:t>
                </a:r>
                <a14:m>
                  <m:oMath xmlns:m="http://schemas.openxmlformats.org/officeDocument/2006/math">
                    <m:r>
                      <a:rPr lang="en-US" altLang="zh-CN" b="1" i="1" kern="100" dirty="0" smtClean="0">
                        <a:solidFill>
                          <a:srgbClr val="0000FF"/>
                        </a:solidFill>
                        <a:effectLst/>
                        <a:latin typeface="Cambria Math" panose="02040503050406030204" pitchFamily="18" charset="0"/>
                      </a:rPr>
                      <m:t>𝒂</m:t>
                    </m:r>
                    <m:r>
                      <a:rPr lang="zh-CN" altLang="zh-CN" b="1" i="1" kern="100" dirty="0">
                        <a:solidFill>
                          <a:srgbClr val="0000FF"/>
                        </a:solidFill>
                        <a:effectLst/>
                        <a:latin typeface="Cambria Math" panose="02040503050406030204" pitchFamily="18" charset="0"/>
                        <a:cs typeface="宋体" panose="02010600030101010101" pitchFamily="2" charset="-122"/>
                      </a:rPr>
                      <m:t>∧</m:t>
                    </m:r>
                    <m:r>
                      <a:rPr lang="en-US" altLang="zh-CN" b="1" i="1" kern="100" dirty="0">
                        <a:solidFill>
                          <a:srgbClr val="0000FF"/>
                        </a:solidFill>
                        <a:effectLst/>
                        <a:latin typeface="Cambria Math" panose="02040503050406030204" pitchFamily="18" charset="0"/>
                      </a:rPr>
                      <m:t>𝒄</m:t>
                    </m:r>
                    <m:r>
                      <a:rPr lang="en-US" altLang="zh-CN" b="1" i="1" kern="100" dirty="0">
                        <a:solidFill>
                          <a:srgbClr val="0000FF"/>
                        </a:solidFill>
                        <a:effectLst/>
                        <a:latin typeface="Cambria Math" panose="02040503050406030204" pitchFamily="18" charset="0"/>
                      </a:rPr>
                      <m:t> ≤ </m:t>
                    </m:r>
                    <m:r>
                      <a:rPr lang="en-US" altLang="zh-CN" b="1" i="1" kern="100" dirty="0">
                        <a:solidFill>
                          <a:srgbClr val="0000FF"/>
                        </a:solidFill>
                        <a:effectLst/>
                        <a:latin typeface="Cambria Math" panose="02040503050406030204" pitchFamily="18" charset="0"/>
                      </a:rPr>
                      <m:t>𝒃</m:t>
                    </m:r>
                    <m:r>
                      <a:rPr lang="zh-CN" altLang="zh-CN" b="1" i="1" kern="100" dirty="0">
                        <a:solidFill>
                          <a:srgbClr val="0000FF"/>
                        </a:solidFill>
                        <a:effectLst/>
                        <a:latin typeface="Cambria Math" panose="02040503050406030204" pitchFamily="18" charset="0"/>
                        <a:cs typeface="宋体" panose="02010600030101010101" pitchFamily="2" charset="-122"/>
                      </a:rPr>
                      <m:t>∧</m:t>
                    </m:r>
                    <m:r>
                      <a:rPr lang="en-US" altLang="zh-CN" b="1" i="1" kern="100" dirty="0">
                        <a:solidFill>
                          <a:srgbClr val="0000FF"/>
                        </a:solidFill>
                        <a:effectLst/>
                        <a:latin typeface="Cambria Math" panose="02040503050406030204" pitchFamily="18" charset="0"/>
                      </a:rPr>
                      <m:t>𝒅</m:t>
                    </m:r>
                  </m:oMath>
                </a14:m>
                <a:r>
                  <a:rPr lang="zh-CN" altLang="zh-CN" b="1" kern="100" dirty="0">
                    <a:effectLst/>
                    <a:latin typeface="+mn-ea"/>
                  </a:rPr>
                  <a:t>；同理</a:t>
                </a:r>
                <a:r>
                  <a:rPr lang="zh-CN" altLang="zh-CN" b="1" kern="100">
                    <a:effectLst/>
                    <a:latin typeface="+mn-ea"/>
                  </a:rPr>
                  <a:t>可证，</a:t>
                </a:r>
                <a14:m>
                  <m:oMath xmlns:m="http://schemas.openxmlformats.org/officeDocument/2006/math">
                    <m:r>
                      <a:rPr lang="en-US" altLang="zh-CN" b="1" i="1" kern="100" dirty="0" smtClean="0">
                        <a:solidFill>
                          <a:srgbClr val="0000FF"/>
                        </a:solidFill>
                        <a:effectLst/>
                        <a:latin typeface="Cambria Math" panose="02040503050406030204" pitchFamily="18" charset="0"/>
                      </a:rPr>
                      <m:t>𝒂</m:t>
                    </m:r>
                    <m:r>
                      <a:rPr lang="zh-CN" altLang="zh-CN" b="1" i="1" kern="100" dirty="0">
                        <a:solidFill>
                          <a:srgbClr val="0000FF"/>
                        </a:solidFill>
                        <a:effectLst/>
                        <a:latin typeface="Cambria Math" panose="02040503050406030204" pitchFamily="18" charset="0"/>
                        <a:cs typeface="宋体" panose="02010600030101010101" pitchFamily="2" charset="-122"/>
                      </a:rPr>
                      <m:t>∨</m:t>
                    </m:r>
                    <m:r>
                      <a:rPr lang="en-US" altLang="zh-CN" b="1" i="1" kern="100" dirty="0">
                        <a:solidFill>
                          <a:srgbClr val="0000FF"/>
                        </a:solidFill>
                        <a:effectLst/>
                        <a:latin typeface="Cambria Math" panose="02040503050406030204" pitchFamily="18" charset="0"/>
                      </a:rPr>
                      <m:t>𝒄</m:t>
                    </m:r>
                    <m:r>
                      <a:rPr lang="en-US" altLang="zh-CN" b="1" i="1" kern="100" dirty="0">
                        <a:solidFill>
                          <a:srgbClr val="0000FF"/>
                        </a:solidFill>
                        <a:effectLst/>
                        <a:latin typeface="Cambria Math" panose="02040503050406030204" pitchFamily="18" charset="0"/>
                      </a:rPr>
                      <m:t> ≤ </m:t>
                    </m:r>
                    <m:r>
                      <a:rPr lang="en-US" altLang="zh-CN" b="1" i="1" kern="100" dirty="0">
                        <a:solidFill>
                          <a:srgbClr val="0000FF"/>
                        </a:solidFill>
                        <a:effectLst/>
                        <a:latin typeface="Cambria Math" panose="02040503050406030204" pitchFamily="18" charset="0"/>
                      </a:rPr>
                      <m:t>𝒃</m:t>
                    </m:r>
                    <m:r>
                      <a:rPr lang="zh-CN" altLang="zh-CN" b="1" i="1" kern="100" dirty="0">
                        <a:solidFill>
                          <a:srgbClr val="0000FF"/>
                        </a:solidFill>
                        <a:effectLst/>
                        <a:latin typeface="Cambria Math" panose="02040503050406030204" pitchFamily="18" charset="0"/>
                        <a:cs typeface="宋体" panose="02010600030101010101" pitchFamily="2" charset="-122"/>
                      </a:rPr>
                      <m:t>∨</m:t>
                    </m:r>
                    <m:r>
                      <a:rPr lang="en-US" altLang="zh-CN" b="1" i="1" kern="100" dirty="0">
                        <a:solidFill>
                          <a:srgbClr val="0000FF"/>
                        </a:solidFill>
                        <a:effectLst/>
                        <a:latin typeface="Cambria Math" panose="02040503050406030204" pitchFamily="18" charset="0"/>
                      </a:rPr>
                      <m:t>𝒅</m:t>
                    </m:r>
                  </m:oMath>
                </a14:m>
                <a:r>
                  <a:rPr lang="zh-CN" altLang="zh-CN" b="1" kern="100" dirty="0">
                    <a:effectLst/>
                    <a:latin typeface="+mn-ea"/>
                  </a:rPr>
                  <a:t>。</a:t>
                </a:r>
              </a:p>
            </p:txBody>
          </p:sp>
        </mc:Choice>
        <mc:Fallback xmlns="">
          <p:sp>
            <p:nvSpPr>
              <p:cNvPr id="8" name="文本框 7">
                <a:extLst>
                  <a:ext uri="{FF2B5EF4-FFF2-40B4-BE49-F238E27FC236}">
                    <a16:creationId xmlns:a16="http://schemas.microsoft.com/office/drawing/2014/main" id="{423D90D0-B153-42AF-9F01-29A825E8291A}"/>
                  </a:ext>
                </a:extLst>
              </p:cNvPr>
              <p:cNvSpPr txBox="1">
                <a:spLocks noRot="1" noChangeAspect="1" noMove="1" noResize="1" noEditPoints="1" noAdjustHandles="1" noChangeArrowheads="1" noChangeShapeType="1" noTextEdit="1"/>
              </p:cNvSpPr>
              <p:nvPr/>
            </p:nvSpPr>
            <p:spPr>
              <a:xfrm>
                <a:off x="307975" y="3978111"/>
                <a:ext cx="11430000" cy="1485920"/>
              </a:xfrm>
              <a:prstGeom prst="rect">
                <a:avLst/>
              </a:prstGeom>
              <a:blipFill>
                <a:blip r:embed="rId6"/>
                <a:stretch>
                  <a:fillRect r="-800" b="-9053"/>
                </a:stretch>
              </a:blipFill>
            </p:spPr>
            <p:txBody>
              <a:bodyPr/>
              <a:lstStyle/>
              <a:p>
                <a:r>
                  <a:rPr lang="zh-CN" altLang="en-US">
                    <a:noFill/>
                  </a:rPr>
                  <a:t> </a:t>
                </a:r>
              </a:p>
            </p:txBody>
          </p:sp>
        </mc:Fallback>
      </mc:AlternateContent>
      <p:sp>
        <p:nvSpPr>
          <p:cNvPr id="9" name="矩形 242">
            <a:extLst>
              <a:ext uri="{FF2B5EF4-FFF2-40B4-BE49-F238E27FC236}">
                <a16:creationId xmlns:a16="http://schemas.microsoft.com/office/drawing/2014/main" id="{29140F56-66C8-4A43-A05F-111260F59039}"/>
              </a:ext>
            </a:extLst>
          </p:cNvPr>
          <p:cNvSpPr/>
          <p:nvPr/>
        </p:nvSpPr>
        <p:spPr>
          <a:xfrm>
            <a:off x="0" y="3658395"/>
            <a:ext cx="12198349" cy="723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77" tIns="45738" rIns="91477" bIns="45738" rtlCol="0" anchor="ctr"/>
          <a:lstStyle/>
          <a:p>
            <a:pPr algn="ctr"/>
            <a:endParaRPr lang="zh-CN" altLang="en-US"/>
          </a:p>
        </p:txBody>
      </p:sp>
    </p:spTree>
    <p:custDataLst>
      <p:tags r:id="rId1"/>
    </p:custDataLst>
    <p:extLst>
      <p:ext uri="{BB962C8B-B14F-4D97-AF65-F5344CB8AC3E}">
        <p14:creationId xmlns:p14="http://schemas.microsoft.com/office/powerpoint/2010/main" val="223215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0FE928-720C-49C0-AC4E-24127F99AA42}"/>
              </a:ext>
            </a:extLst>
          </p:cNvPr>
          <p:cNvSpPr>
            <a:spLocks noGrp="1"/>
          </p:cNvSpPr>
          <p:nvPr>
            <p:ph type="title"/>
          </p:nvPr>
        </p:nvSpPr>
        <p:spPr/>
        <p:txBody>
          <a:bodyPr/>
          <a:lstStyle/>
          <a:p>
            <a:r>
              <a:rPr lang="zh-CN" altLang="en-US" dirty="0"/>
              <a:t>格的性质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C59944E-89C9-4E2A-93B6-94FB9A3199CA}"/>
                  </a:ext>
                </a:extLst>
              </p:cNvPr>
              <p:cNvSpPr>
                <a:spLocks noGrp="1"/>
              </p:cNvSpPr>
              <p:nvPr>
                <p:ph idx="1"/>
              </p:nvPr>
            </p:nvSpPr>
            <p:spPr>
              <a:xfrm>
                <a:off x="231775" y="847631"/>
                <a:ext cx="11430000" cy="1058163"/>
              </a:xfrm>
            </p:spPr>
            <p:txBody>
              <a:bodyPr>
                <a:normAutofit/>
              </a:bodyPr>
              <a:lstStyle/>
              <a:p>
                <a:pPr marL="0" indent="0" algn="just">
                  <a:buNone/>
                </a:pPr>
                <a:r>
                  <a:rPr lang="zh-CN" altLang="zh-CN" kern="100" dirty="0">
                    <a:effectLst/>
                    <a:latin typeface="+mn-ea"/>
                  </a:rPr>
                  <a:t>（</a:t>
                </a:r>
                <a:r>
                  <a:rPr lang="en-US" altLang="zh-CN" kern="100" dirty="0">
                    <a:effectLst/>
                    <a:latin typeface="+mn-ea"/>
                  </a:rPr>
                  <a:t>2</a:t>
                </a:r>
                <a:r>
                  <a:rPr lang="zh-CN" altLang="zh-CN" kern="100" dirty="0">
                    <a:effectLst/>
                    <a:latin typeface="+mn-ea"/>
                  </a:rPr>
                  <a:t>）分配不等式：</a:t>
                </a:r>
                <a14:m>
                  <m:oMath xmlns:m="http://schemas.openxmlformats.org/officeDocument/2006/math">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d>
                      <m:dPr>
                        <m:ctrlPr>
                          <a:rPr lang="en-US" altLang="zh-CN" i="1" kern="100" dirty="0">
                            <a:latin typeface="Cambria Math" panose="02040503050406030204" pitchFamily="18" charset="0"/>
                          </a:rPr>
                        </m:ctrlPr>
                      </m:dPr>
                      <m:e>
                        <m:r>
                          <a:rPr lang="en-US" altLang="zh-CN" i="1" kern="100" dirty="0">
                            <a:latin typeface="Cambria Math" panose="02040503050406030204" pitchFamily="18" charset="0"/>
                          </a:rPr>
                          <m:t>𝒃</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e>
                    </m:d>
                    <m:r>
                      <a:rPr lang="en-US" altLang="zh-CN" i="1" kern="100" dirty="0">
                        <a:latin typeface="Cambria Math" panose="02040503050406030204" pitchFamily="18" charset="0"/>
                      </a:rPr>
                      <m:t>≤</m:t>
                    </m:r>
                    <m:d>
                      <m:dPr>
                        <m:ctrlPr>
                          <a:rPr lang="en-US" altLang="zh-CN" i="1" kern="100" dirty="0">
                            <a:latin typeface="Cambria Math" panose="02040503050406030204" pitchFamily="18" charset="0"/>
                          </a:rPr>
                        </m:ctrlPr>
                      </m:dPr>
                      <m:e>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𝒃</m:t>
                        </m:r>
                      </m:e>
                    </m:d>
                    <m:r>
                      <a:rPr lang="zh-CN" altLang="zh-CN" i="1" kern="100" dirty="0">
                        <a:latin typeface="Cambria Math" panose="02040503050406030204" pitchFamily="18" charset="0"/>
                        <a:cs typeface="宋体" panose="02010600030101010101" pitchFamily="2" charset="-122"/>
                      </a:rPr>
                      <m:t>∧</m:t>
                    </m:r>
                    <m:d>
                      <m:dPr>
                        <m:ctrlPr>
                          <a:rPr lang="en-US" altLang="zh-CN" i="1" kern="100" dirty="0">
                            <a:latin typeface="Cambria Math" panose="02040503050406030204" pitchFamily="18" charset="0"/>
                          </a:rPr>
                        </m:ctrlPr>
                      </m:dPr>
                      <m:e>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e>
                    </m:d>
                    <m:r>
                      <a:rPr lang="en-US" altLang="zh-CN" i="1" kern="100" dirty="0">
                        <a:latin typeface="Cambria Math" panose="02040503050406030204" pitchFamily="18" charset="0"/>
                      </a:rPr>
                      <m:t>;</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zh-CN" altLang="zh-CN" i="1" kern="100" dirty="0">
                        <a:latin typeface="Cambria Math" panose="02040503050406030204" pitchFamily="18" charset="0"/>
                      </a:rPr>
                      <m:t> </m:t>
                    </m:r>
                    <m:r>
                      <a:rPr lang="en-US" altLang="zh-CN" i="1" kern="100" dirty="0">
                        <a:latin typeface="Cambria Math" panose="02040503050406030204" pitchFamily="18" charset="0"/>
                      </a:rPr>
                      <m:t>(</m:t>
                    </m:r>
                    <m:r>
                      <a:rPr lang="en-US" altLang="zh-CN" i="1" kern="100" dirty="0">
                        <a:latin typeface="Cambria Math" panose="02040503050406030204" pitchFamily="18" charset="0"/>
                      </a:rPr>
                      <m:t>𝒃</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r>
                      <a:rPr lang="en-US" altLang="zh-CN" i="1" kern="100" dirty="0">
                        <a:latin typeface="Cambria Math" panose="02040503050406030204" pitchFamily="18" charset="0"/>
                      </a:rPr>
                      <m:t>)≥(</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𝒃</m:t>
                    </m:r>
                    <m:r>
                      <a:rPr lang="en-US" altLang="zh-CN" i="1" kern="100" dirty="0">
                        <a:latin typeface="Cambria Math" panose="02040503050406030204" pitchFamily="18" charset="0"/>
                      </a:rPr>
                      <m:t>) ∨ (</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r>
                      <a:rPr lang="en-US" altLang="zh-CN" i="1" kern="100" dirty="0">
                        <a:latin typeface="Cambria Math" panose="02040503050406030204" pitchFamily="18" charset="0"/>
                      </a:rPr>
                      <m:t>)</m:t>
                    </m:r>
                  </m:oMath>
                </a14:m>
                <a:endParaRPr lang="zh-CN" altLang="zh-CN" kern="100" dirty="0">
                  <a:latin typeface="+mn-ea"/>
                </a:endParaRPr>
              </a:p>
              <a:p>
                <a:pPr marL="0" indent="0" algn="just">
                  <a:buNone/>
                </a:pPr>
                <a:r>
                  <a:rPr lang="zh-CN" altLang="zh-CN" kern="100" dirty="0">
                    <a:effectLst/>
                    <a:latin typeface="+mn-ea"/>
                  </a:rPr>
                  <a:t>（</a:t>
                </a:r>
                <a:r>
                  <a:rPr lang="en-US" altLang="zh-CN" kern="100" dirty="0">
                    <a:effectLst/>
                    <a:latin typeface="+mn-ea"/>
                  </a:rPr>
                  <a:t>3</a:t>
                </a:r>
                <a:r>
                  <a:rPr lang="zh-CN" altLang="zh-CN" kern="100" dirty="0">
                    <a:effectLst/>
                    <a:latin typeface="+mn-ea"/>
                  </a:rPr>
                  <a:t>）模不等式：</a:t>
                </a:r>
                <a:r>
                  <a:rPr lang="en-US" altLang="zh-CN" kern="100" dirty="0"/>
                  <a:t> </a:t>
                </a:r>
                <a14:m>
                  <m:oMath xmlns:m="http://schemas.openxmlformats.org/officeDocument/2006/math">
                    <m:r>
                      <a:rPr lang="en-US" altLang="zh-CN" i="1" kern="100" dirty="0">
                        <a:latin typeface="Cambria Math" panose="02040503050406030204" pitchFamily="18" charset="0"/>
                      </a:rPr>
                      <m:t>𝒂</m:t>
                    </m:r>
                    <m:r>
                      <a:rPr lang="en-US" altLang="zh-CN" i="1" kern="100" dirty="0">
                        <a:latin typeface="Cambria Math" panose="02040503050406030204" pitchFamily="18" charset="0"/>
                      </a:rPr>
                      <m:t> ≤</m:t>
                    </m:r>
                    <m:r>
                      <a:rPr lang="en-US" altLang="zh-CN" i="1" kern="100" dirty="0">
                        <a:latin typeface="Cambria Math" panose="02040503050406030204" pitchFamily="18" charset="0"/>
                      </a:rPr>
                      <m:t>𝒄</m:t>
                    </m:r>
                    <m:r>
                      <a:rPr lang="en-US" altLang="zh-CN" i="1" kern="100" dirty="0">
                        <a:latin typeface="Cambria Math" panose="02040503050406030204" pitchFamily="18" charset="0"/>
                        <a:ea typeface="Cambria Math" panose="02040503050406030204" pitchFamily="18" charset="0"/>
                      </a:rPr>
                      <m:t>⇔</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zh-CN" altLang="zh-CN" i="1" kern="100" dirty="0">
                        <a:latin typeface="Cambria Math" panose="02040503050406030204" pitchFamily="18" charset="0"/>
                      </a:rPr>
                      <m:t> </m:t>
                    </m:r>
                    <m:r>
                      <a:rPr lang="en-US" altLang="zh-CN" i="1" kern="100" dirty="0">
                        <a:latin typeface="Cambria Math" panose="02040503050406030204" pitchFamily="18" charset="0"/>
                      </a:rPr>
                      <m:t>(</m:t>
                    </m:r>
                    <m:r>
                      <a:rPr lang="en-US" altLang="zh-CN" i="1" kern="100" dirty="0">
                        <a:latin typeface="Cambria Math" panose="02040503050406030204" pitchFamily="18" charset="0"/>
                      </a:rPr>
                      <m:t>𝒃</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r>
                      <a:rPr lang="en-US" altLang="zh-CN" i="1" kern="100" dirty="0">
                        <a:latin typeface="Cambria Math" panose="02040503050406030204" pitchFamily="18" charset="0"/>
                      </a:rPr>
                      <m:t>) ≤ (</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𝒃</m:t>
                    </m:r>
                    <m:r>
                      <a:rPr lang="en-US" altLang="zh-CN" i="1" kern="100" dirty="0">
                        <a:latin typeface="Cambria Math" panose="02040503050406030204" pitchFamily="18" charset="0"/>
                      </a:rPr>
                      <m:t>) ∧</m:t>
                    </m:r>
                    <m:r>
                      <a:rPr lang="en-US" altLang="zh-CN" i="1" kern="100" dirty="0">
                        <a:latin typeface="Cambria Math" panose="02040503050406030204" pitchFamily="18" charset="0"/>
                      </a:rPr>
                      <m:t>𝒄</m:t>
                    </m:r>
                  </m:oMath>
                </a14:m>
                <a:endParaRPr lang="zh-CN" altLang="zh-CN" kern="100" dirty="0">
                  <a:effectLst/>
                  <a:latin typeface="+mn-ea"/>
                </a:endParaRPr>
              </a:p>
            </p:txBody>
          </p:sp>
        </mc:Choice>
        <mc:Fallback xmlns="">
          <p:sp>
            <p:nvSpPr>
              <p:cNvPr id="3" name="内容占位符 2">
                <a:extLst>
                  <a:ext uri="{FF2B5EF4-FFF2-40B4-BE49-F238E27FC236}">
                    <a16:creationId xmlns:a16="http://schemas.microsoft.com/office/drawing/2014/main" id="{EC59944E-89C9-4E2A-93B6-94FB9A3199CA}"/>
                  </a:ext>
                </a:extLst>
              </p:cNvPr>
              <p:cNvSpPr>
                <a:spLocks noGrp="1" noRot="1" noChangeAspect="1" noMove="1" noResize="1" noEditPoints="1" noAdjustHandles="1" noChangeArrowheads="1" noChangeShapeType="1" noTextEdit="1"/>
              </p:cNvSpPr>
              <p:nvPr>
                <p:ph idx="1"/>
              </p:nvPr>
            </p:nvSpPr>
            <p:spPr>
              <a:xfrm>
                <a:off x="231775" y="847631"/>
                <a:ext cx="11430000" cy="1058163"/>
              </a:xfrm>
              <a:blipFill>
                <a:blip r:embed="rId5"/>
                <a:stretch>
                  <a:fillRect l="-533" b="-97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23D90D0-B153-42AF-9F01-29A825E8291A}"/>
                  </a:ext>
                </a:extLst>
              </p:cNvPr>
              <p:cNvSpPr txBox="1"/>
              <p:nvPr/>
            </p:nvSpPr>
            <p:spPr>
              <a:xfrm>
                <a:off x="455817" y="1981994"/>
                <a:ext cx="11286715" cy="4412875"/>
              </a:xfrm>
              <a:prstGeom prst="rect">
                <a:avLst/>
              </a:prstGeom>
              <a:solidFill>
                <a:schemeClr val="accent3">
                  <a:lumMod val="20000"/>
                  <a:lumOff val="80000"/>
                </a:schemeClr>
              </a:solidFill>
            </p:spPr>
            <p:txBody>
              <a:bodyPr wrap="square">
                <a:spAutoFit/>
              </a:bodyPr>
              <a:lstStyle/>
              <a:p>
                <a:pPr algn="just">
                  <a:lnSpc>
                    <a:spcPct val="120000"/>
                  </a:lnSpc>
                  <a:spcBef>
                    <a:spcPct val="20000"/>
                  </a:spcBef>
                  <a:buSzPct val="80000"/>
                </a:pPr>
                <a:r>
                  <a:rPr lang="zh-CN" altLang="zh-CN" b="1" kern="1100" dirty="0">
                    <a:solidFill>
                      <a:srgbClr val="FF0000"/>
                    </a:solidFill>
                    <a:effectLst/>
                    <a:latin typeface="+mn-ea"/>
                  </a:rPr>
                  <a:t>证明</a:t>
                </a:r>
                <a:r>
                  <a:rPr lang="en-US" altLang="zh-CN" b="1" kern="100" dirty="0">
                    <a:effectLst/>
                    <a:latin typeface="+mn-ea"/>
                  </a:rPr>
                  <a:t>  </a:t>
                </a:r>
                <a:r>
                  <a:rPr lang="en-US" altLang="zh-CN" b="1" kern="100" dirty="0">
                    <a:solidFill>
                      <a:schemeClr val="tx1">
                        <a:lumMod val="75000"/>
                        <a:lumOff val="25000"/>
                      </a:schemeClr>
                    </a:solidFill>
                    <a:latin typeface="+mn-ea"/>
                  </a:rPr>
                  <a:t>(2) </a:t>
                </a:r>
                <a:r>
                  <a:rPr lang="zh-CN" altLang="zh-CN" b="1" kern="100" dirty="0">
                    <a:solidFill>
                      <a:srgbClr val="0000FF"/>
                    </a:solidFill>
                    <a:latin typeface="+mn-ea"/>
                  </a:rPr>
                  <a:t>可利用（</a:t>
                </a:r>
                <a:r>
                  <a:rPr lang="en-US" altLang="zh-CN" b="1" kern="100" dirty="0">
                    <a:solidFill>
                      <a:srgbClr val="0000FF"/>
                    </a:solidFill>
                    <a:latin typeface="+mn-ea"/>
                  </a:rPr>
                  <a:t>1</a:t>
                </a:r>
                <a:r>
                  <a:rPr lang="zh-CN" altLang="zh-CN" b="1" kern="100" dirty="0">
                    <a:solidFill>
                      <a:srgbClr val="0000FF"/>
                    </a:solidFill>
                    <a:latin typeface="+mn-ea"/>
                  </a:rPr>
                  <a:t>）的保序性证明</a:t>
                </a:r>
                <a:r>
                  <a:rPr lang="zh-CN" altLang="en-US" b="1" kern="100" dirty="0">
                    <a:solidFill>
                      <a:schemeClr val="tx1">
                        <a:lumMod val="75000"/>
                        <a:lumOff val="25000"/>
                      </a:schemeClr>
                    </a:solidFill>
                    <a:latin typeface="+mn-ea"/>
                  </a:rPr>
                  <a:t>。</a:t>
                </a:r>
                <a:r>
                  <a:rPr lang="zh-CN" altLang="zh-CN" b="1" kern="100" dirty="0">
                    <a:solidFill>
                      <a:schemeClr val="tx1">
                        <a:lumMod val="75000"/>
                        <a:lumOff val="25000"/>
                      </a:schemeClr>
                    </a:solidFill>
                    <a:latin typeface="+mn-ea"/>
                  </a:rPr>
                  <a:t>由于</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𝒃</m:t>
                    </m:r>
                    <m:r>
                      <a:rPr lang="en-US" altLang="zh-CN" b="1" i="1" kern="100" dirty="0" smtClean="0">
                        <a:solidFill>
                          <a:schemeClr val="tx1">
                            <a:lumMod val="75000"/>
                            <a:lumOff val="25000"/>
                          </a:schemeClr>
                        </a:solidFill>
                        <a:latin typeface="Cambria Math" panose="02040503050406030204" pitchFamily="18" charset="0"/>
                        <a:ea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𝒄</m:t>
                    </m:r>
                    <m:r>
                      <a:rPr lang="en-US" altLang="zh-CN" b="1" i="1" kern="100" dirty="0" smtClean="0">
                        <a:solidFill>
                          <a:schemeClr val="tx1">
                            <a:lumMod val="75000"/>
                            <a:lumOff val="25000"/>
                          </a:schemeClr>
                        </a:solidFill>
                        <a:latin typeface="Cambria Math" panose="02040503050406030204" pitchFamily="18" charset="0"/>
                        <a:ea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所以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a:solidFill>
                          <a:schemeClr val="tx1">
                            <a:lumMod val="75000"/>
                            <a:lumOff val="25000"/>
                          </a:schemeClr>
                        </a:solidFill>
                        <a:latin typeface="Cambria Math" panose="02040503050406030204" pitchFamily="18" charset="0"/>
                        <a:sym typeface="Symbol" panose="05050102010706020507" pitchFamily="18" charset="2"/>
                      </a:rPr>
                      <m:t></m:t>
                    </m:r>
                    <m:r>
                      <a:rPr lang="en-US"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同样的，又由于</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𝒄</m:t>
                    </m:r>
                    <m:r>
                      <a:rPr lang="en-US" altLang="zh-CN" b="1" i="1" kern="100" dirty="0" smtClean="0">
                        <a:solidFill>
                          <a:schemeClr val="tx1">
                            <a:lumMod val="75000"/>
                            <a:lumOff val="25000"/>
                          </a:schemeClr>
                        </a:solidFill>
                        <a:latin typeface="Cambria Math" panose="02040503050406030204" pitchFamily="18" charset="0"/>
                        <a:ea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𝒄</m:t>
                    </m:r>
                    <m:r>
                      <a:rPr lang="zh-CN"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所以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zh-CN"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从而</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是</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oMath>
                </a14:m>
                <a:r>
                  <a:rPr lang="zh-CN" altLang="zh-CN" b="1" kern="100" dirty="0">
                    <a:solidFill>
                      <a:schemeClr val="tx1">
                        <a:lumMod val="75000"/>
                        <a:lumOff val="25000"/>
                      </a:schemeClr>
                    </a:solidFill>
                    <a:latin typeface="+mn-ea"/>
                  </a:rPr>
                  <a:t>和</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oMath>
                </a14:m>
                <a:r>
                  <a:rPr lang="zh-CN" altLang="zh-CN" b="1" kern="100" dirty="0">
                    <a:solidFill>
                      <a:schemeClr val="tx1">
                        <a:lumMod val="75000"/>
                        <a:lumOff val="25000"/>
                      </a:schemeClr>
                    </a:solidFill>
                    <a:latin typeface="+mn-ea"/>
                  </a:rPr>
                  <a:t>的一个下界，而</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是</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oMath>
                </a14:m>
                <a:r>
                  <a:rPr lang="zh-CN" altLang="zh-CN" b="1" kern="100" dirty="0">
                    <a:solidFill>
                      <a:schemeClr val="tx1">
                        <a:lumMod val="75000"/>
                        <a:lumOff val="25000"/>
                      </a:schemeClr>
                    </a:solidFill>
                    <a:latin typeface="+mn-ea"/>
                  </a:rPr>
                  <a:t>和</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oMath>
                </a14:m>
                <a:r>
                  <a:rPr lang="zh-CN" altLang="zh-CN" b="1" kern="100" dirty="0">
                    <a:solidFill>
                      <a:schemeClr val="tx1">
                        <a:lumMod val="75000"/>
                        <a:lumOff val="25000"/>
                      </a:schemeClr>
                    </a:solidFill>
                    <a:latin typeface="+mn-ea"/>
                  </a:rPr>
                  <a:t>的最大下界，从而</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a:t>
                </a:r>
                <a:endParaRPr lang="en-US" altLang="zh-CN" b="1" kern="100" dirty="0">
                  <a:solidFill>
                    <a:schemeClr val="tx1">
                      <a:lumMod val="75000"/>
                      <a:lumOff val="25000"/>
                    </a:schemeClr>
                  </a:solidFill>
                  <a:latin typeface="+mn-ea"/>
                </a:endParaRPr>
              </a:p>
              <a:p>
                <a:pPr algn="just">
                  <a:lnSpc>
                    <a:spcPct val="120000"/>
                  </a:lnSpc>
                  <a:spcBef>
                    <a:spcPct val="20000"/>
                  </a:spcBef>
                  <a:buSzPct val="80000"/>
                </a:pPr>
                <a:r>
                  <a:rPr lang="zh-CN" altLang="zh-CN" b="1" kern="100" dirty="0">
                    <a:solidFill>
                      <a:schemeClr val="tx1">
                        <a:lumMod val="75000"/>
                        <a:lumOff val="25000"/>
                      </a:schemeClr>
                    </a:solidFill>
                    <a:latin typeface="+mn-ea"/>
                  </a:rPr>
                  <a:t>由</a:t>
                </a:r>
                <a:r>
                  <a:rPr lang="zh-CN" altLang="zh-CN" b="1" kern="100" dirty="0">
                    <a:solidFill>
                      <a:srgbClr val="0000FF"/>
                    </a:solidFill>
                    <a:latin typeface="+mn-ea"/>
                  </a:rPr>
                  <a:t>对偶原理</a:t>
                </a:r>
                <a:r>
                  <a:rPr lang="zh-CN" altLang="zh-CN" b="1" kern="100" dirty="0">
                    <a:solidFill>
                      <a:schemeClr val="tx1">
                        <a:lumMod val="75000"/>
                        <a:lumOff val="25000"/>
                      </a:schemeClr>
                    </a:solidFill>
                    <a:latin typeface="+mn-ea"/>
                  </a:rPr>
                  <a:t>得，</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oMath>
                </a14:m>
                <a:r>
                  <a:rPr lang="zh-CN" altLang="zh-CN" b="1" kern="100" dirty="0">
                    <a:solidFill>
                      <a:schemeClr val="tx1">
                        <a:lumMod val="75000"/>
                        <a:lumOff val="25000"/>
                      </a:schemeClr>
                    </a:solidFill>
                    <a:latin typeface="+mn-ea"/>
                  </a:rPr>
                  <a:t>。</a:t>
                </a:r>
              </a:p>
              <a:p>
                <a:pPr algn="just">
                  <a:lnSpc>
                    <a:spcPct val="120000"/>
                  </a:lnSpc>
                  <a:spcBef>
                    <a:spcPct val="20000"/>
                  </a:spcBef>
                  <a:buSzPct val="80000"/>
                </a:pPr>
                <a:r>
                  <a:rPr lang="en-US" altLang="zh-CN" b="1" kern="100" dirty="0">
                    <a:solidFill>
                      <a:schemeClr val="tx1">
                        <a:lumMod val="75000"/>
                        <a:lumOff val="25000"/>
                      </a:schemeClr>
                    </a:solidFill>
                    <a:latin typeface="+mn-ea"/>
                  </a:rPr>
                  <a:t>(3)</a:t>
                </a:r>
                <a:r>
                  <a:rPr lang="zh-CN" altLang="zh-CN" b="1" kern="100" dirty="0">
                    <a:solidFill>
                      <a:srgbClr val="CC00CC"/>
                    </a:solidFill>
                    <a:latin typeface="+mn-ea"/>
                  </a:rPr>
                  <a:t>必要性</a:t>
                </a:r>
                <a:r>
                  <a:rPr lang="zh-CN" altLang="zh-CN" b="1" kern="100" dirty="0">
                    <a:solidFill>
                      <a:schemeClr val="tx1">
                        <a:lumMod val="75000"/>
                        <a:lumOff val="25000"/>
                      </a:schemeClr>
                    </a:solidFill>
                    <a:latin typeface="+mn-ea"/>
                  </a:rPr>
                  <a:t>：若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𝒄</m:t>
                    </m:r>
                  </m:oMath>
                </a14:m>
                <a:r>
                  <a:rPr lang="zh-CN" altLang="zh-CN" b="1" kern="100" dirty="0">
                    <a:solidFill>
                      <a:schemeClr val="tx1">
                        <a:lumMod val="75000"/>
                        <a:lumOff val="25000"/>
                      </a:schemeClr>
                    </a:solidFill>
                    <a:latin typeface="+mn-ea"/>
                  </a:rPr>
                  <a:t>，则</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oMath>
                </a14:m>
                <a:r>
                  <a:rPr lang="zh-CN" altLang="zh-CN" b="1" kern="100" dirty="0">
                    <a:solidFill>
                      <a:schemeClr val="tx1">
                        <a:lumMod val="75000"/>
                        <a:lumOff val="25000"/>
                      </a:schemeClr>
                    </a:solidFill>
                    <a:latin typeface="+mn-ea"/>
                  </a:rPr>
                  <a:t>，</a:t>
                </a:r>
                <a:r>
                  <a:rPr lang="zh-CN" altLang="zh-CN" b="1" kern="100" dirty="0">
                    <a:solidFill>
                      <a:srgbClr val="0000FF"/>
                    </a:solidFill>
                    <a:latin typeface="+mn-ea"/>
                  </a:rPr>
                  <a:t>由分配不等式</a:t>
                </a:r>
                <a:r>
                  <a:rPr lang="zh-CN" altLang="zh-CN" b="1" kern="100" dirty="0">
                    <a:solidFill>
                      <a:schemeClr val="tx1">
                        <a:lumMod val="75000"/>
                        <a:lumOff val="25000"/>
                      </a:schemeClr>
                    </a:solidFill>
                    <a:latin typeface="+mn-ea"/>
                  </a:rPr>
                  <a:t>可得</a:t>
                </a:r>
              </a:p>
              <a:p>
                <a:pPr algn="just">
                  <a:lnSpc>
                    <a:spcPct val="120000"/>
                  </a:lnSpc>
                  <a:spcBef>
                    <a:spcPct val="20000"/>
                  </a:spcBef>
                  <a:buSzPct val="80000"/>
                </a:pPr>
                <a14:m>
                  <m:oMathPara xmlns:m="http://schemas.openxmlformats.org/officeDocument/2006/math">
                    <m:oMathParaPr>
                      <m:jc m:val="centerGroup"/>
                    </m:oMathParaPr>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ea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𝒄</m:t>
                      </m:r>
                    </m:oMath>
                  </m:oMathPara>
                </a14:m>
                <a:endParaRPr lang="zh-CN" altLang="zh-CN" b="1" kern="100" dirty="0">
                  <a:solidFill>
                    <a:schemeClr val="tx1">
                      <a:lumMod val="75000"/>
                      <a:lumOff val="25000"/>
                    </a:schemeClr>
                  </a:solidFill>
                  <a:latin typeface="+mn-ea"/>
                </a:endParaRPr>
              </a:p>
              <a:p>
                <a:pPr algn="just">
                  <a:lnSpc>
                    <a:spcPct val="120000"/>
                  </a:lnSpc>
                  <a:spcBef>
                    <a:spcPct val="20000"/>
                  </a:spcBef>
                  <a:buSzPct val="80000"/>
                </a:pPr>
                <a:r>
                  <a:rPr lang="zh-CN" altLang="zh-CN" b="1" kern="100" dirty="0">
                    <a:solidFill>
                      <a:srgbClr val="CC00CC"/>
                    </a:solidFill>
                    <a:latin typeface="+mn-ea"/>
                  </a:rPr>
                  <a:t>充分性</a:t>
                </a:r>
                <a:r>
                  <a:rPr lang="zh-CN" altLang="zh-CN" b="1" kern="100" dirty="0">
                    <a:solidFill>
                      <a:schemeClr val="tx1">
                        <a:lumMod val="75000"/>
                        <a:lumOff val="25000"/>
                      </a:schemeClr>
                    </a:solidFill>
                    <a:latin typeface="+mn-ea"/>
                  </a:rPr>
                  <a:t>：若</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oMath>
                </a14:m>
                <a:r>
                  <a:rPr lang="zh-CN" altLang="zh-CN" b="1" kern="100" dirty="0">
                    <a:solidFill>
                      <a:schemeClr val="tx1">
                        <a:lumMod val="75000"/>
                        <a:lumOff val="25000"/>
                      </a:schemeClr>
                    </a:solidFill>
                    <a:latin typeface="+mn-ea"/>
                  </a:rPr>
                  <a:t>，因</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𝒂</m:t>
                    </m:r>
                    <m:r>
                      <a:rPr lang="zh-CN" altLang="zh-CN" b="1" i="1" kern="100" dirty="0">
                        <a:solidFill>
                          <a:schemeClr val="tx1">
                            <a:lumMod val="75000"/>
                            <a:lumOff val="25000"/>
                          </a:schemeClr>
                        </a:solidFill>
                        <a:latin typeface="Cambria Math" panose="02040503050406030204" pitchFamily="18" charset="0"/>
                      </a:rPr>
                      <m:t>∨</m:t>
                    </m:r>
                    <m:r>
                      <a:rPr lang="en-US" altLang="zh-CN" b="1" i="1" kern="100" dirty="0">
                        <a:solidFill>
                          <a:schemeClr val="tx1">
                            <a:lumMod val="75000"/>
                            <a:lumOff val="25000"/>
                          </a:schemeClr>
                        </a:solidFill>
                        <a:latin typeface="Cambria Math" panose="02040503050406030204" pitchFamily="18" charset="0"/>
                      </a:rPr>
                      <m:t>𝒃</m:t>
                    </m:r>
                    <m:r>
                      <a:rPr lang="en-US" altLang="zh-CN" b="1" i="1" kern="100" dirty="0">
                        <a:solidFill>
                          <a:schemeClr val="tx1">
                            <a:lumMod val="75000"/>
                            <a:lumOff val="25000"/>
                          </a:schemeClr>
                        </a:solidFill>
                        <a:latin typeface="Cambria Math" panose="02040503050406030204" pitchFamily="18" charset="0"/>
                      </a:rPr>
                      <m:t>) ∧</m:t>
                    </m:r>
                    <m:r>
                      <a:rPr lang="en-US" altLang="zh-CN" b="1" i="1" kern="100" dirty="0">
                        <a:solidFill>
                          <a:schemeClr val="tx1">
                            <a:lumMod val="75000"/>
                            <a:lumOff val="25000"/>
                          </a:schemeClr>
                        </a:solidFill>
                        <a:latin typeface="Cambria Math" panose="02040503050406030204" pitchFamily="18" charset="0"/>
                      </a:rPr>
                      <m:t>𝒄</m:t>
                    </m:r>
                    <m:r>
                      <a:rPr lang="en-US" altLang="zh-CN" b="1" i="1" kern="100" dirty="0">
                        <a:solidFill>
                          <a:schemeClr val="tx1">
                            <a:lumMod val="75000"/>
                            <a:lumOff val="25000"/>
                          </a:schemeClr>
                        </a:solidFill>
                        <a:latin typeface="Cambria Math" panose="02040503050406030204" pitchFamily="18" charset="0"/>
                      </a:rPr>
                      <m:t> ≤ </m:t>
                    </m:r>
                    <m:r>
                      <a:rPr lang="en-US" altLang="zh-CN" b="1" i="1" kern="100" dirty="0">
                        <a:solidFill>
                          <a:schemeClr val="tx1">
                            <a:lumMod val="75000"/>
                            <a:lumOff val="25000"/>
                          </a:schemeClr>
                        </a:solidFill>
                        <a:latin typeface="Cambria Math" panose="02040503050406030204" pitchFamily="18" charset="0"/>
                      </a:rPr>
                      <m:t>𝒄</m:t>
                    </m:r>
                  </m:oMath>
                </a14:m>
                <a:endParaRPr lang="en-US" altLang="zh-CN" b="1" kern="100" dirty="0">
                  <a:solidFill>
                    <a:schemeClr val="tx1">
                      <a:lumMod val="75000"/>
                      <a:lumOff val="25000"/>
                    </a:schemeClr>
                  </a:solidFill>
                  <a:latin typeface="+mn-ea"/>
                </a:endParaRPr>
              </a:p>
              <a:p>
                <a:pPr algn="just">
                  <a:lnSpc>
                    <a:spcPct val="120000"/>
                  </a:lnSpc>
                  <a:spcBef>
                    <a:spcPct val="20000"/>
                  </a:spcBef>
                  <a:buSzPct val="80000"/>
                </a:pPr>
                <a:r>
                  <a:rPr lang="zh-CN" altLang="zh-CN" b="1" kern="100" dirty="0">
                    <a:solidFill>
                      <a:schemeClr val="tx1">
                        <a:lumMod val="75000"/>
                        <a:lumOff val="25000"/>
                      </a:schemeClr>
                    </a:solidFill>
                    <a:latin typeface="+mn-ea"/>
                  </a:rPr>
                  <a:t>由传递性得</a:t>
                </a:r>
                <a14:m>
                  <m:oMath xmlns:m="http://schemas.openxmlformats.org/officeDocument/2006/math">
                    <m:r>
                      <a:rPr lang="en-US" altLang="zh-CN" b="1" i="1" kern="100" dirty="0" smtClean="0">
                        <a:solidFill>
                          <a:schemeClr val="tx1">
                            <a:lumMod val="75000"/>
                            <a:lumOff val="25000"/>
                          </a:schemeClr>
                        </a:solidFill>
                        <a:latin typeface="Cambria Math" panose="02040503050406030204" pitchFamily="18" charset="0"/>
                      </a:rPr>
                      <m:t>𝒂</m:t>
                    </m:r>
                    <m:r>
                      <a:rPr lang="en-US" altLang="zh-CN" b="1" i="1" kern="100" dirty="0" smtClean="0">
                        <a:solidFill>
                          <a:schemeClr val="tx1">
                            <a:lumMod val="75000"/>
                            <a:lumOff val="25000"/>
                          </a:schemeClr>
                        </a:solidFill>
                        <a:latin typeface="Cambria Math" panose="02040503050406030204" pitchFamily="18" charset="0"/>
                      </a:rPr>
                      <m:t>≤</m:t>
                    </m:r>
                    <m:r>
                      <a:rPr lang="en-US" altLang="zh-CN" b="1" i="1" kern="100" dirty="0" smtClean="0">
                        <a:solidFill>
                          <a:schemeClr val="tx1">
                            <a:lumMod val="75000"/>
                            <a:lumOff val="25000"/>
                          </a:schemeClr>
                        </a:solidFill>
                        <a:latin typeface="Cambria Math" panose="02040503050406030204" pitchFamily="18" charset="0"/>
                      </a:rPr>
                      <m:t>𝒄</m:t>
                    </m:r>
                  </m:oMath>
                </a14:m>
                <a:r>
                  <a:rPr lang="zh-CN" altLang="zh-CN" b="1" kern="100" dirty="0">
                    <a:solidFill>
                      <a:schemeClr val="tx1">
                        <a:lumMod val="75000"/>
                        <a:lumOff val="25000"/>
                      </a:schemeClr>
                    </a:solidFill>
                    <a:latin typeface="+mn-ea"/>
                  </a:rPr>
                  <a:t>。</a:t>
                </a:r>
              </a:p>
            </p:txBody>
          </p:sp>
        </mc:Choice>
        <mc:Fallback xmlns="">
          <p:sp>
            <p:nvSpPr>
              <p:cNvPr id="8" name="文本框 7">
                <a:extLst>
                  <a:ext uri="{FF2B5EF4-FFF2-40B4-BE49-F238E27FC236}">
                    <a16:creationId xmlns:a16="http://schemas.microsoft.com/office/drawing/2014/main" id="{423D90D0-B153-42AF-9F01-29A825E8291A}"/>
                  </a:ext>
                </a:extLst>
              </p:cNvPr>
              <p:cNvSpPr txBox="1">
                <a:spLocks noRot="1" noChangeAspect="1" noMove="1" noResize="1" noEditPoints="1" noAdjustHandles="1" noChangeArrowheads="1" noChangeShapeType="1" noTextEdit="1"/>
              </p:cNvSpPr>
              <p:nvPr/>
            </p:nvSpPr>
            <p:spPr>
              <a:xfrm>
                <a:off x="455817" y="1981994"/>
                <a:ext cx="11286715" cy="4412875"/>
              </a:xfrm>
              <a:prstGeom prst="rect">
                <a:avLst/>
              </a:prstGeom>
              <a:blipFill>
                <a:blip r:embed="rId6"/>
                <a:stretch>
                  <a:fillRect l="-864" t="-276" r="-810" b="-55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676609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1F8ABF-D78C-458B-96A0-E97E19D66780}"/>
              </a:ext>
            </a:extLst>
          </p:cNvPr>
          <p:cNvSpPr>
            <a:spLocks noGrp="1"/>
          </p:cNvSpPr>
          <p:nvPr>
            <p:ph type="title"/>
          </p:nvPr>
        </p:nvSpPr>
        <p:spPr/>
        <p:txBody>
          <a:bodyPr/>
          <a:lstStyle/>
          <a:p>
            <a:r>
              <a:rPr lang="zh-CN" altLang="en-US" dirty="0"/>
              <a:t>格的性质</a:t>
            </a:r>
          </a:p>
        </p:txBody>
      </p:sp>
      <mc:AlternateContent xmlns:mc="http://schemas.openxmlformats.org/markup-compatibility/2006" xmlns:a14="http://schemas.microsoft.com/office/drawing/2010/main">
        <mc:Choice Requires="a14">
          <p:sp>
            <p:nvSpPr>
              <p:cNvPr id="4" name="文本框 2">
                <a:extLst>
                  <a:ext uri="{FF2B5EF4-FFF2-40B4-BE49-F238E27FC236}">
                    <a16:creationId xmlns:a16="http://schemas.microsoft.com/office/drawing/2014/main" id="{4B114B95-2208-405B-9D34-232527A4E3B8}"/>
                  </a:ext>
                </a:extLst>
              </p:cNvPr>
              <p:cNvSpPr txBox="1">
                <a:spLocks noGrp="1" noChangeArrowheads="1"/>
              </p:cNvSpPr>
              <p:nvPr>
                <p:ph idx="1"/>
              </p:nvPr>
            </p:nvSpPr>
            <p:spPr bwMode="auto">
              <a:xfrm>
                <a:off x="536576" y="1524794"/>
                <a:ext cx="9982200" cy="3895810"/>
              </a:xfrm>
              <a:prstGeom prst="rect">
                <a:avLst/>
              </a:prstGeom>
              <a:solidFill>
                <a:schemeClr val="bg1">
                  <a:lumMod val="85000"/>
                </a:schemeClr>
              </a:solidFill>
              <a:ln w="9525">
                <a:solidFill>
                  <a:srgbClr val="000000"/>
                </a:solidFill>
                <a:miter lim="800000"/>
                <a:headEnd/>
                <a:tailEnd/>
              </a:ln>
            </p:spPr>
            <p:txBody>
              <a:bodyPr rot="0" vert="horz" wrap="square" lIns="91440" tIns="45720" rIns="91440" bIns="45720" anchor="t" anchorCtr="0">
                <a:spAutoFit/>
              </a:bodyPr>
              <a:lstStyle/>
              <a:p>
                <a:pPr marL="0" indent="0" algn="just">
                  <a:buNone/>
                </a:pPr>
                <a:r>
                  <a:rPr lang="zh-CN" kern="100" dirty="0">
                    <a:solidFill>
                      <a:srgbClr val="CC00CC"/>
                    </a:solidFill>
                    <a:effectLst/>
                    <a:latin typeface="华文行楷" panose="02010800040101010101" pitchFamily="2" charset="-122"/>
                    <a:ea typeface="华文行楷" panose="02010800040101010101" pitchFamily="2" charset="-122"/>
                    <a:cs typeface="宋体" panose="02010600030101010101" pitchFamily="2" charset="-122"/>
                  </a:rPr>
                  <a:t>解题小贴士</a:t>
                </a:r>
                <a:r>
                  <a:rPr lang="zh-CN" kern="100" dirty="0">
                    <a:effectLst/>
                    <a:latin typeface="+mn-ea"/>
                    <a:cs typeface="宋体" panose="02010600030101010101" pitchFamily="2" charset="-122"/>
                  </a:rPr>
                  <a:t>—格中运算性质（等式或不等式）的证明方法</a:t>
                </a:r>
              </a:p>
              <a:p>
                <a:pPr marL="0" indent="0" algn="just">
                  <a:buNone/>
                </a:pPr>
                <a:r>
                  <a:rPr lang="zh-CN" kern="100" dirty="0">
                    <a:effectLst/>
                    <a:latin typeface="+mn-ea"/>
                    <a:cs typeface="宋体" panose="02010600030101010101" pitchFamily="2" charset="-122"/>
                  </a:rPr>
                  <a:t>（</a:t>
                </a:r>
                <a:r>
                  <a:rPr lang="en-US" kern="100" dirty="0">
                    <a:effectLst/>
                    <a:latin typeface="+mn-ea"/>
                    <a:cs typeface="宋体" panose="02010600030101010101" pitchFamily="2" charset="-122"/>
                  </a:rPr>
                  <a:t>1</a:t>
                </a:r>
                <a:r>
                  <a:rPr lang="zh-CN" kern="100" dirty="0">
                    <a:effectLst/>
                    <a:latin typeface="+mn-ea"/>
                    <a:cs typeface="宋体" panose="02010600030101010101" pitchFamily="2" charset="-122"/>
                  </a:rPr>
                  <a:t>）由两个自然运算的定义，可有如下可能的推导形式：</a:t>
                </a:r>
              </a:p>
              <a:p>
                <a:pPr marL="0" indent="0" algn="ctr">
                  <a:buNone/>
                </a:pPr>
                <a14:m>
                  <m:oMathPara xmlns:m="http://schemas.openxmlformats.org/officeDocument/2006/math">
                    <m:oMathParaPr>
                      <m:jc m:val="centerGroup"/>
                    </m:oMathParaPr>
                    <m:oMath xmlns:m="http://schemas.openxmlformats.org/officeDocument/2006/math">
                      <m:r>
                        <a:rPr lang="en-US" altLang="zh-CN" i="1" kern="100" dirty="0">
                          <a:latin typeface="Cambria Math" panose="02040503050406030204" pitchFamily="18" charset="0"/>
                          <a:cs typeface="宋体" panose="02010600030101010101" pitchFamily="2" charset="-122"/>
                        </a:rPr>
                        <m:t>𝒂</m:t>
                      </m:r>
                      <m:r>
                        <a:rPr lang="zh-CN" altLang="en-US"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cs typeface="宋体" panose="02010600030101010101" pitchFamily="2" charset="-122"/>
                        </a:rPr>
                        <m:t>𝒃</m:t>
                      </m:r>
                      <m:r>
                        <a:rPr lang="en-US" altLang="zh-CN" i="1" kern="100" dirty="0">
                          <a:latin typeface="Cambria Math" panose="02040503050406030204" pitchFamily="18" charset="0"/>
                          <a:cs typeface="宋体" panose="02010600030101010101" pitchFamily="2" charset="-122"/>
                        </a:rPr>
                        <m:t>≤</m:t>
                      </m:r>
                      <m:r>
                        <a:rPr lang="en-US" altLang="zh-CN" b="1" i="1" kern="100" dirty="0" smtClean="0">
                          <a:latin typeface="Cambria Math" panose="02040503050406030204" pitchFamily="18" charset="0"/>
                          <a:cs typeface="宋体" panose="02010600030101010101" pitchFamily="2" charset="-122"/>
                        </a:rPr>
                        <m:t>𝒂</m:t>
                      </m:r>
                      <m:r>
                        <a:rPr lang="zh-CN" altLang="en-US"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cs typeface="宋体" panose="02010600030101010101" pitchFamily="2" charset="-122"/>
                        </a:rPr>
                        <m:t>𝒂</m:t>
                      </m:r>
                      <m:r>
                        <a:rPr lang="zh-CN" altLang="en-US" i="1" kern="100" dirty="0">
                          <a:latin typeface="Cambria Math" panose="02040503050406030204" pitchFamily="18" charset="0"/>
                          <a:cs typeface="宋体" panose="02010600030101010101" pitchFamily="2" charset="-122"/>
                        </a:rPr>
                        <m:t>∧</m:t>
                      </m:r>
                      <m:r>
                        <a:rPr lang="en-US" altLang="zh-CN" b="1" i="1" kern="100" dirty="0" smtClean="0">
                          <a:latin typeface="Cambria Math" panose="02040503050406030204" pitchFamily="18" charset="0"/>
                          <a:cs typeface="宋体" panose="02010600030101010101" pitchFamily="2" charset="-122"/>
                        </a:rPr>
                        <m:t>𝒃</m:t>
                      </m:r>
                      <m:r>
                        <a:rPr lang="en-US" altLang="zh-CN" i="1" kern="100" dirty="0">
                          <a:latin typeface="Cambria Math" panose="02040503050406030204" pitchFamily="18" charset="0"/>
                          <a:cs typeface="宋体" panose="02010600030101010101" pitchFamily="2" charset="-122"/>
                        </a:rPr>
                        <m:t>≤ </m:t>
                      </m:r>
                      <m:r>
                        <a:rPr lang="en-US" altLang="zh-CN" i="1" kern="100" dirty="0">
                          <a:latin typeface="Cambria Math" panose="02040503050406030204" pitchFamily="18" charset="0"/>
                          <a:cs typeface="宋体" panose="02010600030101010101" pitchFamily="2" charset="-122"/>
                        </a:rPr>
                        <m:t>𝒃</m:t>
                      </m:r>
                      <m:r>
                        <a:rPr lang="zh-CN" altLang="en-US"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cs typeface="宋体" panose="02010600030101010101" pitchFamily="2" charset="-122"/>
                        </a:rPr>
                        <m:t>𝒂</m:t>
                      </m:r>
                      <m:r>
                        <a:rPr lang="en-US" altLang="zh-CN" i="1" kern="100" dirty="0">
                          <a:latin typeface="Cambria Math" panose="02040503050406030204" pitchFamily="18" charset="0"/>
                          <a:cs typeface="宋体" panose="02010600030101010101" pitchFamily="2" charset="-122"/>
                        </a:rPr>
                        <m:t>≤</m:t>
                      </m:r>
                      <m:r>
                        <a:rPr lang="en-US" altLang="zh-CN" b="1" i="1" kern="100" dirty="0" smtClean="0">
                          <a:latin typeface="Cambria Math" panose="02040503050406030204" pitchFamily="18" charset="0"/>
                          <a:cs typeface="宋体" panose="02010600030101010101" pitchFamily="2" charset="-122"/>
                        </a:rPr>
                        <m:t>𝒂</m:t>
                      </m:r>
                      <m:r>
                        <a:rPr lang="zh-CN" altLang="en-US"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cs typeface="宋体" panose="02010600030101010101" pitchFamily="2" charset="-122"/>
                        </a:rPr>
                        <m:t>𝒃</m:t>
                      </m:r>
                      <m:r>
                        <a:rPr lang="zh-CN" altLang="en-US" i="1" kern="100" dirty="0">
                          <a:latin typeface="Cambria Math" panose="02040503050406030204" pitchFamily="18" charset="0"/>
                          <a:cs typeface="宋体" panose="02010600030101010101" pitchFamily="2" charset="-122"/>
                        </a:rPr>
                        <m:t>，</m:t>
                      </m:r>
                      <m:r>
                        <a:rPr lang="en-US" altLang="zh-CN" b="1" i="1" kern="100" dirty="0" smtClean="0">
                          <a:latin typeface="Cambria Math" panose="02040503050406030204" pitchFamily="18" charset="0"/>
                          <a:cs typeface="宋体" panose="02010600030101010101" pitchFamily="2" charset="-122"/>
                        </a:rPr>
                        <m:t>𝒃</m:t>
                      </m:r>
                      <m:r>
                        <a:rPr lang="en-US"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cs typeface="宋体" panose="02010600030101010101" pitchFamily="2" charset="-122"/>
                        </a:rPr>
                        <m:t>𝒂</m:t>
                      </m:r>
                      <m:r>
                        <a:rPr lang="zh-CN" altLang="en-US"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cs typeface="宋体" panose="02010600030101010101" pitchFamily="2" charset="-122"/>
                        </a:rPr>
                        <m:t>𝒃</m:t>
                      </m:r>
                    </m:oMath>
                  </m:oMathPara>
                </a14:m>
                <a:endParaRPr lang="en-US" b="1" i="1" kern="100" dirty="0">
                  <a:effectLst/>
                  <a:latin typeface="Cambria Math" panose="02040503050406030204" pitchFamily="18" charset="0"/>
                  <a:cs typeface="宋体" panose="02010600030101010101" pitchFamily="2" charset="-122"/>
                </a:endParaRPr>
              </a:p>
              <a:p>
                <a:pPr marL="0" indent="0" algn="just">
                  <a:buNone/>
                </a:pPr>
                <a14:m>
                  <m:oMathPara xmlns:m="http://schemas.openxmlformats.org/officeDocument/2006/math">
                    <m:oMathParaPr>
                      <m:jc m:val="centerGroup"/>
                    </m:oMathParaPr>
                    <m:oMath xmlns:m="http://schemas.openxmlformats.org/officeDocument/2006/math">
                      <m:r>
                        <a:rPr lang="en-US" b="1" i="1" kern="100" dirty="0" smtClean="0">
                          <a:effectLst/>
                          <a:latin typeface="Cambria Math" panose="02040503050406030204" pitchFamily="18" charset="0"/>
                          <a:cs typeface="宋体" panose="02010600030101010101" pitchFamily="2" charset="-122"/>
                        </a:rPr>
                        <m:t>𝒂</m:t>
                      </m:r>
                      <m:r>
                        <a:rPr lang="en-US" b="1" i="1" kern="100" dirty="0" smtClean="0">
                          <a:effectLst/>
                          <a:latin typeface="Cambria Math" panose="02040503050406030204" pitchFamily="18" charset="0"/>
                          <a:cs typeface="宋体" panose="02010600030101010101" pitchFamily="2" charset="-122"/>
                        </a:rPr>
                        <m:t> ≤ </m:t>
                      </m:r>
                      <m:r>
                        <a:rPr lang="en-US" b="1" i="1" kern="100" dirty="0" smtClean="0">
                          <a:effectLst/>
                          <a:latin typeface="Cambria Math" panose="02040503050406030204" pitchFamily="18" charset="0"/>
                          <a:cs typeface="宋体" panose="02010600030101010101" pitchFamily="2" charset="-122"/>
                        </a:rPr>
                        <m:t>𝒃</m:t>
                      </m:r>
                      <m:r>
                        <a:rPr lang="zh-CN" altLang="en-US" b="1" i="1" kern="100" dirty="0" smtClean="0">
                          <a:effectLst/>
                          <a:latin typeface="Cambria Math" panose="02040503050406030204" pitchFamily="18" charset="0"/>
                          <a:cs typeface="宋体" panose="02010600030101010101" pitchFamily="2" charset="-122"/>
                        </a:rPr>
                        <m:t>，</m:t>
                      </m:r>
                      <m:r>
                        <a:rPr lang="en-US" b="1" i="1" kern="100" dirty="0" smtClean="0">
                          <a:effectLst/>
                          <a:latin typeface="Cambria Math" panose="02040503050406030204" pitchFamily="18" charset="0"/>
                          <a:cs typeface="宋体" panose="02010600030101010101" pitchFamily="2" charset="-122"/>
                        </a:rPr>
                        <m:t>𝒂</m:t>
                      </m:r>
                      <m:r>
                        <a:rPr lang="en-US" b="1" i="1" kern="100" dirty="0" smtClean="0">
                          <a:effectLst/>
                          <a:latin typeface="Cambria Math" panose="02040503050406030204" pitchFamily="18" charset="0"/>
                          <a:cs typeface="宋体" panose="02010600030101010101" pitchFamily="2" charset="-122"/>
                        </a:rPr>
                        <m:t> ≤</m:t>
                      </m:r>
                      <m:r>
                        <a:rPr lang="en-US" b="1" i="1" kern="100" dirty="0" smtClean="0">
                          <a:effectLst/>
                          <a:latin typeface="Cambria Math" panose="02040503050406030204" pitchFamily="18" charset="0"/>
                          <a:cs typeface="宋体" panose="02010600030101010101" pitchFamily="2" charset="-122"/>
                        </a:rPr>
                        <m:t>𝒄</m:t>
                      </m:r>
                      <m:r>
                        <a:rPr lang="en-US" b="1" i="1" kern="100" dirty="0" smtClean="0">
                          <a:effectLst/>
                          <a:latin typeface="Cambria Math" panose="02040503050406030204" pitchFamily="18" charset="0"/>
                          <a:ea typeface="Cambria Math" panose="02040503050406030204" pitchFamily="18" charset="0"/>
                          <a:cs typeface="宋体" panose="02010600030101010101" pitchFamily="2" charset="-122"/>
                        </a:rPr>
                        <m:t>⇒</m:t>
                      </m:r>
                      <m:r>
                        <a:rPr lang="en-US" b="1" i="1" kern="100" dirty="0" smtClean="0">
                          <a:effectLst/>
                          <a:latin typeface="Cambria Math" panose="02040503050406030204" pitchFamily="18" charset="0"/>
                          <a:cs typeface="宋体" panose="02010600030101010101" pitchFamily="2" charset="-122"/>
                        </a:rPr>
                        <m:t>𝒂</m:t>
                      </m:r>
                      <m:r>
                        <a:rPr lang="en-US" b="1" i="1" kern="100" dirty="0" smtClean="0">
                          <a:effectLst/>
                          <a:latin typeface="Cambria Math" panose="02040503050406030204" pitchFamily="18" charset="0"/>
                          <a:cs typeface="宋体" panose="02010600030101010101" pitchFamily="2" charset="-122"/>
                        </a:rPr>
                        <m:t> ≤ </m:t>
                      </m:r>
                      <m:r>
                        <a:rPr lang="en-US" b="1" i="1" kern="100" dirty="0" smtClean="0">
                          <a:effectLst/>
                          <a:latin typeface="Cambria Math" panose="02040503050406030204" pitchFamily="18" charset="0"/>
                          <a:cs typeface="宋体" panose="02010600030101010101" pitchFamily="2" charset="-122"/>
                        </a:rPr>
                        <m:t>𝒃</m:t>
                      </m:r>
                      <m:r>
                        <a:rPr lang="zh-CN" altLang="en-US" b="1" i="1" kern="100" dirty="0" smtClean="0">
                          <a:effectLst/>
                          <a:latin typeface="Cambria Math" panose="02040503050406030204" pitchFamily="18" charset="0"/>
                          <a:cs typeface="宋体" panose="02010600030101010101" pitchFamily="2" charset="-122"/>
                        </a:rPr>
                        <m:t>∧</m:t>
                      </m:r>
                      <m:r>
                        <a:rPr lang="en-US" b="1" i="1" kern="100" dirty="0" smtClean="0">
                          <a:effectLst/>
                          <a:latin typeface="Cambria Math" panose="02040503050406030204" pitchFamily="18" charset="0"/>
                          <a:cs typeface="宋体" panose="02010600030101010101" pitchFamily="2" charset="-122"/>
                        </a:rPr>
                        <m:t>𝒄</m:t>
                      </m:r>
                      <m:r>
                        <a:rPr lang="en-US" altLang="zh-CN" b="1" i="1" kern="100" dirty="0" smtClean="0">
                          <a:effectLst/>
                          <a:latin typeface="Cambria Math" panose="02040503050406030204" pitchFamily="18" charset="0"/>
                          <a:cs typeface="宋体" panose="02010600030101010101" pitchFamily="2" charset="-122"/>
                        </a:rPr>
                        <m:t>;</m:t>
                      </m:r>
                      <m:r>
                        <a:rPr lang="en-US" b="1" i="1" kern="100" dirty="0" smtClean="0">
                          <a:effectLst/>
                          <a:latin typeface="Cambria Math" panose="02040503050406030204" pitchFamily="18" charset="0"/>
                          <a:cs typeface="宋体" panose="02010600030101010101" pitchFamily="2" charset="-122"/>
                        </a:rPr>
                        <m:t>𝒂</m:t>
                      </m:r>
                      <m:r>
                        <a:rPr lang="en-US" b="1" i="1" kern="100" dirty="0" smtClean="0">
                          <a:effectLst/>
                          <a:latin typeface="Cambria Math" panose="02040503050406030204" pitchFamily="18" charset="0"/>
                          <a:cs typeface="宋体" panose="02010600030101010101" pitchFamily="2" charset="-122"/>
                        </a:rPr>
                        <m:t> ≤ </m:t>
                      </m:r>
                      <m:r>
                        <a:rPr lang="en-US" b="1" i="1" kern="100" dirty="0" smtClean="0">
                          <a:effectLst/>
                          <a:latin typeface="Cambria Math" panose="02040503050406030204" pitchFamily="18" charset="0"/>
                          <a:cs typeface="宋体" panose="02010600030101010101" pitchFamily="2" charset="-122"/>
                        </a:rPr>
                        <m:t>𝒄</m:t>
                      </m:r>
                      <m:r>
                        <a:rPr lang="zh-CN" altLang="en-US" b="1" i="1" kern="100" dirty="0" smtClean="0">
                          <a:effectLst/>
                          <a:latin typeface="Cambria Math" panose="02040503050406030204" pitchFamily="18" charset="0"/>
                          <a:cs typeface="宋体" panose="02010600030101010101" pitchFamily="2" charset="-122"/>
                        </a:rPr>
                        <m:t>，</m:t>
                      </m:r>
                      <m:r>
                        <a:rPr lang="en-US" b="1" i="1" kern="100" dirty="0" smtClean="0">
                          <a:effectLst/>
                          <a:latin typeface="Cambria Math" panose="02040503050406030204" pitchFamily="18" charset="0"/>
                          <a:cs typeface="宋体" panose="02010600030101010101" pitchFamily="2" charset="-122"/>
                        </a:rPr>
                        <m:t>𝒃</m:t>
                      </m:r>
                      <m:r>
                        <a:rPr lang="en-US" b="1" i="1" kern="100" dirty="0" smtClean="0">
                          <a:effectLst/>
                          <a:latin typeface="Cambria Math" panose="02040503050406030204" pitchFamily="18" charset="0"/>
                          <a:cs typeface="宋体" panose="02010600030101010101" pitchFamily="2" charset="-122"/>
                        </a:rPr>
                        <m:t> ≤ </m:t>
                      </m:r>
                      <m:r>
                        <a:rPr lang="en-US" b="1" i="1" kern="100" dirty="0" smtClean="0">
                          <a:effectLst/>
                          <a:latin typeface="Cambria Math" panose="02040503050406030204" pitchFamily="18" charset="0"/>
                          <a:cs typeface="宋体" panose="02010600030101010101" pitchFamily="2" charset="-122"/>
                        </a:rPr>
                        <m:t>𝒄</m:t>
                      </m:r>
                      <m:r>
                        <a:rPr lang="en-US" b="1" i="1" kern="100" dirty="0" smtClean="0">
                          <a:effectLst/>
                          <a:latin typeface="Cambria Math" panose="02040503050406030204" pitchFamily="18" charset="0"/>
                          <a:cs typeface="宋体" panose="02010600030101010101" pitchFamily="2" charset="-122"/>
                          <a:sym typeface="Symbol" panose="05050102010706020507" pitchFamily="18" charset="2"/>
                        </a:rPr>
                        <m:t></m:t>
                      </m:r>
                      <m:r>
                        <a:rPr lang="en-US" b="1" i="1" kern="100" dirty="0" smtClean="0">
                          <a:effectLst/>
                          <a:latin typeface="Cambria Math" panose="02040503050406030204" pitchFamily="18" charset="0"/>
                          <a:cs typeface="宋体" panose="02010600030101010101" pitchFamily="2" charset="-122"/>
                        </a:rPr>
                        <m:t> </m:t>
                      </m:r>
                      <m:r>
                        <a:rPr lang="en-US" b="1" i="1" kern="100" dirty="0" smtClean="0">
                          <a:effectLst/>
                          <a:latin typeface="Cambria Math" panose="02040503050406030204" pitchFamily="18" charset="0"/>
                          <a:cs typeface="宋体" panose="02010600030101010101" pitchFamily="2" charset="-122"/>
                        </a:rPr>
                        <m:t>𝒂</m:t>
                      </m:r>
                      <m:r>
                        <a:rPr lang="zh-CN" altLang="en-US" b="1" i="1" kern="100" dirty="0" smtClean="0">
                          <a:effectLst/>
                          <a:latin typeface="Cambria Math" panose="02040503050406030204" pitchFamily="18" charset="0"/>
                          <a:cs typeface="宋体" panose="02010600030101010101" pitchFamily="2" charset="-122"/>
                        </a:rPr>
                        <m:t>∨</m:t>
                      </m:r>
                      <m:r>
                        <a:rPr lang="en-US" b="1" i="1" kern="100" dirty="0" smtClean="0">
                          <a:effectLst/>
                          <a:latin typeface="Cambria Math" panose="02040503050406030204" pitchFamily="18" charset="0"/>
                          <a:cs typeface="宋体" panose="02010600030101010101" pitchFamily="2" charset="-122"/>
                        </a:rPr>
                        <m:t>𝒃</m:t>
                      </m:r>
                      <m:r>
                        <a:rPr lang="en-US" b="1" i="1" kern="100" dirty="0" smtClean="0">
                          <a:effectLst/>
                          <a:latin typeface="Cambria Math" panose="02040503050406030204" pitchFamily="18" charset="0"/>
                          <a:cs typeface="宋体" panose="02010600030101010101" pitchFamily="2" charset="-122"/>
                        </a:rPr>
                        <m:t> ≤</m:t>
                      </m:r>
                      <m:r>
                        <a:rPr lang="en-US" b="1" i="1" kern="100" dirty="0" smtClean="0">
                          <a:effectLst/>
                          <a:latin typeface="Cambria Math" panose="02040503050406030204" pitchFamily="18" charset="0"/>
                          <a:cs typeface="宋体" panose="02010600030101010101" pitchFamily="2" charset="-122"/>
                        </a:rPr>
                        <m:t>𝒄</m:t>
                      </m:r>
                    </m:oMath>
                  </m:oMathPara>
                </a14:m>
                <a:endParaRPr lang="zh-CN" kern="100" dirty="0">
                  <a:effectLst/>
                  <a:latin typeface="+mn-ea"/>
                  <a:cs typeface="宋体" panose="02010600030101010101" pitchFamily="2" charset="-122"/>
                </a:endParaRPr>
              </a:p>
              <a:p>
                <a:pPr marL="0" indent="0" algn="just">
                  <a:buNone/>
                </a:pPr>
                <a:r>
                  <a:rPr lang="zh-CN" kern="100" dirty="0">
                    <a:effectLst/>
                    <a:latin typeface="+mn-ea"/>
                    <a:cs typeface="宋体" panose="02010600030101010101" pitchFamily="2" charset="-122"/>
                  </a:rPr>
                  <a:t>（</a:t>
                </a:r>
                <a:r>
                  <a:rPr lang="en-US" kern="100" dirty="0">
                    <a:effectLst/>
                    <a:latin typeface="+mn-ea"/>
                    <a:cs typeface="宋体" panose="02010600030101010101" pitchFamily="2" charset="-122"/>
                  </a:rPr>
                  <a:t>2</a:t>
                </a:r>
                <a:r>
                  <a:rPr lang="zh-CN" kern="100" dirty="0">
                    <a:effectLst/>
                    <a:latin typeface="+mn-ea"/>
                    <a:cs typeface="宋体" panose="02010600030101010101" pitchFamily="2" charset="-122"/>
                  </a:rPr>
                  <a:t>）格的运算定律：交换律、结合律、吸收律、幂等律；偏序集性质：自反性、反对称性、传递性。</a:t>
                </a:r>
              </a:p>
              <a:p>
                <a:pPr marL="0" indent="0" algn="just">
                  <a:buNone/>
                </a:pPr>
                <a:r>
                  <a:rPr lang="zh-CN" kern="100" dirty="0">
                    <a:effectLst/>
                    <a:latin typeface="+mn-ea"/>
                    <a:cs typeface="宋体" panose="02010600030101010101" pitchFamily="2" charset="-122"/>
                  </a:rPr>
                  <a:t>（</a:t>
                </a:r>
                <a:r>
                  <a:rPr lang="en-US" kern="100" dirty="0">
                    <a:effectLst/>
                    <a:latin typeface="+mn-ea"/>
                    <a:cs typeface="宋体" panose="02010600030101010101" pitchFamily="2" charset="-122"/>
                  </a:rPr>
                  <a:t>3</a:t>
                </a:r>
                <a:r>
                  <a:rPr lang="zh-CN" kern="100" dirty="0">
                    <a:effectLst/>
                    <a:latin typeface="+mn-ea"/>
                    <a:cs typeface="宋体" panose="02010600030101010101" pitchFamily="2" charset="-122"/>
                  </a:rPr>
                  <a:t>）对偶原理：两个对偶命题只需证明其中之一。</a:t>
                </a:r>
              </a:p>
              <a:p>
                <a:pPr marL="0" indent="0" algn="just">
                  <a:buNone/>
                </a:pPr>
                <a:r>
                  <a:rPr lang="zh-CN" kern="100" dirty="0">
                    <a:effectLst/>
                    <a:latin typeface="+mn-ea"/>
                    <a:cs typeface="宋体" panose="02010600030101010101" pitchFamily="2" charset="-122"/>
                  </a:rPr>
                  <a:t>（</a:t>
                </a:r>
                <a:r>
                  <a:rPr lang="en-US" kern="100" dirty="0">
                    <a:effectLst/>
                    <a:latin typeface="+mn-ea"/>
                    <a:cs typeface="宋体" panose="02010600030101010101" pitchFamily="2" charset="-122"/>
                  </a:rPr>
                  <a:t>4</a:t>
                </a:r>
                <a:r>
                  <a:rPr lang="zh-CN" kern="100" dirty="0">
                    <a:effectLst/>
                    <a:latin typeface="+mn-ea"/>
                    <a:cs typeface="宋体" panose="02010600030101010101" pitchFamily="2" charset="-122"/>
                  </a:rPr>
                  <a:t>）格的保序性、分配不等式和模不等式</a:t>
                </a:r>
              </a:p>
            </p:txBody>
          </p:sp>
        </mc:Choice>
        <mc:Fallback xmlns="">
          <p:sp>
            <p:nvSpPr>
              <p:cNvPr id="4" name="文本框 2">
                <a:extLst>
                  <a:ext uri="{FF2B5EF4-FFF2-40B4-BE49-F238E27FC236}">
                    <a16:creationId xmlns:a16="http://schemas.microsoft.com/office/drawing/2014/main" id="{4B114B95-2208-405B-9D34-232527A4E3B8}"/>
                  </a:ext>
                </a:extLst>
              </p:cNvPr>
              <p:cNvSpPr txBox="1">
                <a:spLocks noGrp="1" noRot="1" noChangeAspect="1" noMove="1" noResize="1" noEditPoints="1" noAdjustHandles="1" noChangeArrowheads="1" noChangeShapeType="1" noTextEdit="1"/>
              </p:cNvSpPr>
              <p:nvPr>
                <p:ph idx="1"/>
              </p:nvPr>
            </p:nvSpPr>
            <p:spPr bwMode="auto">
              <a:xfrm>
                <a:off x="536576" y="1524794"/>
                <a:ext cx="9982200" cy="3895810"/>
              </a:xfrm>
              <a:prstGeom prst="rect">
                <a:avLst/>
              </a:prstGeom>
              <a:blipFill>
                <a:blip r:embed="rId4"/>
                <a:stretch>
                  <a:fillRect l="-854" t="-156" r="-854" b="-2496"/>
                </a:stretch>
              </a:blipFill>
              <a:ln w="9525">
                <a:solidFill>
                  <a:srgbClr val="000000"/>
                </a:solidFill>
                <a:miter lim="800000"/>
                <a:headEnd/>
                <a:tailEnd/>
              </a:ln>
            </p:spPr>
            <p:txBody>
              <a:bodyPr/>
              <a:lstStyle/>
              <a:p>
                <a:r>
                  <a:rPr lang="zh-CN" altLang="en-US">
                    <a:noFill/>
                  </a:rPr>
                  <a:t> </a:t>
                </a:r>
              </a:p>
            </p:txBody>
          </p:sp>
        </mc:Fallback>
      </mc:AlternateContent>
    </p:spTree>
    <p:extLst>
      <p:ext uri="{BB962C8B-B14F-4D97-AF65-F5344CB8AC3E}">
        <p14:creationId xmlns:p14="http://schemas.microsoft.com/office/powerpoint/2010/main" val="13055317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651376" y="838994"/>
            <a:ext cx="6629399" cy="5205255"/>
            <a:chOff x="4619229" y="1297085"/>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619229" y="1297085"/>
              <a:ext cx="6629399" cy="5205255"/>
              <a:chOff x="4619229" y="1297085"/>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619229" y="1297085"/>
                <a:ext cx="6629399" cy="5205255"/>
                <a:chOff x="4619229" y="1228143"/>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619229" y="1228143"/>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876646" y="3135098"/>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TextBox 1">
                  <a:extLst>
                    <a:ext uri="{FF2B5EF4-FFF2-40B4-BE49-F238E27FC236}">
                      <a16:creationId xmlns:a16="http://schemas.microsoft.com/office/drawing/2014/main" id="{CC1830B4-B7AE-4F4E-B2A2-7EA3C57296F9}"/>
                    </a:ext>
                  </a:extLst>
                </p:cNvPr>
                <p:cNvSpPr txBox="1"/>
                <p:nvPr/>
              </p:nvSpPr>
              <p:spPr>
                <a:xfrm>
                  <a:off x="6954055" y="2671643"/>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格的定义和性质</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49641" y="3265020"/>
                  <a:ext cx="1846659"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子格与格同态</a:t>
                  </a:r>
                </a:p>
              </p:txBody>
            </p:sp>
            <p:sp>
              <p:nvSpPr>
                <p:cNvPr id="108" name="Freeform 3">
                  <a:extLst>
                    <a:ext uri="{FF2B5EF4-FFF2-40B4-BE49-F238E27FC236}">
                      <a16:creationId xmlns:a16="http://schemas.microsoft.com/office/drawing/2014/main" id="{B90F0CC1-39D6-4CF7-88A9-B6AE46CF38C8}"/>
                    </a:ext>
                  </a:extLst>
                </p:cNvPr>
                <p:cNvSpPr/>
                <p:nvPr/>
              </p:nvSpPr>
              <p:spPr>
                <a:xfrm>
                  <a:off x="6698357" y="1861397"/>
                  <a:ext cx="45719" cy="394420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10" name="Freeform 3">
                  <a:extLst>
                    <a:ext uri="{FF2B5EF4-FFF2-40B4-BE49-F238E27FC236}">
                      <a16:creationId xmlns:a16="http://schemas.microsoft.com/office/drawing/2014/main" id="{4422CB3B-D0D5-4FEA-B0A8-30267AF052B1}"/>
                    </a:ext>
                  </a:extLst>
                </p:cNvPr>
                <p:cNvSpPr/>
                <p:nvPr/>
              </p:nvSpPr>
              <p:spPr>
                <a:xfrm>
                  <a:off x="6646827" y="221089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24104" y="33202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24104" y="37921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82518" y="3778915"/>
                  <a:ext cx="923330"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特殊格</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870609" y="4886187"/>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格与布尔代数的应用</a:t>
                  </a:r>
                </a:p>
              </p:txBody>
            </p:sp>
            <p:sp>
              <p:nvSpPr>
                <p:cNvPr id="116" name="Freeform 3">
                  <a:extLst>
                    <a:ext uri="{FF2B5EF4-FFF2-40B4-BE49-F238E27FC236}">
                      <a16:creationId xmlns:a16="http://schemas.microsoft.com/office/drawing/2014/main" id="{74C8B829-18F9-4783-B4D6-E9A724B05A1B}"/>
                    </a:ext>
                  </a:extLst>
                </p:cNvPr>
                <p:cNvSpPr/>
                <p:nvPr/>
              </p:nvSpPr>
              <p:spPr>
                <a:xfrm>
                  <a:off x="6632575" y="437073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2575" y="4928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876646" y="2669024"/>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851892" y="3265019"/>
                  <a:ext cx="740587"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10.2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858954" y="3725688"/>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885928" y="429366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63759" y="212402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47502" y="5444665"/>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50219" y="53950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841681" y="4861636"/>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10.5</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7013575" y="441308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布尔代数</a:t>
                </a:r>
              </a:p>
            </p:txBody>
          </p:sp>
          <p:sp>
            <p:nvSpPr>
              <p:cNvPr id="50" name="TextBox 1">
                <a:extLst>
                  <a:ext uri="{FF2B5EF4-FFF2-40B4-BE49-F238E27FC236}">
                    <a16:creationId xmlns:a16="http://schemas.microsoft.com/office/drawing/2014/main" id="{159A0760-2207-4EDB-B452-50B7B83350F3}"/>
                  </a:ext>
                </a:extLst>
              </p:cNvPr>
              <p:cNvSpPr txBox="1"/>
              <p:nvPr/>
            </p:nvSpPr>
            <p:spPr>
              <a:xfrm>
                <a:off x="5885927" y="549855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10.6</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2575" y="28313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
        <p:nvSpPr>
          <p:cNvPr id="54" name="TextBox 1">
            <a:extLst>
              <a:ext uri="{FF2B5EF4-FFF2-40B4-BE49-F238E27FC236}">
                <a16:creationId xmlns:a16="http://schemas.microsoft.com/office/drawing/2014/main" id="{C5B62AAD-5C71-42D8-966E-8B7625EA56C7}"/>
              </a:ext>
            </a:extLst>
          </p:cNvPr>
          <p:cNvSpPr txBox="1"/>
          <p:nvPr/>
        </p:nvSpPr>
        <p:spPr>
          <a:xfrm>
            <a:off x="7012641" y="1788696"/>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3348502067"/>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16EF6-F4D1-4B90-AF39-587DD4EA0C47}"/>
              </a:ext>
            </a:extLst>
          </p:cNvPr>
          <p:cNvSpPr>
            <a:spLocks noGrp="1"/>
          </p:cNvSpPr>
          <p:nvPr>
            <p:ph type="title"/>
          </p:nvPr>
        </p:nvSpPr>
        <p:spPr/>
        <p:txBody>
          <a:bodyPr/>
          <a:lstStyle/>
          <a:p>
            <a:r>
              <a:rPr lang="zh-CN" altLang="en-US" dirty="0"/>
              <a:t>子格的定义</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78DB08A3-CD82-4216-95BE-5C2117D3A6C3}"/>
                  </a:ext>
                </a:extLst>
              </p:cNvPr>
              <p:cNvSpPr txBox="1">
                <a:spLocks/>
              </p:cNvSpPr>
              <p:nvPr/>
            </p:nvSpPr>
            <p:spPr>
              <a:xfrm>
                <a:off x="317500" y="1067594"/>
                <a:ext cx="11582400" cy="3581400"/>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buNone/>
                </a:pPr>
                <a:r>
                  <a:rPr lang="zh-CN" altLang="zh-CN" dirty="0">
                    <a:solidFill>
                      <a:srgbClr val="0000FF"/>
                    </a:solidFill>
                  </a:rPr>
                  <a:t>定义</a:t>
                </a:r>
                <a:r>
                  <a:rPr lang="en-US" altLang="zh-CN" dirty="0">
                    <a:solidFill>
                      <a:srgbClr val="0000FF"/>
                    </a:solidFill>
                  </a:rPr>
                  <a:t>10.4  </a:t>
                </a:r>
                <a:r>
                  <a:rPr lang="zh-CN" altLang="zh-CN" dirty="0"/>
                  <a:t>设</a:t>
                </a:r>
                <a14:m>
                  <m:oMath xmlns:m="http://schemas.openxmlformats.org/officeDocument/2006/math">
                    <m:r>
                      <a:rPr lang="en-US" altLang="zh-CN" b="1" i="1" dirty="0" smtClean="0">
                        <a:latin typeface="Cambria Math" panose="02040503050406030204" pitchFamily="18" charset="0"/>
                      </a:rPr>
                      <m:t>𝑳</m:t>
                    </m:r>
                  </m:oMath>
                </a14:m>
                <a:r>
                  <a:rPr lang="zh-CN" altLang="zh-CN" dirty="0"/>
                  <a:t>是一个格，</a:t>
                </a:r>
                <a14:m>
                  <m:oMath xmlns:m="http://schemas.openxmlformats.org/officeDocument/2006/math">
                    <m:r>
                      <a:rPr lang="en-US" altLang="zh-CN" b="1" i="1" dirty="0" smtClean="0">
                        <a:solidFill>
                          <a:srgbClr val="0000FF"/>
                        </a:solidFill>
                        <a:latin typeface="Cambria Math" panose="02040503050406030204" pitchFamily="18" charset="0"/>
                      </a:rPr>
                      <m:t>𝑺</m:t>
                    </m:r>
                    <m:r>
                      <a:rPr lang="en-US" altLang="zh-CN" b="1" i="1" dirty="0"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m:t>
                    </m:r>
                    <m:r>
                      <a:rPr lang="en-US" altLang="zh-CN" b="1" i="1" dirty="0">
                        <a:solidFill>
                          <a:srgbClr val="0000FF"/>
                        </a:solidFill>
                        <a:latin typeface="Cambria Math" panose="02040503050406030204" pitchFamily="18" charset="0"/>
                      </a:rPr>
                      <m:t>𝑳</m:t>
                    </m:r>
                  </m:oMath>
                </a14:m>
                <a:r>
                  <a:rPr lang="zh-CN" altLang="zh-CN" dirty="0"/>
                  <a:t>，若</a:t>
                </a:r>
                <a14:m>
                  <m:oMath xmlns:m="http://schemas.openxmlformats.org/officeDocument/2006/math">
                    <m:r>
                      <a:rPr lang="en-US" altLang="zh-CN" b="1" i="1" dirty="0" smtClean="0">
                        <a:latin typeface="Cambria Math" panose="02040503050406030204" pitchFamily="18" charset="0"/>
                      </a:rPr>
                      <m:t>𝑺</m:t>
                    </m:r>
                  </m:oMath>
                </a14:m>
                <a:r>
                  <a:rPr lang="zh-CN" altLang="zh-CN" dirty="0"/>
                  <a:t>满足：</a:t>
                </a:r>
              </a:p>
              <a:p>
                <a:pPr indent="0" algn="just">
                  <a:buNone/>
                </a:pPr>
                <a:r>
                  <a:rPr lang="zh-CN" altLang="zh-CN" dirty="0"/>
                  <a:t>（</a:t>
                </a:r>
                <a:r>
                  <a:rPr lang="en-US" altLang="zh-CN" dirty="0"/>
                  <a:t>1</a:t>
                </a:r>
                <a:r>
                  <a:rPr lang="zh-CN" altLang="zh-CN" dirty="0"/>
                  <a:t>）</a:t>
                </a:r>
                <a14:m>
                  <m:oMath xmlns:m="http://schemas.openxmlformats.org/officeDocument/2006/math">
                    <m:r>
                      <a:rPr lang="en-US" altLang="zh-CN" b="1" i="1" dirty="0" smtClean="0">
                        <a:solidFill>
                          <a:srgbClr val="0000FF"/>
                        </a:solidFill>
                        <a:latin typeface="Cambria Math" panose="02040503050406030204" pitchFamily="18" charset="0"/>
                      </a:rPr>
                      <m:t>𝑺</m:t>
                    </m:r>
                    <m:r>
                      <a:rPr lang="en-US" altLang="zh-CN" b="1" i="1" dirty="0" smtClean="0">
                        <a:solidFill>
                          <a:srgbClr val="0000FF"/>
                        </a:solidFill>
                        <a:latin typeface="Cambria Math" panose="02040503050406030204" pitchFamily="18" charset="0"/>
                        <a:ea typeface="Cambria Math" panose="02040503050406030204" pitchFamily="18" charset="0"/>
                      </a:rPr>
                      <m:t>≠∅</m:t>
                    </m:r>
                  </m:oMath>
                </a14:m>
                <a:r>
                  <a:rPr lang="zh-CN" altLang="zh-CN" dirty="0"/>
                  <a:t>；</a:t>
                </a:r>
              </a:p>
              <a:p>
                <a:pPr indent="0" algn="just">
                  <a:buNone/>
                </a:pPr>
                <a:r>
                  <a:rPr lang="zh-CN" altLang="zh-CN" dirty="0"/>
                  <a:t>（</a:t>
                </a:r>
                <a:r>
                  <a:rPr lang="en-US" altLang="zh-CN" dirty="0"/>
                  <a:t>2</a:t>
                </a:r>
                <a:r>
                  <a:rPr lang="zh-CN" altLang="zh-CN" dirty="0"/>
                  <a:t>）格的</a:t>
                </a:r>
                <a:r>
                  <a:rPr lang="zh-CN" altLang="zh-CN" dirty="0">
                    <a:solidFill>
                      <a:srgbClr val="0000FF"/>
                    </a:solidFill>
                  </a:rPr>
                  <a:t>两个运算</a:t>
                </a:r>
                <a14:m>
                  <m:oMath xmlns:m="http://schemas.openxmlformats.org/officeDocument/2006/math">
                    <m:r>
                      <a:rPr lang="zh-CN" altLang="en-US" b="1" i="1" dirty="0" smtClean="0">
                        <a:solidFill>
                          <a:srgbClr val="0000FF"/>
                        </a:solidFill>
                        <a:latin typeface="Cambria Math" panose="02040503050406030204" pitchFamily="18" charset="0"/>
                      </a:rPr>
                      <m:t>⋀</m:t>
                    </m:r>
                  </m:oMath>
                </a14:m>
                <a:r>
                  <a:rPr lang="zh-CN" altLang="zh-CN" dirty="0">
                    <a:solidFill>
                      <a:srgbClr val="0000FF"/>
                    </a:solidFill>
                  </a:rPr>
                  <a:t>和</a:t>
                </a:r>
                <a14:m>
                  <m:oMath xmlns:m="http://schemas.openxmlformats.org/officeDocument/2006/math">
                    <m:r>
                      <a:rPr lang="zh-CN" altLang="en-US" b="1" i="1" dirty="0" smtClean="0">
                        <a:solidFill>
                          <a:srgbClr val="0000FF"/>
                        </a:solidFill>
                        <a:latin typeface="Cambria Math" panose="02040503050406030204" pitchFamily="18" charset="0"/>
                      </a:rPr>
                      <m:t>⋁</m:t>
                    </m:r>
                  </m:oMath>
                </a14:m>
                <a:r>
                  <a:rPr lang="zh-CN" altLang="zh-CN" dirty="0">
                    <a:solidFill>
                      <a:srgbClr val="0000FF"/>
                    </a:solidFill>
                  </a:rPr>
                  <a:t>对子集</a:t>
                </a:r>
                <a14:m>
                  <m:oMath xmlns:m="http://schemas.openxmlformats.org/officeDocument/2006/math">
                    <m:r>
                      <a:rPr lang="en-US" altLang="zh-CN" b="1" i="1" dirty="0" smtClean="0">
                        <a:solidFill>
                          <a:srgbClr val="0000FF"/>
                        </a:solidFill>
                        <a:latin typeface="Cambria Math" panose="02040503050406030204" pitchFamily="18" charset="0"/>
                      </a:rPr>
                      <m:t>𝑺</m:t>
                    </m:r>
                  </m:oMath>
                </a14:m>
                <a:r>
                  <a:rPr lang="zh-CN" altLang="zh-CN" dirty="0">
                    <a:solidFill>
                      <a:srgbClr val="0000FF"/>
                    </a:solidFill>
                  </a:rPr>
                  <a:t>是封闭的</a:t>
                </a:r>
                <a:r>
                  <a:rPr lang="zh-CN" altLang="zh-CN" dirty="0"/>
                  <a:t>，即</a:t>
                </a:r>
              </a:p>
              <a:p>
                <a:pPr marL="0" indent="0" algn="ctr">
                  <a:buNone/>
                </a:pPr>
                <a:r>
                  <a:rPr lang="zh-CN" altLang="zh-CN" dirty="0"/>
                  <a:t>对</a:t>
                </a:r>
                <a14:m>
                  <m:oMath xmlns:m="http://schemas.openxmlformats.org/officeDocument/2006/math">
                    <m:r>
                      <a:rPr lang="en-US" altLang="zh-CN" b="1" i="1" dirty="0" smtClean="0">
                        <a:latin typeface="Cambria Math" panose="02040503050406030204" pitchFamily="18" charset="0"/>
                        <a:sym typeface="Symbol" panose="05050102010706020507" pitchFamily="18" charset="2"/>
                      </a:rPr>
                      <m:t></m:t>
                    </m:r>
                    <m:r>
                      <a:rPr lang="en-US" altLang="zh-CN" b="1" i="1" dirty="0">
                        <a:latin typeface="Cambria Math" panose="02040503050406030204" pitchFamily="18" charset="0"/>
                      </a:rPr>
                      <m:t>𝒙</m:t>
                    </m:r>
                    <m:r>
                      <a:rPr lang="en-US" altLang="zh-CN" b="1" i="1" dirty="0">
                        <a:latin typeface="Cambria Math" panose="02040503050406030204" pitchFamily="18" charset="0"/>
                      </a:rPr>
                      <m:t>, </m:t>
                    </m:r>
                    <m:r>
                      <a:rPr lang="en-US" altLang="zh-CN" b="1" i="1" dirty="0" smtClean="0">
                        <a:latin typeface="Cambria Math" panose="02040503050406030204" pitchFamily="18" charset="0"/>
                      </a:rPr>
                      <m:t>𝒚</m:t>
                    </m:r>
                    <m:r>
                      <a:rPr lang="en-US" altLang="zh-CN" b="1" i="1" dirty="0" smtClean="0">
                        <a:latin typeface="Cambria Math" panose="02040503050406030204" pitchFamily="18" charset="0"/>
                        <a:ea typeface="Cambria Math" panose="02040503050406030204" pitchFamily="18" charset="0"/>
                      </a:rPr>
                      <m:t>∈</m:t>
                    </m:r>
                    <m:r>
                      <a:rPr lang="en-US" altLang="zh-CN" b="1" i="1" dirty="0" smtClean="0">
                        <a:latin typeface="Cambria Math" panose="02040503050406030204" pitchFamily="18" charset="0"/>
                        <a:ea typeface="Cambria Math" panose="02040503050406030204" pitchFamily="18" charset="0"/>
                      </a:rPr>
                      <m:t>𝑺</m:t>
                    </m:r>
                    <m:r>
                      <a:rPr lang="zh-CN" altLang="zh-CN" b="1" i="1" dirty="0">
                        <a:latin typeface="Cambria Math" panose="02040503050406030204" pitchFamily="18" charset="0"/>
                      </a:rPr>
                      <m:t>，</m:t>
                    </m:r>
                    <m:r>
                      <a:rPr lang="zh-CN" altLang="zh-CN" b="1" i="1" dirty="0">
                        <a:latin typeface="Cambria Math" panose="02040503050406030204" pitchFamily="18" charset="0"/>
                      </a:rPr>
                      <m:t> </m:t>
                    </m:r>
                    <m:r>
                      <a:rPr lang="en-US" altLang="zh-CN" b="1" i="1" dirty="0">
                        <a:latin typeface="Cambria Math" panose="02040503050406030204" pitchFamily="18" charset="0"/>
                      </a:rPr>
                      <m:t>𝒙</m:t>
                    </m:r>
                    <m:r>
                      <a:rPr lang="zh-CN" altLang="en-US" b="1" i="1" dirty="0" smtClean="0">
                        <a:latin typeface="Cambria Math" panose="02040503050406030204" pitchFamily="18" charset="0"/>
                      </a:rPr>
                      <m:t>⋀</m:t>
                    </m:r>
                    <m:r>
                      <a:rPr lang="en-US" altLang="zh-CN" i="1" dirty="0">
                        <a:latin typeface="Cambria Math" panose="02040503050406030204" pitchFamily="18" charset="0"/>
                      </a:rPr>
                      <m:t>𝒚</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𝑺</m:t>
                    </m:r>
                  </m:oMath>
                </a14:m>
                <a:r>
                  <a:rPr lang="zh-CN" altLang="zh-CN" dirty="0"/>
                  <a:t>和</a:t>
                </a:r>
                <a14:m>
                  <m:oMath xmlns:m="http://schemas.openxmlformats.org/officeDocument/2006/math">
                    <m:r>
                      <a:rPr lang="en-US" altLang="zh-CN" b="1" i="1" dirty="0" smtClean="0">
                        <a:latin typeface="Cambria Math" panose="02040503050406030204" pitchFamily="18" charset="0"/>
                      </a:rPr>
                      <m:t>𝒙</m:t>
                    </m:r>
                    <m:r>
                      <a:rPr lang="zh-CN" altLang="en-US" b="1" i="1" dirty="0" smtClean="0">
                        <a:latin typeface="Cambria Math" panose="02040503050406030204" pitchFamily="18" charset="0"/>
                      </a:rPr>
                      <m:t>⋁</m:t>
                    </m:r>
                    <m:r>
                      <a:rPr lang="en-US" altLang="zh-CN" b="1" i="1" dirty="0">
                        <a:latin typeface="Cambria Math" panose="02040503050406030204" pitchFamily="18" charset="0"/>
                      </a:rPr>
                      <m:t>𝒚</m:t>
                    </m:r>
                    <m:r>
                      <a:rPr lang="en-US" altLang="zh-CN" b="1" i="1" dirty="0">
                        <a:latin typeface="Cambria Math" panose="02040503050406030204" pitchFamily="18" charset="0"/>
                      </a:rPr>
                      <m:t> ∈</m:t>
                    </m:r>
                    <m:r>
                      <a:rPr lang="en-US" altLang="zh-CN" b="1" i="1" dirty="0">
                        <a:latin typeface="Cambria Math" panose="02040503050406030204" pitchFamily="18" charset="0"/>
                      </a:rPr>
                      <m:t>𝑺</m:t>
                    </m:r>
                  </m:oMath>
                </a14:m>
                <a:endParaRPr lang="zh-CN" altLang="zh-CN" dirty="0"/>
              </a:p>
              <a:p>
                <a:pPr marL="0" indent="0">
                  <a:buNone/>
                </a:pPr>
                <a:r>
                  <a:rPr lang="zh-CN" altLang="zh-CN" dirty="0"/>
                  <a:t>则称</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𝑺</m:t>
                    </m:r>
                    <m:r>
                      <a:rPr lang="en-US" altLang="zh-CN" b="1" i="1" dirty="0" smtClean="0">
                        <a:latin typeface="Cambria Math" panose="02040503050406030204" pitchFamily="18" charset="0"/>
                      </a:rPr>
                      <m:t>, ⋀, ⋁&gt;</m:t>
                    </m:r>
                  </m:oMath>
                </a14:m>
                <a:r>
                  <a:rPr lang="zh-CN" altLang="zh-CN" dirty="0"/>
                  <a:t>是</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𝑳</m:t>
                    </m:r>
                    <m:r>
                      <a:rPr lang="en-US" altLang="zh-CN" b="1" i="1" dirty="0" smtClean="0">
                        <a:latin typeface="Cambria Math" panose="02040503050406030204" pitchFamily="18" charset="0"/>
                      </a:rPr>
                      <m:t>, ⋀, ⋁&gt;</m:t>
                    </m:r>
                  </m:oMath>
                </a14:m>
                <a:r>
                  <a:rPr lang="zh-CN" altLang="zh-CN" dirty="0"/>
                  <a:t>的子格，简称</a:t>
                </a:r>
                <a14:m>
                  <m:oMath xmlns:m="http://schemas.openxmlformats.org/officeDocument/2006/math">
                    <m:r>
                      <a:rPr lang="en-US" altLang="zh-CN" b="1" i="1" dirty="0" smtClean="0">
                        <a:latin typeface="Cambria Math" panose="02040503050406030204" pitchFamily="18" charset="0"/>
                      </a:rPr>
                      <m:t>𝑺</m:t>
                    </m:r>
                  </m:oMath>
                </a14:m>
                <a:r>
                  <a:rPr lang="zh-CN" altLang="zh-CN" dirty="0"/>
                  <a:t>是</a:t>
                </a:r>
                <a14:m>
                  <m:oMath xmlns:m="http://schemas.openxmlformats.org/officeDocument/2006/math">
                    <m:r>
                      <a:rPr lang="en-US" altLang="zh-CN" b="1" i="1" dirty="0" smtClean="0">
                        <a:latin typeface="Cambria Math" panose="02040503050406030204" pitchFamily="18" charset="0"/>
                      </a:rPr>
                      <m:t>𝑳</m:t>
                    </m:r>
                  </m:oMath>
                </a14:m>
                <a:r>
                  <a:rPr lang="zh-CN" altLang="zh-CN" dirty="0"/>
                  <a:t>的</a:t>
                </a:r>
                <a:r>
                  <a:rPr lang="zh-CN" altLang="zh-CN" dirty="0">
                    <a:solidFill>
                      <a:srgbClr val="FF0000"/>
                    </a:solidFill>
                  </a:rPr>
                  <a:t>子格</a:t>
                </a:r>
                <a:r>
                  <a:rPr lang="zh-CN" altLang="zh-CN" dirty="0"/>
                  <a:t>。</a:t>
                </a:r>
                <a:endParaRPr lang="en-US" altLang="zh-CN" dirty="0"/>
              </a:p>
              <a:p>
                <a:pPr marL="0" indent="0">
                  <a:buNone/>
                </a:pPr>
                <a14:m>
                  <m:oMath xmlns:m="http://schemas.openxmlformats.org/officeDocument/2006/math">
                    <m:r>
                      <a:rPr lang="en-US" altLang="zh-CN" b="1" i="1" dirty="0" smtClean="0">
                        <a:solidFill>
                          <a:srgbClr val="0000FF"/>
                        </a:solidFill>
                        <a:latin typeface="Cambria Math" panose="02040503050406030204" pitchFamily="18" charset="0"/>
                      </a:rPr>
                      <m:t>𝑳</m:t>
                    </m:r>
                  </m:oMath>
                </a14:m>
                <a:r>
                  <a:rPr lang="zh-CN" altLang="zh-CN" dirty="0">
                    <a:solidFill>
                      <a:srgbClr val="0000FF"/>
                    </a:solidFill>
                  </a:rPr>
                  <a:t>的所有子格及空集</a:t>
                </a:r>
                <a14:m>
                  <m:oMath xmlns:m="http://schemas.openxmlformats.org/officeDocument/2006/math">
                    <m:r>
                      <a:rPr lang="en-US" altLang="zh-CN" b="1" i="1" dirty="0" smtClean="0">
                        <a:solidFill>
                          <a:srgbClr val="0000FF"/>
                        </a:solidFill>
                        <a:latin typeface="Cambria Math" panose="02040503050406030204" pitchFamily="18" charset="0"/>
                        <a:ea typeface="Cambria Math" panose="02040503050406030204" pitchFamily="18" charset="0"/>
                        <a:sym typeface="Symbol" panose="05050102010706020507" pitchFamily="18" charset="2"/>
                      </a:rPr>
                      <m:t>∅</m:t>
                    </m:r>
                  </m:oMath>
                </a14:m>
                <a:r>
                  <a:rPr lang="zh-CN" altLang="zh-CN" dirty="0">
                    <a:solidFill>
                      <a:srgbClr val="0000FF"/>
                    </a:solidFill>
                  </a:rPr>
                  <a:t>在集合包含关系下构成的格</a:t>
                </a:r>
                <a:r>
                  <a:rPr lang="zh-CN" altLang="zh-CN" dirty="0"/>
                  <a:t>，称为格</a:t>
                </a:r>
                <a14:m>
                  <m:oMath xmlns:m="http://schemas.openxmlformats.org/officeDocument/2006/math">
                    <m:r>
                      <a:rPr lang="en-US" altLang="zh-CN" b="1" i="1" dirty="0" smtClean="0">
                        <a:latin typeface="Cambria Math" panose="02040503050406030204" pitchFamily="18" charset="0"/>
                      </a:rPr>
                      <m:t>𝑳</m:t>
                    </m:r>
                  </m:oMath>
                </a14:m>
                <a:r>
                  <a:rPr lang="zh-CN" altLang="zh-CN" dirty="0"/>
                  <a:t>的</a:t>
                </a:r>
                <a:r>
                  <a:rPr lang="zh-CN" altLang="zh-CN" dirty="0">
                    <a:solidFill>
                      <a:srgbClr val="FF0000"/>
                    </a:solidFill>
                  </a:rPr>
                  <a:t>子格格</a:t>
                </a:r>
                <a:r>
                  <a:rPr lang="zh-CN" altLang="zh-CN" dirty="0"/>
                  <a:t>，记为</a:t>
                </a:r>
                <a14:m>
                  <m:oMath xmlns:m="http://schemas.openxmlformats.org/officeDocument/2006/math">
                    <m:r>
                      <a:rPr lang="en-US" altLang="zh-CN" b="1" i="0" dirty="0" smtClean="0">
                        <a:solidFill>
                          <a:srgbClr val="0000FF"/>
                        </a:solidFill>
                        <a:latin typeface="Cambria Math" panose="02040503050406030204" pitchFamily="18" charset="0"/>
                      </a:rPr>
                      <m:t>𝐒𝐮𝐛</m:t>
                    </m:r>
                    <m:r>
                      <a:rPr lang="en-US" altLang="zh-CN" b="1" i="1" dirty="0" smtClean="0">
                        <a:solidFill>
                          <a:srgbClr val="0000FF"/>
                        </a:solidFill>
                        <a:latin typeface="Cambria Math" panose="02040503050406030204" pitchFamily="18" charset="0"/>
                      </a:rPr>
                      <m:t>(</m:t>
                    </m:r>
                    <m:r>
                      <a:rPr lang="en-US" altLang="zh-CN" b="1" i="1" dirty="0" smtClean="0">
                        <a:solidFill>
                          <a:srgbClr val="0000FF"/>
                        </a:solidFill>
                        <a:latin typeface="Cambria Math" panose="02040503050406030204" pitchFamily="18" charset="0"/>
                      </a:rPr>
                      <m:t>𝑳</m:t>
                    </m:r>
                    <m:r>
                      <a:rPr lang="en-US" altLang="zh-CN" b="1" i="1" dirty="0" smtClean="0">
                        <a:solidFill>
                          <a:srgbClr val="0000FF"/>
                        </a:solidFill>
                        <a:latin typeface="Cambria Math" panose="02040503050406030204" pitchFamily="18" charset="0"/>
                      </a:rPr>
                      <m:t>)</m:t>
                    </m:r>
                  </m:oMath>
                </a14:m>
                <a:r>
                  <a:rPr lang="zh-CN" altLang="zh-CN" dirty="0"/>
                  <a:t>。</a:t>
                </a:r>
              </a:p>
            </p:txBody>
          </p:sp>
        </mc:Choice>
        <mc:Fallback xmlns="">
          <p:sp>
            <p:nvSpPr>
              <p:cNvPr id="9" name="Content Placeholder 2">
                <a:extLst>
                  <a:ext uri="{FF2B5EF4-FFF2-40B4-BE49-F238E27FC236}">
                    <a16:creationId xmlns:a16="http://schemas.microsoft.com/office/drawing/2014/main" id="{78DB08A3-CD82-4216-95BE-5C2117D3A6C3}"/>
                  </a:ext>
                </a:extLst>
              </p:cNvPr>
              <p:cNvSpPr txBox="1">
                <a:spLocks noRot="1" noChangeAspect="1" noMove="1" noResize="1" noEditPoints="1" noAdjustHandles="1" noChangeArrowheads="1" noChangeShapeType="1" noTextEdit="1"/>
              </p:cNvSpPr>
              <p:nvPr/>
            </p:nvSpPr>
            <p:spPr>
              <a:xfrm>
                <a:off x="317500" y="1067594"/>
                <a:ext cx="11582400" cy="3581400"/>
              </a:xfrm>
              <a:prstGeom prst="rect">
                <a:avLst/>
              </a:prstGeom>
              <a:blipFill>
                <a:blip r:embed="rId6"/>
                <a:stretch>
                  <a:fillRect l="-52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92531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16EF6-F4D1-4B90-AF39-587DD4EA0C47}"/>
              </a:ext>
            </a:extLst>
          </p:cNvPr>
          <p:cNvSpPr>
            <a:spLocks noGrp="1"/>
          </p:cNvSpPr>
          <p:nvPr>
            <p:ph type="title"/>
          </p:nvPr>
        </p:nvSpPr>
        <p:spPr/>
        <p:txBody>
          <a:bodyPr/>
          <a:lstStyle/>
          <a:p>
            <a:r>
              <a:rPr lang="zh-CN" altLang="en-US" dirty="0"/>
              <a:t>子格的判定</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78DB08A3-CD82-4216-95BE-5C2117D3A6C3}"/>
                  </a:ext>
                </a:extLst>
              </p:cNvPr>
              <p:cNvSpPr txBox="1">
                <a:spLocks/>
              </p:cNvSpPr>
              <p:nvPr/>
            </p:nvSpPr>
            <p:spPr>
              <a:xfrm>
                <a:off x="236036" y="935920"/>
                <a:ext cx="11895306" cy="1120771"/>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fontAlgn="b">
                  <a:lnSpc>
                    <a:spcPct val="130000"/>
                  </a:lnSpc>
                  <a:spcBef>
                    <a:spcPts val="600"/>
                  </a:spcBef>
                  <a:buNone/>
                </a:pPr>
                <a:r>
                  <a:rPr lang="zh-CN" altLang="zh-CN" kern="1100" dirty="0">
                    <a:solidFill>
                      <a:srgbClr val="0000FF"/>
                    </a:solidFill>
                    <a:effectLst/>
                    <a:latin typeface="+mn-ea"/>
                    <a:cs typeface="Times New Roman" panose="02020603050405020304" pitchFamily="18" charset="0"/>
                  </a:rPr>
                  <a:t>例</a:t>
                </a:r>
                <a:r>
                  <a:rPr lang="en-US" altLang="zh-CN" kern="1100" dirty="0">
                    <a:solidFill>
                      <a:srgbClr val="0000FF"/>
                    </a:solidFill>
                    <a:effectLst/>
                    <a:latin typeface="+mn-ea"/>
                  </a:rPr>
                  <a:t>10.3</a:t>
                </a:r>
                <a:r>
                  <a:rPr lang="en-US" altLang="zh-CN" dirty="0">
                    <a:solidFill>
                      <a:srgbClr val="0000FF"/>
                    </a:solidFill>
                    <a:effectLst/>
                    <a:latin typeface="+mn-ea"/>
                  </a:rPr>
                  <a:t>  </a:t>
                </a:r>
                <a:r>
                  <a:rPr lang="zh-CN" altLang="zh-CN" dirty="0">
                    <a:effectLst/>
                    <a:latin typeface="+mn-ea"/>
                    <a:cs typeface="Times New Roman" panose="02020603050405020304" pitchFamily="18" charset="0"/>
                  </a:rPr>
                  <a:t>在如图所示的偏序格</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𝑳</m:t>
                    </m:r>
                    <m:r>
                      <a:rPr lang="en-US" altLang="zh-CN" b="1" i="1" dirty="0" smtClean="0">
                        <a:effectLst/>
                        <a:latin typeface="Cambria Math" panose="02040503050406030204" pitchFamily="18" charset="0"/>
                      </a:rPr>
                      <m:t>, ≤ &gt;</m:t>
                    </m:r>
                  </m:oMath>
                </a14:m>
                <a:r>
                  <a:rPr lang="zh-CN" altLang="zh-CN" dirty="0">
                    <a:effectLst/>
                    <a:latin typeface="+mn-ea"/>
                    <a:cs typeface="Times New Roman" panose="02020603050405020304" pitchFamily="18" charset="0"/>
                  </a:rPr>
                  <a:t>中，考虑如下子集：</a:t>
                </a:r>
                <a14:m>
                  <m:oMath xmlns:m="http://schemas.openxmlformats.org/officeDocument/2006/math">
                    <m:sSub>
                      <m:sSubPr>
                        <m:ctrlPr>
                          <a:rPr lang="en-US" altLang="zh-CN" b="1" i="1" dirty="0" smtClean="0">
                            <a:effectLst/>
                            <a:latin typeface="Cambria Math" panose="02040503050406030204" pitchFamily="18" charset="0"/>
                          </a:rPr>
                        </m:ctrlPr>
                      </m:sSubPr>
                      <m:e>
                        <m:r>
                          <a:rPr lang="en-US" altLang="zh-CN" b="1" i="1" dirty="0" smtClean="0">
                            <a:effectLst/>
                            <a:latin typeface="Cambria Math" panose="02040503050406030204" pitchFamily="18" charset="0"/>
                          </a:rPr>
                          <m:t>𝑩</m:t>
                        </m:r>
                      </m:e>
                      <m:sub>
                        <m:r>
                          <a:rPr lang="en-US" altLang="zh-CN" b="1" i="1" dirty="0" smtClean="0">
                            <a:effectLst/>
                            <a:latin typeface="Cambria Math" panose="02040503050406030204" pitchFamily="18" charset="0"/>
                          </a:rPr>
                          <m:t>𝟏</m:t>
                        </m:r>
                      </m:sub>
                    </m:sSub>
                    <m:r>
                      <a:rPr lang="en-US" altLang="zh-CN" b="1" i="1" dirty="0">
                        <a:effectLst/>
                        <a:latin typeface="Cambria Math" panose="02040503050406030204" pitchFamily="18" charset="0"/>
                      </a:rPr>
                      <m:t>={</m:t>
                    </m:r>
                    <m:r>
                      <a:rPr lang="en-US" altLang="zh-CN" b="1" i="1" dirty="0">
                        <a:effectLst/>
                        <a:latin typeface="Cambria Math" panose="02040503050406030204" pitchFamily="18" charset="0"/>
                      </a:rPr>
                      <m:t>𝒂</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𝒃</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𝒈</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𝒉</m:t>
                    </m:r>
                    <m:r>
                      <a:rPr lang="en-US" altLang="zh-CN" b="1" i="1" dirty="0">
                        <a:effectLst/>
                        <a:latin typeface="Cambria Math" panose="02040503050406030204" pitchFamily="18" charset="0"/>
                      </a:rPr>
                      <m:t>}</m:t>
                    </m:r>
                    <m:r>
                      <a:rPr lang="zh-CN" altLang="zh-CN" b="1" i="1" dirty="0">
                        <a:effectLst/>
                        <a:latin typeface="Cambria Math" panose="02040503050406030204" pitchFamily="18" charset="0"/>
                        <a:cs typeface="Times New Roman" panose="020206030504050203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𝑩</m:t>
                        </m:r>
                      </m:e>
                      <m:sub>
                        <m:r>
                          <a:rPr lang="en-US" altLang="zh-CN" b="1" i="1" dirty="0" smtClean="0">
                            <a:latin typeface="Cambria Math" panose="02040503050406030204" pitchFamily="18" charset="0"/>
                          </a:rPr>
                          <m:t>𝟐</m:t>
                        </m:r>
                      </m:sub>
                    </m:sSub>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𝒂</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𝒃</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𝒄</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𝒅</m:t>
                    </m:r>
                    <m:r>
                      <a:rPr lang="en-US" altLang="zh-CN" b="1" i="1" dirty="0">
                        <a:effectLst/>
                        <a:latin typeface="Cambria Math" panose="02040503050406030204" pitchFamily="18" charset="0"/>
                      </a:rPr>
                      <m:t>}</m:t>
                    </m:r>
                    <m:r>
                      <a:rPr lang="zh-CN" altLang="zh-CN" b="1" i="1" dirty="0">
                        <a:effectLst/>
                        <a:latin typeface="Cambria Math" panose="02040503050406030204" pitchFamily="18" charset="0"/>
                        <a:cs typeface="Times New Roman" panose="020206030504050203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𝑩</m:t>
                        </m:r>
                      </m:e>
                      <m:sub>
                        <m:r>
                          <a:rPr lang="en-US" altLang="zh-CN" b="1" i="1" dirty="0" smtClean="0">
                            <a:latin typeface="Cambria Math" panose="02040503050406030204" pitchFamily="18" charset="0"/>
                          </a:rPr>
                          <m:t>𝟑</m:t>
                        </m:r>
                      </m:sub>
                    </m:sSub>
                    <m:r>
                      <a:rPr lang="en-US" altLang="zh-CN" b="1" i="1" dirty="0">
                        <a:effectLst/>
                        <a:latin typeface="Cambria Math" panose="02040503050406030204" pitchFamily="18" charset="0"/>
                      </a:rPr>
                      <m:t>={</m:t>
                    </m:r>
                    <m:r>
                      <a:rPr lang="en-US" altLang="zh-CN" b="1" i="1" dirty="0">
                        <a:effectLst/>
                        <a:latin typeface="Cambria Math" panose="02040503050406030204" pitchFamily="18" charset="0"/>
                      </a:rPr>
                      <m:t>𝒂</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𝒃</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𝒅</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𝒉</m:t>
                    </m:r>
                    <m:r>
                      <a:rPr lang="en-US" altLang="zh-CN" b="1" i="1" dirty="0">
                        <a:effectLst/>
                        <a:latin typeface="Cambria Math" panose="02040503050406030204" pitchFamily="18" charset="0"/>
                      </a:rPr>
                      <m:t>}</m:t>
                    </m:r>
                    <m:r>
                      <a:rPr lang="zh-CN" altLang="zh-CN" b="1" i="1" dirty="0">
                        <a:effectLst/>
                        <a:latin typeface="Cambria Math" panose="02040503050406030204" pitchFamily="18" charset="0"/>
                        <a:cs typeface="Times New Roman" panose="02020603050405020304" pitchFamily="18" charset="0"/>
                      </a:rPr>
                      <m:t>，</m:t>
                    </m:r>
                  </m:oMath>
                </a14:m>
                <a:r>
                  <a:rPr lang="zh-CN" altLang="zh-CN" dirty="0">
                    <a:effectLst/>
                    <a:latin typeface="+mn-ea"/>
                    <a:cs typeface="Times New Roman" panose="02020603050405020304" pitchFamily="18" charset="0"/>
                  </a:rPr>
                  <a:t>问</a:t>
                </a:r>
                <a14:m>
                  <m:oMath xmlns:m="http://schemas.openxmlformats.org/officeDocument/2006/math">
                    <m:r>
                      <a:rPr lang="en-US" altLang="zh-CN" b="1" i="1" dirty="0" smtClean="0">
                        <a:effectLst/>
                        <a:latin typeface="Cambria Math" panose="02040503050406030204" pitchFamily="18" charset="0"/>
                      </a:rPr>
                      <m:t>𝑩</m:t>
                    </m:r>
                    <m:r>
                      <a:rPr lang="en-US" altLang="zh-CN" b="1" i="1" baseline="-25000" dirty="0">
                        <a:effectLst/>
                        <a:latin typeface="Cambria Math" panose="02040503050406030204" pitchFamily="18" charset="0"/>
                      </a:rPr>
                      <m:t>𝟏</m:t>
                    </m:r>
                    <m:r>
                      <a:rPr lang="en-US" altLang="zh-CN" b="1" i="1" dirty="0" smtClean="0">
                        <a:effectLst/>
                        <a:latin typeface="Cambria Math" panose="02040503050406030204" pitchFamily="18" charset="0"/>
                        <a:cs typeface="Times New Roman" panose="02020603050405020304" pitchFamily="18" charset="0"/>
                      </a:rPr>
                      <m:t>,</m:t>
                    </m:r>
                    <m:r>
                      <a:rPr lang="en-US" altLang="zh-CN" b="1" i="1" dirty="0">
                        <a:effectLst/>
                        <a:latin typeface="Cambria Math" panose="02040503050406030204" pitchFamily="18" charset="0"/>
                      </a:rPr>
                      <m:t>𝑩</m:t>
                    </m:r>
                    <m:r>
                      <a:rPr lang="en-US" altLang="zh-CN" b="1" i="1" baseline="-25000" dirty="0">
                        <a:effectLst/>
                        <a:latin typeface="Cambria Math" panose="02040503050406030204" pitchFamily="18" charset="0"/>
                      </a:rPr>
                      <m:t>𝟐</m:t>
                    </m:r>
                    <m:r>
                      <a:rPr lang="en-US" altLang="zh-CN" b="1" i="1" dirty="0" smtClean="0">
                        <a:effectLst/>
                        <a:latin typeface="Cambria Math" panose="02040503050406030204" pitchFamily="18" charset="0"/>
                        <a:cs typeface="Times New Roman" panose="02020603050405020304" pitchFamily="18" charset="0"/>
                      </a:rPr>
                      <m:t>,</m:t>
                    </m:r>
                    <m:r>
                      <a:rPr lang="en-US" altLang="zh-CN" b="1" i="1" dirty="0">
                        <a:effectLst/>
                        <a:latin typeface="Cambria Math" panose="02040503050406030204" pitchFamily="18" charset="0"/>
                      </a:rPr>
                      <m:t>𝑩</m:t>
                    </m:r>
                    <m:r>
                      <a:rPr lang="en-US" altLang="zh-CN" b="1" i="1" baseline="-25000" dirty="0">
                        <a:effectLst/>
                        <a:latin typeface="Cambria Math" panose="02040503050406030204" pitchFamily="18" charset="0"/>
                      </a:rPr>
                      <m:t>𝟑</m:t>
                    </m:r>
                  </m:oMath>
                </a14:m>
                <a:r>
                  <a:rPr lang="zh-CN" altLang="zh-CN" dirty="0">
                    <a:effectLst/>
                    <a:latin typeface="+mn-ea"/>
                    <a:cs typeface="Times New Roman" panose="02020603050405020304" pitchFamily="18" charset="0"/>
                  </a:rPr>
                  <a:t>中</a:t>
                </a:r>
                <a:r>
                  <a:rPr lang="zh-CN" altLang="en-US" dirty="0">
                    <a:latin typeface="+mn-ea"/>
                    <a:cs typeface="Times New Roman" panose="02020603050405020304" pitchFamily="18" charset="0"/>
                  </a:rPr>
                  <a:t>哪</a:t>
                </a:r>
                <a:r>
                  <a:rPr lang="zh-CN" altLang="zh-CN" dirty="0">
                    <a:effectLst/>
                    <a:latin typeface="+mn-ea"/>
                    <a:cs typeface="Times New Roman" panose="02020603050405020304" pitchFamily="18" charset="0"/>
                  </a:rPr>
                  <a:t>些是</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𝑳</m:t>
                    </m:r>
                    <m:r>
                      <a:rPr lang="en-US" altLang="zh-CN" b="1" i="1" dirty="0" smtClean="0">
                        <a:effectLst/>
                        <a:latin typeface="Cambria Math" panose="02040503050406030204" pitchFamily="18" charset="0"/>
                      </a:rPr>
                      <m:t>, ≤ &gt;</m:t>
                    </m:r>
                  </m:oMath>
                </a14:m>
                <a:r>
                  <a:rPr lang="zh-CN" altLang="zh-CN" dirty="0">
                    <a:effectLst/>
                    <a:latin typeface="+mn-ea"/>
                    <a:cs typeface="Times New Roman" panose="02020603050405020304" pitchFamily="18" charset="0"/>
                  </a:rPr>
                  <a:t>的子格？</a:t>
                </a:r>
                <a:endParaRPr lang="en-US" altLang="zh-CN" dirty="0">
                  <a:solidFill>
                    <a:srgbClr val="0000FF"/>
                  </a:solidFill>
                  <a:latin typeface="+mn-ea"/>
                </a:endParaRPr>
              </a:p>
            </p:txBody>
          </p:sp>
        </mc:Choice>
        <mc:Fallback xmlns="">
          <p:sp>
            <p:nvSpPr>
              <p:cNvPr id="9" name="Content Placeholder 2">
                <a:extLst>
                  <a:ext uri="{FF2B5EF4-FFF2-40B4-BE49-F238E27FC236}">
                    <a16:creationId xmlns:a16="http://schemas.microsoft.com/office/drawing/2014/main" id="{78DB08A3-CD82-4216-95BE-5C2117D3A6C3}"/>
                  </a:ext>
                </a:extLst>
              </p:cNvPr>
              <p:cNvSpPr txBox="1">
                <a:spLocks noRot="1" noChangeAspect="1" noMove="1" noResize="1" noEditPoints="1" noAdjustHandles="1" noChangeArrowheads="1" noChangeShapeType="1" noTextEdit="1"/>
              </p:cNvSpPr>
              <p:nvPr/>
            </p:nvSpPr>
            <p:spPr>
              <a:xfrm>
                <a:off x="236036" y="935920"/>
                <a:ext cx="11895306" cy="1120771"/>
              </a:xfrm>
              <a:prstGeom prst="rect">
                <a:avLst/>
              </a:prstGeom>
              <a:blipFill>
                <a:blip r:embed="rId5"/>
                <a:stretch>
                  <a:fillRect l="-564" t="-546"/>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C8AE3B12-BC8E-4718-B7B8-FA1B52E13AD2}"/>
              </a:ext>
            </a:extLst>
          </p:cNvPr>
          <p:cNvGrpSpPr/>
          <p:nvPr/>
        </p:nvGrpSpPr>
        <p:grpSpPr>
          <a:xfrm>
            <a:off x="7623175" y="2056691"/>
            <a:ext cx="3824547" cy="3817857"/>
            <a:chOff x="6940951" y="1578806"/>
            <a:chExt cx="2046357" cy="2499952"/>
          </a:xfrm>
        </p:grpSpPr>
        <p:sp>
          <p:nvSpPr>
            <p:cNvPr id="7" name="流程图: 接点 52">
              <a:extLst>
                <a:ext uri="{FF2B5EF4-FFF2-40B4-BE49-F238E27FC236}">
                  <a16:creationId xmlns:a16="http://schemas.microsoft.com/office/drawing/2014/main" id="{FD2F39BA-6C22-4F40-B9F6-E88CC8D962AD}"/>
                </a:ext>
              </a:extLst>
            </p:cNvPr>
            <p:cNvSpPr/>
            <p:nvPr/>
          </p:nvSpPr>
          <p:spPr>
            <a:xfrm>
              <a:off x="7946138" y="3842679"/>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流程图: 接点 52">
              <a:extLst>
                <a:ext uri="{FF2B5EF4-FFF2-40B4-BE49-F238E27FC236}">
                  <a16:creationId xmlns:a16="http://schemas.microsoft.com/office/drawing/2014/main" id="{A2ED589F-B4E4-41BB-852A-7FBB547C64EA}"/>
                </a:ext>
              </a:extLst>
            </p:cNvPr>
            <p:cNvSpPr/>
            <p:nvPr/>
          </p:nvSpPr>
          <p:spPr>
            <a:xfrm>
              <a:off x="7191895" y="316320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流程图: 接点 52">
              <a:extLst>
                <a:ext uri="{FF2B5EF4-FFF2-40B4-BE49-F238E27FC236}">
                  <a16:creationId xmlns:a16="http://schemas.microsoft.com/office/drawing/2014/main" id="{1F3DE69F-66D4-4D12-BC11-EE70D04DDDF3}"/>
                </a:ext>
              </a:extLst>
            </p:cNvPr>
            <p:cNvSpPr/>
            <p:nvPr/>
          </p:nvSpPr>
          <p:spPr>
            <a:xfrm>
              <a:off x="8701973" y="316320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流程图: 接点 52">
              <a:extLst>
                <a:ext uri="{FF2B5EF4-FFF2-40B4-BE49-F238E27FC236}">
                  <a16:creationId xmlns:a16="http://schemas.microsoft.com/office/drawing/2014/main" id="{BCB52D3C-8183-4B6D-9F6E-12B2A43999E5}"/>
                </a:ext>
              </a:extLst>
            </p:cNvPr>
            <p:cNvSpPr/>
            <p:nvPr/>
          </p:nvSpPr>
          <p:spPr>
            <a:xfrm>
              <a:off x="7191895" y="2490284"/>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流程图: 接点 52">
              <a:extLst>
                <a:ext uri="{FF2B5EF4-FFF2-40B4-BE49-F238E27FC236}">
                  <a16:creationId xmlns:a16="http://schemas.microsoft.com/office/drawing/2014/main" id="{BE9B5BE5-BF49-4E9B-A55E-4CB65095EAE8}"/>
                </a:ext>
              </a:extLst>
            </p:cNvPr>
            <p:cNvSpPr/>
            <p:nvPr/>
          </p:nvSpPr>
          <p:spPr>
            <a:xfrm>
              <a:off x="8701973" y="2485190"/>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流程图: 接点 12">
              <a:extLst>
                <a:ext uri="{FF2B5EF4-FFF2-40B4-BE49-F238E27FC236}">
                  <a16:creationId xmlns:a16="http://schemas.microsoft.com/office/drawing/2014/main" id="{21964406-E579-403D-9790-30D411C2DC44}"/>
                </a:ext>
              </a:extLst>
            </p:cNvPr>
            <p:cNvSpPr/>
            <p:nvPr/>
          </p:nvSpPr>
          <p:spPr>
            <a:xfrm>
              <a:off x="7946934" y="316320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流程图: 接点 52">
              <a:extLst>
                <a:ext uri="{FF2B5EF4-FFF2-40B4-BE49-F238E27FC236}">
                  <a16:creationId xmlns:a16="http://schemas.microsoft.com/office/drawing/2014/main" id="{63DFFD0D-4328-4995-AD54-5B8A273810A2}"/>
                </a:ext>
              </a:extLst>
            </p:cNvPr>
            <p:cNvSpPr/>
            <p:nvPr/>
          </p:nvSpPr>
          <p:spPr>
            <a:xfrm>
              <a:off x="7948978" y="250132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流程图: 接点 52">
              <a:extLst>
                <a:ext uri="{FF2B5EF4-FFF2-40B4-BE49-F238E27FC236}">
                  <a16:creationId xmlns:a16="http://schemas.microsoft.com/office/drawing/2014/main" id="{CACC21A8-9C20-4423-B3B8-4EAC8EA068C7}"/>
                </a:ext>
              </a:extLst>
            </p:cNvPr>
            <p:cNvSpPr/>
            <p:nvPr/>
          </p:nvSpPr>
          <p:spPr>
            <a:xfrm>
              <a:off x="7932747" y="175947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Line 1091">
              <a:extLst>
                <a:ext uri="{FF2B5EF4-FFF2-40B4-BE49-F238E27FC236}">
                  <a16:creationId xmlns:a16="http://schemas.microsoft.com/office/drawing/2014/main" id="{F96CDDDB-286A-4C44-9EFD-373F647EC670}"/>
                </a:ext>
              </a:extLst>
            </p:cNvPr>
            <p:cNvCxnSpPr>
              <a:cxnSpLocks noChangeShapeType="1"/>
              <a:stCxn id="15" idx="5"/>
              <a:endCxn id="12" idx="1"/>
            </p:cNvCxnSpPr>
            <p:nvPr/>
          </p:nvCxnSpPr>
          <p:spPr bwMode="auto">
            <a:xfrm>
              <a:off x="8010796" y="1838087"/>
              <a:ext cx="704568" cy="66059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7" name="Line 1091">
              <a:extLst>
                <a:ext uri="{FF2B5EF4-FFF2-40B4-BE49-F238E27FC236}">
                  <a16:creationId xmlns:a16="http://schemas.microsoft.com/office/drawing/2014/main" id="{4B656371-9E45-42E7-92A2-D6B3E0CABA37}"/>
                </a:ext>
              </a:extLst>
            </p:cNvPr>
            <p:cNvCxnSpPr>
              <a:cxnSpLocks noChangeShapeType="1"/>
              <a:stCxn id="12" idx="4"/>
              <a:endCxn id="10" idx="0"/>
            </p:cNvCxnSpPr>
            <p:nvPr/>
          </p:nvCxnSpPr>
          <p:spPr bwMode="auto">
            <a:xfrm>
              <a:off x="8747693" y="2577288"/>
              <a:ext cx="0" cy="58591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 name="Line 1091">
              <a:extLst>
                <a:ext uri="{FF2B5EF4-FFF2-40B4-BE49-F238E27FC236}">
                  <a16:creationId xmlns:a16="http://schemas.microsoft.com/office/drawing/2014/main" id="{B60222DD-EB7F-4245-B9D7-30E08B169E9A}"/>
                </a:ext>
              </a:extLst>
            </p:cNvPr>
            <p:cNvCxnSpPr>
              <a:cxnSpLocks noChangeShapeType="1"/>
              <a:stCxn id="14" idx="5"/>
              <a:endCxn id="10" idx="1"/>
            </p:cNvCxnSpPr>
            <p:nvPr/>
          </p:nvCxnSpPr>
          <p:spPr bwMode="auto">
            <a:xfrm>
              <a:off x="8027027" y="2579933"/>
              <a:ext cx="688337" cy="5967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9" name="Line 1091">
              <a:extLst>
                <a:ext uri="{FF2B5EF4-FFF2-40B4-BE49-F238E27FC236}">
                  <a16:creationId xmlns:a16="http://schemas.microsoft.com/office/drawing/2014/main" id="{3791F56E-4FD3-4696-BF97-227B9E6BFEC3}"/>
                </a:ext>
              </a:extLst>
            </p:cNvPr>
            <p:cNvCxnSpPr>
              <a:cxnSpLocks noChangeShapeType="1"/>
              <a:stCxn id="15" idx="3"/>
              <a:endCxn id="11" idx="7"/>
            </p:cNvCxnSpPr>
            <p:nvPr/>
          </p:nvCxnSpPr>
          <p:spPr bwMode="auto">
            <a:xfrm flipH="1">
              <a:off x="7269944" y="1838087"/>
              <a:ext cx="676194" cy="66568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 name="Line 1091">
              <a:extLst>
                <a:ext uri="{FF2B5EF4-FFF2-40B4-BE49-F238E27FC236}">
                  <a16:creationId xmlns:a16="http://schemas.microsoft.com/office/drawing/2014/main" id="{EBDC5B5A-EAD5-4C57-9FF3-0F748DE00D83}"/>
                </a:ext>
              </a:extLst>
            </p:cNvPr>
            <p:cNvCxnSpPr>
              <a:cxnSpLocks noChangeShapeType="1"/>
              <a:stCxn id="11" idx="4"/>
              <a:endCxn id="8" idx="0"/>
            </p:cNvCxnSpPr>
            <p:nvPr/>
          </p:nvCxnSpPr>
          <p:spPr bwMode="auto">
            <a:xfrm>
              <a:off x="7237615" y="2582382"/>
              <a:ext cx="0" cy="58082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1" name="Line 1091">
              <a:extLst>
                <a:ext uri="{FF2B5EF4-FFF2-40B4-BE49-F238E27FC236}">
                  <a16:creationId xmlns:a16="http://schemas.microsoft.com/office/drawing/2014/main" id="{DE75A36A-6FFA-4F19-AA9D-84DFD31AED8B}"/>
                </a:ext>
              </a:extLst>
            </p:cNvPr>
            <p:cNvCxnSpPr>
              <a:cxnSpLocks noChangeShapeType="1"/>
              <a:stCxn id="14" idx="3"/>
              <a:endCxn id="8" idx="6"/>
            </p:cNvCxnSpPr>
            <p:nvPr/>
          </p:nvCxnSpPr>
          <p:spPr bwMode="auto">
            <a:xfrm flipH="1">
              <a:off x="7283335" y="2579933"/>
              <a:ext cx="679034" cy="62932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2" name="Line 1091">
              <a:extLst>
                <a:ext uri="{FF2B5EF4-FFF2-40B4-BE49-F238E27FC236}">
                  <a16:creationId xmlns:a16="http://schemas.microsoft.com/office/drawing/2014/main" id="{7FE7A264-73E5-4FDD-B9F4-50E7DA7DA6BA}"/>
                </a:ext>
              </a:extLst>
            </p:cNvPr>
            <p:cNvCxnSpPr>
              <a:cxnSpLocks noChangeShapeType="1"/>
              <a:stCxn id="15" idx="4"/>
              <a:endCxn id="14" idx="0"/>
            </p:cNvCxnSpPr>
            <p:nvPr/>
          </p:nvCxnSpPr>
          <p:spPr bwMode="auto">
            <a:xfrm>
              <a:off x="7978467" y="1851574"/>
              <a:ext cx="16231" cy="64974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 name="Line 1091">
              <a:extLst>
                <a:ext uri="{FF2B5EF4-FFF2-40B4-BE49-F238E27FC236}">
                  <a16:creationId xmlns:a16="http://schemas.microsoft.com/office/drawing/2014/main" id="{322FA1B5-4C46-4998-A537-BFE0AA7375FF}"/>
                </a:ext>
              </a:extLst>
            </p:cNvPr>
            <p:cNvCxnSpPr>
              <a:cxnSpLocks noChangeShapeType="1"/>
              <a:stCxn id="7" idx="6"/>
              <a:endCxn id="10" idx="3"/>
            </p:cNvCxnSpPr>
            <p:nvPr/>
          </p:nvCxnSpPr>
          <p:spPr bwMode="auto">
            <a:xfrm flipV="1">
              <a:off x="8037578" y="3241816"/>
              <a:ext cx="677786" cy="6469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4" name="Line 1091">
              <a:extLst>
                <a:ext uri="{FF2B5EF4-FFF2-40B4-BE49-F238E27FC236}">
                  <a16:creationId xmlns:a16="http://schemas.microsoft.com/office/drawing/2014/main" id="{ABA2CACC-0AB3-47D2-9A52-F9252600E8A8}"/>
                </a:ext>
              </a:extLst>
            </p:cNvPr>
            <p:cNvCxnSpPr>
              <a:cxnSpLocks noChangeShapeType="1"/>
              <a:stCxn id="13" idx="4"/>
              <a:endCxn id="7" idx="0"/>
            </p:cNvCxnSpPr>
            <p:nvPr/>
          </p:nvCxnSpPr>
          <p:spPr bwMode="auto">
            <a:xfrm flipH="1">
              <a:off x="7991858" y="3255303"/>
              <a:ext cx="796" cy="5873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5" name="Line 1091">
              <a:extLst>
                <a:ext uri="{FF2B5EF4-FFF2-40B4-BE49-F238E27FC236}">
                  <a16:creationId xmlns:a16="http://schemas.microsoft.com/office/drawing/2014/main" id="{4CF33064-8771-4E39-87DF-39FDF5B92C53}"/>
                </a:ext>
              </a:extLst>
            </p:cNvPr>
            <p:cNvCxnSpPr>
              <a:cxnSpLocks noChangeShapeType="1"/>
              <a:stCxn id="8" idx="5"/>
              <a:endCxn id="7" idx="2"/>
            </p:cNvCxnSpPr>
            <p:nvPr/>
          </p:nvCxnSpPr>
          <p:spPr bwMode="auto">
            <a:xfrm>
              <a:off x="7269944" y="3241816"/>
              <a:ext cx="676194" cy="6469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 name="Line 1091">
              <a:extLst>
                <a:ext uri="{FF2B5EF4-FFF2-40B4-BE49-F238E27FC236}">
                  <a16:creationId xmlns:a16="http://schemas.microsoft.com/office/drawing/2014/main" id="{B451B079-1FB2-4664-BD03-B5CCC87B483C}"/>
                </a:ext>
              </a:extLst>
            </p:cNvPr>
            <p:cNvCxnSpPr>
              <a:cxnSpLocks noChangeShapeType="1"/>
              <a:stCxn id="11" idx="5"/>
              <a:endCxn id="13" idx="1"/>
            </p:cNvCxnSpPr>
            <p:nvPr/>
          </p:nvCxnSpPr>
          <p:spPr bwMode="auto">
            <a:xfrm>
              <a:off x="7269944" y="2568895"/>
              <a:ext cx="690381" cy="6077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7" name="Line 1091">
              <a:extLst>
                <a:ext uri="{FF2B5EF4-FFF2-40B4-BE49-F238E27FC236}">
                  <a16:creationId xmlns:a16="http://schemas.microsoft.com/office/drawing/2014/main" id="{D6353BA6-B90D-401A-B21B-351980565CA6}"/>
                </a:ext>
              </a:extLst>
            </p:cNvPr>
            <p:cNvCxnSpPr>
              <a:cxnSpLocks noChangeShapeType="1"/>
              <a:stCxn id="13" idx="7"/>
              <a:endCxn id="12" idx="3"/>
            </p:cNvCxnSpPr>
            <p:nvPr/>
          </p:nvCxnSpPr>
          <p:spPr bwMode="auto">
            <a:xfrm flipV="1">
              <a:off x="8024983" y="2563801"/>
              <a:ext cx="690381" cy="61289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28" name="文本框 69">
                  <a:extLst>
                    <a:ext uri="{FF2B5EF4-FFF2-40B4-BE49-F238E27FC236}">
                      <a16:creationId xmlns:a16="http://schemas.microsoft.com/office/drawing/2014/main" id="{12EC9964-8768-4BA5-9F3E-80A467CE2139}"/>
                    </a:ext>
                  </a:extLst>
                </p:cNvPr>
                <p:cNvSpPr txBox="1"/>
                <p:nvPr/>
              </p:nvSpPr>
              <p:spPr>
                <a:xfrm>
                  <a:off x="6940951" y="3044841"/>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28" name="文本框 69">
                  <a:extLst>
                    <a:ext uri="{FF2B5EF4-FFF2-40B4-BE49-F238E27FC236}">
                      <a16:creationId xmlns:a16="http://schemas.microsoft.com/office/drawing/2014/main" id="{12EC9964-8768-4BA5-9F3E-80A467CE2139}"/>
                    </a:ext>
                  </a:extLst>
                </p:cNvPr>
                <p:cNvSpPr txBox="1">
                  <a:spLocks noRot="1" noChangeAspect="1" noMove="1" noResize="1" noEditPoints="1" noAdjustHandles="1" noChangeArrowheads="1" noChangeShapeType="1" noTextEdit="1"/>
                </p:cNvSpPr>
                <p:nvPr/>
              </p:nvSpPr>
              <p:spPr>
                <a:xfrm>
                  <a:off x="6940951" y="3044841"/>
                  <a:ext cx="234779" cy="302301"/>
                </a:xfrm>
                <a:prstGeom prst="rect">
                  <a:avLst/>
                </a:prstGeom>
                <a:blipFill>
                  <a:blip r:embed="rId6"/>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69">
                  <a:extLst>
                    <a:ext uri="{FF2B5EF4-FFF2-40B4-BE49-F238E27FC236}">
                      <a16:creationId xmlns:a16="http://schemas.microsoft.com/office/drawing/2014/main" id="{44CF9E05-4E1C-472F-8433-F15C07BB2BC0}"/>
                    </a:ext>
                  </a:extLst>
                </p:cNvPr>
                <p:cNvSpPr txBox="1"/>
                <p:nvPr/>
              </p:nvSpPr>
              <p:spPr>
                <a:xfrm>
                  <a:off x="8005712" y="3776457"/>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29" name="文本框 69">
                  <a:extLst>
                    <a:ext uri="{FF2B5EF4-FFF2-40B4-BE49-F238E27FC236}">
                      <a16:creationId xmlns:a16="http://schemas.microsoft.com/office/drawing/2014/main" id="{44CF9E05-4E1C-472F-8433-F15C07BB2BC0}"/>
                    </a:ext>
                  </a:extLst>
                </p:cNvPr>
                <p:cNvSpPr txBox="1">
                  <a:spLocks noRot="1" noChangeAspect="1" noMove="1" noResize="1" noEditPoints="1" noAdjustHandles="1" noChangeArrowheads="1" noChangeShapeType="1" noTextEdit="1"/>
                </p:cNvSpPr>
                <p:nvPr/>
              </p:nvSpPr>
              <p:spPr>
                <a:xfrm>
                  <a:off x="8005712" y="3776457"/>
                  <a:ext cx="234779" cy="302301"/>
                </a:xfrm>
                <a:prstGeom prst="rect">
                  <a:avLst/>
                </a:prstGeom>
                <a:blipFill>
                  <a:blip r:embed="rId7"/>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69">
                  <a:extLst>
                    <a:ext uri="{FF2B5EF4-FFF2-40B4-BE49-F238E27FC236}">
                      <a16:creationId xmlns:a16="http://schemas.microsoft.com/office/drawing/2014/main" id="{9139267B-068C-4C6E-90E9-BC53B5F14AD9}"/>
                    </a:ext>
                  </a:extLst>
                </p:cNvPr>
                <p:cNvSpPr txBox="1"/>
                <p:nvPr/>
              </p:nvSpPr>
              <p:spPr>
                <a:xfrm>
                  <a:off x="7978004" y="3076616"/>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30" name="文本框 69">
                  <a:extLst>
                    <a:ext uri="{FF2B5EF4-FFF2-40B4-BE49-F238E27FC236}">
                      <a16:creationId xmlns:a16="http://schemas.microsoft.com/office/drawing/2014/main" id="{9139267B-068C-4C6E-90E9-BC53B5F14AD9}"/>
                    </a:ext>
                  </a:extLst>
                </p:cNvPr>
                <p:cNvSpPr txBox="1">
                  <a:spLocks noRot="1" noChangeAspect="1" noMove="1" noResize="1" noEditPoints="1" noAdjustHandles="1" noChangeArrowheads="1" noChangeShapeType="1" noTextEdit="1"/>
                </p:cNvSpPr>
                <p:nvPr/>
              </p:nvSpPr>
              <p:spPr>
                <a:xfrm>
                  <a:off x="7978004" y="3076616"/>
                  <a:ext cx="234779" cy="302301"/>
                </a:xfrm>
                <a:prstGeom prst="rect">
                  <a:avLst/>
                </a:prstGeom>
                <a:blipFill>
                  <a:blip r:embed="rId8"/>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69">
                  <a:extLst>
                    <a:ext uri="{FF2B5EF4-FFF2-40B4-BE49-F238E27FC236}">
                      <a16:creationId xmlns:a16="http://schemas.microsoft.com/office/drawing/2014/main" id="{91B23F75-D6CF-4E38-891C-C46711CBF9CF}"/>
                    </a:ext>
                  </a:extLst>
                </p:cNvPr>
                <p:cNvSpPr txBox="1"/>
                <p:nvPr/>
              </p:nvSpPr>
              <p:spPr>
                <a:xfrm>
                  <a:off x="8752529" y="3024588"/>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31" name="文本框 69">
                  <a:extLst>
                    <a:ext uri="{FF2B5EF4-FFF2-40B4-BE49-F238E27FC236}">
                      <a16:creationId xmlns:a16="http://schemas.microsoft.com/office/drawing/2014/main" id="{91B23F75-D6CF-4E38-891C-C46711CBF9CF}"/>
                    </a:ext>
                  </a:extLst>
                </p:cNvPr>
                <p:cNvSpPr txBox="1">
                  <a:spLocks noRot="1" noChangeAspect="1" noMove="1" noResize="1" noEditPoints="1" noAdjustHandles="1" noChangeArrowheads="1" noChangeShapeType="1" noTextEdit="1"/>
                </p:cNvSpPr>
                <p:nvPr/>
              </p:nvSpPr>
              <p:spPr>
                <a:xfrm>
                  <a:off x="8752529" y="3024588"/>
                  <a:ext cx="234779" cy="302301"/>
                </a:xfrm>
                <a:prstGeom prst="rect">
                  <a:avLst/>
                </a:prstGeom>
                <a:blipFill>
                  <a:blip r:embed="rId9"/>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69">
                  <a:extLst>
                    <a:ext uri="{FF2B5EF4-FFF2-40B4-BE49-F238E27FC236}">
                      <a16:creationId xmlns:a16="http://schemas.microsoft.com/office/drawing/2014/main" id="{D63EF238-F570-402A-9E99-2D692C391D7D}"/>
                    </a:ext>
                  </a:extLst>
                </p:cNvPr>
                <p:cNvSpPr txBox="1"/>
                <p:nvPr/>
              </p:nvSpPr>
              <p:spPr>
                <a:xfrm>
                  <a:off x="6971648" y="2332669"/>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32" name="文本框 69">
                  <a:extLst>
                    <a:ext uri="{FF2B5EF4-FFF2-40B4-BE49-F238E27FC236}">
                      <a16:creationId xmlns:a16="http://schemas.microsoft.com/office/drawing/2014/main" id="{D63EF238-F570-402A-9E99-2D692C391D7D}"/>
                    </a:ext>
                  </a:extLst>
                </p:cNvPr>
                <p:cNvSpPr txBox="1">
                  <a:spLocks noRot="1" noChangeAspect="1" noMove="1" noResize="1" noEditPoints="1" noAdjustHandles="1" noChangeArrowheads="1" noChangeShapeType="1" noTextEdit="1"/>
                </p:cNvSpPr>
                <p:nvPr/>
              </p:nvSpPr>
              <p:spPr>
                <a:xfrm>
                  <a:off x="6971648" y="2332669"/>
                  <a:ext cx="234779" cy="302301"/>
                </a:xfrm>
                <a:prstGeom prst="rect">
                  <a:avLst/>
                </a:prstGeom>
                <a:blipFill>
                  <a:blip r:embed="rId10"/>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69">
                  <a:extLst>
                    <a:ext uri="{FF2B5EF4-FFF2-40B4-BE49-F238E27FC236}">
                      <a16:creationId xmlns:a16="http://schemas.microsoft.com/office/drawing/2014/main" id="{C9261E9C-ED18-432C-91FD-B5434247D37C}"/>
                    </a:ext>
                  </a:extLst>
                </p:cNvPr>
                <p:cNvSpPr txBox="1"/>
                <p:nvPr/>
              </p:nvSpPr>
              <p:spPr>
                <a:xfrm>
                  <a:off x="8002125" y="2247149"/>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𝒇</m:t>
                        </m:r>
                      </m:oMath>
                    </m:oMathPara>
                  </a14:m>
                  <a:endParaRPr lang="en-US" b="1" dirty="0">
                    <a:solidFill>
                      <a:srgbClr val="FF0000"/>
                    </a:solidFill>
                  </a:endParaRPr>
                </a:p>
              </p:txBody>
            </p:sp>
          </mc:Choice>
          <mc:Fallback xmlns="">
            <p:sp>
              <p:nvSpPr>
                <p:cNvPr id="33" name="文本框 69">
                  <a:extLst>
                    <a:ext uri="{FF2B5EF4-FFF2-40B4-BE49-F238E27FC236}">
                      <a16:creationId xmlns:a16="http://schemas.microsoft.com/office/drawing/2014/main" id="{C9261E9C-ED18-432C-91FD-B5434247D37C}"/>
                    </a:ext>
                  </a:extLst>
                </p:cNvPr>
                <p:cNvSpPr txBox="1">
                  <a:spLocks noRot="1" noChangeAspect="1" noMove="1" noResize="1" noEditPoints="1" noAdjustHandles="1" noChangeArrowheads="1" noChangeShapeType="1" noTextEdit="1"/>
                </p:cNvSpPr>
                <p:nvPr/>
              </p:nvSpPr>
              <p:spPr>
                <a:xfrm>
                  <a:off x="8002125" y="2247149"/>
                  <a:ext cx="234779" cy="302301"/>
                </a:xfrm>
                <a:prstGeom prst="rect">
                  <a:avLst/>
                </a:prstGeom>
                <a:blipFill>
                  <a:blip r:embed="rId11"/>
                  <a:stretch>
                    <a:fillRect l="-2778" r="-1389" b="-19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69">
                  <a:extLst>
                    <a:ext uri="{FF2B5EF4-FFF2-40B4-BE49-F238E27FC236}">
                      <a16:creationId xmlns:a16="http://schemas.microsoft.com/office/drawing/2014/main" id="{B59211F9-5E48-4971-9EBE-FA36B09DCECE}"/>
                    </a:ext>
                  </a:extLst>
                </p:cNvPr>
                <p:cNvSpPr txBox="1"/>
                <p:nvPr/>
              </p:nvSpPr>
              <p:spPr>
                <a:xfrm>
                  <a:off x="8747693" y="2345114"/>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𝒈</m:t>
                        </m:r>
                      </m:oMath>
                    </m:oMathPara>
                  </a14:m>
                  <a:endParaRPr lang="en-US" b="1" dirty="0">
                    <a:solidFill>
                      <a:srgbClr val="FF0000"/>
                    </a:solidFill>
                  </a:endParaRPr>
                </a:p>
              </p:txBody>
            </p:sp>
          </mc:Choice>
          <mc:Fallback xmlns="">
            <p:sp>
              <p:nvSpPr>
                <p:cNvPr id="34" name="文本框 69">
                  <a:extLst>
                    <a:ext uri="{FF2B5EF4-FFF2-40B4-BE49-F238E27FC236}">
                      <a16:creationId xmlns:a16="http://schemas.microsoft.com/office/drawing/2014/main" id="{B59211F9-5E48-4971-9EBE-FA36B09DCECE}"/>
                    </a:ext>
                  </a:extLst>
                </p:cNvPr>
                <p:cNvSpPr txBox="1">
                  <a:spLocks noRot="1" noChangeAspect="1" noMove="1" noResize="1" noEditPoints="1" noAdjustHandles="1" noChangeArrowheads="1" noChangeShapeType="1" noTextEdit="1"/>
                </p:cNvSpPr>
                <p:nvPr/>
              </p:nvSpPr>
              <p:spPr>
                <a:xfrm>
                  <a:off x="8747693" y="2345114"/>
                  <a:ext cx="234779" cy="302301"/>
                </a:xfrm>
                <a:prstGeom prst="rect">
                  <a:avLst/>
                </a:prstGeom>
                <a:blipFill>
                  <a:blip r:embed="rId12"/>
                  <a:stretch>
                    <a:fillRect b="-1466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69">
                  <a:extLst>
                    <a:ext uri="{FF2B5EF4-FFF2-40B4-BE49-F238E27FC236}">
                      <a16:creationId xmlns:a16="http://schemas.microsoft.com/office/drawing/2014/main" id="{4F834AC3-3A84-4511-8B4E-7CC855328914}"/>
                    </a:ext>
                  </a:extLst>
                </p:cNvPr>
                <p:cNvSpPr txBox="1"/>
                <p:nvPr/>
              </p:nvSpPr>
              <p:spPr>
                <a:xfrm>
                  <a:off x="7986120" y="1578806"/>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𝒉</m:t>
                        </m:r>
                      </m:oMath>
                    </m:oMathPara>
                  </a14:m>
                  <a:endParaRPr lang="en-US" b="1" dirty="0">
                    <a:solidFill>
                      <a:srgbClr val="FF0000"/>
                    </a:solidFill>
                  </a:endParaRPr>
                </a:p>
              </p:txBody>
            </p:sp>
          </mc:Choice>
          <mc:Fallback xmlns="">
            <p:sp>
              <p:nvSpPr>
                <p:cNvPr id="35" name="文本框 69">
                  <a:extLst>
                    <a:ext uri="{FF2B5EF4-FFF2-40B4-BE49-F238E27FC236}">
                      <a16:creationId xmlns:a16="http://schemas.microsoft.com/office/drawing/2014/main" id="{4F834AC3-3A84-4511-8B4E-7CC855328914}"/>
                    </a:ext>
                  </a:extLst>
                </p:cNvPr>
                <p:cNvSpPr txBox="1">
                  <a:spLocks noRot="1" noChangeAspect="1" noMove="1" noResize="1" noEditPoints="1" noAdjustHandles="1" noChangeArrowheads="1" noChangeShapeType="1" noTextEdit="1"/>
                </p:cNvSpPr>
                <p:nvPr/>
              </p:nvSpPr>
              <p:spPr>
                <a:xfrm>
                  <a:off x="7986120" y="1578806"/>
                  <a:ext cx="234779" cy="302301"/>
                </a:xfrm>
                <a:prstGeom prst="rect">
                  <a:avLst/>
                </a:prstGeom>
                <a:blipFill>
                  <a:blip r:embed="rId13"/>
                  <a:stretch>
                    <a:fillRect/>
                  </a:stretch>
                </a:blipFill>
                <a:ln w="19050">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4FD3FDAD-0B25-44D6-9AE6-A5CBB9AB26EB}"/>
                  </a:ext>
                </a:extLst>
              </p:cNvPr>
              <p:cNvSpPr txBox="1"/>
              <p:nvPr/>
            </p:nvSpPr>
            <p:spPr>
              <a:xfrm>
                <a:off x="386873" y="2210768"/>
                <a:ext cx="6751457" cy="3080202"/>
              </a:xfrm>
              <a:prstGeom prst="rect">
                <a:avLst/>
              </a:prstGeom>
              <a:noFill/>
            </p:spPr>
            <p:txBody>
              <a:bodyPr wrap="square">
                <a:spAutoFit/>
              </a:bodyPr>
              <a:lstStyle/>
              <a:p>
                <a:pPr indent="267970" algn="just">
                  <a:lnSpc>
                    <a:spcPct val="130000"/>
                  </a:lnSpc>
                  <a:spcBef>
                    <a:spcPts val="600"/>
                  </a:spcBef>
                </a:pPr>
                <a:r>
                  <a:rPr lang="zh-CN" altLang="zh-CN" b="1" dirty="0">
                    <a:solidFill>
                      <a:srgbClr val="FF0000"/>
                    </a:solidFill>
                    <a:latin typeface="+mn-ea"/>
                    <a:cs typeface="Times New Roman" panose="02020603050405020304" pitchFamily="18" charset="0"/>
                  </a:rPr>
                  <a:t>解</a:t>
                </a:r>
                <a:r>
                  <a:rPr lang="en-US" altLang="zh-CN" b="1" dirty="0">
                    <a:solidFill>
                      <a:srgbClr val="FF0000"/>
                    </a:solidFill>
                    <a:latin typeface="+mn-ea"/>
                    <a:cs typeface="Times New Roman" panose="02020603050405020304" pitchFamily="18" charset="0"/>
                  </a:rPr>
                  <a:t> </a:t>
                </a:r>
                <a:r>
                  <a:rPr lang="en-US" altLang="zh-CN" b="1" dirty="0">
                    <a:solidFill>
                      <a:schemeClr val="tx1">
                        <a:lumMod val="75000"/>
                        <a:lumOff val="25000"/>
                      </a:schemeClr>
                    </a:solidFill>
                    <a:latin typeface="+mn-ea"/>
                    <a:cs typeface="Times New Roman" panose="02020603050405020304" pitchFamily="18" charset="0"/>
                  </a:rPr>
                  <a:t> </a:t>
                </a:r>
                <a:r>
                  <a:rPr lang="zh-CN" altLang="zh-CN" b="1" dirty="0">
                    <a:solidFill>
                      <a:schemeClr val="tx1">
                        <a:lumMod val="75000"/>
                        <a:lumOff val="25000"/>
                      </a:schemeClr>
                    </a:solidFill>
                    <a:latin typeface="+mn-ea"/>
                    <a:cs typeface="Times New Roman" panose="02020603050405020304" pitchFamily="18" charset="0"/>
                  </a:rPr>
                  <a:t>（</a:t>
                </a:r>
                <a:r>
                  <a:rPr lang="en-US" altLang="zh-CN" b="1" dirty="0">
                    <a:solidFill>
                      <a:schemeClr val="tx1">
                        <a:lumMod val="75000"/>
                        <a:lumOff val="25000"/>
                      </a:schemeClr>
                    </a:solidFill>
                    <a:latin typeface="+mn-ea"/>
                    <a:cs typeface="Times New Roman" panose="02020603050405020304" pitchFamily="18" charset="0"/>
                  </a:rPr>
                  <a:t>1</a:t>
                </a:r>
                <a:r>
                  <a:rPr lang="zh-CN" altLang="zh-CN" b="1" dirty="0">
                    <a:solidFill>
                      <a:schemeClr val="tx1">
                        <a:lumMod val="75000"/>
                        <a:lumOff val="25000"/>
                      </a:schemeClr>
                    </a:solidFill>
                    <a:latin typeface="+mn-ea"/>
                    <a:cs typeface="Times New Roman" panose="02020603050405020304" pitchFamily="18" charset="0"/>
                  </a:rPr>
                  <a:t>）</a:t>
                </a:r>
                <a14:m>
                  <m:oMath xmlns:m="http://schemas.openxmlformats.org/officeDocument/2006/math">
                    <m:sSub>
                      <m:sSubPr>
                        <m:ctrlPr>
                          <a:rPr lang="en-US" altLang="zh-CN" b="1" i="1" dirty="0" smtClean="0">
                            <a:solidFill>
                              <a:schemeClr val="tx1">
                                <a:lumMod val="75000"/>
                                <a:lumOff val="25000"/>
                              </a:schemeClr>
                            </a:solidFill>
                            <a:latin typeface="Cambria Math" panose="02040503050406030204" pitchFamily="18" charset="0"/>
                          </a:rPr>
                        </m:ctrlPr>
                      </m:sSubPr>
                      <m:e>
                        <m:r>
                          <a:rPr lang="en-US" altLang="zh-CN" b="1" i="1" dirty="0">
                            <a:solidFill>
                              <a:schemeClr val="tx1">
                                <a:lumMod val="75000"/>
                                <a:lumOff val="25000"/>
                              </a:schemeClr>
                            </a:solidFill>
                            <a:latin typeface="Cambria Math" panose="02040503050406030204" pitchFamily="18" charset="0"/>
                          </a:rPr>
                          <m:t>𝑩</m:t>
                        </m:r>
                      </m:e>
                      <m:sub>
                        <m:r>
                          <a:rPr lang="en-US" altLang="zh-CN" b="1" i="1" dirty="0">
                            <a:solidFill>
                              <a:schemeClr val="tx1">
                                <a:lumMod val="75000"/>
                                <a:lumOff val="25000"/>
                              </a:schemeClr>
                            </a:solidFill>
                            <a:latin typeface="Cambria Math" panose="02040503050406030204" pitchFamily="18" charset="0"/>
                          </a:rPr>
                          <m:t>𝟏</m:t>
                        </m:r>
                      </m:sub>
                    </m:sSub>
                  </m:oMath>
                </a14:m>
                <a:r>
                  <a:rPr lang="zh-CN" altLang="zh-CN" b="1" dirty="0">
                    <a:solidFill>
                      <a:schemeClr val="tx1">
                        <a:lumMod val="75000"/>
                        <a:lumOff val="25000"/>
                      </a:schemeClr>
                    </a:solidFill>
                    <a:latin typeface="+mn-ea"/>
                    <a:cs typeface="Times New Roman" panose="02020603050405020304" pitchFamily="18" charset="0"/>
                  </a:rPr>
                  <a:t>的任意</a:t>
                </a:r>
                <a:r>
                  <a:rPr lang="en-US" altLang="zh-CN" b="1" dirty="0">
                    <a:solidFill>
                      <a:schemeClr val="tx1">
                        <a:lumMod val="75000"/>
                        <a:lumOff val="25000"/>
                      </a:schemeClr>
                    </a:solidFill>
                    <a:latin typeface="+mn-ea"/>
                    <a:cs typeface="Times New Roman" panose="02020603050405020304" pitchFamily="18" charset="0"/>
                  </a:rPr>
                  <a:t>2</a:t>
                </a:r>
                <a:r>
                  <a:rPr lang="zh-CN" altLang="zh-CN" b="1" dirty="0">
                    <a:solidFill>
                      <a:schemeClr val="tx1">
                        <a:lumMod val="75000"/>
                        <a:lumOff val="25000"/>
                      </a:schemeClr>
                    </a:solidFill>
                    <a:latin typeface="+mn-ea"/>
                    <a:cs typeface="Times New Roman" panose="02020603050405020304" pitchFamily="18" charset="0"/>
                  </a:rPr>
                  <a:t>元素子集的最大下界和最小上界都在</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𝑩</m:t>
                        </m:r>
                      </m:e>
                      <m:sub>
                        <m:r>
                          <a:rPr lang="en-US" altLang="zh-CN" b="1" i="1" dirty="0">
                            <a:latin typeface="Cambria Math" panose="02040503050406030204" pitchFamily="18" charset="0"/>
                          </a:rPr>
                          <m:t>𝟏</m:t>
                        </m:r>
                      </m:sub>
                    </m:sSub>
                  </m:oMath>
                </a14:m>
                <a:r>
                  <a:rPr lang="zh-CN" altLang="zh-CN" b="1" dirty="0">
                    <a:solidFill>
                      <a:schemeClr val="tx1">
                        <a:lumMod val="75000"/>
                        <a:lumOff val="25000"/>
                      </a:schemeClr>
                    </a:solidFill>
                    <a:latin typeface="+mn-ea"/>
                    <a:cs typeface="Times New Roman" panose="02020603050405020304" pitchFamily="18" charset="0"/>
                  </a:rPr>
                  <a:t>中，因此</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𝑩</m:t>
                        </m:r>
                      </m:e>
                      <m:sub>
                        <m:r>
                          <a:rPr lang="en-US" altLang="zh-CN" b="1" i="1" dirty="0">
                            <a:latin typeface="Cambria Math" panose="02040503050406030204" pitchFamily="18" charset="0"/>
                          </a:rPr>
                          <m:t>𝟏</m:t>
                        </m:r>
                      </m:sub>
                    </m:sSub>
                  </m:oMath>
                </a14:m>
                <a:r>
                  <a:rPr lang="zh-CN" altLang="zh-CN" b="1" dirty="0">
                    <a:solidFill>
                      <a:schemeClr val="tx1">
                        <a:lumMod val="75000"/>
                        <a:lumOff val="25000"/>
                      </a:schemeClr>
                    </a:solidFill>
                    <a:latin typeface="+mn-ea"/>
                    <a:cs typeface="Times New Roman" panose="02020603050405020304" pitchFamily="18" charset="0"/>
                  </a:rPr>
                  <a:t>是</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𝑳</m:t>
                    </m:r>
                  </m:oMath>
                </a14:m>
                <a:r>
                  <a:rPr lang="zh-CN" altLang="zh-CN" b="1" dirty="0">
                    <a:solidFill>
                      <a:schemeClr val="tx1">
                        <a:lumMod val="75000"/>
                        <a:lumOff val="25000"/>
                      </a:schemeClr>
                    </a:solidFill>
                    <a:latin typeface="+mn-ea"/>
                    <a:cs typeface="Times New Roman" panose="02020603050405020304" pitchFamily="18" charset="0"/>
                  </a:rPr>
                  <a:t>的子格；</a:t>
                </a:r>
              </a:p>
              <a:p>
                <a:pPr indent="266700" algn="just">
                  <a:lnSpc>
                    <a:spcPct val="130000"/>
                  </a:lnSpc>
                  <a:spcBef>
                    <a:spcPts val="600"/>
                  </a:spcBef>
                </a:pPr>
                <a:r>
                  <a:rPr lang="zh-CN" altLang="zh-CN" b="1" dirty="0">
                    <a:solidFill>
                      <a:schemeClr val="tx1">
                        <a:lumMod val="75000"/>
                        <a:lumOff val="25000"/>
                      </a:schemeClr>
                    </a:solidFill>
                    <a:latin typeface="+mn-ea"/>
                    <a:cs typeface="Times New Roman" panose="02020603050405020304" pitchFamily="18" charset="0"/>
                  </a:rPr>
                  <a:t>（</a:t>
                </a:r>
                <a:r>
                  <a:rPr lang="en-US" altLang="zh-CN" b="1" dirty="0">
                    <a:solidFill>
                      <a:schemeClr val="tx1">
                        <a:lumMod val="75000"/>
                        <a:lumOff val="25000"/>
                      </a:schemeClr>
                    </a:solidFill>
                    <a:latin typeface="+mn-ea"/>
                    <a:cs typeface="Times New Roman" panose="02020603050405020304" pitchFamily="18" charset="0"/>
                  </a:rPr>
                  <a:t>2</a:t>
                </a:r>
                <a:r>
                  <a:rPr lang="zh-CN" altLang="zh-CN" b="1" dirty="0">
                    <a:solidFill>
                      <a:schemeClr val="tx1">
                        <a:lumMod val="75000"/>
                        <a:lumOff val="25000"/>
                      </a:schemeClr>
                    </a:solidFill>
                    <a:latin typeface="+mn-ea"/>
                    <a:cs typeface="Times New Roman" panose="02020603050405020304" pitchFamily="18" charset="0"/>
                  </a:rPr>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𝑩</m:t>
                        </m:r>
                      </m:e>
                      <m:sub>
                        <m:r>
                          <a:rPr lang="en-US" altLang="zh-CN" b="1" i="1" dirty="0">
                            <a:latin typeface="Cambria Math" panose="02040503050406030204" pitchFamily="18" charset="0"/>
                          </a:rPr>
                          <m:t>𝟐</m:t>
                        </m:r>
                      </m:sub>
                    </m:sSub>
                  </m:oMath>
                </a14:m>
                <a:r>
                  <a:rPr lang="zh-CN" altLang="zh-CN" b="1" dirty="0">
                    <a:solidFill>
                      <a:schemeClr val="tx1">
                        <a:lumMod val="75000"/>
                        <a:lumOff val="25000"/>
                      </a:schemeClr>
                    </a:solidFill>
                    <a:latin typeface="+mn-ea"/>
                    <a:cs typeface="Times New Roman" panose="02020603050405020304" pitchFamily="18" charset="0"/>
                  </a:rPr>
                  <a:t>的</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m:t>
                    </m:r>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𝒃</m:t>
                    </m:r>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 </m:t>
                    </m:r>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𝒄</m:t>
                    </m:r>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m:t>
                    </m:r>
                  </m:oMath>
                </a14:m>
                <a:r>
                  <a:rPr lang="zh-CN" altLang="zh-CN" b="1" dirty="0">
                    <a:solidFill>
                      <a:schemeClr val="tx1">
                        <a:lumMod val="75000"/>
                        <a:lumOff val="25000"/>
                      </a:schemeClr>
                    </a:solidFill>
                    <a:latin typeface="+mn-ea"/>
                    <a:cs typeface="Times New Roman" panose="02020603050405020304" pitchFamily="18" charset="0"/>
                  </a:rPr>
                  <a:t>的最小上界</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𝒆</m:t>
                    </m:r>
                  </m:oMath>
                </a14:m>
                <a:r>
                  <a:rPr lang="zh-CN" altLang="zh-CN" b="1" dirty="0">
                    <a:solidFill>
                      <a:schemeClr val="tx1">
                        <a:lumMod val="75000"/>
                        <a:lumOff val="25000"/>
                      </a:schemeClr>
                    </a:solidFill>
                    <a:latin typeface="+mn-ea"/>
                    <a:cs typeface="Times New Roman" panose="02020603050405020304" pitchFamily="18" charset="0"/>
                  </a:rPr>
                  <a:t>不在</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𝑩</m:t>
                        </m:r>
                      </m:e>
                      <m:sub>
                        <m:r>
                          <a:rPr lang="en-US" altLang="zh-CN" b="1" i="1" dirty="0">
                            <a:latin typeface="Cambria Math" panose="02040503050406030204" pitchFamily="18" charset="0"/>
                          </a:rPr>
                          <m:t>𝟐</m:t>
                        </m:r>
                      </m:sub>
                    </m:sSub>
                  </m:oMath>
                </a14:m>
                <a:r>
                  <a:rPr lang="zh-CN" altLang="zh-CN" b="1" dirty="0">
                    <a:solidFill>
                      <a:schemeClr val="tx1">
                        <a:lumMod val="75000"/>
                        <a:lumOff val="25000"/>
                      </a:schemeClr>
                    </a:solidFill>
                    <a:latin typeface="+mn-ea"/>
                    <a:cs typeface="Times New Roman" panose="02020603050405020304" pitchFamily="18" charset="0"/>
                  </a:rPr>
                  <a:t>中，因此</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𝑩</m:t>
                        </m:r>
                      </m:e>
                      <m:sub>
                        <m:r>
                          <a:rPr lang="en-US" altLang="zh-CN" b="1" i="1" dirty="0">
                            <a:latin typeface="Cambria Math" panose="02040503050406030204" pitchFamily="18" charset="0"/>
                          </a:rPr>
                          <m:t>𝟐</m:t>
                        </m:r>
                      </m:sub>
                    </m:sSub>
                  </m:oMath>
                </a14:m>
                <a:r>
                  <a:rPr lang="zh-CN" altLang="zh-CN" b="1" dirty="0">
                    <a:solidFill>
                      <a:schemeClr val="tx1">
                        <a:lumMod val="75000"/>
                        <a:lumOff val="25000"/>
                      </a:schemeClr>
                    </a:solidFill>
                    <a:latin typeface="+mn-ea"/>
                    <a:cs typeface="Times New Roman" panose="02020603050405020304" pitchFamily="18" charset="0"/>
                  </a:rPr>
                  <a:t>不是</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𝑳</m:t>
                    </m:r>
                  </m:oMath>
                </a14:m>
                <a:r>
                  <a:rPr lang="zh-CN" altLang="zh-CN" b="1" dirty="0">
                    <a:solidFill>
                      <a:schemeClr val="tx1">
                        <a:lumMod val="75000"/>
                        <a:lumOff val="25000"/>
                      </a:schemeClr>
                    </a:solidFill>
                    <a:latin typeface="+mn-ea"/>
                    <a:cs typeface="Times New Roman" panose="02020603050405020304" pitchFamily="18" charset="0"/>
                  </a:rPr>
                  <a:t>的子格；</a:t>
                </a:r>
              </a:p>
              <a:p>
                <a:pPr>
                  <a:lnSpc>
                    <a:spcPct val="130000"/>
                  </a:lnSpc>
                  <a:spcBef>
                    <a:spcPts val="600"/>
                  </a:spcBef>
                </a:pPr>
                <a:r>
                  <a:rPr lang="zh-CN" altLang="zh-CN" b="1" dirty="0">
                    <a:solidFill>
                      <a:schemeClr val="tx1">
                        <a:lumMod val="75000"/>
                        <a:lumOff val="25000"/>
                      </a:schemeClr>
                    </a:solidFill>
                    <a:latin typeface="+mn-ea"/>
                    <a:cs typeface="Times New Roman" panose="02020603050405020304" pitchFamily="18" charset="0"/>
                  </a:rPr>
                  <a:t>（</a:t>
                </a:r>
                <a:r>
                  <a:rPr lang="en-US" altLang="zh-CN" b="1" dirty="0">
                    <a:solidFill>
                      <a:schemeClr val="tx1">
                        <a:lumMod val="75000"/>
                        <a:lumOff val="25000"/>
                      </a:schemeClr>
                    </a:solidFill>
                    <a:latin typeface="+mn-ea"/>
                    <a:cs typeface="Times New Roman" panose="02020603050405020304" pitchFamily="18" charset="0"/>
                  </a:rPr>
                  <a:t>3</a:t>
                </a:r>
                <a:r>
                  <a:rPr lang="zh-CN" altLang="zh-CN" b="1" dirty="0">
                    <a:solidFill>
                      <a:schemeClr val="tx1">
                        <a:lumMod val="75000"/>
                        <a:lumOff val="25000"/>
                      </a:schemeClr>
                    </a:solidFill>
                    <a:latin typeface="+mn-ea"/>
                    <a:cs typeface="Times New Roman" panose="02020603050405020304" pitchFamily="18" charset="0"/>
                  </a:rPr>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𝑩</m:t>
                        </m:r>
                      </m:e>
                      <m:sub>
                        <m:r>
                          <a:rPr lang="en-US" altLang="zh-CN" b="1" i="1" dirty="0">
                            <a:latin typeface="Cambria Math" panose="02040503050406030204" pitchFamily="18" charset="0"/>
                          </a:rPr>
                          <m:t>𝟑</m:t>
                        </m:r>
                      </m:sub>
                    </m:sSub>
                  </m:oMath>
                </a14:m>
                <a:r>
                  <a:rPr lang="zh-CN" altLang="zh-CN" b="1" dirty="0">
                    <a:solidFill>
                      <a:schemeClr val="tx1">
                        <a:lumMod val="75000"/>
                        <a:lumOff val="25000"/>
                      </a:schemeClr>
                    </a:solidFill>
                    <a:latin typeface="+mn-ea"/>
                    <a:cs typeface="Times New Roman" panose="02020603050405020304" pitchFamily="18" charset="0"/>
                  </a:rPr>
                  <a:t>的</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m:t>
                    </m:r>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𝒃</m:t>
                    </m:r>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 </m:t>
                    </m:r>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𝒅</m:t>
                    </m:r>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m:t>
                    </m:r>
                  </m:oMath>
                </a14:m>
                <a:r>
                  <a:rPr lang="zh-CN" altLang="zh-CN" b="1" dirty="0">
                    <a:solidFill>
                      <a:schemeClr val="tx1">
                        <a:lumMod val="75000"/>
                        <a:lumOff val="25000"/>
                      </a:schemeClr>
                    </a:solidFill>
                    <a:latin typeface="+mn-ea"/>
                    <a:cs typeface="Times New Roman" panose="02020603050405020304" pitchFamily="18" charset="0"/>
                  </a:rPr>
                  <a:t>的最小上界</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𝒇</m:t>
                    </m:r>
                  </m:oMath>
                </a14:m>
                <a:r>
                  <a:rPr lang="zh-CN" altLang="zh-CN" b="1" dirty="0">
                    <a:solidFill>
                      <a:schemeClr val="tx1">
                        <a:lumMod val="75000"/>
                        <a:lumOff val="25000"/>
                      </a:schemeClr>
                    </a:solidFill>
                    <a:latin typeface="+mn-ea"/>
                    <a:cs typeface="Times New Roman" panose="02020603050405020304" pitchFamily="18" charset="0"/>
                  </a:rPr>
                  <a:t>不在</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𝑩</m:t>
                        </m:r>
                      </m:e>
                      <m:sub>
                        <m:r>
                          <a:rPr lang="en-US" altLang="zh-CN" b="1" i="1" dirty="0">
                            <a:latin typeface="Cambria Math" panose="02040503050406030204" pitchFamily="18" charset="0"/>
                          </a:rPr>
                          <m:t>𝟑</m:t>
                        </m:r>
                      </m:sub>
                    </m:sSub>
                  </m:oMath>
                </a14:m>
                <a:r>
                  <a:rPr lang="zh-CN" altLang="zh-CN" b="1" dirty="0">
                    <a:solidFill>
                      <a:schemeClr val="tx1">
                        <a:lumMod val="75000"/>
                        <a:lumOff val="25000"/>
                      </a:schemeClr>
                    </a:solidFill>
                    <a:latin typeface="+mn-ea"/>
                    <a:cs typeface="Times New Roman" panose="02020603050405020304" pitchFamily="18" charset="0"/>
                  </a:rPr>
                  <a:t>中，因此</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𝑩</m:t>
                        </m:r>
                      </m:e>
                      <m:sub>
                        <m:r>
                          <a:rPr lang="en-US" altLang="zh-CN" b="1" i="1" dirty="0">
                            <a:latin typeface="Cambria Math" panose="02040503050406030204" pitchFamily="18" charset="0"/>
                          </a:rPr>
                          <m:t>𝟑</m:t>
                        </m:r>
                      </m:sub>
                    </m:sSub>
                  </m:oMath>
                </a14:m>
                <a:r>
                  <a:rPr lang="zh-CN" altLang="zh-CN" b="1" dirty="0">
                    <a:solidFill>
                      <a:schemeClr val="tx1">
                        <a:lumMod val="75000"/>
                        <a:lumOff val="25000"/>
                      </a:schemeClr>
                    </a:solidFill>
                    <a:latin typeface="+mn-ea"/>
                    <a:cs typeface="Times New Roman" panose="02020603050405020304" pitchFamily="18" charset="0"/>
                  </a:rPr>
                  <a:t>不是</a:t>
                </a:r>
                <a14:m>
                  <m:oMath xmlns:m="http://schemas.openxmlformats.org/officeDocument/2006/math">
                    <m:r>
                      <a:rPr lang="en-US" altLang="zh-CN" b="1" i="1" dirty="0" smtClean="0">
                        <a:solidFill>
                          <a:schemeClr val="tx1">
                            <a:lumMod val="75000"/>
                            <a:lumOff val="25000"/>
                          </a:schemeClr>
                        </a:solidFill>
                        <a:latin typeface="Cambria Math" panose="02040503050406030204" pitchFamily="18" charset="0"/>
                        <a:cs typeface="Times New Roman" panose="02020603050405020304" pitchFamily="18" charset="0"/>
                      </a:rPr>
                      <m:t>𝑳</m:t>
                    </m:r>
                  </m:oMath>
                </a14:m>
                <a:r>
                  <a:rPr lang="zh-CN" altLang="zh-CN" b="1" dirty="0">
                    <a:solidFill>
                      <a:schemeClr val="tx1">
                        <a:lumMod val="75000"/>
                        <a:lumOff val="25000"/>
                      </a:schemeClr>
                    </a:solidFill>
                    <a:latin typeface="+mn-ea"/>
                    <a:cs typeface="Times New Roman" panose="02020603050405020304" pitchFamily="18" charset="0"/>
                  </a:rPr>
                  <a:t>的子格。</a:t>
                </a:r>
                <a:endParaRPr lang="zh-CN" altLang="en-US" b="1" dirty="0">
                  <a:solidFill>
                    <a:schemeClr val="tx1">
                      <a:lumMod val="75000"/>
                      <a:lumOff val="25000"/>
                    </a:schemeClr>
                  </a:solidFill>
                  <a:latin typeface="+mn-ea"/>
                  <a:cs typeface="Times New Roman" panose="02020603050405020304" pitchFamily="18" charset="0"/>
                </a:endParaRPr>
              </a:p>
            </p:txBody>
          </p:sp>
        </mc:Choice>
        <mc:Fallback xmlns="">
          <p:sp>
            <p:nvSpPr>
              <p:cNvPr id="36" name="文本框 35">
                <a:extLst>
                  <a:ext uri="{FF2B5EF4-FFF2-40B4-BE49-F238E27FC236}">
                    <a16:creationId xmlns:a16="http://schemas.microsoft.com/office/drawing/2014/main" id="{4FD3FDAD-0B25-44D6-9AE6-A5CBB9AB26EB}"/>
                  </a:ext>
                </a:extLst>
              </p:cNvPr>
              <p:cNvSpPr txBox="1">
                <a:spLocks noRot="1" noChangeAspect="1" noMove="1" noResize="1" noEditPoints="1" noAdjustHandles="1" noChangeArrowheads="1" noChangeShapeType="1" noTextEdit="1"/>
              </p:cNvSpPr>
              <p:nvPr/>
            </p:nvSpPr>
            <p:spPr>
              <a:xfrm>
                <a:off x="386873" y="2210768"/>
                <a:ext cx="6751457" cy="3080202"/>
              </a:xfrm>
              <a:prstGeom prst="rect">
                <a:avLst/>
              </a:prstGeom>
              <a:blipFill>
                <a:blip r:embed="rId14"/>
                <a:stretch>
                  <a:fillRect l="-1354" r="-1354" b="-376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78010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CD1-2428-4A5A-8788-29026EC5CEEC}"/>
              </a:ext>
            </a:extLst>
          </p:cNvPr>
          <p:cNvSpPr>
            <a:spLocks noGrp="1"/>
          </p:cNvSpPr>
          <p:nvPr>
            <p:ph type="title"/>
          </p:nvPr>
        </p:nvSpPr>
        <p:spPr/>
        <p:txBody>
          <a:bodyPr/>
          <a:lstStyle/>
          <a:p>
            <a:r>
              <a:rPr lang="zh-CN" altLang="en-US" dirty="0"/>
              <a:t>子格的判定</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89C0D9-BEEF-4849-947E-A16437BBF238}"/>
                  </a:ext>
                </a:extLst>
              </p:cNvPr>
              <p:cNvSpPr>
                <a:spLocks noGrp="1"/>
              </p:cNvSpPr>
              <p:nvPr>
                <p:ph idx="1"/>
              </p:nvPr>
            </p:nvSpPr>
            <p:spPr>
              <a:xfrm>
                <a:off x="231775" y="1029491"/>
                <a:ext cx="10668000" cy="704855"/>
              </a:xfrm>
            </p:spPr>
            <p:txBody>
              <a:bodyPr>
                <a:noAutofit/>
              </a:bodyPr>
              <a:lstStyle/>
              <a:p>
                <a:pPr indent="0" algn="just">
                  <a:lnSpc>
                    <a:spcPct val="130000"/>
                  </a:lnSpc>
                  <a:buNone/>
                </a:pPr>
                <a:r>
                  <a:rPr lang="zh-CN" altLang="zh-CN" kern="1100" dirty="0">
                    <a:solidFill>
                      <a:srgbClr val="0000FF"/>
                    </a:solidFill>
                    <a:effectLst/>
                    <a:latin typeface="+mn-ea"/>
                  </a:rPr>
                  <a:t>例</a:t>
                </a:r>
                <a:r>
                  <a:rPr lang="en-US" altLang="zh-CN" kern="1100" dirty="0">
                    <a:solidFill>
                      <a:srgbClr val="0000FF"/>
                    </a:solidFill>
                    <a:effectLst/>
                    <a:latin typeface="+mn-ea"/>
                  </a:rPr>
                  <a:t>10.4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是一个格，</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𝑳</m:t>
                    </m:r>
                    <m:r>
                      <a:rPr lang="zh-CN" altLang="zh-CN" b="1" i="1" kern="100" dirty="0">
                        <a:effectLst/>
                        <a:latin typeface="Cambria Math" panose="02040503050406030204" pitchFamily="18" charset="0"/>
                      </a:rPr>
                      <m:t>，</m:t>
                    </m:r>
                  </m:oMath>
                </a14:m>
                <a:r>
                  <a:rPr lang="zh-CN" altLang="zh-CN" kern="100" dirty="0">
                    <a:effectLst/>
                    <a:latin typeface="+mn-ea"/>
                  </a:rPr>
                  <a:t>令</a:t>
                </a:r>
                <a14:m>
                  <m:oMath xmlns:m="http://schemas.openxmlformats.org/officeDocument/2006/math">
                    <m:r>
                      <a:rPr lang="en-US" altLang="zh-CN" b="1" i="1" kern="100" dirty="0" smtClean="0">
                        <a:effectLst/>
                        <a:latin typeface="Cambria Math" panose="02040503050406030204" pitchFamily="18" charset="0"/>
                      </a:rPr>
                      <m:t>𝑺</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𝒙</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𝒙</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𝑳</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𝒙</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zh-CN" altLang="zh-CN" b="1" i="1" kern="100" dirty="0">
                        <a:effectLst/>
                        <a:latin typeface="Cambria Math" panose="02040503050406030204" pitchFamily="18" charset="0"/>
                      </a:rPr>
                      <m:t>，</m:t>
                    </m:r>
                  </m:oMath>
                </a14:m>
                <a:r>
                  <a:rPr lang="zh-CN" altLang="zh-CN" kern="100" dirty="0">
                    <a:effectLst/>
                    <a:latin typeface="+mn-ea"/>
                  </a:rPr>
                  <a:t>则</a:t>
                </a:r>
                <a14:m>
                  <m:oMath xmlns:m="http://schemas.openxmlformats.org/officeDocument/2006/math">
                    <m:r>
                      <a:rPr lang="en-US" altLang="zh-CN" b="1" i="1" kern="100" dirty="0" smtClean="0">
                        <a:effectLst/>
                        <a:latin typeface="Cambria Math" panose="02040503050406030204" pitchFamily="18" charset="0"/>
                      </a:rPr>
                      <m:t>𝑺</m:t>
                    </m:r>
                  </m:oMath>
                </a14:m>
                <a:r>
                  <a:rPr lang="zh-CN" altLang="zh-CN"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的子格。</a:t>
                </a:r>
              </a:p>
            </p:txBody>
          </p:sp>
        </mc:Choice>
        <mc:Fallback xmlns="">
          <p:sp>
            <p:nvSpPr>
              <p:cNvPr id="3" name="Content Placeholder 2">
                <a:extLst>
                  <a:ext uri="{FF2B5EF4-FFF2-40B4-BE49-F238E27FC236}">
                    <a16:creationId xmlns:a16="http://schemas.microsoft.com/office/drawing/2014/main" id="{1289C0D9-BEEF-4849-947E-A16437BBF238}"/>
                  </a:ext>
                </a:extLst>
              </p:cNvPr>
              <p:cNvSpPr>
                <a:spLocks noGrp="1" noRot="1" noChangeAspect="1" noMove="1" noResize="1" noEditPoints="1" noAdjustHandles="1" noChangeArrowheads="1" noChangeShapeType="1" noTextEdit="1"/>
              </p:cNvSpPr>
              <p:nvPr>
                <p:ph idx="1"/>
              </p:nvPr>
            </p:nvSpPr>
            <p:spPr>
              <a:xfrm>
                <a:off x="231775" y="1029491"/>
                <a:ext cx="10668000" cy="704855"/>
              </a:xfrm>
              <a:blipFill>
                <a:blip r:embed="rId6"/>
                <a:stretch>
                  <a:fillRect/>
                </a:stretch>
              </a:blipFill>
            </p:spPr>
            <p:txBody>
              <a:bodyPr/>
              <a:lstStyle/>
              <a:p>
                <a:r>
                  <a:rPr lang="zh-CN" altLang="en-US">
                    <a:noFill/>
                  </a:rPr>
                  <a:t> </a:t>
                </a:r>
              </a:p>
            </p:txBody>
          </p:sp>
        </mc:Fallback>
      </mc:AlternateContent>
      <p:sp>
        <p:nvSpPr>
          <p:cNvPr id="4" name="矩形 242">
            <a:extLst>
              <a:ext uri="{FF2B5EF4-FFF2-40B4-BE49-F238E27FC236}">
                <a16:creationId xmlns:a16="http://schemas.microsoft.com/office/drawing/2014/main" id="{65C1421C-FB16-4F80-98D4-3472E92DFF3C}"/>
              </a:ext>
            </a:extLst>
          </p:cNvPr>
          <p:cNvSpPr/>
          <p:nvPr/>
        </p:nvSpPr>
        <p:spPr>
          <a:xfrm>
            <a:off x="1" y="1981994"/>
            <a:ext cx="12198349" cy="723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77" tIns="45738" rIns="91477" bIns="45738" rtlCol="0" anchor="ctr"/>
          <a:lstStyle/>
          <a:p>
            <a:pPr algn="ctr"/>
            <a:endParaRPr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2CE1AC4-FD8E-4C72-AB06-FEFA204F8915}"/>
                  </a:ext>
                </a:extLst>
              </p:cNvPr>
              <p:cNvSpPr txBox="1"/>
              <p:nvPr/>
            </p:nvSpPr>
            <p:spPr>
              <a:xfrm>
                <a:off x="841375" y="2331352"/>
                <a:ext cx="8524875" cy="2677015"/>
              </a:xfrm>
              <a:prstGeom prst="rect">
                <a:avLst/>
              </a:prstGeom>
              <a:noFill/>
            </p:spPr>
            <p:txBody>
              <a:bodyPr wrap="square">
                <a:spAutoFit/>
              </a:bodyPr>
              <a:lstStyle/>
              <a:p>
                <a:pPr algn="just">
                  <a:lnSpc>
                    <a:spcPct val="130000"/>
                  </a:lnSpc>
                  <a:spcBef>
                    <a:spcPts val="600"/>
                  </a:spcBef>
                </a:pPr>
                <a:r>
                  <a:rPr lang="zh-CN" altLang="zh-CN" b="1" kern="1100" dirty="0">
                    <a:solidFill>
                      <a:srgbClr val="FF0000"/>
                    </a:solidFill>
                    <a:effectLst/>
                    <a:latin typeface="+mn-ea"/>
                  </a:rPr>
                  <a:t>证明</a:t>
                </a:r>
                <a:r>
                  <a:rPr lang="en-US" altLang="zh-CN" b="1" kern="100" dirty="0">
                    <a:effectLst/>
                    <a:latin typeface="+mn-ea"/>
                  </a:rPr>
                  <a:t> : </a:t>
                </a:r>
                <a:endParaRPr lang="en-US" altLang="zh-CN" b="1" kern="100" dirty="0">
                  <a:latin typeface="+mn-ea"/>
                </a:endParaRPr>
              </a:p>
              <a:p>
                <a:pPr algn="just">
                  <a:lnSpc>
                    <a:spcPct val="130000"/>
                  </a:lnSpc>
                  <a:spcBef>
                    <a:spcPts val="600"/>
                  </a:spcBef>
                </a:pPr>
                <a:r>
                  <a:rPr lang="zh-CN" altLang="zh-CN" b="1" kern="100" dirty="0">
                    <a:effectLst/>
                    <a:latin typeface="+mn-ea"/>
                  </a:rPr>
                  <a:t>因为</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oMath>
                </a14:m>
                <a:r>
                  <a:rPr lang="zh-CN" altLang="zh-CN" b="1" kern="100" dirty="0">
                    <a:effectLst/>
                    <a:latin typeface="+mn-ea"/>
                  </a:rPr>
                  <a:t>，所以</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𝑺</m:t>
                    </m:r>
                  </m:oMath>
                </a14:m>
                <a:r>
                  <a:rPr lang="zh-CN" altLang="zh-CN" b="1" kern="100" dirty="0">
                    <a:effectLst/>
                    <a:latin typeface="+mn-ea"/>
                  </a:rPr>
                  <a:t>，即</a:t>
                </a:r>
                <a14:m>
                  <m:oMath xmlns:m="http://schemas.openxmlformats.org/officeDocument/2006/math">
                    <m:r>
                      <a:rPr lang="en-US" altLang="zh-CN" b="1" i="1" kern="100" dirty="0" smtClean="0">
                        <a:effectLst/>
                        <a:latin typeface="Cambria Math" panose="02040503050406030204" pitchFamily="18" charset="0"/>
                      </a:rPr>
                      <m:t>𝑺</m:t>
                    </m:r>
                  </m:oMath>
                </a14:m>
                <a:r>
                  <a:rPr lang="zh-CN" altLang="zh-CN" b="1"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b="1" kern="100" dirty="0">
                    <a:effectLst/>
                    <a:latin typeface="+mn-ea"/>
                  </a:rPr>
                  <a:t>的</a:t>
                </a:r>
                <a:r>
                  <a:rPr lang="zh-CN" altLang="zh-CN" b="1" kern="100" dirty="0">
                    <a:solidFill>
                      <a:srgbClr val="0000FF"/>
                    </a:solidFill>
                    <a:effectLst/>
                    <a:latin typeface="+mn-ea"/>
                  </a:rPr>
                  <a:t>非空子集</a:t>
                </a:r>
                <a:r>
                  <a:rPr lang="zh-CN" altLang="zh-CN" b="1" kern="100" dirty="0">
                    <a:effectLst/>
                    <a:latin typeface="+mn-ea"/>
                  </a:rPr>
                  <a:t>。</a:t>
                </a:r>
              </a:p>
              <a:p>
                <a:pPr algn="just">
                  <a:lnSpc>
                    <a:spcPct val="130000"/>
                  </a:lnSpc>
                  <a:spcBef>
                    <a:spcPts val="600"/>
                  </a:spcBef>
                </a:pPr>
                <a:r>
                  <a:rPr lang="zh-CN" altLang="zh-CN" b="1" kern="100" dirty="0">
                    <a:effectLst/>
                    <a:latin typeface="+mn-ea"/>
                  </a:rPr>
                  <a:t>对任意</a:t>
                </a:r>
                <a14:m>
                  <m:oMath xmlns:m="http://schemas.openxmlformats.org/officeDocument/2006/math">
                    <m:r>
                      <a:rPr lang="en-US" altLang="zh-CN" b="1" i="1" kern="100" dirty="0" smtClean="0">
                        <a:effectLst/>
                        <a:latin typeface="Cambria Math" panose="02040503050406030204" pitchFamily="18" charset="0"/>
                      </a:rPr>
                      <m:t>𝒙</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𝒚</m:t>
                    </m:r>
                    <m:r>
                      <a:rPr lang="en-US" altLang="zh-CN" b="1" i="1" kern="100" dirty="0">
                        <a:latin typeface="Cambria Math" panose="02040503050406030204" pitchFamily="18" charset="0"/>
                        <a:ea typeface="Cambria Math" panose="02040503050406030204" pitchFamily="18" charset="0"/>
                      </a:rPr>
                      <m:t>∈</m:t>
                    </m:r>
                    <m:r>
                      <a:rPr lang="en-US" altLang="zh-CN" b="1" i="1" kern="100" dirty="0">
                        <a:latin typeface="Cambria Math" panose="02040503050406030204" pitchFamily="18" charset="0"/>
                        <a:ea typeface="Cambria Math" panose="02040503050406030204" pitchFamily="18" charset="0"/>
                      </a:rPr>
                      <m:t>𝑺</m:t>
                    </m:r>
                  </m:oMath>
                </a14:m>
                <a:r>
                  <a:rPr lang="zh-CN" altLang="zh-CN" b="1" kern="100" dirty="0">
                    <a:effectLst/>
                    <a:latin typeface="+mn-ea"/>
                  </a:rPr>
                  <a:t>，由</a:t>
                </a:r>
                <a14:m>
                  <m:oMath xmlns:m="http://schemas.openxmlformats.org/officeDocument/2006/math">
                    <m:r>
                      <a:rPr lang="en-US" altLang="zh-CN" b="1" i="1" kern="100" dirty="0" smtClean="0">
                        <a:effectLst/>
                        <a:latin typeface="Cambria Math" panose="02040503050406030204" pitchFamily="18" charset="0"/>
                      </a:rPr>
                      <m:t>𝒙</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𝒚</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oMath>
                </a14:m>
                <a:r>
                  <a:rPr lang="zh-CN" altLang="zh-CN" b="1" kern="100" dirty="0">
                    <a:effectLst/>
                    <a:latin typeface="+mn-ea"/>
                  </a:rPr>
                  <a:t>可知</a:t>
                </a:r>
                <a:endParaRPr lang="en-US" altLang="zh-CN" b="1" kern="100" dirty="0">
                  <a:effectLst/>
                  <a:latin typeface="+mn-ea"/>
                </a:endParaRPr>
              </a:p>
              <a:p>
                <a:pPr algn="ctr">
                  <a:lnSpc>
                    <a:spcPct val="130000"/>
                  </a:lnSpc>
                  <a:spcBef>
                    <a:spcPts val="600"/>
                  </a:spcBef>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𝒙</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𝒚</m:t>
                      </m:r>
                      <m:r>
                        <a:rPr lang="en-US" altLang="zh-CN" b="1" i="1" kern="100" dirty="0">
                          <a:effectLst/>
                          <a:latin typeface="Cambria Math" panose="02040503050406030204" pitchFamily="18" charset="0"/>
                        </a:rPr>
                        <m:t> = </m:t>
                      </m:r>
                      <m:r>
                        <a:rPr lang="en-US" altLang="zh-CN" b="1" i="0" kern="100" dirty="0">
                          <a:effectLst/>
                          <a:latin typeface="Cambria Math" panose="02040503050406030204" pitchFamily="18" charset="0"/>
                        </a:rPr>
                        <m:t>𝐢𝐧𝐟</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𝒙</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𝒚</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𝒙</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𝒚</m:t>
                      </m:r>
                      <m:r>
                        <a:rPr lang="en-US" altLang="zh-CN" b="1" i="1" kern="100" dirty="0">
                          <a:effectLst/>
                          <a:latin typeface="Cambria Math" panose="02040503050406030204" pitchFamily="18" charset="0"/>
                        </a:rPr>
                        <m:t> = </m:t>
                      </m:r>
                      <m:r>
                        <a:rPr lang="en-US" altLang="zh-CN" b="1" i="0" kern="100" dirty="0">
                          <a:effectLst/>
                          <a:latin typeface="Cambria Math" panose="02040503050406030204" pitchFamily="18" charset="0"/>
                        </a:rPr>
                        <m:t>𝐬𝐮𝐩</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𝒙</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𝒚</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oMath>
                  </m:oMathPara>
                </a14:m>
                <a:endParaRPr lang="zh-CN" altLang="zh-CN" b="1" kern="100" dirty="0">
                  <a:effectLst/>
                  <a:latin typeface="+mn-ea"/>
                </a:endParaRPr>
              </a:p>
              <a:p>
                <a:pPr>
                  <a:lnSpc>
                    <a:spcPct val="130000"/>
                  </a:lnSpc>
                  <a:spcBef>
                    <a:spcPts val="600"/>
                  </a:spcBef>
                </a:pPr>
                <a:r>
                  <a:rPr lang="zh-CN" altLang="zh-CN" b="1" dirty="0">
                    <a:effectLst/>
                    <a:latin typeface="+mn-ea"/>
                    <a:cs typeface="Times New Roman" panose="02020603050405020304" pitchFamily="18" charset="0"/>
                  </a:rPr>
                  <a:t>即</a:t>
                </a:r>
                <a14:m>
                  <m:oMath xmlns:m="http://schemas.openxmlformats.org/officeDocument/2006/math">
                    <m:r>
                      <a:rPr lang="en-US" altLang="zh-CN" b="1" i="1" dirty="0" smtClean="0">
                        <a:solidFill>
                          <a:srgbClr val="0000FF"/>
                        </a:solidFill>
                        <a:effectLst/>
                        <a:latin typeface="Cambria Math" panose="02040503050406030204" pitchFamily="18" charset="0"/>
                      </a:rPr>
                      <m:t>𝒙</m:t>
                    </m:r>
                    <m:r>
                      <a:rPr lang="zh-CN" altLang="zh-CN" b="1" i="1" dirty="0">
                        <a:solidFill>
                          <a:srgbClr val="0000FF"/>
                        </a:solidFill>
                        <a:effectLst/>
                        <a:latin typeface="Cambria Math" panose="02040503050406030204" pitchFamily="18" charset="0"/>
                        <a:cs typeface="Times New Roman" panose="02020603050405020304" pitchFamily="18" charset="0"/>
                      </a:rPr>
                      <m:t>∧</m:t>
                    </m:r>
                    <m:r>
                      <a:rPr lang="en-US" altLang="zh-CN" b="1" i="1" kern="100" dirty="0" smtClean="0">
                        <a:solidFill>
                          <a:srgbClr val="0000FF"/>
                        </a:solidFill>
                        <a:latin typeface="Cambria Math" panose="02040503050406030204" pitchFamily="18" charset="0"/>
                      </a:rPr>
                      <m:t>𝒚</m:t>
                    </m:r>
                    <m:r>
                      <a:rPr lang="en-US" altLang="zh-CN" b="1" i="1" kern="100" dirty="0">
                        <a:solidFill>
                          <a:srgbClr val="0000FF"/>
                        </a:solidFill>
                        <a:latin typeface="Cambria Math" panose="02040503050406030204" pitchFamily="18" charset="0"/>
                        <a:ea typeface="Cambria Math" panose="02040503050406030204" pitchFamily="18" charset="0"/>
                      </a:rPr>
                      <m:t>∈</m:t>
                    </m:r>
                    <m:r>
                      <a:rPr lang="en-US" altLang="zh-CN" b="1" i="1" kern="100" dirty="0">
                        <a:solidFill>
                          <a:srgbClr val="0000FF"/>
                        </a:solidFill>
                        <a:latin typeface="Cambria Math" panose="02040503050406030204" pitchFamily="18" charset="0"/>
                        <a:ea typeface="Cambria Math" panose="02040503050406030204" pitchFamily="18" charset="0"/>
                      </a:rPr>
                      <m:t>𝑺</m:t>
                    </m:r>
                  </m:oMath>
                </a14:m>
                <a:r>
                  <a:rPr lang="zh-CN" altLang="zh-CN" b="1" dirty="0">
                    <a:solidFill>
                      <a:srgbClr val="0000FF"/>
                    </a:solidFill>
                    <a:effectLst/>
                    <a:latin typeface="+mn-ea"/>
                    <a:cs typeface="Times New Roman" panose="02020603050405020304" pitchFamily="18" charset="0"/>
                  </a:rPr>
                  <a:t>并且</a:t>
                </a:r>
                <a14:m>
                  <m:oMath xmlns:m="http://schemas.openxmlformats.org/officeDocument/2006/math">
                    <m:r>
                      <a:rPr lang="en-US" altLang="zh-CN" b="1" i="1" dirty="0" smtClean="0">
                        <a:solidFill>
                          <a:srgbClr val="0000FF"/>
                        </a:solidFill>
                        <a:effectLst/>
                        <a:latin typeface="Cambria Math" panose="02040503050406030204" pitchFamily="18" charset="0"/>
                      </a:rPr>
                      <m:t>𝒙</m:t>
                    </m:r>
                    <m:r>
                      <a:rPr lang="zh-CN" altLang="zh-CN" b="1" i="1" dirty="0">
                        <a:solidFill>
                          <a:srgbClr val="0000FF"/>
                        </a:solidFill>
                        <a:effectLst/>
                        <a:latin typeface="Cambria Math" panose="02040503050406030204" pitchFamily="18" charset="0"/>
                        <a:cs typeface="宋体" panose="02010600030101010101" pitchFamily="2" charset="-122"/>
                      </a:rPr>
                      <m:t>∨</m:t>
                    </m:r>
                    <m:r>
                      <a:rPr lang="en-US" altLang="zh-CN" b="1" i="1" kern="100" dirty="0" smtClean="0">
                        <a:solidFill>
                          <a:srgbClr val="0000FF"/>
                        </a:solidFill>
                        <a:latin typeface="Cambria Math" panose="02040503050406030204" pitchFamily="18" charset="0"/>
                      </a:rPr>
                      <m:t>𝒚</m:t>
                    </m:r>
                    <m:r>
                      <a:rPr lang="en-US" altLang="zh-CN" b="1" i="1" kern="100" dirty="0">
                        <a:solidFill>
                          <a:srgbClr val="0000FF"/>
                        </a:solidFill>
                        <a:latin typeface="Cambria Math" panose="02040503050406030204" pitchFamily="18" charset="0"/>
                        <a:ea typeface="Cambria Math" panose="02040503050406030204" pitchFamily="18" charset="0"/>
                      </a:rPr>
                      <m:t>∈</m:t>
                    </m:r>
                    <m:r>
                      <a:rPr lang="en-US" altLang="zh-CN" b="1" i="1" kern="100" dirty="0">
                        <a:solidFill>
                          <a:srgbClr val="0000FF"/>
                        </a:solidFill>
                        <a:latin typeface="Cambria Math" panose="02040503050406030204" pitchFamily="18" charset="0"/>
                        <a:ea typeface="Cambria Math" panose="02040503050406030204" pitchFamily="18" charset="0"/>
                      </a:rPr>
                      <m:t>𝑺</m:t>
                    </m:r>
                  </m:oMath>
                </a14:m>
                <a:r>
                  <a:rPr lang="zh-CN" altLang="en-US" b="1" dirty="0">
                    <a:effectLst/>
                    <a:latin typeface="+mn-ea"/>
                  </a:rPr>
                  <a:t>，</a:t>
                </a:r>
                <a:r>
                  <a:rPr lang="zh-CN" altLang="zh-CN" b="1" dirty="0">
                    <a:effectLst/>
                    <a:latin typeface="+mn-ea"/>
                    <a:cs typeface="Times New Roman" panose="02020603050405020304" pitchFamily="18" charset="0"/>
                  </a:rPr>
                  <a:t>故</a:t>
                </a:r>
                <a14:m>
                  <m:oMath xmlns:m="http://schemas.openxmlformats.org/officeDocument/2006/math">
                    <m:r>
                      <a:rPr lang="en-US" altLang="zh-CN" b="1" i="1" dirty="0" smtClean="0">
                        <a:effectLst/>
                        <a:latin typeface="Cambria Math" panose="02040503050406030204" pitchFamily="18" charset="0"/>
                      </a:rPr>
                      <m:t>𝑺</m:t>
                    </m:r>
                  </m:oMath>
                </a14:m>
                <a:r>
                  <a:rPr lang="zh-CN" altLang="zh-CN" b="1" dirty="0">
                    <a:effectLst/>
                    <a:latin typeface="+mn-ea"/>
                    <a:cs typeface="Times New Roman" panose="02020603050405020304" pitchFamily="18" charset="0"/>
                  </a:rPr>
                  <a:t>是</a:t>
                </a:r>
                <a14:m>
                  <m:oMath xmlns:m="http://schemas.openxmlformats.org/officeDocument/2006/math">
                    <m:r>
                      <a:rPr lang="en-US" altLang="zh-CN" b="1" i="1" dirty="0" smtClean="0">
                        <a:effectLst/>
                        <a:latin typeface="Cambria Math" panose="02040503050406030204" pitchFamily="18" charset="0"/>
                      </a:rPr>
                      <m:t>𝑳</m:t>
                    </m:r>
                  </m:oMath>
                </a14:m>
                <a:r>
                  <a:rPr lang="zh-CN" altLang="zh-CN" b="1" dirty="0">
                    <a:effectLst/>
                    <a:latin typeface="+mn-ea"/>
                    <a:cs typeface="Times New Roman" panose="02020603050405020304" pitchFamily="18" charset="0"/>
                  </a:rPr>
                  <a:t>的子格。</a:t>
                </a:r>
                <a:endParaRPr lang="zh-CN" altLang="en-US" b="1" dirty="0">
                  <a:latin typeface="+mn-ea"/>
                </a:endParaRPr>
              </a:p>
            </p:txBody>
          </p:sp>
        </mc:Choice>
        <mc:Fallback xmlns="">
          <p:sp>
            <p:nvSpPr>
              <p:cNvPr id="7" name="文本框 6">
                <a:extLst>
                  <a:ext uri="{FF2B5EF4-FFF2-40B4-BE49-F238E27FC236}">
                    <a16:creationId xmlns:a16="http://schemas.microsoft.com/office/drawing/2014/main" id="{72CE1AC4-FD8E-4C72-AB06-FEFA204F8915}"/>
                  </a:ext>
                </a:extLst>
              </p:cNvPr>
              <p:cNvSpPr txBox="1">
                <a:spLocks noRot="1" noChangeAspect="1" noMove="1" noResize="1" noEditPoints="1" noAdjustHandles="1" noChangeArrowheads="1" noChangeShapeType="1" noTextEdit="1"/>
              </p:cNvSpPr>
              <p:nvPr/>
            </p:nvSpPr>
            <p:spPr>
              <a:xfrm>
                <a:off x="841375" y="2331352"/>
                <a:ext cx="8524875" cy="2677015"/>
              </a:xfrm>
              <a:prstGeom prst="rect">
                <a:avLst/>
              </a:prstGeom>
              <a:blipFill>
                <a:blip r:embed="rId7"/>
                <a:stretch>
                  <a:fillRect l="-1073" b="-409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095368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CD1-2428-4A5A-8788-29026EC5CEEC}"/>
              </a:ext>
            </a:extLst>
          </p:cNvPr>
          <p:cNvSpPr>
            <a:spLocks noGrp="1"/>
          </p:cNvSpPr>
          <p:nvPr>
            <p:ph type="title"/>
          </p:nvPr>
        </p:nvSpPr>
        <p:spPr/>
        <p:txBody>
          <a:bodyPr/>
          <a:lstStyle/>
          <a:p>
            <a:r>
              <a:rPr lang="zh-CN" altLang="en-US" dirty="0"/>
              <a:t>理想的定义和判定</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89C0D9-BEEF-4849-947E-A16437BBF238}"/>
                  </a:ext>
                </a:extLst>
              </p:cNvPr>
              <p:cNvSpPr>
                <a:spLocks noGrp="1"/>
              </p:cNvSpPr>
              <p:nvPr>
                <p:ph idx="1"/>
              </p:nvPr>
            </p:nvSpPr>
            <p:spPr>
              <a:xfrm>
                <a:off x="384175" y="970269"/>
                <a:ext cx="11430000" cy="1793083"/>
              </a:xfrm>
            </p:spPr>
            <p:txBody>
              <a:bodyPr>
                <a:noAutofit/>
              </a:bodyPr>
              <a:lstStyle/>
              <a:p>
                <a:pPr marL="0" indent="0" algn="just">
                  <a:lnSpc>
                    <a:spcPct val="130000"/>
                  </a:lnSpc>
                  <a:buNone/>
                </a:pPr>
                <a:r>
                  <a:rPr lang="zh-CN" altLang="zh-CN" kern="1100" dirty="0">
                    <a:solidFill>
                      <a:srgbClr val="0000FF"/>
                    </a:solidFill>
                    <a:effectLst/>
                    <a:latin typeface="+mn-ea"/>
                  </a:rPr>
                  <a:t>定义</a:t>
                </a:r>
                <a:r>
                  <a:rPr lang="en-US" altLang="zh-CN" kern="1100" dirty="0">
                    <a:solidFill>
                      <a:srgbClr val="0000FF"/>
                    </a:solidFill>
                    <a:effectLst/>
                    <a:latin typeface="+mn-ea"/>
                  </a:rPr>
                  <a:t>10.5</a:t>
                </a:r>
                <a:r>
                  <a:rPr lang="en-US" altLang="zh-CN" kern="100" dirty="0">
                    <a:solidFill>
                      <a:srgbClr val="0000FF"/>
                    </a:solidFill>
                    <a:effectLst/>
                    <a:latin typeface="+mn-ea"/>
                  </a:rPr>
                  <a:t>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是一个格，</a:t>
                </a:r>
                <a14:m>
                  <m:oMath xmlns:m="http://schemas.openxmlformats.org/officeDocument/2006/math">
                    <m:r>
                      <a:rPr lang="en-US" altLang="zh-CN" b="1" i="1" kern="100" dirty="0" smtClean="0">
                        <a:effectLst/>
                        <a:latin typeface="Cambria Math" panose="02040503050406030204" pitchFamily="18" charset="0"/>
                      </a:rPr>
                      <m:t>𝑰</m:t>
                    </m:r>
                  </m:oMath>
                </a14:m>
                <a:r>
                  <a:rPr lang="zh-CN" altLang="zh-CN"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的一个子格，若对</a:t>
                </a:r>
                <a14:m>
                  <m:oMath xmlns:m="http://schemas.openxmlformats.org/officeDocument/2006/math">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smtClean="0">
                        <a:effectLst/>
                        <a:latin typeface="Cambria Math" panose="02040503050406030204" pitchFamily="18" charset="0"/>
                        <a:sym typeface="Symbol" panose="05050102010706020507" pitchFamily="18" charset="2"/>
                      </a:rPr>
                      <m:t>𝒂</m:t>
                    </m:r>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smtClean="0">
                        <a:effectLst/>
                        <a:latin typeface="Cambria Math" panose="02040503050406030204" pitchFamily="18" charset="0"/>
                        <a:sym typeface="Symbol" panose="05050102010706020507" pitchFamily="18" charset="2"/>
                      </a:rPr>
                      <m:t>𝑰</m:t>
                    </m:r>
                    <m:r>
                      <a:rPr lang="zh-CN" altLang="zh-CN" b="1" i="1" kern="100" dirty="0">
                        <a:effectLst/>
                        <a:latin typeface="Cambria Math" panose="02040503050406030204" pitchFamily="18" charset="0"/>
                      </a:rPr>
                      <m:t>，</m:t>
                    </m:r>
                    <m:r>
                      <a:rPr lang="en-US" altLang="zh-CN" b="1" i="1" kern="100" dirty="0" smtClean="0">
                        <a:effectLst/>
                        <a:latin typeface="Cambria Math" panose="02040503050406030204" pitchFamily="18" charset="0"/>
                      </a:rPr>
                      <m:t>𝒙</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𝑳</m:t>
                    </m:r>
                    <m:r>
                      <a:rPr lang="zh-CN" altLang="zh-CN" b="1" i="1" kern="100" dirty="0">
                        <a:effectLst/>
                        <a:latin typeface="Cambria Math" panose="02040503050406030204" pitchFamily="18" charset="0"/>
                      </a:rPr>
                      <m:t>，</m:t>
                    </m:r>
                  </m:oMath>
                </a14:m>
                <a:r>
                  <a:rPr lang="zh-CN" altLang="zh-CN" kern="100" dirty="0">
                    <a:effectLst/>
                    <a:latin typeface="+mn-ea"/>
                  </a:rPr>
                  <a:t>若满足</a:t>
                </a:r>
              </a:p>
              <a:p>
                <a:pPr marL="0" indent="0" algn="ctr">
                  <a:lnSpc>
                    <a:spcPct val="130000"/>
                  </a:lnSpc>
                  <a:buNone/>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𝒙</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𝒙</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𝑰</m:t>
                      </m:r>
                      <m:r>
                        <a:rPr lang="zh-CN" altLang="zh-CN" b="1" i="1" kern="100" dirty="0">
                          <a:effectLst/>
                          <a:latin typeface="Cambria Math" panose="02040503050406030204" pitchFamily="18" charset="0"/>
                        </a:rPr>
                        <m:t>，</m:t>
                      </m:r>
                    </m:oMath>
                  </m:oMathPara>
                </a14:m>
                <a:endParaRPr lang="zh-CN" altLang="zh-CN" kern="100" dirty="0">
                  <a:effectLst/>
                  <a:latin typeface="+mn-ea"/>
                </a:endParaRPr>
              </a:p>
              <a:p>
                <a:pPr marL="0" indent="0" algn="just">
                  <a:lnSpc>
                    <a:spcPct val="130000"/>
                  </a:lnSpc>
                  <a:buNone/>
                </a:pPr>
                <a:r>
                  <a:rPr lang="zh-CN" altLang="zh-CN" kern="100" dirty="0">
                    <a:effectLst/>
                    <a:latin typeface="+mn-ea"/>
                  </a:rPr>
                  <a:t>则称</a:t>
                </a:r>
                <a14:m>
                  <m:oMath xmlns:m="http://schemas.openxmlformats.org/officeDocument/2006/math">
                    <m:r>
                      <a:rPr lang="en-US" altLang="zh-CN" b="1" i="1" kern="100" dirty="0" smtClean="0">
                        <a:effectLst/>
                        <a:latin typeface="Cambria Math" panose="02040503050406030204" pitchFamily="18" charset="0"/>
                      </a:rPr>
                      <m:t>𝑰</m:t>
                    </m:r>
                  </m:oMath>
                </a14:m>
                <a:r>
                  <a:rPr lang="zh-CN" altLang="zh-CN"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的</a:t>
                </a:r>
                <a:r>
                  <a:rPr lang="zh-CN" altLang="zh-CN" kern="100" dirty="0">
                    <a:solidFill>
                      <a:srgbClr val="C00000"/>
                    </a:solidFill>
                    <a:effectLst/>
                    <a:latin typeface="+mn-ea"/>
                  </a:rPr>
                  <a:t>理想</a:t>
                </a:r>
                <a:r>
                  <a:rPr lang="zh-CN" altLang="zh-CN" kern="100" dirty="0">
                    <a:effectLst/>
                    <a:latin typeface="+mn-ea"/>
                  </a:rPr>
                  <a:t>。</a:t>
                </a:r>
                <a:r>
                  <a:rPr lang="zh-CN" altLang="zh-CN" kern="100" dirty="0">
                    <a:solidFill>
                      <a:srgbClr val="0000FF"/>
                    </a:solidFill>
                    <a:effectLst/>
                    <a:latin typeface="+mn-ea"/>
                  </a:rPr>
                  <a:t>格</a:t>
                </a:r>
                <a14:m>
                  <m:oMath xmlns:m="http://schemas.openxmlformats.org/officeDocument/2006/math">
                    <m:r>
                      <a:rPr lang="en-US" altLang="zh-CN" b="1" i="1" kern="100" dirty="0" smtClean="0">
                        <a:solidFill>
                          <a:srgbClr val="0000FF"/>
                        </a:solidFill>
                        <a:effectLst/>
                        <a:latin typeface="Cambria Math" panose="02040503050406030204" pitchFamily="18" charset="0"/>
                      </a:rPr>
                      <m:t>𝑳</m:t>
                    </m:r>
                  </m:oMath>
                </a14:m>
                <a:r>
                  <a:rPr lang="zh-CN" altLang="zh-CN" kern="100" dirty="0">
                    <a:solidFill>
                      <a:srgbClr val="0000FF"/>
                    </a:solidFill>
                    <a:effectLst/>
                    <a:latin typeface="+mn-ea"/>
                  </a:rPr>
                  <a:t>的所有理想在集合包含关系下构成的格</a:t>
                </a:r>
                <a:r>
                  <a:rPr lang="zh-CN" altLang="zh-CN" kern="100" dirty="0">
                    <a:effectLst/>
                    <a:latin typeface="+mn-ea"/>
                  </a:rPr>
                  <a:t>，称为格</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的</a:t>
                </a:r>
                <a:r>
                  <a:rPr lang="zh-CN" altLang="zh-CN" kern="100" dirty="0">
                    <a:solidFill>
                      <a:srgbClr val="C00000"/>
                    </a:solidFill>
                    <a:effectLst/>
                    <a:latin typeface="+mn-ea"/>
                  </a:rPr>
                  <a:t>理想格</a:t>
                </a:r>
                <a:r>
                  <a:rPr lang="zh-CN" altLang="zh-CN" kern="100" dirty="0">
                    <a:effectLst/>
                    <a:latin typeface="+mn-ea"/>
                  </a:rPr>
                  <a:t>。</a:t>
                </a:r>
              </a:p>
            </p:txBody>
          </p:sp>
        </mc:Choice>
        <mc:Fallback xmlns="">
          <p:sp>
            <p:nvSpPr>
              <p:cNvPr id="3" name="Content Placeholder 2">
                <a:extLst>
                  <a:ext uri="{FF2B5EF4-FFF2-40B4-BE49-F238E27FC236}">
                    <a16:creationId xmlns:a16="http://schemas.microsoft.com/office/drawing/2014/main" id="{1289C0D9-BEEF-4849-947E-A16437BBF238}"/>
                  </a:ext>
                </a:extLst>
              </p:cNvPr>
              <p:cNvSpPr>
                <a:spLocks noGrp="1" noRot="1" noChangeAspect="1" noMove="1" noResize="1" noEditPoints="1" noAdjustHandles="1" noChangeArrowheads="1" noChangeShapeType="1" noTextEdit="1"/>
              </p:cNvSpPr>
              <p:nvPr>
                <p:ph idx="1"/>
              </p:nvPr>
            </p:nvSpPr>
            <p:spPr>
              <a:xfrm>
                <a:off x="384175" y="970269"/>
                <a:ext cx="11430000" cy="1793083"/>
              </a:xfrm>
              <a:blipFill>
                <a:blip r:embed="rId6"/>
                <a:stretch>
                  <a:fillRect l="-533"/>
                </a:stretch>
              </a:blipFill>
            </p:spPr>
            <p:txBody>
              <a:bodyPr/>
              <a:lstStyle/>
              <a:p>
                <a:r>
                  <a:rPr lang="zh-CN" altLang="en-US">
                    <a:noFill/>
                  </a:rPr>
                  <a:t> </a:t>
                </a:r>
              </a:p>
            </p:txBody>
          </p:sp>
        </mc:Fallback>
      </mc:AlternateContent>
      <p:sp>
        <p:nvSpPr>
          <p:cNvPr id="4" name="矩形 242">
            <a:extLst>
              <a:ext uri="{FF2B5EF4-FFF2-40B4-BE49-F238E27FC236}">
                <a16:creationId xmlns:a16="http://schemas.microsoft.com/office/drawing/2014/main" id="{65C1421C-FB16-4F80-98D4-3472E92DFF3C}"/>
              </a:ext>
            </a:extLst>
          </p:cNvPr>
          <p:cNvSpPr/>
          <p:nvPr/>
        </p:nvSpPr>
        <p:spPr>
          <a:xfrm>
            <a:off x="0" y="2879457"/>
            <a:ext cx="12198349" cy="7232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77" tIns="45738" rIns="91477" bIns="45738" rtlCol="0" anchor="ctr"/>
          <a:lstStyle/>
          <a:p>
            <a:pPr algn="ctr"/>
            <a:endParaRPr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9F5572F-F20F-46E5-AE8A-C2E7A3EFF2AB}"/>
                  </a:ext>
                </a:extLst>
              </p:cNvPr>
              <p:cNvSpPr txBox="1"/>
              <p:nvPr/>
            </p:nvSpPr>
            <p:spPr>
              <a:xfrm>
                <a:off x="281256" y="3164851"/>
                <a:ext cx="7222127" cy="1005788"/>
              </a:xfrm>
              <a:prstGeom prst="rect">
                <a:avLst/>
              </a:prstGeom>
              <a:noFill/>
            </p:spPr>
            <p:txBody>
              <a:bodyPr wrap="square">
                <a:spAutoFit/>
              </a:bodyPr>
              <a:lstStyle/>
              <a:p>
                <a:pPr algn="just">
                  <a:lnSpc>
                    <a:spcPct val="130000"/>
                  </a:lnSpc>
                </a:pPr>
                <a:r>
                  <a:rPr lang="zh-CN" altLang="zh-CN" b="1" kern="100" dirty="0">
                    <a:effectLst/>
                    <a:latin typeface="+mn-ea"/>
                  </a:rPr>
                  <a:t>例</a:t>
                </a:r>
                <a:r>
                  <a:rPr lang="en-US" altLang="zh-CN" b="1" kern="100" dirty="0">
                    <a:effectLst/>
                    <a:latin typeface="+mn-ea"/>
                  </a:rPr>
                  <a:t>10.3</a:t>
                </a:r>
                <a:r>
                  <a:rPr lang="zh-CN" altLang="zh-CN" b="1" kern="100" dirty="0">
                    <a:effectLst/>
                    <a:latin typeface="+mn-ea"/>
                  </a:rPr>
                  <a:t>中，</a:t>
                </a:r>
                <a14:m>
                  <m:oMath xmlns:m="http://schemas.openxmlformats.org/officeDocument/2006/math">
                    <m:r>
                      <a:rPr lang="en-US" altLang="zh-CN" b="1" i="1" kern="100" dirty="0" smtClean="0">
                        <a:effectLst/>
                        <a:latin typeface="Cambria Math" panose="02040503050406030204" pitchFamily="18" charset="0"/>
                      </a:rPr>
                      <m:t>𝑩</m:t>
                    </m:r>
                    <m:r>
                      <a:rPr lang="en-US" altLang="zh-CN" b="1" i="1" kern="100" baseline="-25000" dirty="0">
                        <a:effectLst/>
                        <a:latin typeface="Cambria Math" panose="02040503050406030204" pitchFamily="18" charset="0"/>
                      </a:rPr>
                      <m:t>𝟏</m:t>
                    </m:r>
                  </m:oMath>
                </a14:m>
                <a:r>
                  <a:rPr lang="en-US" altLang="zh-CN" b="1" dirty="0"/>
                  <a:t> </a:t>
                </a:r>
                <a14:m>
                  <m:oMath xmlns:m="http://schemas.openxmlformats.org/officeDocument/2006/math">
                    <m:r>
                      <a:rPr lang="en-US" altLang="zh-CN" b="1" i="1" dirty="0">
                        <a:latin typeface="Cambria Math" panose="02040503050406030204" pitchFamily="18" charset="0"/>
                      </a:rPr>
                      <m:t>={</m:t>
                    </m:r>
                    <m:r>
                      <a:rPr lang="en-US" altLang="zh-CN" b="1" i="1" dirty="0">
                        <a:latin typeface="Cambria Math" panose="02040503050406030204" pitchFamily="18" charset="0"/>
                      </a:rPr>
                      <m:t>𝒂</m:t>
                    </m:r>
                    <m:r>
                      <a:rPr lang="en-US" altLang="zh-CN" b="1" i="1" dirty="0">
                        <a:latin typeface="Cambria Math" panose="02040503050406030204" pitchFamily="18" charset="0"/>
                      </a:rPr>
                      <m:t>, </m:t>
                    </m:r>
                    <m:r>
                      <a:rPr lang="en-US" altLang="zh-CN" b="1" i="1" dirty="0">
                        <a:latin typeface="Cambria Math" panose="02040503050406030204" pitchFamily="18" charset="0"/>
                      </a:rPr>
                      <m:t>𝒃</m:t>
                    </m:r>
                    <m:r>
                      <a:rPr lang="en-US" altLang="zh-CN" b="1" i="1" dirty="0">
                        <a:latin typeface="Cambria Math" panose="02040503050406030204" pitchFamily="18" charset="0"/>
                      </a:rPr>
                      <m:t>, </m:t>
                    </m:r>
                    <m:r>
                      <a:rPr lang="en-US" altLang="zh-CN" b="1" i="1" dirty="0">
                        <a:latin typeface="Cambria Math" panose="02040503050406030204" pitchFamily="18" charset="0"/>
                      </a:rPr>
                      <m:t>𝒈</m:t>
                    </m:r>
                    <m:r>
                      <a:rPr lang="en-US" altLang="zh-CN" b="1" i="1" dirty="0">
                        <a:latin typeface="Cambria Math" panose="02040503050406030204" pitchFamily="18" charset="0"/>
                      </a:rPr>
                      <m:t>, </m:t>
                    </m:r>
                    <m:r>
                      <a:rPr lang="en-US" altLang="zh-CN" b="1" i="1" dirty="0">
                        <a:latin typeface="Cambria Math" panose="02040503050406030204" pitchFamily="18" charset="0"/>
                      </a:rPr>
                      <m:t>𝒉</m:t>
                    </m:r>
                    <m:r>
                      <a:rPr lang="en-US" altLang="zh-CN" b="1" i="1" dirty="0">
                        <a:latin typeface="Cambria Math" panose="02040503050406030204" pitchFamily="18" charset="0"/>
                      </a:rPr>
                      <m:t>}</m:t>
                    </m:r>
                  </m:oMath>
                </a14:m>
                <a:r>
                  <a:rPr lang="zh-CN" altLang="zh-CN" b="1" kern="100" dirty="0">
                    <a:effectLst/>
                    <a:latin typeface="+mn-ea"/>
                  </a:rPr>
                  <a:t>是子格但不是理想，而子集</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𝒆</m:t>
                    </m:r>
                    <m:r>
                      <a:rPr lang="en-US" altLang="zh-CN" b="1" i="1" kern="100" dirty="0">
                        <a:effectLst/>
                        <a:latin typeface="Cambria Math" panose="02040503050406030204" pitchFamily="18" charset="0"/>
                      </a:rPr>
                      <m:t>}</m:t>
                    </m:r>
                  </m:oMath>
                </a14:m>
                <a:r>
                  <a:rPr lang="zh-CN" altLang="zh-CN" b="1" kern="100" dirty="0">
                    <a:effectLst/>
                    <a:latin typeface="+mn-ea"/>
                  </a:rPr>
                  <a:t>和</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𝒅</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𝒈</m:t>
                    </m:r>
                    <m:r>
                      <a:rPr lang="en-US" altLang="zh-CN" b="1" i="1" kern="100" dirty="0">
                        <a:effectLst/>
                        <a:latin typeface="Cambria Math" panose="02040503050406030204" pitchFamily="18" charset="0"/>
                      </a:rPr>
                      <m:t>}</m:t>
                    </m:r>
                  </m:oMath>
                </a14:m>
                <a:r>
                  <a:rPr lang="zh-CN" altLang="zh-CN" b="1" kern="100" dirty="0">
                    <a:effectLst/>
                    <a:latin typeface="+mn-ea"/>
                  </a:rPr>
                  <a:t>是子格也是理想。</a:t>
                </a:r>
              </a:p>
            </p:txBody>
          </p:sp>
        </mc:Choice>
        <mc:Fallback xmlns="">
          <p:sp>
            <p:nvSpPr>
              <p:cNvPr id="7" name="文本框 6">
                <a:extLst>
                  <a:ext uri="{FF2B5EF4-FFF2-40B4-BE49-F238E27FC236}">
                    <a16:creationId xmlns:a16="http://schemas.microsoft.com/office/drawing/2014/main" id="{D9F5572F-F20F-46E5-AE8A-C2E7A3EFF2AB}"/>
                  </a:ext>
                </a:extLst>
              </p:cNvPr>
              <p:cNvSpPr txBox="1">
                <a:spLocks noRot="1" noChangeAspect="1" noMove="1" noResize="1" noEditPoints="1" noAdjustHandles="1" noChangeArrowheads="1" noChangeShapeType="1" noTextEdit="1"/>
              </p:cNvSpPr>
              <p:nvPr/>
            </p:nvSpPr>
            <p:spPr>
              <a:xfrm>
                <a:off x="281256" y="3164851"/>
                <a:ext cx="7222127" cy="1005788"/>
              </a:xfrm>
              <a:prstGeom prst="rect">
                <a:avLst/>
              </a:prstGeom>
              <a:blipFill>
                <a:blip r:embed="rId7"/>
                <a:stretch>
                  <a:fillRect l="-1266" r="-1350" b="-13333"/>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18D3EA27-8D8D-4BA4-80E3-AAA34A968438}"/>
              </a:ext>
            </a:extLst>
          </p:cNvPr>
          <p:cNvSpPr txBox="1"/>
          <p:nvPr/>
        </p:nvSpPr>
        <p:spPr>
          <a:xfrm>
            <a:off x="253573" y="4552161"/>
            <a:ext cx="6792606" cy="1688411"/>
          </a:xfrm>
          <a:prstGeom prst="rect">
            <a:avLst/>
          </a:prstGeom>
          <a:solidFill>
            <a:srgbClr val="FFC000"/>
          </a:solidFill>
        </p:spPr>
        <p:txBody>
          <a:bodyPr wrap="square">
            <a:spAutoFit/>
          </a:bodyPr>
          <a:lstStyle/>
          <a:p>
            <a:pPr>
              <a:lnSpc>
                <a:spcPct val="150000"/>
              </a:lnSpc>
            </a:pPr>
            <a:r>
              <a:rPr lang="zh-CN" altLang="zh-CN" b="1" kern="100" dirty="0">
                <a:effectLst/>
                <a:latin typeface="+mn-ea"/>
              </a:rPr>
              <a:t>与子群和正规子群在群论中的地位以及子环和理想在环论中的地位类似，子格和理想对于研究格的结构和性质也十分重要。</a:t>
            </a:r>
            <a:endParaRPr lang="zh-CN" altLang="en-US" dirty="0"/>
          </a:p>
        </p:txBody>
      </p:sp>
      <p:grpSp>
        <p:nvGrpSpPr>
          <p:cNvPr id="8" name="组合 5">
            <a:extLst>
              <a:ext uri="{FF2B5EF4-FFF2-40B4-BE49-F238E27FC236}">
                <a16:creationId xmlns:a16="http://schemas.microsoft.com/office/drawing/2014/main" id="{59BD9E09-F8A2-4DC6-8204-00394A4D0C88}"/>
              </a:ext>
            </a:extLst>
          </p:cNvPr>
          <p:cNvGrpSpPr/>
          <p:nvPr/>
        </p:nvGrpSpPr>
        <p:grpSpPr>
          <a:xfrm>
            <a:off x="7699375" y="2915617"/>
            <a:ext cx="3824547" cy="3817857"/>
            <a:chOff x="6940951" y="1578806"/>
            <a:chExt cx="2046357" cy="2499952"/>
          </a:xfrm>
        </p:grpSpPr>
        <p:sp>
          <p:nvSpPr>
            <p:cNvPr id="10" name="流程图: 接点 52">
              <a:extLst>
                <a:ext uri="{FF2B5EF4-FFF2-40B4-BE49-F238E27FC236}">
                  <a16:creationId xmlns:a16="http://schemas.microsoft.com/office/drawing/2014/main" id="{4F5085EC-8A72-4955-8C7B-EB72834FC01A}"/>
                </a:ext>
              </a:extLst>
            </p:cNvPr>
            <p:cNvSpPr/>
            <p:nvPr/>
          </p:nvSpPr>
          <p:spPr>
            <a:xfrm>
              <a:off x="7946138" y="3842679"/>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流程图: 接点 52">
              <a:extLst>
                <a:ext uri="{FF2B5EF4-FFF2-40B4-BE49-F238E27FC236}">
                  <a16:creationId xmlns:a16="http://schemas.microsoft.com/office/drawing/2014/main" id="{BBCED7E2-AA96-49C7-96CC-5C114549B9D7}"/>
                </a:ext>
              </a:extLst>
            </p:cNvPr>
            <p:cNvSpPr/>
            <p:nvPr/>
          </p:nvSpPr>
          <p:spPr>
            <a:xfrm>
              <a:off x="7191895" y="316320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流程图: 接点 52">
              <a:extLst>
                <a:ext uri="{FF2B5EF4-FFF2-40B4-BE49-F238E27FC236}">
                  <a16:creationId xmlns:a16="http://schemas.microsoft.com/office/drawing/2014/main" id="{0C5641FB-EDF6-4297-BE83-D1B3EF5EBEB0}"/>
                </a:ext>
              </a:extLst>
            </p:cNvPr>
            <p:cNvSpPr/>
            <p:nvPr/>
          </p:nvSpPr>
          <p:spPr>
            <a:xfrm>
              <a:off x="8701973" y="316320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流程图: 接点 52">
              <a:extLst>
                <a:ext uri="{FF2B5EF4-FFF2-40B4-BE49-F238E27FC236}">
                  <a16:creationId xmlns:a16="http://schemas.microsoft.com/office/drawing/2014/main" id="{88B0D86E-B09E-44A4-BCF6-724E670700A0}"/>
                </a:ext>
              </a:extLst>
            </p:cNvPr>
            <p:cNvSpPr/>
            <p:nvPr/>
          </p:nvSpPr>
          <p:spPr>
            <a:xfrm>
              <a:off x="7191895" y="2490284"/>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流程图: 接点 52">
              <a:extLst>
                <a:ext uri="{FF2B5EF4-FFF2-40B4-BE49-F238E27FC236}">
                  <a16:creationId xmlns:a16="http://schemas.microsoft.com/office/drawing/2014/main" id="{817FE74A-E33E-4263-9BAA-8DE1E1086585}"/>
                </a:ext>
              </a:extLst>
            </p:cNvPr>
            <p:cNvSpPr/>
            <p:nvPr/>
          </p:nvSpPr>
          <p:spPr>
            <a:xfrm>
              <a:off x="8701973" y="2485190"/>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流程图: 接点 12">
              <a:extLst>
                <a:ext uri="{FF2B5EF4-FFF2-40B4-BE49-F238E27FC236}">
                  <a16:creationId xmlns:a16="http://schemas.microsoft.com/office/drawing/2014/main" id="{2D131F81-65F6-4FB8-AE91-5CB346B6602B}"/>
                </a:ext>
              </a:extLst>
            </p:cNvPr>
            <p:cNvSpPr/>
            <p:nvPr/>
          </p:nvSpPr>
          <p:spPr>
            <a:xfrm>
              <a:off x="7946934" y="316320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流程图: 接点 52">
              <a:extLst>
                <a:ext uri="{FF2B5EF4-FFF2-40B4-BE49-F238E27FC236}">
                  <a16:creationId xmlns:a16="http://schemas.microsoft.com/office/drawing/2014/main" id="{56CC865E-3D61-4C5A-A6CF-8A4C758F3708}"/>
                </a:ext>
              </a:extLst>
            </p:cNvPr>
            <p:cNvSpPr/>
            <p:nvPr/>
          </p:nvSpPr>
          <p:spPr>
            <a:xfrm>
              <a:off x="7948978" y="250132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流程图: 接点 52">
              <a:extLst>
                <a:ext uri="{FF2B5EF4-FFF2-40B4-BE49-F238E27FC236}">
                  <a16:creationId xmlns:a16="http://schemas.microsoft.com/office/drawing/2014/main" id="{DBD4C51C-9680-46C9-8EA5-7F832C75D3A1}"/>
                </a:ext>
              </a:extLst>
            </p:cNvPr>
            <p:cNvSpPr/>
            <p:nvPr/>
          </p:nvSpPr>
          <p:spPr>
            <a:xfrm>
              <a:off x="7932747" y="175947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Line 1091">
              <a:extLst>
                <a:ext uri="{FF2B5EF4-FFF2-40B4-BE49-F238E27FC236}">
                  <a16:creationId xmlns:a16="http://schemas.microsoft.com/office/drawing/2014/main" id="{889B6693-90E1-40DE-9635-92E2C54BE8A0}"/>
                </a:ext>
              </a:extLst>
            </p:cNvPr>
            <p:cNvCxnSpPr>
              <a:cxnSpLocks noChangeShapeType="1"/>
              <a:stCxn id="17" idx="5"/>
              <a:endCxn id="14" idx="1"/>
            </p:cNvCxnSpPr>
            <p:nvPr/>
          </p:nvCxnSpPr>
          <p:spPr bwMode="auto">
            <a:xfrm>
              <a:off x="8010796" y="1838087"/>
              <a:ext cx="704568" cy="66059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9" name="Line 1091">
              <a:extLst>
                <a:ext uri="{FF2B5EF4-FFF2-40B4-BE49-F238E27FC236}">
                  <a16:creationId xmlns:a16="http://schemas.microsoft.com/office/drawing/2014/main" id="{3158DF09-9D88-45E7-9D7B-6FF73C694BC9}"/>
                </a:ext>
              </a:extLst>
            </p:cNvPr>
            <p:cNvCxnSpPr>
              <a:cxnSpLocks noChangeShapeType="1"/>
              <a:stCxn id="14" idx="4"/>
              <a:endCxn id="12" idx="0"/>
            </p:cNvCxnSpPr>
            <p:nvPr/>
          </p:nvCxnSpPr>
          <p:spPr bwMode="auto">
            <a:xfrm>
              <a:off x="8747693" y="2577288"/>
              <a:ext cx="0" cy="58591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0" name="Line 1091">
              <a:extLst>
                <a:ext uri="{FF2B5EF4-FFF2-40B4-BE49-F238E27FC236}">
                  <a16:creationId xmlns:a16="http://schemas.microsoft.com/office/drawing/2014/main" id="{A32F8DD2-CE6E-4340-A82B-DCEFC468AA60}"/>
                </a:ext>
              </a:extLst>
            </p:cNvPr>
            <p:cNvCxnSpPr>
              <a:cxnSpLocks noChangeShapeType="1"/>
              <a:stCxn id="16" idx="5"/>
              <a:endCxn id="12" idx="1"/>
            </p:cNvCxnSpPr>
            <p:nvPr/>
          </p:nvCxnSpPr>
          <p:spPr bwMode="auto">
            <a:xfrm>
              <a:off x="8027027" y="2579933"/>
              <a:ext cx="688337" cy="5967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1" name="Line 1091">
              <a:extLst>
                <a:ext uri="{FF2B5EF4-FFF2-40B4-BE49-F238E27FC236}">
                  <a16:creationId xmlns:a16="http://schemas.microsoft.com/office/drawing/2014/main" id="{348C0F30-90B6-4D7F-B9F5-37104699F92A}"/>
                </a:ext>
              </a:extLst>
            </p:cNvPr>
            <p:cNvCxnSpPr>
              <a:cxnSpLocks noChangeShapeType="1"/>
              <a:stCxn id="17" idx="3"/>
              <a:endCxn id="13" idx="7"/>
            </p:cNvCxnSpPr>
            <p:nvPr/>
          </p:nvCxnSpPr>
          <p:spPr bwMode="auto">
            <a:xfrm flipH="1">
              <a:off x="7269944" y="1838087"/>
              <a:ext cx="676194" cy="66568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2" name="Line 1091">
              <a:extLst>
                <a:ext uri="{FF2B5EF4-FFF2-40B4-BE49-F238E27FC236}">
                  <a16:creationId xmlns:a16="http://schemas.microsoft.com/office/drawing/2014/main" id="{917B9D0D-1A0C-4040-B6A4-3C3B69FA443A}"/>
                </a:ext>
              </a:extLst>
            </p:cNvPr>
            <p:cNvCxnSpPr>
              <a:cxnSpLocks noChangeShapeType="1"/>
              <a:stCxn id="13" idx="4"/>
              <a:endCxn id="11" idx="0"/>
            </p:cNvCxnSpPr>
            <p:nvPr/>
          </p:nvCxnSpPr>
          <p:spPr bwMode="auto">
            <a:xfrm>
              <a:off x="7237615" y="2582382"/>
              <a:ext cx="0" cy="58082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 name="Line 1091">
              <a:extLst>
                <a:ext uri="{FF2B5EF4-FFF2-40B4-BE49-F238E27FC236}">
                  <a16:creationId xmlns:a16="http://schemas.microsoft.com/office/drawing/2014/main" id="{E0D1EBC6-DECE-4167-A978-BB44C26BC5DD}"/>
                </a:ext>
              </a:extLst>
            </p:cNvPr>
            <p:cNvCxnSpPr>
              <a:cxnSpLocks noChangeShapeType="1"/>
              <a:stCxn id="16" idx="3"/>
              <a:endCxn id="11" idx="6"/>
            </p:cNvCxnSpPr>
            <p:nvPr/>
          </p:nvCxnSpPr>
          <p:spPr bwMode="auto">
            <a:xfrm flipH="1">
              <a:off x="7283335" y="2579933"/>
              <a:ext cx="679034" cy="62932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4" name="Line 1091">
              <a:extLst>
                <a:ext uri="{FF2B5EF4-FFF2-40B4-BE49-F238E27FC236}">
                  <a16:creationId xmlns:a16="http://schemas.microsoft.com/office/drawing/2014/main" id="{977DF976-4974-4F93-B4B4-EA6F884957BF}"/>
                </a:ext>
              </a:extLst>
            </p:cNvPr>
            <p:cNvCxnSpPr>
              <a:cxnSpLocks noChangeShapeType="1"/>
              <a:stCxn id="17" idx="4"/>
              <a:endCxn id="16" idx="0"/>
            </p:cNvCxnSpPr>
            <p:nvPr/>
          </p:nvCxnSpPr>
          <p:spPr bwMode="auto">
            <a:xfrm>
              <a:off x="7978467" y="1851574"/>
              <a:ext cx="16231" cy="64974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5" name="Line 1091">
              <a:extLst>
                <a:ext uri="{FF2B5EF4-FFF2-40B4-BE49-F238E27FC236}">
                  <a16:creationId xmlns:a16="http://schemas.microsoft.com/office/drawing/2014/main" id="{22CBAB14-87B3-4CB6-9A57-44ED82B41273}"/>
                </a:ext>
              </a:extLst>
            </p:cNvPr>
            <p:cNvCxnSpPr>
              <a:cxnSpLocks noChangeShapeType="1"/>
              <a:stCxn id="10" idx="6"/>
              <a:endCxn id="12" idx="3"/>
            </p:cNvCxnSpPr>
            <p:nvPr/>
          </p:nvCxnSpPr>
          <p:spPr bwMode="auto">
            <a:xfrm flipV="1">
              <a:off x="8037578" y="3241816"/>
              <a:ext cx="677786" cy="6469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 name="Line 1091">
              <a:extLst>
                <a:ext uri="{FF2B5EF4-FFF2-40B4-BE49-F238E27FC236}">
                  <a16:creationId xmlns:a16="http://schemas.microsoft.com/office/drawing/2014/main" id="{6496F151-142F-4000-9007-718117DDF8A1}"/>
                </a:ext>
              </a:extLst>
            </p:cNvPr>
            <p:cNvCxnSpPr>
              <a:cxnSpLocks noChangeShapeType="1"/>
              <a:stCxn id="15" idx="4"/>
              <a:endCxn id="10" idx="0"/>
            </p:cNvCxnSpPr>
            <p:nvPr/>
          </p:nvCxnSpPr>
          <p:spPr bwMode="auto">
            <a:xfrm flipH="1">
              <a:off x="7991858" y="3255303"/>
              <a:ext cx="796" cy="5873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7" name="Line 1091">
              <a:extLst>
                <a:ext uri="{FF2B5EF4-FFF2-40B4-BE49-F238E27FC236}">
                  <a16:creationId xmlns:a16="http://schemas.microsoft.com/office/drawing/2014/main" id="{8B5CD08B-3D04-4335-B335-E0E1C96CF3FE}"/>
                </a:ext>
              </a:extLst>
            </p:cNvPr>
            <p:cNvCxnSpPr>
              <a:cxnSpLocks noChangeShapeType="1"/>
              <a:stCxn id="11" idx="5"/>
              <a:endCxn id="10" idx="2"/>
            </p:cNvCxnSpPr>
            <p:nvPr/>
          </p:nvCxnSpPr>
          <p:spPr bwMode="auto">
            <a:xfrm>
              <a:off x="7269944" y="3241816"/>
              <a:ext cx="676194" cy="6469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8" name="Line 1091">
              <a:extLst>
                <a:ext uri="{FF2B5EF4-FFF2-40B4-BE49-F238E27FC236}">
                  <a16:creationId xmlns:a16="http://schemas.microsoft.com/office/drawing/2014/main" id="{4A49DADC-B0AF-4F0D-8555-CF98E50B6647}"/>
                </a:ext>
              </a:extLst>
            </p:cNvPr>
            <p:cNvCxnSpPr>
              <a:cxnSpLocks noChangeShapeType="1"/>
              <a:stCxn id="13" idx="5"/>
              <a:endCxn id="15" idx="1"/>
            </p:cNvCxnSpPr>
            <p:nvPr/>
          </p:nvCxnSpPr>
          <p:spPr bwMode="auto">
            <a:xfrm>
              <a:off x="7269944" y="2568895"/>
              <a:ext cx="690381" cy="6077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9" name="Line 1091">
              <a:extLst>
                <a:ext uri="{FF2B5EF4-FFF2-40B4-BE49-F238E27FC236}">
                  <a16:creationId xmlns:a16="http://schemas.microsoft.com/office/drawing/2014/main" id="{2DCFD0E6-7CFD-4983-BAF4-79083305782F}"/>
                </a:ext>
              </a:extLst>
            </p:cNvPr>
            <p:cNvCxnSpPr>
              <a:cxnSpLocks noChangeShapeType="1"/>
              <a:stCxn id="15" idx="7"/>
              <a:endCxn id="14" idx="3"/>
            </p:cNvCxnSpPr>
            <p:nvPr/>
          </p:nvCxnSpPr>
          <p:spPr bwMode="auto">
            <a:xfrm flipV="1">
              <a:off x="8024983" y="2563801"/>
              <a:ext cx="690381" cy="61289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0" name="文本框 69">
                  <a:extLst>
                    <a:ext uri="{FF2B5EF4-FFF2-40B4-BE49-F238E27FC236}">
                      <a16:creationId xmlns:a16="http://schemas.microsoft.com/office/drawing/2014/main" id="{2D185B7F-69F4-4B3C-9ECC-E1EEE8895DC0}"/>
                    </a:ext>
                  </a:extLst>
                </p:cNvPr>
                <p:cNvSpPr txBox="1"/>
                <p:nvPr/>
              </p:nvSpPr>
              <p:spPr>
                <a:xfrm>
                  <a:off x="6940951" y="3044841"/>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28" name="文本框 69">
                  <a:extLst>
                    <a:ext uri="{FF2B5EF4-FFF2-40B4-BE49-F238E27FC236}">
                      <a16:creationId xmlns:a16="http://schemas.microsoft.com/office/drawing/2014/main" id="{12EC9964-8768-4BA5-9F3E-80A467CE2139}"/>
                    </a:ext>
                  </a:extLst>
                </p:cNvPr>
                <p:cNvSpPr txBox="1">
                  <a:spLocks noRot="1" noChangeAspect="1" noMove="1" noResize="1" noEditPoints="1" noAdjustHandles="1" noChangeArrowheads="1" noChangeShapeType="1" noTextEdit="1"/>
                </p:cNvSpPr>
                <p:nvPr/>
              </p:nvSpPr>
              <p:spPr>
                <a:xfrm>
                  <a:off x="6940951" y="3044841"/>
                  <a:ext cx="234779" cy="302301"/>
                </a:xfrm>
                <a:prstGeom prst="rect">
                  <a:avLst/>
                </a:prstGeom>
                <a:blipFill>
                  <a:blip r:embed="rId8"/>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69">
                  <a:extLst>
                    <a:ext uri="{FF2B5EF4-FFF2-40B4-BE49-F238E27FC236}">
                      <a16:creationId xmlns:a16="http://schemas.microsoft.com/office/drawing/2014/main" id="{0F59BD15-CEC8-4577-B64D-F2E324E19B0C}"/>
                    </a:ext>
                  </a:extLst>
                </p:cNvPr>
                <p:cNvSpPr txBox="1"/>
                <p:nvPr/>
              </p:nvSpPr>
              <p:spPr>
                <a:xfrm>
                  <a:off x="8005712" y="3776457"/>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29" name="文本框 69">
                  <a:extLst>
                    <a:ext uri="{FF2B5EF4-FFF2-40B4-BE49-F238E27FC236}">
                      <a16:creationId xmlns:a16="http://schemas.microsoft.com/office/drawing/2014/main" id="{44CF9E05-4E1C-472F-8433-F15C07BB2BC0}"/>
                    </a:ext>
                  </a:extLst>
                </p:cNvPr>
                <p:cNvSpPr txBox="1">
                  <a:spLocks noRot="1" noChangeAspect="1" noMove="1" noResize="1" noEditPoints="1" noAdjustHandles="1" noChangeArrowheads="1" noChangeShapeType="1" noTextEdit="1"/>
                </p:cNvSpPr>
                <p:nvPr/>
              </p:nvSpPr>
              <p:spPr>
                <a:xfrm>
                  <a:off x="8005712" y="3776457"/>
                  <a:ext cx="234779" cy="302301"/>
                </a:xfrm>
                <a:prstGeom prst="rect">
                  <a:avLst/>
                </a:prstGeom>
                <a:blipFill>
                  <a:blip r:embed="rId9"/>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69">
                  <a:extLst>
                    <a:ext uri="{FF2B5EF4-FFF2-40B4-BE49-F238E27FC236}">
                      <a16:creationId xmlns:a16="http://schemas.microsoft.com/office/drawing/2014/main" id="{50E35D8D-D6B2-41D3-A419-1ABD1F7577EF}"/>
                    </a:ext>
                  </a:extLst>
                </p:cNvPr>
                <p:cNvSpPr txBox="1"/>
                <p:nvPr/>
              </p:nvSpPr>
              <p:spPr>
                <a:xfrm>
                  <a:off x="7978004" y="3076616"/>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30" name="文本框 69">
                  <a:extLst>
                    <a:ext uri="{FF2B5EF4-FFF2-40B4-BE49-F238E27FC236}">
                      <a16:creationId xmlns:a16="http://schemas.microsoft.com/office/drawing/2014/main" id="{9139267B-068C-4C6E-90E9-BC53B5F14AD9}"/>
                    </a:ext>
                  </a:extLst>
                </p:cNvPr>
                <p:cNvSpPr txBox="1">
                  <a:spLocks noRot="1" noChangeAspect="1" noMove="1" noResize="1" noEditPoints="1" noAdjustHandles="1" noChangeArrowheads="1" noChangeShapeType="1" noTextEdit="1"/>
                </p:cNvSpPr>
                <p:nvPr/>
              </p:nvSpPr>
              <p:spPr>
                <a:xfrm>
                  <a:off x="7978004" y="3076616"/>
                  <a:ext cx="234779" cy="302301"/>
                </a:xfrm>
                <a:prstGeom prst="rect">
                  <a:avLst/>
                </a:prstGeom>
                <a:blipFill>
                  <a:blip r:embed="rId10"/>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69">
                  <a:extLst>
                    <a:ext uri="{FF2B5EF4-FFF2-40B4-BE49-F238E27FC236}">
                      <a16:creationId xmlns:a16="http://schemas.microsoft.com/office/drawing/2014/main" id="{5F300F3F-EC83-40F3-8A19-EA06B480BBB1}"/>
                    </a:ext>
                  </a:extLst>
                </p:cNvPr>
                <p:cNvSpPr txBox="1"/>
                <p:nvPr/>
              </p:nvSpPr>
              <p:spPr>
                <a:xfrm>
                  <a:off x="8752529" y="3024588"/>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31" name="文本框 69">
                  <a:extLst>
                    <a:ext uri="{FF2B5EF4-FFF2-40B4-BE49-F238E27FC236}">
                      <a16:creationId xmlns:a16="http://schemas.microsoft.com/office/drawing/2014/main" id="{91B23F75-D6CF-4E38-891C-C46711CBF9CF}"/>
                    </a:ext>
                  </a:extLst>
                </p:cNvPr>
                <p:cNvSpPr txBox="1">
                  <a:spLocks noRot="1" noChangeAspect="1" noMove="1" noResize="1" noEditPoints="1" noAdjustHandles="1" noChangeArrowheads="1" noChangeShapeType="1" noTextEdit="1"/>
                </p:cNvSpPr>
                <p:nvPr/>
              </p:nvSpPr>
              <p:spPr>
                <a:xfrm>
                  <a:off x="8752529" y="3024588"/>
                  <a:ext cx="234779" cy="302301"/>
                </a:xfrm>
                <a:prstGeom prst="rect">
                  <a:avLst/>
                </a:prstGeom>
                <a:blipFill>
                  <a:blip r:embed="rId11"/>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69">
                  <a:extLst>
                    <a:ext uri="{FF2B5EF4-FFF2-40B4-BE49-F238E27FC236}">
                      <a16:creationId xmlns:a16="http://schemas.microsoft.com/office/drawing/2014/main" id="{08DC39CA-F218-4065-A5BC-9AB4610D83E5}"/>
                    </a:ext>
                  </a:extLst>
                </p:cNvPr>
                <p:cNvSpPr txBox="1"/>
                <p:nvPr/>
              </p:nvSpPr>
              <p:spPr>
                <a:xfrm>
                  <a:off x="6971648" y="2332669"/>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32" name="文本框 69">
                  <a:extLst>
                    <a:ext uri="{FF2B5EF4-FFF2-40B4-BE49-F238E27FC236}">
                      <a16:creationId xmlns:a16="http://schemas.microsoft.com/office/drawing/2014/main" id="{D63EF238-F570-402A-9E99-2D692C391D7D}"/>
                    </a:ext>
                  </a:extLst>
                </p:cNvPr>
                <p:cNvSpPr txBox="1">
                  <a:spLocks noRot="1" noChangeAspect="1" noMove="1" noResize="1" noEditPoints="1" noAdjustHandles="1" noChangeArrowheads="1" noChangeShapeType="1" noTextEdit="1"/>
                </p:cNvSpPr>
                <p:nvPr/>
              </p:nvSpPr>
              <p:spPr>
                <a:xfrm>
                  <a:off x="6971648" y="2332669"/>
                  <a:ext cx="234779" cy="302301"/>
                </a:xfrm>
                <a:prstGeom prst="rect">
                  <a:avLst/>
                </a:prstGeom>
                <a:blipFill>
                  <a:blip r:embed="rId12"/>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69">
                  <a:extLst>
                    <a:ext uri="{FF2B5EF4-FFF2-40B4-BE49-F238E27FC236}">
                      <a16:creationId xmlns:a16="http://schemas.microsoft.com/office/drawing/2014/main" id="{A8706FFA-2D4D-4C53-9FA3-9CE6C6ED4AE3}"/>
                    </a:ext>
                  </a:extLst>
                </p:cNvPr>
                <p:cNvSpPr txBox="1"/>
                <p:nvPr/>
              </p:nvSpPr>
              <p:spPr>
                <a:xfrm>
                  <a:off x="8002125" y="2247149"/>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𝒇</m:t>
                        </m:r>
                      </m:oMath>
                    </m:oMathPara>
                  </a14:m>
                  <a:endParaRPr lang="en-US" b="1" dirty="0">
                    <a:solidFill>
                      <a:srgbClr val="FF0000"/>
                    </a:solidFill>
                  </a:endParaRPr>
                </a:p>
              </p:txBody>
            </p:sp>
          </mc:Choice>
          <mc:Fallback xmlns="">
            <p:sp>
              <p:nvSpPr>
                <p:cNvPr id="33" name="文本框 69">
                  <a:extLst>
                    <a:ext uri="{FF2B5EF4-FFF2-40B4-BE49-F238E27FC236}">
                      <a16:creationId xmlns:a16="http://schemas.microsoft.com/office/drawing/2014/main" id="{C9261E9C-ED18-432C-91FD-B5434247D37C}"/>
                    </a:ext>
                  </a:extLst>
                </p:cNvPr>
                <p:cNvSpPr txBox="1">
                  <a:spLocks noRot="1" noChangeAspect="1" noMove="1" noResize="1" noEditPoints="1" noAdjustHandles="1" noChangeArrowheads="1" noChangeShapeType="1" noTextEdit="1"/>
                </p:cNvSpPr>
                <p:nvPr/>
              </p:nvSpPr>
              <p:spPr>
                <a:xfrm>
                  <a:off x="8002125" y="2247149"/>
                  <a:ext cx="234779" cy="302301"/>
                </a:xfrm>
                <a:prstGeom prst="rect">
                  <a:avLst/>
                </a:prstGeom>
                <a:blipFill>
                  <a:blip r:embed="rId13"/>
                  <a:stretch>
                    <a:fillRect l="-2778" r="-1389" b="-19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69">
                  <a:extLst>
                    <a:ext uri="{FF2B5EF4-FFF2-40B4-BE49-F238E27FC236}">
                      <a16:creationId xmlns:a16="http://schemas.microsoft.com/office/drawing/2014/main" id="{90BA183F-3318-457A-8173-0CF262A8A045}"/>
                    </a:ext>
                  </a:extLst>
                </p:cNvPr>
                <p:cNvSpPr txBox="1"/>
                <p:nvPr/>
              </p:nvSpPr>
              <p:spPr>
                <a:xfrm>
                  <a:off x="8747693" y="2345114"/>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𝒈</m:t>
                        </m:r>
                      </m:oMath>
                    </m:oMathPara>
                  </a14:m>
                  <a:endParaRPr lang="en-US" b="1" dirty="0">
                    <a:solidFill>
                      <a:srgbClr val="FF0000"/>
                    </a:solidFill>
                  </a:endParaRPr>
                </a:p>
              </p:txBody>
            </p:sp>
          </mc:Choice>
          <mc:Fallback xmlns="">
            <p:sp>
              <p:nvSpPr>
                <p:cNvPr id="34" name="文本框 69">
                  <a:extLst>
                    <a:ext uri="{FF2B5EF4-FFF2-40B4-BE49-F238E27FC236}">
                      <a16:creationId xmlns:a16="http://schemas.microsoft.com/office/drawing/2014/main" id="{B59211F9-5E48-4971-9EBE-FA36B09DCECE}"/>
                    </a:ext>
                  </a:extLst>
                </p:cNvPr>
                <p:cNvSpPr txBox="1">
                  <a:spLocks noRot="1" noChangeAspect="1" noMove="1" noResize="1" noEditPoints="1" noAdjustHandles="1" noChangeArrowheads="1" noChangeShapeType="1" noTextEdit="1"/>
                </p:cNvSpPr>
                <p:nvPr/>
              </p:nvSpPr>
              <p:spPr>
                <a:xfrm>
                  <a:off x="8747693" y="2345114"/>
                  <a:ext cx="234779" cy="302301"/>
                </a:xfrm>
                <a:prstGeom prst="rect">
                  <a:avLst/>
                </a:prstGeom>
                <a:blipFill>
                  <a:blip r:embed="rId14"/>
                  <a:stretch>
                    <a:fillRect b="-1466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69">
                  <a:extLst>
                    <a:ext uri="{FF2B5EF4-FFF2-40B4-BE49-F238E27FC236}">
                      <a16:creationId xmlns:a16="http://schemas.microsoft.com/office/drawing/2014/main" id="{EBD5DD3C-E8B9-41C7-BCB5-254CBFEB8F83}"/>
                    </a:ext>
                  </a:extLst>
                </p:cNvPr>
                <p:cNvSpPr txBox="1"/>
                <p:nvPr/>
              </p:nvSpPr>
              <p:spPr>
                <a:xfrm>
                  <a:off x="7986120" y="1578806"/>
                  <a:ext cx="234779" cy="302301"/>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𝒉</m:t>
                        </m:r>
                      </m:oMath>
                    </m:oMathPara>
                  </a14:m>
                  <a:endParaRPr lang="en-US" b="1" dirty="0">
                    <a:solidFill>
                      <a:srgbClr val="FF0000"/>
                    </a:solidFill>
                  </a:endParaRPr>
                </a:p>
              </p:txBody>
            </p:sp>
          </mc:Choice>
          <mc:Fallback xmlns="">
            <p:sp>
              <p:nvSpPr>
                <p:cNvPr id="35" name="文本框 69">
                  <a:extLst>
                    <a:ext uri="{FF2B5EF4-FFF2-40B4-BE49-F238E27FC236}">
                      <a16:creationId xmlns:a16="http://schemas.microsoft.com/office/drawing/2014/main" id="{4F834AC3-3A84-4511-8B4E-7CC855328914}"/>
                    </a:ext>
                  </a:extLst>
                </p:cNvPr>
                <p:cNvSpPr txBox="1">
                  <a:spLocks noRot="1" noChangeAspect="1" noMove="1" noResize="1" noEditPoints="1" noAdjustHandles="1" noChangeArrowheads="1" noChangeShapeType="1" noTextEdit="1"/>
                </p:cNvSpPr>
                <p:nvPr/>
              </p:nvSpPr>
              <p:spPr>
                <a:xfrm>
                  <a:off x="7986120" y="1578806"/>
                  <a:ext cx="234779" cy="302301"/>
                </a:xfrm>
                <a:prstGeom prst="rect">
                  <a:avLst/>
                </a:prstGeom>
                <a:blipFill>
                  <a:blip r:embed="rId15"/>
                  <a:stretch>
                    <a:fillRect/>
                  </a:stretch>
                </a:blipFill>
                <a:ln w="19050">
                  <a:noFill/>
                </a:ln>
              </p:spPr>
              <p:txBody>
                <a:bodyPr/>
                <a:lstStyle/>
                <a:p>
                  <a:r>
                    <a:rPr lang="zh-CN" altLang="en-US">
                      <a:noFill/>
                    </a:rPr>
                    <a:t> </a:t>
                  </a:r>
                </a:p>
              </p:txBody>
            </p:sp>
          </mc:Fallback>
        </mc:AlternateContent>
      </p:grpSp>
    </p:spTree>
    <p:custDataLst>
      <p:tags r:id="rId1"/>
    </p:custDataLst>
    <p:extLst>
      <p:ext uri="{BB962C8B-B14F-4D97-AF65-F5344CB8AC3E}">
        <p14:creationId xmlns:p14="http://schemas.microsoft.com/office/powerpoint/2010/main" val="3536418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build="p"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CD1-2428-4A5A-8788-29026EC5CEEC}"/>
              </a:ext>
            </a:extLst>
          </p:cNvPr>
          <p:cNvSpPr>
            <a:spLocks noGrp="1"/>
          </p:cNvSpPr>
          <p:nvPr>
            <p:ph type="title"/>
          </p:nvPr>
        </p:nvSpPr>
        <p:spPr/>
        <p:txBody>
          <a:bodyPr/>
          <a:lstStyle/>
          <a:p>
            <a:r>
              <a:rPr lang="zh-CN" altLang="en-US" dirty="0"/>
              <a:t>格同态</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89C0D9-BEEF-4849-947E-A16437BBF238}"/>
                  </a:ext>
                </a:extLst>
              </p:cNvPr>
              <p:cNvSpPr>
                <a:spLocks noGrp="1"/>
              </p:cNvSpPr>
              <p:nvPr>
                <p:ph idx="1"/>
              </p:nvPr>
            </p:nvSpPr>
            <p:spPr>
              <a:xfrm>
                <a:off x="612775" y="991394"/>
                <a:ext cx="9982200" cy="3657599"/>
              </a:xfrm>
            </p:spPr>
            <p:txBody>
              <a:bodyPr>
                <a:noAutofit/>
              </a:bodyPr>
              <a:lstStyle/>
              <a:p>
                <a:pPr marL="0" indent="0" algn="just">
                  <a:lnSpc>
                    <a:spcPct val="140000"/>
                  </a:lnSpc>
                  <a:spcBef>
                    <a:spcPts val="600"/>
                  </a:spcBef>
                  <a:buNone/>
                </a:pPr>
                <a:r>
                  <a:rPr lang="zh-CN" altLang="zh-CN" dirty="0">
                    <a:solidFill>
                      <a:srgbClr val="0000FF"/>
                    </a:solidFill>
                  </a:rPr>
                  <a:t>定义</a:t>
                </a:r>
                <a:r>
                  <a:rPr lang="en-US" altLang="zh-CN" dirty="0">
                    <a:solidFill>
                      <a:srgbClr val="0000FF"/>
                    </a:solidFill>
                  </a:rPr>
                  <a:t>10.6  </a:t>
                </a:r>
                <a:r>
                  <a:rPr lang="zh-CN" altLang="zh-CN" dirty="0"/>
                  <a:t>设</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𝑳</m:t>
                    </m:r>
                    <m:r>
                      <a:rPr lang="en-US" altLang="zh-CN" b="1" i="1" dirty="0" smtClean="0">
                        <a:latin typeface="Cambria Math" panose="02040503050406030204" pitchFamily="18" charset="0"/>
                      </a:rPr>
                      <m:t>, ∧, ∨&gt;</m:t>
                    </m:r>
                  </m:oMath>
                </a14:m>
                <a:r>
                  <a:rPr lang="zh-CN" altLang="zh-CN" dirty="0"/>
                  <a:t>和</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𝑺</m:t>
                    </m:r>
                    <m:r>
                      <a:rPr lang="en-US" altLang="zh-CN" b="1" i="1" dirty="0" smtClean="0">
                        <a:latin typeface="Cambria Math" panose="02040503050406030204" pitchFamily="18" charset="0"/>
                      </a:rPr>
                      <m:t>, ∗, ⨁&gt;</m:t>
                    </m:r>
                  </m:oMath>
                </a14:m>
                <a:r>
                  <a:rPr lang="zh-CN" altLang="zh-CN" dirty="0"/>
                  <a:t>是两个格，</a:t>
                </a:r>
                <a14:m>
                  <m:oMath xmlns:m="http://schemas.openxmlformats.org/officeDocument/2006/math">
                    <m:r>
                      <a:rPr lang="en-US" altLang="zh-CN" b="1" i="1" dirty="0" smtClean="0">
                        <a:latin typeface="Cambria Math" panose="02040503050406030204" pitchFamily="18" charset="0"/>
                      </a:rPr>
                      <m:t>𝒇</m:t>
                    </m:r>
                  </m:oMath>
                </a14:m>
                <a:r>
                  <a:rPr lang="zh-CN" altLang="zh-CN" dirty="0"/>
                  <a:t>是</a:t>
                </a:r>
                <a14:m>
                  <m:oMath xmlns:m="http://schemas.openxmlformats.org/officeDocument/2006/math">
                    <m:r>
                      <a:rPr lang="en-US" altLang="zh-CN" b="1" i="1" dirty="0" smtClean="0">
                        <a:latin typeface="Cambria Math" panose="02040503050406030204" pitchFamily="18" charset="0"/>
                      </a:rPr>
                      <m:t>𝑳</m:t>
                    </m:r>
                  </m:oMath>
                </a14:m>
                <a:r>
                  <a:rPr lang="zh-CN" altLang="zh-CN" dirty="0"/>
                  <a:t>到</a:t>
                </a:r>
                <a14:m>
                  <m:oMath xmlns:m="http://schemas.openxmlformats.org/officeDocument/2006/math">
                    <m:r>
                      <a:rPr lang="en-US" altLang="zh-CN" b="1" i="1" dirty="0" smtClean="0">
                        <a:latin typeface="Cambria Math" panose="02040503050406030204" pitchFamily="18" charset="0"/>
                      </a:rPr>
                      <m:t>𝑺</m:t>
                    </m:r>
                  </m:oMath>
                </a14:m>
                <a:r>
                  <a:rPr lang="zh-CN" altLang="zh-CN" dirty="0"/>
                  <a:t>的映射。如果对任意</a:t>
                </a:r>
                <a14:m>
                  <m:oMath xmlns:m="http://schemas.openxmlformats.org/officeDocument/2006/math">
                    <m:r>
                      <a:rPr lang="en-US" altLang="zh-CN" b="1" i="1" dirty="0" smtClean="0">
                        <a:latin typeface="Cambria Math" panose="02040503050406030204" pitchFamily="18" charset="0"/>
                      </a:rPr>
                      <m:t>𝒙</m:t>
                    </m:r>
                    <m:r>
                      <a:rPr lang="en-US" altLang="zh-CN" b="1" i="1" dirty="0" smtClean="0">
                        <a:latin typeface="Cambria Math" panose="02040503050406030204" pitchFamily="18" charset="0"/>
                      </a:rPr>
                      <m:t>, </m:t>
                    </m:r>
                    <m:r>
                      <a:rPr lang="en-US" altLang="zh-CN" b="1" i="1" dirty="0" err="1">
                        <a:latin typeface="Cambria Math" panose="02040503050406030204" pitchFamily="18" charset="0"/>
                      </a:rPr>
                      <m:t>𝒚</m:t>
                    </m:r>
                    <m:r>
                      <a:rPr lang="en-US" altLang="zh-CN" b="1" i="1" dirty="0" err="1">
                        <a:latin typeface="Cambria Math" panose="02040503050406030204" pitchFamily="18" charset="0"/>
                      </a:rPr>
                      <m:t>∈</m:t>
                    </m:r>
                    <m:r>
                      <a:rPr lang="en-US" altLang="zh-CN" b="1" i="1" dirty="0" err="1">
                        <a:latin typeface="Cambria Math" panose="02040503050406030204" pitchFamily="18" charset="0"/>
                      </a:rPr>
                      <m:t>𝑳</m:t>
                    </m:r>
                  </m:oMath>
                </a14:m>
                <a:r>
                  <a:rPr lang="zh-CN" altLang="zh-CN" dirty="0"/>
                  <a:t>，都有</a:t>
                </a:r>
              </a:p>
              <a:p>
                <a:pPr marL="0" indent="0" algn="ctr">
                  <a:lnSpc>
                    <a:spcPct val="140000"/>
                  </a:lnSpc>
                  <a:spcBef>
                    <a:spcPts val="600"/>
                  </a:spcBef>
                  <a:buNone/>
                </a:pP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rPr>
                        <m:t>𝒇</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𝒙</m:t>
                      </m:r>
                      <m:r>
                        <a:rPr lang="zh-CN" altLang="zh-CN" b="1" i="1" dirty="0">
                          <a:latin typeface="Cambria Math" panose="02040503050406030204" pitchFamily="18" charset="0"/>
                        </a:rPr>
                        <m:t>∧</m:t>
                      </m:r>
                      <m:r>
                        <a:rPr lang="en-US" altLang="zh-CN" b="1" i="1" dirty="0">
                          <a:latin typeface="Cambria Math" panose="02040503050406030204" pitchFamily="18" charset="0"/>
                        </a:rPr>
                        <m:t>𝒚</m:t>
                      </m:r>
                      <m:r>
                        <a:rPr lang="en-US" altLang="zh-CN" b="1" i="1" dirty="0">
                          <a:latin typeface="Cambria Math" panose="02040503050406030204" pitchFamily="18" charset="0"/>
                        </a:rPr>
                        <m:t>) = </m:t>
                      </m:r>
                      <m:r>
                        <a:rPr lang="en-US" altLang="zh-CN" b="1" i="1" dirty="0">
                          <a:latin typeface="Cambria Math" panose="02040503050406030204" pitchFamily="18" charset="0"/>
                        </a:rPr>
                        <m:t>𝒇</m:t>
                      </m:r>
                      <m:r>
                        <a:rPr lang="en-US" altLang="zh-CN" b="1" i="1" dirty="0">
                          <a:latin typeface="Cambria Math" panose="02040503050406030204" pitchFamily="18" charset="0"/>
                        </a:rPr>
                        <m:t>(</m:t>
                      </m:r>
                      <m:r>
                        <a:rPr lang="en-US" altLang="zh-CN" b="1" i="1" dirty="0">
                          <a:latin typeface="Cambria Math" panose="02040503050406030204" pitchFamily="18" charset="0"/>
                        </a:rPr>
                        <m:t>𝒙</m:t>
                      </m:r>
                      <m:r>
                        <a:rPr lang="en-US" altLang="zh-CN" b="1" i="1" dirty="0">
                          <a:latin typeface="Cambria Math" panose="02040503050406030204" pitchFamily="18" charset="0"/>
                        </a:rPr>
                        <m:t>)∗ </m:t>
                      </m:r>
                      <m:r>
                        <a:rPr lang="en-US" altLang="zh-CN" b="1" i="1" dirty="0">
                          <a:latin typeface="Cambria Math" panose="02040503050406030204" pitchFamily="18" charset="0"/>
                        </a:rPr>
                        <m:t>𝒇</m:t>
                      </m:r>
                      <m:r>
                        <a:rPr lang="en-US" altLang="zh-CN" b="1" i="1" dirty="0">
                          <a:latin typeface="Cambria Math" panose="02040503050406030204" pitchFamily="18" charset="0"/>
                        </a:rPr>
                        <m:t>(</m:t>
                      </m:r>
                      <m:r>
                        <a:rPr lang="en-US" altLang="zh-CN" b="1" i="1" dirty="0">
                          <a:latin typeface="Cambria Math" panose="02040503050406030204" pitchFamily="18" charset="0"/>
                        </a:rPr>
                        <m:t>𝒚</m:t>
                      </m:r>
                      <m:r>
                        <a:rPr lang="en-US" altLang="zh-CN" b="1" i="1" dirty="0">
                          <a:latin typeface="Cambria Math" panose="02040503050406030204" pitchFamily="18" charset="0"/>
                        </a:rPr>
                        <m:t>)</m:t>
                      </m:r>
                      <m:r>
                        <a:rPr lang="zh-CN" altLang="zh-CN" b="1" i="1" dirty="0">
                          <a:latin typeface="Cambria Math" panose="02040503050406030204" pitchFamily="18" charset="0"/>
                        </a:rPr>
                        <m:t>，</m:t>
                      </m:r>
                      <m:r>
                        <a:rPr lang="en-US" altLang="zh-CN" b="1" i="1" dirty="0">
                          <a:latin typeface="Cambria Math" panose="02040503050406030204" pitchFamily="18" charset="0"/>
                        </a:rPr>
                        <m:t>𝒇</m:t>
                      </m:r>
                      <m:r>
                        <a:rPr lang="en-US" altLang="zh-CN" b="1" i="1" dirty="0">
                          <a:latin typeface="Cambria Math" panose="02040503050406030204" pitchFamily="18" charset="0"/>
                        </a:rPr>
                        <m:t>(</m:t>
                      </m:r>
                      <m:r>
                        <a:rPr lang="en-US" altLang="zh-CN" b="1" i="1" dirty="0">
                          <a:latin typeface="Cambria Math" panose="02040503050406030204" pitchFamily="18" charset="0"/>
                        </a:rPr>
                        <m:t>𝒙</m:t>
                      </m:r>
                      <m:r>
                        <a:rPr lang="zh-CN" altLang="zh-CN" b="1" i="1" dirty="0">
                          <a:latin typeface="Cambria Math" panose="02040503050406030204" pitchFamily="18" charset="0"/>
                        </a:rPr>
                        <m:t>∨</m:t>
                      </m:r>
                      <m:r>
                        <a:rPr lang="en-US" altLang="zh-CN" b="1" i="1" dirty="0">
                          <a:latin typeface="Cambria Math" panose="02040503050406030204" pitchFamily="18" charset="0"/>
                        </a:rPr>
                        <m:t>𝒚</m:t>
                      </m:r>
                      <m:r>
                        <a:rPr lang="en-US" altLang="zh-CN" b="1" i="1" dirty="0">
                          <a:latin typeface="Cambria Math" panose="02040503050406030204" pitchFamily="18" charset="0"/>
                        </a:rPr>
                        <m:t>) = </m:t>
                      </m:r>
                      <m:r>
                        <a:rPr lang="en-US" altLang="zh-CN" b="1" i="1" dirty="0">
                          <a:latin typeface="Cambria Math" panose="02040503050406030204" pitchFamily="18" charset="0"/>
                        </a:rPr>
                        <m:t>𝒇</m:t>
                      </m:r>
                      <m:r>
                        <a:rPr lang="en-US" altLang="zh-CN" b="1" i="1" dirty="0">
                          <a:latin typeface="Cambria Math" panose="02040503050406030204" pitchFamily="18" charset="0"/>
                        </a:rPr>
                        <m:t>(</m:t>
                      </m:r>
                      <m:r>
                        <a:rPr lang="en-US" altLang="zh-CN" b="1" i="1" dirty="0">
                          <a:latin typeface="Cambria Math" panose="02040503050406030204" pitchFamily="18" charset="0"/>
                        </a:rPr>
                        <m:t>𝒙</m:t>
                      </m:r>
                      <m:r>
                        <a:rPr lang="en-US" altLang="zh-CN" b="1" i="1" dirty="0">
                          <a:latin typeface="Cambria Math" panose="02040503050406030204" pitchFamily="18" charset="0"/>
                        </a:rPr>
                        <m:t>)</m:t>
                      </m:r>
                      <m:r>
                        <a:rPr lang="en-US" altLang="zh-CN" i="1" dirty="0">
                          <a:latin typeface="Cambria Math" panose="02040503050406030204" pitchFamily="18" charset="0"/>
                          <a:ea typeface="Cambria Math" panose="02040503050406030204" pitchFamily="18" charset="0"/>
                          <a:sym typeface="Symbol" panose="05050102010706020507" pitchFamily="18" charset="2"/>
                        </a:rPr>
                        <m:t>⨁</m:t>
                      </m:r>
                      <m:r>
                        <a:rPr lang="en-US" altLang="zh-CN" b="1" i="1" dirty="0">
                          <a:latin typeface="Cambria Math" panose="02040503050406030204" pitchFamily="18" charset="0"/>
                        </a:rPr>
                        <m:t>𝒇</m:t>
                      </m:r>
                      <m:r>
                        <a:rPr lang="en-US" altLang="zh-CN" b="1" i="1" dirty="0">
                          <a:latin typeface="Cambria Math" panose="02040503050406030204" pitchFamily="18" charset="0"/>
                        </a:rPr>
                        <m:t>(</m:t>
                      </m:r>
                      <m:r>
                        <a:rPr lang="en-US" altLang="zh-CN" b="1" i="1" dirty="0">
                          <a:latin typeface="Cambria Math" panose="02040503050406030204" pitchFamily="18" charset="0"/>
                        </a:rPr>
                        <m:t>𝒚</m:t>
                      </m:r>
                      <m:r>
                        <a:rPr lang="en-US" altLang="zh-CN" b="1" i="1" dirty="0">
                          <a:latin typeface="Cambria Math" panose="02040503050406030204" pitchFamily="18" charset="0"/>
                        </a:rPr>
                        <m:t>)</m:t>
                      </m:r>
                    </m:oMath>
                  </m:oMathPara>
                </a14:m>
                <a:endParaRPr lang="zh-CN" altLang="zh-CN" dirty="0"/>
              </a:p>
              <a:p>
                <a:pPr marL="0" indent="0" algn="just">
                  <a:lnSpc>
                    <a:spcPct val="140000"/>
                  </a:lnSpc>
                  <a:spcBef>
                    <a:spcPts val="600"/>
                  </a:spcBef>
                  <a:buNone/>
                </a:pPr>
                <a:r>
                  <a:rPr lang="zh-CN" altLang="zh-CN" dirty="0"/>
                  <a:t>则称</a:t>
                </a:r>
                <a14:m>
                  <m:oMath xmlns:m="http://schemas.openxmlformats.org/officeDocument/2006/math">
                    <m:r>
                      <a:rPr lang="en-US" altLang="zh-CN" b="1" i="1" dirty="0" smtClean="0">
                        <a:latin typeface="Cambria Math" panose="02040503050406030204" pitchFamily="18" charset="0"/>
                      </a:rPr>
                      <m:t>𝒇</m:t>
                    </m:r>
                  </m:oMath>
                </a14:m>
                <a:r>
                  <a:rPr lang="zh-CN" altLang="zh-CN" dirty="0"/>
                  <a:t>为从格</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𝑳</m:t>
                    </m:r>
                    <m:r>
                      <a:rPr lang="en-US" altLang="zh-CN" b="1" i="1" dirty="0" smtClean="0">
                        <a:latin typeface="Cambria Math" panose="02040503050406030204" pitchFamily="18" charset="0"/>
                      </a:rPr>
                      <m:t>, ∧, ∨&gt;</m:t>
                    </m:r>
                  </m:oMath>
                </a14:m>
                <a:r>
                  <a:rPr lang="zh-CN" altLang="zh-CN" dirty="0"/>
                  <a:t>到格</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𝑺</m:t>
                    </m:r>
                    <m:r>
                      <a:rPr lang="en-US" altLang="zh-CN" b="1" i="1" dirty="0" smtClean="0">
                        <a:latin typeface="Cambria Math" panose="02040503050406030204" pitchFamily="18" charset="0"/>
                      </a:rPr>
                      <m:t>, ∗,</m:t>
                    </m:r>
                    <m:r>
                      <a:rPr lang="en-US" altLang="zh-CN" i="1" dirty="0">
                        <a:latin typeface="Cambria Math" panose="02040503050406030204" pitchFamily="18" charset="0"/>
                        <a:ea typeface="Cambria Math" panose="02040503050406030204" pitchFamily="18" charset="0"/>
                        <a:sym typeface="Symbol" panose="05050102010706020507" pitchFamily="18" charset="2"/>
                      </a:rPr>
                      <m:t>⨁</m:t>
                    </m:r>
                    <m:r>
                      <a:rPr lang="en-US" altLang="zh-CN" b="1" i="1" dirty="0">
                        <a:latin typeface="Cambria Math" panose="02040503050406030204" pitchFamily="18" charset="0"/>
                      </a:rPr>
                      <m:t>&gt;</m:t>
                    </m:r>
                  </m:oMath>
                </a14:m>
                <a:r>
                  <a:rPr lang="zh-CN" altLang="zh-CN" dirty="0"/>
                  <a:t>的</a:t>
                </a:r>
                <a:r>
                  <a:rPr lang="zh-CN" altLang="zh-CN" dirty="0">
                    <a:solidFill>
                      <a:srgbClr val="FF0000"/>
                    </a:solidFill>
                  </a:rPr>
                  <a:t>格同态映射</a:t>
                </a:r>
                <a:r>
                  <a:rPr lang="zh-CN" altLang="zh-CN" dirty="0"/>
                  <a:t>，简称</a:t>
                </a:r>
                <a:r>
                  <a:rPr lang="zh-CN" altLang="zh-CN" dirty="0">
                    <a:solidFill>
                      <a:srgbClr val="FF0000"/>
                    </a:solidFill>
                  </a:rPr>
                  <a:t>格同态</a:t>
                </a:r>
                <a:r>
                  <a:rPr lang="zh-CN" altLang="zh-CN" dirty="0"/>
                  <a:t>。</a:t>
                </a:r>
                <a:endParaRPr lang="en-US" altLang="zh-CN" dirty="0"/>
              </a:p>
              <a:p>
                <a:pPr marL="0" indent="0" algn="just">
                  <a:lnSpc>
                    <a:spcPct val="140000"/>
                  </a:lnSpc>
                  <a:spcBef>
                    <a:spcPts val="600"/>
                  </a:spcBef>
                  <a:buNone/>
                </a:pPr>
                <a:r>
                  <a:rPr lang="zh-CN" altLang="zh-CN" dirty="0"/>
                  <a:t>如果</a:t>
                </a:r>
                <a14:m>
                  <m:oMath xmlns:m="http://schemas.openxmlformats.org/officeDocument/2006/math">
                    <m:r>
                      <a:rPr lang="en-US" altLang="zh-CN" b="1" i="1" dirty="0" smtClean="0">
                        <a:latin typeface="Cambria Math" panose="02040503050406030204" pitchFamily="18" charset="0"/>
                      </a:rPr>
                      <m:t>𝒇</m:t>
                    </m:r>
                  </m:oMath>
                </a14:m>
                <a:r>
                  <a:rPr lang="zh-CN" altLang="zh-CN" dirty="0"/>
                  <a:t>是格同态，当</a:t>
                </a:r>
                <a14:m>
                  <m:oMath xmlns:m="http://schemas.openxmlformats.org/officeDocument/2006/math">
                    <m:r>
                      <a:rPr lang="en-US" altLang="zh-CN" b="1" i="1" dirty="0" smtClean="0">
                        <a:solidFill>
                          <a:srgbClr val="0000FF"/>
                        </a:solidFill>
                        <a:latin typeface="Cambria Math" panose="02040503050406030204" pitchFamily="18" charset="0"/>
                      </a:rPr>
                      <m:t>𝒇</m:t>
                    </m:r>
                  </m:oMath>
                </a14:m>
                <a:r>
                  <a:rPr lang="zh-CN" altLang="zh-CN" dirty="0">
                    <a:solidFill>
                      <a:srgbClr val="0000FF"/>
                    </a:solidFill>
                  </a:rPr>
                  <a:t>分别是单射、满射和双射</a:t>
                </a:r>
                <a:r>
                  <a:rPr lang="zh-CN" altLang="zh-CN" dirty="0"/>
                  <a:t>时，</a:t>
                </a:r>
                <a14:m>
                  <m:oMath xmlns:m="http://schemas.openxmlformats.org/officeDocument/2006/math">
                    <m:r>
                      <a:rPr lang="en-US" altLang="zh-CN" b="1" i="1" dirty="0" smtClean="0">
                        <a:latin typeface="Cambria Math" panose="02040503050406030204" pitchFamily="18" charset="0"/>
                      </a:rPr>
                      <m:t>𝒇</m:t>
                    </m:r>
                  </m:oMath>
                </a14:m>
                <a:r>
                  <a:rPr lang="zh-CN" altLang="zh-CN" dirty="0"/>
                  <a:t>分别称为</a:t>
                </a:r>
                <a:r>
                  <a:rPr lang="zh-CN" altLang="zh-CN" dirty="0">
                    <a:solidFill>
                      <a:srgbClr val="FF0000"/>
                    </a:solidFill>
                  </a:rPr>
                  <a:t>单一格同态、满格同态和格同构</a:t>
                </a:r>
                <a:r>
                  <a:rPr lang="zh-CN" altLang="zh-CN" dirty="0"/>
                  <a:t>。</a:t>
                </a:r>
              </a:p>
            </p:txBody>
          </p:sp>
        </mc:Choice>
        <mc:Fallback xmlns="">
          <p:sp>
            <p:nvSpPr>
              <p:cNvPr id="3" name="Content Placeholder 2">
                <a:extLst>
                  <a:ext uri="{FF2B5EF4-FFF2-40B4-BE49-F238E27FC236}">
                    <a16:creationId xmlns:a16="http://schemas.microsoft.com/office/drawing/2014/main" id="{1289C0D9-BEEF-4849-947E-A16437BBF238}"/>
                  </a:ext>
                </a:extLst>
              </p:cNvPr>
              <p:cNvSpPr>
                <a:spLocks noGrp="1" noRot="1" noChangeAspect="1" noMove="1" noResize="1" noEditPoints="1" noAdjustHandles="1" noChangeArrowheads="1" noChangeShapeType="1" noTextEdit="1"/>
              </p:cNvSpPr>
              <p:nvPr>
                <p:ph idx="1"/>
              </p:nvPr>
            </p:nvSpPr>
            <p:spPr>
              <a:xfrm>
                <a:off x="612775" y="991394"/>
                <a:ext cx="9982200" cy="3657599"/>
              </a:xfrm>
              <a:blipFill>
                <a:blip r:embed="rId6"/>
                <a:stretch>
                  <a:fillRect l="-672" r="-372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69154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D0FB2-A036-4091-A90C-EBB35F684ACF}"/>
              </a:ext>
            </a:extLst>
          </p:cNvPr>
          <p:cNvSpPr>
            <a:spLocks noGrp="1"/>
          </p:cNvSpPr>
          <p:nvPr>
            <p:ph type="title"/>
          </p:nvPr>
        </p:nvSpPr>
        <p:spPr/>
        <p:txBody>
          <a:bodyPr/>
          <a:lstStyle/>
          <a:p>
            <a:r>
              <a:rPr lang="zh-CN" altLang="en-US" dirty="0"/>
              <a:t>格同态</a:t>
            </a: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1E9E14FF-BD64-46E0-9923-003AEFF3B782}"/>
                  </a:ext>
                </a:extLst>
              </p:cNvPr>
              <p:cNvSpPr>
                <a:spLocks noGrp="1"/>
              </p:cNvSpPr>
              <p:nvPr>
                <p:ph idx="1"/>
              </p:nvPr>
            </p:nvSpPr>
            <p:spPr>
              <a:xfrm>
                <a:off x="293687" y="1114286"/>
                <a:ext cx="11610975" cy="1199728"/>
              </a:xfrm>
            </p:spPr>
            <p:txBody>
              <a:bodyPr>
                <a:noAutofit/>
              </a:bodyPr>
              <a:lstStyle/>
              <a:p>
                <a:pPr marL="0" indent="0">
                  <a:buNone/>
                </a:pPr>
                <a:r>
                  <a:rPr lang="zh-CN" altLang="zh-CN" dirty="0">
                    <a:effectLst/>
                    <a:latin typeface="+mn-ea"/>
                    <a:cs typeface="Times New Roman" panose="02020603050405020304" pitchFamily="18" charset="0"/>
                  </a:rPr>
                  <a:t>具有一、二、三个元素的格分别同构于一、二、三个元素的链。四个元素的格必同构于</a:t>
                </a:r>
                <a:r>
                  <a:rPr lang="zh-CN" altLang="en-US" dirty="0">
                    <a:effectLst/>
                    <a:latin typeface="+mn-ea"/>
                    <a:cs typeface="Times New Roman" panose="02020603050405020304" pitchFamily="18" charset="0"/>
                  </a:rPr>
                  <a:t>下</a:t>
                </a:r>
                <a:r>
                  <a:rPr lang="zh-CN" altLang="zh-CN" dirty="0">
                    <a:effectLst/>
                    <a:latin typeface="+mn-ea"/>
                    <a:cs typeface="Times New Roman" panose="02020603050405020304" pitchFamily="18" charset="0"/>
                  </a:rPr>
                  <a:t>图中</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𝒂</m:t>
                    </m:r>
                    <m:r>
                      <a:rPr lang="en-US" altLang="zh-CN" b="1" i="1" dirty="0" smtClean="0">
                        <a:effectLst/>
                        <a:latin typeface="Cambria Math" panose="02040503050406030204" pitchFamily="18" charset="0"/>
                      </a:rPr>
                      <m:t>)</m:t>
                    </m:r>
                  </m:oMath>
                </a14:m>
                <a:r>
                  <a:rPr lang="zh-CN" altLang="zh-CN" dirty="0">
                    <a:effectLst/>
                    <a:latin typeface="+mn-ea"/>
                    <a:cs typeface="Times New Roman" panose="02020603050405020304" pitchFamily="18" charset="0"/>
                  </a:rPr>
                  <a:t>和</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𝒃</m:t>
                    </m:r>
                    <m:r>
                      <a:rPr lang="en-US" altLang="zh-CN" b="1" i="1" dirty="0" smtClean="0">
                        <a:effectLst/>
                        <a:latin typeface="Cambria Math" panose="02040503050406030204" pitchFamily="18" charset="0"/>
                      </a:rPr>
                      <m:t>)</m:t>
                    </m:r>
                  </m:oMath>
                </a14:m>
                <a:r>
                  <a:rPr lang="zh-CN" altLang="zh-CN" dirty="0">
                    <a:effectLst/>
                    <a:latin typeface="+mn-ea"/>
                    <a:cs typeface="Times New Roman" panose="02020603050405020304" pitchFamily="18" charset="0"/>
                  </a:rPr>
                  <a:t>之一，五个元素的格必同构于</a:t>
                </a:r>
                <a:r>
                  <a:rPr lang="zh-CN" altLang="en-US" dirty="0">
                    <a:effectLst/>
                    <a:latin typeface="+mn-ea"/>
                    <a:cs typeface="Times New Roman" panose="02020603050405020304" pitchFamily="18" charset="0"/>
                  </a:rPr>
                  <a:t>下</a:t>
                </a:r>
                <a:r>
                  <a:rPr lang="zh-CN" altLang="zh-CN" dirty="0">
                    <a:effectLst/>
                    <a:latin typeface="+mn-ea"/>
                    <a:cs typeface="Times New Roman" panose="02020603050405020304" pitchFamily="18" charset="0"/>
                  </a:rPr>
                  <a:t>图中</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𝒄</m:t>
                    </m:r>
                    <m:r>
                      <a:rPr lang="en-US" altLang="zh-CN" b="1" i="1" dirty="0" smtClean="0">
                        <a:effectLst/>
                        <a:latin typeface="Cambria Math" panose="02040503050406030204" pitchFamily="18" charset="0"/>
                      </a:rPr>
                      <m:t>)(</m:t>
                    </m:r>
                    <m:r>
                      <a:rPr lang="en-US" altLang="zh-CN" b="1" i="1" dirty="0">
                        <a:effectLst/>
                        <a:latin typeface="Cambria Math" panose="02040503050406030204" pitchFamily="18" charset="0"/>
                      </a:rPr>
                      <m:t>𝒅</m:t>
                    </m:r>
                    <m:r>
                      <a:rPr lang="en-US" altLang="zh-CN" b="1" i="1" dirty="0" smtClean="0">
                        <a:effectLst/>
                        <a:latin typeface="Cambria Math" panose="02040503050406030204" pitchFamily="18" charset="0"/>
                      </a:rPr>
                      <m:t>)</m:t>
                    </m:r>
                    <m:r>
                      <a:rPr lang="en-US" altLang="zh-CN" b="1" i="1" dirty="0">
                        <a:effectLst/>
                        <a:latin typeface="Cambria Math" panose="02040503050406030204" pitchFamily="18" charset="0"/>
                      </a:rPr>
                      <m:t>(</m:t>
                    </m:r>
                    <m:r>
                      <a:rPr lang="en-US" altLang="zh-CN" b="1" i="1" dirty="0">
                        <a:effectLst/>
                        <a:latin typeface="Cambria Math" panose="02040503050406030204" pitchFamily="18" charset="0"/>
                      </a:rPr>
                      <m:t>𝒆</m:t>
                    </m:r>
                    <m:r>
                      <a:rPr lang="en-US" altLang="zh-CN" b="1" i="1" dirty="0">
                        <a:effectLst/>
                        <a:latin typeface="Cambria Math" panose="02040503050406030204" pitchFamily="18" charset="0"/>
                      </a:rPr>
                      <m:t>)(</m:t>
                    </m:r>
                    <m:r>
                      <a:rPr lang="en-US" altLang="zh-CN" b="1" i="1" dirty="0">
                        <a:effectLst/>
                        <a:latin typeface="Cambria Math" panose="02040503050406030204" pitchFamily="18" charset="0"/>
                      </a:rPr>
                      <m:t>𝒇</m:t>
                    </m:r>
                    <m:r>
                      <a:rPr lang="en-US" altLang="zh-CN" b="1" i="1" dirty="0">
                        <a:effectLst/>
                        <a:latin typeface="Cambria Math" panose="02040503050406030204" pitchFamily="18" charset="0"/>
                      </a:rPr>
                      <m:t>)</m:t>
                    </m:r>
                  </m:oMath>
                </a14:m>
                <a:r>
                  <a:rPr lang="zh-CN" altLang="zh-CN" dirty="0">
                    <a:effectLst/>
                    <a:latin typeface="+mn-ea"/>
                    <a:cs typeface="Times New Roman" panose="02020603050405020304" pitchFamily="18" charset="0"/>
                  </a:rPr>
                  <a:t>和</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𝒈</m:t>
                    </m:r>
                    <m:r>
                      <a:rPr lang="en-US" altLang="zh-CN" b="1" i="1" dirty="0" smtClean="0">
                        <a:effectLst/>
                        <a:latin typeface="Cambria Math" panose="02040503050406030204" pitchFamily="18" charset="0"/>
                      </a:rPr>
                      <m:t>)</m:t>
                    </m:r>
                  </m:oMath>
                </a14:m>
                <a:r>
                  <a:rPr lang="zh-CN" altLang="zh-CN" dirty="0">
                    <a:effectLst/>
                    <a:latin typeface="+mn-ea"/>
                    <a:cs typeface="Times New Roman" panose="02020603050405020304" pitchFamily="18" charset="0"/>
                  </a:rPr>
                  <a:t>之一。</a:t>
                </a:r>
                <a:endParaRPr lang="zh-CN" altLang="en-US" dirty="0">
                  <a:latin typeface="+mn-ea"/>
                </a:endParaRPr>
              </a:p>
            </p:txBody>
          </p:sp>
        </mc:Choice>
        <mc:Fallback xmlns="">
          <p:sp>
            <p:nvSpPr>
              <p:cNvPr id="5" name="内容占位符 4">
                <a:extLst>
                  <a:ext uri="{FF2B5EF4-FFF2-40B4-BE49-F238E27FC236}">
                    <a16:creationId xmlns:a16="http://schemas.microsoft.com/office/drawing/2014/main" id="{1E9E14FF-BD64-46E0-9923-003AEFF3B782}"/>
                  </a:ext>
                </a:extLst>
              </p:cNvPr>
              <p:cNvSpPr>
                <a:spLocks noGrp="1" noRot="1" noChangeAspect="1" noMove="1" noResize="1" noEditPoints="1" noAdjustHandles="1" noChangeArrowheads="1" noChangeShapeType="1" noTextEdit="1"/>
              </p:cNvSpPr>
              <p:nvPr>
                <p:ph idx="1"/>
              </p:nvPr>
            </p:nvSpPr>
            <p:spPr>
              <a:xfrm>
                <a:off x="293687" y="1114286"/>
                <a:ext cx="11610975" cy="1199728"/>
              </a:xfrm>
              <a:blipFill>
                <a:blip r:embed="rId4"/>
                <a:stretch>
                  <a:fillRect l="-525"/>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C8FCB462-FF6A-4C33-9397-6EF9F8C1011F}"/>
              </a:ext>
            </a:extLst>
          </p:cNvPr>
          <p:cNvGrpSpPr/>
          <p:nvPr/>
        </p:nvGrpSpPr>
        <p:grpSpPr>
          <a:xfrm>
            <a:off x="443689" y="2591594"/>
            <a:ext cx="11346622" cy="4110007"/>
            <a:chOff x="431925" y="1231347"/>
            <a:chExt cx="11346622" cy="4110007"/>
          </a:xfrm>
        </p:grpSpPr>
        <p:sp>
          <p:nvSpPr>
            <p:cNvPr id="7" name="Text Box 784">
              <a:extLst>
                <a:ext uri="{FF2B5EF4-FFF2-40B4-BE49-F238E27FC236}">
                  <a16:creationId xmlns:a16="http://schemas.microsoft.com/office/drawing/2014/main" id="{8A9F6F81-9EF7-400F-A8A3-516C886D13D6}"/>
                </a:ext>
              </a:extLst>
            </p:cNvPr>
            <p:cNvSpPr txBox="1">
              <a:spLocks noChangeArrowheads="1"/>
            </p:cNvSpPr>
            <p:nvPr/>
          </p:nvSpPr>
          <p:spPr bwMode="auto">
            <a:xfrm>
              <a:off x="3391810" y="4804533"/>
              <a:ext cx="542901" cy="291727"/>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8" name="Line 785">
              <a:extLst>
                <a:ext uri="{FF2B5EF4-FFF2-40B4-BE49-F238E27FC236}">
                  <a16:creationId xmlns:a16="http://schemas.microsoft.com/office/drawing/2014/main" id="{E9F5708D-5704-4EAC-8A9D-B7A4E9ED38D2}"/>
                </a:ext>
              </a:extLst>
            </p:cNvPr>
            <p:cNvCxnSpPr>
              <a:cxnSpLocks noChangeShapeType="1"/>
              <a:stCxn id="9" idx="4"/>
              <a:endCxn id="13" idx="0"/>
            </p:cNvCxnSpPr>
            <p:nvPr/>
          </p:nvCxnSpPr>
          <p:spPr bwMode="auto">
            <a:xfrm>
              <a:off x="3759247" y="1805547"/>
              <a:ext cx="0" cy="21548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9" name="Oval 786">
              <a:extLst>
                <a:ext uri="{FF2B5EF4-FFF2-40B4-BE49-F238E27FC236}">
                  <a16:creationId xmlns:a16="http://schemas.microsoft.com/office/drawing/2014/main" id="{13625CF2-086C-4FAB-946D-F7B84F92D547}"/>
                </a:ext>
              </a:extLst>
            </p:cNvPr>
            <p:cNvSpPr>
              <a:spLocks noChangeArrowheads="1"/>
            </p:cNvSpPr>
            <p:nvPr/>
          </p:nvSpPr>
          <p:spPr bwMode="auto">
            <a:xfrm>
              <a:off x="3705247" y="169742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0" name="Oval 787">
              <a:extLst>
                <a:ext uri="{FF2B5EF4-FFF2-40B4-BE49-F238E27FC236}">
                  <a16:creationId xmlns:a16="http://schemas.microsoft.com/office/drawing/2014/main" id="{8A941C69-97AC-432A-9744-4C4FFBAB1891}"/>
                </a:ext>
              </a:extLst>
            </p:cNvPr>
            <p:cNvSpPr>
              <a:spLocks noChangeArrowheads="1"/>
            </p:cNvSpPr>
            <p:nvPr/>
          </p:nvSpPr>
          <p:spPr bwMode="auto">
            <a:xfrm>
              <a:off x="3705247" y="2262698"/>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1" name="Oval 788">
              <a:extLst>
                <a:ext uri="{FF2B5EF4-FFF2-40B4-BE49-F238E27FC236}">
                  <a16:creationId xmlns:a16="http://schemas.microsoft.com/office/drawing/2014/main" id="{83B99FA8-39BC-45EB-B9E6-CD5A0216E938}"/>
                </a:ext>
              </a:extLst>
            </p:cNvPr>
            <p:cNvSpPr>
              <a:spLocks noChangeArrowheads="1"/>
            </p:cNvSpPr>
            <p:nvPr/>
          </p:nvSpPr>
          <p:spPr bwMode="auto">
            <a:xfrm>
              <a:off x="3705247" y="2827972"/>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2" name="Oval 789">
              <a:extLst>
                <a:ext uri="{FF2B5EF4-FFF2-40B4-BE49-F238E27FC236}">
                  <a16:creationId xmlns:a16="http://schemas.microsoft.com/office/drawing/2014/main" id="{85D30F5B-96DA-4450-A0A7-F322E2310E9D}"/>
                </a:ext>
              </a:extLst>
            </p:cNvPr>
            <p:cNvSpPr>
              <a:spLocks noChangeArrowheads="1"/>
            </p:cNvSpPr>
            <p:nvPr/>
          </p:nvSpPr>
          <p:spPr bwMode="auto">
            <a:xfrm>
              <a:off x="3705247" y="3393246"/>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3" name="Oval 790">
              <a:extLst>
                <a:ext uri="{FF2B5EF4-FFF2-40B4-BE49-F238E27FC236}">
                  <a16:creationId xmlns:a16="http://schemas.microsoft.com/office/drawing/2014/main" id="{41A66D9A-8947-4ED3-9D36-0BDAC88B1420}"/>
                </a:ext>
              </a:extLst>
            </p:cNvPr>
            <p:cNvSpPr>
              <a:spLocks noChangeArrowheads="1"/>
            </p:cNvSpPr>
            <p:nvPr/>
          </p:nvSpPr>
          <p:spPr bwMode="auto">
            <a:xfrm>
              <a:off x="3705247" y="396041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4" name="Text Box 791">
              <a:extLst>
                <a:ext uri="{FF2B5EF4-FFF2-40B4-BE49-F238E27FC236}">
                  <a16:creationId xmlns:a16="http://schemas.microsoft.com/office/drawing/2014/main" id="{6474C769-9DF8-4246-9B6D-817CACBCE0E5}"/>
                </a:ext>
              </a:extLst>
            </p:cNvPr>
            <p:cNvSpPr txBox="1">
              <a:spLocks noChangeArrowheads="1"/>
            </p:cNvSpPr>
            <p:nvPr/>
          </p:nvSpPr>
          <p:spPr bwMode="auto">
            <a:xfrm>
              <a:off x="3718739" y="4004218"/>
              <a:ext cx="226420" cy="29172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5" name="Text Box 792">
              <a:extLst>
                <a:ext uri="{FF2B5EF4-FFF2-40B4-BE49-F238E27FC236}">
                  <a16:creationId xmlns:a16="http://schemas.microsoft.com/office/drawing/2014/main" id="{42FB977E-CD51-49E9-9F22-15FBB3A68698}"/>
                </a:ext>
              </a:extLst>
            </p:cNvPr>
            <p:cNvSpPr txBox="1">
              <a:spLocks noChangeArrowheads="1"/>
            </p:cNvSpPr>
            <p:nvPr/>
          </p:nvSpPr>
          <p:spPr bwMode="auto">
            <a:xfrm>
              <a:off x="3340800" y="3177000"/>
              <a:ext cx="298948" cy="27505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6" name="Text Box 793">
              <a:extLst>
                <a:ext uri="{FF2B5EF4-FFF2-40B4-BE49-F238E27FC236}">
                  <a16:creationId xmlns:a16="http://schemas.microsoft.com/office/drawing/2014/main" id="{AE68056A-7C92-45D9-9711-59AD78E6615E}"/>
                </a:ext>
              </a:extLst>
            </p:cNvPr>
            <p:cNvSpPr txBox="1">
              <a:spLocks noChangeArrowheads="1"/>
            </p:cNvSpPr>
            <p:nvPr/>
          </p:nvSpPr>
          <p:spPr bwMode="auto">
            <a:xfrm>
              <a:off x="3841287" y="2606037"/>
              <a:ext cx="298948" cy="22193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7" name="Text Box 794">
              <a:extLst>
                <a:ext uri="{FF2B5EF4-FFF2-40B4-BE49-F238E27FC236}">
                  <a16:creationId xmlns:a16="http://schemas.microsoft.com/office/drawing/2014/main" id="{B019A59B-6C0F-4FC3-82A1-0AC0D1D38318}"/>
                </a:ext>
              </a:extLst>
            </p:cNvPr>
            <p:cNvSpPr txBox="1">
              <a:spLocks noChangeArrowheads="1"/>
            </p:cNvSpPr>
            <p:nvPr/>
          </p:nvSpPr>
          <p:spPr bwMode="auto">
            <a:xfrm>
              <a:off x="3495312" y="2035071"/>
              <a:ext cx="162909" cy="27505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8" name="Text Box 795">
              <a:extLst>
                <a:ext uri="{FF2B5EF4-FFF2-40B4-BE49-F238E27FC236}">
                  <a16:creationId xmlns:a16="http://schemas.microsoft.com/office/drawing/2014/main" id="{72B77586-99C0-4657-865D-317B9EE57B1B}"/>
                </a:ext>
              </a:extLst>
            </p:cNvPr>
            <p:cNvSpPr txBox="1">
              <a:spLocks noChangeArrowheads="1"/>
            </p:cNvSpPr>
            <p:nvPr/>
          </p:nvSpPr>
          <p:spPr bwMode="auto">
            <a:xfrm>
              <a:off x="3884044" y="1350294"/>
              <a:ext cx="178026" cy="2788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9" name="Text Box 797">
              <a:extLst>
                <a:ext uri="{FF2B5EF4-FFF2-40B4-BE49-F238E27FC236}">
                  <a16:creationId xmlns:a16="http://schemas.microsoft.com/office/drawing/2014/main" id="{DB49F0F8-D8D4-40DC-A1E7-87595C0E5BB3}"/>
                </a:ext>
              </a:extLst>
            </p:cNvPr>
            <p:cNvSpPr txBox="1">
              <a:spLocks noChangeArrowheads="1"/>
            </p:cNvSpPr>
            <p:nvPr/>
          </p:nvSpPr>
          <p:spPr bwMode="auto">
            <a:xfrm>
              <a:off x="9005128" y="4804533"/>
              <a:ext cx="475295" cy="246596"/>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(f)</a:t>
              </a:r>
              <a:endParaRPr lang="zh-CN"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0" name="Oval 798">
              <a:extLst>
                <a:ext uri="{FF2B5EF4-FFF2-40B4-BE49-F238E27FC236}">
                  <a16:creationId xmlns:a16="http://schemas.microsoft.com/office/drawing/2014/main" id="{3B9BADC3-3913-48E9-BAF4-0E19439DCDB2}"/>
                </a:ext>
              </a:extLst>
            </p:cNvPr>
            <p:cNvSpPr>
              <a:spLocks noChangeArrowheads="1"/>
            </p:cNvSpPr>
            <p:nvPr/>
          </p:nvSpPr>
          <p:spPr bwMode="auto">
            <a:xfrm>
              <a:off x="9188776" y="169742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1" name="Oval 799">
              <a:extLst>
                <a:ext uri="{FF2B5EF4-FFF2-40B4-BE49-F238E27FC236}">
                  <a16:creationId xmlns:a16="http://schemas.microsoft.com/office/drawing/2014/main" id="{E6A51851-33CA-4610-A990-F7333D4216FB}"/>
                </a:ext>
              </a:extLst>
            </p:cNvPr>
            <p:cNvSpPr>
              <a:spLocks noChangeArrowheads="1"/>
            </p:cNvSpPr>
            <p:nvPr/>
          </p:nvSpPr>
          <p:spPr bwMode="auto">
            <a:xfrm>
              <a:off x="9188776" y="396041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2" name="Oval 800">
              <a:extLst>
                <a:ext uri="{FF2B5EF4-FFF2-40B4-BE49-F238E27FC236}">
                  <a16:creationId xmlns:a16="http://schemas.microsoft.com/office/drawing/2014/main" id="{674AC9C4-0CAB-4AA4-A3DE-5802734BAAA4}"/>
                </a:ext>
              </a:extLst>
            </p:cNvPr>
            <p:cNvSpPr>
              <a:spLocks noChangeArrowheads="1"/>
            </p:cNvSpPr>
            <p:nvPr/>
          </p:nvSpPr>
          <p:spPr bwMode="auto">
            <a:xfrm>
              <a:off x="9570019" y="320545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3" name="Oval 801">
              <a:extLst>
                <a:ext uri="{FF2B5EF4-FFF2-40B4-BE49-F238E27FC236}">
                  <a16:creationId xmlns:a16="http://schemas.microsoft.com/office/drawing/2014/main" id="{C8DE3678-B23D-4AE6-8585-83147DDC5A70}"/>
                </a:ext>
              </a:extLst>
            </p:cNvPr>
            <p:cNvSpPr>
              <a:spLocks noChangeArrowheads="1"/>
            </p:cNvSpPr>
            <p:nvPr/>
          </p:nvSpPr>
          <p:spPr bwMode="auto">
            <a:xfrm>
              <a:off x="8800814" y="320545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24" name="Line 802">
              <a:extLst>
                <a:ext uri="{FF2B5EF4-FFF2-40B4-BE49-F238E27FC236}">
                  <a16:creationId xmlns:a16="http://schemas.microsoft.com/office/drawing/2014/main" id="{6BE9C269-3AE8-4632-8E75-7D54B513946C}"/>
                </a:ext>
              </a:extLst>
            </p:cNvPr>
            <p:cNvCxnSpPr>
              <a:cxnSpLocks noChangeShapeType="1"/>
              <a:stCxn id="22" idx="4"/>
              <a:endCxn id="21" idx="7"/>
            </p:cNvCxnSpPr>
            <p:nvPr/>
          </p:nvCxnSpPr>
          <p:spPr bwMode="auto">
            <a:xfrm flipH="1">
              <a:off x="9280960" y="3313577"/>
              <a:ext cx="343059" cy="6626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5" name="Line 803">
              <a:extLst>
                <a:ext uri="{FF2B5EF4-FFF2-40B4-BE49-F238E27FC236}">
                  <a16:creationId xmlns:a16="http://schemas.microsoft.com/office/drawing/2014/main" id="{7FD5F962-ECF1-4B6D-B1AF-83EDA675A58E}"/>
                </a:ext>
              </a:extLst>
            </p:cNvPr>
            <p:cNvCxnSpPr>
              <a:cxnSpLocks noChangeShapeType="1"/>
              <a:stCxn id="28" idx="3"/>
              <a:endCxn id="23" idx="0"/>
            </p:cNvCxnSpPr>
            <p:nvPr/>
          </p:nvCxnSpPr>
          <p:spPr bwMode="auto">
            <a:xfrm flipH="1">
              <a:off x="8854814" y="2542780"/>
              <a:ext cx="349778" cy="6626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6" name="Line 804">
              <a:extLst>
                <a:ext uri="{FF2B5EF4-FFF2-40B4-BE49-F238E27FC236}">
                  <a16:creationId xmlns:a16="http://schemas.microsoft.com/office/drawing/2014/main" id="{934A8896-891D-48A4-B5E2-5E1ED3943FFF}"/>
                </a:ext>
              </a:extLst>
            </p:cNvPr>
            <p:cNvCxnSpPr>
              <a:cxnSpLocks noChangeShapeType="1"/>
              <a:stCxn id="28" idx="5"/>
              <a:endCxn id="22" idx="0"/>
            </p:cNvCxnSpPr>
            <p:nvPr/>
          </p:nvCxnSpPr>
          <p:spPr bwMode="auto">
            <a:xfrm>
              <a:off x="9280960" y="2542780"/>
              <a:ext cx="343059" cy="6626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7" name="Line 805">
              <a:extLst>
                <a:ext uri="{FF2B5EF4-FFF2-40B4-BE49-F238E27FC236}">
                  <a16:creationId xmlns:a16="http://schemas.microsoft.com/office/drawing/2014/main" id="{83787126-3F88-48F6-A804-6C3C1A0BE293}"/>
                </a:ext>
              </a:extLst>
            </p:cNvPr>
            <p:cNvCxnSpPr>
              <a:cxnSpLocks noChangeShapeType="1"/>
              <a:stCxn id="23" idx="4"/>
              <a:endCxn id="21" idx="1"/>
            </p:cNvCxnSpPr>
            <p:nvPr/>
          </p:nvCxnSpPr>
          <p:spPr bwMode="auto">
            <a:xfrm>
              <a:off x="8854814" y="3313577"/>
              <a:ext cx="349778" cy="6626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8" name="Oval 806">
              <a:extLst>
                <a:ext uri="{FF2B5EF4-FFF2-40B4-BE49-F238E27FC236}">
                  <a16:creationId xmlns:a16="http://schemas.microsoft.com/office/drawing/2014/main" id="{7DD517BF-7F9A-4BC8-A912-3D64BFE065FC}"/>
                </a:ext>
              </a:extLst>
            </p:cNvPr>
            <p:cNvSpPr>
              <a:spLocks noChangeArrowheads="1"/>
            </p:cNvSpPr>
            <p:nvPr/>
          </p:nvSpPr>
          <p:spPr bwMode="auto">
            <a:xfrm>
              <a:off x="9188776" y="2450491"/>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9" name="Text Box 807">
              <a:extLst>
                <a:ext uri="{FF2B5EF4-FFF2-40B4-BE49-F238E27FC236}">
                  <a16:creationId xmlns:a16="http://schemas.microsoft.com/office/drawing/2014/main" id="{8E7EDA11-B6AA-4B17-ADA0-7D323E73D618}"/>
                </a:ext>
              </a:extLst>
            </p:cNvPr>
            <p:cNvSpPr txBox="1">
              <a:spLocks noChangeArrowheads="1"/>
            </p:cNvSpPr>
            <p:nvPr/>
          </p:nvSpPr>
          <p:spPr bwMode="auto">
            <a:xfrm>
              <a:off x="9258877" y="4033736"/>
              <a:ext cx="261386" cy="29172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0" name="Text Box 808">
              <a:extLst>
                <a:ext uri="{FF2B5EF4-FFF2-40B4-BE49-F238E27FC236}">
                  <a16:creationId xmlns:a16="http://schemas.microsoft.com/office/drawing/2014/main" id="{644A1B76-5525-4226-B9C1-642030CC71AD}"/>
                </a:ext>
              </a:extLst>
            </p:cNvPr>
            <p:cNvSpPr txBox="1">
              <a:spLocks noChangeArrowheads="1"/>
            </p:cNvSpPr>
            <p:nvPr/>
          </p:nvSpPr>
          <p:spPr bwMode="auto">
            <a:xfrm>
              <a:off x="8503546" y="2989208"/>
              <a:ext cx="216653" cy="4628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 name="Text Box 809">
              <a:extLst>
                <a:ext uri="{FF2B5EF4-FFF2-40B4-BE49-F238E27FC236}">
                  <a16:creationId xmlns:a16="http://schemas.microsoft.com/office/drawing/2014/main" id="{323338BE-517F-4EFB-9621-FF3BAC862A64}"/>
                </a:ext>
              </a:extLst>
            </p:cNvPr>
            <p:cNvSpPr txBox="1">
              <a:spLocks noChangeArrowheads="1"/>
            </p:cNvSpPr>
            <p:nvPr/>
          </p:nvSpPr>
          <p:spPr bwMode="auto">
            <a:xfrm>
              <a:off x="9737969" y="2989209"/>
              <a:ext cx="189782" cy="34333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2" name="Text Box 810">
              <a:extLst>
                <a:ext uri="{FF2B5EF4-FFF2-40B4-BE49-F238E27FC236}">
                  <a16:creationId xmlns:a16="http://schemas.microsoft.com/office/drawing/2014/main" id="{C7BAE13B-8EEA-42C4-AB65-CA202D084E61}"/>
                </a:ext>
              </a:extLst>
            </p:cNvPr>
            <p:cNvSpPr txBox="1">
              <a:spLocks noChangeArrowheads="1"/>
            </p:cNvSpPr>
            <p:nvPr/>
          </p:nvSpPr>
          <p:spPr bwMode="auto">
            <a:xfrm>
              <a:off x="9306340" y="2205792"/>
              <a:ext cx="298945" cy="41921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3" name="Text Box 811">
              <a:extLst>
                <a:ext uri="{FF2B5EF4-FFF2-40B4-BE49-F238E27FC236}">
                  <a16:creationId xmlns:a16="http://schemas.microsoft.com/office/drawing/2014/main" id="{0B393BDD-30B0-4E50-9789-96A1C7F3A5A8}"/>
                </a:ext>
              </a:extLst>
            </p:cNvPr>
            <p:cNvSpPr txBox="1">
              <a:spLocks noChangeArrowheads="1"/>
            </p:cNvSpPr>
            <p:nvPr/>
          </p:nvSpPr>
          <p:spPr bwMode="auto">
            <a:xfrm>
              <a:off x="9166359" y="1231347"/>
              <a:ext cx="314064" cy="3983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34" name="Line 812">
              <a:extLst>
                <a:ext uri="{FF2B5EF4-FFF2-40B4-BE49-F238E27FC236}">
                  <a16:creationId xmlns:a16="http://schemas.microsoft.com/office/drawing/2014/main" id="{F5EAAFE5-53E3-48BD-B263-5083D1F965EC}"/>
                </a:ext>
              </a:extLst>
            </p:cNvPr>
            <p:cNvCxnSpPr>
              <a:cxnSpLocks noChangeShapeType="1"/>
              <a:stCxn id="20" idx="4"/>
              <a:endCxn id="28" idx="0"/>
            </p:cNvCxnSpPr>
            <p:nvPr/>
          </p:nvCxnSpPr>
          <p:spPr bwMode="auto">
            <a:xfrm>
              <a:off x="9242776" y="1805547"/>
              <a:ext cx="0" cy="6449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5" name="Line 814">
              <a:extLst>
                <a:ext uri="{FF2B5EF4-FFF2-40B4-BE49-F238E27FC236}">
                  <a16:creationId xmlns:a16="http://schemas.microsoft.com/office/drawing/2014/main" id="{446770A3-8F70-4007-A6DB-7CD3893F2751}"/>
                </a:ext>
              </a:extLst>
            </p:cNvPr>
            <p:cNvCxnSpPr>
              <a:cxnSpLocks noChangeShapeType="1"/>
              <a:stCxn id="50" idx="4"/>
              <a:endCxn id="40" idx="0"/>
            </p:cNvCxnSpPr>
            <p:nvPr/>
          </p:nvCxnSpPr>
          <p:spPr bwMode="auto">
            <a:xfrm>
              <a:off x="7695967" y="2526366"/>
              <a:ext cx="0" cy="73409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6" name="Text Box 815">
              <a:extLst>
                <a:ext uri="{FF2B5EF4-FFF2-40B4-BE49-F238E27FC236}">
                  <a16:creationId xmlns:a16="http://schemas.microsoft.com/office/drawing/2014/main" id="{08C7E590-3AB6-439D-B7E6-D1559CB5EC90}"/>
                </a:ext>
              </a:extLst>
            </p:cNvPr>
            <p:cNvSpPr txBox="1">
              <a:spLocks noChangeArrowheads="1"/>
            </p:cNvSpPr>
            <p:nvPr/>
          </p:nvSpPr>
          <p:spPr bwMode="auto">
            <a:xfrm>
              <a:off x="7258813" y="4053084"/>
              <a:ext cx="310705" cy="3566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7" name="Text Box 816">
              <a:extLst>
                <a:ext uri="{FF2B5EF4-FFF2-40B4-BE49-F238E27FC236}">
                  <a16:creationId xmlns:a16="http://schemas.microsoft.com/office/drawing/2014/main" id="{925D8BBE-FDCB-4885-A3F1-D4EFD6F99088}"/>
                </a:ext>
              </a:extLst>
            </p:cNvPr>
            <p:cNvSpPr txBox="1">
              <a:spLocks noChangeArrowheads="1"/>
            </p:cNvSpPr>
            <p:nvPr/>
          </p:nvSpPr>
          <p:spPr bwMode="auto">
            <a:xfrm>
              <a:off x="7124671" y="4804533"/>
              <a:ext cx="475295" cy="356617"/>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8" name="Oval 817">
              <a:extLst>
                <a:ext uri="{FF2B5EF4-FFF2-40B4-BE49-F238E27FC236}">
                  <a16:creationId xmlns:a16="http://schemas.microsoft.com/office/drawing/2014/main" id="{9446392D-DE83-4D03-8BB4-BBAB5900B36A}"/>
                </a:ext>
              </a:extLst>
            </p:cNvPr>
            <p:cNvSpPr>
              <a:spLocks noChangeArrowheads="1"/>
            </p:cNvSpPr>
            <p:nvPr/>
          </p:nvSpPr>
          <p:spPr bwMode="auto">
            <a:xfrm>
              <a:off x="7260724" y="169742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39" name="Oval 818">
              <a:extLst>
                <a:ext uri="{FF2B5EF4-FFF2-40B4-BE49-F238E27FC236}">
                  <a16:creationId xmlns:a16="http://schemas.microsoft.com/office/drawing/2014/main" id="{A48DC7A5-58C4-4BC0-BBA7-17A1E98AFDA7}"/>
                </a:ext>
              </a:extLst>
            </p:cNvPr>
            <p:cNvSpPr>
              <a:spLocks noChangeArrowheads="1"/>
            </p:cNvSpPr>
            <p:nvPr/>
          </p:nvSpPr>
          <p:spPr bwMode="auto">
            <a:xfrm>
              <a:off x="7260724" y="396041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40" name="Oval 819">
              <a:extLst>
                <a:ext uri="{FF2B5EF4-FFF2-40B4-BE49-F238E27FC236}">
                  <a16:creationId xmlns:a16="http://schemas.microsoft.com/office/drawing/2014/main" id="{CFAD36EC-1D41-4227-8E81-1BE988D42B95}"/>
                </a:ext>
              </a:extLst>
            </p:cNvPr>
            <p:cNvSpPr>
              <a:spLocks noChangeArrowheads="1"/>
            </p:cNvSpPr>
            <p:nvPr/>
          </p:nvSpPr>
          <p:spPr bwMode="auto">
            <a:xfrm>
              <a:off x="7641967" y="326046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41" name="Oval 820">
              <a:extLst>
                <a:ext uri="{FF2B5EF4-FFF2-40B4-BE49-F238E27FC236}">
                  <a16:creationId xmlns:a16="http://schemas.microsoft.com/office/drawing/2014/main" id="{EE8D6671-61E3-4EF2-BB8D-F55C6FB0DAAD}"/>
                </a:ext>
              </a:extLst>
            </p:cNvPr>
            <p:cNvSpPr>
              <a:spLocks noChangeArrowheads="1"/>
            </p:cNvSpPr>
            <p:nvPr/>
          </p:nvSpPr>
          <p:spPr bwMode="auto">
            <a:xfrm>
              <a:off x="6872762" y="2827972"/>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42" name="Line 821">
              <a:extLst>
                <a:ext uri="{FF2B5EF4-FFF2-40B4-BE49-F238E27FC236}">
                  <a16:creationId xmlns:a16="http://schemas.microsoft.com/office/drawing/2014/main" id="{BBDF963C-5CDA-44B9-8ED0-0563B2591CE6}"/>
                </a:ext>
              </a:extLst>
            </p:cNvPr>
            <p:cNvCxnSpPr>
              <a:cxnSpLocks noChangeShapeType="1"/>
              <a:stCxn id="40" idx="4"/>
              <a:endCxn id="39" idx="7"/>
            </p:cNvCxnSpPr>
            <p:nvPr/>
          </p:nvCxnSpPr>
          <p:spPr bwMode="auto">
            <a:xfrm flipH="1">
              <a:off x="7352908" y="3368587"/>
              <a:ext cx="343059" cy="60766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43" name="Line 822">
              <a:extLst>
                <a:ext uri="{FF2B5EF4-FFF2-40B4-BE49-F238E27FC236}">
                  <a16:creationId xmlns:a16="http://schemas.microsoft.com/office/drawing/2014/main" id="{81BA26E3-832B-4151-9ED6-EC7E855EAF2F}"/>
                </a:ext>
              </a:extLst>
            </p:cNvPr>
            <p:cNvCxnSpPr>
              <a:cxnSpLocks noChangeShapeType="1"/>
              <a:stCxn id="38" idx="3"/>
              <a:endCxn id="41" idx="0"/>
            </p:cNvCxnSpPr>
            <p:nvPr/>
          </p:nvCxnSpPr>
          <p:spPr bwMode="auto">
            <a:xfrm flipH="1">
              <a:off x="6926762" y="1789713"/>
              <a:ext cx="349778" cy="10382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44" name="Line 823">
              <a:extLst>
                <a:ext uri="{FF2B5EF4-FFF2-40B4-BE49-F238E27FC236}">
                  <a16:creationId xmlns:a16="http://schemas.microsoft.com/office/drawing/2014/main" id="{839F817F-D439-4388-8B1F-89E9A56D19E8}"/>
                </a:ext>
              </a:extLst>
            </p:cNvPr>
            <p:cNvCxnSpPr>
              <a:cxnSpLocks noChangeShapeType="1"/>
              <a:stCxn id="38" idx="5"/>
              <a:endCxn id="50" idx="1"/>
            </p:cNvCxnSpPr>
            <p:nvPr/>
          </p:nvCxnSpPr>
          <p:spPr bwMode="auto">
            <a:xfrm>
              <a:off x="7352908" y="1789713"/>
              <a:ext cx="304875" cy="64436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45" name="Line 824">
              <a:extLst>
                <a:ext uri="{FF2B5EF4-FFF2-40B4-BE49-F238E27FC236}">
                  <a16:creationId xmlns:a16="http://schemas.microsoft.com/office/drawing/2014/main" id="{BD5F754B-4696-470E-A85F-E35F5F267316}"/>
                </a:ext>
              </a:extLst>
            </p:cNvPr>
            <p:cNvCxnSpPr>
              <a:cxnSpLocks noChangeShapeType="1"/>
              <a:stCxn id="41" idx="4"/>
              <a:endCxn id="39" idx="1"/>
            </p:cNvCxnSpPr>
            <p:nvPr/>
          </p:nvCxnSpPr>
          <p:spPr bwMode="auto">
            <a:xfrm>
              <a:off x="6926762" y="2936095"/>
              <a:ext cx="349778" cy="1040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46" name="Text Box 825">
              <a:extLst>
                <a:ext uri="{FF2B5EF4-FFF2-40B4-BE49-F238E27FC236}">
                  <a16:creationId xmlns:a16="http://schemas.microsoft.com/office/drawing/2014/main" id="{AD806207-F3FD-4FE8-9456-AD2AF27BD27C}"/>
                </a:ext>
              </a:extLst>
            </p:cNvPr>
            <p:cNvSpPr txBox="1">
              <a:spLocks noChangeArrowheads="1"/>
            </p:cNvSpPr>
            <p:nvPr/>
          </p:nvSpPr>
          <p:spPr bwMode="auto">
            <a:xfrm>
              <a:off x="6595647" y="2625005"/>
              <a:ext cx="194821" cy="36040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47" name="Text Box 826">
              <a:extLst>
                <a:ext uri="{FF2B5EF4-FFF2-40B4-BE49-F238E27FC236}">
                  <a16:creationId xmlns:a16="http://schemas.microsoft.com/office/drawing/2014/main" id="{5F0BB61F-E8B9-4382-BDEE-8747A475088B}"/>
                </a:ext>
              </a:extLst>
            </p:cNvPr>
            <p:cNvSpPr txBox="1">
              <a:spLocks noChangeArrowheads="1"/>
            </p:cNvSpPr>
            <p:nvPr/>
          </p:nvSpPr>
          <p:spPr bwMode="auto">
            <a:xfrm>
              <a:off x="7809916" y="2998693"/>
              <a:ext cx="265357" cy="43030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48" name="Text Box 827">
              <a:extLst>
                <a:ext uri="{FF2B5EF4-FFF2-40B4-BE49-F238E27FC236}">
                  <a16:creationId xmlns:a16="http://schemas.microsoft.com/office/drawing/2014/main" id="{CFBDDDA5-C77F-4710-95DC-169C7D550252}"/>
                </a:ext>
              </a:extLst>
            </p:cNvPr>
            <p:cNvSpPr txBox="1">
              <a:spLocks noChangeArrowheads="1"/>
            </p:cNvSpPr>
            <p:nvPr/>
          </p:nvSpPr>
          <p:spPr bwMode="auto">
            <a:xfrm>
              <a:off x="7809917" y="2184926"/>
              <a:ext cx="240166" cy="51595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49" name="Text Box 828">
              <a:extLst>
                <a:ext uri="{FF2B5EF4-FFF2-40B4-BE49-F238E27FC236}">
                  <a16:creationId xmlns:a16="http://schemas.microsoft.com/office/drawing/2014/main" id="{C0C62377-5971-45C7-8B69-E4F96B0315ED}"/>
                </a:ext>
              </a:extLst>
            </p:cNvPr>
            <p:cNvSpPr txBox="1">
              <a:spLocks noChangeArrowheads="1"/>
            </p:cNvSpPr>
            <p:nvPr/>
          </p:nvSpPr>
          <p:spPr bwMode="auto">
            <a:xfrm>
              <a:off x="7264472" y="1269488"/>
              <a:ext cx="277089" cy="38886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0" name="Oval 829">
              <a:extLst>
                <a:ext uri="{FF2B5EF4-FFF2-40B4-BE49-F238E27FC236}">
                  <a16:creationId xmlns:a16="http://schemas.microsoft.com/office/drawing/2014/main" id="{28CB0010-A182-4EA3-9913-96EAD459F721}"/>
                </a:ext>
              </a:extLst>
            </p:cNvPr>
            <p:cNvSpPr>
              <a:spLocks noChangeArrowheads="1"/>
            </p:cNvSpPr>
            <p:nvPr/>
          </p:nvSpPr>
          <p:spPr bwMode="auto">
            <a:xfrm>
              <a:off x="7641967" y="2418243"/>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51" name="Line 831">
              <a:extLst>
                <a:ext uri="{FF2B5EF4-FFF2-40B4-BE49-F238E27FC236}">
                  <a16:creationId xmlns:a16="http://schemas.microsoft.com/office/drawing/2014/main" id="{8FEF75AF-08E2-44DC-9E48-D84E16164850}"/>
                </a:ext>
              </a:extLst>
            </p:cNvPr>
            <p:cNvCxnSpPr>
              <a:cxnSpLocks noChangeShapeType="1"/>
              <a:stCxn id="66" idx="4"/>
              <a:endCxn id="55" idx="0"/>
            </p:cNvCxnSpPr>
            <p:nvPr/>
          </p:nvCxnSpPr>
          <p:spPr bwMode="auto">
            <a:xfrm>
              <a:off x="5329569" y="3019558"/>
              <a:ext cx="0" cy="102432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52" name="Text Box 832">
              <a:extLst>
                <a:ext uri="{FF2B5EF4-FFF2-40B4-BE49-F238E27FC236}">
                  <a16:creationId xmlns:a16="http://schemas.microsoft.com/office/drawing/2014/main" id="{5ED28803-8187-4F92-879E-8661E7A00400}"/>
                </a:ext>
              </a:extLst>
            </p:cNvPr>
            <p:cNvSpPr txBox="1">
              <a:spLocks noChangeArrowheads="1"/>
            </p:cNvSpPr>
            <p:nvPr/>
          </p:nvSpPr>
          <p:spPr bwMode="auto">
            <a:xfrm>
              <a:off x="5315724" y="4060864"/>
              <a:ext cx="360779" cy="2902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3" name="Text Box 833">
              <a:extLst>
                <a:ext uri="{FF2B5EF4-FFF2-40B4-BE49-F238E27FC236}">
                  <a16:creationId xmlns:a16="http://schemas.microsoft.com/office/drawing/2014/main" id="{F7651F54-7D49-4B79-8BC7-6880900334E7}"/>
                </a:ext>
              </a:extLst>
            </p:cNvPr>
            <p:cNvSpPr txBox="1">
              <a:spLocks noChangeArrowheads="1"/>
            </p:cNvSpPr>
            <p:nvPr/>
          </p:nvSpPr>
          <p:spPr bwMode="auto">
            <a:xfrm>
              <a:off x="5102734" y="4804533"/>
              <a:ext cx="420181" cy="536821"/>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4" name="Oval 834">
              <a:extLst>
                <a:ext uri="{FF2B5EF4-FFF2-40B4-BE49-F238E27FC236}">
                  <a16:creationId xmlns:a16="http://schemas.microsoft.com/office/drawing/2014/main" id="{7B4EE8C7-7C3D-4EF2-8DBF-FC0E33147F27}"/>
                </a:ext>
              </a:extLst>
            </p:cNvPr>
            <p:cNvSpPr>
              <a:spLocks noChangeArrowheads="1"/>
            </p:cNvSpPr>
            <p:nvPr/>
          </p:nvSpPr>
          <p:spPr bwMode="auto">
            <a:xfrm>
              <a:off x="5275569" y="178088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55" name="Oval 835">
              <a:extLst>
                <a:ext uri="{FF2B5EF4-FFF2-40B4-BE49-F238E27FC236}">
                  <a16:creationId xmlns:a16="http://schemas.microsoft.com/office/drawing/2014/main" id="{A658DD6B-331B-49E0-800A-07A2E23CAEC7}"/>
                </a:ext>
              </a:extLst>
            </p:cNvPr>
            <p:cNvSpPr>
              <a:spLocks noChangeArrowheads="1"/>
            </p:cNvSpPr>
            <p:nvPr/>
          </p:nvSpPr>
          <p:spPr bwMode="auto">
            <a:xfrm>
              <a:off x="5275569" y="4043880"/>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56" name="Oval 836">
              <a:extLst>
                <a:ext uri="{FF2B5EF4-FFF2-40B4-BE49-F238E27FC236}">
                  <a16:creationId xmlns:a16="http://schemas.microsoft.com/office/drawing/2014/main" id="{9FA0E0C6-5E43-4D72-AF27-97BCD8A8B9AC}"/>
                </a:ext>
              </a:extLst>
            </p:cNvPr>
            <p:cNvSpPr>
              <a:spLocks noChangeArrowheads="1"/>
            </p:cNvSpPr>
            <p:nvPr/>
          </p:nvSpPr>
          <p:spPr bwMode="auto">
            <a:xfrm>
              <a:off x="4887607" y="2911435"/>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57" name="Line 837">
              <a:extLst>
                <a:ext uri="{FF2B5EF4-FFF2-40B4-BE49-F238E27FC236}">
                  <a16:creationId xmlns:a16="http://schemas.microsoft.com/office/drawing/2014/main" id="{35CFF336-1294-4F0E-B814-4B10C85A1C50}"/>
                </a:ext>
              </a:extLst>
            </p:cNvPr>
            <p:cNvCxnSpPr>
              <a:cxnSpLocks noChangeShapeType="1"/>
              <a:stCxn id="67" idx="4"/>
              <a:endCxn id="55" idx="7"/>
            </p:cNvCxnSpPr>
            <p:nvPr/>
          </p:nvCxnSpPr>
          <p:spPr bwMode="auto">
            <a:xfrm flipH="1">
              <a:off x="5367753" y="3019558"/>
              <a:ext cx="343059" cy="1040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8" name="Line 838">
              <a:extLst>
                <a:ext uri="{FF2B5EF4-FFF2-40B4-BE49-F238E27FC236}">
                  <a16:creationId xmlns:a16="http://schemas.microsoft.com/office/drawing/2014/main" id="{778676AA-7448-4854-B2FB-56041B026D1F}"/>
                </a:ext>
              </a:extLst>
            </p:cNvPr>
            <p:cNvCxnSpPr>
              <a:cxnSpLocks noChangeShapeType="1"/>
              <a:stCxn id="54" idx="3"/>
              <a:endCxn id="56" idx="0"/>
            </p:cNvCxnSpPr>
            <p:nvPr/>
          </p:nvCxnSpPr>
          <p:spPr bwMode="auto">
            <a:xfrm flipH="1">
              <a:off x="4941607" y="1873176"/>
              <a:ext cx="349778" cy="10382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9" name="Line 839">
              <a:extLst>
                <a:ext uri="{FF2B5EF4-FFF2-40B4-BE49-F238E27FC236}">
                  <a16:creationId xmlns:a16="http://schemas.microsoft.com/office/drawing/2014/main" id="{09D8A4E9-08D9-4A91-ACA1-48176F31B10C}"/>
                </a:ext>
              </a:extLst>
            </p:cNvPr>
            <p:cNvCxnSpPr>
              <a:cxnSpLocks noChangeShapeType="1"/>
              <a:stCxn id="54" idx="5"/>
              <a:endCxn id="67" idx="0"/>
            </p:cNvCxnSpPr>
            <p:nvPr/>
          </p:nvCxnSpPr>
          <p:spPr bwMode="auto">
            <a:xfrm>
              <a:off x="5367753" y="1873176"/>
              <a:ext cx="343059" cy="10382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60" name="Line 840">
              <a:extLst>
                <a:ext uri="{FF2B5EF4-FFF2-40B4-BE49-F238E27FC236}">
                  <a16:creationId xmlns:a16="http://schemas.microsoft.com/office/drawing/2014/main" id="{D234BD0C-6CF1-4A8F-9E55-39A6755BB12F}"/>
                </a:ext>
              </a:extLst>
            </p:cNvPr>
            <p:cNvCxnSpPr>
              <a:cxnSpLocks noChangeShapeType="1"/>
              <a:stCxn id="56" idx="4"/>
              <a:endCxn id="55" idx="1"/>
            </p:cNvCxnSpPr>
            <p:nvPr/>
          </p:nvCxnSpPr>
          <p:spPr bwMode="auto">
            <a:xfrm>
              <a:off x="4941607" y="3019558"/>
              <a:ext cx="349778" cy="1040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61" name="Text Box 841">
              <a:extLst>
                <a:ext uri="{FF2B5EF4-FFF2-40B4-BE49-F238E27FC236}">
                  <a16:creationId xmlns:a16="http://schemas.microsoft.com/office/drawing/2014/main" id="{81CB2F28-BE88-4185-910C-0850BB6F2F0B}"/>
                </a:ext>
              </a:extLst>
            </p:cNvPr>
            <p:cNvSpPr txBox="1">
              <a:spLocks noChangeArrowheads="1"/>
            </p:cNvSpPr>
            <p:nvPr/>
          </p:nvSpPr>
          <p:spPr bwMode="auto">
            <a:xfrm>
              <a:off x="4615530" y="2708469"/>
              <a:ext cx="223367" cy="31109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62" name="Text Box 842">
              <a:extLst>
                <a:ext uri="{FF2B5EF4-FFF2-40B4-BE49-F238E27FC236}">
                  <a16:creationId xmlns:a16="http://schemas.microsoft.com/office/drawing/2014/main" id="{4EAF3FB3-9450-42AC-BDFB-B6F3C1FDAEC2}"/>
                </a:ext>
              </a:extLst>
            </p:cNvPr>
            <p:cNvSpPr txBox="1">
              <a:spLocks noChangeArrowheads="1"/>
            </p:cNvSpPr>
            <p:nvPr/>
          </p:nvSpPr>
          <p:spPr bwMode="auto">
            <a:xfrm>
              <a:off x="5406570" y="2708469"/>
              <a:ext cx="151154" cy="41162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63" name="Text Box 843">
              <a:extLst>
                <a:ext uri="{FF2B5EF4-FFF2-40B4-BE49-F238E27FC236}">
                  <a16:creationId xmlns:a16="http://schemas.microsoft.com/office/drawing/2014/main" id="{E057B516-C2FB-4185-B17E-598629D32683}"/>
                </a:ext>
              </a:extLst>
            </p:cNvPr>
            <p:cNvSpPr txBox="1">
              <a:spLocks noChangeArrowheads="1"/>
            </p:cNvSpPr>
            <p:nvPr/>
          </p:nvSpPr>
          <p:spPr bwMode="auto">
            <a:xfrm>
              <a:off x="5824762" y="2708468"/>
              <a:ext cx="277116" cy="2409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64" name="Text Box 844">
              <a:extLst>
                <a:ext uri="{FF2B5EF4-FFF2-40B4-BE49-F238E27FC236}">
                  <a16:creationId xmlns:a16="http://schemas.microsoft.com/office/drawing/2014/main" id="{851EF327-115F-49C2-B9AD-DA507BA3DC30}"/>
                </a:ext>
              </a:extLst>
            </p:cNvPr>
            <p:cNvSpPr txBox="1">
              <a:spLocks noChangeArrowheads="1"/>
            </p:cNvSpPr>
            <p:nvPr/>
          </p:nvSpPr>
          <p:spPr bwMode="auto">
            <a:xfrm>
              <a:off x="5358249" y="1370500"/>
              <a:ext cx="189782" cy="35282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65" name="Line 845">
              <a:extLst>
                <a:ext uri="{FF2B5EF4-FFF2-40B4-BE49-F238E27FC236}">
                  <a16:creationId xmlns:a16="http://schemas.microsoft.com/office/drawing/2014/main" id="{BC8A5502-D0E5-49C6-A1C5-28C73BAAA7C2}"/>
                </a:ext>
              </a:extLst>
            </p:cNvPr>
            <p:cNvCxnSpPr>
              <a:cxnSpLocks noChangeShapeType="1"/>
              <a:stCxn id="54" idx="4"/>
              <a:endCxn id="66" idx="0"/>
            </p:cNvCxnSpPr>
            <p:nvPr/>
          </p:nvCxnSpPr>
          <p:spPr bwMode="auto">
            <a:xfrm>
              <a:off x="5329569" y="1889010"/>
              <a:ext cx="0" cy="10224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66" name="Oval 846">
              <a:extLst>
                <a:ext uri="{FF2B5EF4-FFF2-40B4-BE49-F238E27FC236}">
                  <a16:creationId xmlns:a16="http://schemas.microsoft.com/office/drawing/2014/main" id="{F3D9DA96-B93D-4EB4-8EDC-CC906CB4EEDB}"/>
                </a:ext>
              </a:extLst>
            </p:cNvPr>
            <p:cNvSpPr>
              <a:spLocks noChangeArrowheads="1"/>
            </p:cNvSpPr>
            <p:nvPr/>
          </p:nvSpPr>
          <p:spPr bwMode="auto">
            <a:xfrm>
              <a:off x="5275569" y="2911435"/>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67" name="Oval 847">
              <a:extLst>
                <a:ext uri="{FF2B5EF4-FFF2-40B4-BE49-F238E27FC236}">
                  <a16:creationId xmlns:a16="http://schemas.microsoft.com/office/drawing/2014/main" id="{A88FC0BD-9636-44D5-B9D8-2120E1724F5E}"/>
                </a:ext>
              </a:extLst>
            </p:cNvPr>
            <p:cNvSpPr>
              <a:spLocks noChangeArrowheads="1"/>
            </p:cNvSpPr>
            <p:nvPr/>
          </p:nvSpPr>
          <p:spPr bwMode="auto">
            <a:xfrm>
              <a:off x="5656812" y="2911435"/>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68" name="Text Box 849">
              <a:extLst>
                <a:ext uri="{FF2B5EF4-FFF2-40B4-BE49-F238E27FC236}">
                  <a16:creationId xmlns:a16="http://schemas.microsoft.com/office/drawing/2014/main" id="{2BEEF4A0-3046-4D90-9B47-786D75290697}"/>
                </a:ext>
              </a:extLst>
            </p:cNvPr>
            <p:cNvSpPr txBox="1">
              <a:spLocks noChangeArrowheads="1"/>
            </p:cNvSpPr>
            <p:nvPr/>
          </p:nvSpPr>
          <p:spPr bwMode="auto">
            <a:xfrm>
              <a:off x="10930405" y="4804533"/>
              <a:ext cx="579423" cy="356617"/>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(g)</a:t>
              </a:r>
              <a:endParaRPr lang="zh-CN"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69" name="Oval 850">
              <a:extLst>
                <a:ext uri="{FF2B5EF4-FFF2-40B4-BE49-F238E27FC236}">
                  <a16:creationId xmlns:a16="http://schemas.microsoft.com/office/drawing/2014/main" id="{DD5695EB-ABF5-43BF-9447-992A9FB6A781}"/>
                </a:ext>
              </a:extLst>
            </p:cNvPr>
            <p:cNvSpPr>
              <a:spLocks noChangeArrowheads="1"/>
            </p:cNvSpPr>
            <p:nvPr/>
          </p:nvSpPr>
          <p:spPr bwMode="auto">
            <a:xfrm>
              <a:off x="11100033" y="169742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70" name="Oval 851">
              <a:extLst>
                <a:ext uri="{FF2B5EF4-FFF2-40B4-BE49-F238E27FC236}">
                  <a16:creationId xmlns:a16="http://schemas.microsoft.com/office/drawing/2014/main" id="{FDE59E20-B491-4FD9-BDFF-A631AEC220E6}"/>
                </a:ext>
              </a:extLst>
            </p:cNvPr>
            <p:cNvSpPr>
              <a:spLocks noChangeArrowheads="1"/>
            </p:cNvSpPr>
            <p:nvPr/>
          </p:nvSpPr>
          <p:spPr bwMode="auto">
            <a:xfrm>
              <a:off x="11100033" y="396041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71" name="Oval 852">
              <a:extLst>
                <a:ext uri="{FF2B5EF4-FFF2-40B4-BE49-F238E27FC236}">
                  <a16:creationId xmlns:a16="http://schemas.microsoft.com/office/drawing/2014/main" id="{E91A9945-C520-4790-8462-FDA0E1DF10E7}"/>
                </a:ext>
              </a:extLst>
            </p:cNvPr>
            <p:cNvSpPr>
              <a:spLocks noChangeArrowheads="1"/>
            </p:cNvSpPr>
            <p:nvPr/>
          </p:nvSpPr>
          <p:spPr bwMode="auto">
            <a:xfrm>
              <a:off x="11481277" y="2439109"/>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72" name="Oval 853">
              <a:extLst>
                <a:ext uri="{FF2B5EF4-FFF2-40B4-BE49-F238E27FC236}">
                  <a16:creationId xmlns:a16="http://schemas.microsoft.com/office/drawing/2014/main" id="{512D0ED6-9CE6-47D1-B616-48CD74E76C49}"/>
                </a:ext>
              </a:extLst>
            </p:cNvPr>
            <p:cNvSpPr>
              <a:spLocks noChangeArrowheads="1"/>
            </p:cNvSpPr>
            <p:nvPr/>
          </p:nvSpPr>
          <p:spPr bwMode="auto">
            <a:xfrm>
              <a:off x="10712072" y="2439109"/>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73" name="Line 854">
              <a:extLst>
                <a:ext uri="{FF2B5EF4-FFF2-40B4-BE49-F238E27FC236}">
                  <a16:creationId xmlns:a16="http://schemas.microsoft.com/office/drawing/2014/main" id="{FB555EBD-C815-433B-94C6-0314D7F55B15}"/>
                </a:ext>
              </a:extLst>
            </p:cNvPr>
            <p:cNvCxnSpPr>
              <a:cxnSpLocks noChangeShapeType="1"/>
              <a:stCxn id="71" idx="4"/>
              <a:endCxn id="77" idx="7"/>
            </p:cNvCxnSpPr>
            <p:nvPr/>
          </p:nvCxnSpPr>
          <p:spPr bwMode="auto">
            <a:xfrm flipH="1">
              <a:off x="11192217" y="2547232"/>
              <a:ext cx="343060" cy="65698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74" name="Line 855">
              <a:extLst>
                <a:ext uri="{FF2B5EF4-FFF2-40B4-BE49-F238E27FC236}">
                  <a16:creationId xmlns:a16="http://schemas.microsoft.com/office/drawing/2014/main" id="{7430B20A-2267-4B1C-93C7-22DA6B8E6A23}"/>
                </a:ext>
              </a:extLst>
            </p:cNvPr>
            <p:cNvCxnSpPr>
              <a:cxnSpLocks noChangeShapeType="1"/>
              <a:stCxn id="69" idx="3"/>
              <a:endCxn id="72" idx="0"/>
            </p:cNvCxnSpPr>
            <p:nvPr/>
          </p:nvCxnSpPr>
          <p:spPr bwMode="auto">
            <a:xfrm flipH="1">
              <a:off x="10766072" y="1789713"/>
              <a:ext cx="349777" cy="64939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75" name="Line 856">
              <a:extLst>
                <a:ext uri="{FF2B5EF4-FFF2-40B4-BE49-F238E27FC236}">
                  <a16:creationId xmlns:a16="http://schemas.microsoft.com/office/drawing/2014/main" id="{744D498A-B5B1-4B9E-B92F-392FBAC1F9EA}"/>
                </a:ext>
              </a:extLst>
            </p:cNvPr>
            <p:cNvCxnSpPr>
              <a:cxnSpLocks noChangeShapeType="1"/>
              <a:stCxn id="69" idx="5"/>
              <a:endCxn id="71" idx="0"/>
            </p:cNvCxnSpPr>
            <p:nvPr/>
          </p:nvCxnSpPr>
          <p:spPr bwMode="auto">
            <a:xfrm>
              <a:off x="11192217" y="1789713"/>
              <a:ext cx="343060" cy="64939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76" name="Line 857">
              <a:extLst>
                <a:ext uri="{FF2B5EF4-FFF2-40B4-BE49-F238E27FC236}">
                  <a16:creationId xmlns:a16="http://schemas.microsoft.com/office/drawing/2014/main" id="{F538BCDC-872D-4E70-A8A9-17A55B59746B}"/>
                </a:ext>
              </a:extLst>
            </p:cNvPr>
            <p:cNvCxnSpPr>
              <a:cxnSpLocks noChangeShapeType="1"/>
              <a:stCxn id="72" idx="4"/>
              <a:endCxn id="77" idx="1"/>
            </p:cNvCxnSpPr>
            <p:nvPr/>
          </p:nvCxnSpPr>
          <p:spPr bwMode="auto">
            <a:xfrm>
              <a:off x="10766072" y="2547232"/>
              <a:ext cx="349777" cy="65698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77" name="Oval 858">
              <a:extLst>
                <a:ext uri="{FF2B5EF4-FFF2-40B4-BE49-F238E27FC236}">
                  <a16:creationId xmlns:a16="http://schemas.microsoft.com/office/drawing/2014/main" id="{58BB7DA8-83A9-4C82-ABB0-63158EB7B2BA}"/>
                </a:ext>
              </a:extLst>
            </p:cNvPr>
            <p:cNvSpPr>
              <a:spLocks noChangeArrowheads="1"/>
            </p:cNvSpPr>
            <p:nvPr/>
          </p:nvSpPr>
          <p:spPr bwMode="auto">
            <a:xfrm>
              <a:off x="11100033" y="3188382"/>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78" name="Text Box 859">
              <a:extLst>
                <a:ext uri="{FF2B5EF4-FFF2-40B4-BE49-F238E27FC236}">
                  <a16:creationId xmlns:a16="http://schemas.microsoft.com/office/drawing/2014/main" id="{F4A2AF73-2698-432F-8C8B-57EF42223444}"/>
                </a:ext>
              </a:extLst>
            </p:cNvPr>
            <p:cNvSpPr txBox="1">
              <a:spLocks noChangeArrowheads="1"/>
            </p:cNvSpPr>
            <p:nvPr/>
          </p:nvSpPr>
          <p:spPr bwMode="auto">
            <a:xfrm>
              <a:off x="11152533" y="4040259"/>
              <a:ext cx="261386" cy="25568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79" name="Text Box 860">
              <a:extLst>
                <a:ext uri="{FF2B5EF4-FFF2-40B4-BE49-F238E27FC236}">
                  <a16:creationId xmlns:a16="http://schemas.microsoft.com/office/drawing/2014/main" id="{6DFF4AE8-46EA-4F3F-A379-CF013D70AB60}"/>
                </a:ext>
              </a:extLst>
            </p:cNvPr>
            <p:cNvSpPr txBox="1">
              <a:spLocks noChangeArrowheads="1"/>
            </p:cNvSpPr>
            <p:nvPr/>
          </p:nvSpPr>
          <p:spPr bwMode="auto">
            <a:xfrm>
              <a:off x="10707886" y="3155186"/>
              <a:ext cx="332539" cy="5368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80" name="Text Box 861">
              <a:extLst>
                <a:ext uri="{FF2B5EF4-FFF2-40B4-BE49-F238E27FC236}">
                  <a16:creationId xmlns:a16="http://schemas.microsoft.com/office/drawing/2014/main" id="{9A9F9FC5-1BAA-45F2-A999-D2870F64A894}"/>
                </a:ext>
              </a:extLst>
            </p:cNvPr>
            <p:cNvSpPr txBox="1">
              <a:spLocks noChangeArrowheads="1"/>
            </p:cNvSpPr>
            <p:nvPr/>
          </p:nvSpPr>
          <p:spPr bwMode="auto">
            <a:xfrm>
              <a:off x="10216219" y="2164060"/>
              <a:ext cx="262406" cy="41921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81" name="Text Box 862">
              <a:extLst>
                <a:ext uri="{FF2B5EF4-FFF2-40B4-BE49-F238E27FC236}">
                  <a16:creationId xmlns:a16="http://schemas.microsoft.com/office/drawing/2014/main" id="{4EAD0848-2046-46F4-978B-0543E0173F2F}"/>
                </a:ext>
              </a:extLst>
            </p:cNvPr>
            <p:cNvSpPr txBox="1">
              <a:spLocks noChangeArrowheads="1"/>
            </p:cNvSpPr>
            <p:nvPr/>
          </p:nvSpPr>
          <p:spPr bwMode="auto">
            <a:xfrm>
              <a:off x="11588765" y="2164060"/>
              <a:ext cx="189782" cy="2067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82" name="Text Box 863">
              <a:extLst>
                <a:ext uri="{FF2B5EF4-FFF2-40B4-BE49-F238E27FC236}">
                  <a16:creationId xmlns:a16="http://schemas.microsoft.com/office/drawing/2014/main" id="{8055D537-B3A7-4915-833D-671D360BFDBD}"/>
                </a:ext>
              </a:extLst>
            </p:cNvPr>
            <p:cNvSpPr txBox="1">
              <a:spLocks noChangeArrowheads="1"/>
            </p:cNvSpPr>
            <p:nvPr/>
          </p:nvSpPr>
          <p:spPr bwMode="auto">
            <a:xfrm>
              <a:off x="11115849" y="1268097"/>
              <a:ext cx="314064" cy="3850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83" name="Line 864">
              <a:extLst>
                <a:ext uri="{FF2B5EF4-FFF2-40B4-BE49-F238E27FC236}">
                  <a16:creationId xmlns:a16="http://schemas.microsoft.com/office/drawing/2014/main" id="{B40F7EA1-3434-49DC-8B7F-A099AD1797FE}"/>
                </a:ext>
              </a:extLst>
            </p:cNvPr>
            <p:cNvCxnSpPr>
              <a:cxnSpLocks noChangeShapeType="1"/>
              <a:stCxn id="77" idx="4"/>
              <a:endCxn id="70" idx="0"/>
            </p:cNvCxnSpPr>
            <p:nvPr/>
          </p:nvCxnSpPr>
          <p:spPr bwMode="auto">
            <a:xfrm>
              <a:off x="11154033" y="3296505"/>
              <a:ext cx="0" cy="6639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84" name="Text Box 866">
              <a:extLst>
                <a:ext uri="{FF2B5EF4-FFF2-40B4-BE49-F238E27FC236}">
                  <a16:creationId xmlns:a16="http://schemas.microsoft.com/office/drawing/2014/main" id="{937121AB-6159-4A4F-A65F-BDE281F0B08D}"/>
                </a:ext>
              </a:extLst>
            </p:cNvPr>
            <p:cNvSpPr txBox="1">
              <a:spLocks noChangeArrowheads="1"/>
            </p:cNvSpPr>
            <p:nvPr/>
          </p:nvSpPr>
          <p:spPr bwMode="auto">
            <a:xfrm>
              <a:off x="653606" y="4039418"/>
              <a:ext cx="303988" cy="30540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85" name="Line 867">
              <a:extLst>
                <a:ext uri="{FF2B5EF4-FFF2-40B4-BE49-F238E27FC236}">
                  <a16:creationId xmlns:a16="http://schemas.microsoft.com/office/drawing/2014/main" id="{750F0952-A43F-4EE7-9F7E-D6EE7749CDAC}"/>
                </a:ext>
              </a:extLst>
            </p:cNvPr>
            <p:cNvCxnSpPr>
              <a:cxnSpLocks noChangeShapeType="1"/>
              <a:stCxn id="87" idx="4"/>
              <a:endCxn id="90" idx="0"/>
            </p:cNvCxnSpPr>
            <p:nvPr/>
          </p:nvCxnSpPr>
          <p:spPr bwMode="auto">
            <a:xfrm>
              <a:off x="695861" y="1805547"/>
              <a:ext cx="0" cy="21548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86" name="Text Box 869">
              <a:extLst>
                <a:ext uri="{FF2B5EF4-FFF2-40B4-BE49-F238E27FC236}">
                  <a16:creationId xmlns:a16="http://schemas.microsoft.com/office/drawing/2014/main" id="{6D742A7D-3E02-475B-92E5-97661984533B}"/>
                </a:ext>
              </a:extLst>
            </p:cNvPr>
            <p:cNvSpPr txBox="1">
              <a:spLocks noChangeArrowheads="1"/>
            </p:cNvSpPr>
            <p:nvPr/>
          </p:nvSpPr>
          <p:spPr bwMode="auto">
            <a:xfrm>
              <a:off x="500777" y="4804533"/>
              <a:ext cx="475295" cy="536821"/>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87" name="Oval 870">
              <a:extLst>
                <a:ext uri="{FF2B5EF4-FFF2-40B4-BE49-F238E27FC236}">
                  <a16:creationId xmlns:a16="http://schemas.microsoft.com/office/drawing/2014/main" id="{A4E4692E-428D-4318-A1D8-C12043807C96}"/>
                </a:ext>
              </a:extLst>
            </p:cNvPr>
            <p:cNvSpPr>
              <a:spLocks noChangeArrowheads="1"/>
            </p:cNvSpPr>
            <p:nvPr/>
          </p:nvSpPr>
          <p:spPr bwMode="auto">
            <a:xfrm>
              <a:off x="641861" y="169742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88" name="Oval 871">
              <a:extLst>
                <a:ext uri="{FF2B5EF4-FFF2-40B4-BE49-F238E27FC236}">
                  <a16:creationId xmlns:a16="http://schemas.microsoft.com/office/drawing/2014/main" id="{451BC0F9-4A85-4DAC-AD10-9533E0DD25B4}"/>
                </a:ext>
              </a:extLst>
            </p:cNvPr>
            <p:cNvSpPr>
              <a:spLocks noChangeArrowheads="1"/>
            </p:cNvSpPr>
            <p:nvPr/>
          </p:nvSpPr>
          <p:spPr bwMode="auto">
            <a:xfrm>
              <a:off x="641861" y="2450491"/>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89" name="Oval 872">
              <a:extLst>
                <a:ext uri="{FF2B5EF4-FFF2-40B4-BE49-F238E27FC236}">
                  <a16:creationId xmlns:a16="http://schemas.microsoft.com/office/drawing/2014/main" id="{CC4E5E44-78BE-44FF-B3FF-AB562B9C2C75}"/>
                </a:ext>
              </a:extLst>
            </p:cNvPr>
            <p:cNvSpPr>
              <a:spLocks noChangeArrowheads="1"/>
            </p:cNvSpPr>
            <p:nvPr/>
          </p:nvSpPr>
          <p:spPr bwMode="auto">
            <a:xfrm>
              <a:off x="641861" y="320545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90" name="Oval 873">
              <a:extLst>
                <a:ext uri="{FF2B5EF4-FFF2-40B4-BE49-F238E27FC236}">
                  <a16:creationId xmlns:a16="http://schemas.microsoft.com/office/drawing/2014/main" id="{D045CEEB-BAF5-4013-ADAB-0DD26AA86A1A}"/>
                </a:ext>
              </a:extLst>
            </p:cNvPr>
            <p:cNvSpPr>
              <a:spLocks noChangeArrowheads="1"/>
            </p:cNvSpPr>
            <p:nvPr/>
          </p:nvSpPr>
          <p:spPr bwMode="auto">
            <a:xfrm>
              <a:off x="641861" y="396041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91" name="Text Box 874">
              <a:extLst>
                <a:ext uri="{FF2B5EF4-FFF2-40B4-BE49-F238E27FC236}">
                  <a16:creationId xmlns:a16="http://schemas.microsoft.com/office/drawing/2014/main" id="{69FD0E39-A805-4081-8449-F1087801E151}"/>
                </a:ext>
              </a:extLst>
            </p:cNvPr>
            <p:cNvSpPr txBox="1">
              <a:spLocks noChangeArrowheads="1"/>
            </p:cNvSpPr>
            <p:nvPr/>
          </p:nvSpPr>
          <p:spPr bwMode="auto">
            <a:xfrm>
              <a:off x="431926" y="2968342"/>
              <a:ext cx="183063" cy="27694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2" name="Text Box 875">
              <a:extLst>
                <a:ext uri="{FF2B5EF4-FFF2-40B4-BE49-F238E27FC236}">
                  <a16:creationId xmlns:a16="http://schemas.microsoft.com/office/drawing/2014/main" id="{F3E0D83E-2361-4617-A6F7-F29741B65522}"/>
                </a:ext>
              </a:extLst>
            </p:cNvPr>
            <p:cNvSpPr txBox="1">
              <a:spLocks noChangeArrowheads="1"/>
            </p:cNvSpPr>
            <p:nvPr/>
          </p:nvSpPr>
          <p:spPr bwMode="auto">
            <a:xfrm>
              <a:off x="431925" y="2190617"/>
              <a:ext cx="221681" cy="305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3" name="Text Box 876">
              <a:extLst>
                <a:ext uri="{FF2B5EF4-FFF2-40B4-BE49-F238E27FC236}">
                  <a16:creationId xmlns:a16="http://schemas.microsoft.com/office/drawing/2014/main" id="{2F358E8A-66C0-4C73-A5BC-51E21E9423FD}"/>
                </a:ext>
              </a:extLst>
            </p:cNvPr>
            <p:cNvSpPr txBox="1">
              <a:spLocks noChangeArrowheads="1"/>
            </p:cNvSpPr>
            <p:nvPr/>
          </p:nvSpPr>
          <p:spPr bwMode="auto">
            <a:xfrm>
              <a:off x="600970" y="1307947"/>
              <a:ext cx="189782" cy="305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4" name="Text Box 878">
              <a:extLst>
                <a:ext uri="{FF2B5EF4-FFF2-40B4-BE49-F238E27FC236}">
                  <a16:creationId xmlns:a16="http://schemas.microsoft.com/office/drawing/2014/main" id="{7937FA50-CA09-41CA-8579-1788B0290145}"/>
                </a:ext>
              </a:extLst>
            </p:cNvPr>
            <p:cNvSpPr txBox="1">
              <a:spLocks noChangeArrowheads="1"/>
            </p:cNvSpPr>
            <p:nvPr/>
          </p:nvSpPr>
          <p:spPr bwMode="auto">
            <a:xfrm>
              <a:off x="2210437" y="4053084"/>
              <a:ext cx="303987" cy="22343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5" name="Text Box 879">
              <a:extLst>
                <a:ext uri="{FF2B5EF4-FFF2-40B4-BE49-F238E27FC236}">
                  <a16:creationId xmlns:a16="http://schemas.microsoft.com/office/drawing/2014/main" id="{C5C9E8F2-10C9-469B-877C-998270A20AE9}"/>
                </a:ext>
              </a:extLst>
            </p:cNvPr>
            <p:cNvSpPr txBox="1">
              <a:spLocks noChangeArrowheads="1"/>
            </p:cNvSpPr>
            <p:nvPr/>
          </p:nvSpPr>
          <p:spPr bwMode="auto">
            <a:xfrm>
              <a:off x="1912326" y="4804533"/>
              <a:ext cx="463538" cy="286431"/>
            </a:xfrm>
            <a:prstGeom prst="rect">
              <a:avLst/>
            </a:prstGeom>
            <a:solidFill>
              <a:srgbClr val="FFFFFF"/>
            </a:solidFill>
            <a:ln w="9525">
              <a:noFill/>
              <a:miter lim="800000"/>
              <a:headEnd/>
              <a:tailEnd/>
            </a:ln>
          </p:spPr>
          <p:txBody>
            <a:bodyPr rot="0" vert="horz" wrap="square" lIns="0" tIns="0" rIns="0" bIns="0" anchor="t" anchorCtr="0" upright="1">
              <a:noAutofit/>
            </a:bodyPr>
            <a:lstStyle/>
            <a:p>
              <a:pPr algn="ctr"/>
              <a:r>
                <a:rPr lang="en-US"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0000FF"/>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96" name="Oval 880">
              <a:extLst>
                <a:ext uri="{FF2B5EF4-FFF2-40B4-BE49-F238E27FC236}">
                  <a16:creationId xmlns:a16="http://schemas.microsoft.com/office/drawing/2014/main" id="{877F89FD-4BAD-4D22-B111-D393A6C8E0EC}"/>
                </a:ext>
              </a:extLst>
            </p:cNvPr>
            <p:cNvSpPr>
              <a:spLocks noChangeArrowheads="1"/>
            </p:cNvSpPr>
            <p:nvPr/>
          </p:nvSpPr>
          <p:spPr bwMode="auto">
            <a:xfrm>
              <a:off x="2151721" y="178088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97" name="Oval 881">
              <a:extLst>
                <a:ext uri="{FF2B5EF4-FFF2-40B4-BE49-F238E27FC236}">
                  <a16:creationId xmlns:a16="http://schemas.microsoft.com/office/drawing/2014/main" id="{9B481A76-69AA-4C06-8A77-F8353808B8BB}"/>
                </a:ext>
              </a:extLst>
            </p:cNvPr>
            <p:cNvSpPr>
              <a:spLocks noChangeArrowheads="1"/>
            </p:cNvSpPr>
            <p:nvPr/>
          </p:nvSpPr>
          <p:spPr bwMode="auto">
            <a:xfrm>
              <a:off x="2151721" y="4043880"/>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98" name="Oval 882">
              <a:extLst>
                <a:ext uri="{FF2B5EF4-FFF2-40B4-BE49-F238E27FC236}">
                  <a16:creationId xmlns:a16="http://schemas.microsoft.com/office/drawing/2014/main" id="{67C71CAE-523F-4175-9783-F7114A0D919C}"/>
                </a:ext>
              </a:extLst>
            </p:cNvPr>
            <p:cNvSpPr>
              <a:spLocks noChangeArrowheads="1"/>
            </p:cNvSpPr>
            <p:nvPr/>
          </p:nvSpPr>
          <p:spPr bwMode="auto">
            <a:xfrm>
              <a:off x="1763759" y="2911435"/>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99" name="Line 883">
              <a:extLst>
                <a:ext uri="{FF2B5EF4-FFF2-40B4-BE49-F238E27FC236}">
                  <a16:creationId xmlns:a16="http://schemas.microsoft.com/office/drawing/2014/main" id="{0295B0F6-02CC-4C23-BB72-3BE964BA391A}"/>
                </a:ext>
              </a:extLst>
            </p:cNvPr>
            <p:cNvCxnSpPr>
              <a:cxnSpLocks noChangeShapeType="1"/>
              <a:stCxn id="106" idx="4"/>
              <a:endCxn id="97" idx="7"/>
            </p:cNvCxnSpPr>
            <p:nvPr/>
          </p:nvCxnSpPr>
          <p:spPr bwMode="auto">
            <a:xfrm flipH="1">
              <a:off x="2243905" y="3019558"/>
              <a:ext cx="343059" cy="1040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0" name="Line 884">
              <a:extLst>
                <a:ext uri="{FF2B5EF4-FFF2-40B4-BE49-F238E27FC236}">
                  <a16:creationId xmlns:a16="http://schemas.microsoft.com/office/drawing/2014/main" id="{9AC67A94-CAE5-4C6B-81BA-A2912B347D76}"/>
                </a:ext>
              </a:extLst>
            </p:cNvPr>
            <p:cNvCxnSpPr>
              <a:cxnSpLocks noChangeShapeType="1"/>
              <a:stCxn id="96" idx="3"/>
              <a:endCxn id="98" idx="0"/>
            </p:cNvCxnSpPr>
            <p:nvPr/>
          </p:nvCxnSpPr>
          <p:spPr bwMode="auto">
            <a:xfrm flipH="1">
              <a:off x="1817759" y="1873176"/>
              <a:ext cx="349778" cy="10382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1" name="Line 885">
              <a:extLst>
                <a:ext uri="{FF2B5EF4-FFF2-40B4-BE49-F238E27FC236}">
                  <a16:creationId xmlns:a16="http://schemas.microsoft.com/office/drawing/2014/main" id="{5C8DFEB6-A210-4F05-A319-B4D02E4DF9D5}"/>
                </a:ext>
              </a:extLst>
            </p:cNvPr>
            <p:cNvCxnSpPr>
              <a:cxnSpLocks noChangeShapeType="1"/>
              <a:stCxn id="96" idx="5"/>
              <a:endCxn id="106" idx="0"/>
            </p:cNvCxnSpPr>
            <p:nvPr/>
          </p:nvCxnSpPr>
          <p:spPr bwMode="auto">
            <a:xfrm>
              <a:off x="2243905" y="1873176"/>
              <a:ext cx="343059" cy="10382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2" name="Line 886">
              <a:extLst>
                <a:ext uri="{FF2B5EF4-FFF2-40B4-BE49-F238E27FC236}">
                  <a16:creationId xmlns:a16="http://schemas.microsoft.com/office/drawing/2014/main" id="{927CBEF5-BA45-4252-A8D0-6D6A7AF2C060}"/>
                </a:ext>
              </a:extLst>
            </p:cNvPr>
            <p:cNvCxnSpPr>
              <a:cxnSpLocks noChangeShapeType="1"/>
              <a:stCxn id="98" idx="4"/>
              <a:endCxn id="97" idx="1"/>
            </p:cNvCxnSpPr>
            <p:nvPr/>
          </p:nvCxnSpPr>
          <p:spPr bwMode="auto">
            <a:xfrm>
              <a:off x="1817759" y="3019558"/>
              <a:ext cx="349778" cy="1040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3" name="Text Box 887">
              <a:extLst>
                <a:ext uri="{FF2B5EF4-FFF2-40B4-BE49-F238E27FC236}">
                  <a16:creationId xmlns:a16="http://schemas.microsoft.com/office/drawing/2014/main" id="{362D6975-2734-4D79-9BDF-D6B3BFE2252B}"/>
                </a:ext>
              </a:extLst>
            </p:cNvPr>
            <p:cNvSpPr txBox="1">
              <a:spLocks noChangeArrowheads="1"/>
            </p:cNvSpPr>
            <p:nvPr/>
          </p:nvSpPr>
          <p:spPr bwMode="auto">
            <a:xfrm>
              <a:off x="1533672" y="2791486"/>
              <a:ext cx="206576" cy="4533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04" name="Text Box 888">
              <a:extLst>
                <a:ext uri="{FF2B5EF4-FFF2-40B4-BE49-F238E27FC236}">
                  <a16:creationId xmlns:a16="http://schemas.microsoft.com/office/drawing/2014/main" id="{FF5F3FD7-7E9A-4CE5-BF88-BC3A74B7853B}"/>
                </a:ext>
              </a:extLst>
            </p:cNvPr>
            <p:cNvSpPr txBox="1">
              <a:spLocks noChangeArrowheads="1"/>
            </p:cNvSpPr>
            <p:nvPr/>
          </p:nvSpPr>
          <p:spPr bwMode="auto">
            <a:xfrm>
              <a:off x="2644795" y="2708468"/>
              <a:ext cx="246873" cy="2864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05" name="Text Box 889">
              <a:extLst>
                <a:ext uri="{FF2B5EF4-FFF2-40B4-BE49-F238E27FC236}">
                  <a16:creationId xmlns:a16="http://schemas.microsoft.com/office/drawing/2014/main" id="{D92EE030-1D13-4613-88CA-5D4B8A5593F3}"/>
                </a:ext>
              </a:extLst>
            </p:cNvPr>
            <p:cNvSpPr txBox="1">
              <a:spLocks noChangeArrowheads="1"/>
            </p:cNvSpPr>
            <p:nvPr/>
          </p:nvSpPr>
          <p:spPr bwMode="auto">
            <a:xfrm>
              <a:off x="2114773" y="1345166"/>
              <a:ext cx="261091" cy="19481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06" name="Oval 890">
              <a:extLst>
                <a:ext uri="{FF2B5EF4-FFF2-40B4-BE49-F238E27FC236}">
                  <a16:creationId xmlns:a16="http://schemas.microsoft.com/office/drawing/2014/main" id="{66B10CC0-2299-49FD-9A8A-A10A726859AB}"/>
                </a:ext>
              </a:extLst>
            </p:cNvPr>
            <p:cNvSpPr>
              <a:spLocks noChangeArrowheads="1"/>
            </p:cNvSpPr>
            <p:nvPr/>
          </p:nvSpPr>
          <p:spPr bwMode="auto">
            <a:xfrm>
              <a:off x="2532964" y="2911435"/>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grpSp>
    </p:spTree>
    <p:extLst>
      <p:ext uri="{BB962C8B-B14F-4D97-AF65-F5344CB8AC3E}">
        <p14:creationId xmlns:p14="http://schemas.microsoft.com/office/powerpoint/2010/main" val="1785066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651376" y="915194"/>
            <a:ext cx="6629399" cy="5205255"/>
            <a:chOff x="4619229" y="1297085"/>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619229" y="1297085"/>
              <a:ext cx="6629399" cy="5205255"/>
              <a:chOff x="4619229" y="1297085"/>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619229" y="1297085"/>
                <a:ext cx="6629399" cy="5205255"/>
                <a:chOff x="4619229" y="1228143"/>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619229" y="1228143"/>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876646" y="3621003"/>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TextBox 1">
                  <a:extLst>
                    <a:ext uri="{FF2B5EF4-FFF2-40B4-BE49-F238E27FC236}">
                      <a16:creationId xmlns:a16="http://schemas.microsoft.com/office/drawing/2014/main" id="{CC1830B4-B7AE-4F4E-B2A2-7EA3C57296F9}"/>
                    </a:ext>
                  </a:extLst>
                </p:cNvPr>
                <p:cNvSpPr txBox="1"/>
                <p:nvPr/>
              </p:nvSpPr>
              <p:spPr>
                <a:xfrm>
                  <a:off x="6954055" y="2671643"/>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格的定义和性质</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49641" y="3265020"/>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子格与格同态</a:t>
                  </a:r>
                </a:p>
              </p:txBody>
            </p:sp>
            <p:sp>
              <p:nvSpPr>
                <p:cNvPr id="108" name="Freeform 3">
                  <a:extLst>
                    <a:ext uri="{FF2B5EF4-FFF2-40B4-BE49-F238E27FC236}">
                      <a16:creationId xmlns:a16="http://schemas.microsoft.com/office/drawing/2014/main" id="{B90F0CC1-39D6-4CF7-88A9-B6AE46CF38C8}"/>
                    </a:ext>
                  </a:extLst>
                </p:cNvPr>
                <p:cNvSpPr/>
                <p:nvPr/>
              </p:nvSpPr>
              <p:spPr>
                <a:xfrm>
                  <a:off x="6698357" y="1861397"/>
                  <a:ext cx="45719" cy="394420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10" name="Freeform 3">
                  <a:extLst>
                    <a:ext uri="{FF2B5EF4-FFF2-40B4-BE49-F238E27FC236}">
                      <a16:creationId xmlns:a16="http://schemas.microsoft.com/office/drawing/2014/main" id="{4422CB3B-D0D5-4FEA-B0A8-30267AF052B1}"/>
                    </a:ext>
                  </a:extLst>
                </p:cNvPr>
                <p:cNvSpPr/>
                <p:nvPr/>
              </p:nvSpPr>
              <p:spPr>
                <a:xfrm>
                  <a:off x="6646827" y="221089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24104" y="33202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24104" y="37921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82518" y="3778915"/>
                  <a:ext cx="923330"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特殊格</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870609" y="4886187"/>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格与布尔代数的应用</a:t>
                  </a:r>
                </a:p>
              </p:txBody>
            </p:sp>
            <p:sp>
              <p:nvSpPr>
                <p:cNvPr id="116" name="Freeform 3">
                  <a:extLst>
                    <a:ext uri="{FF2B5EF4-FFF2-40B4-BE49-F238E27FC236}">
                      <a16:creationId xmlns:a16="http://schemas.microsoft.com/office/drawing/2014/main" id="{74C8B829-18F9-4783-B4D6-E9A724B05A1B}"/>
                    </a:ext>
                  </a:extLst>
                </p:cNvPr>
                <p:cNvSpPr/>
                <p:nvPr/>
              </p:nvSpPr>
              <p:spPr>
                <a:xfrm>
                  <a:off x="6632575" y="437073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2575" y="4928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876646" y="2669024"/>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851892" y="3265019"/>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821174" y="3775870"/>
                  <a:ext cx="740587"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10.3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885928" y="429366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63759" y="212402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47502" y="5444665"/>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50219" y="53950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841681" y="4861636"/>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10.5</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54055" y="4407251"/>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布尔代数</a:t>
                </a:r>
              </a:p>
            </p:txBody>
          </p:sp>
          <p:sp>
            <p:nvSpPr>
              <p:cNvPr id="50" name="TextBox 1">
                <a:extLst>
                  <a:ext uri="{FF2B5EF4-FFF2-40B4-BE49-F238E27FC236}">
                    <a16:creationId xmlns:a16="http://schemas.microsoft.com/office/drawing/2014/main" id="{159A0760-2207-4EDB-B452-50B7B83350F3}"/>
                  </a:ext>
                </a:extLst>
              </p:cNvPr>
              <p:cNvSpPr txBox="1"/>
              <p:nvPr/>
            </p:nvSpPr>
            <p:spPr>
              <a:xfrm>
                <a:off x="5885927" y="549855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10.6</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2575" y="28313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
        <p:nvSpPr>
          <p:cNvPr id="54" name="TextBox 1">
            <a:extLst>
              <a:ext uri="{FF2B5EF4-FFF2-40B4-BE49-F238E27FC236}">
                <a16:creationId xmlns:a16="http://schemas.microsoft.com/office/drawing/2014/main" id="{C344C7EF-3690-4079-B282-FA080A548B0F}"/>
              </a:ext>
            </a:extLst>
          </p:cNvPr>
          <p:cNvSpPr txBox="1"/>
          <p:nvPr/>
        </p:nvSpPr>
        <p:spPr>
          <a:xfrm>
            <a:off x="7012641" y="1788696"/>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710486335"/>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A2B13D-FEE4-47EB-B971-5BD0D76C5991}"/>
              </a:ext>
            </a:extLst>
          </p:cNvPr>
          <p:cNvSpPr>
            <a:spLocks noGrp="1"/>
          </p:cNvSpPr>
          <p:nvPr>
            <p:ph type="title"/>
          </p:nvPr>
        </p:nvSpPr>
        <p:spPr/>
        <p:txBody>
          <a:bodyPr/>
          <a:lstStyle/>
          <a:p>
            <a:r>
              <a:rPr lang="zh-CN" altLang="en-US" dirty="0"/>
              <a:t>特殊格</a:t>
            </a:r>
          </a:p>
        </p:txBody>
      </p:sp>
      <p:sp>
        <p:nvSpPr>
          <p:cNvPr id="3" name="内容占位符 2">
            <a:extLst>
              <a:ext uri="{FF2B5EF4-FFF2-40B4-BE49-F238E27FC236}">
                <a16:creationId xmlns:a16="http://schemas.microsoft.com/office/drawing/2014/main" id="{F82232F6-029A-4848-A08A-A6CD3ECEF5E2}"/>
              </a:ext>
            </a:extLst>
          </p:cNvPr>
          <p:cNvSpPr>
            <a:spLocks noGrp="1"/>
          </p:cNvSpPr>
          <p:nvPr>
            <p:ph idx="1"/>
          </p:nvPr>
        </p:nvSpPr>
        <p:spPr>
          <a:xfrm>
            <a:off x="841375" y="1296194"/>
            <a:ext cx="6858000" cy="2209800"/>
          </a:xfrm>
        </p:spPr>
        <p:txBody>
          <a:bodyPr>
            <a:normAutofit/>
          </a:bodyPr>
          <a:lstStyle/>
          <a:p>
            <a:pPr>
              <a:lnSpc>
                <a:spcPct val="150000"/>
              </a:lnSpc>
            </a:pPr>
            <a:r>
              <a:rPr lang="zh-CN" altLang="en-US" dirty="0"/>
              <a:t>按照满足的</a:t>
            </a:r>
            <a:r>
              <a:rPr lang="zh-CN" altLang="en-US" dirty="0">
                <a:solidFill>
                  <a:srgbClr val="0000FF"/>
                </a:solidFill>
              </a:rPr>
              <a:t>运算定律</a:t>
            </a:r>
            <a:r>
              <a:rPr lang="zh-CN" altLang="en-US" dirty="0"/>
              <a:t>来划分：</a:t>
            </a:r>
            <a:endParaRPr lang="en-US" altLang="zh-CN" dirty="0"/>
          </a:p>
          <a:p>
            <a:pPr lvl="1">
              <a:lnSpc>
                <a:spcPct val="150000"/>
              </a:lnSpc>
            </a:pPr>
            <a:r>
              <a:rPr lang="zh-CN" altLang="en-US" sz="2400" dirty="0">
                <a:solidFill>
                  <a:srgbClr val="FF0000"/>
                </a:solidFill>
              </a:rPr>
              <a:t>分配格</a:t>
            </a:r>
            <a:r>
              <a:rPr lang="zh-CN" altLang="en-US" sz="2400" dirty="0"/>
              <a:t>：满足分配律</a:t>
            </a:r>
            <a:endParaRPr lang="en-US" altLang="zh-CN" sz="2400" dirty="0"/>
          </a:p>
          <a:p>
            <a:pPr lvl="1">
              <a:lnSpc>
                <a:spcPct val="150000"/>
              </a:lnSpc>
            </a:pPr>
            <a:r>
              <a:rPr lang="zh-CN" altLang="en-US" sz="2400" dirty="0">
                <a:solidFill>
                  <a:srgbClr val="FF0000"/>
                </a:solidFill>
              </a:rPr>
              <a:t>模格</a:t>
            </a:r>
            <a:r>
              <a:rPr lang="zh-CN" altLang="en-US" sz="2400" dirty="0"/>
              <a:t>：满足模律</a:t>
            </a:r>
          </a:p>
        </p:txBody>
      </p:sp>
    </p:spTree>
    <p:extLst>
      <p:ext uri="{BB962C8B-B14F-4D97-AF65-F5344CB8AC3E}">
        <p14:creationId xmlns:p14="http://schemas.microsoft.com/office/powerpoint/2010/main" val="4127209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CD1-2428-4A5A-8788-29026EC5CEEC}"/>
              </a:ext>
            </a:extLst>
          </p:cNvPr>
          <p:cNvSpPr>
            <a:spLocks noGrp="1"/>
          </p:cNvSpPr>
          <p:nvPr>
            <p:ph type="title"/>
          </p:nvPr>
        </p:nvSpPr>
        <p:spPr/>
        <p:txBody>
          <a:bodyPr/>
          <a:lstStyle/>
          <a:p>
            <a:r>
              <a:rPr lang="zh-CN" altLang="en-US" dirty="0"/>
              <a:t>分配格</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89C0D9-BEEF-4849-947E-A16437BBF238}"/>
                  </a:ext>
                </a:extLst>
              </p:cNvPr>
              <p:cNvSpPr>
                <a:spLocks noGrp="1"/>
              </p:cNvSpPr>
              <p:nvPr>
                <p:ph idx="1"/>
              </p:nvPr>
            </p:nvSpPr>
            <p:spPr>
              <a:xfrm>
                <a:off x="460375" y="1219994"/>
                <a:ext cx="11049000" cy="1845541"/>
              </a:xfrm>
            </p:spPr>
            <p:txBody>
              <a:bodyPr>
                <a:noAutofit/>
              </a:bodyPr>
              <a:lstStyle/>
              <a:p>
                <a:pPr marL="0" indent="0">
                  <a:lnSpc>
                    <a:spcPct val="130000"/>
                  </a:lnSpc>
                  <a:buNone/>
                </a:pPr>
                <a:r>
                  <a:rPr lang="zh-CN" altLang="zh-CN" dirty="0">
                    <a:solidFill>
                      <a:srgbClr val="0000FF"/>
                    </a:solidFill>
                    <a:latin typeface="+mn-ea"/>
                  </a:rPr>
                  <a:t>定义</a:t>
                </a:r>
                <a:r>
                  <a:rPr lang="en-US" altLang="zh-CN" dirty="0">
                    <a:solidFill>
                      <a:srgbClr val="0000FF"/>
                    </a:solidFill>
                    <a:latin typeface="+mn-ea"/>
                  </a:rPr>
                  <a:t>10.7  </a:t>
                </a:r>
                <a:r>
                  <a:rPr lang="zh-CN" altLang="zh-CN" dirty="0">
                    <a:latin typeface="+mn-ea"/>
                  </a:rPr>
                  <a:t>设</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𝑳</m:t>
                    </m:r>
                    <m:r>
                      <a:rPr lang="en-US" altLang="zh-CN" b="1" i="1" dirty="0" smtClean="0">
                        <a:latin typeface="Cambria Math" panose="02040503050406030204" pitchFamily="18" charset="0"/>
                      </a:rPr>
                      <m:t>, ∧, ∨&gt;</m:t>
                    </m:r>
                  </m:oMath>
                </a14:m>
                <a:r>
                  <a:rPr lang="zh-CN" altLang="zh-CN" dirty="0">
                    <a:latin typeface="+mn-ea"/>
                  </a:rPr>
                  <a:t>是一个格，如果对任意</a:t>
                </a:r>
                <a14:m>
                  <m:oMath xmlns:m="http://schemas.openxmlformats.org/officeDocument/2006/math">
                    <m:r>
                      <a:rPr lang="en-US" altLang="zh-CN" b="1" i="1" dirty="0" smtClean="0">
                        <a:latin typeface="Cambria Math" panose="02040503050406030204" pitchFamily="18" charset="0"/>
                      </a:rPr>
                      <m:t>𝒂</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𝒃</m:t>
                    </m:r>
                    <m:r>
                      <a:rPr lang="en-US" altLang="zh-CN" b="1" i="1" dirty="0" smtClean="0">
                        <a:latin typeface="Cambria Math" panose="02040503050406030204" pitchFamily="18" charset="0"/>
                      </a:rPr>
                      <m:t>, </m:t>
                    </m:r>
                    <m:r>
                      <a:rPr lang="en-US" altLang="zh-CN" b="1" i="1" dirty="0" err="1">
                        <a:latin typeface="Cambria Math" panose="02040503050406030204" pitchFamily="18" charset="0"/>
                      </a:rPr>
                      <m:t>𝒄</m:t>
                    </m:r>
                    <m:r>
                      <a:rPr lang="en-US" altLang="zh-CN" b="1" i="1" dirty="0" err="1">
                        <a:latin typeface="Cambria Math" panose="02040503050406030204" pitchFamily="18" charset="0"/>
                      </a:rPr>
                      <m:t>∈</m:t>
                    </m:r>
                    <m:r>
                      <a:rPr lang="en-US" altLang="zh-CN" b="1" i="1" dirty="0" err="1">
                        <a:latin typeface="Cambria Math" panose="02040503050406030204" pitchFamily="18" charset="0"/>
                      </a:rPr>
                      <m:t>𝑳</m:t>
                    </m:r>
                    <m:r>
                      <a:rPr lang="zh-CN" altLang="zh-CN" b="1" i="1" dirty="0">
                        <a:latin typeface="Cambria Math" panose="02040503050406030204" pitchFamily="18" charset="0"/>
                      </a:rPr>
                      <m:t>，</m:t>
                    </m:r>
                  </m:oMath>
                </a14:m>
                <a:r>
                  <a:rPr lang="zh-CN" altLang="zh-CN" dirty="0">
                    <a:latin typeface="+mn-ea"/>
                  </a:rPr>
                  <a:t>都有</a:t>
                </a:r>
              </a:p>
              <a:p>
                <a:pPr marL="0" indent="0">
                  <a:lnSpc>
                    <a:spcPct val="130000"/>
                  </a:lnSpc>
                  <a:buNone/>
                </a:pPr>
                <a14:m>
                  <m:oMath xmlns:m="http://schemas.openxmlformats.org/officeDocument/2006/math">
                    <m:r>
                      <a:rPr lang="en-US" altLang="zh-CN" b="1" i="1" dirty="0" smtClean="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 =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en-US" altLang="zh-CN" b="1" i="1" dirty="0">
                        <a:solidFill>
                          <a:srgbClr val="0000FF"/>
                        </a:solidFill>
                        <a:latin typeface="Cambria Math" panose="02040503050406030204" pitchFamily="18" charset="0"/>
                      </a:rPr>
                      <m:t>) ∨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m:t>
                    </m:r>
                  </m:oMath>
                </a14:m>
                <a:r>
                  <a:rPr lang="zh-CN" altLang="zh-CN" dirty="0">
                    <a:solidFill>
                      <a:srgbClr val="0000FF"/>
                    </a:solidFill>
                    <a:latin typeface="+mn-ea"/>
                  </a:rPr>
                  <a:t>或</a:t>
                </a:r>
                <a:r>
                  <a:rPr lang="en-US" altLang="zh-CN" dirty="0">
                    <a:solidFill>
                      <a:srgbClr val="0000FF"/>
                    </a:solidFill>
                    <a:latin typeface="+mn-ea"/>
                  </a:rPr>
                  <a:t> </a:t>
                </a:r>
                <a14:m>
                  <m:oMath xmlns:m="http://schemas.openxmlformats.org/officeDocument/2006/math">
                    <m:r>
                      <a:rPr lang="en-US" altLang="zh-CN" b="1" i="1" dirty="0" smtClean="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 </m:t>
                    </m:r>
                    <m:r>
                      <a:rPr lang="en-US"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 =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𝒃</m:t>
                    </m:r>
                    <m:r>
                      <a:rPr lang="en-US" altLang="zh-CN" b="1" i="1" dirty="0">
                        <a:solidFill>
                          <a:srgbClr val="0000FF"/>
                        </a:solidFill>
                        <a:latin typeface="Cambria Math" panose="02040503050406030204" pitchFamily="18" charset="0"/>
                      </a:rPr>
                      <m:t>) ∧ (</m:t>
                    </m:r>
                    <m:r>
                      <a:rPr lang="en-US" altLang="zh-CN" b="1" i="1" dirty="0">
                        <a:solidFill>
                          <a:srgbClr val="0000FF"/>
                        </a:solidFill>
                        <a:latin typeface="Cambria Math" panose="02040503050406030204" pitchFamily="18" charset="0"/>
                      </a:rPr>
                      <m:t>𝒂</m:t>
                    </m:r>
                    <m:r>
                      <a:rPr lang="zh-CN" altLang="zh-CN" b="1" i="1" dirty="0">
                        <a:solidFill>
                          <a:srgbClr val="0000FF"/>
                        </a:solidFill>
                        <a:latin typeface="Cambria Math" panose="02040503050406030204" pitchFamily="18" charset="0"/>
                      </a:rPr>
                      <m:t>∨</m:t>
                    </m:r>
                    <m:r>
                      <a:rPr lang="en-US" altLang="zh-CN" b="1" i="1" dirty="0">
                        <a:solidFill>
                          <a:srgbClr val="0000FF"/>
                        </a:solidFill>
                        <a:latin typeface="Cambria Math" panose="02040503050406030204" pitchFamily="18" charset="0"/>
                      </a:rPr>
                      <m:t>𝒄</m:t>
                    </m:r>
                    <m:r>
                      <a:rPr lang="en-US" altLang="zh-CN" b="1" i="1" dirty="0">
                        <a:solidFill>
                          <a:srgbClr val="0000FF"/>
                        </a:solidFill>
                        <a:latin typeface="Cambria Math" panose="02040503050406030204" pitchFamily="18" charset="0"/>
                      </a:rPr>
                      <m:t>)</m:t>
                    </m:r>
                  </m:oMath>
                </a14:m>
                <a:endParaRPr lang="zh-CN" altLang="zh-CN" dirty="0">
                  <a:solidFill>
                    <a:srgbClr val="0000FF"/>
                  </a:solidFill>
                  <a:latin typeface="+mn-ea"/>
                </a:endParaRPr>
              </a:p>
              <a:p>
                <a:pPr marL="0" indent="0">
                  <a:lnSpc>
                    <a:spcPct val="130000"/>
                  </a:lnSpc>
                  <a:buNone/>
                </a:pPr>
                <a:r>
                  <a:rPr lang="zh-CN" altLang="zh-CN" dirty="0">
                    <a:latin typeface="+mn-ea"/>
                  </a:rPr>
                  <a:t>即运算满足分配律，则称</a:t>
                </a:r>
                <a14:m>
                  <m:oMath xmlns:m="http://schemas.openxmlformats.org/officeDocument/2006/math">
                    <m:r>
                      <a:rPr lang="en-US" altLang="zh-CN" b="1" i="1" dirty="0" smtClean="0">
                        <a:latin typeface="Cambria Math" panose="02040503050406030204" pitchFamily="18" charset="0"/>
                      </a:rPr>
                      <m:t>&lt;</m:t>
                    </m:r>
                    <m:r>
                      <a:rPr lang="en-US" altLang="zh-CN" b="1" i="1" dirty="0" smtClean="0">
                        <a:latin typeface="Cambria Math" panose="02040503050406030204" pitchFamily="18" charset="0"/>
                      </a:rPr>
                      <m:t>𝑳</m:t>
                    </m:r>
                    <m:r>
                      <a:rPr lang="en-US" altLang="zh-CN" b="1" i="1" dirty="0" smtClean="0">
                        <a:latin typeface="Cambria Math" panose="02040503050406030204" pitchFamily="18" charset="0"/>
                      </a:rPr>
                      <m:t>, ∧, ∨&gt;</m:t>
                    </m:r>
                  </m:oMath>
                </a14:m>
                <a:r>
                  <a:rPr lang="zh-CN" altLang="zh-CN" dirty="0">
                    <a:latin typeface="+mn-ea"/>
                  </a:rPr>
                  <a:t>是一个</a:t>
                </a:r>
                <a:r>
                  <a:rPr lang="zh-CN" altLang="zh-CN" dirty="0">
                    <a:solidFill>
                      <a:srgbClr val="FF0000"/>
                    </a:solidFill>
                    <a:latin typeface="+mn-ea"/>
                  </a:rPr>
                  <a:t>分配格</a:t>
                </a:r>
                <a:r>
                  <a:rPr lang="zh-CN" altLang="zh-CN" dirty="0">
                    <a:latin typeface="+mn-ea"/>
                  </a:rPr>
                  <a:t>。</a:t>
                </a:r>
                <a:endParaRPr lang="en-US" altLang="zh-CN" dirty="0">
                  <a:latin typeface="+mn-ea"/>
                </a:endParaRPr>
              </a:p>
            </p:txBody>
          </p:sp>
        </mc:Choice>
        <mc:Fallback xmlns="">
          <p:sp>
            <p:nvSpPr>
              <p:cNvPr id="3" name="Content Placeholder 2">
                <a:extLst>
                  <a:ext uri="{FF2B5EF4-FFF2-40B4-BE49-F238E27FC236}">
                    <a16:creationId xmlns:a16="http://schemas.microsoft.com/office/drawing/2014/main" id="{1289C0D9-BEEF-4849-947E-A16437BBF238}"/>
                  </a:ext>
                </a:extLst>
              </p:cNvPr>
              <p:cNvSpPr>
                <a:spLocks noGrp="1" noRot="1" noChangeAspect="1" noMove="1" noResize="1" noEditPoints="1" noAdjustHandles="1" noChangeArrowheads="1" noChangeShapeType="1" noTextEdit="1"/>
              </p:cNvSpPr>
              <p:nvPr>
                <p:ph idx="1"/>
              </p:nvPr>
            </p:nvSpPr>
            <p:spPr>
              <a:xfrm>
                <a:off x="460375" y="1219994"/>
                <a:ext cx="11049000" cy="1845541"/>
              </a:xfrm>
              <a:blipFill>
                <a:blip r:embed="rId6"/>
                <a:stretch>
                  <a:fillRect l="-607"/>
                </a:stretch>
              </a:blipFill>
            </p:spPr>
            <p:txBody>
              <a:bodyPr/>
              <a:lstStyle/>
              <a:p>
                <a:r>
                  <a:rPr lang="zh-CN" altLang="en-US">
                    <a:noFill/>
                  </a:rPr>
                  <a:t> </a:t>
                </a:r>
              </a:p>
            </p:txBody>
          </p:sp>
        </mc:Fallback>
      </mc:AlternateContent>
      <p:sp>
        <p:nvSpPr>
          <p:cNvPr id="5" name="Rectangle 4">
            <a:extLst>
              <a:ext uri="{FF2B5EF4-FFF2-40B4-BE49-F238E27FC236}">
                <a16:creationId xmlns:a16="http://schemas.microsoft.com/office/drawing/2014/main" id="{C139236F-51A6-4DB1-8289-058B8E1DAF12}"/>
              </a:ext>
            </a:extLst>
          </p:cNvPr>
          <p:cNvSpPr/>
          <p:nvPr/>
        </p:nvSpPr>
        <p:spPr>
          <a:xfrm>
            <a:off x="2746375" y="3658394"/>
            <a:ext cx="4724400" cy="1135054"/>
          </a:xfrm>
          <a:prstGeom prst="rect">
            <a:avLst/>
          </a:prstGeom>
          <a:solidFill>
            <a:schemeClr val="accent6">
              <a:lumMod val="20000"/>
              <a:lumOff val="80000"/>
            </a:schemeClr>
          </a:solidFill>
        </p:spPr>
        <p:txBody>
          <a:bodyPr wrap="square">
            <a:spAutoFit/>
          </a:bodyPr>
          <a:lstStyle/>
          <a:p>
            <a:pPr marL="457200" indent="-457200">
              <a:lnSpc>
                <a:spcPct val="150000"/>
              </a:lnSpc>
              <a:buFont typeface="Arial" panose="020B0604020202020204" pitchFamily="34" charset="0"/>
              <a:buChar char="•"/>
            </a:pPr>
            <a:r>
              <a:rPr lang="zh-CN" altLang="zh-CN" b="1" dirty="0">
                <a:latin typeface="+mn-ea"/>
              </a:rPr>
              <a:t>幂集格和命题格均是分配格。</a:t>
            </a:r>
            <a:endParaRPr lang="en-US" altLang="zh-CN" b="1" dirty="0">
              <a:latin typeface="+mn-ea"/>
            </a:endParaRPr>
          </a:p>
          <a:p>
            <a:pPr marL="457200" indent="-457200">
              <a:lnSpc>
                <a:spcPct val="150000"/>
              </a:lnSpc>
              <a:buFont typeface="Arial" panose="020B0604020202020204" pitchFamily="34" charset="0"/>
              <a:buChar char="•"/>
            </a:pPr>
            <a:r>
              <a:rPr lang="zh-CN" altLang="en-US" b="1" dirty="0">
                <a:latin typeface="+mn-ea"/>
              </a:rPr>
              <a:t>所有链都是分配格。</a:t>
            </a:r>
            <a:endParaRPr lang="en-US" altLang="zh-CN" b="1" dirty="0">
              <a:latin typeface="+mn-ea"/>
            </a:endParaRPr>
          </a:p>
        </p:txBody>
      </p:sp>
      <p:pic>
        <p:nvPicPr>
          <p:cNvPr id="38" name="Graphic 37" descr="Lightbulb and pencil">
            <a:extLst>
              <a:ext uri="{FF2B5EF4-FFF2-40B4-BE49-F238E27FC236}">
                <a16:creationId xmlns:a16="http://schemas.microsoft.com/office/drawing/2014/main" id="{C04DC156-0466-4D3F-A879-64A492B4819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74775" y="3801448"/>
            <a:ext cx="914400" cy="914400"/>
          </a:xfrm>
          <a:prstGeom prst="rect">
            <a:avLst/>
          </a:prstGeom>
        </p:spPr>
      </p:pic>
    </p:spTree>
    <p:custDataLst>
      <p:tags r:id="rId1"/>
    </p:custDataLst>
    <p:extLst>
      <p:ext uri="{BB962C8B-B14F-4D97-AF65-F5344CB8AC3E}">
        <p14:creationId xmlns:p14="http://schemas.microsoft.com/office/powerpoint/2010/main" val="45592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68372-1FF5-4E88-976E-A3270E359737}"/>
              </a:ext>
            </a:extLst>
          </p:cNvPr>
          <p:cNvSpPr>
            <a:spLocks noGrp="1"/>
          </p:cNvSpPr>
          <p:nvPr>
            <p:ph type="title"/>
          </p:nvPr>
        </p:nvSpPr>
        <p:spPr/>
        <p:txBody>
          <a:bodyPr/>
          <a:lstStyle/>
          <a:p>
            <a:r>
              <a:rPr lang="zh-CN" altLang="en-US" dirty="0"/>
              <a:t>分配格</a:t>
            </a:r>
          </a:p>
        </p:txBody>
      </p:sp>
      <p:sp>
        <p:nvSpPr>
          <p:cNvPr id="3" name="内容占位符 2">
            <a:extLst>
              <a:ext uri="{FF2B5EF4-FFF2-40B4-BE49-F238E27FC236}">
                <a16:creationId xmlns:a16="http://schemas.microsoft.com/office/drawing/2014/main" id="{059CFA02-5A6F-4666-8B86-BDB6C1CC63F2}"/>
              </a:ext>
            </a:extLst>
          </p:cNvPr>
          <p:cNvSpPr>
            <a:spLocks noGrp="1"/>
          </p:cNvSpPr>
          <p:nvPr>
            <p:ph idx="1"/>
          </p:nvPr>
        </p:nvSpPr>
        <p:spPr>
          <a:xfrm>
            <a:off x="460375" y="964678"/>
            <a:ext cx="8077200" cy="554665"/>
          </a:xfrm>
        </p:spPr>
        <p:txBody>
          <a:bodyPr>
            <a:noAutofit/>
          </a:bodyPr>
          <a:lstStyle/>
          <a:p>
            <a:pPr marL="0" indent="0" algn="just">
              <a:lnSpc>
                <a:spcPct val="130000"/>
              </a:lnSpc>
              <a:buNone/>
            </a:pPr>
            <a:r>
              <a:rPr lang="zh-CN" altLang="zh-CN" kern="1100" dirty="0">
                <a:solidFill>
                  <a:srgbClr val="0000FF"/>
                </a:solidFill>
                <a:effectLst/>
                <a:latin typeface="+mn-ea"/>
              </a:rPr>
              <a:t>定理</a:t>
            </a:r>
            <a:r>
              <a:rPr lang="en-US" altLang="zh-CN" kern="1100" dirty="0">
                <a:solidFill>
                  <a:srgbClr val="0000FF"/>
                </a:solidFill>
                <a:effectLst/>
                <a:latin typeface="+mn-ea"/>
              </a:rPr>
              <a:t>10.4</a:t>
            </a:r>
            <a:r>
              <a:rPr lang="en-US" altLang="zh-CN" kern="100" dirty="0">
                <a:solidFill>
                  <a:srgbClr val="0000FF"/>
                </a:solidFill>
                <a:effectLst/>
                <a:latin typeface="+mn-ea"/>
              </a:rPr>
              <a:t>  </a:t>
            </a:r>
            <a:r>
              <a:rPr lang="zh-CN" altLang="zh-CN" kern="100" dirty="0">
                <a:effectLst/>
                <a:latin typeface="+mn-ea"/>
              </a:rPr>
              <a:t>所有全序集（或链）都是分配格。</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57C9E40-EF45-475E-84D9-BA66CC8BC626}"/>
                  </a:ext>
                </a:extLst>
              </p:cNvPr>
              <p:cNvSpPr txBox="1"/>
              <p:nvPr/>
            </p:nvSpPr>
            <p:spPr>
              <a:xfrm>
                <a:off x="465950" y="1702178"/>
                <a:ext cx="9862625" cy="4348242"/>
              </a:xfrm>
              <a:prstGeom prst="rect">
                <a:avLst/>
              </a:prstGeom>
              <a:noFill/>
            </p:spPr>
            <p:txBody>
              <a:bodyPr wrap="square">
                <a:spAutoFit/>
              </a:bodyPr>
              <a:lstStyle/>
              <a:p>
                <a:pPr indent="0" algn="just">
                  <a:lnSpc>
                    <a:spcPct val="130000"/>
                  </a:lnSpc>
                  <a:spcBef>
                    <a:spcPts val="600"/>
                  </a:spcBef>
                  <a:buNone/>
                </a:pPr>
                <a:r>
                  <a:rPr lang="zh-CN" altLang="zh-CN" b="1" kern="1100" dirty="0">
                    <a:solidFill>
                      <a:srgbClr val="FF0000"/>
                    </a:solidFill>
                    <a:effectLst/>
                    <a:latin typeface="+mn-ea"/>
                  </a:rPr>
                  <a:t>证明</a:t>
                </a:r>
                <a:r>
                  <a:rPr lang="en-US" altLang="zh-CN" b="1" kern="100" dirty="0">
                    <a:effectLst/>
                    <a:latin typeface="+mn-ea"/>
                  </a:rPr>
                  <a:t>  </a:t>
                </a:r>
                <a:r>
                  <a:rPr lang="zh-CN" altLang="zh-CN" b="1"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b="1" kern="100" dirty="0">
                    <a:effectLst/>
                    <a:latin typeface="+mn-ea"/>
                  </a:rPr>
                  <a:t>是全序集，因此</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b="1" kern="100" dirty="0">
                    <a:effectLst/>
                    <a:latin typeface="+mn-ea"/>
                  </a:rPr>
                  <a:t>是格，</a:t>
                </a:r>
                <a:r>
                  <a:rPr lang="zh-CN" altLang="en-US" b="1" kern="100" dirty="0">
                    <a:effectLst/>
                    <a:latin typeface="+mn-ea"/>
                  </a:rPr>
                  <a:t>只需证明满足分配律。</a:t>
                </a:r>
                <a:r>
                  <a:rPr lang="zh-CN" altLang="zh-CN" b="1" kern="100" dirty="0">
                    <a:effectLst/>
                    <a:latin typeface="+mn-ea"/>
                  </a:rPr>
                  <a:t>任取</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𝑳</m:t>
                    </m:r>
                  </m:oMath>
                </a14:m>
                <a:r>
                  <a:rPr lang="zh-CN" altLang="zh-CN" b="1" kern="100" dirty="0">
                    <a:effectLst/>
                    <a:latin typeface="+mn-ea"/>
                  </a:rPr>
                  <a:t>，只有以下两种情况：</a:t>
                </a:r>
              </a:p>
              <a:p>
                <a:pPr indent="0" algn="just">
                  <a:lnSpc>
                    <a:spcPct val="130000"/>
                  </a:lnSpc>
                  <a:spcBef>
                    <a:spcPts val="600"/>
                  </a:spcBef>
                  <a:buNone/>
                </a:pPr>
                <a:r>
                  <a:rPr lang="zh-CN" altLang="zh-CN" b="1" kern="100" dirty="0">
                    <a:effectLst/>
                    <a:latin typeface="+mn-ea"/>
                  </a:rPr>
                  <a:t>（</a:t>
                </a:r>
                <a:r>
                  <a:rPr lang="en-US" altLang="zh-CN" b="1" kern="100" dirty="0">
                    <a:effectLst/>
                    <a:latin typeface="+mn-ea"/>
                  </a:rPr>
                  <a:t>1</a:t>
                </a:r>
                <a:r>
                  <a:rPr lang="zh-CN" altLang="zh-CN" b="1" kern="100" dirty="0">
                    <a:effectLst/>
                    <a:latin typeface="+mn-ea"/>
                  </a:rPr>
                  <a:t>）</a:t>
                </a:r>
                <a14:m>
                  <m:oMath xmlns:m="http://schemas.openxmlformats.org/officeDocument/2006/math">
                    <m:r>
                      <a:rPr lang="en-US" altLang="zh-CN" b="1" i="1" kern="100" dirty="0" smtClean="0">
                        <a:effectLst/>
                        <a:latin typeface="Cambria Math" panose="02040503050406030204" pitchFamily="18" charset="0"/>
                      </a:rPr>
                      <m:t>𝒂</m:t>
                    </m:r>
                  </m:oMath>
                </a14:m>
                <a:r>
                  <a:rPr lang="zh-CN" altLang="zh-CN" b="1" kern="100" dirty="0">
                    <a:effectLst/>
                    <a:latin typeface="+mn-ea"/>
                  </a:rPr>
                  <a:t>是三者中最大的，即</a:t>
                </a:r>
                <a14:m>
                  <m:oMath xmlns:m="http://schemas.openxmlformats.org/officeDocument/2006/math">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oMath>
                </a14:m>
                <a:r>
                  <a:rPr lang="zh-CN" altLang="zh-CN" b="1" kern="100" dirty="0">
                    <a:effectLst/>
                    <a:latin typeface="+mn-ea"/>
                  </a:rPr>
                  <a:t>；</a:t>
                </a:r>
              </a:p>
              <a:p>
                <a:pPr indent="0" algn="just">
                  <a:lnSpc>
                    <a:spcPct val="130000"/>
                  </a:lnSpc>
                  <a:spcBef>
                    <a:spcPts val="600"/>
                  </a:spcBef>
                  <a:buNone/>
                </a:pPr>
                <a:r>
                  <a:rPr lang="zh-CN" altLang="zh-CN" b="1" kern="100" dirty="0">
                    <a:effectLst/>
                    <a:latin typeface="+mn-ea"/>
                  </a:rPr>
                  <a:t>（</a:t>
                </a:r>
                <a:r>
                  <a:rPr lang="en-US" altLang="zh-CN" b="1" kern="100" dirty="0">
                    <a:effectLst/>
                    <a:latin typeface="+mn-ea"/>
                  </a:rPr>
                  <a:t>2</a:t>
                </a:r>
                <a:r>
                  <a:rPr lang="zh-CN" altLang="zh-CN" b="1" kern="100" dirty="0">
                    <a:effectLst/>
                    <a:latin typeface="+mn-ea"/>
                  </a:rPr>
                  <a:t>）</a:t>
                </a:r>
                <a14:m>
                  <m:oMath xmlns:m="http://schemas.openxmlformats.org/officeDocument/2006/math">
                    <m:r>
                      <a:rPr lang="en-US" altLang="zh-CN" b="1" i="1" kern="100" dirty="0" smtClean="0">
                        <a:effectLst/>
                        <a:latin typeface="Cambria Math" panose="02040503050406030204" pitchFamily="18" charset="0"/>
                      </a:rPr>
                      <m:t>𝒂</m:t>
                    </m:r>
                  </m:oMath>
                </a14:m>
                <a:r>
                  <a:rPr lang="zh-CN" altLang="zh-CN" b="1" kern="100" dirty="0">
                    <a:effectLst/>
                    <a:latin typeface="+mn-ea"/>
                  </a:rPr>
                  <a:t>不是三者中最大的，即</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𝒃</m:t>
                    </m:r>
                  </m:oMath>
                </a14:m>
                <a:r>
                  <a:rPr lang="zh-CN" altLang="zh-CN" b="1" kern="100" dirty="0">
                    <a:effectLst/>
                    <a:latin typeface="+mn-ea"/>
                  </a:rPr>
                  <a:t>或</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𝒄</m:t>
                    </m:r>
                  </m:oMath>
                </a14:m>
                <a:r>
                  <a:rPr lang="zh-CN" altLang="zh-CN" b="1" kern="100" dirty="0">
                    <a:effectLst/>
                    <a:latin typeface="+mn-ea"/>
                  </a:rPr>
                  <a:t>。</a:t>
                </a:r>
              </a:p>
              <a:p>
                <a:pPr indent="0" algn="just">
                  <a:lnSpc>
                    <a:spcPct val="130000"/>
                  </a:lnSpc>
                  <a:spcBef>
                    <a:spcPts val="600"/>
                  </a:spcBef>
                  <a:buNone/>
                </a:pPr>
                <a:r>
                  <a:rPr lang="zh-CN" altLang="zh-CN" b="1" kern="100" dirty="0">
                    <a:effectLst/>
                    <a:latin typeface="+mn-ea"/>
                  </a:rPr>
                  <a:t>在情况</a:t>
                </a:r>
                <a:r>
                  <a:rPr lang="en-US" altLang="zh-CN" b="1" kern="100" dirty="0">
                    <a:effectLst/>
                    <a:latin typeface="+mn-ea"/>
                  </a:rPr>
                  <a:t>(1)</a:t>
                </a:r>
                <a:r>
                  <a:rPr lang="zh-CN" altLang="zh-CN" b="1" kern="100" dirty="0">
                    <a:effectLst/>
                    <a:latin typeface="+mn-ea"/>
                  </a:rPr>
                  <a:t>中，</a:t>
                </a:r>
                <a14:m>
                  <m:oMath xmlns:m="http://schemas.openxmlformats.org/officeDocument/2006/math">
                    <m:r>
                      <a:rPr lang="en-US" altLang="zh-CN" b="1" i="1" kern="100" dirty="0" smtClean="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oMath>
                </a14:m>
                <a:r>
                  <a:rPr lang="zh-CN" altLang="zh-CN" b="1" kern="100" dirty="0">
                    <a:effectLst/>
                    <a:latin typeface="+mn-ea"/>
                  </a:rPr>
                  <a:t>故</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oMath>
                </a14:m>
                <a:r>
                  <a:rPr lang="zh-CN" altLang="zh-CN" b="1" kern="100" dirty="0">
                    <a:effectLst/>
                    <a:latin typeface="+mn-ea"/>
                  </a:rPr>
                  <a:t>。</a:t>
                </a:r>
                <a:endParaRPr lang="en-US" altLang="zh-CN" b="1" kern="100" dirty="0">
                  <a:effectLst/>
                  <a:latin typeface="+mn-ea"/>
                </a:endParaRPr>
              </a:p>
              <a:p>
                <a:pPr indent="0" algn="just">
                  <a:lnSpc>
                    <a:spcPct val="130000"/>
                  </a:lnSpc>
                  <a:spcBef>
                    <a:spcPts val="600"/>
                  </a:spcBef>
                  <a:buNone/>
                </a:pPr>
                <a:r>
                  <a:rPr lang="zh-CN" altLang="zh-CN" b="1" kern="100" dirty="0">
                    <a:effectLst/>
                    <a:latin typeface="+mn-ea"/>
                  </a:rPr>
                  <a:t>由于</a:t>
                </a:r>
                <a14:m>
                  <m:oMath xmlns:m="http://schemas.openxmlformats.org/officeDocument/2006/math">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oMath>
                </a14:m>
                <a:r>
                  <a:rPr lang="zh-CN" altLang="zh-CN" b="1" kern="100" dirty="0">
                    <a:effectLst/>
                    <a:latin typeface="+mn-ea"/>
                  </a:rPr>
                  <a:t>，所以</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𝒄</m:t>
                    </m:r>
                  </m:oMath>
                </a14:m>
                <a:r>
                  <a:rPr lang="zh-CN" altLang="zh-CN" b="1" kern="100" dirty="0">
                    <a:effectLst/>
                    <a:latin typeface="+mn-ea"/>
                  </a:rPr>
                  <a:t>。</a:t>
                </a:r>
                <a:endParaRPr lang="en-US" altLang="zh-CN" b="1" kern="100" dirty="0">
                  <a:effectLst/>
                  <a:latin typeface="+mn-ea"/>
                </a:endParaRPr>
              </a:p>
              <a:p>
                <a:pPr indent="0" algn="just">
                  <a:lnSpc>
                    <a:spcPct val="130000"/>
                  </a:lnSpc>
                  <a:spcBef>
                    <a:spcPts val="600"/>
                  </a:spcBef>
                  <a:buNone/>
                </a:pPr>
                <a:r>
                  <a:rPr lang="zh-CN" altLang="zh-CN" b="1" kern="100" dirty="0">
                    <a:effectLst/>
                    <a:latin typeface="+mn-ea"/>
                  </a:rPr>
                  <a:t>从而</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oMath>
                </a14:m>
                <a:r>
                  <a:rPr lang="zh-CN" altLang="zh-CN" b="1" kern="100" dirty="0">
                    <a:effectLst/>
                    <a:latin typeface="+mn-ea"/>
                  </a:rPr>
                  <a:t>，即有</a:t>
                </a:r>
              </a:p>
              <a:p>
                <a:pPr marL="0" indent="0" algn="ctr">
                  <a:lnSpc>
                    <a:spcPct val="130000"/>
                  </a:lnSpc>
                  <a:spcBef>
                    <a:spcPts val="600"/>
                  </a:spcBef>
                  <a:buNone/>
                </a:pP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oMath>
                </a14:m>
                <a:r>
                  <a:rPr lang="zh-CN" altLang="zh-CN" b="1" kern="100" dirty="0">
                    <a:effectLst/>
                    <a:latin typeface="+mn-ea"/>
                  </a:rPr>
                  <a:t>。</a:t>
                </a:r>
              </a:p>
            </p:txBody>
          </p:sp>
        </mc:Choice>
        <mc:Fallback xmlns="">
          <p:sp>
            <p:nvSpPr>
              <p:cNvPr id="5" name="文本框 4">
                <a:extLst>
                  <a:ext uri="{FF2B5EF4-FFF2-40B4-BE49-F238E27FC236}">
                    <a16:creationId xmlns:a16="http://schemas.microsoft.com/office/drawing/2014/main" id="{B57C9E40-EF45-475E-84D9-BA66CC8BC626}"/>
                  </a:ext>
                </a:extLst>
              </p:cNvPr>
              <p:cNvSpPr txBox="1">
                <a:spLocks noRot="1" noChangeAspect="1" noMove="1" noResize="1" noEditPoints="1" noAdjustHandles="1" noChangeArrowheads="1" noChangeShapeType="1" noTextEdit="1"/>
              </p:cNvSpPr>
              <p:nvPr/>
            </p:nvSpPr>
            <p:spPr>
              <a:xfrm>
                <a:off x="465950" y="1702178"/>
                <a:ext cx="9862625" cy="4348242"/>
              </a:xfrm>
              <a:prstGeom prst="rect">
                <a:avLst/>
              </a:prstGeom>
              <a:blipFill>
                <a:blip r:embed="rId5"/>
                <a:stretch>
                  <a:fillRect l="-927" r="-989" b="-224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4002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68372-1FF5-4E88-976E-A3270E359737}"/>
              </a:ext>
            </a:extLst>
          </p:cNvPr>
          <p:cNvSpPr>
            <a:spLocks noGrp="1"/>
          </p:cNvSpPr>
          <p:nvPr>
            <p:ph type="title"/>
          </p:nvPr>
        </p:nvSpPr>
        <p:spPr/>
        <p:txBody>
          <a:bodyPr/>
          <a:lstStyle/>
          <a:p>
            <a:r>
              <a:rPr lang="zh-CN" altLang="en-US" dirty="0"/>
              <a:t>分配格</a:t>
            </a:r>
          </a:p>
        </p:txBody>
      </p:sp>
      <p:sp>
        <p:nvSpPr>
          <p:cNvPr id="3" name="内容占位符 2">
            <a:extLst>
              <a:ext uri="{FF2B5EF4-FFF2-40B4-BE49-F238E27FC236}">
                <a16:creationId xmlns:a16="http://schemas.microsoft.com/office/drawing/2014/main" id="{059CFA02-5A6F-4666-8B86-BDB6C1CC63F2}"/>
              </a:ext>
            </a:extLst>
          </p:cNvPr>
          <p:cNvSpPr>
            <a:spLocks noGrp="1"/>
          </p:cNvSpPr>
          <p:nvPr>
            <p:ph idx="1"/>
          </p:nvPr>
        </p:nvSpPr>
        <p:spPr>
          <a:xfrm>
            <a:off x="460375" y="838994"/>
            <a:ext cx="8077200" cy="554665"/>
          </a:xfrm>
        </p:spPr>
        <p:txBody>
          <a:bodyPr>
            <a:noAutofit/>
          </a:bodyPr>
          <a:lstStyle/>
          <a:p>
            <a:pPr marL="0" indent="0" algn="just">
              <a:lnSpc>
                <a:spcPct val="130000"/>
              </a:lnSpc>
              <a:buNone/>
            </a:pPr>
            <a:r>
              <a:rPr lang="zh-CN" altLang="zh-CN" kern="1100" dirty="0">
                <a:solidFill>
                  <a:srgbClr val="0000FF"/>
                </a:solidFill>
                <a:effectLst/>
                <a:latin typeface="+mn-ea"/>
              </a:rPr>
              <a:t>定理</a:t>
            </a:r>
            <a:r>
              <a:rPr lang="en-US" altLang="zh-CN" kern="1100" dirty="0">
                <a:solidFill>
                  <a:srgbClr val="0000FF"/>
                </a:solidFill>
                <a:effectLst/>
                <a:latin typeface="+mn-ea"/>
              </a:rPr>
              <a:t>10.4</a:t>
            </a:r>
            <a:r>
              <a:rPr lang="en-US" altLang="zh-CN" kern="100" dirty="0">
                <a:solidFill>
                  <a:srgbClr val="0000FF"/>
                </a:solidFill>
                <a:effectLst/>
                <a:latin typeface="+mn-ea"/>
              </a:rPr>
              <a:t>  </a:t>
            </a:r>
            <a:r>
              <a:rPr lang="zh-CN" altLang="zh-CN" kern="100" dirty="0">
                <a:effectLst/>
                <a:latin typeface="+mn-ea"/>
              </a:rPr>
              <a:t>所有全序集（或链）都是分配格。</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57C9E40-EF45-475E-84D9-BA66CC8BC626}"/>
                  </a:ext>
                </a:extLst>
              </p:cNvPr>
              <p:cNvSpPr txBox="1"/>
              <p:nvPr/>
            </p:nvSpPr>
            <p:spPr>
              <a:xfrm>
                <a:off x="612775" y="1677194"/>
                <a:ext cx="10744200" cy="3406445"/>
              </a:xfrm>
              <a:prstGeom prst="rect">
                <a:avLst/>
              </a:prstGeom>
              <a:noFill/>
            </p:spPr>
            <p:txBody>
              <a:bodyPr wrap="square">
                <a:spAutoFit/>
              </a:bodyPr>
              <a:lstStyle/>
              <a:p>
                <a:pPr indent="0" algn="just">
                  <a:lnSpc>
                    <a:spcPct val="130000"/>
                  </a:lnSpc>
                  <a:buNone/>
                </a:pPr>
                <a:r>
                  <a:rPr lang="zh-CN" altLang="zh-CN" b="1" kern="1100" dirty="0">
                    <a:solidFill>
                      <a:srgbClr val="FF0000"/>
                    </a:solidFill>
                    <a:effectLst/>
                    <a:latin typeface="+mn-ea"/>
                  </a:rPr>
                  <a:t>证明</a:t>
                </a:r>
                <a:r>
                  <a:rPr lang="en-US" altLang="zh-CN" b="1" kern="1100" dirty="0">
                    <a:solidFill>
                      <a:srgbClr val="FF0000"/>
                    </a:solidFill>
                    <a:effectLst/>
                    <a:latin typeface="+mn-ea"/>
                  </a:rPr>
                  <a:t>(</a:t>
                </a:r>
                <a:r>
                  <a:rPr lang="zh-CN" altLang="en-US" b="1" kern="1100" dirty="0">
                    <a:solidFill>
                      <a:srgbClr val="FF0000"/>
                    </a:solidFill>
                    <a:latin typeface="+mn-ea"/>
                  </a:rPr>
                  <a:t>续</a:t>
                </a:r>
                <a:r>
                  <a:rPr lang="en-US" altLang="zh-CN" b="1" kern="1100" dirty="0">
                    <a:solidFill>
                      <a:srgbClr val="FF0000"/>
                    </a:solidFill>
                    <a:effectLst/>
                    <a:latin typeface="+mn-ea"/>
                  </a:rPr>
                  <a:t>)</a:t>
                </a:r>
                <a:r>
                  <a:rPr lang="en-US" altLang="zh-CN" b="1" kern="100" dirty="0">
                    <a:effectLst/>
                    <a:latin typeface="+mn-ea"/>
                  </a:rPr>
                  <a:t> </a:t>
                </a:r>
                <a:r>
                  <a:rPr lang="zh-CN" altLang="zh-CN" b="1" kern="100" dirty="0">
                    <a:effectLst/>
                    <a:latin typeface="+mn-ea"/>
                  </a:rPr>
                  <a:t>在情况</a:t>
                </a:r>
                <a:r>
                  <a:rPr lang="en-US" altLang="zh-CN" b="1" kern="100" dirty="0">
                    <a:effectLst/>
                    <a:latin typeface="+mn-ea"/>
                  </a:rPr>
                  <a:t>(2)</a:t>
                </a:r>
                <a:r>
                  <a:rPr lang="zh-CN" altLang="zh-CN" b="1" kern="100" dirty="0">
                    <a:effectLst/>
                    <a:latin typeface="+mn-ea"/>
                  </a:rPr>
                  <a:t>中，由于</a:t>
                </a:r>
                <a14:m>
                  <m:oMath xmlns:m="http://schemas.openxmlformats.org/officeDocument/2006/math">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m:t>
                    </m:r>
                    <m:r>
                      <a:rPr lang="zh-CN" altLang="zh-CN" b="1" i="1" kern="100" dirty="0">
                        <a:effectLst/>
                        <a:latin typeface="Cambria Math" panose="02040503050406030204" pitchFamily="18" charset="0"/>
                      </a:rPr>
                      <m:t>，</m:t>
                    </m:r>
                  </m:oMath>
                </a14:m>
                <a:r>
                  <a:rPr lang="zh-CN" altLang="zh-CN" b="1" kern="100" dirty="0">
                    <a:effectLst/>
                    <a:latin typeface="+mn-ea"/>
                  </a:rPr>
                  <a:t>根据传递性，无论</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𝒃</m:t>
                    </m:r>
                  </m:oMath>
                </a14:m>
                <a:r>
                  <a:rPr lang="zh-CN" altLang="zh-CN" b="1" kern="100" dirty="0">
                    <a:effectLst/>
                    <a:latin typeface="+mn-ea"/>
                  </a:rPr>
                  <a:t>或</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𝒄</m:t>
                    </m:r>
                  </m:oMath>
                </a14:m>
                <a:r>
                  <a:rPr lang="zh-CN" altLang="zh-CN" b="1" kern="100" dirty="0">
                    <a:effectLst/>
                    <a:latin typeface="+mn-ea"/>
                  </a:rPr>
                  <a:t>，均有</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zh-CN" altLang="zh-CN" b="1" i="1" kern="100" dirty="0">
                        <a:effectLst/>
                        <a:latin typeface="Cambria Math" panose="02040503050406030204" pitchFamily="18" charset="0"/>
                      </a:rPr>
                      <m:t>，</m:t>
                    </m:r>
                  </m:oMath>
                </a14:m>
                <a:r>
                  <a:rPr lang="zh-CN" altLang="zh-CN" b="1" kern="100" dirty="0">
                    <a:effectLst/>
                    <a:latin typeface="+mn-ea"/>
                  </a:rPr>
                  <a:t>即</a:t>
                </a:r>
              </a:p>
              <a:p>
                <a:pPr indent="0" algn="ctr">
                  <a:lnSpc>
                    <a:spcPct val="130000"/>
                  </a:lnSpc>
                  <a:buNone/>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oMath>
                  </m:oMathPara>
                </a14:m>
                <a:endParaRPr lang="zh-CN" altLang="zh-CN" b="1" kern="100" dirty="0">
                  <a:effectLst/>
                  <a:latin typeface="+mn-ea"/>
                </a:endParaRPr>
              </a:p>
              <a:p>
                <a:pPr indent="0" algn="just">
                  <a:lnSpc>
                    <a:spcPct val="130000"/>
                  </a:lnSpc>
                  <a:buNone/>
                </a:pPr>
                <a:r>
                  <a:rPr lang="zh-CN" altLang="zh-CN" b="1" kern="100" dirty="0">
                    <a:effectLst/>
                    <a:latin typeface="+mn-ea"/>
                  </a:rPr>
                  <a:t>又由</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𝒃</m:t>
                    </m:r>
                  </m:oMath>
                </a14:m>
                <a:r>
                  <a:rPr lang="zh-CN" altLang="zh-CN" b="1" kern="100" dirty="0">
                    <a:effectLst/>
                    <a:latin typeface="+mn-ea"/>
                  </a:rPr>
                  <a:t>或</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𝒄</m:t>
                    </m:r>
                  </m:oMath>
                </a14:m>
                <a:r>
                  <a:rPr lang="zh-CN" altLang="zh-CN" b="1" kern="100" dirty="0">
                    <a:effectLst/>
                    <a:latin typeface="+mn-ea"/>
                  </a:rPr>
                  <a:t>可得到</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oMath>
                </a14:m>
                <a:r>
                  <a:rPr lang="zh-CN" altLang="zh-CN" b="1" kern="100" dirty="0">
                    <a:effectLst/>
                    <a:latin typeface="+mn-ea"/>
                  </a:rPr>
                  <a:t>或</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oMath>
                </a14:m>
                <a:r>
                  <a:rPr lang="zh-CN" altLang="zh-CN" b="1" kern="100" dirty="0">
                    <a:effectLst/>
                    <a:latin typeface="+mn-ea"/>
                  </a:rPr>
                  <a:t>，从而</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oMath>
                </a14:m>
                <a:r>
                  <a:rPr lang="zh-CN" altLang="zh-CN" b="1" kern="100" dirty="0">
                    <a:effectLst/>
                    <a:latin typeface="+mn-ea"/>
                  </a:rPr>
                  <a:t>，即有</a:t>
                </a:r>
              </a:p>
              <a:p>
                <a:pPr marL="0" indent="0">
                  <a:lnSpc>
                    <a:spcPct val="130000"/>
                  </a:lnSpc>
                  <a:buNone/>
                </a:pPr>
                <a14:m>
                  <m:oMathPara xmlns:m="http://schemas.openxmlformats.org/officeDocument/2006/math">
                    <m:oMathParaPr>
                      <m:jc m:val="centerGroup"/>
                    </m:oMathParaPr>
                    <m:oMath xmlns:m="http://schemas.openxmlformats.org/officeDocument/2006/math">
                      <m:r>
                        <a:rPr lang="en-US" altLang="zh-CN" b="1" i="1" dirty="0" smtClean="0">
                          <a:effectLst/>
                          <a:latin typeface="Cambria Math" panose="02040503050406030204" pitchFamily="18" charset="0"/>
                        </a:rPr>
                        <m:t>𝒂</m:t>
                      </m:r>
                      <m:r>
                        <a:rPr lang="zh-CN" altLang="zh-CN" b="1" i="1" dirty="0">
                          <a:effectLst/>
                          <a:latin typeface="Cambria Math" panose="02040503050406030204" pitchFamily="18" charset="0"/>
                          <a:cs typeface="宋体" panose="02010600030101010101" pitchFamily="2" charset="-122"/>
                        </a:rPr>
                        <m:t>∧</m:t>
                      </m:r>
                      <m:r>
                        <a:rPr lang="zh-CN" altLang="zh-CN" b="1" i="1" dirty="0">
                          <a:effectLst/>
                          <a:latin typeface="Cambria Math" panose="02040503050406030204" pitchFamily="18" charset="0"/>
                        </a:rPr>
                        <m:t> </m:t>
                      </m:r>
                      <m:r>
                        <a:rPr lang="en-US" altLang="zh-CN" b="1" i="1" dirty="0">
                          <a:effectLst/>
                          <a:latin typeface="Cambria Math" panose="02040503050406030204" pitchFamily="18" charset="0"/>
                        </a:rPr>
                        <m:t>(</m:t>
                      </m:r>
                      <m:r>
                        <a:rPr lang="en-US" altLang="zh-CN" b="1" i="1" dirty="0">
                          <a:effectLst/>
                          <a:latin typeface="Cambria Math" panose="02040503050406030204" pitchFamily="18" charset="0"/>
                        </a:rPr>
                        <m:t>𝒃</m:t>
                      </m:r>
                      <m:r>
                        <a:rPr lang="zh-CN" altLang="zh-CN" b="1" i="1" dirty="0">
                          <a:effectLst/>
                          <a:latin typeface="Cambria Math" panose="02040503050406030204" pitchFamily="18" charset="0"/>
                          <a:cs typeface="宋体" panose="02010600030101010101" pitchFamily="2" charset="-122"/>
                        </a:rPr>
                        <m:t>∨</m:t>
                      </m:r>
                      <m:r>
                        <a:rPr lang="en-US" altLang="zh-CN" b="1" i="1" dirty="0">
                          <a:effectLst/>
                          <a:latin typeface="Cambria Math" panose="02040503050406030204" pitchFamily="18" charset="0"/>
                        </a:rPr>
                        <m:t>𝒄</m:t>
                      </m:r>
                      <m:r>
                        <a:rPr lang="en-US" altLang="zh-CN" b="1" i="1" dirty="0">
                          <a:effectLst/>
                          <a:latin typeface="Cambria Math" panose="02040503050406030204" pitchFamily="18" charset="0"/>
                        </a:rPr>
                        <m:t>) = (</m:t>
                      </m:r>
                      <m:r>
                        <a:rPr lang="en-US" altLang="zh-CN" b="1" i="1" dirty="0">
                          <a:effectLst/>
                          <a:latin typeface="Cambria Math" panose="02040503050406030204" pitchFamily="18" charset="0"/>
                        </a:rPr>
                        <m:t>𝒂</m:t>
                      </m:r>
                      <m:r>
                        <a:rPr lang="zh-CN" altLang="zh-CN" b="1" i="1" dirty="0">
                          <a:effectLst/>
                          <a:latin typeface="Cambria Math" panose="02040503050406030204" pitchFamily="18" charset="0"/>
                          <a:cs typeface="宋体" panose="02010600030101010101" pitchFamily="2" charset="-122"/>
                        </a:rPr>
                        <m:t>∧</m:t>
                      </m:r>
                      <m:r>
                        <a:rPr lang="en-US" altLang="zh-CN" b="1" i="1" dirty="0">
                          <a:effectLst/>
                          <a:latin typeface="Cambria Math" panose="02040503050406030204" pitchFamily="18" charset="0"/>
                        </a:rPr>
                        <m:t>𝒃</m:t>
                      </m:r>
                      <m:r>
                        <a:rPr lang="en-US" altLang="zh-CN" b="1" i="1" dirty="0">
                          <a:effectLst/>
                          <a:latin typeface="Cambria Math" panose="02040503050406030204" pitchFamily="18" charset="0"/>
                        </a:rPr>
                        <m:t>) ∨ (</m:t>
                      </m:r>
                      <m:r>
                        <a:rPr lang="en-US" altLang="zh-CN" b="1" i="1" dirty="0">
                          <a:effectLst/>
                          <a:latin typeface="Cambria Math" panose="02040503050406030204" pitchFamily="18" charset="0"/>
                        </a:rPr>
                        <m:t>𝒂</m:t>
                      </m:r>
                      <m:r>
                        <a:rPr lang="zh-CN" altLang="zh-CN" b="1" i="1" dirty="0">
                          <a:effectLst/>
                          <a:latin typeface="Cambria Math" panose="02040503050406030204" pitchFamily="18" charset="0"/>
                          <a:cs typeface="宋体" panose="02010600030101010101" pitchFamily="2" charset="-122"/>
                        </a:rPr>
                        <m:t>∧</m:t>
                      </m:r>
                      <m:r>
                        <a:rPr lang="en-US" altLang="zh-CN" b="1" i="1" dirty="0">
                          <a:effectLst/>
                          <a:latin typeface="Cambria Math" panose="02040503050406030204" pitchFamily="18" charset="0"/>
                        </a:rPr>
                        <m:t>𝒄</m:t>
                      </m:r>
                      <m:r>
                        <a:rPr lang="en-US" altLang="zh-CN" b="1" i="1" dirty="0">
                          <a:effectLst/>
                          <a:latin typeface="Cambria Math" panose="02040503050406030204" pitchFamily="18" charset="0"/>
                        </a:rPr>
                        <m:t>)</m:t>
                      </m:r>
                    </m:oMath>
                  </m:oMathPara>
                </a14:m>
                <a:endParaRPr lang="en-US" altLang="zh-CN" b="1" dirty="0">
                  <a:effectLst/>
                  <a:latin typeface="+mn-ea"/>
                </a:endParaRPr>
              </a:p>
              <a:p>
                <a:pPr marL="0" indent="0">
                  <a:lnSpc>
                    <a:spcPct val="130000"/>
                  </a:lnSpc>
                  <a:buNone/>
                </a:pPr>
                <a:r>
                  <a:rPr lang="zh-CN" altLang="zh-CN" b="1" dirty="0">
                    <a:effectLst/>
                    <a:latin typeface="+mn-ea"/>
                    <a:cs typeface="Times New Roman" panose="02020603050405020304" pitchFamily="18" charset="0"/>
                  </a:rPr>
                  <a:t>所以</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𝑳</m:t>
                    </m:r>
                    <m:r>
                      <a:rPr lang="en-US" altLang="zh-CN" b="1" i="1" dirty="0" smtClean="0">
                        <a:effectLst/>
                        <a:latin typeface="Cambria Math" panose="02040503050406030204" pitchFamily="18" charset="0"/>
                      </a:rPr>
                      <m:t>, ≤ &gt;</m:t>
                    </m:r>
                  </m:oMath>
                </a14:m>
                <a:r>
                  <a:rPr lang="zh-CN" altLang="zh-CN" b="1" dirty="0">
                    <a:effectLst/>
                    <a:latin typeface="+mn-ea"/>
                    <a:cs typeface="Times New Roman" panose="02020603050405020304" pitchFamily="18" charset="0"/>
                  </a:rPr>
                  <a:t>是分配格。</a:t>
                </a:r>
                <a:endParaRPr lang="zh-CN" altLang="en-US" b="1" dirty="0">
                  <a:latin typeface="+mn-ea"/>
                </a:endParaRPr>
              </a:p>
            </p:txBody>
          </p:sp>
        </mc:Choice>
        <mc:Fallback xmlns="">
          <p:sp>
            <p:nvSpPr>
              <p:cNvPr id="5" name="文本框 4">
                <a:extLst>
                  <a:ext uri="{FF2B5EF4-FFF2-40B4-BE49-F238E27FC236}">
                    <a16:creationId xmlns:a16="http://schemas.microsoft.com/office/drawing/2014/main" id="{B57C9E40-EF45-475E-84D9-BA66CC8BC626}"/>
                  </a:ext>
                </a:extLst>
              </p:cNvPr>
              <p:cNvSpPr txBox="1">
                <a:spLocks noRot="1" noChangeAspect="1" noMove="1" noResize="1" noEditPoints="1" noAdjustHandles="1" noChangeArrowheads="1" noChangeShapeType="1" noTextEdit="1"/>
              </p:cNvSpPr>
              <p:nvPr/>
            </p:nvSpPr>
            <p:spPr>
              <a:xfrm>
                <a:off x="612775" y="1677194"/>
                <a:ext cx="10744200" cy="3406445"/>
              </a:xfrm>
              <a:prstGeom prst="rect">
                <a:avLst/>
              </a:prstGeom>
              <a:blipFill>
                <a:blip r:embed="rId5"/>
                <a:stretch>
                  <a:fillRect l="-908" r="-170" b="-3220"/>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91728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EC0C88-B894-4952-8A28-31C934DCDD5C}"/>
              </a:ext>
            </a:extLst>
          </p:cNvPr>
          <p:cNvSpPr>
            <a:spLocks noGrp="1"/>
          </p:cNvSpPr>
          <p:nvPr>
            <p:ph type="title"/>
          </p:nvPr>
        </p:nvSpPr>
        <p:spPr/>
        <p:txBody>
          <a:bodyPr/>
          <a:lstStyle/>
          <a:p>
            <a:r>
              <a:rPr lang="zh-CN" altLang="en-US" dirty="0"/>
              <a:t>分配格</a:t>
            </a:r>
          </a:p>
        </p:txBody>
      </p:sp>
      <p:sp>
        <p:nvSpPr>
          <p:cNvPr id="3" name="内容占位符 2">
            <a:extLst>
              <a:ext uri="{FF2B5EF4-FFF2-40B4-BE49-F238E27FC236}">
                <a16:creationId xmlns:a16="http://schemas.microsoft.com/office/drawing/2014/main" id="{BCFE6E5A-6140-4FF6-BDC8-F9F6579CDC6C}"/>
              </a:ext>
            </a:extLst>
          </p:cNvPr>
          <p:cNvSpPr>
            <a:spLocks noGrp="1"/>
          </p:cNvSpPr>
          <p:nvPr>
            <p:ph idx="1"/>
          </p:nvPr>
        </p:nvSpPr>
        <p:spPr>
          <a:xfrm>
            <a:off x="185632" y="1024297"/>
            <a:ext cx="9321296" cy="761999"/>
          </a:xfrm>
        </p:spPr>
        <p:txBody>
          <a:bodyPr>
            <a:noAutofit/>
          </a:bodyPr>
          <a:lstStyle/>
          <a:p>
            <a:pPr marL="0" indent="0" algn="just">
              <a:lnSpc>
                <a:spcPct val="130000"/>
              </a:lnSpc>
              <a:buNone/>
            </a:pPr>
            <a:r>
              <a:rPr lang="zh-CN" altLang="zh-CN" kern="1100" dirty="0">
                <a:solidFill>
                  <a:srgbClr val="0000FF"/>
                </a:solidFill>
                <a:effectLst/>
                <a:latin typeface="+mn-ea"/>
              </a:rPr>
              <a:t>例</a:t>
            </a:r>
            <a:r>
              <a:rPr lang="en-US" altLang="zh-CN" kern="1100" dirty="0">
                <a:solidFill>
                  <a:srgbClr val="0000FF"/>
                </a:solidFill>
                <a:effectLst/>
                <a:latin typeface="+mn-ea"/>
              </a:rPr>
              <a:t>10.5  </a:t>
            </a:r>
            <a:r>
              <a:rPr lang="zh-CN" altLang="zh-CN" kern="1100" dirty="0">
                <a:solidFill>
                  <a:srgbClr val="000000"/>
                </a:solidFill>
                <a:effectLst/>
                <a:latin typeface="+mn-ea"/>
              </a:rPr>
              <a:t>证明</a:t>
            </a:r>
            <a:r>
              <a:rPr lang="zh-CN" altLang="en-US" kern="1100" dirty="0">
                <a:solidFill>
                  <a:srgbClr val="000000"/>
                </a:solidFill>
                <a:effectLst/>
                <a:latin typeface="+mn-ea"/>
              </a:rPr>
              <a:t>如</a:t>
            </a:r>
            <a:r>
              <a:rPr lang="zh-CN" altLang="zh-CN" kern="100" dirty="0">
                <a:effectLst/>
                <a:latin typeface="+mn-ea"/>
              </a:rPr>
              <a:t>图所示的两个格</a:t>
            </a:r>
            <a:r>
              <a:rPr lang="zh-CN" altLang="en-US" kern="100" dirty="0">
                <a:effectLst/>
                <a:latin typeface="+mn-ea"/>
              </a:rPr>
              <a:t>（钻石格和五角格）</a:t>
            </a:r>
            <a:r>
              <a:rPr lang="zh-CN" altLang="zh-CN" kern="100" dirty="0">
                <a:effectLst/>
                <a:latin typeface="+mn-ea"/>
              </a:rPr>
              <a:t>都不是分配格。</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0D3D116-FC89-4351-AB07-C885C4DD1E33}"/>
                  </a:ext>
                </a:extLst>
              </p:cNvPr>
              <p:cNvSpPr txBox="1"/>
              <p:nvPr/>
            </p:nvSpPr>
            <p:spPr>
              <a:xfrm>
                <a:off x="405334" y="1709434"/>
                <a:ext cx="7721565" cy="4751429"/>
              </a:xfrm>
              <a:prstGeom prst="rect">
                <a:avLst/>
              </a:prstGeom>
              <a:noFill/>
            </p:spPr>
            <p:txBody>
              <a:bodyPr wrap="square">
                <a:spAutoFit/>
              </a:bodyPr>
              <a:lstStyle/>
              <a:p>
                <a:pPr algn="just">
                  <a:lnSpc>
                    <a:spcPct val="130000"/>
                  </a:lnSpc>
                  <a:spcBef>
                    <a:spcPts val="600"/>
                  </a:spcBef>
                </a:pPr>
                <a:r>
                  <a:rPr lang="zh-CN" altLang="zh-CN" b="1" kern="100" dirty="0">
                    <a:solidFill>
                      <a:srgbClr val="FF0000"/>
                    </a:solidFill>
                    <a:effectLst/>
                    <a:latin typeface="+mn-ea"/>
                  </a:rPr>
                  <a:t>证明</a:t>
                </a:r>
                <a:r>
                  <a:rPr lang="en-US" altLang="zh-CN" b="1" kern="100" dirty="0">
                    <a:effectLst/>
                    <a:latin typeface="+mn-ea"/>
                  </a:rPr>
                  <a:t>  </a:t>
                </a:r>
                <a:r>
                  <a:rPr lang="zh-CN" altLang="zh-CN" b="1" kern="100" dirty="0">
                    <a:effectLst/>
                    <a:latin typeface="+mn-ea"/>
                  </a:rPr>
                  <a:t>在图中都取</a:t>
                </a:r>
                <a14:m>
                  <m:oMath xmlns:m="http://schemas.openxmlformats.org/officeDocument/2006/math">
                    <m:r>
                      <a:rPr lang="en-US" altLang="zh-CN" b="1" i="1" kern="100" dirty="0" smtClean="0">
                        <a:effectLst/>
                        <a:latin typeface="Cambria Math" panose="02040503050406030204" pitchFamily="18" charset="0"/>
                      </a:rPr>
                      <m:t>𝒅</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𝒄</m:t>
                    </m:r>
                  </m:oMath>
                </a14:m>
                <a:r>
                  <a:rPr lang="zh-CN" altLang="zh-CN" b="1" kern="100" dirty="0">
                    <a:effectLst/>
                    <a:latin typeface="+mn-ea"/>
                  </a:rPr>
                  <a:t>三个元素来验证。</a:t>
                </a:r>
                <a:endParaRPr lang="en-US" altLang="zh-CN" b="1" kern="100" dirty="0">
                  <a:effectLst/>
                  <a:latin typeface="+mn-ea"/>
                </a:endParaRPr>
              </a:p>
              <a:p>
                <a:pPr algn="just">
                  <a:lnSpc>
                    <a:spcPct val="130000"/>
                  </a:lnSpc>
                  <a:spcBef>
                    <a:spcPts val="600"/>
                  </a:spcBef>
                </a:pPr>
                <a:r>
                  <a:rPr lang="zh-CN" altLang="zh-CN" b="1" kern="100" dirty="0">
                    <a:effectLst/>
                    <a:latin typeface="+mn-ea"/>
                  </a:rPr>
                  <a:t>对于</a:t>
                </a:r>
                <a:r>
                  <a:rPr lang="zh-CN" altLang="en-US" b="1" kern="100" dirty="0">
                    <a:effectLst/>
                    <a:latin typeface="+mn-ea"/>
                  </a:rPr>
                  <a:t>钻石格</a:t>
                </a:r>
                <a:r>
                  <a:rPr lang="zh-CN" altLang="zh-CN" b="1" kern="100" dirty="0">
                    <a:effectLst/>
                    <a:latin typeface="+mn-ea"/>
                  </a:rPr>
                  <a:t>，</a:t>
                </a:r>
              </a:p>
              <a:p>
                <a:pPr algn="ctr">
                  <a:lnSpc>
                    <a:spcPct val="130000"/>
                  </a:lnSpc>
                  <a:spcBef>
                    <a:spcPts val="600"/>
                  </a:spcBef>
                </a:pP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𝒅</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cs typeface="宋体" panose="02010600030101010101" pitchFamily="2" charset="-122"/>
                        </a:rPr>
                        <m:t>𝒄</m:t>
                      </m:r>
                      <m:r>
                        <a:rPr lang="en-US" altLang="zh-CN" b="1" i="1" kern="100" dirty="0">
                          <a:effectLst/>
                          <a:latin typeface="Cambria Math" panose="02040503050406030204" pitchFamily="18" charset="0"/>
                        </a:rPr>
                        <m:t>)=</m:t>
                      </m:r>
                      <m:r>
                        <a:rPr lang="en-US" altLang="zh-CN" b="1" i="1" kern="100" dirty="0" smtClean="0">
                          <a:effectLst/>
                          <a:latin typeface="Cambria Math" panose="02040503050406030204" pitchFamily="18" charset="0"/>
                        </a:rPr>
                        <m:t>𝒅</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𝒆</m:t>
                      </m:r>
                      <m:r>
                        <a:rPr lang="en-US" altLang="zh-CN" b="1" i="1" kern="100" dirty="0">
                          <a:effectLst/>
                          <a:latin typeface="Cambria Math" panose="02040503050406030204" pitchFamily="18" charset="0"/>
                        </a:rPr>
                        <m:t> =</m:t>
                      </m:r>
                      <m:r>
                        <a:rPr lang="en-US" altLang="zh-CN" b="1" i="1" kern="100" dirty="0" smtClean="0">
                          <a:effectLst/>
                          <a:latin typeface="Cambria Math" panose="02040503050406030204" pitchFamily="18" charset="0"/>
                        </a:rPr>
                        <m:t>𝒅</m:t>
                      </m:r>
                      <m:r>
                        <a:rPr lang="zh-CN" altLang="zh-CN" b="1" i="1" kern="100" dirty="0">
                          <a:effectLst/>
                          <a:latin typeface="Cambria Math" panose="02040503050406030204" pitchFamily="18" charset="0"/>
                        </a:rPr>
                        <m:t>，</m:t>
                      </m:r>
                    </m:oMath>
                  </m:oMathPara>
                </a14:m>
                <a:endParaRPr lang="en-US" altLang="zh-CN" b="1" kern="100" dirty="0">
                  <a:effectLst/>
                  <a:latin typeface="+mn-ea"/>
                </a:endParaRPr>
              </a:p>
              <a:p>
                <a:pPr algn="ctr">
                  <a:lnSpc>
                    <a:spcPct val="130000"/>
                  </a:lnSpc>
                  <a:spcBef>
                    <a:spcPts val="600"/>
                  </a:spcBef>
                </a:pP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𝒅</m:t>
                    </m:r>
                    <m:r>
                      <a:rPr lang="zh-CN" altLang="zh-CN" b="1" i="1" kern="100" dirty="0">
                        <a:effectLst/>
                        <a:latin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rPr>
                      <m:t>𝒃</m:t>
                    </m:r>
                    <m:r>
                      <a:rPr lang="en-US" altLang="zh-CN" b="1" i="1" kern="100" dirty="0">
                        <a:effectLst/>
                        <a:latin typeface="Cambria Math" panose="02040503050406030204" pitchFamily="18" charset="0"/>
                      </a:rPr>
                      <m:t>) </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 (</m:t>
                    </m:r>
                    <m:r>
                      <a:rPr lang="en-US" altLang="zh-CN" b="1" i="1" kern="100" dirty="0" smtClean="0">
                        <a:effectLst/>
                        <a:latin typeface="Cambria Math" panose="02040503050406030204" pitchFamily="18" charset="0"/>
                      </a:rPr>
                      <m:t>𝒅</m:t>
                    </m:r>
                    <m:r>
                      <a:rPr lang="zh-CN" altLang="zh-CN" b="1" i="1" kern="100" dirty="0">
                        <a:effectLst/>
                        <a:latin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rPr>
                      <m:t>𝒄</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oMath>
                </a14:m>
                <a:r>
                  <a:rPr lang="zh-CN" altLang="zh-CN" b="1" kern="100" dirty="0">
                    <a:effectLst/>
                    <a:latin typeface="+mn-ea"/>
                  </a:rPr>
                  <a:t>。</a:t>
                </a:r>
              </a:p>
              <a:p>
                <a:pPr algn="just">
                  <a:lnSpc>
                    <a:spcPct val="130000"/>
                  </a:lnSpc>
                  <a:spcBef>
                    <a:spcPts val="600"/>
                  </a:spcBef>
                </a:pPr>
                <a:r>
                  <a:rPr lang="zh-CN" altLang="zh-CN" b="1" kern="100" dirty="0">
                    <a:effectLst/>
                    <a:latin typeface="+mn-ea"/>
                  </a:rPr>
                  <a:t>对于</a:t>
                </a:r>
                <a:r>
                  <a:rPr lang="zh-CN" altLang="en-US" b="1" kern="100" dirty="0">
                    <a:effectLst/>
                    <a:latin typeface="+mn-ea"/>
                  </a:rPr>
                  <a:t>五角格</a:t>
                </a:r>
                <a:r>
                  <a:rPr lang="zh-CN" altLang="zh-CN" b="1" kern="100" dirty="0">
                    <a:effectLst/>
                    <a:latin typeface="+mn-ea"/>
                  </a:rPr>
                  <a:t>，</a:t>
                </a:r>
              </a:p>
              <a:p>
                <a:pPr algn="ctr">
                  <a:lnSpc>
                    <a:spcPct val="130000"/>
                  </a:lnSpc>
                  <a:spcBef>
                    <a:spcPts val="600"/>
                  </a:spcBef>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𝒅</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𝒅</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𝒆</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𝒅</m:t>
                      </m:r>
                      <m:r>
                        <a:rPr lang="zh-CN" altLang="zh-CN" b="1" i="1" kern="100" dirty="0">
                          <a:effectLst/>
                          <a:latin typeface="Cambria Math" panose="02040503050406030204" pitchFamily="18" charset="0"/>
                        </a:rPr>
                        <m:t>，</m:t>
                      </m:r>
                    </m:oMath>
                  </m:oMathPara>
                </a14:m>
                <a:endParaRPr lang="en-US" altLang="zh-CN" b="1" kern="100" dirty="0">
                  <a:effectLst/>
                  <a:latin typeface="+mn-ea"/>
                </a:endParaRPr>
              </a:p>
              <a:p>
                <a:pPr algn="ctr">
                  <a:lnSpc>
                    <a:spcPct val="130000"/>
                  </a:lnSpc>
                  <a:spcBef>
                    <a:spcPts val="600"/>
                  </a:spcBef>
                </a:pP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𝒅</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𝒅</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oMath>
                </a14:m>
                <a:r>
                  <a:rPr lang="zh-CN" altLang="zh-CN" b="1" kern="100" dirty="0">
                    <a:effectLst/>
                    <a:latin typeface="+mn-ea"/>
                  </a:rPr>
                  <a:t>。</a:t>
                </a:r>
              </a:p>
              <a:p>
                <a:pPr>
                  <a:lnSpc>
                    <a:spcPct val="130000"/>
                  </a:lnSpc>
                  <a:spcBef>
                    <a:spcPts val="600"/>
                  </a:spcBef>
                </a:pPr>
                <a:r>
                  <a:rPr lang="zh-CN" altLang="zh-CN" b="1" dirty="0">
                    <a:effectLst/>
                    <a:latin typeface="+mn-ea"/>
                    <a:cs typeface="Times New Roman" panose="02020603050405020304" pitchFamily="18" charset="0"/>
                  </a:rPr>
                  <a:t>均有</a:t>
                </a:r>
                <a14:m>
                  <m:oMath xmlns:m="http://schemas.openxmlformats.org/officeDocument/2006/math">
                    <m:r>
                      <a:rPr lang="en-US" altLang="zh-CN" b="1" i="1" kern="100" dirty="0">
                        <a:latin typeface="Cambria Math" panose="02040503050406030204" pitchFamily="18" charset="0"/>
                      </a:rPr>
                      <m:t>𝒅</m:t>
                    </m:r>
                    <m:r>
                      <a:rPr lang="zh-CN" altLang="zh-CN" b="1" i="1" kern="100" dirty="0">
                        <a:latin typeface="Cambria Math" panose="02040503050406030204" pitchFamily="18" charset="0"/>
                        <a:cs typeface="宋体" panose="02010600030101010101" pitchFamily="2" charset="-122"/>
                      </a:rPr>
                      <m:t>∧</m:t>
                    </m:r>
                    <m:r>
                      <a:rPr lang="zh-CN" altLang="zh-CN" b="1" i="1" kern="100" dirty="0">
                        <a:latin typeface="Cambria Math" panose="02040503050406030204" pitchFamily="18" charset="0"/>
                      </a:rPr>
                      <m:t> </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𝒃</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𝒅</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𝒃</m:t>
                    </m:r>
                    <m:r>
                      <a:rPr lang="en-US" altLang="zh-CN" b="1" i="1" kern="100" dirty="0">
                        <a:latin typeface="Cambria Math" panose="02040503050406030204" pitchFamily="18" charset="0"/>
                      </a:rPr>
                      <m:t>)∨(</m:t>
                    </m:r>
                    <m:r>
                      <a:rPr lang="en-US" altLang="zh-CN" b="1" i="1" kern="100" dirty="0">
                        <a:latin typeface="Cambria Math" panose="02040503050406030204" pitchFamily="18" charset="0"/>
                      </a:rPr>
                      <m:t>𝒅</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m:t>
                    </m:r>
                  </m:oMath>
                </a14:m>
                <a:r>
                  <a:rPr lang="zh-CN" altLang="zh-CN" b="1" dirty="0">
                    <a:effectLst/>
                    <a:latin typeface="+mn-ea"/>
                    <a:cs typeface="Times New Roman" panose="02020603050405020304" pitchFamily="18" charset="0"/>
                  </a:rPr>
                  <a:t>，不满足分配律，因此不是分配格。</a:t>
                </a:r>
                <a:endParaRPr lang="zh-CN" altLang="en-US" b="1" dirty="0">
                  <a:latin typeface="+mn-ea"/>
                </a:endParaRPr>
              </a:p>
            </p:txBody>
          </p:sp>
        </mc:Choice>
        <mc:Fallback xmlns="">
          <p:sp>
            <p:nvSpPr>
              <p:cNvPr id="5" name="文本框 4">
                <a:extLst>
                  <a:ext uri="{FF2B5EF4-FFF2-40B4-BE49-F238E27FC236}">
                    <a16:creationId xmlns:a16="http://schemas.microsoft.com/office/drawing/2014/main" id="{90D3D116-FC89-4351-AB07-C885C4DD1E33}"/>
                  </a:ext>
                </a:extLst>
              </p:cNvPr>
              <p:cNvSpPr txBox="1">
                <a:spLocks noRot="1" noChangeAspect="1" noMove="1" noResize="1" noEditPoints="1" noAdjustHandles="1" noChangeArrowheads="1" noChangeShapeType="1" noTextEdit="1"/>
              </p:cNvSpPr>
              <p:nvPr/>
            </p:nvSpPr>
            <p:spPr>
              <a:xfrm>
                <a:off x="405334" y="1709434"/>
                <a:ext cx="7721565" cy="4751429"/>
              </a:xfrm>
              <a:prstGeom prst="rect">
                <a:avLst/>
              </a:prstGeom>
              <a:blipFill>
                <a:blip r:embed="rId5"/>
                <a:stretch>
                  <a:fillRect l="-1184" b="-1923"/>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D7A44DC9-B31B-46EF-A65A-33490B430549}"/>
              </a:ext>
            </a:extLst>
          </p:cNvPr>
          <p:cNvGrpSpPr/>
          <p:nvPr/>
        </p:nvGrpSpPr>
        <p:grpSpPr>
          <a:xfrm>
            <a:off x="8297695" y="1641210"/>
            <a:ext cx="3459743" cy="3140212"/>
            <a:chOff x="4492159" y="1008231"/>
            <a:chExt cx="3459743" cy="3140212"/>
          </a:xfrm>
        </p:grpSpPr>
        <p:cxnSp>
          <p:nvCxnSpPr>
            <p:cNvPr id="9" name="Line 814">
              <a:extLst>
                <a:ext uri="{FF2B5EF4-FFF2-40B4-BE49-F238E27FC236}">
                  <a16:creationId xmlns:a16="http://schemas.microsoft.com/office/drawing/2014/main" id="{42028964-AA4A-484B-8BD2-E9BC286411F7}"/>
                </a:ext>
              </a:extLst>
            </p:cNvPr>
            <p:cNvCxnSpPr>
              <a:cxnSpLocks noChangeShapeType="1"/>
              <a:stCxn id="23" idx="4"/>
              <a:endCxn id="13" idx="0"/>
            </p:cNvCxnSpPr>
            <p:nvPr/>
          </p:nvCxnSpPr>
          <p:spPr bwMode="auto">
            <a:xfrm>
              <a:off x="7572596" y="2265109"/>
              <a:ext cx="0" cy="73409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0" name="Text Box 815">
              <a:extLst>
                <a:ext uri="{FF2B5EF4-FFF2-40B4-BE49-F238E27FC236}">
                  <a16:creationId xmlns:a16="http://schemas.microsoft.com/office/drawing/2014/main" id="{445C0716-4AD3-4589-B134-EE6BA57089B6}"/>
                </a:ext>
              </a:extLst>
            </p:cNvPr>
            <p:cNvSpPr txBox="1">
              <a:spLocks noChangeArrowheads="1"/>
            </p:cNvSpPr>
            <p:nvPr/>
          </p:nvSpPr>
          <p:spPr bwMode="auto">
            <a:xfrm>
              <a:off x="7135442" y="3791827"/>
              <a:ext cx="310705" cy="3566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1" name="Oval 817">
              <a:extLst>
                <a:ext uri="{FF2B5EF4-FFF2-40B4-BE49-F238E27FC236}">
                  <a16:creationId xmlns:a16="http://schemas.microsoft.com/office/drawing/2014/main" id="{717003F2-3F11-46F8-AA1D-252C0D043237}"/>
                </a:ext>
              </a:extLst>
            </p:cNvPr>
            <p:cNvSpPr>
              <a:spLocks noChangeArrowheads="1"/>
            </p:cNvSpPr>
            <p:nvPr/>
          </p:nvSpPr>
          <p:spPr bwMode="auto">
            <a:xfrm>
              <a:off x="7137353" y="143616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2" name="Oval 818">
              <a:extLst>
                <a:ext uri="{FF2B5EF4-FFF2-40B4-BE49-F238E27FC236}">
                  <a16:creationId xmlns:a16="http://schemas.microsoft.com/office/drawing/2014/main" id="{29792BB0-19A5-4F44-BFC8-B8D89BEAA8E5}"/>
                </a:ext>
              </a:extLst>
            </p:cNvPr>
            <p:cNvSpPr>
              <a:spLocks noChangeArrowheads="1"/>
            </p:cNvSpPr>
            <p:nvPr/>
          </p:nvSpPr>
          <p:spPr bwMode="auto">
            <a:xfrm>
              <a:off x="7137353" y="3699160"/>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3" name="Oval 819">
              <a:extLst>
                <a:ext uri="{FF2B5EF4-FFF2-40B4-BE49-F238E27FC236}">
                  <a16:creationId xmlns:a16="http://schemas.microsoft.com/office/drawing/2014/main" id="{84CAD092-D2CA-43F2-84DD-759035B1340B}"/>
                </a:ext>
              </a:extLst>
            </p:cNvPr>
            <p:cNvSpPr>
              <a:spLocks noChangeArrowheads="1"/>
            </p:cNvSpPr>
            <p:nvPr/>
          </p:nvSpPr>
          <p:spPr bwMode="auto">
            <a:xfrm>
              <a:off x="7518596" y="299920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4" name="Oval 820">
              <a:extLst>
                <a:ext uri="{FF2B5EF4-FFF2-40B4-BE49-F238E27FC236}">
                  <a16:creationId xmlns:a16="http://schemas.microsoft.com/office/drawing/2014/main" id="{01C8E088-16B5-4B1D-B2CA-776AB756962B}"/>
                </a:ext>
              </a:extLst>
            </p:cNvPr>
            <p:cNvSpPr>
              <a:spLocks noChangeArrowheads="1"/>
            </p:cNvSpPr>
            <p:nvPr/>
          </p:nvSpPr>
          <p:spPr bwMode="auto">
            <a:xfrm>
              <a:off x="6749391" y="2566715"/>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15" name="Line 821">
              <a:extLst>
                <a:ext uri="{FF2B5EF4-FFF2-40B4-BE49-F238E27FC236}">
                  <a16:creationId xmlns:a16="http://schemas.microsoft.com/office/drawing/2014/main" id="{6F378911-C642-4550-A6AF-5C19F55DB6F6}"/>
                </a:ext>
              </a:extLst>
            </p:cNvPr>
            <p:cNvCxnSpPr>
              <a:cxnSpLocks noChangeShapeType="1"/>
              <a:stCxn id="13" idx="4"/>
              <a:endCxn id="12" idx="7"/>
            </p:cNvCxnSpPr>
            <p:nvPr/>
          </p:nvCxnSpPr>
          <p:spPr bwMode="auto">
            <a:xfrm flipH="1">
              <a:off x="7229537" y="3107330"/>
              <a:ext cx="343059" cy="60766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 name="Line 822">
              <a:extLst>
                <a:ext uri="{FF2B5EF4-FFF2-40B4-BE49-F238E27FC236}">
                  <a16:creationId xmlns:a16="http://schemas.microsoft.com/office/drawing/2014/main" id="{480290E3-C8EE-4A01-9BD4-43B4AD4C1FCD}"/>
                </a:ext>
              </a:extLst>
            </p:cNvPr>
            <p:cNvCxnSpPr>
              <a:cxnSpLocks noChangeShapeType="1"/>
              <a:stCxn id="11" idx="3"/>
              <a:endCxn id="14" idx="0"/>
            </p:cNvCxnSpPr>
            <p:nvPr/>
          </p:nvCxnSpPr>
          <p:spPr bwMode="auto">
            <a:xfrm flipH="1">
              <a:off x="6803391" y="1528456"/>
              <a:ext cx="349778" cy="10382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7" name="Line 823">
              <a:extLst>
                <a:ext uri="{FF2B5EF4-FFF2-40B4-BE49-F238E27FC236}">
                  <a16:creationId xmlns:a16="http://schemas.microsoft.com/office/drawing/2014/main" id="{28DBCD08-AA71-4B8F-B872-F3D62BF9B70E}"/>
                </a:ext>
              </a:extLst>
            </p:cNvPr>
            <p:cNvCxnSpPr>
              <a:cxnSpLocks noChangeShapeType="1"/>
              <a:stCxn id="11" idx="5"/>
              <a:endCxn id="23" idx="1"/>
            </p:cNvCxnSpPr>
            <p:nvPr/>
          </p:nvCxnSpPr>
          <p:spPr bwMode="auto">
            <a:xfrm>
              <a:off x="7229537" y="1528456"/>
              <a:ext cx="304875" cy="64436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 name="Line 824">
              <a:extLst>
                <a:ext uri="{FF2B5EF4-FFF2-40B4-BE49-F238E27FC236}">
                  <a16:creationId xmlns:a16="http://schemas.microsoft.com/office/drawing/2014/main" id="{E0CECE63-C6C9-463E-8D1C-A31CCF8DAE5C}"/>
                </a:ext>
              </a:extLst>
            </p:cNvPr>
            <p:cNvCxnSpPr>
              <a:cxnSpLocks noChangeShapeType="1"/>
              <a:stCxn id="14" idx="4"/>
              <a:endCxn id="12" idx="1"/>
            </p:cNvCxnSpPr>
            <p:nvPr/>
          </p:nvCxnSpPr>
          <p:spPr bwMode="auto">
            <a:xfrm>
              <a:off x="6803391" y="2674838"/>
              <a:ext cx="349778" cy="1040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19" name="Text Box 825">
              <a:extLst>
                <a:ext uri="{FF2B5EF4-FFF2-40B4-BE49-F238E27FC236}">
                  <a16:creationId xmlns:a16="http://schemas.microsoft.com/office/drawing/2014/main" id="{8CA77675-3851-428F-A4C8-5521CE224639}"/>
                </a:ext>
              </a:extLst>
            </p:cNvPr>
            <p:cNvSpPr txBox="1">
              <a:spLocks noChangeArrowheads="1"/>
            </p:cNvSpPr>
            <p:nvPr/>
          </p:nvSpPr>
          <p:spPr bwMode="auto">
            <a:xfrm>
              <a:off x="6472276" y="2363748"/>
              <a:ext cx="194821" cy="36040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0" name="Text Box 826">
              <a:extLst>
                <a:ext uri="{FF2B5EF4-FFF2-40B4-BE49-F238E27FC236}">
                  <a16:creationId xmlns:a16="http://schemas.microsoft.com/office/drawing/2014/main" id="{530178C9-B399-496E-9409-166FD3508898}"/>
                </a:ext>
              </a:extLst>
            </p:cNvPr>
            <p:cNvSpPr txBox="1">
              <a:spLocks noChangeArrowheads="1"/>
            </p:cNvSpPr>
            <p:nvPr/>
          </p:nvSpPr>
          <p:spPr bwMode="auto">
            <a:xfrm>
              <a:off x="7686545" y="2737436"/>
              <a:ext cx="265357" cy="43030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1" name="Text Box 827">
              <a:extLst>
                <a:ext uri="{FF2B5EF4-FFF2-40B4-BE49-F238E27FC236}">
                  <a16:creationId xmlns:a16="http://schemas.microsoft.com/office/drawing/2014/main" id="{D1294EA3-587D-4E36-892A-853A8CC02AD1}"/>
                </a:ext>
              </a:extLst>
            </p:cNvPr>
            <p:cNvSpPr txBox="1">
              <a:spLocks noChangeArrowheads="1"/>
            </p:cNvSpPr>
            <p:nvPr/>
          </p:nvSpPr>
          <p:spPr bwMode="auto">
            <a:xfrm>
              <a:off x="7686546" y="1923669"/>
              <a:ext cx="240166" cy="51595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2" name="Text Box 828">
              <a:extLst>
                <a:ext uri="{FF2B5EF4-FFF2-40B4-BE49-F238E27FC236}">
                  <a16:creationId xmlns:a16="http://schemas.microsoft.com/office/drawing/2014/main" id="{0255ED69-5532-4919-8AA8-738814DFCD4A}"/>
                </a:ext>
              </a:extLst>
            </p:cNvPr>
            <p:cNvSpPr txBox="1">
              <a:spLocks noChangeArrowheads="1"/>
            </p:cNvSpPr>
            <p:nvPr/>
          </p:nvSpPr>
          <p:spPr bwMode="auto">
            <a:xfrm>
              <a:off x="7141101" y="1008231"/>
              <a:ext cx="277089" cy="38886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3" name="Oval 829">
              <a:extLst>
                <a:ext uri="{FF2B5EF4-FFF2-40B4-BE49-F238E27FC236}">
                  <a16:creationId xmlns:a16="http://schemas.microsoft.com/office/drawing/2014/main" id="{B01273F4-32C3-4012-B00A-BB46C9FCB2A5}"/>
                </a:ext>
              </a:extLst>
            </p:cNvPr>
            <p:cNvSpPr>
              <a:spLocks noChangeArrowheads="1"/>
            </p:cNvSpPr>
            <p:nvPr/>
          </p:nvSpPr>
          <p:spPr bwMode="auto">
            <a:xfrm>
              <a:off x="7518596" y="2156986"/>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24" name="Line 831">
              <a:extLst>
                <a:ext uri="{FF2B5EF4-FFF2-40B4-BE49-F238E27FC236}">
                  <a16:creationId xmlns:a16="http://schemas.microsoft.com/office/drawing/2014/main" id="{5D790805-A90C-488F-9528-6A92445F92CB}"/>
                </a:ext>
              </a:extLst>
            </p:cNvPr>
            <p:cNvCxnSpPr>
              <a:cxnSpLocks noChangeShapeType="1"/>
              <a:stCxn id="38" idx="4"/>
              <a:endCxn id="27" idx="0"/>
            </p:cNvCxnSpPr>
            <p:nvPr/>
          </p:nvCxnSpPr>
          <p:spPr bwMode="auto">
            <a:xfrm>
              <a:off x="5206198" y="2758301"/>
              <a:ext cx="0" cy="102432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5" name="Text Box 832">
              <a:extLst>
                <a:ext uri="{FF2B5EF4-FFF2-40B4-BE49-F238E27FC236}">
                  <a16:creationId xmlns:a16="http://schemas.microsoft.com/office/drawing/2014/main" id="{775E8457-0AC9-4D3A-BAA1-5A21751D8B84}"/>
                </a:ext>
              </a:extLst>
            </p:cNvPr>
            <p:cNvSpPr txBox="1">
              <a:spLocks noChangeArrowheads="1"/>
            </p:cNvSpPr>
            <p:nvPr/>
          </p:nvSpPr>
          <p:spPr bwMode="auto">
            <a:xfrm>
              <a:off x="5192353" y="3799607"/>
              <a:ext cx="360779" cy="2902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6" name="Oval 834">
              <a:extLst>
                <a:ext uri="{FF2B5EF4-FFF2-40B4-BE49-F238E27FC236}">
                  <a16:creationId xmlns:a16="http://schemas.microsoft.com/office/drawing/2014/main" id="{FE09DB00-C27A-47DC-A2FB-7A42AE15D02B}"/>
                </a:ext>
              </a:extLst>
            </p:cNvPr>
            <p:cNvSpPr>
              <a:spLocks noChangeArrowheads="1"/>
            </p:cNvSpPr>
            <p:nvPr/>
          </p:nvSpPr>
          <p:spPr bwMode="auto">
            <a:xfrm>
              <a:off x="5152198" y="1519630"/>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7" name="Oval 835">
              <a:extLst>
                <a:ext uri="{FF2B5EF4-FFF2-40B4-BE49-F238E27FC236}">
                  <a16:creationId xmlns:a16="http://schemas.microsoft.com/office/drawing/2014/main" id="{B7EDAFFB-4676-47C8-AF7F-88D862F51E6A}"/>
                </a:ext>
              </a:extLst>
            </p:cNvPr>
            <p:cNvSpPr>
              <a:spLocks noChangeArrowheads="1"/>
            </p:cNvSpPr>
            <p:nvPr/>
          </p:nvSpPr>
          <p:spPr bwMode="auto">
            <a:xfrm>
              <a:off x="5152198" y="3782623"/>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8" name="Oval 836">
              <a:extLst>
                <a:ext uri="{FF2B5EF4-FFF2-40B4-BE49-F238E27FC236}">
                  <a16:creationId xmlns:a16="http://schemas.microsoft.com/office/drawing/2014/main" id="{316B73C6-D4C0-46C7-BD00-51583177D924}"/>
                </a:ext>
              </a:extLst>
            </p:cNvPr>
            <p:cNvSpPr>
              <a:spLocks noChangeArrowheads="1"/>
            </p:cNvSpPr>
            <p:nvPr/>
          </p:nvSpPr>
          <p:spPr bwMode="auto">
            <a:xfrm>
              <a:off x="4764236" y="2650178"/>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29" name="Line 837">
              <a:extLst>
                <a:ext uri="{FF2B5EF4-FFF2-40B4-BE49-F238E27FC236}">
                  <a16:creationId xmlns:a16="http://schemas.microsoft.com/office/drawing/2014/main" id="{1C415509-866A-4F3F-A61C-E3ABD4C82C51}"/>
                </a:ext>
              </a:extLst>
            </p:cNvPr>
            <p:cNvCxnSpPr>
              <a:cxnSpLocks noChangeShapeType="1"/>
              <a:stCxn id="39" idx="4"/>
              <a:endCxn id="27" idx="7"/>
            </p:cNvCxnSpPr>
            <p:nvPr/>
          </p:nvCxnSpPr>
          <p:spPr bwMode="auto">
            <a:xfrm flipH="1">
              <a:off x="5244382" y="2758301"/>
              <a:ext cx="343059" cy="1040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0" name="Line 838">
              <a:extLst>
                <a:ext uri="{FF2B5EF4-FFF2-40B4-BE49-F238E27FC236}">
                  <a16:creationId xmlns:a16="http://schemas.microsoft.com/office/drawing/2014/main" id="{7BE5BA09-24E7-412E-AF1F-36BD3CCCEB52}"/>
                </a:ext>
              </a:extLst>
            </p:cNvPr>
            <p:cNvCxnSpPr>
              <a:cxnSpLocks noChangeShapeType="1"/>
              <a:stCxn id="26" idx="3"/>
              <a:endCxn id="28" idx="0"/>
            </p:cNvCxnSpPr>
            <p:nvPr/>
          </p:nvCxnSpPr>
          <p:spPr bwMode="auto">
            <a:xfrm flipH="1">
              <a:off x="4818236" y="1611919"/>
              <a:ext cx="349778" cy="10382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1" name="Line 839">
              <a:extLst>
                <a:ext uri="{FF2B5EF4-FFF2-40B4-BE49-F238E27FC236}">
                  <a16:creationId xmlns:a16="http://schemas.microsoft.com/office/drawing/2014/main" id="{CECC6EA3-84D7-4D9D-9F08-241745274B25}"/>
                </a:ext>
              </a:extLst>
            </p:cNvPr>
            <p:cNvCxnSpPr>
              <a:cxnSpLocks noChangeShapeType="1"/>
              <a:stCxn id="26" idx="5"/>
              <a:endCxn id="39" idx="0"/>
            </p:cNvCxnSpPr>
            <p:nvPr/>
          </p:nvCxnSpPr>
          <p:spPr bwMode="auto">
            <a:xfrm>
              <a:off x="5244382" y="1611919"/>
              <a:ext cx="343059" cy="10382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2" name="Line 840">
              <a:extLst>
                <a:ext uri="{FF2B5EF4-FFF2-40B4-BE49-F238E27FC236}">
                  <a16:creationId xmlns:a16="http://schemas.microsoft.com/office/drawing/2014/main" id="{DD8A838E-5B76-4CCA-BC52-BCBB45560DEB}"/>
                </a:ext>
              </a:extLst>
            </p:cNvPr>
            <p:cNvCxnSpPr>
              <a:cxnSpLocks noChangeShapeType="1"/>
              <a:stCxn id="28" idx="4"/>
              <a:endCxn id="27" idx="1"/>
            </p:cNvCxnSpPr>
            <p:nvPr/>
          </p:nvCxnSpPr>
          <p:spPr bwMode="auto">
            <a:xfrm>
              <a:off x="4818236" y="2758301"/>
              <a:ext cx="349778" cy="104015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3" name="Text Box 841">
              <a:extLst>
                <a:ext uri="{FF2B5EF4-FFF2-40B4-BE49-F238E27FC236}">
                  <a16:creationId xmlns:a16="http://schemas.microsoft.com/office/drawing/2014/main" id="{0229FFC4-8B78-47C8-9B4B-8CB124CB2852}"/>
                </a:ext>
              </a:extLst>
            </p:cNvPr>
            <p:cNvSpPr txBox="1">
              <a:spLocks noChangeArrowheads="1"/>
            </p:cNvSpPr>
            <p:nvPr/>
          </p:nvSpPr>
          <p:spPr bwMode="auto">
            <a:xfrm>
              <a:off x="4492159" y="2447212"/>
              <a:ext cx="223367" cy="31109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4" name="Text Box 842">
              <a:extLst>
                <a:ext uri="{FF2B5EF4-FFF2-40B4-BE49-F238E27FC236}">
                  <a16:creationId xmlns:a16="http://schemas.microsoft.com/office/drawing/2014/main" id="{4571EE4B-D10F-4242-B0CA-F052C8B7D43A}"/>
                </a:ext>
              </a:extLst>
            </p:cNvPr>
            <p:cNvSpPr txBox="1">
              <a:spLocks noChangeArrowheads="1"/>
            </p:cNvSpPr>
            <p:nvPr/>
          </p:nvSpPr>
          <p:spPr bwMode="auto">
            <a:xfrm>
              <a:off x="5283199" y="2447212"/>
              <a:ext cx="151154" cy="41162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5" name="Text Box 843">
              <a:extLst>
                <a:ext uri="{FF2B5EF4-FFF2-40B4-BE49-F238E27FC236}">
                  <a16:creationId xmlns:a16="http://schemas.microsoft.com/office/drawing/2014/main" id="{84180AEC-498A-4A74-9545-B46B18A51050}"/>
                </a:ext>
              </a:extLst>
            </p:cNvPr>
            <p:cNvSpPr txBox="1">
              <a:spLocks noChangeArrowheads="1"/>
            </p:cNvSpPr>
            <p:nvPr/>
          </p:nvSpPr>
          <p:spPr bwMode="auto">
            <a:xfrm>
              <a:off x="5701391" y="2447211"/>
              <a:ext cx="277116" cy="2409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6" name="Text Box 844">
              <a:extLst>
                <a:ext uri="{FF2B5EF4-FFF2-40B4-BE49-F238E27FC236}">
                  <a16:creationId xmlns:a16="http://schemas.microsoft.com/office/drawing/2014/main" id="{A9CDF437-CE8E-4592-AE43-21259ABD4F65}"/>
                </a:ext>
              </a:extLst>
            </p:cNvPr>
            <p:cNvSpPr txBox="1">
              <a:spLocks noChangeArrowheads="1"/>
            </p:cNvSpPr>
            <p:nvPr/>
          </p:nvSpPr>
          <p:spPr bwMode="auto">
            <a:xfrm>
              <a:off x="5234878" y="1109243"/>
              <a:ext cx="189782" cy="35282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37" name="Line 845">
              <a:extLst>
                <a:ext uri="{FF2B5EF4-FFF2-40B4-BE49-F238E27FC236}">
                  <a16:creationId xmlns:a16="http://schemas.microsoft.com/office/drawing/2014/main" id="{F45E0E21-1DEC-4D8C-A78F-4DF254D6E264}"/>
                </a:ext>
              </a:extLst>
            </p:cNvPr>
            <p:cNvCxnSpPr>
              <a:cxnSpLocks noChangeShapeType="1"/>
              <a:stCxn id="26" idx="4"/>
              <a:endCxn id="38" idx="0"/>
            </p:cNvCxnSpPr>
            <p:nvPr/>
          </p:nvCxnSpPr>
          <p:spPr bwMode="auto">
            <a:xfrm>
              <a:off x="5206198" y="1627753"/>
              <a:ext cx="0" cy="10224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8" name="Oval 846">
              <a:extLst>
                <a:ext uri="{FF2B5EF4-FFF2-40B4-BE49-F238E27FC236}">
                  <a16:creationId xmlns:a16="http://schemas.microsoft.com/office/drawing/2014/main" id="{337916ED-6AFF-4262-9DD5-4290A53BF44B}"/>
                </a:ext>
              </a:extLst>
            </p:cNvPr>
            <p:cNvSpPr>
              <a:spLocks noChangeArrowheads="1"/>
            </p:cNvSpPr>
            <p:nvPr/>
          </p:nvSpPr>
          <p:spPr bwMode="auto">
            <a:xfrm>
              <a:off x="5152198" y="2650178"/>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39" name="Oval 847">
              <a:extLst>
                <a:ext uri="{FF2B5EF4-FFF2-40B4-BE49-F238E27FC236}">
                  <a16:creationId xmlns:a16="http://schemas.microsoft.com/office/drawing/2014/main" id="{808AFDB1-C796-496C-911F-93F1955BF0EA}"/>
                </a:ext>
              </a:extLst>
            </p:cNvPr>
            <p:cNvSpPr>
              <a:spLocks noChangeArrowheads="1"/>
            </p:cNvSpPr>
            <p:nvPr/>
          </p:nvSpPr>
          <p:spPr bwMode="auto">
            <a:xfrm>
              <a:off x="5533441" y="2650178"/>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grpSp>
    </p:spTree>
    <p:custDataLst>
      <p:tags r:id="rId1"/>
    </p:custDataLst>
    <p:extLst>
      <p:ext uri="{BB962C8B-B14F-4D97-AF65-F5344CB8AC3E}">
        <p14:creationId xmlns:p14="http://schemas.microsoft.com/office/powerpoint/2010/main" val="24313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F7E95B-A492-4A9F-86E9-0755BAB863D5}"/>
              </a:ext>
            </a:extLst>
          </p:cNvPr>
          <p:cNvSpPr>
            <a:spLocks noGrp="1"/>
          </p:cNvSpPr>
          <p:nvPr>
            <p:ph type="title"/>
          </p:nvPr>
        </p:nvSpPr>
        <p:spPr/>
        <p:txBody>
          <a:bodyPr/>
          <a:lstStyle/>
          <a:p>
            <a:r>
              <a:rPr lang="zh-CN" altLang="en-US" dirty="0"/>
              <a:t>分配格的判定</a:t>
            </a:r>
          </a:p>
        </p:txBody>
      </p:sp>
      <p:sp>
        <p:nvSpPr>
          <p:cNvPr id="3" name="内容占位符 2">
            <a:extLst>
              <a:ext uri="{FF2B5EF4-FFF2-40B4-BE49-F238E27FC236}">
                <a16:creationId xmlns:a16="http://schemas.microsoft.com/office/drawing/2014/main" id="{316400DD-CBC2-4D92-BFAA-BC8C2417275F}"/>
              </a:ext>
            </a:extLst>
          </p:cNvPr>
          <p:cNvSpPr>
            <a:spLocks noGrp="1"/>
          </p:cNvSpPr>
          <p:nvPr>
            <p:ph idx="1"/>
          </p:nvPr>
        </p:nvSpPr>
        <p:spPr>
          <a:xfrm>
            <a:off x="361488" y="973611"/>
            <a:ext cx="11376487" cy="1245670"/>
          </a:xfrm>
        </p:spPr>
        <p:txBody>
          <a:bodyPr>
            <a:noAutofit/>
          </a:bodyPr>
          <a:lstStyle/>
          <a:p>
            <a:pPr marL="0" indent="0">
              <a:lnSpc>
                <a:spcPct val="130000"/>
              </a:lnSpc>
              <a:buNone/>
            </a:pPr>
            <a:r>
              <a:rPr lang="zh-CN" altLang="zh-CN" kern="1100" spc="-10" dirty="0">
                <a:solidFill>
                  <a:srgbClr val="0000FF"/>
                </a:solidFill>
                <a:effectLst/>
                <a:latin typeface="+mn-ea"/>
                <a:cs typeface="Times New Roman" panose="02020603050405020304" pitchFamily="18" charset="0"/>
              </a:rPr>
              <a:t>定理</a:t>
            </a:r>
            <a:r>
              <a:rPr lang="en-US" altLang="zh-CN" kern="1100" spc="-10" dirty="0">
                <a:solidFill>
                  <a:srgbClr val="0000FF"/>
                </a:solidFill>
                <a:effectLst/>
                <a:latin typeface="+mn-ea"/>
              </a:rPr>
              <a:t>10.5</a:t>
            </a:r>
            <a:r>
              <a:rPr lang="en-US" altLang="zh-CN" spc="-10" dirty="0">
                <a:solidFill>
                  <a:srgbClr val="0000FF"/>
                </a:solidFill>
                <a:effectLst/>
                <a:latin typeface="+mn-ea"/>
              </a:rPr>
              <a:t>  </a:t>
            </a:r>
            <a:r>
              <a:rPr lang="zh-CN" altLang="zh-CN" spc="-10" dirty="0">
                <a:effectLst/>
                <a:latin typeface="+mn-ea"/>
                <a:cs typeface="Times New Roman" panose="02020603050405020304" pitchFamily="18" charset="0"/>
              </a:rPr>
              <a:t>（</a:t>
            </a:r>
            <a:r>
              <a:rPr lang="en-US" altLang="zh-CN" spc="-10" dirty="0" err="1">
                <a:solidFill>
                  <a:srgbClr val="FF0000"/>
                </a:solidFill>
                <a:effectLst/>
                <a:latin typeface="+mn-ea"/>
              </a:rPr>
              <a:t>Birkhoff</a:t>
            </a:r>
            <a:r>
              <a:rPr lang="zh-CN" altLang="zh-CN" spc="-10" dirty="0">
                <a:solidFill>
                  <a:srgbClr val="FF0000"/>
                </a:solidFill>
                <a:effectLst/>
                <a:latin typeface="+mn-ea"/>
                <a:cs typeface="Times New Roman" panose="02020603050405020304" pitchFamily="18" charset="0"/>
              </a:rPr>
              <a:t>判定定理</a:t>
            </a:r>
            <a:r>
              <a:rPr lang="zh-CN" altLang="zh-CN" spc="-10" dirty="0">
                <a:effectLst/>
                <a:latin typeface="+mn-ea"/>
                <a:cs typeface="Times New Roman" panose="02020603050405020304" pitchFamily="18" charset="0"/>
              </a:rPr>
              <a:t>）一个格是分配格的充分必要条件是该格中</a:t>
            </a:r>
            <a:r>
              <a:rPr lang="zh-CN" altLang="zh-CN" spc="-10" dirty="0">
                <a:solidFill>
                  <a:srgbClr val="0000FF"/>
                </a:solidFill>
                <a:effectLst/>
                <a:latin typeface="+mn-ea"/>
                <a:cs typeface="Times New Roman" panose="02020603050405020304" pitchFamily="18" charset="0"/>
              </a:rPr>
              <a:t>没有任何子格与钻石格或五角格同构</a:t>
            </a:r>
            <a:r>
              <a:rPr lang="zh-CN" altLang="zh-CN" spc="-10" dirty="0">
                <a:effectLst/>
                <a:latin typeface="+mn-ea"/>
                <a:cs typeface="Times New Roman" panose="02020603050405020304" pitchFamily="18" charset="0"/>
              </a:rPr>
              <a:t>。</a:t>
            </a:r>
            <a:endParaRPr lang="zh-CN" altLang="en-US" dirty="0">
              <a:latin typeface="+mn-ea"/>
            </a:endParaRPr>
          </a:p>
        </p:txBody>
      </p:sp>
      <p:sp>
        <p:nvSpPr>
          <p:cNvPr id="5" name="文本框 4">
            <a:extLst>
              <a:ext uri="{FF2B5EF4-FFF2-40B4-BE49-F238E27FC236}">
                <a16:creationId xmlns:a16="http://schemas.microsoft.com/office/drawing/2014/main" id="{2429BCDB-1B7B-4BE0-AF89-57F88992D9F6}"/>
              </a:ext>
            </a:extLst>
          </p:cNvPr>
          <p:cNvSpPr txBox="1"/>
          <p:nvPr/>
        </p:nvSpPr>
        <p:spPr>
          <a:xfrm>
            <a:off x="636573" y="2763426"/>
            <a:ext cx="5795107" cy="2042995"/>
          </a:xfrm>
          <a:prstGeom prst="rect">
            <a:avLst/>
          </a:prstGeom>
          <a:noFill/>
        </p:spPr>
        <p:txBody>
          <a:bodyPr wrap="square">
            <a:spAutoFit/>
          </a:bodyPr>
          <a:lstStyle/>
          <a:p>
            <a:pPr algn="just">
              <a:lnSpc>
                <a:spcPct val="130000"/>
              </a:lnSpc>
              <a:spcBef>
                <a:spcPts val="600"/>
              </a:spcBef>
            </a:pPr>
            <a:r>
              <a:rPr lang="zh-CN" altLang="zh-CN" b="1" kern="100" dirty="0">
                <a:solidFill>
                  <a:srgbClr val="0000FF"/>
                </a:solidFill>
                <a:effectLst/>
                <a:latin typeface="+mn-ea"/>
              </a:rPr>
              <a:t>结论</a:t>
            </a:r>
            <a:r>
              <a:rPr lang="zh-CN" altLang="zh-CN" b="1" kern="1100" dirty="0">
                <a:solidFill>
                  <a:srgbClr val="000000"/>
                </a:solidFill>
                <a:effectLst/>
                <a:latin typeface="+mn-ea"/>
              </a:rPr>
              <a:t> </a:t>
            </a:r>
            <a:r>
              <a:rPr lang="zh-CN" altLang="zh-CN" b="1" kern="100" dirty="0">
                <a:effectLst/>
                <a:latin typeface="+mn-ea"/>
              </a:rPr>
              <a:t>（</a:t>
            </a:r>
            <a:r>
              <a:rPr lang="en-US" altLang="zh-CN" b="1" kern="100" dirty="0">
                <a:effectLst/>
                <a:latin typeface="+mn-ea"/>
              </a:rPr>
              <a:t>1</a:t>
            </a:r>
            <a:r>
              <a:rPr lang="zh-CN" altLang="zh-CN" b="1" kern="100" dirty="0">
                <a:effectLst/>
                <a:latin typeface="+mn-ea"/>
              </a:rPr>
              <a:t>）四个元素以下的格都是分配格；</a:t>
            </a:r>
          </a:p>
          <a:p>
            <a:pPr>
              <a:lnSpc>
                <a:spcPct val="130000"/>
              </a:lnSpc>
              <a:spcBef>
                <a:spcPts val="600"/>
              </a:spcBef>
            </a:pPr>
            <a:r>
              <a:rPr lang="zh-CN" altLang="zh-CN" b="1" dirty="0">
                <a:effectLst/>
                <a:latin typeface="+mn-ea"/>
                <a:cs typeface="Times New Roman" panose="02020603050405020304" pitchFamily="18" charset="0"/>
              </a:rPr>
              <a:t>（</a:t>
            </a:r>
            <a:r>
              <a:rPr lang="en-US" altLang="zh-CN" b="1" dirty="0">
                <a:effectLst/>
                <a:latin typeface="+mn-ea"/>
              </a:rPr>
              <a:t>2</a:t>
            </a:r>
            <a:r>
              <a:rPr lang="zh-CN" altLang="zh-CN" b="1" dirty="0">
                <a:effectLst/>
                <a:latin typeface="+mn-ea"/>
                <a:cs typeface="Times New Roman" panose="02020603050405020304" pitchFamily="18" charset="0"/>
              </a:rPr>
              <a:t>）五个元素的格仅有两个格是非分配格</a:t>
            </a:r>
            <a:r>
              <a:rPr lang="en-US" altLang="zh-CN" b="1" dirty="0">
                <a:effectLst/>
                <a:latin typeface="+mn-ea"/>
              </a:rPr>
              <a:t>(</a:t>
            </a:r>
            <a:r>
              <a:rPr lang="zh-CN" altLang="zh-CN" b="1" dirty="0">
                <a:effectLst/>
                <a:latin typeface="+mn-ea"/>
                <a:cs typeface="Times New Roman" panose="02020603050405020304" pitchFamily="18" charset="0"/>
              </a:rPr>
              <a:t>钻石格和五角格</a:t>
            </a:r>
            <a:r>
              <a:rPr lang="en-US" altLang="zh-CN" b="1" dirty="0">
                <a:effectLst/>
                <a:latin typeface="+mn-ea"/>
              </a:rPr>
              <a:t>)</a:t>
            </a:r>
            <a:r>
              <a:rPr lang="zh-CN" altLang="zh-CN" b="1" dirty="0">
                <a:effectLst/>
                <a:latin typeface="+mn-ea"/>
                <a:cs typeface="Times New Roman" panose="02020603050405020304" pitchFamily="18" charset="0"/>
              </a:rPr>
              <a:t>，其余三个格</a:t>
            </a:r>
            <a:r>
              <a:rPr lang="en-US" altLang="zh-CN" b="1" dirty="0">
                <a:effectLst/>
                <a:latin typeface="+mn-ea"/>
              </a:rPr>
              <a:t>(</a:t>
            </a:r>
            <a:r>
              <a:rPr lang="zh-CN" altLang="en-US" b="1" dirty="0">
                <a:effectLst/>
                <a:latin typeface="+mn-ea"/>
              </a:rPr>
              <a:t>如右</a:t>
            </a:r>
            <a:r>
              <a:rPr lang="zh-CN" altLang="zh-CN" b="1" dirty="0">
                <a:effectLst/>
                <a:latin typeface="+mn-ea"/>
                <a:cs typeface="Times New Roman" panose="02020603050405020304" pitchFamily="18" charset="0"/>
              </a:rPr>
              <a:t>图</a:t>
            </a:r>
            <a:r>
              <a:rPr lang="zh-CN" altLang="en-US" b="1" dirty="0">
                <a:latin typeface="+mn-ea"/>
                <a:cs typeface="Times New Roman" panose="02020603050405020304" pitchFamily="18" charset="0"/>
              </a:rPr>
              <a:t>所示</a:t>
            </a:r>
            <a:r>
              <a:rPr lang="en-US" altLang="zh-CN" b="1" dirty="0">
                <a:effectLst/>
                <a:latin typeface="+mn-ea"/>
              </a:rPr>
              <a:t>)</a:t>
            </a:r>
            <a:r>
              <a:rPr lang="zh-CN" altLang="zh-CN" b="1" dirty="0">
                <a:effectLst/>
                <a:latin typeface="+mn-ea"/>
                <a:cs typeface="Times New Roman" panose="02020603050405020304" pitchFamily="18" charset="0"/>
              </a:rPr>
              <a:t>都是分配格。</a:t>
            </a:r>
            <a:endParaRPr lang="zh-CN" altLang="en-US" b="1" dirty="0">
              <a:latin typeface="+mn-ea"/>
            </a:endParaRPr>
          </a:p>
        </p:txBody>
      </p:sp>
      <p:grpSp>
        <p:nvGrpSpPr>
          <p:cNvPr id="6" name="组合 5">
            <a:extLst>
              <a:ext uri="{FF2B5EF4-FFF2-40B4-BE49-F238E27FC236}">
                <a16:creationId xmlns:a16="http://schemas.microsoft.com/office/drawing/2014/main" id="{22F76B23-4B9B-45EB-A219-7E8956FF7B67}"/>
              </a:ext>
            </a:extLst>
          </p:cNvPr>
          <p:cNvGrpSpPr/>
          <p:nvPr/>
        </p:nvGrpSpPr>
        <p:grpSpPr>
          <a:xfrm>
            <a:off x="7089775" y="2457657"/>
            <a:ext cx="4722856" cy="3117711"/>
            <a:chOff x="6932320" y="970090"/>
            <a:chExt cx="4722856" cy="3117711"/>
          </a:xfrm>
        </p:grpSpPr>
        <p:cxnSp>
          <p:nvCxnSpPr>
            <p:cNvPr id="7" name="Line 785">
              <a:extLst>
                <a:ext uri="{FF2B5EF4-FFF2-40B4-BE49-F238E27FC236}">
                  <a16:creationId xmlns:a16="http://schemas.microsoft.com/office/drawing/2014/main" id="{99D1A36B-E3B8-4611-80C5-3700E9EABCC1}"/>
                </a:ext>
              </a:extLst>
            </p:cNvPr>
            <p:cNvCxnSpPr>
              <a:cxnSpLocks noChangeShapeType="1"/>
              <a:stCxn id="8" idx="4"/>
              <a:endCxn id="12" idx="0"/>
            </p:cNvCxnSpPr>
            <p:nvPr/>
          </p:nvCxnSpPr>
          <p:spPr bwMode="auto">
            <a:xfrm>
              <a:off x="7350767" y="1597403"/>
              <a:ext cx="0" cy="21548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8" name="Oval 786">
              <a:extLst>
                <a:ext uri="{FF2B5EF4-FFF2-40B4-BE49-F238E27FC236}">
                  <a16:creationId xmlns:a16="http://schemas.microsoft.com/office/drawing/2014/main" id="{F75C83E3-AED3-4B31-9074-6275C08F8F03}"/>
                </a:ext>
              </a:extLst>
            </p:cNvPr>
            <p:cNvSpPr>
              <a:spLocks noChangeArrowheads="1"/>
            </p:cNvSpPr>
            <p:nvPr/>
          </p:nvSpPr>
          <p:spPr bwMode="auto">
            <a:xfrm>
              <a:off x="7296767" y="1489280"/>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9" name="Oval 787">
              <a:extLst>
                <a:ext uri="{FF2B5EF4-FFF2-40B4-BE49-F238E27FC236}">
                  <a16:creationId xmlns:a16="http://schemas.microsoft.com/office/drawing/2014/main" id="{03CE7A6E-F97A-45E4-90C2-0A36F8DCB4B8}"/>
                </a:ext>
              </a:extLst>
            </p:cNvPr>
            <p:cNvSpPr>
              <a:spLocks noChangeArrowheads="1"/>
            </p:cNvSpPr>
            <p:nvPr/>
          </p:nvSpPr>
          <p:spPr bwMode="auto">
            <a:xfrm>
              <a:off x="7296767" y="205455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0" name="Oval 788">
              <a:extLst>
                <a:ext uri="{FF2B5EF4-FFF2-40B4-BE49-F238E27FC236}">
                  <a16:creationId xmlns:a16="http://schemas.microsoft.com/office/drawing/2014/main" id="{D3DD3B87-E88F-4A43-BEFC-AA4DA9A99876}"/>
                </a:ext>
              </a:extLst>
            </p:cNvPr>
            <p:cNvSpPr>
              <a:spLocks noChangeArrowheads="1"/>
            </p:cNvSpPr>
            <p:nvPr/>
          </p:nvSpPr>
          <p:spPr bwMode="auto">
            <a:xfrm>
              <a:off x="7296767" y="2619828"/>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1" name="Oval 789">
              <a:extLst>
                <a:ext uri="{FF2B5EF4-FFF2-40B4-BE49-F238E27FC236}">
                  <a16:creationId xmlns:a16="http://schemas.microsoft.com/office/drawing/2014/main" id="{627DEC02-580B-493D-AD12-2CD041853443}"/>
                </a:ext>
              </a:extLst>
            </p:cNvPr>
            <p:cNvSpPr>
              <a:spLocks noChangeArrowheads="1"/>
            </p:cNvSpPr>
            <p:nvPr/>
          </p:nvSpPr>
          <p:spPr bwMode="auto">
            <a:xfrm>
              <a:off x="7296767" y="3185102"/>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2" name="Oval 790">
              <a:extLst>
                <a:ext uri="{FF2B5EF4-FFF2-40B4-BE49-F238E27FC236}">
                  <a16:creationId xmlns:a16="http://schemas.microsoft.com/office/drawing/2014/main" id="{8D178D69-24EB-4797-B7DE-DE6076D0742D}"/>
                </a:ext>
              </a:extLst>
            </p:cNvPr>
            <p:cNvSpPr>
              <a:spLocks noChangeArrowheads="1"/>
            </p:cNvSpPr>
            <p:nvPr/>
          </p:nvSpPr>
          <p:spPr bwMode="auto">
            <a:xfrm>
              <a:off x="7296767" y="3752273"/>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3" name="Text Box 791">
              <a:extLst>
                <a:ext uri="{FF2B5EF4-FFF2-40B4-BE49-F238E27FC236}">
                  <a16:creationId xmlns:a16="http://schemas.microsoft.com/office/drawing/2014/main" id="{C20A77DB-8C74-4CEC-A42A-2F1CA539FE92}"/>
                </a:ext>
              </a:extLst>
            </p:cNvPr>
            <p:cNvSpPr txBox="1">
              <a:spLocks noChangeArrowheads="1"/>
            </p:cNvSpPr>
            <p:nvPr/>
          </p:nvSpPr>
          <p:spPr bwMode="auto">
            <a:xfrm>
              <a:off x="7310259" y="3796074"/>
              <a:ext cx="226420" cy="29172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4" name="Text Box 792">
              <a:extLst>
                <a:ext uri="{FF2B5EF4-FFF2-40B4-BE49-F238E27FC236}">
                  <a16:creationId xmlns:a16="http://schemas.microsoft.com/office/drawing/2014/main" id="{68448CD7-0AD9-4A61-AC97-8BEAD6FC56F3}"/>
                </a:ext>
              </a:extLst>
            </p:cNvPr>
            <p:cNvSpPr txBox="1">
              <a:spLocks noChangeArrowheads="1"/>
            </p:cNvSpPr>
            <p:nvPr/>
          </p:nvSpPr>
          <p:spPr bwMode="auto">
            <a:xfrm>
              <a:off x="6932320" y="2968856"/>
              <a:ext cx="298948" cy="27505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5" name="Text Box 793">
              <a:extLst>
                <a:ext uri="{FF2B5EF4-FFF2-40B4-BE49-F238E27FC236}">
                  <a16:creationId xmlns:a16="http://schemas.microsoft.com/office/drawing/2014/main" id="{59887259-7F16-4019-BCD3-07810355962E}"/>
                </a:ext>
              </a:extLst>
            </p:cNvPr>
            <p:cNvSpPr txBox="1">
              <a:spLocks noChangeArrowheads="1"/>
            </p:cNvSpPr>
            <p:nvPr/>
          </p:nvSpPr>
          <p:spPr bwMode="auto">
            <a:xfrm>
              <a:off x="7432807" y="2397893"/>
              <a:ext cx="298948" cy="22193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6" name="Text Box 794">
              <a:extLst>
                <a:ext uri="{FF2B5EF4-FFF2-40B4-BE49-F238E27FC236}">
                  <a16:creationId xmlns:a16="http://schemas.microsoft.com/office/drawing/2014/main" id="{CF92A64C-4AE6-49C7-B6C7-347EC77A418B}"/>
                </a:ext>
              </a:extLst>
            </p:cNvPr>
            <p:cNvSpPr txBox="1">
              <a:spLocks noChangeArrowheads="1"/>
            </p:cNvSpPr>
            <p:nvPr/>
          </p:nvSpPr>
          <p:spPr bwMode="auto">
            <a:xfrm>
              <a:off x="7086832" y="1826927"/>
              <a:ext cx="162909" cy="27505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7" name="Text Box 795">
              <a:extLst>
                <a:ext uri="{FF2B5EF4-FFF2-40B4-BE49-F238E27FC236}">
                  <a16:creationId xmlns:a16="http://schemas.microsoft.com/office/drawing/2014/main" id="{D8CACAEA-33E1-45C2-A309-5DE50C330E77}"/>
                </a:ext>
              </a:extLst>
            </p:cNvPr>
            <p:cNvSpPr txBox="1">
              <a:spLocks noChangeArrowheads="1"/>
            </p:cNvSpPr>
            <p:nvPr/>
          </p:nvSpPr>
          <p:spPr bwMode="auto">
            <a:xfrm>
              <a:off x="7475564" y="1142150"/>
              <a:ext cx="178026" cy="2788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8" name="Oval 798">
              <a:extLst>
                <a:ext uri="{FF2B5EF4-FFF2-40B4-BE49-F238E27FC236}">
                  <a16:creationId xmlns:a16="http://schemas.microsoft.com/office/drawing/2014/main" id="{E657D7A0-1948-4640-B006-7130C8DC2C42}"/>
                </a:ext>
              </a:extLst>
            </p:cNvPr>
            <p:cNvSpPr>
              <a:spLocks noChangeArrowheads="1"/>
            </p:cNvSpPr>
            <p:nvPr/>
          </p:nvSpPr>
          <p:spPr bwMode="auto">
            <a:xfrm>
              <a:off x="9065405" y="143616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9" name="Oval 799">
              <a:extLst>
                <a:ext uri="{FF2B5EF4-FFF2-40B4-BE49-F238E27FC236}">
                  <a16:creationId xmlns:a16="http://schemas.microsoft.com/office/drawing/2014/main" id="{B905E0C3-7DCD-4D8D-88BF-510E309E6C16}"/>
                </a:ext>
              </a:extLst>
            </p:cNvPr>
            <p:cNvSpPr>
              <a:spLocks noChangeArrowheads="1"/>
            </p:cNvSpPr>
            <p:nvPr/>
          </p:nvSpPr>
          <p:spPr bwMode="auto">
            <a:xfrm>
              <a:off x="9065405" y="3699160"/>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0" name="Oval 800">
              <a:extLst>
                <a:ext uri="{FF2B5EF4-FFF2-40B4-BE49-F238E27FC236}">
                  <a16:creationId xmlns:a16="http://schemas.microsoft.com/office/drawing/2014/main" id="{2B269242-E296-474F-B001-F2A7AE4714DF}"/>
                </a:ext>
              </a:extLst>
            </p:cNvPr>
            <p:cNvSpPr>
              <a:spLocks noChangeArrowheads="1"/>
            </p:cNvSpPr>
            <p:nvPr/>
          </p:nvSpPr>
          <p:spPr bwMode="auto">
            <a:xfrm>
              <a:off x="9446648" y="294419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1" name="Oval 801">
              <a:extLst>
                <a:ext uri="{FF2B5EF4-FFF2-40B4-BE49-F238E27FC236}">
                  <a16:creationId xmlns:a16="http://schemas.microsoft.com/office/drawing/2014/main" id="{71F732AC-8095-4B0F-BC06-D5F9F87521A4}"/>
                </a:ext>
              </a:extLst>
            </p:cNvPr>
            <p:cNvSpPr>
              <a:spLocks noChangeArrowheads="1"/>
            </p:cNvSpPr>
            <p:nvPr/>
          </p:nvSpPr>
          <p:spPr bwMode="auto">
            <a:xfrm>
              <a:off x="8677443" y="294419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22" name="Line 802">
              <a:extLst>
                <a:ext uri="{FF2B5EF4-FFF2-40B4-BE49-F238E27FC236}">
                  <a16:creationId xmlns:a16="http://schemas.microsoft.com/office/drawing/2014/main" id="{E4A399CD-8380-4BC6-B922-74D5F53CCC84}"/>
                </a:ext>
              </a:extLst>
            </p:cNvPr>
            <p:cNvCxnSpPr>
              <a:cxnSpLocks noChangeShapeType="1"/>
              <a:stCxn id="20" idx="4"/>
              <a:endCxn id="19" idx="7"/>
            </p:cNvCxnSpPr>
            <p:nvPr/>
          </p:nvCxnSpPr>
          <p:spPr bwMode="auto">
            <a:xfrm flipH="1">
              <a:off x="9157589" y="3052320"/>
              <a:ext cx="343059" cy="6626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3" name="Line 803">
              <a:extLst>
                <a:ext uri="{FF2B5EF4-FFF2-40B4-BE49-F238E27FC236}">
                  <a16:creationId xmlns:a16="http://schemas.microsoft.com/office/drawing/2014/main" id="{927E54D8-BB9A-425B-B47C-6E57DAD82D73}"/>
                </a:ext>
              </a:extLst>
            </p:cNvPr>
            <p:cNvCxnSpPr>
              <a:cxnSpLocks noChangeShapeType="1"/>
              <a:stCxn id="26" idx="3"/>
              <a:endCxn id="21" idx="0"/>
            </p:cNvCxnSpPr>
            <p:nvPr/>
          </p:nvCxnSpPr>
          <p:spPr bwMode="auto">
            <a:xfrm flipH="1">
              <a:off x="8731443" y="2281523"/>
              <a:ext cx="349778" cy="6626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4" name="Line 804">
              <a:extLst>
                <a:ext uri="{FF2B5EF4-FFF2-40B4-BE49-F238E27FC236}">
                  <a16:creationId xmlns:a16="http://schemas.microsoft.com/office/drawing/2014/main" id="{063BB238-198F-4FF8-A652-92839947E446}"/>
                </a:ext>
              </a:extLst>
            </p:cNvPr>
            <p:cNvCxnSpPr>
              <a:cxnSpLocks noChangeShapeType="1"/>
              <a:stCxn id="26" idx="5"/>
              <a:endCxn id="20" idx="0"/>
            </p:cNvCxnSpPr>
            <p:nvPr/>
          </p:nvCxnSpPr>
          <p:spPr bwMode="auto">
            <a:xfrm>
              <a:off x="9157589" y="2281523"/>
              <a:ext cx="343059" cy="6626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25" name="Line 805">
              <a:extLst>
                <a:ext uri="{FF2B5EF4-FFF2-40B4-BE49-F238E27FC236}">
                  <a16:creationId xmlns:a16="http://schemas.microsoft.com/office/drawing/2014/main" id="{F7DBAC9D-D1EE-4B1F-B441-1B89C61C53E6}"/>
                </a:ext>
              </a:extLst>
            </p:cNvPr>
            <p:cNvCxnSpPr>
              <a:cxnSpLocks noChangeShapeType="1"/>
              <a:stCxn id="21" idx="4"/>
              <a:endCxn id="19" idx="1"/>
            </p:cNvCxnSpPr>
            <p:nvPr/>
          </p:nvCxnSpPr>
          <p:spPr bwMode="auto">
            <a:xfrm>
              <a:off x="8731443" y="3052320"/>
              <a:ext cx="349778" cy="6626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6" name="Oval 806">
              <a:extLst>
                <a:ext uri="{FF2B5EF4-FFF2-40B4-BE49-F238E27FC236}">
                  <a16:creationId xmlns:a16="http://schemas.microsoft.com/office/drawing/2014/main" id="{9B34340F-4704-4D81-B653-0E676AC0CF13}"/>
                </a:ext>
              </a:extLst>
            </p:cNvPr>
            <p:cNvSpPr>
              <a:spLocks noChangeArrowheads="1"/>
            </p:cNvSpPr>
            <p:nvPr/>
          </p:nvSpPr>
          <p:spPr bwMode="auto">
            <a:xfrm>
              <a:off x="9065405" y="2189234"/>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7" name="Text Box 807">
              <a:extLst>
                <a:ext uri="{FF2B5EF4-FFF2-40B4-BE49-F238E27FC236}">
                  <a16:creationId xmlns:a16="http://schemas.microsoft.com/office/drawing/2014/main" id="{DC810A10-1A05-465D-A65A-BD918DC3FBF0}"/>
                </a:ext>
              </a:extLst>
            </p:cNvPr>
            <p:cNvSpPr txBox="1">
              <a:spLocks noChangeArrowheads="1"/>
            </p:cNvSpPr>
            <p:nvPr/>
          </p:nvSpPr>
          <p:spPr bwMode="auto">
            <a:xfrm>
              <a:off x="9135506" y="3772479"/>
              <a:ext cx="261386" cy="29172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8" name="Text Box 808">
              <a:extLst>
                <a:ext uri="{FF2B5EF4-FFF2-40B4-BE49-F238E27FC236}">
                  <a16:creationId xmlns:a16="http://schemas.microsoft.com/office/drawing/2014/main" id="{1F0B3933-8790-4769-B41B-1325FFE1091A}"/>
                </a:ext>
              </a:extLst>
            </p:cNvPr>
            <p:cNvSpPr txBox="1">
              <a:spLocks noChangeArrowheads="1"/>
            </p:cNvSpPr>
            <p:nvPr/>
          </p:nvSpPr>
          <p:spPr bwMode="auto">
            <a:xfrm>
              <a:off x="8380175" y="2727951"/>
              <a:ext cx="216653" cy="4628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9" name="Text Box 809">
              <a:extLst>
                <a:ext uri="{FF2B5EF4-FFF2-40B4-BE49-F238E27FC236}">
                  <a16:creationId xmlns:a16="http://schemas.microsoft.com/office/drawing/2014/main" id="{FF15C661-E5A1-43BC-8D5C-D5962997AD0D}"/>
                </a:ext>
              </a:extLst>
            </p:cNvPr>
            <p:cNvSpPr txBox="1">
              <a:spLocks noChangeArrowheads="1"/>
            </p:cNvSpPr>
            <p:nvPr/>
          </p:nvSpPr>
          <p:spPr bwMode="auto">
            <a:xfrm>
              <a:off x="9614598" y="2727952"/>
              <a:ext cx="189782" cy="34333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0" name="Text Box 810">
              <a:extLst>
                <a:ext uri="{FF2B5EF4-FFF2-40B4-BE49-F238E27FC236}">
                  <a16:creationId xmlns:a16="http://schemas.microsoft.com/office/drawing/2014/main" id="{002EED2A-A696-4082-9567-02E0BE05D586}"/>
                </a:ext>
              </a:extLst>
            </p:cNvPr>
            <p:cNvSpPr txBox="1">
              <a:spLocks noChangeArrowheads="1"/>
            </p:cNvSpPr>
            <p:nvPr/>
          </p:nvSpPr>
          <p:spPr bwMode="auto">
            <a:xfrm>
              <a:off x="9182969" y="1944535"/>
              <a:ext cx="298945" cy="41921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 name="Text Box 811">
              <a:extLst>
                <a:ext uri="{FF2B5EF4-FFF2-40B4-BE49-F238E27FC236}">
                  <a16:creationId xmlns:a16="http://schemas.microsoft.com/office/drawing/2014/main" id="{2607E5B5-3D98-431A-92F0-4C1280A8737C}"/>
                </a:ext>
              </a:extLst>
            </p:cNvPr>
            <p:cNvSpPr txBox="1">
              <a:spLocks noChangeArrowheads="1"/>
            </p:cNvSpPr>
            <p:nvPr/>
          </p:nvSpPr>
          <p:spPr bwMode="auto">
            <a:xfrm>
              <a:off x="9042988" y="970090"/>
              <a:ext cx="314064" cy="3983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32" name="Line 812">
              <a:extLst>
                <a:ext uri="{FF2B5EF4-FFF2-40B4-BE49-F238E27FC236}">
                  <a16:creationId xmlns:a16="http://schemas.microsoft.com/office/drawing/2014/main" id="{98EC8781-A8CA-47D4-A789-7C9368F3EA14}"/>
                </a:ext>
              </a:extLst>
            </p:cNvPr>
            <p:cNvCxnSpPr>
              <a:cxnSpLocks noChangeShapeType="1"/>
              <a:stCxn id="18" idx="4"/>
              <a:endCxn id="26" idx="0"/>
            </p:cNvCxnSpPr>
            <p:nvPr/>
          </p:nvCxnSpPr>
          <p:spPr bwMode="auto">
            <a:xfrm>
              <a:off x="9119405" y="1544290"/>
              <a:ext cx="0" cy="6449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33" name="Oval 850">
              <a:extLst>
                <a:ext uri="{FF2B5EF4-FFF2-40B4-BE49-F238E27FC236}">
                  <a16:creationId xmlns:a16="http://schemas.microsoft.com/office/drawing/2014/main" id="{8008882F-28CE-4D52-8D6E-08192C188BDD}"/>
                </a:ext>
              </a:extLst>
            </p:cNvPr>
            <p:cNvSpPr>
              <a:spLocks noChangeArrowheads="1"/>
            </p:cNvSpPr>
            <p:nvPr/>
          </p:nvSpPr>
          <p:spPr bwMode="auto">
            <a:xfrm>
              <a:off x="10976662" y="1436167"/>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34" name="Oval 851">
              <a:extLst>
                <a:ext uri="{FF2B5EF4-FFF2-40B4-BE49-F238E27FC236}">
                  <a16:creationId xmlns:a16="http://schemas.microsoft.com/office/drawing/2014/main" id="{B872AA38-0692-452D-BC50-6A398FF7B407}"/>
                </a:ext>
              </a:extLst>
            </p:cNvPr>
            <p:cNvSpPr>
              <a:spLocks noChangeArrowheads="1"/>
            </p:cNvSpPr>
            <p:nvPr/>
          </p:nvSpPr>
          <p:spPr bwMode="auto">
            <a:xfrm>
              <a:off x="10976662" y="3699160"/>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35" name="Oval 852">
              <a:extLst>
                <a:ext uri="{FF2B5EF4-FFF2-40B4-BE49-F238E27FC236}">
                  <a16:creationId xmlns:a16="http://schemas.microsoft.com/office/drawing/2014/main" id="{051FC9E6-D4C7-43AF-B9F6-718F05EF0E1C}"/>
                </a:ext>
              </a:extLst>
            </p:cNvPr>
            <p:cNvSpPr>
              <a:spLocks noChangeArrowheads="1"/>
            </p:cNvSpPr>
            <p:nvPr/>
          </p:nvSpPr>
          <p:spPr bwMode="auto">
            <a:xfrm>
              <a:off x="11357906" y="2177852"/>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36" name="Oval 853">
              <a:extLst>
                <a:ext uri="{FF2B5EF4-FFF2-40B4-BE49-F238E27FC236}">
                  <a16:creationId xmlns:a16="http://schemas.microsoft.com/office/drawing/2014/main" id="{B3816750-9CE7-489E-AB26-07D2DBFBCDF5}"/>
                </a:ext>
              </a:extLst>
            </p:cNvPr>
            <p:cNvSpPr>
              <a:spLocks noChangeArrowheads="1"/>
            </p:cNvSpPr>
            <p:nvPr/>
          </p:nvSpPr>
          <p:spPr bwMode="auto">
            <a:xfrm>
              <a:off x="10588701" y="2177852"/>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37" name="Line 854">
              <a:extLst>
                <a:ext uri="{FF2B5EF4-FFF2-40B4-BE49-F238E27FC236}">
                  <a16:creationId xmlns:a16="http://schemas.microsoft.com/office/drawing/2014/main" id="{C49F1309-597B-41DB-A8A5-48C4E0ED11BA}"/>
                </a:ext>
              </a:extLst>
            </p:cNvPr>
            <p:cNvCxnSpPr>
              <a:cxnSpLocks noChangeShapeType="1"/>
              <a:stCxn id="35" idx="4"/>
              <a:endCxn id="41" idx="7"/>
            </p:cNvCxnSpPr>
            <p:nvPr/>
          </p:nvCxnSpPr>
          <p:spPr bwMode="auto">
            <a:xfrm flipH="1">
              <a:off x="11068846" y="2285975"/>
              <a:ext cx="343060" cy="65698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8" name="Line 855">
              <a:extLst>
                <a:ext uri="{FF2B5EF4-FFF2-40B4-BE49-F238E27FC236}">
                  <a16:creationId xmlns:a16="http://schemas.microsoft.com/office/drawing/2014/main" id="{9558DBCE-FDF6-4FD4-A64B-EB43D6799BF3}"/>
                </a:ext>
              </a:extLst>
            </p:cNvPr>
            <p:cNvCxnSpPr>
              <a:cxnSpLocks noChangeShapeType="1"/>
              <a:stCxn id="33" idx="3"/>
              <a:endCxn id="36" idx="0"/>
            </p:cNvCxnSpPr>
            <p:nvPr/>
          </p:nvCxnSpPr>
          <p:spPr bwMode="auto">
            <a:xfrm flipH="1">
              <a:off x="10642701" y="1528456"/>
              <a:ext cx="349777" cy="64939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9" name="Line 856">
              <a:extLst>
                <a:ext uri="{FF2B5EF4-FFF2-40B4-BE49-F238E27FC236}">
                  <a16:creationId xmlns:a16="http://schemas.microsoft.com/office/drawing/2014/main" id="{7B27036E-70EF-487D-BAAA-8795002BB9CF}"/>
                </a:ext>
              </a:extLst>
            </p:cNvPr>
            <p:cNvCxnSpPr>
              <a:cxnSpLocks noChangeShapeType="1"/>
              <a:stCxn id="33" idx="5"/>
              <a:endCxn id="35" idx="0"/>
            </p:cNvCxnSpPr>
            <p:nvPr/>
          </p:nvCxnSpPr>
          <p:spPr bwMode="auto">
            <a:xfrm>
              <a:off x="11068846" y="1528456"/>
              <a:ext cx="343060" cy="64939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40" name="Line 857">
              <a:extLst>
                <a:ext uri="{FF2B5EF4-FFF2-40B4-BE49-F238E27FC236}">
                  <a16:creationId xmlns:a16="http://schemas.microsoft.com/office/drawing/2014/main" id="{4C4DCBC9-E52B-4963-8858-C025271C07BA}"/>
                </a:ext>
              </a:extLst>
            </p:cNvPr>
            <p:cNvCxnSpPr>
              <a:cxnSpLocks noChangeShapeType="1"/>
              <a:stCxn id="36" idx="4"/>
              <a:endCxn id="41" idx="1"/>
            </p:cNvCxnSpPr>
            <p:nvPr/>
          </p:nvCxnSpPr>
          <p:spPr bwMode="auto">
            <a:xfrm>
              <a:off x="10642701" y="2285975"/>
              <a:ext cx="349777" cy="65698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41" name="Oval 858">
              <a:extLst>
                <a:ext uri="{FF2B5EF4-FFF2-40B4-BE49-F238E27FC236}">
                  <a16:creationId xmlns:a16="http://schemas.microsoft.com/office/drawing/2014/main" id="{785A697A-1534-4D0F-9140-A9324C56A7D0}"/>
                </a:ext>
              </a:extLst>
            </p:cNvPr>
            <p:cNvSpPr>
              <a:spLocks noChangeArrowheads="1"/>
            </p:cNvSpPr>
            <p:nvPr/>
          </p:nvSpPr>
          <p:spPr bwMode="auto">
            <a:xfrm>
              <a:off x="10976662" y="2927125"/>
              <a:ext cx="108000" cy="108123"/>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42" name="Text Box 859">
              <a:extLst>
                <a:ext uri="{FF2B5EF4-FFF2-40B4-BE49-F238E27FC236}">
                  <a16:creationId xmlns:a16="http://schemas.microsoft.com/office/drawing/2014/main" id="{11240FBC-CD3D-42E7-A94E-B77B21F09824}"/>
                </a:ext>
              </a:extLst>
            </p:cNvPr>
            <p:cNvSpPr txBox="1">
              <a:spLocks noChangeArrowheads="1"/>
            </p:cNvSpPr>
            <p:nvPr/>
          </p:nvSpPr>
          <p:spPr bwMode="auto">
            <a:xfrm>
              <a:off x="11029162" y="3779002"/>
              <a:ext cx="261386" cy="25568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43" name="Text Box 860">
              <a:extLst>
                <a:ext uri="{FF2B5EF4-FFF2-40B4-BE49-F238E27FC236}">
                  <a16:creationId xmlns:a16="http://schemas.microsoft.com/office/drawing/2014/main" id="{1857AE4A-3633-48B7-92FB-DE954550DA06}"/>
                </a:ext>
              </a:extLst>
            </p:cNvPr>
            <p:cNvSpPr txBox="1">
              <a:spLocks noChangeArrowheads="1"/>
            </p:cNvSpPr>
            <p:nvPr/>
          </p:nvSpPr>
          <p:spPr bwMode="auto">
            <a:xfrm>
              <a:off x="10584515" y="2893929"/>
              <a:ext cx="332539" cy="5368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44" name="Text Box 861">
              <a:extLst>
                <a:ext uri="{FF2B5EF4-FFF2-40B4-BE49-F238E27FC236}">
                  <a16:creationId xmlns:a16="http://schemas.microsoft.com/office/drawing/2014/main" id="{880F47B1-1AF0-46CC-86AE-CFCC5BB22707}"/>
                </a:ext>
              </a:extLst>
            </p:cNvPr>
            <p:cNvSpPr txBox="1">
              <a:spLocks noChangeArrowheads="1"/>
            </p:cNvSpPr>
            <p:nvPr/>
          </p:nvSpPr>
          <p:spPr bwMode="auto">
            <a:xfrm>
              <a:off x="10092848" y="1902803"/>
              <a:ext cx="262406" cy="41921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45" name="Text Box 862">
              <a:extLst>
                <a:ext uri="{FF2B5EF4-FFF2-40B4-BE49-F238E27FC236}">
                  <a16:creationId xmlns:a16="http://schemas.microsoft.com/office/drawing/2014/main" id="{45C69318-4D4D-4C7A-9487-AD8EA465F386}"/>
                </a:ext>
              </a:extLst>
            </p:cNvPr>
            <p:cNvSpPr txBox="1">
              <a:spLocks noChangeArrowheads="1"/>
            </p:cNvSpPr>
            <p:nvPr/>
          </p:nvSpPr>
          <p:spPr bwMode="auto">
            <a:xfrm>
              <a:off x="11465394" y="1902803"/>
              <a:ext cx="189782" cy="20676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46" name="Text Box 863">
              <a:extLst>
                <a:ext uri="{FF2B5EF4-FFF2-40B4-BE49-F238E27FC236}">
                  <a16:creationId xmlns:a16="http://schemas.microsoft.com/office/drawing/2014/main" id="{9A1B75A9-16C2-4FB7-8D6B-D7F2299C003A}"/>
                </a:ext>
              </a:extLst>
            </p:cNvPr>
            <p:cNvSpPr txBox="1">
              <a:spLocks noChangeArrowheads="1"/>
            </p:cNvSpPr>
            <p:nvPr/>
          </p:nvSpPr>
          <p:spPr bwMode="auto">
            <a:xfrm>
              <a:off x="10992478" y="1006840"/>
              <a:ext cx="314064" cy="3850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47" name="Line 864">
              <a:extLst>
                <a:ext uri="{FF2B5EF4-FFF2-40B4-BE49-F238E27FC236}">
                  <a16:creationId xmlns:a16="http://schemas.microsoft.com/office/drawing/2014/main" id="{7735C2A1-8B6D-44E7-B654-2827255E0AA6}"/>
                </a:ext>
              </a:extLst>
            </p:cNvPr>
            <p:cNvCxnSpPr>
              <a:cxnSpLocks noChangeShapeType="1"/>
              <a:stCxn id="41" idx="4"/>
              <a:endCxn id="34" idx="0"/>
            </p:cNvCxnSpPr>
            <p:nvPr/>
          </p:nvCxnSpPr>
          <p:spPr bwMode="auto">
            <a:xfrm>
              <a:off x="11030662" y="3035248"/>
              <a:ext cx="0" cy="6639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spTree>
    <p:custDataLst>
      <p:tags r:id="rId1"/>
    </p:custDataLst>
    <p:extLst>
      <p:ext uri="{BB962C8B-B14F-4D97-AF65-F5344CB8AC3E}">
        <p14:creationId xmlns:p14="http://schemas.microsoft.com/office/powerpoint/2010/main" val="243873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E0A959-2AE5-406F-80F2-8DFA20FCF2EE}"/>
              </a:ext>
            </a:extLst>
          </p:cNvPr>
          <p:cNvSpPr>
            <a:spLocks noGrp="1"/>
          </p:cNvSpPr>
          <p:nvPr>
            <p:ph type="title"/>
          </p:nvPr>
        </p:nvSpPr>
        <p:spPr/>
        <p:txBody>
          <a:bodyPr/>
          <a:lstStyle/>
          <a:p>
            <a:r>
              <a:rPr lang="zh-CN" altLang="en-US" dirty="0"/>
              <a:t>分配格的判定</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72ED15C-0FDF-409A-995E-34635E70425C}"/>
                  </a:ext>
                </a:extLst>
              </p:cNvPr>
              <p:cNvSpPr>
                <a:spLocks noGrp="1"/>
              </p:cNvSpPr>
              <p:nvPr>
                <p:ph idx="1"/>
              </p:nvPr>
            </p:nvSpPr>
            <p:spPr>
              <a:xfrm>
                <a:off x="536575" y="991394"/>
                <a:ext cx="9495585" cy="1371599"/>
              </a:xfrm>
            </p:spPr>
            <p:txBody>
              <a:bodyPr>
                <a:noAutofit/>
              </a:bodyPr>
              <a:lstStyle/>
              <a:p>
                <a:pPr marL="0" indent="0" algn="just">
                  <a:lnSpc>
                    <a:spcPct val="130000"/>
                  </a:lnSpc>
                  <a:buNone/>
                </a:pPr>
                <a:r>
                  <a:rPr lang="zh-CN" altLang="zh-CN" kern="1100" spc="-10" dirty="0">
                    <a:solidFill>
                      <a:srgbClr val="0000FF"/>
                    </a:solidFill>
                    <a:effectLst/>
                    <a:latin typeface="+mn-ea"/>
                  </a:rPr>
                  <a:t>定理</a:t>
                </a:r>
                <a:r>
                  <a:rPr lang="en-US" altLang="zh-CN" kern="1100" spc="-10" dirty="0">
                    <a:solidFill>
                      <a:srgbClr val="0000FF"/>
                    </a:solidFill>
                    <a:effectLst/>
                    <a:latin typeface="+mn-ea"/>
                  </a:rPr>
                  <a:t>10.6</a:t>
                </a:r>
                <a:r>
                  <a:rPr lang="en-US" altLang="zh-CN" kern="100" spc="-10" dirty="0">
                    <a:solidFill>
                      <a:srgbClr val="0000FF"/>
                    </a:solidFill>
                    <a:effectLst/>
                    <a:latin typeface="+mn-ea"/>
                  </a:rPr>
                  <a:t>  </a:t>
                </a:r>
                <a:r>
                  <a:rPr lang="zh-CN" altLang="zh-CN" kern="100" spc="-10" dirty="0">
                    <a:effectLst/>
                    <a:latin typeface="+mn-ea"/>
                  </a:rPr>
                  <a:t>一个格</a:t>
                </a:r>
                <a14:m>
                  <m:oMath xmlns:m="http://schemas.openxmlformats.org/officeDocument/2006/math">
                    <m:r>
                      <a:rPr lang="en-US" altLang="zh-CN" b="1" i="1" kern="100" spc="-10" dirty="0" smtClean="0">
                        <a:effectLst/>
                        <a:latin typeface="Cambria Math" panose="02040503050406030204" pitchFamily="18" charset="0"/>
                      </a:rPr>
                      <m:t>𝑳</m:t>
                    </m:r>
                  </m:oMath>
                </a14:m>
                <a:r>
                  <a:rPr lang="zh-CN" altLang="zh-CN" kern="100" spc="-10" dirty="0">
                    <a:effectLst/>
                    <a:latin typeface="+mn-ea"/>
                  </a:rPr>
                  <a:t>是分配格当且仅当对</a:t>
                </a:r>
                <a:r>
                  <a:rPr lang="zh-CN" altLang="zh-CN" kern="100" dirty="0">
                    <a:effectLst/>
                    <a:latin typeface="+mn-ea"/>
                  </a:rPr>
                  <a:t>任意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𝑳</m:t>
                    </m:r>
                  </m:oMath>
                </a14:m>
                <a:r>
                  <a:rPr lang="zh-CN" altLang="zh-CN" kern="100" dirty="0">
                    <a:effectLst/>
                    <a:latin typeface="+mn-ea"/>
                  </a:rPr>
                  <a:t>，有</a:t>
                </a:r>
              </a:p>
              <a:p>
                <a:pPr marL="0" indent="0" algn="ctr">
                  <a:lnSpc>
                    <a:spcPct val="130000"/>
                  </a:lnSpc>
                  <a:buNone/>
                </a:pP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zh-CN" altLang="en-US" b="1" i="1" kern="100" dirty="0">
                        <a:latin typeface="Cambria Math" panose="02040503050406030204" pitchFamily="18" charset="0"/>
                      </a:rPr>
                      <m:t>且</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cs typeface="宋体" panose="02010600030101010101" pitchFamily="2" charset="-122"/>
                      </a:rPr>
                      <m:t>𝒄</m:t>
                    </m:r>
                    <m:r>
                      <a:rPr lang="en-US" altLang="zh-CN" b="1" i="1" kern="100" dirty="0" smtClean="0">
                        <a:effectLst/>
                        <a:latin typeface="Cambria Math" panose="02040503050406030204" pitchFamily="18" charset="0"/>
                        <a:ea typeface="Cambria Math" panose="02040503050406030204" pitchFamily="18" charset="0"/>
                        <a:cs typeface="宋体" panose="02010600030101010101" pitchFamily="2" charset="-122"/>
                      </a:rPr>
                      <m:t>⇒</m:t>
                    </m:r>
                    <m:r>
                      <a:rPr lang="en-US" altLang="zh-CN" b="1" i="1" kern="100" dirty="0" smtClean="0">
                        <a:effectLst/>
                        <a:latin typeface="Cambria Math" panose="02040503050406030204" pitchFamily="18" charset="0"/>
                        <a:cs typeface="宋体" panose="02010600030101010101" pitchFamily="2" charset="-122"/>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oMath>
                </a14:m>
                <a:r>
                  <a:rPr lang="zh-CN" altLang="zh-CN" kern="100" spc="-10" dirty="0">
                    <a:effectLst/>
                    <a:latin typeface="+mn-ea"/>
                  </a:rPr>
                  <a:t>（即满足格的消去律）。</a:t>
                </a:r>
                <a:endParaRPr lang="zh-CN" altLang="zh-CN" kern="100" dirty="0">
                  <a:effectLst/>
                  <a:latin typeface="+mn-ea"/>
                </a:endParaRPr>
              </a:p>
            </p:txBody>
          </p:sp>
        </mc:Choice>
        <mc:Fallback xmlns="">
          <p:sp>
            <p:nvSpPr>
              <p:cNvPr id="3" name="内容占位符 2">
                <a:extLst>
                  <a:ext uri="{FF2B5EF4-FFF2-40B4-BE49-F238E27FC236}">
                    <a16:creationId xmlns:a16="http://schemas.microsoft.com/office/drawing/2014/main" id="{972ED15C-0FDF-409A-995E-34635E70425C}"/>
                  </a:ext>
                </a:extLst>
              </p:cNvPr>
              <p:cNvSpPr>
                <a:spLocks noGrp="1" noRot="1" noChangeAspect="1" noMove="1" noResize="1" noEditPoints="1" noAdjustHandles="1" noChangeArrowheads="1" noChangeShapeType="1" noTextEdit="1"/>
              </p:cNvSpPr>
              <p:nvPr>
                <p:ph idx="1"/>
              </p:nvPr>
            </p:nvSpPr>
            <p:spPr>
              <a:xfrm>
                <a:off x="536575" y="991394"/>
                <a:ext cx="9495585" cy="1371599"/>
              </a:xfrm>
              <a:blipFill>
                <a:blip r:embed="rId5"/>
                <a:stretch>
                  <a:fillRect l="-6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49DC43A-3C3D-44DF-BD7D-B3D8D86E653B}"/>
                  </a:ext>
                </a:extLst>
              </p:cNvPr>
              <p:cNvSpPr txBox="1"/>
              <p:nvPr/>
            </p:nvSpPr>
            <p:spPr>
              <a:xfrm>
                <a:off x="917575" y="2362993"/>
                <a:ext cx="8686800" cy="3080202"/>
              </a:xfrm>
              <a:prstGeom prst="rect">
                <a:avLst/>
              </a:prstGeom>
              <a:noFill/>
            </p:spPr>
            <p:txBody>
              <a:bodyPr wrap="square">
                <a:spAutoFit/>
              </a:bodyPr>
              <a:lstStyle/>
              <a:p>
                <a:pPr algn="just">
                  <a:lnSpc>
                    <a:spcPct val="130000"/>
                  </a:lnSpc>
                  <a:spcBef>
                    <a:spcPts val="600"/>
                  </a:spcBef>
                </a:pPr>
                <a:r>
                  <a:rPr lang="zh-CN" altLang="zh-CN" b="1" kern="100" spc="-10" dirty="0">
                    <a:solidFill>
                      <a:srgbClr val="FF0000"/>
                    </a:solidFill>
                    <a:effectLst/>
                    <a:latin typeface="+mn-ea"/>
                  </a:rPr>
                  <a:t>证明</a:t>
                </a:r>
                <a:r>
                  <a:rPr lang="zh-CN" altLang="zh-CN" b="1" kern="100" spc="-10" dirty="0">
                    <a:effectLst/>
                    <a:latin typeface="+mn-ea"/>
                  </a:rPr>
                  <a:t>  </a:t>
                </a:r>
                <a:r>
                  <a:rPr lang="zh-CN" altLang="zh-CN" b="1" kern="100" spc="-10" dirty="0">
                    <a:solidFill>
                      <a:srgbClr val="0000FF"/>
                    </a:solidFill>
                    <a:effectLst/>
                    <a:latin typeface="+mn-ea"/>
                  </a:rPr>
                  <a:t>（</a:t>
                </a:r>
                <a:r>
                  <a:rPr lang="en-US" altLang="zh-CN" b="1" kern="100" spc="-10" dirty="0">
                    <a:solidFill>
                      <a:srgbClr val="0000FF"/>
                    </a:solidFill>
                    <a:effectLst/>
                    <a:latin typeface="+mn-ea"/>
                  </a:rPr>
                  <a:t>1</a:t>
                </a:r>
                <a:r>
                  <a:rPr lang="zh-CN" altLang="zh-CN" b="1" kern="100" spc="-10" dirty="0">
                    <a:solidFill>
                      <a:srgbClr val="0000FF"/>
                    </a:solidFill>
                    <a:effectLst/>
                    <a:latin typeface="+mn-ea"/>
                  </a:rPr>
                  <a:t>）必要性</a:t>
                </a:r>
                <a:r>
                  <a:rPr lang="zh-CN" altLang="zh-CN" b="1" kern="100" spc="-10" dirty="0">
                    <a:effectLst/>
                    <a:latin typeface="+mn-ea"/>
                  </a:rPr>
                  <a:t>：若</a:t>
                </a:r>
                <a14:m>
                  <m:oMath xmlns:m="http://schemas.openxmlformats.org/officeDocument/2006/math">
                    <m:r>
                      <a:rPr lang="en-US" altLang="zh-CN" b="1" i="1" kern="100" spc="-10" dirty="0" smtClean="0">
                        <a:effectLst/>
                        <a:latin typeface="Cambria Math" panose="02040503050406030204" pitchFamily="18" charset="0"/>
                      </a:rPr>
                      <m:t>𝑳</m:t>
                    </m:r>
                  </m:oMath>
                </a14:m>
                <a:r>
                  <a:rPr lang="zh-CN" altLang="zh-CN" b="1" kern="100" spc="-10" dirty="0">
                    <a:effectLst/>
                    <a:latin typeface="+mn-ea"/>
                  </a:rPr>
                  <a:t>是分配格，则满足吸收律，交换律，分配律。对</a:t>
                </a:r>
                <a14:m>
                  <m:oMath xmlns:m="http://schemas.openxmlformats.org/officeDocument/2006/math">
                    <m:r>
                      <a:rPr lang="en-US" altLang="zh-CN" b="1" i="1" kern="100" spc="-1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𝑳</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oMath>
                </a14:m>
                <a:r>
                  <a:rPr lang="zh-CN" altLang="zh-CN" b="1" kern="100" dirty="0">
                    <a:effectLst/>
                    <a:latin typeface="+mn-ea"/>
                  </a:rPr>
                  <a:t>且</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oMath>
                </a14:m>
                <a:r>
                  <a:rPr lang="zh-CN" altLang="zh-CN" b="1" kern="100" dirty="0">
                    <a:effectLst/>
                    <a:latin typeface="+mn-ea"/>
                  </a:rPr>
                  <a:t>，则</a:t>
                </a:r>
                <a:endParaRPr lang="en-US" altLang="zh-CN" b="1" kern="100" dirty="0">
                  <a:latin typeface="+mn-ea"/>
                </a:endParaRPr>
              </a:p>
              <a:p>
                <a:pPr algn="just">
                  <a:lnSpc>
                    <a:spcPct val="130000"/>
                  </a:lnSpc>
                  <a:spcBef>
                    <a:spcPts val="600"/>
                  </a:spcBef>
                </a:pPr>
                <a:r>
                  <a:rPr lang="en-US" altLang="zh-CN" b="1" kern="100" dirty="0">
                    <a:effectLst/>
                    <a:latin typeface="+mn-ea"/>
                  </a:rPr>
                  <a:t>                  </a:t>
                </a:r>
                <a14:m>
                  <m:oMath xmlns:m="http://schemas.openxmlformats.org/officeDocument/2006/math">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d>
                      <m:dPr>
                        <m:ctrlPr>
                          <a:rPr lang="en-US" altLang="zh-CN" b="1" i="1" kern="100" dirty="0">
                            <a:effectLst/>
                            <a:latin typeface="Cambria Math" panose="02040503050406030204" pitchFamily="18" charset="0"/>
                            <a:cs typeface="宋体" panose="02010600030101010101" pitchFamily="2" charset="-122"/>
                          </a:rPr>
                        </m:ctrlPr>
                      </m:dPr>
                      <m:e>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e>
                    </m:d>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d>
                      <m:dPr>
                        <m:ctrlPr>
                          <a:rPr lang="en-US" altLang="zh-CN" b="1" i="1" kern="100" dirty="0">
                            <a:effectLst/>
                            <a:latin typeface="Cambria Math" panose="02040503050406030204" pitchFamily="18" charset="0"/>
                            <a:cs typeface="宋体" panose="02010600030101010101" pitchFamily="2" charset="-122"/>
                          </a:rPr>
                        </m:ctrlPr>
                      </m:dPr>
                      <m:e>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e>
                    </m:d>
                  </m:oMath>
                </a14:m>
                <a:endParaRPr lang="en-US" altLang="zh-CN" b="1" i="1" kern="100" dirty="0">
                  <a:effectLst/>
                  <a:latin typeface="Cambria Math" panose="02040503050406030204" pitchFamily="18" charset="0"/>
                </a:endParaRPr>
              </a:p>
              <a:p>
                <a:pPr algn="just">
                  <a:lnSpc>
                    <a:spcPct val="130000"/>
                  </a:lnSpc>
                  <a:spcBef>
                    <a:spcPts val="600"/>
                  </a:spcBef>
                </a:pPr>
                <a14:m>
                  <m:oMathPara xmlns:m="http://schemas.openxmlformats.org/officeDocument/2006/math">
                    <m:oMathParaPr>
                      <m:jc m:val="centerGroup"/>
                    </m:oMathParaPr>
                    <m:oMath xmlns:m="http://schemas.openxmlformats.org/officeDocument/2006/math">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oMath>
                  </m:oMathPara>
                </a14:m>
                <a:endParaRPr lang="zh-CN" altLang="zh-CN" b="1" kern="100" dirty="0">
                  <a:effectLst/>
                  <a:latin typeface="+mn-ea"/>
                </a:endParaRPr>
              </a:p>
              <a:p>
                <a:pPr algn="ctr">
                  <a:lnSpc>
                    <a:spcPct val="130000"/>
                  </a:lnSpc>
                  <a:spcBef>
                    <a:spcPts val="600"/>
                  </a:spcBef>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          = </m:t>
                      </m:r>
                      <m:d>
                        <m:dPr>
                          <m:ctrlPr>
                            <a:rPr lang="en-US" altLang="zh-CN" b="1" i="1" kern="100" dirty="0" smtClean="0">
                              <a:effectLst/>
                              <a:latin typeface="Cambria Math" panose="02040503050406030204" pitchFamily="18" charset="0"/>
                            </a:rPr>
                          </m:ctrlPr>
                        </m:dPr>
                        <m:e>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e>
                      </m:d>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d>
                        <m:dPr>
                          <m:ctrlPr>
                            <a:rPr lang="en-US" altLang="zh-CN" b="1" i="1" kern="100" dirty="0">
                              <a:effectLst/>
                              <a:latin typeface="Cambria Math" panose="02040503050406030204" pitchFamily="18" charset="0"/>
                              <a:cs typeface="宋体" panose="02010600030101010101" pitchFamily="2" charset="-122"/>
                            </a:rPr>
                          </m:ctrlPr>
                        </m:dPr>
                        <m:e>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e>
                      </m:d>
                      <m:r>
                        <a:rPr lang="en-US" altLang="zh-CN" b="1" i="1" kern="100" dirty="0">
                          <a:effectLst/>
                          <a:latin typeface="Cambria Math" panose="02040503050406030204" pitchFamily="18" charset="0"/>
                        </a:rPr>
                        <m:t>= </m:t>
                      </m:r>
                      <m:d>
                        <m:dPr>
                          <m:ctrlPr>
                            <a:rPr lang="en-US" altLang="zh-CN" b="1" i="1" kern="100" dirty="0">
                              <a:effectLst/>
                              <a:latin typeface="Cambria Math" panose="02040503050406030204" pitchFamily="18" charset="0"/>
                            </a:rPr>
                          </m:ctrlPr>
                        </m:dPr>
                        <m:e>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e>
                      </m:d>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d>
                        <m:dPr>
                          <m:ctrlPr>
                            <a:rPr lang="en-US" altLang="zh-CN" b="1" i="1" kern="100" dirty="0">
                              <a:effectLst/>
                              <a:latin typeface="Cambria Math" panose="02040503050406030204" pitchFamily="18" charset="0"/>
                              <a:cs typeface="宋体" panose="02010600030101010101" pitchFamily="2" charset="-122"/>
                            </a:rPr>
                          </m:ctrlPr>
                        </m:dPr>
                        <m:e>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e>
                      </m:d>
                    </m:oMath>
                  </m:oMathPara>
                </a14:m>
                <a:endParaRPr lang="en-US" altLang="zh-CN" b="1" i="1" kern="100" dirty="0">
                  <a:effectLst/>
                  <a:latin typeface="Cambria Math" panose="02040503050406030204" pitchFamily="18" charset="0"/>
                </a:endParaRPr>
              </a:p>
              <a:p>
                <a:pPr algn="ctr">
                  <a:lnSpc>
                    <a:spcPct val="130000"/>
                  </a:lnSpc>
                  <a:spcBef>
                    <a:spcPts val="600"/>
                  </a:spcBef>
                </a:pPr>
                <a14:m>
                  <m:oMath xmlns:m="http://schemas.openxmlformats.org/officeDocument/2006/math">
                    <m:r>
                      <a:rPr lang="en-US" altLang="zh-CN" b="1" i="1" kern="100" dirty="0">
                        <a:effectLst/>
                        <a:latin typeface="Cambria Math" panose="02040503050406030204" pitchFamily="18" charset="0"/>
                      </a:rPr>
                      <m:t>=</m:t>
                    </m:r>
                    <m:d>
                      <m:dPr>
                        <m:ctrlPr>
                          <a:rPr lang="en-US" altLang="zh-CN" b="1" i="1" kern="100" dirty="0">
                            <a:effectLst/>
                            <a:latin typeface="Cambria Math" panose="02040503050406030204" pitchFamily="18" charset="0"/>
                          </a:rPr>
                        </m:ctrlPr>
                      </m:dPr>
                      <m:e>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e>
                    </m:d>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d>
                      <m:dPr>
                        <m:ctrlPr>
                          <a:rPr lang="en-US" altLang="zh-CN" b="1" i="1" kern="100" dirty="0">
                            <a:effectLst/>
                            <a:latin typeface="Cambria Math" panose="02040503050406030204" pitchFamily="18" charset="0"/>
                          </a:rPr>
                        </m:ctrlPr>
                      </m:dPr>
                      <m:e>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e>
                    </m:d>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r>
                      <a:rPr lang="en-US" altLang="zh-CN" b="1" i="1" kern="100" dirty="0" smtClean="0">
                        <a:effectLst/>
                        <a:latin typeface="Cambria Math" panose="02040503050406030204" pitchFamily="18" charset="0"/>
                      </a:rPr>
                      <m:t>         </m:t>
                    </m:r>
                  </m:oMath>
                </a14:m>
                <a:r>
                  <a:rPr lang="en-US" altLang="zh-CN" b="1" kern="100" dirty="0">
                    <a:effectLst/>
                    <a:latin typeface="+mn-ea"/>
                  </a:rPr>
                  <a:t>       </a:t>
                </a:r>
                <a:endParaRPr lang="zh-CN" altLang="zh-CN" b="1" kern="100" dirty="0">
                  <a:effectLst/>
                  <a:latin typeface="+mn-ea"/>
                </a:endParaRPr>
              </a:p>
            </p:txBody>
          </p:sp>
        </mc:Choice>
        <mc:Fallback xmlns="">
          <p:sp>
            <p:nvSpPr>
              <p:cNvPr id="8" name="文本框 7">
                <a:extLst>
                  <a:ext uri="{FF2B5EF4-FFF2-40B4-BE49-F238E27FC236}">
                    <a16:creationId xmlns:a16="http://schemas.microsoft.com/office/drawing/2014/main" id="{349DC43A-3C3D-44DF-BD7D-B3D8D86E653B}"/>
                  </a:ext>
                </a:extLst>
              </p:cNvPr>
              <p:cNvSpPr txBox="1">
                <a:spLocks noRot="1" noChangeAspect="1" noMove="1" noResize="1" noEditPoints="1" noAdjustHandles="1" noChangeArrowheads="1" noChangeShapeType="1" noTextEdit="1"/>
              </p:cNvSpPr>
              <p:nvPr/>
            </p:nvSpPr>
            <p:spPr>
              <a:xfrm>
                <a:off x="917575" y="2362993"/>
                <a:ext cx="8686800" cy="3080202"/>
              </a:xfrm>
              <a:prstGeom prst="rect">
                <a:avLst/>
              </a:prstGeom>
              <a:blipFill>
                <a:blip r:embed="rId6"/>
                <a:stretch>
                  <a:fillRect l="-1123" r="-1053"/>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45765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E0A959-2AE5-406F-80F2-8DFA20FCF2EE}"/>
              </a:ext>
            </a:extLst>
          </p:cNvPr>
          <p:cNvSpPr>
            <a:spLocks noGrp="1"/>
          </p:cNvSpPr>
          <p:nvPr>
            <p:ph type="title"/>
          </p:nvPr>
        </p:nvSpPr>
        <p:spPr/>
        <p:txBody>
          <a:bodyPr/>
          <a:lstStyle/>
          <a:p>
            <a:r>
              <a:rPr lang="zh-CN" altLang="en-US" dirty="0"/>
              <a:t>分配格的判定</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72ED15C-0FDF-409A-995E-34635E70425C}"/>
                  </a:ext>
                </a:extLst>
              </p:cNvPr>
              <p:cNvSpPr>
                <a:spLocks noGrp="1"/>
              </p:cNvSpPr>
              <p:nvPr>
                <p:ph idx="1"/>
              </p:nvPr>
            </p:nvSpPr>
            <p:spPr>
              <a:xfrm>
                <a:off x="337390" y="991394"/>
                <a:ext cx="11171985" cy="1371599"/>
              </a:xfrm>
            </p:spPr>
            <p:txBody>
              <a:bodyPr>
                <a:noAutofit/>
              </a:bodyPr>
              <a:lstStyle/>
              <a:p>
                <a:pPr marL="0" indent="0" algn="just">
                  <a:lnSpc>
                    <a:spcPct val="130000"/>
                  </a:lnSpc>
                  <a:buNone/>
                </a:pPr>
                <a:r>
                  <a:rPr lang="zh-CN" altLang="zh-CN" kern="1100" spc="-10" dirty="0">
                    <a:solidFill>
                      <a:srgbClr val="0000FF"/>
                    </a:solidFill>
                    <a:latin typeface="+mn-ea"/>
                  </a:rPr>
                  <a:t>定理</a:t>
                </a:r>
                <a:r>
                  <a:rPr lang="en-US" altLang="zh-CN" kern="1100" spc="-10" dirty="0">
                    <a:solidFill>
                      <a:srgbClr val="0000FF"/>
                    </a:solidFill>
                    <a:latin typeface="+mn-ea"/>
                  </a:rPr>
                  <a:t>10.6</a:t>
                </a:r>
                <a:r>
                  <a:rPr lang="en-US" altLang="zh-CN" kern="100" spc="-10" dirty="0">
                    <a:solidFill>
                      <a:srgbClr val="0000FF"/>
                    </a:solidFill>
                    <a:latin typeface="+mn-ea"/>
                  </a:rPr>
                  <a:t>  </a:t>
                </a:r>
                <a:r>
                  <a:rPr lang="zh-CN" altLang="zh-CN" kern="100" spc="-10" dirty="0">
                    <a:latin typeface="+mn-ea"/>
                  </a:rPr>
                  <a:t>一个格</a:t>
                </a:r>
                <a14:m>
                  <m:oMath xmlns:m="http://schemas.openxmlformats.org/officeDocument/2006/math">
                    <m:r>
                      <a:rPr lang="en-US" altLang="zh-CN" i="1" kern="100" spc="-10" dirty="0">
                        <a:latin typeface="Cambria Math" panose="02040503050406030204" pitchFamily="18" charset="0"/>
                      </a:rPr>
                      <m:t>𝑳</m:t>
                    </m:r>
                  </m:oMath>
                </a14:m>
                <a:r>
                  <a:rPr lang="zh-CN" altLang="zh-CN" kern="100" spc="-10" dirty="0">
                    <a:latin typeface="+mn-ea"/>
                  </a:rPr>
                  <a:t>是分配格当且仅当对</a:t>
                </a:r>
                <a:r>
                  <a:rPr lang="zh-CN" altLang="zh-CN" kern="100" dirty="0">
                    <a:latin typeface="+mn-ea"/>
                  </a:rPr>
                  <a:t>任意</a:t>
                </a:r>
                <a14:m>
                  <m:oMath xmlns:m="http://schemas.openxmlformats.org/officeDocument/2006/math">
                    <m:r>
                      <a:rPr lang="en-US" altLang="zh-CN" i="1" kern="100" dirty="0">
                        <a:latin typeface="Cambria Math" panose="02040503050406030204" pitchFamily="18" charset="0"/>
                      </a:rPr>
                      <m:t>𝒂</m:t>
                    </m:r>
                    <m:r>
                      <a:rPr lang="en-US" altLang="zh-CN" i="1" kern="100" dirty="0">
                        <a:latin typeface="Cambria Math" panose="02040503050406030204" pitchFamily="18" charset="0"/>
                      </a:rPr>
                      <m:t>, </m:t>
                    </m:r>
                    <m:r>
                      <a:rPr lang="en-US" altLang="zh-CN" i="1" kern="100" dirty="0">
                        <a:latin typeface="Cambria Math" panose="02040503050406030204" pitchFamily="18" charset="0"/>
                      </a:rPr>
                      <m:t>𝒃</m:t>
                    </m:r>
                    <m:r>
                      <a:rPr lang="en-US" altLang="zh-CN" i="1" kern="100" dirty="0">
                        <a:latin typeface="Cambria Math" panose="02040503050406030204" pitchFamily="18" charset="0"/>
                      </a:rPr>
                      <m:t>, </m:t>
                    </m:r>
                    <m:r>
                      <a:rPr lang="en-US" altLang="zh-CN" i="1" kern="100" dirty="0">
                        <a:latin typeface="Cambria Math" panose="02040503050406030204" pitchFamily="18" charset="0"/>
                      </a:rPr>
                      <m:t>𝒄</m:t>
                    </m:r>
                    <m:r>
                      <a:rPr lang="en-US" altLang="zh-CN" i="1" kern="100" dirty="0">
                        <a:latin typeface="Cambria Math" panose="02040503050406030204" pitchFamily="18" charset="0"/>
                        <a:ea typeface="Cambria Math" panose="02040503050406030204" pitchFamily="18" charset="0"/>
                      </a:rPr>
                      <m:t>∈</m:t>
                    </m:r>
                    <m:r>
                      <a:rPr lang="en-US" altLang="zh-CN" i="1" kern="100" dirty="0">
                        <a:latin typeface="Cambria Math" panose="02040503050406030204" pitchFamily="18" charset="0"/>
                      </a:rPr>
                      <m:t>𝑳</m:t>
                    </m:r>
                  </m:oMath>
                </a14:m>
                <a:r>
                  <a:rPr lang="zh-CN" altLang="zh-CN" kern="100" dirty="0">
                    <a:latin typeface="+mn-ea"/>
                  </a:rPr>
                  <a:t>，有</a:t>
                </a:r>
              </a:p>
              <a:p>
                <a:pPr marL="0" indent="0" algn="ctr">
                  <a:lnSpc>
                    <a:spcPct val="130000"/>
                  </a:lnSpc>
                  <a:buNone/>
                </a:pPr>
                <a14:m>
                  <m:oMath xmlns:m="http://schemas.openxmlformats.org/officeDocument/2006/math">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𝒃</m:t>
                    </m:r>
                    <m:r>
                      <a:rPr lang="en-US" altLang="zh-CN" i="1" kern="100" dirty="0">
                        <a:latin typeface="Cambria Math" panose="02040503050406030204" pitchFamily="18" charset="0"/>
                      </a:rPr>
                      <m:t>=</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𝒄</m:t>
                    </m:r>
                    <m:r>
                      <a:rPr lang="zh-CN" altLang="en-US" i="1" kern="100" dirty="0">
                        <a:latin typeface="Cambria Math" panose="02040503050406030204" pitchFamily="18" charset="0"/>
                      </a:rPr>
                      <m:t>且</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rPr>
                      <m:t>𝒃</m:t>
                    </m:r>
                    <m:r>
                      <a:rPr lang="en-US" altLang="zh-CN" i="1" kern="100" dirty="0">
                        <a:latin typeface="Cambria Math" panose="02040503050406030204" pitchFamily="18" charset="0"/>
                      </a:rPr>
                      <m:t>=</m:t>
                    </m:r>
                    <m:r>
                      <a:rPr lang="en-US" altLang="zh-CN" i="1" kern="100" dirty="0">
                        <a:latin typeface="Cambria Math" panose="02040503050406030204" pitchFamily="18" charset="0"/>
                      </a:rPr>
                      <m:t>𝒂</m:t>
                    </m:r>
                    <m:r>
                      <a:rPr lang="zh-CN" altLang="zh-CN" i="1" kern="100" dirty="0">
                        <a:latin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cs typeface="宋体" panose="02010600030101010101" pitchFamily="2" charset="-122"/>
                      </a:rPr>
                      <m:t>𝒄</m:t>
                    </m:r>
                    <m:r>
                      <a:rPr lang="en-US" altLang="zh-CN" i="1" kern="100" dirty="0">
                        <a:latin typeface="Cambria Math" panose="02040503050406030204" pitchFamily="18" charset="0"/>
                        <a:ea typeface="Cambria Math" panose="02040503050406030204" pitchFamily="18" charset="0"/>
                        <a:cs typeface="宋体" panose="02010600030101010101" pitchFamily="2" charset="-122"/>
                      </a:rPr>
                      <m:t>⇒</m:t>
                    </m:r>
                    <m:r>
                      <a:rPr lang="en-US" altLang="zh-CN" i="1" kern="100" dirty="0">
                        <a:latin typeface="Cambria Math" panose="02040503050406030204" pitchFamily="18" charset="0"/>
                        <a:cs typeface="宋体" panose="02010600030101010101" pitchFamily="2" charset="-122"/>
                      </a:rPr>
                      <m:t>𝒃</m:t>
                    </m:r>
                    <m:r>
                      <a:rPr lang="en-US" altLang="zh-CN" i="1" kern="100" dirty="0">
                        <a:latin typeface="Cambria Math" panose="02040503050406030204" pitchFamily="18" charset="0"/>
                      </a:rPr>
                      <m:t>=</m:t>
                    </m:r>
                    <m:r>
                      <a:rPr lang="en-US" altLang="zh-CN" i="1" kern="100" dirty="0">
                        <a:latin typeface="Cambria Math" panose="02040503050406030204" pitchFamily="18" charset="0"/>
                      </a:rPr>
                      <m:t>𝒄</m:t>
                    </m:r>
                  </m:oMath>
                </a14:m>
                <a:r>
                  <a:rPr lang="zh-CN" altLang="zh-CN" kern="100" spc="-10" dirty="0">
                    <a:latin typeface="+mn-ea"/>
                  </a:rPr>
                  <a:t>（即满足格的消去律）。</a:t>
                </a:r>
                <a:endParaRPr lang="zh-CN" altLang="zh-CN" kern="100" dirty="0">
                  <a:latin typeface="+mn-ea"/>
                </a:endParaRPr>
              </a:p>
            </p:txBody>
          </p:sp>
        </mc:Choice>
        <mc:Fallback xmlns="">
          <p:sp>
            <p:nvSpPr>
              <p:cNvPr id="3" name="内容占位符 2">
                <a:extLst>
                  <a:ext uri="{FF2B5EF4-FFF2-40B4-BE49-F238E27FC236}">
                    <a16:creationId xmlns:a16="http://schemas.microsoft.com/office/drawing/2014/main" id="{972ED15C-0FDF-409A-995E-34635E70425C}"/>
                  </a:ext>
                </a:extLst>
              </p:cNvPr>
              <p:cNvSpPr>
                <a:spLocks noGrp="1" noRot="1" noChangeAspect="1" noMove="1" noResize="1" noEditPoints="1" noAdjustHandles="1" noChangeArrowheads="1" noChangeShapeType="1" noTextEdit="1"/>
              </p:cNvSpPr>
              <p:nvPr>
                <p:ph idx="1"/>
              </p:nvPr>
            </p:nvSpPr>
            <p:spPr>
              <a:xfrm>
                <a:off x="337390" y="991394"/>
                <a:ext cx="11171985" cy="1371599"/>
              </a:xfrm>
              <a:blipFill>
                <a:blip r:embed="rId5"/>
                <a:stretch>
                  <a:fillRect l="-5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49DC43A-3C3D-44DF-BD7D-B3D8D86E653B}"/>
                  </a:ext>
                </a:extLst>
              </p:cNvPr>
              <p:cNvSpPr txBox="1"/>
              <p:nvPr/>
            </p:nvSpPr>
            <p:spPr>
              <a:xfrm>
                <a:off x="231775" y="2362993"/>
                <a:ext cx="7014518" cy="3157146"/>
              </a:xfrm>
              <a:prstGeom prst="rect">
                <a:avLst/>
              </a:prstGeom>
              <a:noFill/>
            </p:spPr>
            <p:txBody>
              <a:bodyPr wrap="square">
                <a:spAutoFit/>
              </a:bodyPr>
              <a:lstStyle/>
              <a:p>
                <a:pPr algn="just">
                  <a:lnSpc>
                    <a:spcPct val="130000"/>
                  </a:lnSpc>
                  <a:spcBef>
                    <a:spcPts val="600"/>
                  </a:spcBef>
                </a:pPr>
                <a:r>
                  <a:rPr lang="zh-CN" altLang="zh-CN" b="1" kern="100" spc="-10" dirty="0">
                    <a:solidFill>
                      <a:srgbClr val="FF0000"/>
                    </a:solidFill>
                    <a:effectLst/>
                    <a:latin typeface="+mn-ea"/>
                  </a:rPr>
                  <a:t>证明</a:t>
                </a:r>
                <a:r>
                  <a:rPr lang="en-US" altLang="zh-CN" b="1" kern="100" spc="-10" dirty="0">
                    <a:solidFill>
                      <a:srgbClr val="FF0000"/>
                    </a:solidFill>
                    <a:latin typeface="+mn-ea"/>
                  </a:rPr>
                  <a:t>(</a:t>
                </a:r>
                <a:r>
                  <a:rPr lang="zh-CN" altLang="en-US" b="1" kern="100" spc="-10" dirty="0">
                    <a:solidFill>
                      <a:srgbClr val="FF0000"/>
                    </a:solidFill>
                    <a:latin typeface="+mn-ea"/>
                  </a:rPr>
                  <a:t>续</a:t>
                </a:r>
                <a:r>
                  <a:rPr lang="en-US" altLang="zh-CN" b="1" kern="100" spc="-10" dirty="0">
                    <a:solidFill>
                      <a:srgbClr val="FF0000"/>
                    </a:solidFill>
                    <a:latin typeface="+mn-ea"/>
                  </a:rPr>
                  <a:t>)</a:t>
                </a:r>
                <a:r>
                  <a:rPr lang="zh-CN" altLang="zh-CN" b="1" kern="100" spc="-10" dirty="0">
                    <a:effectLst/>
                    <a:latin typeface="+mn-ea"/>
                  </a:rPr>
                  <a:t>  </a:t>
                </a:r>
                <a:endParaRPr lang="en-US" altLang="zh-CN" b="1" kern="100" spc="-10" dirty="0">
                  <a:effectLst/>
                  <a:latin typeface="+mn-ea"/>
                </a:endParaRPr>
              </a:p>
              <a:p>
                <a:pPr algn="just">
                  <a:lnSpc>
                    <a:spcPct val="130000"/>
                  </a:lnSpc>
                  <a:spcBef>
                    <a:spcPts val="600"/>
                  </a:spcBef>
                </a:pPr>
                <a:r>
                  <a:rPr lang="zh-CN" altLang="zh-CN" b="1" dirty="0">
                    <a:solidFill>
                      <a:srgbClr val="0000FF"/>
                    </a:solidFill>
                    <a:effectLst/>
                    <a:latin typeface="+mn-ea"/>
                    <a:cs typeface="Times New Roman" panose="02020603050405020304" pitchFamily="18" charset="0"/>
                  </a:rPr>
                  <a:t>（</a:t>
                </a:r>
                <a:r>
                  <a:rPr lang="en-US" altLang="zh-CN" b="1" dirty="0">
                    <a:solidFill>
                      <a:srgbClr val="0000FF"/>
                    </a:solidFill>
                    <a:effectLst/>
                    <a:latin typeface="+mn-ea"/>
                  </a:rPr>
                  <a:t>2</a:t>
                </a:r>
                <a:r>
                  <a:rPr lang="zh-CN" altLang="zh-CN" b="1" dirty="0">
                    <a:solidFill>
                      <a:srgbClr val="0000FF"/>
                    </a:solidFill>
                    <a:effectLst/>
                    <a:latin typeface="+mn-ea"/>
                    <a:cs typeface="Times New Roman" panose="02020603050405020304" pitchFamily="18" charset="0"/>
                  </a:rPr>
                  <a:t>）充分性</a:t>
                </a:r>
                <a:r>
                  <a:rPr lang="zh-CN" altLang="zh-CN" b="1" dirty="0">
                    <a:effectLst/>
                    <a:latin typeface="+mn-ea"/>
                    <a:cs typeface="Times New Roman" panose="02020603050405020304" pitchFamily="18" charset="0"/>
                  </a:rPr>
                  <a:t>：使用反证法，假设</a:t>
                </a:r>
                <a14:m>
                  <m:oMath xmlns:m="http://schemas.openxmlformats.org/officeDocument/2006/math">
                    <m:r>
                      <a:rPr lang="en-US" altLang="zh-CN" b="1" i="1" dirty="0" smtClean="0">
                        <a:effectLst/>
                        <a:latin typeface="Cambria Math" panose="02040503050406030204" pitchFamily="18" charset="0"/>
                      </a:rPr>
                      <m:t>𝑳</m:t>
                    </m:r>
                  </m:oMath>
                </a14:m>
                <a:r>
                  <a:rPr lang="zh-CN" altLang="zh-CN" b="1" dirty="0">
                    <a:effectLst/>
                    <a:latin typeface="+mn-ea"/>
                    <a:cs typeface="Times New Roman" panose="02020603050405020304" pitchFamily="18" charset="0"/>
                  </a:rPr>
                  <a:t>不是分配格，即</a:t>
                </a:r>
                <a14:m>
                  <m:oMath xmlns:m="http://schemas.openxmlformats.org/officeDocument/2006/math">
                    <m:r>
                      <a:rPr lang="en-US" altLang="zh-CN" b="1" i="1" dirty="0" smtClean="0">
                        <a:effectLst/>
                        <a:latin typeface="Cambria Math" panose="02040503050406030204" pitchFamily="18" charset="0"/>
                      </a:rPr>
                      <m:t>𝑳</m:t>
                    </m:r>
                  </m:oMath>
                </a14:m>
                <a:r>
                  <a:rPr lang="zh-CN" altLang="zh-CN" b="1" dirty="0">
                    <a:effectLst/>
                    <a:latin typeface="+mn-ea"/>
                    <a:cs typeface="Times New Roman" panose="02020603050405020304" pitchFamily="18" charset="0"/>
                  </a:rPr>
                  <a:t>包含一个与钻石格或五角格同构的子格。</a:t>
                </a:r>
                <a:endParaRPr lang="en-US" altLang="zh-CN" b="1" dirty="0">
                  <a:effectLst/>
                  <a:latin typeface="+mn-ea"/>
                  <a:cs typeface="Times New Roman" panose="02020603050405020304" pitchFamily="18" charset="0"/>
                </a:endParaRPr>
              </a:p>
              <a:p>
                <a:pPr algn="just">
                  <a:lnSpc>
                    <a:spcPct val="130000"/>
                  </a:lnSpc>
                  <a:spcBef>
                    <a:spcPts val="600"/>
                  </a:spcBef>
                </a:pPr>
                <a:r>
                  <a:rPr lang="zh-CN" altLang="zh-CN" b="1" dirty="0">
                    <a:effectLst/>
                    <a:latin typeface="+mn-ea"/>
                    <a:cs typeface="Times New Roman" panose="02020603050405020304" pitchFamily="18" charset="0"/>
                  </a:rPr>
                  <a:t>在这样的子格中，取元素</a:t>
                </a:r>
                <a14:m>
                  <m:oMath xmlns:m="http://schemas.openxmlformats.org/officeDocument/2006/math">
                    <m:r>
                      <a:rPr lang="en-US" altLang="zh-CN" b="1" i="1" dirty="0" smtClean="0">
                        <a:effectLst/>
                        <a:latin typeface="Cambria Math" panose="02040503050406030204" pitchFamily="18" charset="0"/>
                      </a:rPr>
                      <m:t>𝒃</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𝒄</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𝒅</m:t>
                    </m:r>
                  </m:oMath>
                </a14:m>
                <a:r>
                  <a:rPr lang="zh-CN" altLang="zh-CN" b="1" dirty="0">
                    <a:effectLst/>
                    <a:latin typeface="+mn-ea"/>
                    <a:cs typeface="Times New Roman" panose="02020603050405020304" pitchFamily="18" charset="0"/>
                  </a:rPr>
                  <a:t>，则有</a:t>
                </a:r>
                <a14:m>
                  <m:oMath xmlns:m="http://schemas.openxmlformats.org/officeDocument/2006/math">
                    <m:r>
                      <a:rPr lang="en-US" altLang="zh-CN" b="1" i="1" dirty="0" smtClean="0">
                        <a:effectLst/>
                        <a:latin typeface="Cambria Math" panose="02040503050406030204" pitchFamily="18" charset="0"/>
                      </a:rPr>
                      <m:t>𝒃</m:t>
                    </m:r>
                    <m:r>
                      <a:rPr lang="zh-CN" altLang="zh-CN" b="1" i="1" dirty="0">
                        <a:effectLst/>
                        <a:latin typeface="Cambria Math" panose="02040503050406030204" pitchFamily="18" charset="0"/>
                        <a:cs typeface="宋体" panose="02010600030101010101" pitchFamily="2" charset="-122"/>
                      </a:rPr>
                      <m:t>∧</m:t>
                    </m:r>
                    <m:r>
                      <a:rPr lang="en-US" altLang="zh-CN" b="1" i="1" dirty="0">
                        <a:effectLst/>
                        <a:latin typeface="Cambria Math" panose="02040503050406030204" pitchFamily="18" charset="0"/>
                      </a:rPr>
                      <m:t>𝒄</m:t>
                    </m:r>
                    <m:r>
                      <a:rPr lang="en-US" altLang="zh-CN" b="1" i="1" dirty="0">
                        <a:effectLst/>
                        <a:latin typeface="Cambria Math" panose="02040503050406030204" pitchFamily="18" charset="0"/>
                      </a:rPr>
                      <m:t>=</m:t>
                    </m:r>
                    <m:r>
                      <a:rPr lang="en-US" altLang="zh-CN" b="1" i="1" dirty="0">
                        <a:effectLst/>
                        <a:latin typeface="Cambria Math" panose="02040503050406030204" pitchFamily="18" charset="0"/>
                      </a:rPr>
                      <m:t>𝒃</m:t>
                    </m:r>
                    <m:r>
                      <a:rPr lang="zh-CN" altLang="zh-CN" b="1" i="1" dirty="0">
                        <a:effectLst/>
                        <a:latin typeface="Cambria Math" panose="02040503050406030204" pitchFamily="18" charset="0"/>
                        <a:cs typeface="宋体" panose="02010600030101010101" pitchFamily="2" charset="-122"/>
                      </a:rPr>
                      <m:t>∧</m:t>
                    </m:r>
                    <m:r>
                      <a:rPr lang="en-US" altLang="zh-CN" b="1" i="1" dirty="0">
                        <a:effectLst/>
                        <a:latin typeface="Cambria Math" panose="02040503050406030204" pitchFamily="18" charset="0"/>
                      </a:rPr>
                      <m:t>𝒅</m:t>
                    </m:r>
                  </m:oMath>
                </a14:m>
                <a:r>
                  <a:rPr lang="zh-CN" altLang="zh-CN" b="1" dirty="0">
                    <a:effectLst/>
                    <a:latin typeface="+mn-ea"/>
                    <a:cs typeface="Times New Roman" panose="02020603050405020304" pitchFamily="18" charset="0"/>
                  </a:rPr>
                  <a:t>且</a:t>
                </a:r>
                <a14:m>
                  <m:oMath xmlns:m="http://schemas.openxmlformats.org/officeDocument/2006/math">
                    <m:r>
                      <a:rPr lang="en-US" altLang="zh-CN" b="1" i="1" dirty="0" smtClean="0">
                        <a:effectLst/>
                        <a:latin typeface="Cambria Math" panose="02040503050406030204" pitchFamily="18" charset="0"/>
                      </a:rPr>
                      <m:t>𝒃</m:t>
                    </m:r>
                    <m:r>
                      <a:rPr lang="zh-CN" altLang="zh-CN" b="1" i="1" dirty="0">
                        <a:effectLst/>
                        <a:latin typeface="Cambria Math" panose="02040503050406030204" pitchFamily="18" charset="0"/>
                        <a:cs typeface="宋体" panose="02010600030101010101" pitchFamily="2" charset="-122"/>
                      </a:rPr>
                      <m:t>∨</m:t>
                    </m:r>
                    <m:r>
                      <a:rPr lang="en-US" altLang="zh-CN" b="1" i="1" dirty="0">
                        <a:effectLst/>
                        <a:latin typeface="Cambria Math" panose="02040503050406030204" pitchFamily="18" charset="0"/>
                      </a:rPr>
                      <m:t>𝒄</m:t>
                    </m:r>
                    <m:r>
                      <a:rPr lang="en-US" altLang="zh-CN" b="1" i="1" dirty="0">
                        <a:effectLst/>
                        <a:latin typeface="Cambria Math" panose="02040503050406030204" pitchFamily="18" charset="0"/>
                      </a:rPr>
                      <m:t>=</m:t>
                    </m:r>
                    <m:r>
                      <a:rPr lang="en-US" altLang="zh-CN" b="1" i="1" dirty="0">
                        <a:effectLst/>
                        <a:latin typeface="Cambria Math" panose="02040503050406030204" pitchFamily="18" charset="0"/>
                      </a:rPr>
                      <m:t>𝒃</m:t>
                    </m:r>
                    <m:r>
                      <a:rPr lang="zh-CN" altLang="zh-CN" b="1" i="1" dirty="0">
                        <a:effectLst/>
                        <a:latin typeface="Cambria Math" panose="02040503050406030204" pitchFamily="18" charset="0"/>
                        <a:cs typeface="宋体" panose="02010600030101010101" pitchFamily="2" charset="-122"/>
                      </a:rPr>
                      <m:t>∨</m:t>
                    </m:r>
                    <m:r>
                      <a:rPr lang="en-US" altLang="zh-CN" b="1" i="1" dirty="0">
                        <a:effectLst/>
                        <a:latin typeface="Cambria Math" panose="02040503050406030204" pitchFamily="18" charset="0"/>
                      </a:rPr>
                      <m:t>𝒅</m:t>
                    </m:r>
                  </m:oMath>
                </a14:m>
                <a:r>
                  <a:rPr lang="zh-CN" altLang="zh-CN" b="1" dirty="0">
                    <a:effectLst/>
                    <a:latin typeface="+mn-ea"/>
                    <a:cs typeface="Times New Roman" panose="02020603050405020304" pitchFamily="18" charset="0"/>
                  </a:rPr>
                  <a:t>，但</a:t>
                </a:r>
                <a14:m>
                  <m:oMath xmlns:m="http://schemas.openxmlformats.org/officeDocument/2006/math">
                    <m:r>
                      <a:rPr lang="en-US" altLang="zh-CN" b="1" i="1" dirty="0" smtClean="0">
                        <a:effectLst/>
                        <a:latin typeface="Cambria Math" panose="02040503050406030204" pitchFamily="18" charset="0"/>
                      </a:rPr>
                      <m:t>𝒄</m:t>
                    </m:r>
                    <m:r>
                      <a:rPr lang="en-US" altLang="zh-CN" b="1" i="1" dirty="0" smtClean="0">
                        <a:effectLst/>
                        <a:latin typeface="Cambria Math" panose="02040503050406030204" pitchFamily="18" charset="0"/>
                        <a:ea typeface="Cambria Math" panose="02040503050406030204" pitchFamily="18" charset="0"/>
                      </a:rPr>
                      <m:t>≠</m:t>
                    </m:r>
                    <m:r>
                      <a:rPr lang="en-US" altLang="zh-CN" b="1" i="1" dirty="0" smtClean="0">
                        <a:effectLst/>
                        <a:latin typeface="Cambria Math" panose="02040503050406030204" pitchFamily="18" charset="0"/>
                      </a:rPr>
                      <m:t>𝒅</m:t>
                    </m:r>
                  </m:oMath>
                </a14:m>
                <a:r>
                  <a:rPr lang="zh-CN" altLang="zh-CN" b="1" dirty="0">
                    <a:effectLst/>
                    <a:latin typeface="+mn-ea"/>
                    <a:cs typeface="Times New Roman" panose="02020603050405020304" pitchFamily="18" charset="0"/>
                  </a:rPr>
                  <a:t>。</a:t>
                </a:r>
                <a:endParaRPr lang="en-US" altLang="zh-CN" b="1" dirty="0">
                  <a:effectLst/>
                  <a:latin typeface="+mn-ea"/>
                  <a:cs typeface="Times New Roman" panose="02020603050405020304" pitchFamily="18" charset="0"/>
                </a:endParaRPr>
              </a:p>
              <a:p>
                <a:pPr algn="just">
                  <a:lnSpc>
                    <a:spcPct val="130000"/>
                  </a:lnSpc>
                  <a:spcBef>
                    <a:spcPts val="600"/>
                  </a:spcBef>
                </a:pPr>
                <a:r>
                  <a:rPr lang="zh-CN" altLang="zh-CN" b="1" dirty="0">
                    <a:effectLst/>
                    <a:latin typeface="+mn-ea"/>
                    <a:cs typeface="Times New Roman" panose="02020603050405020304" pitchFamily="18" charset="0"/>
                  </a:rPr>
                  <a:t>与假设条件矛盾，因而</a:t>
                </a:r>
                <a14:m>
                  <m:oMath xmlns:m="http://schemas.openxmlformats.org/officeDocument/2006/math">
                    <m:r>
                      <a:rPr lang="en-US" altLang="zh-CN" b="1" i="1" dirty="0" smtClean="0">
                        <a:effectLst/>
                        <a:latin typeface="Cambria Math" panose="02040503050406030204" pitchFamily="18" charset="0"/>
                      </a:rPr>
                      <m:t>𝑳</m:t>
                    </m:r>
                  </m:oMath>
                </a14:m>
                <a:r>
                  <a:rPr lang="zh-CN" altLang="zh-CN" b="1" dirty="0">
                    <a:effectLst/>
                    <a:latin typeface="+mn-ea"/>
                    <a:cs typeface="Times New Roman" panose="02020603050405020304" pitchFamily="18" charset="0"/>
                  </a:rPr>
                  <a:t>必然是一个分配格。</a:t>
                </a:r>
                <a:endParaRPr lang="zh-CN" altLang="en-US" b="1" dirty="0">
                  <a:latin typeface="+mn-ea"/>
                </a:endParaRPr>
              </a:p>
            </p:txBody>
          </p:sp>
        </mc:Choice>
        <mc:Fallback xmlns="">
          <p:sp>
            <p:nvSpPr>
              <p:cNvPr id="8" name="文本框 7">
                <a:extLst>
                  <a:ext uri="{FF2B5EF4-FFF2-40B4-BE49-F238E27FC236}">
                    <a16:creationId xmlns:a16="http://schemas.microsoft.com/office/drawing/2014/main" id="{349DC43A-3C3D-44DF-BD7D-B3D8D86E653B}"/>
                  </a:ext>
                </a:extLst>
              </p:cNvPr>
              <p:cNvSpPr txBox="1">
                <a:spLocks noRot="1" noChangeAspect="1" noMove="1" noResize="1" noEditPoints="1" noAdjustHandles="1" noChangeArrowheads="1" noChangeShapeType="1" noTextEdit="1"/>
              </p:cNvSpPr>
              <p:nvPr/>
            </p:nvSpPr>
            <p:spPr>
              <a:xfrm>
                <a:off x="231775" y="2362993"/>
                <a:ext cx="7014518" cy="3157146"/>
              </a:xfrm>
              <a:prstGeom prst="rect">
                <a:avLst/>
              </a:prstGeom>
              <a:blipFill>
                <a:blip r:embed="rId6"/>
                <a:stretch>
                  <a:fillRect l="-1303" r="-1390" b="-3475"/>
                </a:stretch>
              </a:blipFill>
            </p:spPr>
            <p:txBody>
              <a:bodyPr/>
              <a:lstStyle/>
              <a:p>
                <a:r>
                  <a:rPr lang="zh-CN" altLang="en-US">
                    <a:noFill/>
                  </a:rPr>
                  <a:t> </a:t>
                </a:r>
              </a:p>
            </p:txBody>
          </p:sp>
        </mc:Fallback>
      </mc:AlternateContent>
      <p:grpSp>
        <p:nvGrpSpPr>
          <p:cNvPr id="42" name="组合 41">
            <a:extLst>
              <a:ext uri="{FF2B5EF4-FFF2-40B4-BE49-F238E27FC236}">
                <a16:creationId xmlns:a16="http://schemas.microsoft.com/office/drawing/2014/main" id="{8A133722-E028-4219-914A-8040EA394107}"/>
              </a:ext>
            </a:extLst>
          </p:cNvPr>
          <p:cNvGrpSpPr/>
          <p:nvPr/>
        </p:nvGrpSpPr>
        <p:grpSpPr>
          <a:xfrm>
            <a:off x="7623175" y="2572544"/>
            <a:ext cx="4009185" cy="3505200"/>
            <a:chOff x="3205824" y="929723"/>
            <a:chExt cx="4009185" cy="3505200"/>
          </a:xfrm>
        </p:grpSpPr>
        <p:sp>
          <p:nvSpPr>
            <p:cNvPr id="41" name="矩形 40">
              <a:extLst>
                <a:ext uri="{FF2B5EF4-FFF2-40B4-BE49-F238E27FC236}">
                  <a16:creationId xmlns:a16="http://schemas.microsoft.com/office/drawing/2014/main" id="{F8DA21E9-682F-4657-9311-A76048629A1F}"/>
                </a:ext>
              </a:extLst>
            </p:cNvPr>
            <p:cNvSpPr/>
            <p:nvPr/>
          </p:nvSpPr>
          <p:spPr>
            <a:xfrm>
              <a:off x="3205824" y="929723"/>
              <a:ext cx="4009185" cy="35052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9" name="组合 8">
              <a:extLst>
                <a:ext uri="{FF2B5EF4-FFF2-40B4-BE49-F238E27FC236}">
                  <a16:creationId xmlns:a16="http://schemas.microsoft.com/office/drawing/2014/main" id="{8FB19FD3-EAF4-4FF4-8DCE-DEB3E9BB542C}"/>
                </a:ext>
              </a:extLst>
            </p:cNvPr>
            <p:cNvGrpSpPr/>
            <p:nvPr/>
          </p:nvGrpSpPr>
          <p:grpSpPr>
            <a:xfrm>
              <a:off x="3441700" y="991394"/>
              <a:ext cx="3459743" cy="3140212"/>
              <a:chOff x="4492159" y="1008231"/>
              <a:chExt cx="3459743" cy="3140212"/>
            </a:xfrm>
            <a:noFill/>
          </p:grpSpPr>
          <p:cxnSp>
            <p:nvCxnSpPr>
              <p:cNvPr id="10" name="Line 814">
                <a:extLst>
                  <a:ext uri="{FF2B5EF4-FFF2-40B4-BE49-F238E27FC236}">
                    <a16:creationId xmlns:a16="http://schemas.microsoft.com/office/drawing/2014/main" id="{46CF4F21-8693-41E5-A495-1D065825BC4A}"/>
                  </a:ext>
                </a:extLst>
              </p:cNvPr>
              <p:cNvCxnSpPr>
                <a:cxnSpLocks noChangeShapeType="1"/>
                <a:stCxn id="24" idx="4"/>
                <a:endCxn id="14" idx="0"/>
              </p:cNvCxnSpPr>
              <p:nvPr/>
            </p:nvCxnSpPr>
            <p:spPr bwMode="auto">
              <a:xfrm>
                <a:off x="7572596" y="2265109"/>
                <a:ext cx="0" cy="734098"/>
              </a:xfrm>
              <a:prstGeom prst="line">
                <a:avLst/>
              </a:prstGeom>
              <a:grpFill/>
              <a:ln w="19050">
                <a:solidFill>
                  <a:srgbClr val="000000"/>
                </a:solidFill>
                <a:round/>
                <a:headEnd/>
                <a:tailEnd/>
              </a:ln>
            </p:spPr>
          </p:cxnSp>
          <p:sp>
            <p:nvSpPr>
              <p:cNvPr id="11" name="Text Box 815">
                <a:extLst>
                  <a:ext uri="{FF2B5EF4-FFF2-40B4-BE49-F238E27FC236}">
                    <a16:creationId xmlns:a16="http://schemas.microsoft.com/office/drawing/2014/main" id="{A72DB986-4964-429F-ABC1-321B36605F76}"/>
                  </a:ext>
                </a:extLst>
              </p:cNvPr>
              <p:cNvSpPr txBox="1">
                <a:spLocks noChangeArrowheads="1"/>
              </p:cNvSpPr>
              <p:nvPr/>
            </p:nvSpPr>
            <p:spPr bwMode="auto">
              <a:xfrm>
                <a:off x="7135442" y="3791827"/>
                <a:ext cx="310705" cy="356616"/>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2" name="Oval 817">
                <a:extLst>
                  <a:ext uri="{FF2B5EF4-FFF2-40B4-BE49-F238E27FC236}">
                    <a16:creationId xmlns:a16="http://schemas.microsoft.com/office/drawing/2014/main" id="{0E0BF9BE-3E38-43E7-AD32-89A1FD0A7F32}"/>
                  </a:ext>
                </a:extLst>
              </p:cNvPr>
              <p:cNvSpPr>
                <a:spLocks noChangeArrowheads="1"/>
              </p:cNvSpPr>
              <p:nvPr/>
            </p:nvSpPr>
            <p:spPr bwMode="auto">
              <a:xfrm>
                <a:off x="7137353" y="1436167"/>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3" name="Oval 818">
                <a:extLst>
                  <a:ext uri="{FF2B5EF4-FFF2-40B4-BE49-F238E27FC236}">
                    <a16:creationId xmlns:a16="http://schemas.microsoft.com/office/drawing/2014/main" id="{EB75D32F-334D-4D4F-B5D0-D4DF4F5B776B}"/>
                  </a:ext>
                </a:extLst>
              </p:cNvPr>
              <p:cNvSpPr>
                <a:spLocks noChangeArrowheads="1"/>
              </p:cNvSpPr>
              <p:nvPr/>
            </p:nvSpPr>
            <p:spPr bwMode="auto">
              <a:xfrm>
                <a:off x="7137353" y="3699160"/>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4" name="Oval 819">
                <a:extLst>
                  <a:ext uri="{FF2B5EF4-FFF2-40B4-BE49-F238E27FC236}">
                    <a16:creationId xmlns:a16="http://schemas.microsoft.com/office/drawing/2014/main" id="{A362AE61-816F-4EE2-B722-861F10BA4E48}"/>
                  </a:ext>
                </a:extLst>
              </p:cNvPr>
              <p:cNvSpPr>
                <a:spLocks noChangeArrowheads="1"/>
              </p:cNvSpPr>
              <p:nvPr/>
            </p:nvSpPr>
            <p:spPr bwMode="auto">
              <a:xfrm>
                <a:off x="7518596" y="2999207"/>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15" name="Oval 820">
                <a:extLst>
                  <a:ext uri="{FF2B5EF4-FFF2-40B4-BE49-F238E27FC236}">
                    <a16:creationId xmlns:a16="http://schemas.microsoft.com/office/drawing/2014/main" id="{9020DE6A-3A90-4296-B07D-FB8852A588CA}"/>
                  </a:ext>
                </a:extLst>
              </p:cNvPr>
              <p:cNvSpPr>
                <a:spLocks noChangeArrowheads="1"/>
              </p:cNvSpPr>
              <p:nvPr/>
            </p:nvSpPr>
            <p:spPr bwMode="auto">
              <a:xfrm>
                <a:off x="6749391" y="2566715"/>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16" name="Line 821">
                <a:extLst>
                  <a:ext uri="{FF2B5EF4-FFF2-40B4-BE49-F238E27FC236}">
                    <a16:creationId xmlns:a16="http://schemas.microsoft.com/office/drawing/2014/main" id="{0882C8F1-583D-4A86-A7B5-F8035400BD2E}"/>
                  </a:ext>
                </a:extLst>
              </p:cNvPr>
              <p:cNvCxnSpPr>
                <a:cxnSpLocks noChangeShapeType="1"/>
                <a:stCxn id="14" idx="4"/>
                <a:endCxn id="13" idx="7"/>
              </p:cNvCxnSpPr>
              <p:nvPr/>
            </p:nvCxnSpPr>
            <p:spPr bwMode="auto">
              <a:xfrm flipH="1">
                <a:off x="7229537" y="3107330"/>
                <a:ext cx="343059" cy="607664"/>
              </a:xfrm>
              <a:prstGeom prst="line">
                <a:avLst/>
              </a:prstGeom>
              <a:grpFill/>
              <a:ln w="19050">
                <a:solidFill>
                  <a:srgbClr val="000000"/>
                </a:solidFill>
                <a:round/>
                <a:headEnd/>
                <a:tailEnd/>
              </a:ln>
            </p:spPr>
          </p:cxnSp>
          <p:cxnSp>
            <p:nvCxnSpPr>
              <p:cNvPr id="17" name="Line 822">
                <a:extLst>
                  <a:ext uri="{FF2B5EF4-FFF2-40B4-BE49-F238E27FC236}">
                    <a16:creationId xmlns:a16="http://schemas.microsoft.com/office/drawing/2014/main" id="{9796482E-83F1-4C70-80FD-4CC34C570583}"/>
                  </a:ext>
                </a:extLst>
              </p:cNvPr>
              <p:cNvCxnSpPr>
                <a:cxnSpLocks noChangeShapeType="1"/>
                <a:stCxn id="12" idx="3"/>
                <a:endCxn id="15" idx="0"/>
              </p:cNvCxnSpPr>
              <p:nvPr/>
            </p:nvCxnSpPr>
            <p:spPr bwMode="auto">
              <a:xfrm flipH="1">
                <a:off x="6803391" y="1528456"/>
                <a:ext cx="349778" cy="1038259"/>
              </a:xfrm>
              <a:prstGeom prst="line">
                <a:avLst/>
              </a:prstGeom>
              <a:grpFill/>
              <a:ln w="19050">
                <a:solidFill>
                  <a:srgbClr val="000000"/>
                </a:solidFill>
                <a:round/>
                <a:headEnd/>
                <a:tailEnd/>
              </a:ln>
            </p:spPr>
          </p:cxnSp>
          <p:cxnSp>
            <p:nvCxnSpPr>
              <p:cNvPr id="18" name="Line 823">
                <a:extLst>
                  <a:ext uri="{FF2B5EF4-FFF2-40B4-BE49-F238E27FC236}">
                    <a16:creationId xmlns:a16="http://schemas.microsoft.com/office/drawing/2014/main" id="{8DE4B763-D341-4909-BECA-AC561AA0A695}"/>
                  </a:ext>
                </a:extLst>
              </p:cNvPr>
              <p:cNvCxnSpPr>
                <a:cxnSpLocks noChangeShapeType="1"/>
                <a:stCxn id="12" idx="5"/>
                <a:endCxn id="24" idx="1"/>
              </p:cNvCxnSpPr>
              <p:nvPr/>
            </p:nvCxnSpPr>
            <p:spPr bwMode="auto">
              <a:xfrm>
                <a:off x="7229537" y="1528456"/>
                <a:ext cx="304875" cy="644364"/>
              </a:xfrm>
              <a:prstGeom prst="line">
                <a:avLst/>
              </a:prstGeom>
              <a:grpFill/>
              <a:ln w="19050">
                <a:solidFill>
                  <a:srgbClr val="000000"/>
                </a:solidFill>
                <a:round/>
                <a:headEnd/>
                <a:tailEnd/>
              </a:ln>
            </p:spPr>
          </p:cxnSp>
          <p:cxnSp>
            <p:nvCxnSpPr>
              <p:cNvPr id="19" name="Line 824">
                <a:extLst>
                  <a:ext uri="{FF2B5EF4-FFF2-40B4-BE49-F238E27FC236}">
                    <a16:creationId xmlns:a16="http://schemas.microsoft.com/office/drawing/2014/main" id="{14E4819A-1B32-4020-BE2C-A83F3DC3E584}"/>
                  </a:ext>
                </a:extLst>
              </p:cNvPr>
              <p:cNvCxnSpPr>
                <a:cxnSpLocks noChangeShapeType="1"/>
                <a:stCxn id="15" idx="4"/>
                <a:endCxn id="13" idx="1"/>
              </p:cNvCxnSpPr>
              <p:nvPr/>
            </p:nvCxnSpPr>
            <p:spPr bwMode="auto">
              <a:xfrm>
                <a:off x="6803391" y="2674838"/>
                <a:ext cx="349778" cy="1040156"/>
              </a:xfrm>
              <a:prstGeom prst="line">
                <a:avLst/>
              </a:prstGeom>
              <a:grpFill/>
              <a:ln w="19050">
                <a:solidFill>
                  <a:srgbClr val="000000"/>
                </a:solidFill>
                <a:round/>
                <a:headEnd/>
                <a:tailEnd/>
              </a:ln>
            </p:spPr>
          </p:cxnSp>
          <p:sp>
            <p:nvSpPr>
              <p:cNvPr id="20" name="Text Box 825">
                <a:extLst>
                  <a:ext uri="{FF2B5EF4-FFF2-40B4-BE49-F238E27FC236}">
                    <a16:creationId xmlns:a16="http://schemas.microsoft.com/office/drawing/2014/main" id="{FCEA7A45-D4ED-4669-830F-A247346BCA3F}"/>
                  </a:ext>
                </a:extLst>
              </p:cNvPr>
              <p:cNvSpPr txBox="1">
                <a:spLocks noChangeArrowheads="1"/>
              </p:cNvSpPr>
              <p:nvPr/>
            </p:nvSpPr>
            <p:spPr bwMode="auto">
              <a:xfrm>
                <a:off x="6472276" y="2363748"/>
                <a:ext cx="194821" cy="360409"/>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1" name="Text Box 826">
                <a:extLst>
                  <a:ext uri="{FF2B5EF4-FFF2-40B4-BE49-F238E27FC236}">
                    <a16:creationId xmlns:a16="http://schemas.microsoft.com/office/drawing/2014/main" id="{D9AE31C2-9893-48D9-9DD4-12104D4B628E}"/>
                  </a:ext>
                </a:extLst>
              </p:cNvPr>
              <p:cNvSpPr txBox="1">
                <a:spLocks noChangeArrowheads="1"/>
              </p:cNvSpPr>
              <p:nvPr/>
            </p:nvSpPr>
            <p:spPr bwMode="auto">
              <a:xfrm>
                <a:off x="7686545" y="2737436"/>
                <a:ext cx="265357" cy="430307"/>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2" name="Text Box 827">
                <a:extLst>
                  <a:ext uri="{FF2B5EF4-FFF2-40B4-BE49-F238E27FC236}">
                    <a16:creationId xmlns:a16="http://schemas.microsoft.com/office/drawing/2014/main" id="{363CAB82-3319-4F06-B9DF-06A9F7FEA71B}"/>
                  </a:ext>
                </a:extLst>
              </p:cNvPr>
              <p:cNvSpPr txBox="1">
                <a:spLocks noChangeArrowheads="1"/>
              </p:cNvSpPr>
              <p:nvPr/>
            </p:nvSpPr>
            <p:spPr bwMode="auto">
              <a:xfrm>
                <a:off x="7686546" y="1923669"/>
                <a:ext cx="240166" cy="515955"/>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3" name="Text Box 828">
                <a:extLst>
                  <a:ext uri="{FF2B5EF4-FFF2-40B4-BE49-F238E27FC236}">
                    <a16:creationId xmlns:a16="http://schemas.microsoft.com/office/drawing/2014/main" id="{041123A5-0415-44CD-8A6C-B6C72B3FD677}"/>
                  </a:ext>
                </a:extLst>
              </p:cNvPr>
              <p:cNvSpPr txBox="1">
                <a:spLocks noChangeArrowheads="1"/>
              </p:cNvSpPr>
              <p:nvPr/>
            </p:nvSpPr>
            <p:spPr bwMode="auto">
              <a:xfrm>
                <a:off x="7141101" y="1008231"/>
                <a:ext cx="277089" cy="388864"/>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4" name="Oval 829">
                <a:extLst>
                  <a:ext uri="{FF2B5EF4-FFF2-40B4-BE49-F238E27FC236}">
                    <a16:creationId xmlns:a16="http://schemas.microsoft.com/office/drawing/2014/main" id="{84A7E0E3-6133-49F3-9938-17B352E48ECF}"/>
                  </a:ext>
                </a:extLst>
              </p:cNvPr>
              <p:cNvSpPr>
                <a:spLocks noChangeArrowheads="1"/>
              </p:cNvSpPr>
              <p:nvPr/>
            </p:nvSpPr>
            <p:spPr bwMode="auto">
              <a:xfrm>
                <a:off x="7518596" y="2156986"/>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25" name="Line 831">
                <a:extLst>
                  <a:ext uri="{FF2B5EF4-FFF2-40B4-BE49-F238E27FC236}">
                    <a16:creationId xmlns:a16="http://schemas.microsoft.com/office/drawing/2014/main" id="{50490840-6DD9-4527-B12E-D5604821F6DC}"/>
                  </a:ext>
                </a:extLst>
              </p:cNvPr>
              <p:cNvCxnSpPr>
                <a:cxnSpLocks noChangeShapeType="1"/>
                <a:stCxn id="39" idx="4"/>
                <a:endCxn id="28" idx="0"/>
              </p:cNvCxnSpPr>
              <p:nvPr/>
            </p:nvCxnSpPr>
            <p:spPr bwMode="auto">
              <a:xfrm>
                <a:off x="5206198" y="2758301"/>
                <a:ext cx="0" cy="1024322"/>
              </a:xfrm>
              <a:prstGeom prst="line">
                <a:avLst/>
              </a:prstGeom>
              <a:grpFill/>
              <a:ln w="19050">
                <a:solidFill>
                  <a:srgbClr val="000000"/>
                </a:solidFill>
                <a:round/>
                <a:headEnd/>
                <a:tailEnd/>
              </a:ln>
            </p:spPr>
          </p:cxnSp>
          <p:sp>
            <p:nvSpPr>
              <p:cNvPr id="26" name="Text Box 832">
                <a:extLst>
                  <a:ext uri="{FF2B5EF4-FFF2-40B4-BE49-F238E27FC236}">
                    <a16:creationId xmlns:a16="http://schemas.microsoft.com/office/drawing/2014/main" id="{5B18057D-1FDD-41F4-9777-2FA369772C9C}"/>
                  </a:ext>
                </a:extLst>
              </p:cNvPr>
              <p:cNvSpPr txBox="1">
                <a:spLocks noChangeArrowheads="1"/>
              </p:cNvSpPr>
              <p:nvPr/>
            </p:nvSpPr>
            <p:spPr bwMode="auto">
              <a:xfrm>
                <a:off x="5192353" y="3799607"/>
                <a:ext cx="360779" cy="290225"/>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7" name="Oval 834">
                <a:extLst>
                  <a:ext uri="{FF2B5EF4-FFF2-40B4-BE49-F238E27FC236}">
                    <a16:creationId xmlns:a16="http://schemas.microsoft.com/office/drawing/2014/main" id="{187E5946-7A8A-4267-940F-DBA34708EDCF}"/>
                  </a:ext>
                </a:extLst>
              </p:cNvPr>
              <p:cNvSpPr>
                <a:spLocks noChangeArrowheads="1"/>
              </p:cNvSpPr>
              <p:nvPr/>
            </p:nvSpPr>
            <p:spPr bwMode="auto">
              <a:xfrm>
                <a:off x="5152198" y="1519630"/>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8" name="Oval 835">
                <a:extLst>
                  <a:ext uri="{FF2B5EF4-FFF2-40B4-BE49-F238E27FC236}">
                    <a16:creationId xmlns:a16="http://schemas.microsoft.com/office/drawing/2014/main" id="{1E783F93-CD00-4E99-ABB1-8970CF9F7950}"/>
                  </a:ext>
                </a:extLst>
              </p:cNvPr>
              <p:cNvSpPr>
                <a:spLocks noChangeArrowheads="1"/>
              </p:cNvSpPr>
              <p:nvPr/>
            </p:nvSpPr>
            <p:spPr bwMode="auto">
              <a:xfrm>
                <a:off x="5152198" y="3782623"/>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29" name="Oval 836">
                <a:extLst>
                  <a:ext uri="{FF2B5EF4-FFF2-40B4-BE49-F238E27FC236}">
                    <a16:creationId xmlns:a16="http://schemas.microsoft.com/office/drawing/2014/main" id="{2725A79F-BA77-4494-9712-32EF6CDE34F2}"/>
                  </a:ext>
                </a:extLst>
              </p:cNvPr>
              <p:cNvSpPr>
                <a:spLocks noChangeArrowheads="1"/>
              </p:cNvSpPr>
              <p:nvPr/>
            </p:nvSpPr>
            <p:spPr bwMode="auto">
              <a:xfrm>
                <a:off x="4764236" y="2650178"/>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30" name="Line 837">
                <a:extLst>
                  <a:ext uri="{FF2B5EF4-FFF2-40B4-BE49-F238E27FC236}">
                    <a16:creationId xmlns:a16="http://schemas.microsoft.com/office/drawing/2014/main" id="{D21A5C6A-3E60-449B-85EC-1B1A10891928}"/>
                  </a:ext>
                </a:extLst>
              </p:cNvPr>
              <p:cNvCxnSpPr>
                <a:cxnSpLocks noChangeShapeType="1"/>
                <a:stCxn id="40" idx="4"/>
                <a:endCxn id="28" idx="7"/>
              </p:cNvCxnSpPr>
              <p:nvPr/>
            </p:nvCxnSpPr>
            <p:spPr bwMode="auto">
              <a:xfrm flipH="1">
                <a:off x="5244382" y="2758301"/>
                <a:ext cx="343059" cy="1040156"/>
              </a:xfrm>
              <a:prstGeom prst="line">
                <a:avLst/>
              </a:prstGeom>
              <a:grpFill/>
              <a:ln w="19050">
                <a:solidFill>
                  <a:srgbClr val="000000"/>
                </a:solidFill>
                <a:round/>
                <a:headEnd/>
                <a:tailEnd/>
              </a:ln>
            </p:spPr>
          </p:cxnSp>
          <p:cxnSp>
            <p:nvCxnSpPr>
              <p:cNvPr id="31" name="Line 838">
                <a:extLst>
                  <a:ext uri="{FF2B5EF4-FFF2-40B4-BE49-F238E27FC236}">
                    <a16:creationId xmlns:a16="http://schemas.microsoft.com/office/drawing/2014/main" id="{3875D894-6A86-4EE5-A5BF-DC16AF7BAF64}"/>
                  </a:ext>
                </a:extLst>
              </p:cNvPr>
              <p:cNvCxnSpPr>
                <a:cxnSpLocks noChangeShapeType="1"/>
                <a:stCxn id="27" idx="3"/>
                <a:endCxn id="29" idx="0"/>
              </p:cNvCxnSpPr>
              <p:nvPr/>
            </p:nvCxnSpPr>
            <p:spPr bwMode="auto">
              <a:xfrm flipH="1">
                <a:off x="4818236" y="1611919"/>
                <a:ext cx="349778" cy="1038259"/>
              </a:xfrm>
              <a:prstGeom prst="line">
                <a:avLst/>
              </a:prstGeom>
              <a:grpFill/>
              <a:ln w="19050">
                <a:solidFill>
                  <a:srgbClr val="000000"/>
                </a:solidFill>
                <a:round/>
                <a:headEnd/>
                <a:tailEnd/>
              </a:ln>
            </p:spPr>
          </p:cxnSp>
          <p:cxnSp>
            <p:nvCxnSpPr>
              <p:cNvPr id="32" name="Line 839">
                <a:extLst>
                  <a:ext uri="{FF2B5EF4-FFF2-40B4-BE49-F238E27FC236}">
                    <a16:creationId xmlns:a16="http://schemas.microsoft.com/office/drawing/2014/main" id="{B9EFD743-BBA2-450F-BC03-727E1EB7C650}"/>
                  </a:ext>
                </a:extLst>
              </p:cNvPr>
              <p:cNvCxnSpPr>
                <a:cxnSpLocks noChangeShapeType="1"/>
                <a:stCxn id="27" idx="5"/>
                <a:endCxn id="40" idx="0"/>
              </p:cNvCxnSpPr>
              <p:nvPr/>
            </p:nvCxnSpPr>
            <p:spPr bwMode="auto">
              <a:xfrm>
                <a:off x="5244382" y="1611919"/>
                <a:ext cx="343059" cy="1038259"/>
              </a:xfrm>
              <a:prstGeom prst="line">
                <a:avLst/>
              </a:prstGeom>
              <a:grpFill/>
              <a:ln w="19050">
                <a:solidFill>
                  <a:srgbClr val="000000"/>
                </a:solidFill>
                <a:round/>
                <a:headEnd/>
                <a:tailEnd/>
              </a:ln>
            </p:spPr>
          </p:cxnSp>
          <p:cxnSp>
            <p:nvCxnSpPr>
              <p:cNvPr id="33" name="Line 840">
                <a:extLst>
                  <a:ext uri="{FF2B5EF4-FFF2-40B4-BE49-F238E27FC236}">
                    <a16:creationId xmlns:a16="http://schemas.microsoft.com/office/drawing/2014/main" id="{83AE003A-8797-4C52-BE1B-63215295F0B3}"/>
                  </a:ext>
                </a:extLst>
              </p:cNvPr>
              <p:cNvCxnSpPr>
                <a:cxnSpLocks noChangeShapeType="1"/>
                <a:stCxn id="29" idx="4"/>
                <a:endCxn id="28" idx="1"/>
              </p:cNvCxnSpPr>
              <p:nvPr/>
            </p:nvCxnSpPr>
            <p:spPr bwMode="auto">
              <a:xfrm>
                <a:off x="4818236" y="2758301"/>
                <a:ext cx="349778" cy="1040156"/>
              </a:xfrm>
              <a:prstGeom prst="line">
                <a:avLst/>
              </a:prstGeom>
              <a:grpFill/>
              <a:ln w="19050">
                <a:solidFill>
                  <a:srgbClr val="000000"/>
                </a:solidFill>
                <a:round/>
                <a:headEnd/>
                <a:tailEnd/>
              </a:ln>
            </p:spPr>
          </p:cxnSp>
          <p:sp>
            <p:nvSpPr>
              <p:cNvPr id="34" name="Text Box 841">
                <a:extLst>
                  <a:ext uri="{FF2B5EF4-FFF2-40B4-BE49-F238E27FC236}">
                    <a16:creationId xmlns:a16="http://schemas.microsoft.com/office/drawing/2014/main" id="{CEE219B3-BD8E-4D85-973F-3D59AD7E9C89}"/>
                  </a:ext>
                </a:extLst>
              </p:cNvPr>
              <p:cNvSpPr txBox="1">
                <a:spLocks noChangeArrowheads="1"/>
              </p:cNvSpPr>
              <p:nvPr/>
            </p:nvSpPr>
            <p:spPr bwMode="auto">
              <a:xfrm>
                <a:off x="4492159" y="2447212"/>
                <a:ext cx="223367" cy="311090"/>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5" name="Text Box 842">
                <a:extLst>
                  <a:ext uri="{FF2B5EF4-FFF2-40B4-BE49-F238E27FC236}">
                    <a16:creationId xmlns:a16="http://schemas.microsoft.com/office/drawing/2014/main" id="{8B3948A7-CC95-42EA-A912-31211A438B73}"/>
                  </a:ext>
                </a:extLst>
              </p:cNvPr>
              <p:cNvSpPr txBox="1">
                <a:spLocks noChangeArrowheads="1"/>
              </p:cNvSpPr>
              <p:nvPr/>
            </p:nvSpPr>
            <p:spPr bwMode="auto">
              <a:xfrm>
                <a:off x="5283199" y="2447212"/>
                <a:ext cx="151154" cy="411624"/>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6" name="Text Box 843">
                <a:extLst>
                  <a:ext uri="{FF2B5EF4-FFF2-40B4-BE49-F238E27FC236}">
                    <a16:creationId xmlns:a16="http://schemas.microsoft.com/office/drawing/2014/main" id="{6E3EC02E-411A-4504-AE20-296A73110BBC}"/>
                  </a:ext>
                </a:extLst>
              </p:cNvPr>
              <p:cNvSpPr txBox="1">
                <a:spLocks noChangeArrowheads="1"/>
              </p:cNvSpPr>
              <p:nvPr/>
            </p:nvSpPr>
            <p:spPr bwMode="auto">
              <a:xfrm>
                <a:off x="5701391" y="2447211"/>
                <a:ext cx="277116" cy="240905"/>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d</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7" name="Text Box 844">
                <a:extLst>
                  <a:ext uri="{FF2B5EF4-FFF2-40B4-BE49-F238E27FC236}">
                    <a16:creationId xmlns:a16="http://schemas.microsoft.com/office/drawing/2014/main" id="{6F2D1E0C-96DF-48C4-A572-5007BCFD0C7E}"/>
                  </a:ext>
                </a:extLst>
              </p:cNvPr>
              <p:cNvSpPr txBox="1">
                <a:spLocks noChangeArrowheads="1"/>
              </p:cNvSpPr>
              <p:nvPr/>
            </p:nvSpPr>
            <p:spPr bwMode="auto">
              <a:xfrm>
                <a:off x="5234878" y="1109243"/>
                <a:ext cx="189782" cy="352822"/>
              </a:xfrm>
              <a:prstGeom prst="rect">
                <a:avLst/>
              </a:prstGeom>
              <a:grp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e</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38" name="Line 845">
                <a:extLst>
                  <a:ext uri="{FF2B5EF4-FFF2-40B4-BE49-F238E27FC236}">
                    <a16:creationId xmlns:a16="http://schemas.microsoft.com/office/drawing/2014/main" id="{C4AAAA15-48B2-497D-A9DA-1437CE7FB87C}"/>
                  </a:ext>
                </a:extLst>
              </p:cNvPr>
              <p:cNvCxnSpPr>
                <a:cxnSpLocks noChangeShapeType="1"/>
                <a:stCxn id="27" idx="4"/>
                <a:endCxn id="39" idx="0"/>
              </p:cNvCxnSpPr>
              <p:nvPr/>
            </p:nvCxnSpPr>
            <p:spPr bwMode="auto">
              <a:xfrm>
                <a:off x="5206198" y="1627753"/>
                <a:ext cx="0" cy="1022425"/>
              </a:xfrm>
              <a:prstGeom prst="line">
                <a:avLst/>
              </a:prstGeom>
              <a:grpFill/>
              <a:ln w="19050">
                <a:solidFill>
                  <a:srgbClr val="000000"/>
                </a:solidFill>
                <a:round/>
                <a:headEnd/>
                <a:tailEnd/>
              </a:ln>
            </p:spPr>
          </p:cxnSp>
          <p:sp>
            <p:nvSpPr>
              <p:cNvPr id="39" name="Oval 846">
                <a:extLst>
                  <a:ext uri="{FF2B5EF4-FFF2-40B4-BE49-F238E27FC236}">
                    <a16:creationId xmlns:a16="http://schemas.microsoft.com/office/drawing/2014/main" id="{465BE212-926C-4F64-8CB2-C2A9AE935577}"/>
                  </a:ext>
                </a:extLst>
              </p:cNvPr>
              <p:cNvSpPr>
                <a:spLocks noChangeArrowheads="1"/>
              </p:cNvSpPr>
              <p:nvPr/>
            </p:nvSpPr>
            <p:spPr bwMode="auto">
              <a:xfrm>
                <a:off x="5152198" y="2650178"/>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40" name="Oval 847">
                <a:extLst>
                  <a:ext uri="{FF2B5EF4-FFF2-40B4-BE49-F238E27FC236}">
                    <a16:creationId xmlns:a16="http://schemas.microsoft.com/office/drawing/2014/main" id="{6316BAFC-20E9-480F-8B5D-1EA2EFE6A947}"/>
                  </a:ext>
                </a:extLst>
              </p:cNvPr>
              <p:cNvSpPr>
                <a:spLocks noChangeArrowheads="1"/>
              </p:cNvSpPr>
              <p:nvPr/>
            </p:nvSpPr>
            <p:spPr bwMode="auto">
              <a:xfrm>
                <a:off x="5533441" y="2650178"/>
                <a:ext cx="108000" cy="108123"/>
              </a:xfrm>
              <a:prstGeom prst="ellipse">
                <a:avLst/>
              </a:prstGeom>
              <a:grp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grpSp>
      </p:grpSp>
    </p:spTree>
    <p:custDataLst>
      <p:tags r:id="rId1"/>
    </p:custDataLst>
    <p:extLst>
      <p:ext uri="{BB962C8B-B14F-4D97-AF65-F5344CB8AC3E}">
        <p14:creationId xmlns:p14="http://schemas.microsoft.com/office/powerpoint/2010/main" val="261026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C53098-EF89-440F-81B2-62BEF3C8A063}"/>
              </a:ext>
            </a:extLst>
          </p:cNvPr>
          <p:cNvSpPr>
            <a:spLocks noGrp="1"/>
          </p:cNvSpPr>
          <p:nvPr>
            <p:ph type="title"/>
          </p:nvPr>
        </p:nvSpPr>
        <p:spPr/>
        <p:txBody>
          <a:bodyPr/>
          <a:lstStyle/>
          <a:p>
            <a:r>
              <a:rPr lang="zh-CN" altLang="en-US" dirty="0"/>
              <a:t>模格</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28B7566-9BE8-4A2E-919D-A359A485BE33}"/>
                  </a:ext>
                </a:extLst>
              </p:cNvPr>
              <p:cNvSpPr>
                <a:spLocks noGrp="1"/>
              </p:cNvSpPr>
              <p:nvPr>
                <p:ph idx="1"/>
              </p:nvPr>
            </p:nvSpPr>
            <p:spPr>
              <a:xfrm>
                <a:off x="279400" y="909340"/>
                <a:ext cx="11658600" cy="2291854"/>
              </a:xfrm>
            </p:spPr>
            <p:txBody>
              <a:bodyPr>
                <a:noAutofit/>
              </a:bodyPr>
              <a:lstStyle/>
              <a:p>
                <a:pPr marL="0" indent="0" algn="just">
                  <a:lnSpc>
                    <a:spcPct val="130000"/>
                  </a:lnSpc>
                  <a:buNone/>
                </a:pPr>
                <a:r>
                  <a:rPr lang="zh-CN" altLang="zh-CN" kern="1100" dirty="0">
                    <a:solidFill>
                      <a:srgbClr val="0000FF"/>
                    </a:solidFill>
                    <a:effectLst/>
                    <a:latin typeface="+mn-ea"/>
                  </a:rPr>
                  <a:t>定义</a:t>
                </a:r>
                <a:r>
                  <a:rPr lang="en-US" altLang="zh-CN" kern="1100" dirty="0">
                    <a:solidFill>
                      <a:srgbClr val="0000FF"/>
                    </a:solidFill>
                    <a:effectLst/>
                    <a:latin typeface="+mn-ea"/>
                  </a:rPr>
                  <a:t>10.8</a:t>
                </a:r>
                <a:r>
                  <a:rPr lang="en-US" altLang="zh-CN" kern="100" dirty="0">
                    <a:solidFill>
                      <a:srgbClr val="0000FF"/>
                    </a:solidFill>
                    <a:effectLst/>
                    <a:latin typeface="+mn-ea"/>
                  </a:rPr>
                  <a:t>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kern="100" dirty="0">
                    <a:effectLst/>
                    <a:latin typeface="+mn-ea"/>
                  </a:rPr>
                  <a:t>是一个格，如果对任意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i="1" kern="100" dirty="0">
                        <a:latin typeface="Cambria Math" panose="02040503050406030204" pitchFamily="18" charset="0"/>
                      </a:rPr>
                      <m:t>𝒄</m:t>
                    </m:r>
                    <m:r>
                      <a:rPr lang="en-US" altLang="zh-CN" i="1" kern="100" dirty="0">
                        <a:latin typeface="Cambria Math" panose="02040503050406030204" pitchFamily="18" charset="0"/>
                        <a:ea typeface="Cambria Math" panose="02040503050406030204" pitchFamily="18" charset="0"/>
                      </a:rPr>
                      <m:t>∈</m:t>
                    </m:r>
                    <m:r>
                      <a:rPr lang="en-US" altLang="zh-CN" i="1" kern="100" dirty="0">
                        <a:latin typeface="Cambria Math" panose="02040503050406030204" pitchFamily="18" charset="0"/>
                      </a:rPr>
                      <m:t>𝑳</m:t>
                    </m:r>
                    <m:r>
                      <a:rPr lang="zh-CN" altLang="zh-CN" b="1" i="1" kern="100" dirty="0">
                        <a:effectLst/>
                        <a:latin typeface="Cambria Math" panose="02040503050406030204" pitchFamily="18" charset="0"/>
                      </a:rPr>
                      <m:t>，</m:t>
                    </m:r>
                  </m:oMath>
                </a14:m>
                <a:r>
                  <a:rPr lang="zh-CN" altLang="zh-CN" kern="100" dirty="0">
                    <a:effectLst/>
                    <a:latin typeface="+mn-ea"/>
                  </a:rPr>
                  <a:t>有</a:t>
                </a:r>
                <a:endParaRPr lang="en-US" altLang="zh-CN" kern="100" dirty="0">
                  <a:effectLst/>
                  <a:latin typeface="+mn-ea"/>
                </a:endParaRPr>
              </a:p>
              <a:p>
                <a:pPr marL="0" indent="0" algn="just">
                  <a:lnSpc>
                    <a:spcPct val="130000"/>
                  </a:lnSpc>
                  <a:buNone/>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oMath>
                  </m:oMathPara>
                </a14:m>
                <a:endParaRPr lang="zh-CN" altLang="zh-CN" kern="100" dirty="0">
                  <a:effectLst/>
                  <a:latin typeface="+mn-ea"/>
                </a:endParaRPr>
              </a:p>
              <a:p>
                <a:pPr marL="0" indent="0" algn="just">
                  <a:lnSpc>
                    <a:spcPct val="130000"/>
                  </a:lnSpc>
                  <a:buNone/>
                </a:pPr>
                <a:r>
                  <a:rPr lang="zh-CN" altLang="zh-CN" kern="100" dirty="0">
                    <a:effectLst/>
                    <a:latin typeface="+mn-ea"/>
                  </a:rPr>
                  <a:t>或</a:t>
                </a:r>
                <a:r>
                  <a:rPr lang="en-US" altLang="zh-CN" kern="100" dirty="0">
                    <a:effectLst/>
                    <a:latin typeface="+mn-ea"/>
                  </a:rPr>
                  <a:t>                                  </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a:effectLst/>
                        <a:latin typeface="Cambria Math" panose="02040503050406030204" pitchFamily="18" charset="0"/>
                        <a:sym typeface="Symbol" panose="05050102010706020507" pitchFamily="18" charset="2"/>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m:t>
                    </m:r>
                  </m:oMath>
                </a14:m>
                <a:r>
                  <a:rPr lang="en-US" altLang="zh-CN" kern="100" dirty="0">
                    <a:effectLst/>
                    <a:latin typeface="+mn-ea"/>
                  </a:rPr>
                  <a:t>(</a:t>
                </a:r>
                <a:r>
                  <a:rPr lang="zh-CN" altLang="zh-CN" kern="100" dirty="0">
                    <a:solidFill>
                      <a:srgbClr val="0000FF"/>
                    </a:solidFill>
                    <a:effectLst/>
                    <a:latin typeface="+mn-ea"/>
                  </a:rPr>
                  <a:t>模律</a:t>
                </a:r>
                <a:r>
                  <a:rPr lang="en-US" altLang="zh-CN" kern="100" dirty="0">
                    <a:effectLst/>
                    <a:latin typeface="+mn-ea"/>
                  </a:rPr>
                  <a:t>)</a:t>
                </a:r>
                <a:endParaRPr lang="zh-CN" altLang="zh-CN" kern="100" dirty="0">
                  <a:effectLst/>
                  <a:latin typeface="+mn-ea"/>
                </a:endParaRPr>
              </a:p>
              <a:p>
                <a:pPr marL="0" indent="0" algn="just">
                  <a:lnSpc>
                    <a:spcPct val="130000"/>
                  </a:lnSpc>
                  <a:buNone/>
                </a:pPr>
                <a:r>
                  <a:rPr lang="zh-CN" altLang="zh-CN" kern="100" dirty="0">
                    <a:effectLst/>
                    <a:latin typeface="+mn-ea"/>
                  </a:rPr>
                  <a:t>则称</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kern="100" dirty="0">
                    <a:effectLst/>
                    <a:latin typeface="+mn-ea"/>
                  </a:rPr>
                  <a:t>为</a:t>
                </a:r>
                <a:r>
                  <a:rPr lang="zh-CN" altLang="zh-CN" kern="100" dirty="0">
                    <a:solidFill>
                      <a:srgbClr val="FF0000"/>
                    </a:solidFill>
                    <a:effectLst/>
                    <a:latin typeface="+mn-ea"/>
                  </a:rPr>
                  <a:t>模格</a:t>
                </a:r>
                <a:r>
                  <a:rPr lang="zh-CN" altLang="zh-CN" kern="100" dirty="0">
                    <a:effectLst/>
                    <a:latin typeface="+mn-ea"/>
                  </a:rPr>
                  <a:t>，也称为</a:t>
                </a:r>
                <a:r>
                  <a:rPr lang="zh-CN" altLang="zh-CN" kern="100" dirty="0">
                    <a:solidFill>
                      <a:srgbClr val="FF0000"/>
                    </a:solidFill>
                    <a:effectLst/>
                    <a:latin typeface="+mn-ea"/>
                  </a:rPr>
                  <a:t>戴德金格</a:t>
                </a:r>
                <a:r>
                  <a:rPr lang="zh-CN" altLang="zh-CN" kern="100" dirty="0">
                    <a:effectLst/>
                    <a:latin typeface="+mn-ea"/>
                  </a:rPr>
                  <a:t>。</a:t>
                </a:r>
              </a:p>
            </p:txBody>
          </p:sp>
        </mc:Choice>
        <mc:Fallback xmlns="">
          <p:sp>
            <p:nvSpPr>
              <p:cNvPr id="3" name="内容占位符 2">
                <a:extLst>
                  <a:ext uri="{FF2B5EF4-FFF2-40B4-BE49-F238E27FC236}">
                    <a16:creationId xmlns:a16="http://schemas.microsoft.com/office/drawing/2014/main" id="{F28B7566-9BE8-4A2E-919D-A359A485BE33}"/>
                  </a:ext>
                </a:extLst>
              </p:cNvPr>
              <p:cNvSpPr>
                <a:spLocks noGrp="1" noRot="1" noChangeAspect="1" noMove="1" noResize="1" noEditPoints="1" noAdjustHandles="1" noChangeArrowheads="1" noChangeShapeType="1" noTextEdit="1"/>
              </p:cNvSpPr>
              <p:nvPr>
                <p:ph idx="1"/>
              </p:nvPr>
            </p:nvSpPr>
            <p:spPr>
              <a:xfrm>
                <a:off x="279400" y="909340"/>
                <a:ext cx="11658600" cy="2291854"/>
              </a:xfrm>
              <a:blipFill>
                <a:blip r:embed="rId5"/>
                <a:stretch>
                  <a:fillRect l="-575"/>
                </a:stretch>
              </a:blipFill>
            </p:spPr>
            <p:txBody>
              <a:bodyPr/>
              <a:lstStyle/>
              <a:p>
                <a:r>
                  <a:rPr lang="zh-CN" altLang="en-US">
                    <a:noFill/>
                  </a:rPr>
                  <a:t> </a:t>
                </a:r>
              </a:p>
            </p:txBody>
          </p:sp>
        </mc:Fallback>
      </mc:AlternateContent>
      <p:grpSp>
        <p:nvGrpSpPr>
          <p:cNvPr id="40" name="Group 39">
            <a:extLst>
              <a:ext uri="{FF2B5EF4-FFF2-40B4-BE49-F238E27FC236}">
                <a16:creationId xmlns:a16="http://schemas.microsoft.com/office/drawing/2014/main" id="{3C9CAED7-6A62-4A41-A387-32A9CAD9EB04}"/>
              </a:ext>
            </a:extLst>
          </p:cNvPr>
          <p:cNvGrpSpPr/>
          <p:nvPr/>
        </p:nvGrpSpPr>
        <p:grpSpPr>
          <a:xfrm>
            <a:off x="1127108" y="3170886"/>
            <a:ext cx="4126906" cy="3602897"/>
            <a:chOff x="234394" y="1815322"/>
            <a:chExt cx="4126906" cy="3602897"/>
          </a:xfrm>
        </p:grpSpPr>
        <p:grpSp>
          <p:nvGrpSpPr>
            <p:cNvPr id="41" name="Group 40">
              <a:extLst>
                <a:ext uri="{FF2B5EF4-FFF2-40B4-BE49-F238E27FC236}">
                  <a16:creationId xmlns:a16="http://schemas.microsoft.com/office/drawing/2014/main" id="{BB8D2CD6-C1E1-4580-A2A9-D7A57B9C7481}"/>
                </a:ext>
              </a:extLst>
            </p:cNvPr>
            <p:cNvGrpSpPr/>
            <p:nvPr/>
          </p:nvGrpSpPr>
          <p:grpSpPr>
            <a:xfrm>
              <a:off x="234394" y="1815322"/>
              <a:ext cx="4126906" cy="3081653"/>
              <a:chOff x="234394" y="1815322"/>
              <a:chExt cx="4126906" cy="3081653"/>
            </a:xfrm>
          </p:grpSpPr>
          <p:cxnSp>
            <p:nvCxnSpPr>
              <p:cNvPr id="43" name="Line 814">
                <a:extLst>
                  <a:ext uri="{FF2B5EF4-FFF2-40B4-BE49-F238E27FC236}">
                    <a16:creationId xmlns:a16="http://schemas.microsoft.com/office/drawing/2014/main" id="{FEB5063E-C1B3-46A9-AAB4-A1E222E42424}"/>
                  </a:ext>
                </a:extLst>
              </p:cNvPr>
              <p:cNvCxnSpPr>
                <a:cxnSpLocks noChangeShapeType="1"/>
                <a:stCxn id="57" idx="4"/>
                <a:endCxn id="47" idx="0"/>
              </p:cNvCxnSpPr>
              <p:nvPr/>
            </p:nvCxnSpPr>
            <p:spPr bwMode="auto">
              <a:xfrm>
                <a:off x="2091778" y="2879916"/>
                <a:ext cx="0" cy="776267"/>
              </a:xfrm>
              <a:prstGeom prst="line">
                <a:avLst/>
              </a:prstGeom>
              <a:noFill/>
              <a:ln w="38100">
                <a:solidFill>
                  <a:srgbClr val="0000FF"/>
                </a:solidFill>
                <a:round/>
                <a:headEnd/>
                <a:tailEnd/>
              </a:ln>
            </p:spPr>
          </p:cxnSp>
          <p:sp>
            <p:nvSpPr>
              <p:cNvPr id="44" name="Text Box 815">
                <a:extLst>
                  <a:ext uri="{FF2B5EF4-FFF2-40B4-BE49-F238E27FC236}">
                    <a16:creationId xmlns:a16="http://schemas.microsoft.com/office/drawing/2014/main" id="{1A908330-9200-446A-8E21-B67919E4D77C}"/>
                  </a:ext>
                </a:extLst>
              </p:cNvPr>
              <p:cNvSpPr txBox="1">
                <a:spLocks noChangeArrowheads="1"/>
              </p:cNvSpPr>
              <p:nvPr/>
            </p:nvSpPr>
            <p:spPr bwMode="auto">
              <a:xfrm>
                <a:off x="975619" y="4438563"/>
                <a:ext cx="310705" cy="356616"/>
              </a:xfrm>
              <a:prstGeom prst="rect">
                <a:avLst/>
              </a:prstGeom>
              <a:no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45" name="Oval 817">
                <a:extLst>
                  <a:ext uri="{FF2B5EF4-FFF2-40B4-BE49-F238E27FC236}">
                    <a16:creationId xmlns:a16="http://schemas.microsoft.com/office/drawing/2014/main" id="{DF63BEC8-9C16-4C21-8D83-67FD665DA713}"/>
                  </a:ext>
                </a:extLst>
              </p:cNvPr>
              <p:cNvSpPr>
                <a:spLocks noChangeArrowheads="1"/>
              </p:cNvSpPr>
              <p:nvPr/>
            </p:nvSpPr>
            <p:spPr bwMode="auto">
              <a:xfrm>
                <a:off x="2939427" y="2051701"/>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46" name="Oval 818">
                <a:extLst>
                  <a:ext uri="{FF2B5EF4-FFF2-40B4-BE49-F238E27FC236}">
                    <a16:creationId xmlns:a16="http://schemas.microsoft.com/office/drawing/2014/main" id="{FDBB5250-1B2D-4F0C-AEC5-CE573BD3E149}"/>
                  </a:ext>
                </a:extLst>
              </p:cNvPr>
              <p:cNvSpPr>
                <a:spLocks noChangeArrowheads="1"/>
              </p:cNvSpPr>
              <p:nvPr/>
            </p:nvSpPr>
            <p:spPr bwMode="auto">
              <a:xfrm>
                <a:off x="3040066" y="4491387"/>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47" name="Oval 819">
                <a:extLst>
                  <a:ext uri="{FF2B5EF4-FFF2-40B4-BE49-F238E27FC236}">
                    <a16:creationId xmlns:a16="http://schemas.microsoft.com/office/drawing/2014/main" id="{9C1314C7-7E56-479A-AEEA-652C7AEB6CB5}"/>
                  </a:ext>
                </a:extLst>
              </p:cNvPr>
              <p:cNvSpPr>
                <a:spLocks noChangeArrowheads="1"/>
              </p:cNvSpPr>
              <p:nvPr/>
            </p:nvSpPr>
            <p:spPr bwMode="auto">
              <a:xfrm>
                <a:off x="2037778" y="3656183"/>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48" name="Oval 820">
                <a:extLst>
                  <a:ext uri="{FF2B5EF4-FFF2-40B4-BE49-F238E27FC236}">
                    <a16:creationId xmlns:a16="http://schemas.microsoft.com/office/drawing/2014/main" id="{72A6C8A5-F157-404A-915B-1B816520B133}"/>
                  </a:ext>
                </a:extLst>
              </p:cNvPr>
              <p:cNvSpPr>
                <a:spLocks noChangeArrowheads="1"/>
              </p:cNvSpPr>
              <p:nvPr/>
            </p:nvSpPr>
            <p:spPr bwMode="auto">
              <a:xfrm>
                <a:off x="3965575" y="3127898"/>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49" name="Line 821">
                <a:extLst>
                  <a:ext uri="{FF2B5EF4-FFF2-40B4-BE49-F238E27FC236}">
                    <a16:creationId xmlns:a16="http://schemas.microsoft.com/office/drawing/2014/main" id="{12EC2F88-28B4-4242-B78A-40449E51B102}"/>
                  </a:ext>
                </a:extLst>
              </p:cNvPr>
              <p:cNvCxnSpPr>
                <a:cxnSpLocks noChangeShapeType="1"/>
                <a:stCxn id="47" idx="5"/>
                <a:endCxn id="46" idx="1"/>
              </p:cNvCxnSpPr>
              <p:nvPr/>
            </p:nvCxnSpPr>
            <p:spPr bwMode="auto">
              <a:xfrm>
                <a:off x="2129962" y="3748472"/>
                <a:ext cx="925920" cy="758749"/>
              </a:xfrm>
              <a:prstGeom prst="line">
                <a:avLst/>
              </a:prstGeom>
              <a:noFill/>
              <a:ln w="19050">
                <a:solidFill>
                  <a:srgbClr val="000000"/>
                </a:solidFill>
                <a:round/>
                <a:headEnd/>
                <a:tailEnd/>
              </a:ln>
            </p:spPr>
          </p:cxnSp>
          <p:cxnSp>
            <p:nvCxnSpPr>
              <p:cNvPr id="50" name="Line 822">
                <a:extLst>
                  <a:ext uri="{FF2B5EF4-FFF2-40B4-BE49-F238E27FC236}">
                    <a16:creationId xmlns:a16="http://schemas.microsoft.com/office/drawing/2014/main" id="{CF818B36-9BE7-418F-8CB0-F9DFCE2D1097}"/>
                  </a:ext>
                </a:extLst>
              </p:cNvPr>
              <p:cNvCxnSpPr>
                <a:cxnSpLocks noChangeShapeType="1"/>
                <a:stCxn id="45" idx="5"/>
                <a:endCxn id="48" idx="0"/>
              </p:cNvCxnSpPr>
              <p:nvPr/>
            </p:nvCxnSpPr>
            <p:spPr bwMode="auto">
              <a:xfrm>
                <a:off x="3031611" y="2143990"/>
                <a:ext cx="987964" cy="983908"/>
              </a:xfrm>
              <a:prstGeom prst="line">
                <a:avLst/>
              </a:prstGeom>
              <a:noFill/>
              <a:ln w="19050">
                <a:solidFill>
                  <a:srgbClr val="000000"/>
                </a:solidFill>
                <a:round/>
                <a:headEnd/>
                <a:tailEnd/>
              </a:ln>
            </p:spPr>
          </p:cxnSp>
          <p:cxnSp>
            <p:nvCxnSpPr>
              <p:cNvPr id="51" name="Line 823">
                <a:extLst>
                  <a:ext uri="{FF2B5EF4-FFF2-40B4-BE49-F238E27FC236}">
                    <a16:creationId xmlns:a16="http://schemas.microsoft.com/office/drawing/2014/main" id="{C6DB6258-EB4D-45AC-BC21-A86A4714283D}"/>
                  </a:ext>
                </a:extLst>
              </p:cNvPr>
              <p:cNvCxnSpPr>
                <a:cxnSpLocks noChangeShapeType="1"/>
                <a:stCxn id="45" idx="3"/>
                <a:endCxn id="57" idx="7"/>
              </p:cNvCxnSpPr>
              <p:nvPr/>
            </p:nvCxnSpPr>
            <p:spPr bwMode="auto">
              <a:xfrm flipH="1">
                <a:off x="2129962" y="2143990"/>
                <a:ext cx="825281" cy="643637"/>
              </a:xfrm>
              <a:prstGeom prst="line">
                <a:avLst/>
              </a:prstGeom>
              <a:noFill/>
              <a:ln w="19050">
                <a:solidFill>
                  <a:srgbClr val="000000"/>
                </a:solidFill>
                <a:round/>
                <a:headEnd/>
                <a:tailEnd/>
              </a:ln>
            </p:spPr>
          </p:cxnSp>
          <p:cxnSp>
            <p:nvCxnSpPr>
              <p:cNvPr id="52" name="Line 824">
                <a:extLst>
                  <a:ext uri="{FF2B5EF4-FFF2-40B4-BE49-F238E27FC236}">
                    <a16:creationId xmlns:a16="http://schemas.microsoft.com/office/drawing/2014/main" id="{B1E8CF0E-6A66-41BA-8A7A-DA305773CAF4}"/>
                  </a:ext>
                </a:extLst>
              </p:cNvPr>
              <p:cNvCxnSpPr>
                <a:cxnSpLocks noChangeShapeType="1"/>
                <a:stCxn id="48" idx="4"/>
                <a:endCxn id="46" idx="7"/>
              </p:cNvCxnSpPr>
              <p:nvPr/>
            </p:nvCxnSpPr>
            <p:spPr bwMode="auto">
              <a:xfrm flipH="1">
                <a:off x="3132250" y="3236021"/>
                <a:ext cx="887325" cy="1271200"/>
              </a:xfrm>
              <a:prstGeom prst="line">
                <a:avLst/>
              </a:prstGeom>
              <a:noFill/>
              <a:ln w="19050">
                <a:solidFill>
                  <a:srgbClr val="000000"/>
                </a:solidFill>
                <a:round/>
                <a:headEnd/>
                <a:tailEnd/>
              </a:ln>
            </p:spPr>
          </p:cxnSp>
          <p:sp>
            <p:nvSpPr>
              <p:cNvPr id="53" name="Text Box 825">
                <a:extLst>
                  <a:ext uri="{FF2B5EF4-FFF2-40B4-BE49-F238E27FC236}">
                    <a16:creationId xmlns:a16="http://schemas.microsoft.com/office/drawing/2014/main" id="{D5213ABE-3F05-4201-B1F5-EEB4DDD62EA7}"/>
                  </a:ext>
                </a:extLst>
              </p:cNvPr>
              <p:cNvSpPr txBox="1">
                <a:spLocks noChangeArrowheads="1"/>
              </p:cNvSpPr>
              <p:nvPr/>
            </p:nvSpPr>
            <p:spPr bwMode="auto">
              <a:xfrm>
                <a:off x="833416" y="1815322"/>
                <a:ext cx="194821" cy="360409"/>
              </a:xfrm>
              <a:prstGeom prst="rect">
                <a:avLst/>
              </a:prstGeom>
              <a:no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4" name="Text Box 826">
                <a:extLst>
                  <a:ext uri="{FF2B5EF4-FFF2-40B4-BE49-F238E27FC236}">
                    <a16:creationId xmlns:a16="http://schemas.microsoft.com/office/drawing/2014/main" id="{8A411C78-F710-448B-92DC-6DECB6C45D26}"/>
                  </a:ext>
                </a:extLst>
              </p:cNvPr>
              <p:cNvSpPr txBox="1">
                <a:spLocks noChangeArrowheads="1"/>
              </p:cNvSpPr>
              <p:nvPr/>
            </p:nvSpPr>
            <p:spPr bwMode="auto">
              <a:xfrm>
                <a:off x="4095943" y="2966805"/>
                <a:ext cx="265357" cy="430307"/>
              </a:xfrm>
              <a:prstGeom prst="rect">
                <a:avLst/>
              </a:prstGeom>
              <a:no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5" name="Text Box 827">
                    <a:extLst>
                      <a:ext uri="{FF2B5EF4-FFF2-40B4-BE49-F238E27FC236}">
                        <a16:creationId xmlns:a16="http://schemas.microsoft.com/office/drawing/2014/main" id="{02E0D950-E6DE-4F4C-B33A-CC346899E8EB}"/>
                      </a:ext>
                    </a:extLst>
                  </p:cNvPr>
                  <p:cNvSpPr txBox="1">
                    <a:spLocks noChangeArrowheads="1"/>
                  </p:cNvSpPr>
                  <p:nvPr/>
                </p:nvSpPr>
                <p:spPr bwMode="auto">
                  <a:xfrm>
                    <a:off x="3222563" y="4381020"/>
                    <a:ext cx="873380" cy="515955"/>
                  </a:xfrm>
                  <a:prstGeom prst="rect">
                    <a:avLst/>
                  </a:prstGeom>
                  <a:noFill/>
                  <a:ln w="9525">
                    <a:noFill/>
                    <a:miter lim="800000"/>
                    <a:headEnd/>
                    <a:tailEnd/>
                  </a:ln>
                </p:spPr>
                <p:txBody>
                  <a:bodyPr rot="0" vert="horz" wrap="square" lIns="0" tIns="0" rIns="0" bIns="0" anchor="t" anchorCtr="0" upright="1">
                    <a:noAutofit/>
                  </a:bodyPr>
                  <a:lstStyle/>
                  <a:p>
                    <a:pPr algn="ctr"/>
                    <a14:m>
                      <m:oMath xmlns:m="http://schemas.openxmlformats.org/officeDocument/2006/math">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 </m:t>
                        </m:r>
                      </m:oMath>
                    </a14:m>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55" name="Text Box 827">
                    <a:extLst>
                      <a:ext uri="{FF2B5EF4-FFF2-40B4-BE49-F238E27FC236}">
                        <a16:creationId xmlns:a16="http://schemas.microsoft.com/office/drawing/2014/main" id="{02E0D950-E6DE-4F4C-B33A-CC346899E8EB}"/>
                      </a:ext>
                    </a:extLst>
                  </p:cNvPr>
                  <p:cNvSpPr txBox="1">
                    <a:spLocks noRot="1" noChangeAspect="1" noMove="1" noResize="1" noEditPoints="1" noAdjustHandles="1" noChangeArrowheads="1" noChangeShapeType="1" noTextEdit="1"/>
                  </p:cNvSpPr>
                  <p:nvPr/>
                </p:nvSpPr>
                <p:spPr bwMode="auto">
                  <a:xfrm>
                    <a:off x="3222563" y="4381020"/>
                    <a:ext cx="873380" cy="515955"/>
                  </a:xfrm>
                  <a:prstGeom prst="rect">
                    <a:avLst/>
                  </a:prstGeom>
                  <a:blipFill>
                    <a:blip r:embed="rId6"/>
                    <a:stretch>
                      <a:fillRect l="-8392"/>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Text Box 828">
                    <a:extLst>
                      <a:ext uri="{FF2B5EF4-FFF2-40B4-BE49-F238E27FC236}">
                        <a16:creationId xmlns:a16="http://schemas.microsoft.com/office/drawing/2014/main" id="{D63325F7-D2A3-463C-A85A-58940EB24F2A}"/>
                      </a:ext>
                    </a:extLst>
                  </p:cNvPr>
                  <p:cNvSpPr txBox="1">
                    <a:spLocks noChangeArrowheads="1"/>
                  </p:cNvSpPr>
                  <p:nvPr/>
                </p:nvSpPr>
                <p:spPr bwMode="auto">
                  <a:xfrm>
                    <a:off x="3123795" y="1815322"/>
                    <a:ext cx="776821" cy="388864"/>
                  </a:xfrm>
                  <a:prstGeom prst="rect">
                    <a:avLst/>
                  </a:prstGeom>
                  <a:noFill/>
                  <a:ln w="9525">
                    <a:noFill/>
                    <a:miter lim="800000"/>
                    <a:headEnd/>
                    <a:tailEnd/>
                  </a:ln>
                </p:spPr>
                <p:txBody>
                  <a:bodyPr rot="0" vert="horz" wrap="square" lIns="0" tIns="0" rIns="0" bIns="0" anchor="t" anchorCtr="0" upright="1">
                    <a:noAutofit/>
                  </a:bodyPr>
                  <a:lstStyle/>
                  <a:p>
                    <a:pPr algn="ct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𝒄</m:t>
                          </m:r>
                        </m:oMath>
                      </m:oMathPara>
                    </a14:m>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56" name="Text Box 828">
                    <a:extLst>
                      <a:ext uri="{FF2B5EF4-FFF2-40B4-BE49-F238E27FC236}">
                        <a16:creationId xmlns:a16="http://schemas.microsoft.com/office/drawing/2014/main" id="{D63325F7-D2A3-463C-A85A-58940EB24F2A}"/>
                      </a:ext>
                    </a:extLst>
                  </p:cNvPr>
                  <p:cNvSpPr txBox="1">
                    <a:spLocks noRot="1" noChangeAspect="1" noMove="1" noResize="1" noEditPoints="1" noAdjustHandles="1" noChangeArrowheads="1" noChangeShapeType="1" noTextEdit="1"/>
                  </p:cNvSpPr>
                  <p:nvPr/>
                </p:nvSpPr>
                <p:spPr bwMode="auto">
                  <a:xfrm>
                    <a:off x="3123795" y="1815322"/>
                    <a:ext cx="776821" cy="388864"/>
                  </a:xfrm>
                  <a:prstGeom prst="rect">
                    <a:avLst/>
                  </a:prstGeom>
                  <a:blipFill>
                    <a:blip r:embed="rId7"/>
                    <a:stretch>
                      <a:fillRect l="-2362" r="-2362"/>
                    </a:stretch>
                  </a:blipFill>
                  <a:ln w="9525">
                    <a:noFill/>
                    <a:miter lim="800000"/>
                    <a:headEnd/>
                    <a:tailEnd/>
                  </a:ln>
                </p:spPr>
                <p:txBody>
                  <a:bodyPr/>
                  <a:lstStyle/>
                  <a:p>
                    <a:r>
                      <a:rPr lang="zh-CN" altLang="en-US">
                        <a:noFill/>
                      </a:rPr>
                      <a:t> </a:t>
                    </a:r>
                  </a:p>
                </p:txBody>
              </p:sp>
            </mc:Fallback>
          </mc:AlternateContent>
          <p:sp>
            <p:nvSpPr>
              <p:cNvPr id="57" name="Oval 829">
                <a:extLst>
                  <a:ext uri="{FF2B5EF4-FFF2-40B4-BE49-F238E27FC236}">
                    <a16:creationId xmlns:a16="http://schemas.microsoft.com/office/drawing/2014/main" id="{470D149D-B1D3-4ADA-A5B5-916D4E33F013}"/>
                  </a:ext>
                </a:extLst>
              </p:cNvPr>
              <p:cNvSpPr>
                <a:spLocks noChangeArrowheads="1"/>
              </p:cNvSpPr>
              <p:nvPr/>
            </p:nvSpPr>
            <p:spPr bwMode="auto">
              <a:xfrm>
                <a:off x="2037778" y="2771793"/>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58" name="Oval 817">
                <a:extLst>
                  <a:ext uri="{FF2B5EF4-FFF2-40B4-BE49-F238E27FC236}">
                    <a16:creationId xmlns:a16="http://schemas.microsoft.com/office/drawing/2014/main" id="{3D8567EE-05FE-41CC-B784-C82FE18B2C49}"/>
                  </a:ext>
                </a:extLst>
              </p:cNvPr>
              <p:cNvSpPr>
                <a:spLocks noChangeArrowheads="1"/>
              </p:cNvSpPr>
              <p:nvPr/>
            </p:nvSpPr>
            <p:spPr bwMode="auto">
              <a:xfrm>
                <a:off x="1066421" y="2067535"/>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59" name="Line 823">
                <a:extLst>
                  <a:ext uri="{FF2B5EF4-FFF2-40B4-BE49-F238E27FC236}">
                    <a16:creationId xmlns:a16="http://schemas.microsoft.com/office/drawing/2014/main" id="{A782F440-86F1-437F-9700-C05E7B0A41DE}"/>
                  </a:ext>
                </a:extLst>
              </p:cNvPr>
              <p:cNvCxnSpPr>
                <a:cxnSpLocks noChangeShapeType="1"/>
                <a:stCxn id="58" idx="5"/>
                <a:endCxn id="57" idx="1"/>
              </p:cNvCxnSpPr>
              <p:nvPr/>
            </p:nvCxnSpPr>
            <p:spPr bwMode="auto">
              <a:xfrm>
                <a:off x="1158605" y="2159824"/>
                <a:ext cx="894989" cy="627803"/>
              </a:xfrm>
              <a:prstGeom prst="line">
                <a:avLst/>
              </a:prstGeom>
              <a:noFill/>
              <a:ln w="19050">
                <a:solidFill>
                  <a:srgbClr val="000000"/>
                </a:solidFill>
                <a:round/>
                <a:headEnd/>
                <a:tailEnd/>
              </a:ln>
            </p:spPr>
          </p:cxnSp>
          <p:sp>
            <p:nvSpPr>
              <p:cNvPr id="60" name="Oval 817">
                <a:extLst>
                  <a:ext uri="{FF2B5EF4-FFF2-40B4-BE49-F238E27FC236}">
                    <a16:creationId xmlns:a16="http://schemas.microsoft.com/office/drawing/2014/main" id="{194790DE-07C3-4715-8D50-0C75F1A1A1A8}"/>
                  </a:ext>
                </a:extLst>
              </p:cNvPr>
              <p:cNvSpPr>
                <a:spLocks noChangeArrowheads="1"/>
              </p:cNvSpPr>
              <p:nvPr/>
            </p:nvSpPr>
            <p:spPr bwMode="auto">
              <a:xfrm>
                <a:off x="1306821" y="4491387"/>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61" name="Line 823">
                <a:extLst>
                  <a:ext uri="{FF2B5EF4-FFF2-40B4-BE49-F238E27FC236}">
                    <a16:creationId xmlns:a16="http://schemas.microsoft.com/office/drawing/2014/main" id="{83EE50C9-7E54-49EA-8292-8DB02048C504}"/>
                  </a:ext>
                </a:extLst>
              </p:cNvPr>
              <p:cNvCxnSpPr>
                <a:cxnSpLocks noChangeShapeType="1"/>
                <a:stCxn id="60" idx="7"/>
                <a:endCxn id="47" idx="3"/>
              </p:cNvCxnSpPr>
              <p:nvPr/>
            </p:nvCxnSpPr>
            <p:spPr bwMode="auto">
              <a:xfrm flipV="1">
                <a:off x="1399005" y="3748472"/>
                <a:ext cx="654589" cy="758749"/>
              </a:xfrm>
              <a:prstGeom prst="line">
                <a:avLst/>
              </a:prstGeom>
              <a:noFill/>
              <a:ln w="19050">
                <a:solidFill>
                  <a:srgbClr val="000000"/>
                </a:solidFill>
                <a:round/>
                <a:headEnd/>
                <a:tailEnd/>
              </a:ln>
            </p:spPr>
          </p:cxn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43FB8319-5B5A-477F-B57A-0C5C3E9C41D8}"/>
                      </a:ext>
                    </a:extLst>
                  </p:cNvPr>
                  <p:cNvSpPr/>
                  <p:nvPr/>
                </p:nvSpPr>
                <p:spPr>
                  <a:xfrm>
                    <a:off x="329661" y="3429794"/>
                    <a:ext cx="183050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 (</m:t>
                          </m:r>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 </m:t>
                          </m:r>
                        </m:oMath>
                      </m:oMathPara>
                    </a14:m>
                    <a:endParaRPr lang="zh-CN" altLang="en-US" dirty="0"/>
                  </a:p>
                </p:txBody>
              </p:sp>
            </mc:Choice>
            <mc:Fallback xmlns="">
              <p:sp>
                <p:nvSpPr>
                  <p:cNvPr id="62" name="Rectangle 61">
                    <a:extLst>
                      <a:ext uri="{FF2B5EF4-FFF2-40B4-BE49-F238E27FC236}">
                        <a16:creationId xmlns:a16="http://schemas.microsoft.com/office/drawing/2014/main" id="{43FB8319-5B5A-477F-B57A-0C5C3E9C41D8}"/>
                      </a:ext>
                    </a:extLst>
                  </p:cNvPr>
                  <p:cNvSpPr>
                    <a:spLocks noRot="1" noChangeAspect="1" noMove="1" noResize="1" noEditPoints="1" noAdjustHandles="1" noChangeArrowheads="1" noChangeShapeType="1" noTextEdit="1"/>
                  </p:cNvSpPr>
                  <p:nvPr/>
                </p:nvSpPr>
                <p:spPr>
                  <a:xfrm>
                    <a:off x="329661" y="3429794"/>
                    <a:ext cx="1830501" cy="461665"/>
                  </a:xfrm>
                  <a:prstGeom prst="rect">
                    <a:avLst/>
                  </a:prstGeom>
                  <a:blipFill>
                    <a:blip r:embed="rId8"/>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89F9F7A3-EED9-4E32-AE59-5D2173A3CA6D}"/>
                      </a:ext>
                    </a:extLst>
                  </p:cNvPr>
                  <p:cNvSpPr/>
                  <p:nvPr/>
                </p:nvSpPr>
                <p:spPr>
                  <a:xfrm>
                    <a:off x="234394" y="2564575"/>
                    <a:ext cx="1769587" cy="572464"/>
                  </a:xfrm>
                  <a:prstGeom prst="rect">
                    <a:avLst/>
                  </a:prstGeom>
                </p:spPr>
                <p:txBody>
                  <a:bodyPr wrap="none">
                    <a:spAutoFit/>
                  </a:bodyPr>
                  <a:lstStyle/>
                  <a:p>
                    <a:pPr algn="just">
                      <a:lnSpc>
                        <a:spcPct val="130000"/>
                      </a:lnSpc>
                    </a:pP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 (</m:t>
                          </m:r>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m:t>
                          </m:r>
                        </m:oMath>
                      </m:oMathPara>
                    </a14:m>
                    <a:endParaRPr lang="zh-CN" altLang="zh-CN" kern="100" dirty="0">
                      <a:latin typeface="+mn-ea"/>
                    </a:endParaRPr>
                  </a:p>
                </p:txBody>
              </p:sp>
            </mc:Choice>
            <mc:Fallback xmlns="">
              <p:sp>
                <p:nvSpPr>
                  <p:cNvPr id="63" name="Rectangle 62">
                    <a:extLst>
                      <a:ext uri="{FF2B5EF4-FFF2-40B4-BE49-F238E27FC236}">
                        <a16:creationId xmlns:a16="http://schemas.microsoft.com/office/drawing/2014/main" id="{89F9F7A3-EED9-4E32-AE59-5D2173A3CA6D}"/>
                      </a:ext>
                    </a:extLst>
                  </p:cNvPr>
                  <p:cNvSpPr>
                    <a:spLocks noRot="1" noChangeAspect="1" noMove="1" noResize="1" noEditPoints="1" noAdjustHandles="1" noChangeArrowheads="1" noChangeShapeType="1" noTextEdit="1"/>
                  </p:cNvSpPr>
                  <p:nvPr/>
                </p:nvSpPr>
                <p:spPr>
                  <a:xfrm>
                    <a:off x="234394" y="2564575"/>
                    <a:ext cx="1769587" cy="572464"/>
                  </a:xfrm>
                  <a:prstGeom prst="rect">
                    <a:avLst/>
                  </a:prstGeom>
                  <a:blipFill>
                    <a:blip r:embed="rId9"/>
                    <a:stretch>
                      <a:fillRect/>
                    </a:stretch>
                  </a:blipFill>
                </p:spPr>
                <p:txBody>
                  <a:bodyPr/>
                  <a:lstStyle/>
                  <a:p>
                    <a:r>
                      <a:rPr lang="zh-CN" altLang="en-US">
                        <a:noFill/>
                      </a:rPr>
                      <a:t> </a:t>
                    </a:r>
                  </a:p>
                </p:txBody>
              </p:sp>
            </mc:Fallback>
          </mc:AlternateContent>
        </p:grpSp>
        <p:sp>
          <p:nvSpPr>
            <p:cNvPr id="42" name="Text Box 827">
              <a:extLst>
                <a:ext uri="{FF2B5EF4-FFF2-40B4-BE49-F238E27FC236}">
                  <a16:creationId xmlns:a16="http://schemas.microsoft.com/office/drawing/2014/main" id="{BA9FA8C0-0C5E-4CA6-A23F-3EA99DC14CB9}"/>
                </a:ext>
              </a:extLst>
            </p:cNvPr>
            <p:cNvSpPr txBox="1">
              <a:spLocks noChangeArrowheads="1"/>
            </p:cNvSpPr>
            <p:nvPr/>
          </p:nvSpPr>
          <p:spPr bwMode="auto">
            <a:xfrm>
              <a:off x="1564655" y="4902264"/>
              <a:ext cx="1390588" cy="515955"/>
            </a:xfrm>
            <a:prstGeom prst="rect">
              <a:avLst/>
            </a:prstGeom>
            <a:noFill/>
            <a:ln w="9525">
              <a:noFill/>
              <a:miter lim="800000"/>
              <a:headEnd/>
              <a:tailEnd/>
            </a:ln>
          </p:spPr>
          <p:txBody>
            <a:bodyPr rot="0" vert="horz" wrap="square" lIns="0" tIns="0" rIns="0" bIns="0" anchor="t" anchorCtr="0" upright="1">
              <a:noAutofit/>
            </a:bodyPr>
            <a:lstStyle/>
            <a:p>
              <a:pPr algn="ctr"/>
              <a:r>
                <a:rPr lang="zh-CN" altLang="en-US" sz="2400" b="1" kern="100" dirty="0">
                  <a:solidFill>
                    <a:schemeClr val="tx1"/>
                  </a:solidFill>
                  <a:effectLst/>
                  <a:latin typeface="+mn-ea"/>
                  <a:cs typeface="宋体" panose="02010600030101010101" pitchFamily="2" charset="-122"/>
                </a:rPr>
                <a:t>模不等式</a:t>
              </a:r>
              <a:r>
                <a:rPr lang="en-US" sz="2400" b="1" kern="100" dirty="0">
                  <a:solidFill>
                    <a:schemeClr val="tx1"/>
                  </a:solidFill>
                  <a:effectLst/>
                  <a:latin typeface="+mn-ea"/>
                  <a:cs typeface="宋体" panose="02010600030101010101" pitchFamily="2" charset="-122"/>
                </a:rPr>
                <a:t> </a:t>
              </a:r>
              <a:endParaRPr lang="zh-CN" sz="2400" b="1" kern="100" dirty="0">
                <a:solidFill>
                  <a:schemeClr val="tx1"/>
                </a:solidFill>
                <a:effectLst/>
                <a:latin typeface="+mn-ea"/>
                <a:cs typeface="宋体" panose="02010600030101010101" pitchFamily="2" charset="-122"/>
              </a:endParaRPr>
            </a:p>
          </p:txBody>
        </p:sp>
      </p:grpSp>
      <p:grpSp>
        <p:nvGrpSpPr>
          <p:cNvPr id="64" name="Group 63">
            <a:extLst>
              <a:ext uri="{FF2B5EF4-FFF2-40B4-BE49-F238E27FC236}">
                <a16:creationId xmlns:a16="http://schemas.microsoft.com/office/drawing/2014/main" id="{0D2A837F-4A4F-43CE-98AC-D1F3554271DB}"/>
              </a:ext>
            </a:extLst>
          </p:cNvPr>
          <p:cNvGrpSpPr/>
          <p:nvPr/>
        </p:nvGrpSpPr>
        <p:grpSpPr>
          <a:xfrm>
            <a:off x="6641948" y="3365318"/>
            <a:ext cx="4202832" cy="3398396"/>
            <a:chOff x="5749234" y="2009754"/>
            <a:chExt cx="4202832" cy="3398396"/>
          </a:xfrm>
        </p:grpSpPr>
        <p:grpSp>
          <p:nvGrpSpPr>
            <p:cNvPr id="65" name="Group 64">
              <a:extLst>
                <a:ext uri="{FF2B5EF4-FFF2-40B4-BE49-F238E27FC236}">
                  <a16:creationId xmlns:a16="http://schemas.microsoft.com/office/drawing/2014/main" id="{82F088B6-B678-4A5A-B0F5-A59F60B8D12D}"/>
                </a:ext>
              </a:extLst>
            </p:cNvPr>
            <p:cNvGrpSpPr/>
            <p:nvPr/>
          </p:nvGrpSpPr>
          <p:grpSpPr>
            <a:xfrm>
              <a:off x="5749234" y="2009754"/>
              <a:ext cx="4202832" cy="3081653"/>
              <a:chOff x="5749234" y="2009754"/>
              <a:chExt cx="4202832" cy="3081653"/>
            </a:xfrm>
          </p:grpSpPr>
          <p:sp>
            <p:nvSpPr>
              <p:cNvPr id="67" name="Text Box 815">
                <a:extLst>
                  <a:ext uri="{FF2B5EF4-FFF2-40B4-BE49-F238E27FC236}">
                    <a16:creationId xmlns:a16="http://schemas.microsoft.com/office/drawing/2014/main" id="{7EF21D2B-BA1C-4D13-94EE-18C7E9A6BF9C}"/>
                  </a:ext>
                </a:extLst>
              </p:cNvPr>
              <p:cNvSpPr txBox="1">
                <a:spLocks noChangeArrowheads="1"/>
              </p:cNvSpPr>
              <p:nvPr/>
            </p:nvSpPr>
            <p:spPr bwMode="auto">
              <a:xfrm>
                <a:off x="6566385" y="4632995"/>
                <a:ext cx="310705" cy="356616"/>
              </a:xfrm>
              <a:prstGeom prst="rect">
                <a:avLst/>
              </a:prstGeom>
              <a:no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a</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68" name="Oval 817">
                <a:extLst>
                  <a:ext uri="{FF2B5EF4-FFF2-40B4-BE49-F238E27FC236}">
                    <a16:creationId xmlns:a16="http://schemas.microsoft.com/office/drawing/2014/main" id="{743C2FE5-E3EC-4B57-8894-DB296FD32D89}"/>
                  </a:ext>
                </a:extLst>
              </p:cNvPr>
              <p:cNvSpPr>
                <a:spLocks noChangeArrowheads="1"/>
              </p:cNvSpPr>
              <p:nvPr/>
            </p:nvSpPr>
            <p:spPr bwMode="auto">
              <a:xfrm>
                <a:off x="8605715" y="2246133"/>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69" name="Oval 818">
                <a:extLst>
                  <a:ext uri="{FF2B5EF4-FFF2-40B4-BE49-F238E27FC236}">
                    <a16:creationId xmlns:a16="http://schemas.microsoft.com/office/drawing/2014/main" id="{D614A7FD-1D0D-44A1-A990-516EA9C5CBDD}"/>
                  </a:ext>
                </a:extLst>
              </p:cNvPr>
              <p:cNvSpPr>
                <a:spLocks noChangeArrowheads="1"/>
              </p:cNvSpPr>
              <p:nvPr/>
            </p:nvSpPr>
            <p:spPr bwMode="auto">
              <a:xfrm>
                <a:off x="8659715" y="4413888"/>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70" name="Oval 819">
                <a:extLst>
                  <a:ext uri="{FF2B5EF4-FFF2-40B4-BE49-F238E27FC236}">
                    <a16:creationId xmlns:a16="http://schemas.microsoft.com/office/drawing/2014/main" id="{85D7E878-9041-4E55-AB64-A635EC0F1C6F}"/>
                  </a:ext>
                </a:extLst>
              </p:cNvPr>
              <p:cNvSpPr>
                <a:spLocks noChangeArrowheads="1"/>
              </p:cNvSpPr>
              <p:nvPr/>
            </p:nvSpPr>
            <p:spPr bwMode="auto">
              <a:xfrm>
                <a:off x="7644360" y="3416910"/>
                <a:ext cx="108000" cy="108123"/>
              </a:xfrm>
              <a:prstGeom prst="ellipse">
                <a:avLst/>
              </a:prstGeom>
              <a:solidFill>
                <a:srgbClr val="0000FF"/>
              </a:solidFill>
              <a:ln w="19050">
                <a:solidFill>
                  <a:srgbClr val="FF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sp>
            <p:nvSpPr>
              <p:cNvPr id="71" name="Oval 820">
                <a:extLst>
                  <a:ext uri="{FF2B5EF4-FFF2-40B4-BE49-F238E27FC236}">
                    <a16:creationId xmlns:a16="http://schemas.microsoft.com/office/drawing/2014/main" id="{129A778E-A8D2-4266-8B56-6199D797360E}"/>
                  </a:ext>
                </a:extLst>
              </p:cNvPr>
              <p:cNvSpPr>
                <a:spLocks noChangeArrowheads="1"/>
              </p:cNvSpPr>
              <p:nvPr/>
            </p:nvSpPr>
            <p:spPr bwMode="auto">
              <a:xfrm>
                <a:off x="9556341" y="3322330"/>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72" name="Line 821">
                <a:extLst>
                  <a:ext uri="{FF2B5EF4-FFF2-40B4-BE49-F238E27FC236}">
                    <a16:creationId xmlns:a16="http://schemas.microsoft.com/office/drawing/2014/main" id="{855B7EB1-E2DB-435D-963B-FA5514ACE84F}"/>
                  </a:ext>
                </a:extLst>
              </p:cNvPr>
              <p:cNvCxnSpPr>
                <a:cxnSpLocks noChangeShapeType="1"/>
                <a:stCxn id="70" idx="5"/>
                <a:endCxn id="69" idx="1"/>
              </p:cNvCxnSpPr>
              <p:nvPr/>
            </p:nvCxnSpPr>
            <p:spPr bwMode="auto">
              <a:xfrm>
                <a:off x="7736544" y="3509199"/>
                <a:ext cx="938987" cy="920523"/>
              </a:xfrm>
              <a:prstGeom prst="line">
                <a:avLst/>
              </a:prstGeom>
              <a:noFill/>
              <a:ln w="19050">
                <a:solidFill>
                  <a:srgbClr val="000000"/>
                </a:solidFill>
                <a:round/>
                <a:headEnd/>
                <a:tailEnd/>
              </a:ln>
            </p:spPr>
          </p:cxnSp>
          <p:cxnSp>
            <p:nvCxnSpPr>
              <p:cNvPr id="73" name="Line 822">
                <a:extLst>
                  <a:ext uri="{FF2B5EF4-FFF2-40B4-BE49-F238E27FC236}">
                    <a16:creationId xmlns:a16="http://schemas.microsoft.com/office/drawing/2014/main" id="{39389A04-7A25-4263-AB9E-955DA919AE5E}"/>
                  </a:ext>
                </a:extLst>
              </p:cNvPr>
              <p:cNvCxnSpPr>
                <a:cxnSpLocks noChangeShapeType="1"/>
                <a:stCxn id="68" idx="5"/>
                <a:endCxn id="71" idx="0"/>
              </p:cNvCxnSpPr>
              <p:nvPr/>
            </p:nvCxnSpPr>
            <p:spPr bwMode="auto">
              <a:xfrm>
                <a:off x="8697899" y="2338422"/>
                <a:ext cx="912442" cy="983908"/>
              </a:xfrm>
              <a:prstGeom prst="line">
                <a:avLst/>
              </a:prstGeom>
              <a:noFill/>
              <a:ln w="19050">
                <a:solidFill>
                  <a:srgbClr val="000000"/>
                </a:solidFill>
                <a:round/>
                <a:headEnd/>
                <a:tailEnd/>
              </a:ln>
            </p:spPr>
          </p:cxnSp>
          <p:cxnSp>
            <p:nvCxnSpPr>
              <p:cNvPr id="74" name="Line 823">
                <a:extLst>
                  <a:ext uri="{FF2B5EF4-FFF2-40B4-BE49-F238E27FC236}">
                    <a16:creationId xmlns:a16="http://schemas.microsoft.com/office/drawing/2014/main" id="{6DD830C4-7F22-4E6B-AE09-F6AD17EBF9B7}"/>
                  </a:ext>
                </a:extLst>
              </p:cNvPr>
              <p:cNvCxnSpPr>
                <a:cxnSpLocks noChangeShapeType="1"/>
                <a:stCxn id="68" idx="3"/>
                <a:endCxn id="70" idx="7"/>
              </p:cNvCxnSpPr>
              <p:nvPr/>
            </p:nvCxnSpPr>
            <p:spPr bwMode="auto">
              <a:xfrm flipH="1">
                <a:off x="7736544" y="2338422"/>
                <a:ext cx="884987" cy="1094322"/>
              </a:xfrm>
              <a:prstGeom prst="line">
                <a:avLst/>
              </a:prstGeom>
              <a:noFill/>
              <a:ln w="19050">
                <a:solidFill>
                  <a:srgbClr val="000000"/>
                </a:solidFill>
                <a:round/>
                <a:headEnd/>
                <a:tailEnd/>
              </a:ln>
            </p:spPr>
          </p:cxnSp>
          <p:cxnSp>
            <p:nvCxnSpPr>
              <p:cNvPr id="75" name="Line 824">
                <a:extLst>
                  <a:ext uri="{FF2B5EF4-FFF2-40B4-BE49-F238E27FC236}">
                    <a16:creationId xmlns:a16="http://schemas.microsoft.com/office/drawing/2014/main" id="{C4478D38-A52E-4419-99B3-31B9F9C772BD}"/>
                  </a:ext>
                </a:extLst>
              </p:cNvPr>
              <p:cNvCxnSpPr>
                <a:cxnSpLocks noChangeShapeType="1"/>
                <a:stCxn id="71" idx="4"/>
                <a:endCxn id="69" idx="7"/>
              </p:cNvCxnSpPr>
              <p:nvPr/>
            </p:nvCxnSpPr>
            <p:spPr bwMode="auto">
              <a:xfrm flipH="1">
                <a:off x="8751899" y="3430453"/>
                <a:ext cx="858442" cy="999269"/>
              </a:xfrm>
              <a:prstGeom prst="line">
                <a:avLst/>
              </a:prstGeom>
              <a:noFill/>
              <a:ln w="19050">
                <a:solidFill>
                  <a:srgbClr val="000000"/>
                </a:solidFill>
                <a:round/>
                <a:headEnd/>
                <a:tailEnd/>
              </a:ln>
            </p:spPr>
          </p:cxnSp>
          <p:sp>
            <p:nvSpPr>
              <p:cNvPr id="76" name="Text Box 825">
                <a:extLst>
                  <a:ext uri="{FF2B5EF4-FFF2-40B4-BE49-F238E27FC236}">
                    <a16:creationId xmlns:a16="http://schemas.microsoft.com/office/drawing/2014/main" id="{CC9B3B6E-BCAB-42C8-971D-F01A4ABBBD37}"/>
                  </a:ext>
                </a:extLst>
              </p:cNvPr>
              <p:cNvSpPr txBox="1">
                <a:spLocks noChangeArrowheads="1"/>
              </p:cNvSpPr>
              <p:nvPr/>
            </p:nvSpPr>
            <p:spPr bwMode="auto">
              <a:xfrm>
                <a:off x="6424182" y="2009754"/>
                <a:ext cx="194821" cy="360409"/>
              </a:xfrm>
              <a:prstGeom prst="rect">
                <a:avLst/>
              </a:prstGeom>
              <a:no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b</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77" name="Text Box 826">
                <a:extLst>
                  <a:ext uri="{FF2B5EF4-FFF2-40B4-BE49-F238E27FC236}">
                    <a16:creationId xmlns:a16="http://schemas.microsoft.com/office/drawing/2014/main" id="{18CB6647-74CF-460A-83BF-050C3E093268}"/>
                  </a:ext>
                </a:extLst>
              </p:cNvPr>
              <p:cNvSpPr txBox="1">
                <a:spLocks noChangeArrowheads="1"/>
              </p:cNvSpPr>
              <p:nvPr/>
            </p:nvSpPr>
            <p:spPr bwMode="auto">
              <a:xfrm>
                <a:off x="9686709" y="3161237"/>
                <a:ext cx="265357" cy="430307"/>
              </a:xfrm>
              <a:prstGeom prst="rect">
                <a:avLst/>
              </a:prstGeom>
              <a:noFill/>
              <a:ln w="9525">
                <a:noFill/>
                <a:miter lim="800000"/>
                <a:headEnd/>
                <a:tailEnd/>
              </a:ln>
            </p:spPr>
            <p:txBody>
              <a:bodyPr rot="0" vert="horz" wrap="square" lIns="0" tIns="0" rIns="0" bIns="0" anchor="t" anchorCtr="0" upright="1">
                <a:noAutofit/>
              </a:bodyPr>
              <a:lstStyle/>
              <a:p>
                <a:pPr algn="ctr"/>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c</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78" name="Text Box 827">
                    <a:extLst>
                      <a:ext uri="{FF2B5EF4-FFF2-40B4-BE49-F238E27FC236}">
                        <a16:creationId xmlns:a16="http://schemas.microsoft.com/office/drawing/2014/main" id="{8FDD3574-80D9-4DFE-A93E-FD077DD1CF5A}"/>
                      </a:ext>
                    </a:extLst>
                  </p:cNvPr>
                  <p:cNvSpPr txBox="1">
                    <a:spLocks noChangeArrowheads="1"/>
                  </p:cNvSpPr>
                  <p:nvPr/>
                </p:nvSpPr>
                <p:spPr bwMode="auto">
                  <a:xfrm>
                    <a:off x="8813329" y="4575452"/>
                    <a:ext cx="873380" cy="515955"/>
                  </a:xfrm>
                  <a:prstGeom prst="rect">
                    <a:avLst/>
                  </a:prstGeom>
                  <a:noFill/>
                  <a:ln w="9525">
                    <a:noFill/>
                    <a:miter lim="800000"/>
                    <a:headEnd/>
                    <a:tailEnd/>
                  </a:ln>
                </p:spPr>
                <p:txBody>
                  <a:bodyPr rot="0" vert="horz" wrap="square" lIns="0" tIns="0" rIns="0" bIns="0" anchor="t" anchorCtr="0" upright="1">
                    <a:noAutofit/>
                  </a:bodyPr>
                  <a:lstStyle/>
                  <a:p>
                    <a:pPr algn="ctr"/>
                    <a14:m>
                      <m:oMath xmlns:m="http://schemas.openxmlformats.org/officeDocument/2006/math">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 </m:t>
                        </m:r>
                      </m:oMath>
                    </a14:m>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78" name="Text Box 827">
                    <a:extLst>
                      <a:ext uri="{FF2B5EF4-FFF2-40B4-BE49-F238E27FC236}">
                        <a16:creationId xmlns:a16="http://schemas.microsoft.com/office/drawing/2014/main" id="{8FDD3574-80D9-4DFE-A93E-FD077DD1CF5A}"/>
                      </a:ext>
                    </a:extLst>
                  </p:cNvPr>
                  <p:cNvSpPr txBox="1">
                    <a:spLocks noRot="1" noChangeAspect="1" noMove="1" noResize="1" noEditPoints="1" noAdjustHandles="1" noChangeArrowheads="1" noChangeShapeType="1" noTextEdit="1"/>
                  </p:cNvSpPr>
                  <p:nvPr/>
                </p:nvSpPr>
                <p:spPr bwMode="auto">
                  <a:xfrm>
                    <a:off x="8813329" y="4575452"/>
                    <a:ext cx="873380" cy="515955"/>
                  </a:xfrm>
                  <a:prstGeom prst="rect">
                    <a:avLst/>
                  </a:prstGeom>
                  <a:blipFill>
                    <a:blip r:embed="rId10"/>
                    <a:stretch>
                      <a:fillRect l="-8392"/>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Text Box 828">
                    <a:extLst>
                      <a:ext uri="{FF2B5EF4-FFF2-40B4-BE49-F238E27FC236}">
                        <a16:creationId xmlns:a16="http://schemas.microsoft.com/office/drawing/2014/main" id="{A16A8A37-76C2-4C65-A806-EFB4D77AB697}"/>
                      </a:ext>
                    </a:extLst>
                  </p:cNvPr>
                  <p:cNvSpPr txBox="1">
                    <a:spLocks noChangeArrowheads="1"/>
                  </p:cNvSpPr>
                  <p:nvPr/>
                </p:nvSpPr>
                <p:spPr bwMode="auto">
                  <a:xfrm>
                    <a:off x="8714561" y="2009754"/>
                    <a:ext cx="776821" cy="388864"/>
                  </a:xfrm>
                  <a:prstGeom prst="rect">
                    <a:avLst/>
                  </a:prstGeom>
                  <a:noFill/>
                  <a:ln w="9525">
                    <a:noFill/>
                    <a:miter lim="800000"/>
                    <a:headEnd/>
                    <a:tailEnd/>
                  </a:ln>
                </p:spPr>
                <p:txBody>
                  <a:bodyPr rot="0" vert="horz" wrap="square" lIns="0" tIns="0" rIns="0" bIns="0" anchor="t" anchorCtr="0" upright="1">
                    <a:noAutofit/>
                  </a:bodyPr>
                  <a:lstStyle/>
                  <a:p>
                    <a:pPr algn="ct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𝒄</m:t>
                          </m:r>
                        </m:oMath>
                      </m:oMathPara>
                    </a14:m>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 </a:t>
                    </a:r>
                    <a:endParaRPr lang="zh-CN" sz="2400" b="1"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79" name="Text Box 828">
                    <a:extLst>
                      <a:ext uri="{FF2B5EF4-FFF2-40B4-BE49-F238E27FC236}">
                        <a16:creationId xmlns:a16="http://schemas.microsoft.com/office/drawing/2014/main" id="{A16A8A37-76C2-4C65-A806-EFB4D77AB697}"/>
                      </a:ext>
                    </a:extLst>
                  </p:cNvPr>
                  <p:cNvSpPr txBox="1">
                    <a:spLocks noRot="1" noChangeAspect="1" noMove="1" noResize="1" noEditPoints="1" noAdjustHandles="1" noChangeArrowheads="1" noChangeShapeType="1" noTextEdit="1"/>
                  </p:cNvSpPr>
                  <p:nvPr/>
                </p:nvSpPr>
                <p:spPr bwMode="auto">
                  <a:xfrm>
                    <a:off x="8714561" y="2009754"/>
                    <a:ext cx="776821" cy="388864"/>
                  </a:xfrm>
                  <a:prstGeom prst="rect">
                    <a:avLst/>
                  </a:prstGeom>
                  <a:blipFill>
                    <a:blip r:embed="rId11"/>
                    <a:stretch>
                      <a:fillRect l="-2362" r="-2362"/>
                    </a:stretch>
                  </a:blipFill>
                  <a:ln w="9525">
                    <a:noFill/>
                    <a:miter lim="800000"/>
                    <a:headEnd/>
                    <a:tailEnd/>
                  </a:ln>
                </p:spPr>
                <p:txBody>
                  <a:bodyPr/>
                  <a:lstStyle/>
                  <a:p>
                    <a:r>
                      <a:rPr lang="zh-CN" altLang="en-US">
                        <a:noFill/>
                      </a:rPr>
                      <a:t> </a:t>
                    </a:r>
                  </a:p>
                </p:txBody>
              </p:sp>
            </mc:Fallback>
          </mc:AlternateContent>
          <p:sp>
            <p:nvSpPr>
              <p:cNvPr id="80" name="Oval 817">
                <a:extLst>
                  <a:ext uri="{FF2B5EF4-FFF2-40B4-BE49-F238E27FC236}">
                    <a16:creationId xmlns:a16="http://schemas.microsoft.com/office/drawing/2014/main" id="{65D42F33-3DD1-42E0-834E-DFCE94649536}"/>
                  </a:ext>
                </a:extLst>
              </p:cNvPr>
              <p:cNvSpPr>
                <a:spLocks noChangeArrowheads="1"/>
              </p:cNvSpPr>
              <p:nvPr/>
            </p:nvSpPr>
            <p:spPr bwMode="auto">
              <a:xfrm>
                <a:off x="6657187" y="2261967"/>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81" name="Line 823">
                <a:extLst>
                  <a:ext uri="{FF2B5EF4-FFF2-40B4-BE49-F238E27FC236}">
                    <a16:creationId xmlns:a16="http://schemas.microsoft.com/office/drawing/2014/main" id="{840D4C55-45E1-454D-BBFD-1D65706F149D}"/>
                  </a:ext>
                </a:extLst>
              </p:cNvPr>
              <p:cNvCxnSpPr>
                <a:cxnSpLocks noChangeShapeType="1"/>
                <a:stCxn id="80" idx="5"/>
                <a:endCxn id="70" idx="1"/>
              </p:cNvCxnSpPr>
              <p:nvPr/>
            </p:nvCxnSpPr>
            <p:spPr bwMode="auto">
              <a:xfrm>
                <a:off x="6749371" y="2354256"/>
                <a:ext cx="910805" cy="1078488"/>
              </a:xfrm>
              <a:prstGeom prst="line">
                <a:avLst/>
              </a:prstGeom>
              <a:noFill/>
              <a:ln w="19050">
                <a:solidFill>
                  <a:srgbClr val="000000"/>
                </a:solidFill>
                <a:round/>
                <a:headEnd/>
                <a:tailEnd/>
              </a:ln>
            </p:spPr>
          </p:cxnSp>
          <p:sp>
            <p:nvSpPr>
              <p:cNvPr id="82" name="Oval 817">
                <a:extLst>
                  <a:ext uri="{FF2B5EF4-FFF2-40B4-BE49-F238E27FC236}">
                    <a16:creationId xmlns:a16="http://schemas.microsoft.com/office/drawing/2014/main" id="{9ACD2195-E8BF-4C28-A3AB-57F4C96FB7AB}"/>
                  </a:ext>
                </a:extLst>
              </p:cNvPr>
              <p:cNvSpPr>
                <a:spLocks noChangeArrowheads="1"/>
              </p:cNvSpPr>
              <p:nvPr/>
            </p:nvSpPr>
            <p:spPr bwMode="auto">
              <a:xfrm>
                <a:off x="6897587" y="4685819"/>
                <a:ext cx="108000" cy="108123"/>
              </a:xfrm>
              <a:prstGeom prst="ellipse">
                <a:avLst/>
              </a:prstGeom>
              <a:noFill/>
              <a:ln w="19050">
                <a:solidFill>
                  <a:srgbClr val="000000"/>
                </a:solidFill>
                <a:round/>
                <a:headEnd/>
                <a:tailEnd/>
              </a:ln>
            </p:spPr>
            <p:txBody>
              <a:bodyPr rot="0" vert="horz" wrap="square" lIns="91440" tIns="45720" rIns="91440" bIns="45720" anchor="t" anchorCtr="0" upright="1">
                <a:noAutofit/>
              </a:bodyPr>
              <a:lstStyle/>
              <a:p>
                <a:endParaRPr lang="zh-CN" altLang="en-US">
                  <a:solidFill>
                    <a:srgbClr val="FF0000"/>
                  </a:solidFill>
                </a:endParaRPr>
              </a:p>
            </p:txBody>
          </p:sp>
          <p:cxnSp>
            <p:nvCxnSpPr>
              <p:cNvPr id="83" name="Line 823">
                <a:extLst>
                  <a:ext uri="{FF2B5EF4-FFF2-40B4-BE49-F238E27FC236}">
                    <a16:creationId xmlns:a16="http://schemas.microsoft.com/office/drawing/2014/main" id="{A9D1AAF9-811F-47DB-8DDC-2981023D6B75}"/>
                  </a:ext>
                </a:extLst>
              </p:cNvPr>
              <p:cNvCxnSpPr>
                <a:cxnSpLocks noChangeShapeType="1"/>
                <a:stCxn id="82" idx="7"/>
                <a:endCxn id="70" idx="3"/>
              </p:cNvCxnSpPr>
              <p:nvPr/>
            </p:nvCxnSpPr>
            <p:spPr bwMode="auto">
              <a:xfrm flipV="1">
                <a:off x="6989771" y="3509199"/>
                <a:ext cx="670405" cy="1192454"/>
              </a:xfrm>
              <a:prstGeom prst="line">
                <a:avLst/>
              </a:prstGeom>
              <a:noFill/>
              <a:ln w="19050">
                <a:solidFill>
                  <a:srgbClr val="000000"/>
                </a:solidFill>
                <a:round/>
                <a:headEnd/>
                <a:tailEnd/>
              </a:ln>
            </p:spPr>
          </p:cxnSp>
          <mc:AlternateContent xmlns:mc="http://schemas.openxmlformats.org/markup-compatibility/2006" xmlns:a14="http://schemas.microsoft.com/office/drawing/2010/main">
            <mc:Choice Requires="a14">
              <p:sp>
                <p:nvSpPr>
                  <p:cNvPr id="84" name="Rectangle 83">
                    <a:extLst>
                      <a:ext uri="{FF2B5EF4-FFF2-40B4-BE49-F238E27FC236}">
                        <a16:creationId xmlns:a16="http://schemas.microsoft.com/office/drawing/2014/main" id="{AADED7A8-CF4E-43DB-A97B-79079E1DFC55}"/>
                      </a:ext>
                    </a:extLst>
                  </p:cNvPr>
                  <p:cNvSpPr/>
                  <p:nvPr/>
                </p:nvSpPr>
                <p:spPr>
                  <a:xfrm>
                    <a:off x="5765980" y="3528966"/>
                    <a:ext cx="183050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 (</m:t>
                          </m:r>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 </m:t>
                          </m:r>
                        </m:oMath>
                      </m:oMathPara>
                    </a14:m>
                    <a:endParaRPr lang="zh-CN" altLang="en-US" dirty="0"/>
                  </a:p>
                </p:txBody>
              </p:sp>
            </mc:Choice>
            <mc:Fallback xmlns="">
              <p:sp>
                <p:nvSpPr>
                  <p:cNvPr id="84" name="Rectangle 83">
                    <a:extLst>
                      <a:ext uri="{FF2B5EF4-FFF2-40B4-BE49-F238E27FC236}">
                        <a16:creationId xmlns:a16="http://schemas.microsoft.com/office/drawing/2014/main" id="{AADED7A8-CF4E-43DB-A97B-79079E1DFC55}"/>
                      </a:ext>
                    </a:extLst>
                  </p:cNvPr>
                  <p:cNvSpPr>
                    <a:spLocks noRot="1" noChangeAspect="1" noMove="1" noResize="1" noEditPoints="1" noAdjustHandles="1" noChangeArrowheads="1" noChangeShapeType="1" noTextEdit="1"/>
                  </p:cNvSpPr>
                  <p:nvPr/>
                </p:nvSpPr>
                <p:spPr>
                  <a:xfrm>
                    <a:off x="5765980" y="3528966"/>
                    <a:ext cx="1830501" cy="461665"/>
                  </a:xfrm>
                  <a:prstGeom prst="rect">
                    <a:avLst/>
                  </a:prstGeom>
                  <a:blipFill>
                    <a:blip r:embed="rId12"/>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A949D104-40AE-4416-A8B9-A978FEFACAC5}"/>
                      </a:ext>
                    </a:extLst>
                  </p:cNvPr>
                  <p:cNvSpPr/>
                  <p:nvPr/>
                </p:nvSpPr>
                <p:spPr>
                  <a:xfrm>
                    <a:off x="5749234" y="3110880"/>
                    <a:ext cx="1769587" cy="572464"/>
                  </a:xfrm>
                  <a:prstGeom prst="rect">
                    <a:avLst/>
                  </a:prstGeom>
                </p:spPr>
                <p:txBody>
                  <a:bodyPr wrap="none">
                    <a:spAutoFit/>
                  </a:bodyPr>
                  <a:lstStyle/>
                  <a:p>
                    <a:pPr algn="just">
                      <a:lnSpc>
                        <a:spcPct val="130000"/>
                      </a:lnSpc>
                    </a:pPr>
                    <a14:m>
                      <m:oMathPara xmlns:m="http://schemas.openxmlformats.org/officeDocument/2006/math">
                        <m:oMathParaPr>
                          <m:jc m:val="centerGroup"/>
                        </m:oMathParaPr>
                        <m:oMath xmlns:m="http://schemas.openxmlformats.org/officeDocument/2006/math">
                          <m:r>
                            <a:rPr lang="en-US" altLang="zh-CN" b="1" i="1" kern="100" dirty="0">
                              <a:latin typeface="Cambria Math" panose="02040503050406030204" pitchFamily="18" charset="0"/>
                            </a:rPr>
                            <m:t>𝒃</m:t>
                          </m:r>
                          <m:r>
                            <a:rPr lang="zh-CN" altLang="zh-CN" b="1" i="1" kern="100" dirty="0">
                              <a:latin typeface="Cambria Math" panose="02040503050406030204" pitchFamily="18" charset="0"/>
                            </a:rPr>
                            <m:t>∧</m:t>
                          </m:r>
                          <m:r>
                            <a:rPr lang="en-US" altLang="zh-CN" b="1" i="1" kern="100" dirty="0">
                              <a:latin typeface="Cambria Math" panose="02040503050406030204" pitchFamily="18" charset="0"/>
                            </a:rPr>
                            <m:t> (</m:t>
                          </m:r>
                          <m:r>
                            <a:rPr lang="en-US" altLang="zh-CN" b="1" i="1" kern="100" dirty="0">
                              <a:latin typeface="Cambria Math" panose="02040503050406030204" pitchFamily="18" charset="0"/>
                            </a:rPr>
                            <m:t>𝒂</m:t>
                          </m:r>
                          <m:r>
                            <a:rPr lang="zh-CN" altLang="zh-CN" b="1" i="1" kern="100" dirty="0">
                              <a:latin typeface="Cambria Math" panose="02040503050406030204" pitchFamily="18" charset="0"/>
                              <a:cs typeface="宋体" panose="02010600030101010101" pitchFamily="2" charset="-122"/>
                            </a:rPr>
                            <m:t>∨</m:t>
                          </m:r>
                          <m:r>
                            <a:rPr lang="en-US" altLang="zh-CN" b="1" i="1" kern="100" dirty="0">
                              <a:latin typeface="Cambria Math" panose="02040503050406030204" pitchFamily="18" charset="0"/>
                            </a:rPr>
                            <m:t>𝒄</m:t>
                          </m:r>
                          <m:r>
                            <a:rPr lang="en-US" altLang="zh-CN" b="1" i="1" kern="100" dirty="0">
                              <a:latin typeface="Cambria Math" panose="02040503050406030204" pitchFamily="18" charset="0"/>
                            </a:rPr>
                            <m:t>)</m:t>
                          </m:r>
                        </m:oMath>
                      </m:oMathPara>
                    </a14:m>
                    <a:endParaRPr lang="zh-CN" altLang="zh-CN" kern="100" dirty="0">
                      <a:latin typeface="+mn-ea"/>
                    </a:endParaRPr>
                  </a:p>
                </p:txBody>
              </p:sp>
            </mc:Choice>
            <mc:Fallback xmlns="">
              <p:sp>
                <p:nvSpPr>
                  <p:cNvPr id="85" name="Rectangle 84">
                    <a:extLst>
                      <a:ext uri="{FF2B5EF4-FFF2-40B4-BE49-F238E27FC236}">
                        <a16:creationId xmlns:a16="http://schemas.microsoft.com/office/drawing/2014/main" id="{A949D104-40AE-4416-A8B9-A978FEFACAC5}"/>
                      </a:ext>
                    </a:extLst>
                  </p:cNvPr>
                  <p:cNvSpPr>
                    <a:spLocks noRot="1" noChangeAspect="1" noMove="1" noResize="1" noEditPoints="1" noAdjustHandles="1" noChangeArrowheads="1" noChangeShapeType="1" noTextEdit="1"/>
                  </p:cNvSpPr>
                  <p:nvPr/>
                </p:nvSpPr>
                <p:spPr>
                  <a:xfrm>
                    <a:off x="5749234" y="3110880"/>
                    <a:ext cx="1769587" cy="572464"/>
                  </a:xfrm>
                  <a:prstGeom prst="rect">
                    <a:avLst/>
                  </a:prstGeom>
                  <a:blipFill>
                    <a:blip r:embed="rId13"/>
                    <a:stretch>
                      <a:fillRect/>
                    </a:stretch>
                  </a:blipFill>
                </p:spPr>
                <p:txBody>
                  <a:bodyPr/>
                  <a:lstStyle/>
                  <a:p>
                    <a:r>
                      <a:rPr lang="zh-CN" altLang="en-US">
                        <a:noFill/>
                      </a:rPr>
                      <a:t> </a:t>
                    </a:r>
                  </a:p>
                </p:txBody>
              </p:sp>
            </mc:Fallback>
          </mc:AlternateContent>
        </p:grpSp>
        <p:sp>
          <p:nvSpPr>
            <p:cNvPr id="66" name="Text Box 827">
              <a:extLst>
                <a:ext uri="{FF2B5EF4-FFF2-40B4-BE49-F238E27FC236}">
                  <a16:creationId xmlns:a16="http://schemas.microsoft.com/office/drawing/2014/main" id="{6921B92D-BD0B-4E01-B779-FCA97C75AC44}"/>
                </a:ext>
              </a:extLst>
            </p:cNvPr>
            <p:cNvSpPr txBox="1">
              <a:spLocks noChangeArrowheads="1"/>
            </p:cNvSpPr>
            <p:nvPr/>
          </p:nvSpPr>
          <p:spPr bwMode="auto">
            <a:xfrm>
              <a:off x="7273857" y="4892195"/>
              <a:ext cx="1390588" cy="515955"/>
            </a:xfrm>
            <a:prstGeom prst="rect">
              <a:avLst/>
            </a:prstGeom>
            <a:noFill/>
            <a:ln w="9525">
              <a:noFill/>
              <a:miter lim="800000"/>
              <a:headEnd/>
              <a:tailEnd/>
            </a:ln>
          </p:spPr>
          <p:txBody>
            <a:bodyPr rot="0" vert="horz" wrap="square" lIns="0" tIns="0" rIns="0" bIns="0" anchor="t" anchorCtr="0" upright="1">
              <a:noAutofit/>
            </a:bodyPr>
            <a:lstStyle/>
            <a:p>
              <a:pPr algn="ctr"/>
              <a:r>
                <a:rPr lang="zh-CN" altLang="en-US" sz="2400" b="1" kern="100" dirty="0">
                  <a:solidFill>
                    <a:schemeClr val="tx1"/>
                  </a:solidFill>
                  <a:effectLst/>
                  <a:latin typeface="+mn-ea"/>
                  <a:cs typeface="宋体" panose="02010600030101010101" pitchFamily="2" charset="-122"/>
                </a:rPr>
                <a:t>模律</a:t>
              </a:r>
              <a:r>
                <a:rPr lang="en-US" sz="2400" b="1" kern="100" dirty="0">
                  <a:solidFill>
                    <a:schemeClr val="tx1"/>
                  </a:solidFill>
                  <a:effectLst/>
                  <a:latin typeface="+mn-ea"/>
                  <a:cs typeface="宋体" panose="02010600030101010101" pitchFamily="2" charset="-122"/>
                </a:rPr>
                <a:t> </a:t>
              </a:r>
              <a:endParaRPr lang="zh-CN" sz="2400" b="1" kern="100" dirty="0">
                <a:solidFill>
                  <a:schemeClr val="tx1"/>
                </a:solidFill>
                <a:effectLst/>
                <a:latin typeface="+mn-ea"/>
                <a:cs typeface="宋体" panose="02010600030101010101" pitchFamily="2" charset="-122"/>
              </a:endParaRPr>
            </a:p>
          </p:txBody>
        </p:sp>
      </p:grpSp>
      <p:sp>
        <p:nvSpPr>
          <p:cNvPr id="4" name="Arrow: Right 3">
            <a:extLst>
              <a:ext uri="{FF2B5EF4-FFF2-40B4-BE49-F238E27FC236}">
                <a16:creationId xmlns:a16="http://schemas.microsoft.com/office/drawing/2014/main" id="{CB66D650-5C38-4D7E-9392-39CBCE737746}"/>
              </a:ext>
            </a:extLst>
          </p:cNvPr>
          <p:cNvSpPr/>
          <p:nvPr/>
        </p:nvSpPr>
        <p:spPr>
          <a:xfrm>
            <a:off x="5718175" y="4466444"/>
            <a:ext cx="582048" cy="430307"/>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10">
            <a:extLst>
              <a:ext uri="{FF2B5EF4-FFF2-40B4-BE49-F238E27FC236}">
                <a16:creationId xmlns:a16="http://schemas.microsoft.com/office/drawing/2014/main" id="{B4504764-3DF2-4368-860D-478213910824}"/>
              </a:ext>
            </a:extLst>
          </p:cNvPr>
          <p:cNvSpPr txBox="1"/>
          <p:nvPr/>
        </p:nvSpPr>
        <p:spPr>
          <a:xfrm>
            <a:off x="988936" y="4227949"/>
            <a:ext cx="5458848" cy="224305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ct val="150000"/>
              </a:lnSpc>
            </a:pPr>
            <a:r>
              <a:rPr lang="zh-CN" altLang="zh-CN" b="1" dirty="0">
                <a:effectLst/>
                <a:latin typeface="+mn-ea"/>
                <a:cs typeface="Times New Roman" panose="02020603050405020304" pitchFamily="18" charset="0"/>
              </a:rPr>
              <a:t>模格有很多重要的性质，其中比较有名的就是</a:t>
            </a:r>
            <a:r>
              <a:rPr lang="zh-CN" altLang="zh-CN" b="1" dirty="0">
                <a:solidFill>
                  <a:srgbClr val="FF0000"/>
                </a:solidFill>
                <a:effectLst/>
                <a:latin typeface="+mn-ea"/>
                <a:cs typeface="Times New Roman" panose="02020603050405020304" pitchFamily="18" charset="0"/>
              </a:rPr>
              <a:t>戴德金转置定理</a:t>
            </a:r>
            <a:r>
              <a:rPr lang="zh-CN" altLang="zh-CN" b="1" dirty="0">
                <a:effectLst/>
                <a:latin typeface="+mn-ea"/>
                <a:cs typeface="Times New Roman" panose="02020603050405020304" pitchFamily="18" charset="0"/>
              </a:rPr>
              <a:t>（也就是</a:t>
            </a:r>
            <a:r>
              <a:rPr lang="zh-CN" altLang="zh-CN" b="1" dirty="0">
                <a:solidFill>
                  <a:srgbClr val="FF0000"/>
                </a:solidFill>
                <a:effectLst/>
                <a:latin typeface="+mn-ea"/>
                <a:cs typeface="Times New Roman" panose="02020603050405020304" pitchFamily="18" charset="0"/>
              </a:rPr>
              <a:t>菱形同构定理</a:t>
            </a:r>
            <a:r>
              <a:rPr lang="zh-CN" altLang="zh-CN" b="1" dirty="0">
                <a:effectLst/>
                <a:latin typeface="+mn-ea"/>
                <a:cs typeface="Times New Roman" panose="02020603050405020304" pitchFamily="18" charset="0"/>
              </a:rPr>
              <a:t>），这形象的描述了模格的哈斯图可以看做是若干个菱形堆积构成的。</a:t>
            </a:r>
            <a:endParaRPr lang="zh-CN" altLang="en-US" b="1" dirty="0">
              <a:latin typeface="+mn-ea"/>
            </a:endParaRPr>
          </a:p>
        </p:txBody>
      </p:sp>
    </p:spTree>
    <p:custDataLst>
      <p:tags r:id="rId1"/>
    </p:custDataLst>
    <p:extLst>
      <p:ext uri="{BB962C8B-B14F-4D97-AF65-F5344CB8AC3E}">
        <p14:creationId xmlns:p14="http://schemas.microsoft.com/office/powerpoint/2010/main" val="2782197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C53098-EF89-440F-81B2-62BEF3C8A063}"/>
              </a:ext>
            </a:extLst>
          </p:cNvPr>
          <p:cNvSpPr>
            <a:spLocks noGrp="1"/>
          </p:cNvSpPr>
          <p:nvPr>
            <p:ph type="title"/>
          </p:nvPr>
        </p:nvSpPr>
        <p:spPr/>
        <p:txBody>
          <a:bodyPr/>
          <a:lstStyle/>
          <a:p>
            <a:r>
              <a:rPr lang="zh-CN" altLang="en-US" dirty="0"/>
              <a:t>模格的判定</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4D5A4FE-6E1E-48ED-A7BA-AF0247F84D40}"/>
                  </a:ext>
                </a:extLst>
              </p:cNvPr>
              <p:cNvSpPr txBox="1"/>
              <p:nvPr/>
            </p:nvSpPr>
            <p:spPr>
              <a:xfrm>
                <a:off x="279400" y="1067594"/>
                <a:ext cx="11658600" cy="2446182"/>
              </a:xfrm>
              <a:prstGeom prst="rect">
                <a:avLst/>
              </a:prstGeom>
              <a:solidFill>
                <a:schemeClr val="accent6">
                  <a:lumMod val="20000"/>
                  <a:lumOff val="80000"/>
                </a:schemeClr>
              </a:solidFill>
            </p:spPr>
            <p:txBody>
              <a:bodyPr wrap="square">
                <a:spAutoFit/>
              </a:bodyPr>
              <a:lstStyle/>
              <a:p>
                <a:pPr algn="just">
                  <a:lnSpc>
                    <a:spcPct val="130000"/>
                  </a:lnSpc>
                </a:pPr>
                <a:r>
                  <a:rPr lang="zh-CN" altLang="zh-CN" b="1" kern="1100" dirty="0">
                    <a:solidFill>
                      <a:srgbClr val="0000FF"/>
                    </a:solidFill>
                    <a:effectLst/>
                    <a:latin typeface="+mn-ea"/>
                  </a:rPr>
                  <a:t>定理</a:t>
                </a:r>
                <a:r>
                  <a:rPr lang="en-US" altLang="zh-CN" b="1" kern="1100" dirty="0">
                    <a:solidFill>
                      <a:srgbClr val="0000FF"/>
                    </a:solidFill>
                    <a:effectLst/>
                    <a:latin typeface="+mn-ea"/>
                  </a:rPr>
                  <a:t>10.7</a:t>
                </a:r>
                <a:r>
                  <a:rPr lang="en-US" altLang="zh-CN" b="1" kern="100" dirty="0">
                    <a:solidFill>
                      <a:srgbClr val="0000FF"/>
                    </a:solidFill>
                    <a:effectLst/>
                    <a:latin typeface="+mn-ea"/>
                  </a:rPr>
                  <a:t>   </a:t>
                </a:r>
                <a:r>
                  <a:rPr lang="zh-CN" altLang="zh-CN" b="1" kern="100" dirty="0">
                    <a:effectLst/>
                    <a:latin typeface="+mn-ea"/>
                  </a:rPr>
                  <a:t>所有分配格是模格。</a:t>
                </a:r>
              </a:p>
              <a:p>
                <a:pPr algn="just">
                  <a:lnSpc>
                    <a:spcPct val="130000"/>
                  </a:lnSpc>
                </a:pPr>
                <a:r>
                  <a:rPr lang="zh-CN" altLang="zh-CN" b="1" kern="1100" dirty="0">
                    <a:solidFill>
                      <a:srgbClr val="FF0000"/>
                    </a:solidFill>
                    <a:effectLst/>
                    <a:latin typeface="+mn-ea"/>
                  </a:rPr>
                  <a:t>证明</a:t>
                </a:r>
                <a:r>
                  <a:rPr lang="zh-CN" altLang="zh-CN" b="1" kern="100" dirty="0">
                    <a:effectLst/>
                    <a:latin typeface="+mn-ea"/>
                  </a:rPr>
                  <a:t> 设</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b="1" kern="100" dirty="0">
                    <a:effectLst/>
                    <a:latin typeface="+mn-ea"/>
                  </a:rPr>
                  <a:t>是一个分配格，对任意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i="1" kern="100" dirty="0">
                        <a:latin typeface="Cambria Math" panose="02040503050406030204" pitchFamily="18" charset="0"/>
                      </a:rPr>
                      <m:t>𝒄</m:t>
                    </m:r>
                    <m:r>
                      <a:rPr lang="en-US" altLang="zh-CN" i="1" kern="100" dirty="0">
                        <a:latin typeface="Cambria Math" panose="02040503050406030204" pitchFamily="18" charset="0"/>
                        <a:ea typeface="Cambria Math" panose="02040503050406030204" pitchFamily="18" charset="0"/>
                      </a:rPr>
                      <m:t>∈</m:t>
                    </m:r>
                    <m:r>
                      <a:rPr lang="en-US" altLang="zh-CN" i="1" kern="100" dirty="0">
                        <a:latin typeface="Cambria Math" panose="02040503050406030204" pitchFamily="18" charset="0"/>
                      </a:rPr>
                      <m:t>𝑳</m:t>
                    </m:r>
                  </m:oMath>
                </a14:m>
                <a:r>
                  <a:rPr lang="zh-CN" altLang="zh-CN" b="1" kern="100" dirty="0">
                    <a:effectLst/>
                    <a:latin typeface="+mn-ea"/>
                  </a:rPr>
                  <a:t>，如果</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𝒃</m:t>
                    </m:r>
                  </m:oMath>
                </a14:m>
                <a:r>
                  <a:rPr lang="zh-CN" altLang="zh-CN" b="1" kern="100" dirty="0">
                    <a:effectLst/>
                    <a:latin typeface="+mn-ea"/>
                  </a:rPr>
                  <a:t>，那么</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oMath>
                </a14:m>
                <a:r>
                  <a:rPr lang="zh-CN" altLang="zh-CN" b="1" kern="100" dirty="0">
                    <a:effectLst/>
                    <a:latin typeface="+mn-ea"/>
                  </a:rPr>
                  <a:t>，由分配律得</a:t>
                </a:r>
              </a:p>
              <a:p>
                <a:pPr algn="ctr">
                  <a:lnSpc>
                    <a:spcPct val="130000"/>
                  </a:lnSpc>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oMath>
                  </m:oMathPara>
                </a14:m>
                <a:endParaRPr lang="zh-CN" altLang="zh-CN" b="1" kern="100" dirty="0">
                  <a:effectLst/>
                  <a:latin typeface="+mn-ea"/>
                </a:endParaRPr>
              </a:p>
              <a:p>
                <a:pPr algn="just">
                  <a:lnSpc>
                    <a:spcPct val="130000"/>
                  </a:lnSpc>
                </a:pPr>
                <a:r>
                  <a:rPr lang="zh-CN" altLang="zh-CN" b="1" kern="100" dirty="0">
                    <a:effectLst/>
                    <a:latin typeface="+mn-ea"/>
                  </a:rPr>
                  <a:t>故是</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b="1" kern="100" dirty="0">
                    <a:effectLst/>
                    <a:latin typeface="+mn-ea"/>
                  </a:rPr>
                  <a:t>是模格。</a:t>
                </a:r>
              </a:p>
            </p:txBody>
          </p:sp>
        </mc:Choice>
        <mc:Fallback xmlns="">
          <p:sp>
            <p:nvSpPr>
              <p:cNvPr id="10" name="文本框 9">
                <a:extLst>
                  <a:ext uri="{FF2B5EF4-FFF2-40B4-BE49-F238E27FC236}">
                    <a16:creationId xmlns:a16="http://schemas.microsoft.com/office/drawing/2014/main" id="{74D5A4FE-6E1E-48ED-A7BA-AF0247F84D40}"/>
                  </a:ext>
                </a:extLst>
              </p:cNvPr>
              <p:cNvSpPr txBox="1">
                <a:spLocks noRot="1" noChangeAspect="1" noMove="1" noResize="1" noEditPoints="1" noAdjustHandles="1" noChangeArrowheads="1" noChangeShapeType="1" noTextEdit="1"/>
              </p:cNvSpPr>
              <p:nvPr/>
            </p:nvSpPr>
            <p:spPr>
              <a:xfrm>
                <a:off x="279400" y="1067594"/>
                <a:ext cx="11658600" cy="2446182"/>
              </a:xfrm>
              <a:prstGeom prst="rect">
                <a:avLst/>
              </a:prstGeom>
              <a:blipFill>
                <a:blip r:embed="rId5"/>
                <a:stretch>
                  <a:fillRect l="-837" r="-785" b="-4988"/>
                </a:stretch>
              </a:blipFill>
            </p:spPr>
            <p:txBody>
              <a:bodyPr/>
              <a:lstStyle/>
              <a:p>
                <a:r>
                  <a:rPr lang="zh-CN" altLang="en-US">
                    <a:noFill/>
                  </a:rPr>
                  <a:t> </a:t>
                </a:r>
              </a:p>
            </p:txBody>
          </p:sp>
        </mc:Fallback>
      </mc:AlternateContent>
      <p:sp>
        <p:nvSpPr>
          <p:cNvPr id="7" name="文本框 9">
            <a:extLst>
              <a:ext uri="{FF2B5EF4-FFF2-40B4-BE49-F238E27FC236}">
                <a16:creationId xmlns:a16="http://schemas.microsoft.com/office/drawing/2014/main" id="{8C40DBBF-7508-4ADB-83BF-4673F6257743}"/>
              </a:ext>
            </a:extLst>
          </p:cNvPr>
          <p:cNvSpPr txBox="1"/>
          <p:nvPr/>
        </p:nvSpPr>
        <p:spPr>
          <a:xfrm>
            <a:off x="536575" y="3828313"/>
            <a:ext cx="10668000" cy="2119939"/>
          </a:xfrm>
          <a:prstGeom prst="rect">
            <a:avLst/>
          </a:prstGeom>
          <a:noFill/>
        </p:spPr>
        <p:txBody>
          <a:bodyPr wrap="square">
            <a:spAutoFit/>
          </a:bodyPr>
          <a:lstStyle/>
          <a:p>
            <a:pPr>
              <a:lnSpc>
                <a:spcPct val="130000"/>
              </a:lnSpc>
              <a:spcBef>
                <a:spcPts val="600"/>
              </a:spcBef>
            </a:pPr>
            <a:r>
              <a:rPr lang="zh-CN" altLang="en-US" b="1" dirty="0">
                <a:solidFill>
                  <a:srgbClr val="0000FF"/>
                </a:solidFill>
                <a:effectLst/>
                <a:latin typeface="+mn-ea"/>
                <a:cs typeface="Times New Roman" panose="02020603050405020304" pitchFamily="18" charset="0"/>
              </a:rPr>
              <a:t>结论 </a:t>
            </a:r>
            <a:r>
              <a:rPr lang="zh-CN" altLang="en-US" b="1" dirty="0">
                <a:effectLst/>
                <a:latin typeface="+mn-ea"/>
                <a:cs typeface="Times New Roman" panose="02020603050405020304" pitchFamily="18" charset="0"/>
              </a:rPr>
              <a:t> </a:t>
            </a:r>
            <a:endParaRPr lang="en-US" altLang="zh-CN" b="1" dirty="0">
              <a:effectLst/>
              <a:latin typeface="+mn-ea"/>
              <a:cs typeface="Times New Roman" panose="02020603050405020304" pitchFamily="18" charset="0"/>
            </a:endParaRPr>
          </a:p>
          <a:p>
            <a:pPr marL="457200" indent="-457200">
              <a:lnSpc>
                <a:spcPct val="130000"/>
              </a:lnSpc>
              <a:spcBef>
                <a:spcPts val="600"/>
              </a:spcBef>
              <a:buFont typeface="Arial" panose="020B0604020202020204" pitchFamily="34" charset="0"/>
              <a:buChar char="•"/>
            </a:pPr>
            <a:r>
              <a:rPr lang="zh-CN" altLang="zh-CN" b="1" dirty="0">
                <a:effectLst/>
                <a:latin typeface="+mn-ea"/>
                <a:cs typeface="Times New Roman" panose="02020603050405020304" pitchFamily="18" charset="0"/>
              </a:rPr>
              <a:t>每一个全序集（或链）是模格，四个元素以下的格都是模格；</a:t>
            </a:r>
            <a:endParaRPr lang="en-US" altLang="zh-CN" b="1" dirty="0">
              <a:effectLst/>
              <a:latin typeface="+mn-ea"/>
              <a:cs typeface="Times New Roman" panose="02020603050405020304" pitchFamily="18" charset="0"/>
            </a:endParaRPr>
          </a:p>
          <a:p>
            <a:pPr marL="457200" indent="-457200">
              <a:lnSpc>
                <a:spcPct val="130000"/>
              </a:lnSpc>
              <a:spcBef>
                <a:spcPts val="600"/>
              </a:spcBef>
              <a:buFont typeface="Arial" panose="020B0604020202020204" pitchFamily="34" charset="0"/>
              <a:buChar char="•"/>
            </a:pPr>
            <a:r>
              <a:rPr lang="zh-CN" altLang="zh-CN" b="1" dirty="0">
                <a:effectLst/>
                <a:latin typeface="+mn-ea"/>
                <a:cs typeface="Times New Roman" panose="02020603050405020304" pitchFamily="18" charset="0"/>
              </a:rPr>
              <a:t>而对于五个元素的格，仅有一个格不是模格</a:t>
            </a:r>
            <a:r>
              <a:rPr lang="en-US" altLang="zh-CN" b="1" dirty="0">
                <a:effectLst/>
                <a:latin typeface="+mn-ea"/>
              </a:rPr>
              <a:t>(</a:t>
            </a:r>
            <a:r>
              <a:rPr lang="zh-CN" altLang="zh-CN" b="1" dirty="0">
                <a:effectLst/>
                <a:latin typeface="+mn-ea"/>
                <a:cs typeface="Times New Roman" panose="02020603050405020304" pitchFamily="18" charset="0"/>
              </a:rPr>
              <a:t>即五角格</a:t>
            </a:r>
            <a:r>
              <a:rPr lang="en-US" altLang="zh-CN" b="1" dirty="0">
                <a:effectLst/>
                <a:latin typeface="+mn-ea"/>
              </a:rPr>
              <a:t>)</a:t>
            </a:r>
            <a:r>
              <a:rPr lang="zh-CN" altLang="zh-CN" b="1" dirty="0">
                <a:effectLst/>
                <a:latin typeface="+mn-ea"/>
                <a:cs typeface="Times New Roman" panose="02020603050405020304" pitchFamily="18" charset="0"/>
              </a:rPr>
              <a:t>，其余四个格都是模格。</a:t>
            </a:r>
            <a:endParaRPr lang="zh-CN" altLang="en-US" b="1" dirty="0">
              <a:latin typeface="+mn-ea"/>
            </a:endParaRPr>
          </a:p>
        </p:txBody>
      </p:sp>
    </p:spTree>
    <p:custDataLst>
      <p:tags r:id="rId1"/>
    </p:custDataLst>
    <p:extLst>
      <p:ext uri="{BB962C8B-B14F-4D97-AF65-F5344CB8AC3E}">
        <p14:creationId xmlns:p14="http://schemas.microsoft.com/office/powerpoint/2010/main" val="1358164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animBg="1"/>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C53098-EF89-440F-81B2-62BEF3C8A063}"/>
              </a:ext>
            </a:extLst>
          </p:cNvPr>
          <p:cNvSpPr>
            <a:spLocks noGrp="1"/>
          </p:cNvSpPr>
          <p:nvPr>
            <p:ph type="title"/>
          </p:nvPr>
        </p:nvSpPr>
        <p:spPr/>
        <p:txBody>
          <a:bodyPr/>
          <a:lstStyle/>
          <a:p>
            <a:r>
              <a:rPr lang="zh-CN" altLang="en-US" dirty="0"/>
              <a:t>模格的判定</a:t>
            </a:r>
          </a:p>
        </p:txBody>
      </p:sp>
      <p:sp>
        <p:nvSpPr>
          <p:cNvPr id="8" name="文本框 7">
            <a:extLst>
              <a:ext uri="{FF2B5EF4-FFF2-40B4-BE49-F238E27FC236}">
                <a16:creationId xmlns:a16="http://schemas.microsoft.com/office/drawing/2014/main" id="{2738689F-F4D6-4ED4-9413-5CC50E1BC77A}"/>
              </a:ext>
            </a:extLst>
          </p:cNvPr>
          <p:cNvSpPr txBox="1"/>
          <p:nvPr/>
        </p:nvSpPr>
        <p:spPr>
          <a:xfrm>
            <a:off x="460375" y="3621248"/>
            <a:ext cx="10769737" cy="1135054"/>
          </a:xfrm>
          <a:prstGeom prst="rect">
            <a:avLst/>
          </a:prstGeom>
          <a:solidFill>
            <a:schemeClr val="accent3">
              <a:lumMod val="20000"/>
              <a:lumOff val="80000"/>
            </a:schemeClr>
          </a:solidFill>
        </p:spPr>
        <p:txBody>
          <a:bodyPr wrap="square">
            <a:spAutoFit/>
          </a:bodyPr>
          <a:lstStyle/>
          <a:p>
            <a:pPr algn="just">
              <a:lnSpc>
                <a:spcPct val="150000"/>
              </a:lnSpc>
            </a:pPr>
            <a:r>
              <a:rPr lang="zh-CN" altLang="zh-CN" b="1" kern="1100" spc="-10" dirty="0">
                <a:solidFill>
                  <a:srgbClr val="0000FF"/>
                </a:solidFill>
                <a:effectLst/>
                <a:latin typeface="+mn-ea"/>
              </a:rPr>
              <a:t>定理</a:t>
            </a:r>
            <a:r>
              <a:rPr lang="en-US" altLang="zh-CN" b="1" kern="1100" spc="-10" dirty="0">
                <a:solidFill>
                  <a:srgbClr val="0000FF"/>
                </a:solidFill>
                <a:effectLst/>
                <a:latin typeface="+mn-ea"/>
              </a:rPr>
              <a:t>10.8</a:t>
            </a:r>
            <a:r>
              <a:rPr lang="en-US" altLang="zh-CN" b="1" kern="100" spc="-10" dirty="0">
                <a:solidFill>
                  <a:srgbClr val="0000FF"/>
                </a:solidFill>
                <a:effectLst/>
                <a:latin typeface="+mn-ea"/>
              </a:rPr>
              <a:t> </a:t>
            </a:r>
            <a:r>
              <a:rPr lang="zh-CN" altLang="zh-CN" b="1" kern="100" spc="-10" dirty="0">
                <a:effectLst/>
                <a:latin typeface="+mn-ea"/>
              </a:rPr>
              <a:t>（</a:t>
            </a:r>
            <a:r>
              <a:rPr lang="en-US" altLang="zh-CN" b="1" kern="100" spc="-10" dirty="0">
                <a:solidFill>
                  <a:srgbClr val="FF0000"/>
                </a:solidFill>
                <a:effectLst/>
                <a:latin typeface="+mn-ea"/>
              </a:rPr>
              <a:t>Dedekind</a:t>
            </a:r>
            <a:r>
              <a:rPr lang="zh-CN" altLang="zh-CN" b="1" kern="100" spc="-10" dirty="0">
                <a:solidFill>
                  <a:srgbClr val="FF0000"/>
                </a:solidFill>
                <a:effectLst/>
                <a:latin typeface="+mn-ea"/>
              </a:rPr>
              <a:t>判定定理</a:t>
            </a:r>
            <a:r>
              <a:rPr lang="zh-CN" altLang="zh-CN" b="1" kern="100" spc="-10" dirty="0">
                <a:effectLst/>
                <a:latin typeface="+mn-ea"/>
              </a:rPr>
              <a:t>）一个格是</a:t>
            </a:r>
            <a:r>
              <a:rPr lang="zh-CN" altLang="zh-CN" b="1" kern="100" spc="-10" dirty="0">
                <a:solidFill>
                  <a:srgbClr val="CC00CC"/>
                </a:solidFill>
                <a:effectLst/>
                <a:latin typeface="+mn-ea"/>
              </a:rPr>
              <a:t>模格</a:t>
            </a:r>
            <a:r>
              <a:rPr lang="zh-CN" altLang="zh-CN" b="1" kern="100" spc="-10" dirty="0">
                <a:effectLst/>
                <a:latin typeface="+mn-ea"/>
              </a:rPr>
              <a:t>的充分必要条件是该格中</a:t>
            </a:r>
            <a:r>
              <a:rPr lang="zh-CN" altLang="zh-CN" b="1" kern="100" spc="-10" dirty="0">
                <a:solidFill>
                  <a:srgbClr val="0000FF"/>
                </a:solidFill>
                <a:effectLst/>
                <a:latin typeface="+mn-ea"/>
              </a:rPr>
              <a:t>没有任何子格与五角格同构</a:t>
            </a:r>
            <a:r>
              <a:rPr lang="zh-CN" altLang="zh-CN" b="1" kern="100" spc="-10" dirty="0">
                <a:effectLst/>
                <a:latin typeface="+mn-ea"/>
              </a:rPr>
              <a:t>。</a:t>
            </a:r>
            <a:endParaRPr lang="zh-CN" altLang="zh-CN" b="1" kern="100" dirty="0">
              <a:effectLst/>
              <a:latin typeface="+mn-ea"/>
            </a:endParaRPr>
          </a:p>
        </p:txBody>
      </p:sp>
      <p:sp>
        <p:nvSpPr>
          <p:cNvPr id="6" name="内容占位符 2">
            <a:extLst>
              <a:ext uri="{FF2B5EF4-FFF2-40B4-BE49-F238E27FC236}">
                <a16:creationId xmlns:a16="http://schemas.microsoft.com/office/drawing/2014/main" id="{A8AD7311-21BF-46CE-9387-F94A37749054}"/>
              </a:ext>
            </a:extLst>
          </p:cNvPr>
          <p:cNvSpPr>
            <a:spLocks noGrp="1"/>
          </p:cNvSpPr>
          <p:nvPr>
            <p:ph idx="1"/>
          </p:nvPr>
        </p:nvSpPr>
        <p:spPr>
          <a:xfrm>
            <a:off x="460375" y="1482215"/>
            <a:ext cx="10919862" cy="1768912"/>
          </a:xfrm>
        </p:spPr>
        <p:txBody>
          <a:bodyPr>
            <a:noAutofit/>
          </a:bodyPr>
          <a:lstStyle/>
          <a:p>
            <a:pPr marL="0" indent="0">
              <a:lnSpc>
                <a:spcPct val="130000"/>
              </a:lnSpc>
              <a:buNone/>
            </a:pPr>
            <a:r>
              <a:rPr lang="zh-CN" altLang="en-US" kern="1100" spc="-10" dirty="0">
                <a:solidFill>
                  <a:srgbClr val="00B050"/>
                </a:solidFill>
                <a:effectLst/>
                <a:highlight>
                  <a:srgbClr val="FFFF00"/>
                </a:highlight>
                <a:latin typeface="+mn-ea"/>
                <a:cs typeface="Times New Roman" panose="02020603050405020304" pitchFamily="18" charset="0"/>
              </a:rPr>
              <a:t>对照回顾</a:t>
            </a:r>
            <a:r>
              <a:rPr lang="zh-CN" altLang="en-US" kern="1100" spc="-10" dirty="0">
                <a:solidFill>
                  <a:srgbClr val="00B050"/>
                </a:solidFill>
                <a:effectLst/>
                <a:latin typeface="+mn-ea"/>
                <a:cs typeface="Times New Roman" panose="02020603050405020304" pitchFamily="18" charset="0"/>
              </a:rPr>
              <a:t>：</a:t>
            </a:r>
            <a:endParaRPr lang="en-US" altLang="zh-CN" kern="1100" spc="-10" dirty="0">
              <a:solidFill>
                <a:srgbClr val="00B050"/>
              </a:solidFill>
              <a:effectLst/>
              <a:latin typeface="+mn-ea"/>
              <a:cs typeface="Times New Roman" panose="02020603050405020304" pitchFamily="18" charset="0"/>
            </a:endParaRPr>
          </a:p>
          <a:p>
            <a:pPr marL="0" indent="0">
              <a:lnSpc>
                <a:spcPct val="130000"/>
              </a:lnSpc>
              <a:buNone/>
            </a:pPr>
            <a:r>
              <a:rPr lang="zh-CN" altLang="zh-CN" kern="1100" spc="-10" dirty="0">
                <a:solidFill>
                  <a:srgbClr val="0000FF"/>
                </a:solidFill>
                <a:effectLst/>
                <a:latin typeface="+mn-ea"/>
                <a:cs typeface="Times New Roman" panose="02020603050405020304" pitchFamily="18" charset="0"/>
              </a:rPr>
              <a:t>定理</a:t>
            </a:r>
            <a:r>
              <a:rPr lang="en-US" altLang="zh-CN" kern="1100" spc="-10" dirty="0">
                <a:solidFill>
                  <a:srgbClr val="0000FF"/>
                </a:solidFill>
                <a:effectLst/>
                <a:latin typeface="+mn-ea"/>
              </a:rPr>
              <a:t>10.5</a:t>
            </a:r>
            <a:r>
              <a:rPr lang="en-US" altLang="zh-CN" spc="-10" dirty="0">
                <a:solidFill>
                  <a:srgbClr val="0000FF"/>
                </a:solidFill>
                <a:effectLst/>
                <a:latin typeface="+mn-ea"/>
              </a:rPr>
              <a:t>  </a:t>
            </a:r>
            <a:r>
              <a:rPr lang="zh-CN" altLang="zh-CN" spc="-10" dirty="0">
                <a:effectLst/>
                <a:latin typeface="+mn-ea"/>
                <a:cs typeface="Times New Roman" panose="02020603050405020304" pitchFamily="18" charset="0"/>
              </a:rPr>
              <a:t>（</a:t>
            </a:r>
            <a:r>
              <a:rPr lang="en-US" altLang="zh-CN" spc="-10" dirty="0" err="1">
                <a:solidFill>
                  <a:srgbClr val="FF0000"/>
                </a:solidFill>
                <a:effectLst/>
                <a:latin typeface="+mn-ea"/>
              </a:rPr>
              <a:t>Birkhoff</a:t>
            </a:r>
            <a:r>
              <a:rPr lang="zh-CN" altLang="zh-CN" spc="-10" dirty="0">
                <a:solidFill>
                  <a:srgbClr val="FF0000"/>
                </a:solidFill>
                <a:effectLst/>
                <a:latin typeface="+mn-ea"/>
                <a:cs typeface="Times New Roman" panose="02020603050405020304" pitchFamily="18" charset="0"/>
              </a:rPr>
              <a:t>判定定理</a:t>
            </a:r>
            <a:r>
              <a:rPr lang="zh-CN" altLang="zh-CN" spc="-10" dirty="0">
                <a:effectLst/>
                <a:latin typeface="+mn-ea"/>
                <a:cs typeface="Times New Roman" panose="02020603050405020304" pitchFamily="18" charset="0"/>
              </a:rPr>
              <a:t>）一个格是</a:t>
            </a:r>
            <a:r>
              <a:rPr lang="zh-CN" altLang="zh-CN" spc="-10" dirty="0">
                <a:solidFill>
                  <a:srgbClr val="CC00CC"/>
                </a:solidFill>
                <a:effectLst/>
                <a:latin typeface="+mn-ea"/>
                <a:cs typeface="Times New Roman" panose="02020603050405020304" pitchFamily="18" charset="0"/>
              </a:rPr>
              <a:t>分配格</a:t>
            </a:r>
            <a:r>
              <a:rPr lang="zh-CN" altLang="zh-CN" spc="-10" dirty="0">
                <a:effectLst/>
                <a:latin typeface="+mn-ea"/>
                <a:cs typeface="Times New Roman" panose="02020603050405020304" pitchFamily="18" charset="0"/>
              </a:rPr>
              <a:t>的充分必要条件是该格中</a:t>
            </a:r>
            <a:r>
              <a:rPr lang="zh-CN" altLang="zh-CN" spc="-10" dirty="0">
                <a:solidFill>
                  <a:srgbClr val="0000FF"/>
                </a:solidFill>
                <a:effectLst/>
                <a:latin typeface="+mn-ea"/>
                <a:cs typeface="Times New Roman" panose="02020603050405020304" pitchFamily="18" charset="0"/>
              </a:rPr>
              <a:t>没有任何子格与钻石格或五角格同构</a:t>
            </a:r>
            <a:r>
              <a:rPr lang="zh-CN" altLang="zh-CN" spc="-10" dirty="0">
                <a:effectLst/>
                <a:latin typeface="+mn-ea"/>
                <a:cs typeface="Times New Roman" panose="02020603050405020304" pitchFamily="18" charset="0"/>
              </a:rPr>
              <a:t>。</a:t>
            </a:r>
            <a:endParaRPr lang="zh-CN" altLang="en-US" dirty="0">
              <a:latin typeface="+mn-ea"/>
            </a:endParaRPr>
          </a:p>
        </p:txBody>
      </p:sp>
    </p:spTree>
    <p:custDataLst>
      <p:tags r:id="rId1"/>
    </p:custDataLst>
    <p:extLst>
      <p:ext uri="{BB962C8B-B14F-4D97-AF65-F5344CB8AC3E}">
        <p14:creationId xmlns:p14="http://schemas.microsoft.com/office/powerpoint/2010/main" val="4262092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6BB1D2-17E6-4EDA-932C-9A6F303E7480}"/>
              </a:ext>
            </a:extLst>
          </p:cNvPr>
          <p:cNvSpPr>
            <a:spLocks noGrp="1"/>
          </p:cNvSpPr>
          <p:nvPr>
            <p:ph type="title"/>
          </p:nvPr>
        </p:nvSpPr>
        <p:spPr/>
        <p:txBody>
          <a:bodyPr/>
          <a:lstStyle/>
          <a:p>
            <a:r>
              <a:rPr lang="zh-CN" altLang="en-US" dirty="0"/>
              <a:t>分配格和模格的判定</a:t>
            </a:r>
          </a:p>
        </p:txBody>
      </p:sp>
      <p:sp>
        <p:nvSpPr>
          <p:cNvPr id="3" name="内容占位符 2">
            <a:extLst>
              <a:ext uri="{FF2B5EF4-FFF2-40B4-BE49-F238E27FC236}">
                <a16:creationId xmlns:a16="http://schemas.microsoft.com/office/drawing/2014/main" id="{64ED5638-064E-4887-B53C-C67416203963}"/>
              </a:ext>
            </a:extLst>
          </p:cNvPr>
          <p:cNvSpPr>
            <a:spLocks noGrp="1"/>
          </p:cNvSpPr>
          <p:nvPr>
            <p:ph idx="1"/>
          </p:nvPr>
        </p:nvSpPr>
        <p:spPr>
          <a:xfrm>
            <a:off x="248825" y="2060147"/>
            <a:ext cx="5712492" cy="1394629"/>
          </a:xfrm>
        </p:spPr>
        <p:txBody>
          <a:bodyPr>
            <a:noAutofit/>
          </a:bodyPr>
          <a:lstStyle/>
          <a:p>
            <a:pPr marL="0" indent="0">
              <a:lnSpc>
                <a:spcPct val="130000"/>
              </a:lnSpc>
              <a:buNone/>
            </a:pPr>
            <a:r>
              <a:rPr lang="zh-CN" altLang="zh-CN" dirty="0">
                <a:solidFill>
                  <a:srgbClr val="0000FF"/>
                </a:solidFill>
                <a:effectLst/>
                <a:latin typeface="+mn-ea"/>
                <a:cs typeface="Times New Roman" panose="02020603050405020304" pitchFamily="18" charset="0"/>
              </a:rPr>
              <a:t>例</a:t>
            </a:r>
            <a:r>
              <a:rPr lang="en-US" altLang="zh-CN" dirty="0">
                <a:solidFill>
                  <a:srgbClr val="0000FF"/>
                </a:solidFill>
                <a:effectLst/>
                <a:latin typeface="+mn-ea"/>
              </a:rPr>
              <a:t>10.6 </a:t>
            </a:r>
            <a:r>
              <a:rPr lang="zh-CN" altLang="zh-CN" dirty="0">
                <a:effectLst/>
                <a:latin typeface="+mn-ea"/>
                <a:cs typeface="Times New Roman" panose="02020603050405020304" pitchFamily="18" charset="0"/>
              </a:rPr>
              <a:t>判断</a:t>
            </a:r>
            <a:r>
              <a:rPr lang="zh-CN" altLang="en-US" dirty="0">
                <a:effectLst/>
                <a:latin typeface="+mn-ea"/>
                <a:cs typeface="Times New Roman" panose="02020603050405020304" pitchFamily="18" charset="0"/>
              </a:rPr>
              <a:t>右</a:t>
            </a:r>
            <a:r>
              <a:rPr lang="zh-CN" altLang="zh-CN" dirty="0">
                <a:effectLst/>
                <a:latin typeface="+mn-ea"/>
                <a:cs typeface="Times New Roman" panose="02020603050405020304" pitchFamily="18" charset="0"/>
              </a:rPr>
              <a:t>图所示的格是否为分配格或模格？</a:t>
            </a:r>
            <a:endParaRPr lang="zh-CN" altLang="en-US" dirty="0">
              <a:latin typeface="+mn-ea"/>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8DECE4E-83FD-47B4-971E-37C09DECED9B}"/>
                  </a:ext>
                </a:extLst>
              </p:cNvPr>
              <p:cNvSpPr txBox="1"/>
              <p:nvPr/>
            </p:nvSpPr>
            <p:spPr>
              <a:xfrm>
                <a:off x="318782" y="3761795"/>
                <a:ext cx="11652646" cy="2907847"/>
              </a:xfrm>
              <a:prstGeom prst="rect">
                <a:avLst/>
              </a:prstGeom>
              <a:noFill/>
            </p:spPr>
            <p:txBody>
              <a:bodyPr wrap="square">
                <a:spAutoFit/>
              </a:bodyPr>
              <a:lstStyle/>
              <a:p>
                <a:pPr algn="just">
                  <a:lnSpc>
                    <a:spcPct val="130000"/>
                  </a:lnSpc>
                  <a:spcBef>
                    <a:spcPts val="1200"/>
                  </a:spcBef>
                </a:pPr>
                <a:r>
                  <a:rPr lang="zh-CN" altLang="zh-CN" b="1" kern="100" dirty="0">
                    <a:solidFill>
                      <a:srgbClr val="FF0000"/>
                    </a:solidFill>
                    <a:effectLst/>
                    <a:latin typeface="+mn-ea"/>
                  </a:rPr>
                  <a:t>解</a:t>
                </a:r>
                <a:r>
                  <a:rPr lang="zh-CN" altLang="zh-CN" b="1" kern="100" dirty="0">
                    <a:effectLst/>
                    <a:latin typeface="+mn-ea"/>
                  </a:rPr>
                  <a:t> </a:t>
                </a:r>
                <a:endParaRPr lang="en-US" altLang="zh-CN" b="1" kern="100" dirty="0">
                  <a:effectLst/>
                  <a:latin typeface="+mn-ea"/>
                </a:endParaRPr>
              </a:p>
              <a:p>
                <a:pPr algn="just">
                  <a:lnSpc>
                    <a:spcPct val="130000"/>
                  </a:lnSpc>
                  <a:spcBef>
                    <a:spcPts val="1200"/>
                  </a:spcBef>
                </a:pPr>
                <a14:m>
                  <m:oMath xmlns:m="http://schemas.openxmlformats.org/officeDocument/2006/math">
                    <m:r>
                      <a:rPr lang="en-US" altLang="zh-CN" b="1" i="1" kern="100" dirty="0" smtClean="0">
                        <a:effectLst/>
                        <a:latin typeface="Cambria Math" panose="02040503050406030204" pitchFamily="18" charset="0"/>
                      </a:rPr>
                      <m:t>𝑳</m:t>
                    </m:r>
                    <m:r>
                      <a:rPr lang="en-US" altLang="zh-CN" b="1" i="1" kern="100" baseline="-25000" dirty="0" smtClean="0">
                        <a:effectLst/>
                        <a:latin typeface="Cambria Math" panose="02040503050406030204" pitchFamily="18" charset="0"/>
                      </a:rPr>
                      <m:t>𝟏</m:t>
                    </m:r>
                  </m:oMath>
                </a14:m>
                <a:r>
                  <a:rPr lang="zh-CN" altLang="zh-CN" b="1" kern="100" dirty="0">
                    <a:effectLst/>
                    <a:latin typeface="+mn-ea"/>
                  </a:rPr>
                  <a:t>含有与钻石格同构的子格</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𝒅</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𝒆</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𝒇</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𝒈</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𝒉</m:t>
                    </m:r>
                    <m:r>
                      <a:rPr lang="en-US" altLang="zh-CN" b="1" i="1" kern="100" dirty="0">
                        <a:effectLst/>
                        <a:latin typeface="Cambria Math" panose="02040503050406030204" pitchFamily="18" charset="0"/>
                      </a:rPr>
                      <m:t>}</m:t>
                    </m:r>
                  </m:oMath>
                </a14:m>
                <a:r>
                  <a:rPr lang="zh-CN" altLang="zh-CN" b="1" kern="100" dirty="0">
                    <a:effectLst/>
                    <a:latin typeface="+mn-ea"/>
                  </a:rPr>
                  <a:t>，没有与五角格同构的子格。所以是模格，但不是分配格。</a:t>
                </a:r>
              </a:p>
              <a:p>
                <a:pPr algn="just">
                  <a:lnSpc>
                    <a:spcPct val="130000"/>
                  </a:lnSpc>
                  <a:spcBef>
                    <a:spcPts val="1200"/>
                  </a:spcBef>
                </a:pPr>
                <a14:m>
                  <m:oMath xmlns:m="http://schemas.openxmlformats.org/officeDocument/2006/math">
                    <m:r>
                      <a:rPr lang="en-US" altLang="zh-CN" b="1" i="1" kern="100" dirty="0" smtClean="0">
                        <a:effectLst/>
                        <a:latin typeface="Cambria Math" panose="02040503050406030204" pitchFamily="18" charset="0"/>
                      </a:rPr>
                      <m:t>𝑳</m:t>
                    </m:r>
                    <m:r>
                      <a:rPr lang="en-US" altLang="zh-CN" b="1" i="1" kern="100" baseline="-25000" dirty="0">
                        <a:effectLst/>
                        <a:latin typeface="Cambria Math" panose="02040503050406030204" pitchFamily="18" charset="0"/>
                      </a:rPr>
                      <m:t>𝟐</m:t>
                    </m:r>
                  </m:oMath>
                </a14:m>
                <a:r>
                  <a:rPr lang="zh-CN" altLang="zh-CN" b="1" kern="100" dirty="0">
                    <a:effectLst/>
                    <a:latin typeface="+mn-ea"/>
                  </a:rPr>
                  <a:t>含有与五角格同构的子格</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𝒅</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𝒆</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𝒈</m:t>
                    </m:r>
                    <m:r>
                      <a:rPr lang="en-US" altLang="zh-CN" b="1" i="1" kern="100" dirty="0">
                        <a:effectLst/>
                        <a:latin typeface="Cambria Math" panose="02040503050406030204" pitchFamily="18" charset="0"/>
                      </a:rPr>
                      <m:t>}</m:t>
                    </m:r>
                  </m:oMath>
                </a14:m>
                <a:r>
                  <a:rPr lang="zh-CN" altLang="zh-CN" b="1" kern="100" dirty="0">
                    <a:effectLst/>
                    <a:latin typeface="+mn-ea"/>
                  </a:rPr>
                  <a:t>，所以既不是分配格，也不是模格。</a:t>
                </a:r>
              </a:p>
              <a:p>
                <a:pPr>
                  <a:lnSpc>
                    <a:spcPct val="130000"/>
                  </a:lnSpc>
                  <a:spcBef>
                    <a:spcPts val="1200"/>
                  </a:spcBef>
                </a:pPr>
                <a14:m>
                  <m:oMath xmlns:m="http://schemas.openxmlformats.org/officeDocument/2006/math">
                    <m:r>
                      <a:rPr lang="en-US" altLang="zh-CN" b="1" i="1" dirty="0" smtClean="0">
                        <a:effectLst/>
                        <a:latin typeface="Cambria Math" panose="02040503050406030204" pitchFamily="18" charset="0"/>
                      </a:rPr>
                      <m:t>𝑳</m:t>
                    </m:r>
                    <m:r>
                      <a:rPr lang="en-US" altLang="zh-CN" b="1" i="1" baseline="-25000" dirty="0">
                        <a:effectLst/>
                        <a:latin typeface="Cambria Math" panose="02040503050406030204" pitchFamily="18" charset="0"/>
                      </a:rPr>
                      <m:t>𝟑</m:t>
                    </m:r>
                  </m:oMath>
                </a14:m>
                <a:r>
                  <a:rPr lang="zh-CN" altLang="zh-CN" b="1" dirty="0">
                    <a:effectLst/>
                    <a:latin typeface="+mn-ea"/>
                    <a:cs typeface="Times New Roman" panose="02020603050405020304" pitchFamily="18" charset="0"/>
                  </a:rPr>
                  <a:t>含有与五角格同构的子格</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𝒂</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𝒃</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𝒄</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𝒆</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𝒇</m:t>
                    </m:r>
                    <m:r>
                      <a:rPr lang="en-US" altLang="zh-CN" b="1" i="1" dirty="0">
                        <a:effectLst/>
                        <a:latin typeface="Cambria Math" panose="02040503050406030204" pitchFamily="18" charset="0"/>
                      </a:rPr>
                      <m:t>}</m:t>
                    </m:r>
                  </m:oMath>
                </a14:m>
                <a:r>
                  <a:rPr lang="zh-CN" altLang="zh-CN" b="1" dirty="0">
                    <a:effectLst/>
                    <a:latin typeface="+mn-ea"/>
                    <a:cs typeface="Times New Roman" panose="02020603050405020304" pitchFamily="18" charset="0"/>
                  </a:rPr>
                  <a:t>，所以既不是分配格，也不是模格。</a:t>
                </a:r>
                <a:endParaRPr lang="zh-CN" altLang="en-US" b="1" dirty="0">
                  <a:latin typeface="+mn-ea"/>
                </a:endParaRPr>
              </a:p>
            </p:txBody>
          </p:sp>
        </mc:Choice>
        <mc:Fallback xmlns="">
          <p:sp>
            <p:nvSpPr>
              <p:cNvPr id="5" name="文本框 4">
                <a:extLst>
                  <a:ext uri="{FF2B5EF4-FFF2-40B4-BE49-F238E27FC236}">
                    <a16:creationId xmlns:a16="http://schemas.microsoft.com/office/drawing/2014/main" id="{08DECE4E-83FD-47B4-971E-37C09DECED9B}"/>
                  </a:ext>
                </a:extLst>
              </p:cNvPr>
              <p:cNvSpPr txBox="1">
                <a:spLocks noRot="1" noChangeAspect="1" noMove="1" noResize="1" noEditPoints="1" noAdjustHandles="1" noChangeArrowheads="1" noChangeShapeType="1" noTextEdit="1"/>
              </p:cNvSpPr>
              <p:nvPr/>
            </p:nvSpPr>
            <p:spPr>
              <a:xfrm>
                <a:off x="318782" y="3761795"/>
                <a:ext cx="11652646" cy="2907847"/>
              </a:xfrm>
              <a:prstGeom prst="rect">
                <a:avLst/>
              </a:prstGeom>
              <a:blipFill>
                <a:blip r:embed="rId5"/>
                <a:stretch>
                  <a:fillRect l="-785" r="-837" b="-3983"/>
                </a:stretch>
              </a:blipFill>
            </p:spPr>
            <p:txBody>
              <a:bodyPr/>
              <a:lstStyle/>
              <a:p>
                <a:r>
                  <a:rPr lang="zh-CN" altLang="en-US">
                    <a:noFill/>
                  </a:rPr>
                  <a:t> </a:t>
                </a:r>
              </a:p>
            </p:txBody>
          </p:sp>
        </mc:Fallback>
      </mc:AlternateContent>
      <p:grpSp>
        <p:nvGrpSpPr>
          <p:cNvPr id="80" name="组合 79">
            <a:extLst>
              <a:ext uri="{FF2B5EF4-FFF2-40B4-BE49-F238E27FC236}">
                <a16:creationId xmlns:a16="http://schemas.microsoft.com/office/drawing/2014/main" id="{1EC9E12B-7490-47C8-9FD1-063C330D0E16}"/>
              </a:ext>
            </a:extLst>
          </p:cNvPr>
          <p:cNvGrpSpPr/>
          <p:nvPr/>
        </p:nvGrpSpPr>
        <p:grpSpPr>
          <a:xfrm>
            <a:off x="6027071" y="915194"/>
            <a:ext cx="5585028" cy="2948572"/>
            <a:chOff x="2674597" y="1465347"/>
            <a:chExt cx="5530234" cy="2835414"/>
          </a:xfrm>
        </p:grpSpPr>
        <p:grpSp>
          <p:nvGrpSpPr>
            <p:cNvPr id="81" name="组合 80">
              <a:extLst>
                <a:ext uri="{FF2B5EF4-FFF2-40B4-BE49-F238E27FC236}">
                  <a16:creationId xmlns:a16="http://schemas.microsoft.com/office/drawing/2014/main" id="{B6A0569C-66D4-4535-92FB-E3424D6493EB}"/>
                </a:ext>
              </a:extLst>
            </p:cNvPr>
            <p:cNvGrpSpPr/>
            <p:nvPr/>
          </p:nvGrpSpPr>
          <p:grpSpPr>
            <a:xfrm>
              <a:off x="2674597" y="1465347"/>
              <a:ext cx="1441081" cy="2388548"/>
              <a:chOff x="2674597" y="1465347"/>
              <a:chExt cx="1441081" cy="2388548"/>
            </a:xfrm>
          </p:grpSpPr>
          <p:sp>
            <p:nvSpPr>
              <p:cNvPr id="128" name="流程图: 接点 127">
                <a:extLst>
                  <a:ext uri="{FF2B5EF4-FFF2-40B4-BE49-F238E27FC236}">
                    <a16:creationId xmlns:a16="http://schemas.microsoft.com/office/drawing/2014/main" id="{AA6006AD-FACF-47EE-9E87-F6991076D21C}"/>
                  </a:ext>
                </a:extLst>
              </p:cNvPr>
              <p:cNvSpPr/>
              <p:nvPr/>
            </p:nvSpPr>
            <p:spPr>
              <a:xfrm>
                <a:off x="2907659" y="2335338"/>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29" name="流程图: 接点 128">
                <a:extLst>
                  <a:ext uri="{FF2B5EF4-FFF2-40B4-BE49-F238E27FC236}">
                    <a16:creationId xmlns:a16="http://schemas.microsoft.com/office/drawing/2014/main" id="{C4C26279-ED80-4B8C-BDF1-F26D28391ABD}"/>
                  </a:ext>
                </a:extLst>
              </p:cNvPr>
              <p:cNvSpPr/>
              <p:nvPr/>
            </p:nvSpPr>
            <p:spPr>
              <a:xfrm>
                <a:off x="3376317" y="2335338"/>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30" name="流程图: 接点 129">
                <a:extLst>
                  <a:ext uri="{FF2B5EF4-FFF2-40B4-BE49-F238E27FC236}">
                    <a16:creationId xmlns:a16="http://schemas.microsoft.com/office/drawing/2014/main" id="{D957592F-9208-49B9-8519-94E65609C8D4}"/>
                  </a:ext>
                </a:extLst>
              </p:cNvPr>
              <p:cNvSpPr/>
              <p:nvPr/>
            </p:nvSpPr>
            <p:spPr>
              <a:xfrm>
                <a:off x="3855658" y="2335338"/>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31" name="流程图: 接点 130">
                <a:extLst>
                  <a:ext uri="{FF2B5EF4-FFF2-40B4-BE49-F238E27FC236}">
                    <a16:creationId xmlns:a16="http://schemas.microsoft.com/office/drawing/2014/main" id="{F301CD1A-F018-4052-9D84-F7A8227595D4}"/>
                  </a:ext>
                </a:extLst>
              </p:cNvPr>
              <p:cNvSpPr/>
              <p:nvPr/>
            </p:nvSpPr>
            <p:spPr>
              <a:xfrm>
                <a:off x="3362926" y="350251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32" name="流程图: 接点 131">
                <a:extLst>
                  <a:ext uri="{FF2B5EF4-FFF2-40B4-BE49-F238E27FC236}">
                    <a16:creationId xmlns:a16="http://schemas.microsoft.com/office/drawing/2014/main" id="{9D89D324-5AD4-474F-8A0E-9A3CFEF912D7}"/>
                  </a:ext>
                </a:extLst>
              </p:cNvPr>
              <p:cNvSpPr/>
              <p:nvPr/>
            </p:nvSpPr>
            <p:spPr>
              <a:xfrm>
                <a:off x="3842932" y="306972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33" name="流程图: 接点 132">
                <a:extLst>
                  <a:ext uri="{FF2B5EF4-FFF2-40B4-BE49-F238E27FC236}">
                    <a16:creationId xmlns:a16="http://schemas.microsoft.com/office/drawing/2014/main" id="{20DE145F-C591-4A03-AAC4-6771D6B31E9C}"/>
                  </a:ext>
                </a:extLst>
              </p:cNvPr>
              <p:cNvSpPr/>
              <p:nvPr/>
            </p:nvSpPr>
            <p:spPr>
              <a:xfrm>
                <a:off x="2907659" y="307509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34" name="流程图: 接点 133">
                <a:extLst>
                  <a:ext uri="{FF2B5EF4-FFF2-40B4-BE49-F238E27FC236}">
                    <a16:creationId xmlns:a16="http://schemas.microsoft.com/office/drawing/2014/main" id="{EE2EAF30-F01A-457A-8E81-6003E4D71314}"/>
                  </a:ext>
                </a:extLst>
              </p:cNvPr>
              <p:cNvSpPr/>
              <p:nvPr/>
            </p:nvSpPr>
            <p:spPr>
              <a:xfrm>
                <a:off x="3376317" y="191660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35" name="流程图: 接点 134">
                <a:extLst>
                  <a:ext uri="{FF2B5EF4-FFF2-40B4-BE49-F238E27FC236}">
                    <a16:creationId xmlns:a16="http://schemas.microsoft.com/office/drawing/2014/main" id="{C7B975CC-6ADE-4220-8410-BB0C02BBA485}"/>
                  </a:ext>
                </a:extLst>
              </p:cNvPr>
              <p:cNvSpPr/>
              <p:nvPr/>
            </p:nvSpPr>
            <p:spPr>
              <a:xfrm>
                <a:off x="3376317" y="275407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136" name="直接连接符 135">
                <a:extLst>
                  <a:ext uri="{FF2B5EF4-FFF2-40B4-BE49-F238E27FC236}">
                    <a16:creationId xmlns:a16="http://schemas.microsoft.com/office/drawing/2014/main" id="{FF5E888D-E22C-4953-BD57-30B5A6792A12}"/>
                  </a:ext>
                </a:extLst>
              </p:cNvPr>
              <p:cNvCxnSpPr>
                <a:stCxn id="134" idx="3"/>
                <a:endCxn id="128" idx="7"/>
              </p:cNvCxnSpPr>
              <p:nvPr/>
            </p:nvCxnSpPr>
            <p:spPr>
              <a:xfrm flipH="1">
                <a:off x="2985708" y="1995212"/>
                <a:ext cx="404000" cy="3536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F7807328-B1DC-4010-8EDA-B17C7DC58C79}"/>
                  </a:ext>
                </a:extLst>
              </p:cNvPr>
              <p:cNvCxnSpPr>
                <a:stCxn id="135" idx="1"/>
                <a:endCxn id="128" idx="6"/>
              </p:cNvCxnSpPr>
              <p:nvPr/>
            </p:nvCxnSpPr>
            <p:spPr>
              <a:xfrm flipH="1" flipV="1">
                <a:off x="2999099" y="2381387"/>
                <a:ext cx="390609" cy="386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7F9B224A-C94A-4130-B6E4-B18E9537D8C1}"/>
                  </a:ext>
                </a:extLst>
              </p:cNvPr>
              <p:cNvCxnSpPr>
                <a:stCxn id="135" idx="2"/>
                <a:endCxn id="133" idx="7"/>
              </p:cNvCxnSpPr>
              <p:nvPr/>
            </p:nvCxnSpPr>
            <p:spPr>
              <a:xfrm flipH="1">
                <a:off x="2985708" y="2800124"/>
                <a:ext cx="390609" cy="2884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AFD27E04-ACFE-4DC2-8DF5-2C4E6A2EE934}"/>
                  </a:ext>
                </a:extLst>
              </p:cNvPr>
              <p:cNvCxnSpPr>
                <a:stCxn id="130" idx="3"/>
                <a:endCxn id="135" idx="7"/>
              </p:cNvCxnSpPr>
              <p:nvPr/>
            </p:nvCxnSpPr>
            <p:spPr>
              <a:xfrm flipH="1">
                <a:off x="3454366" y="2413949"/>
                <a:ext cx="414683" cy="3536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9511EFE3-FB30-4F15-A3EF-FE306BA89B7D}"/>
                  </a:ext>
                </a:extLst>
              </p:cNvPr>
              <p:cNvCxnSpPr>
                <a:stCxn id="133" idx="5"/>
                <a:endCxn id="131" idx="1"/>
              </p:cNvCxnSpPr>
              <p:nvPr/>
            </p:nvCxnSpPr>
            <p:spPr>
              <a:xfrm>
                <a:off x="2985708" y="3153707"/>
                <a:ext cx="390609" cy="3622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02B19CE6-8C4A-4E36-AC7B-11B53D88EE5C}"/>
                  </a:ext>
                </a:extLst>
              </p:cNvPr>
              <p:cNvCxnSpPr>
                <a:stCxn id="132" idx="1"/>
                <a:endCxn id="135" idx="6"/>
              </p:cNvCxnSpPr>
              <p:nvPr/>
            </p:nvCxnSpPr>
            <p:spPr>
              <a:xfrm flipH="1" flipV="1">
                <a:off x="3467757" y="2800124"/>
                <a:ext cx="388566" cy="2830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D1167D43-F9F3-4816-BB0A-8563F32CE3B8}"/>
                  </a:ext>
                </a:extLst>
              </p:cNvPr>
              <p:cNvCxnSpPr>
                <a:stCxn id="132" idx="3"/>
                <a:endCxn id="131" idx="7"/>
              </p:cNvCxnSpPr>
              <p:nvPr/>
            </p:nvCxnSpPr>
            <p:spPr>
              <a:xfrm flipH="1">
                <a:off x="3440975" y="3148333"/>
                <a:ext cx="415348" cy="367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423C3134-8E55-4B82-8F77-CA4F1C4E65DF}"/>
                  </a:ext>
                </a:extLst>
              </p:cNvPr>
              <p:cNvCxnSpPr>
                <a:stCxn id="134" idx="4"/>
                <a:endCxn id="129" idx="0"/>
              </p:cNvCxnSpPr>
              <p:nvPr/>
            </p:nvCxnSpPr>
            <p:spPr>
              <a:xfrm>
                <a:off x="3422037" y="2008699"/>
                <a:ext cx="0" cy="3266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43685EC2-B6BA-4772-A1E5-99F71587A1CB}"/>
                  </a:ext>
                </a:extLst>
              </p:cNvPr>
              <p:cNvCxnSpPr>
                <a:stCxn id="134" idx="5"/>
                <a:endCxn id="130" idx="1"/>
              </p:cNvCxnSpPr>
              <p:nvPr/>
            </p:nvCxnSpPr>
            <p:spPr>
              <a:xfrm>
                <a:off x="3454366" y="1995212"/>
                <a:ext cx="414683" cy="3536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EFB38C9A-C027-4078-9C8C-D861363D4B16}"/>
                  </a:ext>
                </a:extLst>
              </p:cNvPr>
              <p:cNvCxnSpPr>
                <a:stCxn id="129" idx="4"/>
                <a:endCxn id="135" idx="0"/>
              </p:cNvCxnSpPr>
              <p:nvPr/>
            </p:nvCxnSpPr>
            <p:spPr>
              <a:xfrm>
                <a:off x="3422037" y="2427436"/>
                <a:ext cx="0" cy="3266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6" name="文本框 145">
                    <a:extLst>
                      <a:ext uri="{FF2B5EF4-FFF2-40B4-BE49-F238E27FC236}">
                        <a16:creationId xmlns:a16="http://schemas.microsoft.com/office/drawing/2014/main" id="{DD37E8ED-3DFF-469C-8A7C-437E7B6E4CFD}"/>
                      </a:ext>
                    </a:extLst>
                  </p:cNvPr>
                  <p:cNvSpPr txBox="1"/>
                  <p:nvPr/>
                </p:nvSpPr>
                <p:spPr>
                  <a:xfrm>
                    <a:off x="2674597" y="2914447"/>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146" name="文本框 145">
                    <a:extLst>
                      <a:ext uri="{FF2B5EF4-FFF2-40B4-BE49-F238E27FC236}">
                        <a16:creationId xmlns:a16="http://schemas.microsoft.com/office/drawing/2014/main" id="{DD37E8ED-3DFF-469C-8A7C-437E7B6E4CFD}"/>
                      </a:ext>
                    </a:extLst>
                  </p:cNvPr>
                  <p:cNvSpPr txBox="1">
                    <a:spLocks noRot="1" noChangeAspect="1" noMove="1" noResize="1" noEditPoints="1" noAdjustHandles="1" noChangeArrowheads="1" noChangeShapeType="1" noTextEdit="1"/>
                  </p:cNvSpPr>
                  <p:nvPr/>
                </p:nvSpPr>
                <p:spPr>
                  <a:xfrm>
                    <a:off x="2674597" y="2914447"/>
                    <a:ext cx="234779" cy="443948"/>
                  </a:xfrm>
                  <a:prstGeom prst="rect">
                    <a:avLst/>
                  </a:prstGeom>
                  <a:blipFill>
                    <a:blip r:embed="rId6"/>
                    <a:stretch>
                      <a:fillRect l="-10256" r="-61538"/>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7" name="文本框 146">
                    <a:extLst>
                      <a:ext uri="{FF2B5EF4-FFF2-40B4-BE49-F238E27FC236}">
                        <a16:creationId xmlns:a16="http://schemas.microsoft.com/office/drawing/2014/main" id="{13D64B5F-321E-43AC-AD96-F1578EBE22C5}"/>
                      </a:ext>
                    </a:extLst>
                  </p:cNvPr>
                  <p:cNvSpPr txBox="1"/>
                  <p:nvPr/>
                </p:nvSpPr>
                <p:spPr>
                  <a:xfrm>
                    <a:off x="3114756" y="3409947"/>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147" name="文本框 146">
                    <a:extLst>
                      <a:ext uri="{FF2B5EF4-FFF2-40B4-BE49-F238E27FC236}">
                        <a16:creationId xmlns:a16="http://schemas.microsoft.com/office/drawing/2014/main" id="{13D64B5F-321E-43AC-AD96-F1578EBE22C5}"/>
                      </a:ext>
                    </a:extLst>
                  </p:cNvPr>
                  <p:cNvSpPr txBox="1">
                    <a:spLocks noRot="1" noChangeAspect="1" noMove="1" noResize="1" noEditPoints="1" noAdjustHandles="1" noChangeArrowheads="1" noChangeShapeType="1" noTextEdit="1"/>
                  </p:cNvSpPr>
                  <p:nvPr/>
                </p:nvSpPr>
                <p:spPr>
                  <a:xfrm>
                    <a:off x="3114756" y="3409947"/>
                    <a:ext cx="234779" cy="443948"/>
                  </a:xfrm>
                  <a:prstGeom prst="rect">
                    <a:avLst/>
                  </a:prstGeom>
                  <a:blipFill>
                    <a:blip r:embed="rId7"/>
                    <a:stretch>
                      <a:fillRect r="-51282"/>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8" name="文本框 147">
                    <a:extLst>
                      <a:ext uri="{FF2B5EF4-FFF2-40B4-BE49-F238E27FC236}">
                        <a16:creationId xmlns:a16="http://schemas.microsoft.com/office/drawing/2014/main" id="{42388D72-E65A-4CF6-B2DC-2EC1699A759C}"/>
                      </a:ext>
                    </a:extLst>
                  </p:cNvPr>
                  <p:cNvSpPr txBox="1"/>
                  <p:nvPr/>
                </p:nvSpPr>
                <p:spPr>
                  <a:xfrm>
                    <a:off x="3880899" y="289175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148" name="文本框 147">
                    <a:extLst>
                      <a:ext uri="{FF2B5EF4-FFF2-40B4-BE49-F238E27FC236}">
                        <a16:creationId xmlns:a16="http://schemas.microsoft.com/office/drawing/2014/main" id="{42388D72-E65A-4CF6-B2DC-2EC1699A759C}"/>
                      </a:ext>
                    </a:extLst>
                  </p:cNvPr>
                  <p:cNvSpPr txBox="1">
                    <a:spLocks noRot="1" noChangeAspect="1" noMove="1" noResize="1" noEditPoints="1" noAdjustHandles="1" noChangeArrowheads="1" noChangeShapeType="1" noTextEdit="1"/>
                  </p:cNvSpPr>
                  <p:nvPr/>
                </p:nvSpPr>
                <p:spPr>
                  <a:xfrm>
                    <a:off x="3880899" y="2891751"/>
                    <a:ext cx="234779" cy="443948"/>
                  </a:xfrm>
                  <a:prstGeom prst="rect">
                    <a:avLst/>
                  </a:prstGeom>
                  <a:blipFill>
                    <a:blip r:embed="rId8"/>
                    <a:stretch>
                      <a:fillRect r="-39474"/>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9" name="文本框 148">
                    <a:extLst>
                      <a:ext uri="{FF2B5EF4-FFF2-40B4-BE49-F238E27FC236}">
                        <a16:creationId xmlns:a16="http://schemas.microsoft.com/office/drawing/2014/main" id="{9F0365CE-F954-4F83-A619-D2EB9BAEFFE3}"/>
                      </a:ext>
                    </a:extLst>
                  </p:cNvPr>
                  <p:cNvSpPr txBox="1"/>
                  <p:nvPr/>
                </p:nvSpPr>
                <p:spPr>
                  <a:xfrm>
                    <a:off x="3486679" y="2517167"/>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149" name="文本框 148">
                    <a:extLst>
                      <a:ext uri="{FF2B5EF4-FFF2-40B4-BE49-F238E27FC236}">
                        <a16:creationId xmlns:a16="http://schemas.microsoft.com/office/drawing/2014/main" id="{9F0365CE-F954-4F83-A619-D2EB9BAEFFE3}"/>
                      </a:ext>
                    </a:extLst>
                  </p:cNvPr>
                  <p:cNvSpPr txBox="1">
                    <a:spLocks noRot="1" noChangeAspect="1" noMove="1" noResize="1" noEditPoints="1" noAdjustHandles="1" noChangeArrowheads="1" noChangeShapeType="1" noTextEdit="1"/>
                  </p:cNvSpPr>
                  <p:nvPr/>
                </p:nvSpPr>
                <p:spPr>
                  <a:xfrm>
                    <a:off x="3486679" y="2517167"/>
                    <a:ext cx="234779" cy="443948"/>
                  </a:xfrm>
                  <a:prstGeom prst="rect">
                    <a:avLst/>
                  </a:prstGeom>
                  <a:blipFill>
                    <a:blip r:embed="rId9"/>
                    <a:stretch>
                      <a:fillRect l="-7692" r="-69231"/>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0" name="文本框 149">
                    <a:extLst>
                      <a:ext uri="{FF2B5EF4-FFF2-40B4-BE49-F238E27FC236}">
                        <a16:creationId xmlns:a16="http://schemas.microsoft.com/office/drawing/2014/main" id="{399BD2C2-D393-44BA-AE75-4E3D7EF5B54C}"/>
                      </a:ext>
                    </a:extLst>
                  </p:cNvPr>
                  <p:cNvSpPr txBox="1"/>
                  <p:nvPr/>
                </p:nvSpPr>
                <p:spPr>
                  <a:xfrm>
                    <a:off x="2704834" y="2295938"/>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150" name="文本框 149">
                    <a:extLst>
                      <a:ext uri="{FF2B5EF4-FFF2-40B4-BE49-F238E27FC236}">
                        <a16:creationId xmlns:a16="http://schemas.microsoft.com/office/drawing/2014/main" id="{399BD2C2-D393-44BA-AE75-4E3D7EF5B54C}"/>
                      </a:ext>
                    </a:extLst>
                  </p:cNvPr>
                  <p:cNvSpPr txBox="1">
                    <a:spLocks noRot="1" noChangeAspect="1" noMove="1" noResize="1" noEditPoints="1" noAdjustHandles="1" noChangeArrowheads="1" noChangeShapeType="1" noTextEdit="1"/>
                  </p:cNvSpPr>
                  <p:nvPr/>
                </p:nvSpPr>
                <p:spPr>
                  <a:xfrm>
                    <a:off x="2704834" y="2295938"/>
                    <a:ext cx="234779" cy="443948"/>
                  </a:xfrm>
                  <a:prstGeom prst="rect">
                    <a:avLst/>
                  </a:prstGeom>
                  <a:blipFill>
                    <a:blip r:embed="rId10"/>
                    <a:stretch>
                      <a:fillRect r="-41026"/>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1" name="文本框 150">
                    <a:extLst>
                      <a:ext uri="{FF2B5EF4-FFF2-40B4-BE49-F238E27FC236}">
                        <a16:creationId xmlns:a16="http://schemas.microsoft.com/office/drawing/2014/main" id="{D96B3B47-C800-4783-80FE-70CAC142F048}"/>
                      </a:ext>
                    </a:extLst>
                  </p:cNvPr>
                  <p:cNvSpPr txBox="1"/>
                  <p:nvPr/>
                </p:nvSpPr>
                <p:spPr>
                  <a:xfrm>
                    <a:off x="3158925" y="2046536"/>
                    <a:ext cx="139344"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𝒇</m:t>
                          </m:r>
                        </m:oMath>
                      </m:oMathPara>
                    </a14:m>
                    <a:endParaRPr lang="en-US" b="1" dirty="0">
                      <a:solidFill>
                        <a:srgbClr val="FF0000"/>
                      </a:solidFill>
                    </a:endParaRPr>
                  </a:p>
                </p:txBody>
              </p:sp>
            </mc:Choice>
            <mc:Fallback xmlns="">
              <p:sp>
                <p:nvSpPr>
                  <p:cNvPr id="151" name="文本框 150">
                    <a:extLst>
                      <a:ext uri="{FF2B5EF4-FFF2-40B4-BE49-F238E27FC236}">
                        <a16:creationId xmlns:a16="http://schemas.microsoft.com/office/drawing/2014/main" id="{D96B3B47-C800-4783-80FE-70CAC142F048}"/>
                      </a:ext>
                    </a:extLst>
                  </p:cNvPr>
                  <p:cNvSpPr txBox="1">
                    <a:spLocks noRot="1" noChangeAspect="1" noMove="1" noResize="1" noEditPoints="1" noAdjustHandles="1" noChangeArrowheads="1" noChangeShapeType="1" noTextEdit="1"/>
                  </p:cNvSpPr>
                  <p:nvPr/>
                </p:nvSpPr>
                <p:spPr>
                  <a:xfrm>
                    <a:off x="3158925" y="2046536"/>
                    <a:ext cx="139344" cy="443948"/>
                  </a:xfrm>
                  <a:prstGeom prst="rect">
                    <a:avLst/>
                  </a:prstGeom>
                  <a:blipFill>
                    <a:blip r:embed="rId11"/>
                    <a:stretch>
                      <a:fillRect l="-52174" r="-173913" b="-19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2" name="文本框 151">
                    <a:extLst>
                      <a:ext uri="{FF2B5EF4-FFF2-40B4-BE49-F238E27FC236}">
                        <a16:creationId xmlns:a16="http://schemas.microsoft.com/office/drawing/2014/main" id="{A5110323-3680-47AA-834D-C4CC9500006C}"/>
                      </a:ext>
                    </a:extLst>
                  </p:cNvPr>
                  <p:cNvSpPr txBox="1"/>
                  <p:nvPr/>
                </p:nvSpPr>
                <p:spPr>
                  <a:xfrm>
                    <a:off x="3871156" y="2150672"/>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𝒈</m:t>
                          </m:r>
                        </m:oMath>
                      </m:oMathPara>
                    </a14:m>
                    <a:endParaRPr lang="en-US" b="1" dirty="0">
                      <a:solidFill>
                        <a:srgbClr val="FF0000"/>
                      </a:solidFill>
                    </a:endParaRPr>
                  </a:p>
                </p:txBody>
              </p:sp>
            </mc:Choice>
            <mc:Fallback xmlns="">
              <p:sp>
                <p:nvSpPr>
                  <p:cNvPr id="152" name="文本框 151">
                    <a:extLst>
                      <a:ext uri="{FF2B5EF4-FFF2-40B4-BE49-F238E27FC236}">
                        <a16:creationId xmlns:a16="http://schemas.microsoft.com/office/drawing/2014/main" id="{A5110323-3680-47AA-834D-C4CC9500006C}"/>
                      </a:ext>
                    </a:extLst>
                  </p:cNvPr>
                  <p:cNvSpPr txBox="1">
                    <a:spLocks noRot="1" noChangeAspect="1" noMove="1" noResize="1" noEditPoints="1" noAdjustHandles="1" noChangeArrowheads="1" noChangeShapeType="1" noTextEdit="1"/>
                  </p:cNvSpPr>
                  <p:nvPr/>
                </p:nvSpPr>
                <p:spPr>
                  <a:xfrm>
                    <a:off x="3871156" y="2150672"/>
                    <a:ext cx="234779" cy="443948"/>
                  </a:xfrm>
                  <a:prstGeom prst="rect">
                    <a:avLst/>
                  </a:prstGeom>
                  <a:blipFill>
                    <a:blip r:embed="rId12"/>
                    <a:stretch>
                      <a:fillRect l="-10256" r="-71795" b="-13158"/>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 name="文本框 152">
                    <a:extLst>
                      <a:ext uri="{FF2B5EF4-FFF2-40B4-BE49-F238E27FC236}">
                        <a16:creationId xmlns:a16="http://schemas.microsoft.com/office/drawing/2014/main" id="{9FF2C0C1-D465-4296-A3F3-D3A5090712FA}"/>
                      </a:ext>
                    </a:extLst>
                  </p:cNvPr>
                  <p:cNvSpPr txBox="1"/>
                  <p:nvPr/>
                </p:nvSpPr>
                <p:spPr>
                  <a:xfrm>
                    <a:off x="3300822" y="1465347"/>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𝒉</m:t>
                          </m:r>
                        </m:oMath>
                      </m:oMathPara>
                    </a14:m>
                    <a:endParaRPr lang="en-US" b="1" dirty="0">
                      <a:solidFill>
                        <a:srgbClr val="FF0000"/>
                      </a:solidFill>
                    </a:endParaRPr>
                  </a:p>
                </p:txBody>
              </p:sp>
            </mc:Choice>
            <mc:Fallback xmlns="">
              <p:sp>
                <p:nvSpPr>
                  <p:cNvPr id="153" name="文本框 152">
                    <a:extLst>
                      <a:ext uri="{FF2B5EF4-FFF2-40B4-BE49-F238E27FC236}">
                        <a16:creationId xmlns:a16="http://schemas.microsoft.com/office/drawing/2014/main" id="{9FF2C0C1-D465-4296-A3F3-D3A5090712FA}"/>
                      </a:ext>
                    </a:extLst>
                  </p:cNvPr>
                  <p:cNvSpPr txBox="1">
                    <a:spLocks noRot="1" noChangeAspect="1" noMove="1" noResize="1" noEditPoints="1" noAdjustHandles="1" noChangeArrowheads="1" noChangeShapeType="1" noTextEdit="1"/>
                  </p:cNvSpPr>
                  <p:nvPr/>
                </p:nvSpPr>
                <p:spPr>
                  <a:xfrm>
                    <a:off x="3300822" y="1465347"/>
                    <a:ext cx="234779" cy="443948"/>
                  </a:xfrm>
                  <a:prstGeom prst="rect">
                    <a:avLst/>
                  </a:prstGeom>
                  <a:blipFill>
                    <a:blip r:embed="rId13"/>
                    <a:stretch>
                      <a:fillRect l="-7692" r="-69231"/>
                    </a:stretch>
                  </a:blipFill>
                  <a:ln w="19050">
                    <a:noFill/>
                  </a:ln>
                </p:spPr>
                <p:txBody>
                  <a:bodyPr/>
                  <a:lstStyle/>
                  <a:p>
                    <a:r>
                      <a:rPr lang="zh-CN" altLang="en-US">
                        <a:noFill/>
                      </a:rPr>
                      <a:t> </a:t>
                    </a:r>
                  </a:p>
                </p:txBody>
              </p:sp>
            </mc:Fallback>
          </mc:AlternateContent>
        </p:grpSp>
        <p:grpSp>
          <p:nvGrpSpPr>
            <p:cNvPr id="82" name="组合 81">
              <a:extLst>
                <a:ext uri="{FF2B5EF4-FFF2-40B4-BE49-F238E27FC236}">
                  <a16:creationId xmlns:a16="http://schemas.microsoft.com/office/drawing/2014/main" id="{D23116E5-217E-42FC-B6DF-6A6E15A6C8F8}"/>
                </a:ext>
              </a:extLst>
            </p:cNvPr>
            <p:cNvGrpSpPr/>
            <p:nvPr/>
          </p:nvGrpSpPr>
          <p:grpSpPr>
            <a:xfrm>
              <a:off x="6655255" y="1838536"/>
              <a:ext cx="1549576" cy="1962023"/>
              <a:chOff x="6655255" y="1838536"/>
              <a:chExt cx="1549576" cy="1962023"/>
            </a:xfrm>
          </p:grpSpPr>
          <p:sp>
            <p:nvSpPr>
              <p:cNvPr id="109" name="流程图: 接点 108">
                <a:extLst>
                  <a:ext uri="{FF2B5EF4-FFF2-40B4-BE49-F238E27FC236}">
                    <a16:creationId xmlns:a16="http://schemas.microsoft.com/office/drawing/2014/main" id="{E2F33B92-1011-4212-9E17-F38C024F84B7}"/>
                  </a:ext>
                </a:extLst>
              </p:cNvPr>
              <p:cNvSpPr/>
              <p:nvPr/>
            </p:nvSpPr>
            <p:spPr>
              <a:xfrm>
                <a:off x="7929270" y="2833710"/>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10" name="流程图: 接点 109">
                <a:extLst>
                  <a:ext uri="{FF2B5EF4-FFF2-40B4-BE49-F238E27FC236}">
                    <a16:creationId xmlns:a16="http://schemas.microsoft.com/office/drawing/2014/main" id="{6BB16EB6-EDF3-4D61-B8DF-545FE3638EA6}"/>
                  </a:ext>
                </a:extLst>
              </p:cNvPr>
              <p:cNvSpPr/>
              <p:nvPr/>
            </p:nvSpPr>
            <p:spPr>
              <a:xfrm>
                <a:off x="7393742" y="295359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11" name="流程图: 接点 110">
                <a:extLst>
                  <a:ext uri="{FF2B5EF4-FFF2-40B4-BE49-F238E27FC236}">
                    <a16:creationId xmlns:a16="http://schemas.microsoft.com/office/drawing/2014/main" id="{2B8C1447-BDCC-47EB-982B-581CC49959A7}"/>
                  </a:ext>
                </a:extLst>
              </p:cNvPr>
              <p:cNvSpPr/>
              <p:nvPr/>
            </p:nvSpPr>
            <p:spPr>
              <a:xfrm>
                <a:off x="6907497" y="2601490"/>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12" name="流程图: 接点 111">
                <a:extLst>
                  <a:ext uri="{FF2B5EF4-FFF2-40B4-BE49-F238E27FC236}">
                    <a16:creationId xmlns:a16="http://schemas.microsoft.com/office/drawing/2014/main" id="{5C1CC6BB-6F17-4507-9B78-FC5046BFA297}"/>
                  </a:ext>
                </a:extLst>
              </p:cNvPr>
              <p:cNvSpPr/>
              <p:nvPr/>
            </p:nvSpPr>
            <p:spPr>
              <a:xfrm>
                <a:off x="7388804" y="2601490"/>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13" name="流程图: 接点 112">
                <a:extLst>
                  <a:ext uri="{FF2B5EF4-FFF2-40B4-BE49-F238E27FC236}">
                    <a16:creationId xmlns:a16="http://schemas.microsoft.com/office/drawing/2014/main" id="{877D05FA-25B1-4D44-9568-B8EC3127333D}"/>
                  </a:ext>
                </a:extLst>
              </p:cNvPr>
              <p:cNvSpPr/>
              <p:nvPr/>
            </p:nvSpPr>
            <p:spPr>
              <a:xfrm>
                <a:off x="7388804" y="336367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14" name="流程图: 接点 113">
                <a:extLst>
                  <a:ext uri="{FF2B5EF4-FFF2-40B4-BE49-F238E27FC236}">
                    <a16:creationId xmlns:a16="http://schemas.microsoft.com/office/drawing/2014/main" id="{9C429F7E-A1E8-4857-B96B-ACBA88D52F79}"/>
                  </a:ext>
                </a:extLst>
              </p:cNvPr>
              <p:cNvSpPr/>
              <p:nvPr/>
            </p:nvSpPr>
            <p:spPr>
              <a:xfrm>
                <a:off x="7388804" y="2220399"/>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mc:AlternateContent xmlns:mc="http://schemas.openxmlformats.org/markup-compatibility/2006" xmlns:a14="http://schemas.microsoft.com/office/drawing/2010/main">
            <mc:Choice Requires="a14">
              <p:sp>
                <p:nvSpPr>
                  <p:cNvPr id="115" name="文本框 114">
                    <a:extLst>
                      <a:ext uri="{FF2B5EF4-FFF2-40B4-BE49-F238E27FC236}">
                        <a16:creationId xmlns:a16="http://schemas.microsoft.com/office/drawing/2014/main" id="{A0ED48E8-CB28-480D-8184-3B5314FC6574}"/>
                      </a:ext>
                    </a:extLst>
                  </p:cNvPr>
                  <p:cNvSpPr txBox="1"/>
                  <p:nvPr/>
                </p:nvSpPr>
                <p:spPr>
                  <a:xfrm>
                    <a:off x="7142009" y="1838536"/>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𝒇</m:t>
                          </m:r>
                        </m:oMath>
                      </m:oMathPara>
                    </a14:m>
                    <a:endParaRPr lang="en-US" b="1" dirty="0">
                      <a:solidFill>
                        <a:srgbClr val="FF0000"/>
                      </a:solidFill>
                    </a:endParaRPr>
                  </a:p>
                </p:txBody>
              </p:sp>
            </mc:Choice>
            <mc:Fallback xmlns="">
              <p:sp>
                <p:nvSpPr>
                  <p:cNvPr id="115" name="文本框 114">
                    <a:extLst>
                      <a:ext uri="{FF2B5EF4-FFF2-40B4-BE49-F238E27FC236}">
                        <a16:creationId xmlns:a16="http://schemas.microsoft.com/office/drawing/2014/main" id="{A0ED48E8-CB28-480D-8184-3B5314FC6574}"/>
                      </a:ext>
                    </a:extLst>
                  </p:cNvPr>
                  <p:cNvSpPr txBox="1">
                    <a:spLocks noRot="1" noChangeAspect="1" noMove="1" noResize="1" noEditPoints="1" noAdjustHandles="1" noChangeArrowheads="1" noChangeShapeType="1" noTextEdit="1"/>
                  </p:cNvSpPr>
                  <p:nvPr/>
                </p:nvSpPr>
                <p:spPr>
                  <a:xfrm>
                    <a:off x="7142009" y="1838536"/>
                    <a:ext cx="234779" cy="443948"/>
                  </a:xfrm>
                  <a:prstGeom prst="rect">
                    <a:avLst/>
                  </a:prstGeom>
                  <a:blipFill>
                    <a:blip r:embed="rId14"/>
                    <a:stretch>
                      <a:fillRect l="-23077" r="-69231" b="-19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文本框 115">
                    <a:extLst>
                      <a:ext uri="{FF2B5EF4-FFF2-40B4-BE49-F238E27FC236}">
                        <a16:creationId xmlns:a16="http://schemas.microsoft.com/office/drawing/2014/main" id="{A042E479-39A2-458C-9469-453345C3EA9B}"/>
                      </a:ext>
                    </a:extLst>
                  </p:cNvPr>
                  <p:cNvSpPr txBox="1"/>
                  <p:nvPr/>
                </p:nvSpPr>
                <p:spPr>
                  <a:xfrm>
                    <a:off x="7970052" y="265392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116" name="文本框 115">
                    <a:extLst>
                      <a:ext uri="{FF2B5EF4-FFF2-40B4-BE49-F238E27FC236}">
                        <a16:creationId xmlns:a16="http://schemas.microsoft.com/office/drawing/2014/main" id="{A042E479-39A2-458C-9469-453345C3EA9B}"/>
                      </a:ext>
                    </a:extLst>
                  </p:cNvPr>
                  <p:cNvSpPr txBox="1">
                    <a:spLocks noRot="1" noChangeAspect="1" noMove="1" noResize="1" noEditPoints="1" noAdjustHandles="1" noChangeArrowheads="1" noChangeShapeType="1" noTextEdit="1"/>
                  </p:cNvSpPr>
                  <p:nvPr/>
                </p:nvSpPr>
                <p:spPr>
                  <a:xfrm>
                    <a:off x="7970052" y="2653921"/>
                    <a:ext cx="234779" cy="443948"/>
                  </a:xfrm>
                  <a:prstGeom prst="rect">
                    <a:avLst/>
                  </a:prstGeom>
                  <a:blipFill>
                    <a:blip r:embed="rId15"/>
                    <a:stretch>
                      <a:fillRect r="-3589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E11C389D-97F2-418D-AB4B-F537467C22EB}"/>
                      </a:ext>
                    </a:extLst>
                  </p:cNvPr>
                  <p:cNvSpPr txBox="1"/>
                  <p:nvPr/>
                </p:nvSpPr>
                <p:spPr>
                  <a:xfrm>
                    <a:off x="7144412" y="283182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117" name="文本框 116">
                    <a:extLst>
                      <a:ext uri="{FF2B5EF4-FFF2-40B4-BE49-F238E27FC236}">
                        <a16:creationId xmlns:a16="http://schemas.microsoft.com/office/drawing/2014/main" id="{E11C389D-97F2-418D-AB4B-F537467C22EB}"/>
                      </a:ext>
                    </a:extLst>
                  </p:cNvPr>
                  <p:cNvSpPr txBox="1">
                    <a:spLocks noRot="1" noChangeAspect="1" noMove="1" noResize="1" noEditPoints="1" noAdjustHandles="1" noChangeArrowheads="1" noChangeShapeType="1" noTextEdit="1"/>
                  </p:cNvSpPr>
                  <p:nvPr/>
                </p:nvSpPr>
                <p:spPr>
                  <a:xfrm>
                    <a:off x="7144412" y="2831821"/>
                    <a:ext cx="234779" cy="443948"/>
                  </a:xfrm>
                  <a:prstGeom prst="rect">
                    <a:avLst/>
                  </a:prstGeom>
                  <a:blipFill>
                    <a:blip r:embed="rId16"/>
                    <a:stretch>
                      <a:fillRect l="-7692" r="-6410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0568B2C2-46B6-420A-8A71-42ABB2992A13}"/>
                      </a:ext>
                    </a:extLst>
                  </p:cNvPr>
                  <p:cNvSpPr txBox="1"/>
                  <p:nvPr/>
                </p:nvSpPr>
                <p:spPr>
                  <a:xfrm>
                    <a:off x="7284804" y="335661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118" name="文本框 117">
                    <a:extLst>
                      <a:ext uri="{FF2B5EF4-FFF2-40B4-BE49-F238E27FC236}">
                        <a16:creationId xmlns:a16="http://schemas.microsoft.com/office/drawing/2014/main" id="{0568B2C2-46B6-420A-8A71-42ABB2992A13}"/>
                      </a:ext>
                    </a:extLst>
                  </p:cNvPr>
                  <p:cNvSpPr txBox="1">
                    <a:spLocks noRot="1" noChangeAspect="1" noMove="1" noResize="1" noEditPoints="1" noAdjustHandles="1" noChangeArrowheads="1" noChangeShapeType="1" noTextEdit="1"/>
                  </p:cNvSpPr>
                  <p:nvPr/>
                </p:nvSpPr>
                <p:spPr>
                  <a:xfrm>
                    <a:off x="7284804" y="3356611"/>
                    <a:ext cx="234779" cy="443948"/>
                  </a:xfrm>
                  <a:prstGeom prst="rect">
                    <a:avLst/>
                  </a:prstGeom>
                  <a:blipFill>
                    <a:blip r:embed="rId17"/>
                    <a:stretch>
                      <a:fillRect r="-51282"/>
                    </a:stretch>
                  </a:blipFill>
                  <a:ln w="19050">
                    <a:noFill/>
                  </a:ln>
                </p:spPr>
                <p:txBody>
                  <a:bodyPr/>
                  <a:lstStyle/>
                  <a:p>
                    <a:r>
                      <a:rPr lang="zh-CN" altLang="en-US">
                        <a:noFill/>
                      </a:rPr>
                      <a:t> </a:t>
                    </a:r>
                  </a:p>
                </p:txBody>
              </p:sp>
            </mc:Fallback>
          </mc:AlternateContent>
          <p:cxnSp>
            <p:nvCxnSpPr>
              <p:cNvPr id="119" name="直接连接符 118">
                <a:extLst>
                  <a:ext uri="{FF2B5EF4-FFF2-40B4-BE49-F238E27FC236}">
                    <a16:creationId xmlns:a16="http://schemas.microsoft.com/office/drawing/2014/main" id="{EE3EA4C4-01D8-4061-9987-FAB1EAFF7AF4}"/>
                  </a:ext>
                </a:extLst>
              </p:cNvPr>
              <p:cNvCxnSpPr>
                <a:stCxn id="109" idx="0"/>
                <a:endCxn id="114" idx="5"/>
              </p:cNvCxnSpPr>
              <p:nvPr/>
            </p:nvCxnSpPr>
            <p:spPr>
              <a:xfrm flipH="1" flipV="1">
                <a:off x="7466853" y="2299010"/>
                <a:ext cx="508137" cy="5347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B4ECC43C-8E25-4605-A473-320E2AFC462F}"/>
                  </a:ext>
                </a:extLst>
              </p:cNvPr>
              <p:cNvCxnSpPr>
                <a:stCxn id="110" idx="1"/>
                <a:endCxn id="111" idx="5"/>
              </p:cNvCxnSpPr>
              <p:nvPr/>
            </p:nvCxnSpPr>
            <p:spPr>
              <a:xfrm flipH="1" flipV="1">
                <a:off x="6985546" y="2680101"/>
                <a:ext cx="421587" cy="2869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71D10550-D8DF-4576-89DF-C5ACF2C7DC11}"/>
                  </a:ext>
                </a:extLst>
              </p:cNvPr>
              <p:cNvCxnSpPr>
                <a:stCxn id="114" idx="3"/>
                <a:endCxn id="111" idx="7"/>
              </p:cNvCxnSpPr>
              <p:nvPr/>
            </p:nvCxnSpPr>
            <p:spPr>
              <a:xfrm flipH="1">
                <a:off x="6985546" y="2299010"/>
                <a:ext cx="416649" cy="315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3DEDCC17-C02B-4ACE-9ACF-6DFAE9D398B7}"/>
                  </a:ext>
                </a:extLst>
              </p:cNvPr>
              <p:cNvCxnSpPr>
                <a:stCxn id="114" idx="4"/>
                <a:endCxn id="112" idx="0"/>
              </p:cNvCxnSpPr>
              <p:nvPr/>
            </p:nvCxnSpPr>
            <p:spPr>
              <a:xfrm>
                <a:off x="7434524" y="2312497"/>
                <a:ext cx="0" cy="2889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82BADD51-BF86-4DA0-807E-9C4AA8E1A958}"/>
                  </a:ext>
                </a:extLst>
              </p:cNvPr>
              <p:cNvCxnSpPr>
                <a:stCxn id="112" idx="4"/>
                <a:endCxn id="110" idx="0"/>
              </p:cNvCxnSpPr>
              <p:nvPr/>
            </p:nvCxnSpPr>
            <p:spPr>
              <a:xfrm>
                <a:off x="7434524" y="2693588"/>
                <a:ext cx="4938" cy="2600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9AC57A2B-7D42-4FB4-AC2D-8094B9DB1848}"/>
                  </a:ext>
                </a:extLst>
              </p:cNvPr>
              <p:cNvCxnSpPr>
                <a:stCxn id="110" idx="4"/>
                <a:endCxn id="113" idx="0"/>
              </p:cNvCxnSpPr>
              <p:nvPr/>
            </p:nvCxnSpPr>
            <p:spPr>
              <a:xfrm flipH="1">
                <a:off x="7434524" y="3045694"/>
                <a:ext cx="4938" cy="3179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F537AE36-8AB9-4C4E-A8DF-4478C0C44491}"/>
                  </a:ext>
                </a:extLst>
              </p:cNvPr>
              <p:cNvCxnSpPr>
                <a:stCxn id="109" idx="3"/>
                <a:endCxn id="113" idx="7"/>
              </p:cNvCxnSpPr>
              <p:nvPr/>
            </p:nvCxnSpPr>
            <p:spPr>
              <a:xfrm flipH="1">
                <a:off x="7466853" y="2912321"/>
                <a:ext cx="475808" cy="4648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6" name="文本框 125">
                    <a:extLst>
                      <a:ext uri="{FF2B5EF4-FFF2-40B4-BE49-F238E27FC236}">
                        <a16:creationId xmlns:a16="http://schemas.microsoft.com/office/drawing/2014/main" id="{BE577754-DB1C-42F8-A882-0AB65D9D4A8E}"/>
                      </a:ext>
                    </a:extLst>
                  </p:cNvPr>
                  <p:cNvSpPr txBox="1"/>
                  <p:nvPr/>
                </p:nvSpPr>
                <p:spPr>
                  <a:xfrm>
                    <a:off x="7419726" y="2438748"/>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126" name="文本框 125">
                    <a:extLst>
                      <a:ext uri="{FF2B5EF4-FFF2-40B4-BE49-F238E27FC236}">
                        <a16:creationId xmlns:a16="http://schemas.microsoft.com/office/drawing/2014/main" id="{BE577754-DB1C-42F8-A882-0AB65D9D4A8E}"/>
                      </a:ext>
                    </a:extLst>
                  </p:cNvPr>
                  <p:cNvSpPr txBox="1">
                    <a:spLocks noRot="1" noChangeAspect="1" noMove="1" noResize="1" noEditPoints="1" noAdjustHandles="1" noChangeArrowheads="1" noChangeShapeType="1" noTextEdit="1"/>
                  </p:cNvSpPr>
                  <p:nvPr/>
                </p:nvSpPr>
                <p:spPr>
                  <a:xfrm>
                    <a:off x="7419726" y="2438748"/>
                    <a:ext cx="234779" cy="443948"/>
                  </a:xfrm>
                  <a:prstGeom prst="rect">
                    <a:avLst/>
                  </a:prstGeom>
                  <a:blipFill>
                    <a:blip r:embed="rId18"/>
                    <a:stretch>
                      <a:fillRect r="-41026"/>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文本框 126">
                    <a:extLst>
                      <a:ext uri="{FF2B5EF4-FFF2-40B4-BE49-F238E27FC236}">
                        <a16:creationId xmlns:a16="http://schemas.microsoft.com/office/drawing/2014/main" id="{54945B6B-DAE5-4DB7-9ACA-F81949B9043E}"/>
                      </a:ext>
                    </a:extLst>
                  </p:cNvPr>
                  <p:cNvSpPr txBox="1"/>
                  <p:nvPr/>
                </p:nvSpPr>
                <p:spPr>
                  <a:xfrm>
                    <a:off x="6655255" y="2389116"/>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127" name="文本框 126">
                    <a:extLst>
                      <a:ext uri="{FF2B5EF4-FFF2-40B4-BE49-F238E27FC236}">
                        <a16:creationId xmlns:a16="http://schemas.microsoft.com/office/drawing/2014/main" id="{54945B6B-DAE5-4DB7-9ACA-F81949B9043E}"/>
                      </a:ext>
                    </a:extLst>
                  </p:cNvPr>
                  <p:cNvSpPr txBox="1">
                    <a:spLocks noRot="1" noChangeAspect="1" noMove="1" noResize="1" noEditPoints="1" noAdjustHandles="1" noChangeArrowheads="1" noChangeShapeType="1" noTextEdit="1"/>
                  </p:cNvSpPr>
                  <p:nvPr/>
                </p:nvSpPr>
                <p:spPr>
                  <a:xfrm>
                    <a:off x="6655255" y="2389116"/>
                    <a:ext cx="234779" cy="443948"/>
                  </a:xfrm>
                  <a:prstGeom prst="rect">
                    <a:avLst/>
                  </a:prstGeom>
                  <a:blipFill>
                    <a:blip r:embed="rId19"/>
                    <a:stretch>
                      <a:fillRect l="-7692" r="-69231"/>
                    </a:stretch>
                  </a:blipFill>
                  <a:ln w="19050">
                    <a:noFill/>
                  </a:ln>
                </p:spPr>
                <p:txBody>
                  <a:bodyPr/>
                  <a:lstStyle/>
                  <a:p>
                    <a:r>
                      <a:rPr lang="zh-CN" altLang="en-US">
                        <a:noFill/>
                      </a:rPr>
                      <a:t> </a:t>
                    </a:r>
                  </a:p>
                </p:txBody>
              </p:sp>
            </mc:Fallback>
          </mc:AlternateContent>
        </p:grpSp>
        <p:grpSp>
          <p:nvGrpSpPr>
            <p:cNvPr id="83" name="组合 82">
              <a:extLst>
                <a:ext uri="{FF2B5EF4-FFF2-40B4-BE49-F238E27FC236}">
                  <a16:creationId xmlns:a16="http://schemas.microsoft.com/office/drawing/2014/main" id="{1F00DC58-7E84-431A-A775-6673C1D12C53}"/>
                </a:ext>
              </a:extLst>
            </p:cNvPr>
            <p:cNvGrpSpPr/>
            <p:nvPr/>
          </p:nvGrpSpPr>
          <p:grpSpPr>
            <a:xfrm>
              <a:off x="4696896" y="1611021"/>
              <a:ext cx="1508460" cy="2094010"/>
              <a:chOff x="4696896" y="1611021"/>
              <a:chExt cx="1508460" cy="2094010"/>
            </a:xfrm>
          </p:grpSpPr>
          <p:sp>
            <p:nvSpPr>
              <p:cNvPr id="87" name="流程图: 接点 86">
                <a:extLst>
                  <a:ext uri="{FF2B5EF4-FFF2-40B4-BE49-F238E27FC236}">
                    <a16:creationId xmlns:a16="http://schemas.microsoft.com/office/drawing/2014/main" id="{1B66D085-D06C-4EAD-B24E-CC45CCAC35EB}"/>
                  </a:ext>
                </a:extLst>
              </p:cNvPr>
              <p:cNvSpPr/>
              <p:nvPr/>
            </p:nvSpPr>
            <p:spPr>
              <a:xfrm>
                <a:off x="5390090" y="2026637"/>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88" name="流程图: 接点 87">
                <a:extLst>
                  <a:ext uri="{FF2B5EF4-FFF2-40B4-BE49-F238E27FC236}">
                    <a16:creationId xmlns:a16="http://schemas.microsoft.com/office/drawing/2014/main" id="{EAA07A22-2803-4178-884B-DE1370B2B4A7}"/>
                  </a:ext>
                </a:extLst>
              </p:cNvPr>
              <p:cNvSpPr/>
              <p:nvPr/>
            </p:nvSpPr>
            <p:spPr>
              <a:xfrm>
                <a:off x="5390090" y="337761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89" name="直接连接符 88">
                <a:extLst>
                  <a:ext uri="{FF2B5EF4-FFF2-40B4-BE49-F238E27FC236}">
                    <a16:creationId xmlns:a16="http://schemas.microsoft.com/office/drawing/2014/main" id="{D6A679F3-27E4-41F8-AC59-340550C4D91A}"/>
                  </a:ext>
                </a:extLst>
              </p:cNvPr>
              <p:cNvCxnSpPr>
                <a:stCxn id="100" idx="0"/>
                <a:endCxn id="99" idx="4"/>
              </p:cNvCxnSpPr>
              <p:nvPr/>
            </p:nvCxnSpPr>
            <p:spPr>
              <a:xfrm flipH="1" flipV="1">
                <a:off x="4999707" y="2514079"/>
                <a:ext cx="1285" cy="523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63167237-0839-4E7E-B582-229DE3D3C4A7}"/>
                  </a:ext>
                </a:extLst>
              </p:cNvPr>
              <p:cNvCxnSpPr>
                <a:stCxn id="87" idx="3"/>
                <a:endCxn id="99" idx="7"/>
              </p:cNvCxnSpPr>
              <p:nvPr/>
            </p:nvCxnSpPr>
            <p:spPr>
              <a:xfrm flipH="1">
                <a:off x="5032036" y="2105248"/>
                <a:ext cx="371445" cy="3302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640B07A7-C0AA-4277-8B20-B9FD05EDD39A}"/>
                      </a:ext>
                    </a:extLst>
                  </p:cNvPr>
                  <p:cNvSpPr txBox="1"/>
                  <p:nvPr/>
                </p:nvSpPr>
                <p:spPr>
                  <a:xfrm>
                    <a:off x="5435810" y="326108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91" name="文本框 90">
                    <a:extLst>
                      <a:ext uri="{FF2B5EF4-FFF2-40B4-BE49-F238E27FC236}">
                        <a16:creationId xmlns:a16="http://schemas.microsoft.com/office/drawing/2014/main" id="{640B07A7-C0AA-4277-8B20-B9FD05EDD39A}"/>
                      </a:ext>
                    </a:extLst>
                  </p:cNvPr>
                  <p:cNvSpPr txBox="1">
                    <a:spLocks noRot="1" noChangeAspect="1" noMove="1" noResize="1" noEditPoints="1" noAdjustHandles="1" noChangeArrowheads="1" noChangeShapeType="1" noTextEdit="1"/>
                  </p:cNvSpPr>
                  <p:nvPr/>
                </p:nvSpPr>
                <p:spPr>
                  <a:xfrm>
                    <a:off x="5435810" y="3261083"/>
                    <a:ext cx="234779" cy="443948"/>
                  </a:xfrm>
                  <a:prstGeom prst="rect">
                    <a:avLst/>
                  </a:prstGeom>
                  <a:blipFill>
                    <a:blip r:embed="rId20"/>
                    <a:stretch>
                      <a:fillRect r="-51282"/>
                    </a:stretch>
                  </a:blipFill>
                  <a:ln w="19050">
                    <a:noFill/>
                  </a:ln>
                </p:spPr>
                <p:txBody>
                  <a:bodyPr/>
                  <a:lstStyle/>
                  <a:p>
                    <a:r>
                      <a:rPr lang="zh-CN" altLang="en-US">
                        <a:noFill/>
                      </a:rPr>
                      <a:t> </a:t>
                    </a:r>
                  </a:p>
                </p:txBody>
              </p:sp>
            </mc:Fallback>
          </mc:AlternateContent>
          <p:cxnSp>
            <p:nvCxnSpPr>
              <p:cNvPr id="92" name="直接连接符 91">
                <a:extLst>
                  <a:ext uri="{FF2B5EF4-FFF2-40B4-BE49-F238E27FC236}">
                    <a16:creationId xmlns:a16="http://schemas.microsoft.com/office/drawing/2014/main" id="{3DBB0DD4-ECE8-4B86-B941-C4D59DE85890}"/>
                  </a:ext>
                </a:extLst>
              </p:cNvPr>
              <p:cNvCxnSpPr>
                <a:stCxn id="87" idx="4"/>
                <a:endCxn id="98" idx="0"/>
              </p:cNvCxnSpPr>
              <p:nvPr/>
            </p:nvCxnSpPr>
            <p:spPr>
              <a:xfrm>
                <a:off x="5435810" y="2118735"/>
                <a:ext cx="5122" cy="5567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407248B6-98FC-4C04-8181-DB6A4476D0D6}"/>
                  </a:ext>
                </a:extLst>
              </p:cNvPr>
              <p:cNvCxnSpPr>
                <a:stCxn id="87" idx="5"/>
                <a:endCxn id="101" idx="1"/>
              </p:cNvCxnSpPr>
              <p:nvPr/>
            </p:nvCxnSpPr>
            <p:spPr>
              <a:xfrm>
                <a:off x="5468139" y="2105248"/>
                <a:ext cx="477121" cy="3269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FA94B7C8-0A14-4EA2-95F0-2A088C8DC7B4}"/>
                      </a:ext>
                    </a:extLst>
                  </p:cNvPr>
                  <p:cNvSpPr txBox="1"/>
                  <p:nvPr/>
                </p:nvSpPr>
                <p:spPr>
                  <a:xfrm>
                    <a:off x="5408597" y="161102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𝒈</m:t>
                          </m:r>
                        </m:oMath>
                      </m:oMathPara>
                    </a14:m>
                    <a:endParaRPr lang="en-US" b="1" dirty="0">
                      <a:solidFill>
                        <a:srgbClr val="FF0000"/>
                      </a:solidFill>
                    </a:endParaRPr>
                  </a:p>
                </p:txBody>
              </p:sp>
            </mc:Choice>
            <mc:Fallback xmlns="">
              <p:sp>
                <p:nvSpPr>
                  <p:cNvPr id="94" name="文本框 93">
                    <a:extLst>
                      <a:ext uri="{FF2B5EF4-FFF2-40B4-BE49-F238E27FC236}">
                        <a16:creationId xmlns:a16="http://schemas.microsoft.com/office/drawing/2014/main" id="{FA94B7C8-0A14-4EA2-95F0-2A088C8DC7B4}"/>
                      </a:ext>
                    </a:extLst>
                  </p:cNvPr>
                  <p:cNvSpPr txBox="1">
                    <a:spLocks noRot="1" noChangeAspect="1" noMove="1" noResize="1" noEditPoints="1" noAdjustHandles="1" noChangeArrowheads="1" noChangeShapeType="1" noTextEdit="1"/>
                  </p:cNvSpPr>
                  <p:nvPr/>
                </p:nvSpPr>
                <p:spPr>
                  <a:xfrm>
                    <a:off x="5408597" y="1611021"/>
                    <a:ext cx="234779" cy="443948"/>
                  </a:xfrm>
                  <a:prstGeom prst="rect">
                    <a:avLst/>
                  </a:prstGeom>
                  <a:blipFill>
                    <a:blip r:embed="rId21"/>
                    <a:stretch>
                      <a:fillRect l="-10256" r="-71795" b="-13158"/>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FC160827-B534-4950-B5D0-579066621CB9}"/>
                      </a:ext>
                    </a:extLst>
                  </p:cNvPr>
                  <p:cNvSpPr txBox="1"/>
                  <p:nvPr/>
                </p:nvSpPr>
                <p:spPr>
                  <a:xfrm>
                    <a:off x="4702444" y="222142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95" name="文本框 94">
                    <a:extLst>
                      <a:ext uri="{FF2B5EF4-FFF2-40B4-BE49-F238E27FC236}">
                        <a16:creationId xmlns:a16="http://schemas.microsoft.com/office/drawing/2014/main" id="{FC160827-B534-4950-B5D0-579066621CB9}"/>
                      </a:ext>
                    </a:extLst>
                  </p:cNvPr>
                  <p:cNvSpPr txBox="1">
                    <a:spLocks noRot="1" noChangeAspect="1" noMove="1" noResize="1" noEditPoints="1" noAdjustHandles="1" noChangeArrowheads="1" noChangeShapeType="1" noTextEdit="1"/>
                  </p:cNvSpPr>
                  <p:nvPr/>
                </p:nvSpPr>
                <p:spPr>
                  <a:xfrm>
                    <a:off x="4702444" y="2221423"/>
                    <a:ext cx="234779" cy="443948"/>
                  </a:xfrm>
                  <a:prstGeom prst="rect">
                    <a:avLst/>
                  </a:prstGeom>
                  <a:blipFill>
                    <a:blip r:embed="rId22"/>
                    <a:stretch>
                      <a:fillRect r="-41026"/>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7300E7B1-3FA9-417F-B43D-396A20A88E4D}"/>
                      </a:ext>
                    </a:extLst>
                  </p:cNvPr>
                  <p:cNvSpPr txBox="1"/>
                  <p:nvPr/>
                </p:nvSpPr>
                <p:spPr>
                  <a:xfrm>
                    <a:off x="5970577" y="2237315"/>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𝒇</m:t>
                          </m:r>
                        </m:oMath>
                      </m:oMathPara>
                    </a14:m>
                    <a:endParaRPr lang="en-US" b="1" dirty="0">
                      <a:solidFill>
                        <a:srgbClr val="FF0000"/>
                      </a:solidFill>
                    </a:endParaRPr>
                  </a:p>
                </p:txBody>
              </p:sp>
            </mc:Choice>
            <mc:Fallback xmlns="">
              <p:sp>
                <p:nvSpPr>
                  <p:cNvPr id="96" name="文本框 95">
                    <a:extLst>
                      <a:ext uri="{FF2B5EF4-FFF2-40B4-BE49-F238E27FC236}">
                        <a16:creationId xmlns:a16="http://schemas.microsoft.com/office/drawing/2014/main" id="{7300E7B1-3FA9-417F-B43D-396A20A88E4D}"/>
                      </a:ext>
                    </a:extLst>
                  </p:cNvPr>
                  <p:cNvSpPr txBox="1">
                    <a:spLocks noRot="1" noChangeAspect="1" noMove="1" noResize="1" noEditPoints="1" noAdjustHandles="1" noChangeArrowheads="1" noChangeShapeType="1" noTextEdit="1"/>
                  </p:cNvSpPr>
                  <p:nvPr/>
                </p:nvSpPr>
                <p:spPr>
                  <a:xfrm>
                    <a:off x="5970577" y="2237315"/>
                    <a:ext cx="234779" cy="443948"/>
                  </a:xfrm>
                  <a:prstGeom prst="rect">
                    <a:avLst/>
                  </a:prstGeom>
                  <a:blipFill>
                    <a:blip r:embed="rId23"/>
                    <a:stretch>
                      <a:fillRect l="-23077" r="-69231" b="-19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0DD7C432-6F1F-4645-8F23-65B1E407694D}"/>
                      </a:ext>
                    </a:extLst>
                  </p:cNvPr>
                  <p:cNvSpPr txBox="1"/>
                  <p:nvPr/>
                </p:nvSpPr>
                <p:spPr>
                  <a:xfrm>
                    <a:off x="5416342" y="2503508"/>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97" name="文本框 96">
                    <a:extLst>
                      <a:ext uri="{FF2B5EF4-FFF2-40B4-BE49-F238E27FC236}">
                        <a16:creationId xmlns:a16="http://schemas.microsoft.com/office/drawing/2014/main" id="{0DD7C432-6F1F-4645-8F23-65B1E407694D}"/>
                      </a:ext>
                    </a:extLst>
                  </p:cNvPr>
                  <p:cNvSpPr txBox="1">
                    <a:spLocks noRot="1" noChangeAspect="1" noMove="1" noResize="1" noEditPoints="1" noAdjustHandles="1" noChangeArrowheads="1" noChangeShapeType="1" noTextEdit="1"/>
                  </p:cNvSpPr>
                  <p:nvPr/>
                </p:nvSpPr>
                <p:spPr>
                  <a:xfrm>
                    <a:off x="5416342" y="2503508"/>
                    <a:ext cx="234779" cy="443948"/>
                  </a:xfrm>
                  <a:prstGeom prst="rect">
                    <a:avLst/>
                  </a:prstGeom>
                  <a:blipFill>
                    <a:blip r:embed="rId24"/>
                    <a:stretch>
                      <a:fillRect l="-10256" r="-66667"/>
                    </a:stretch>
                  </a:blipFill>
                  <a:ln w="19050">
                    <a:noFill/>
                  </a:ln>
                </p:spPr>
                <p:txBody>
                  <a:bodyPr/>
                  <a:lstStyle/>
                  <a:p>
                    <a:r>
                      <a:rPr lang="zh-CN" altLang="en-US">
                        <a:noFill/>
                      </a:rPr>
                      <a:t> </a:t>
                    </a:r>
                  </a:p>
                </p:txBody>
              </p:sp>
            </mc:Fallback>
          </mc:AlternateContent>
          <p:sp>
            <p:nvSpPr>
              <p:cNvPr id="98" name="流程图: 接点 97">
                <a:extLst>
                  <a:ext uri="{FF2B5EF4-FFF2-40B4-BE49-F238E27FC236}">
                    <a16:creationId xmlns:a16="http://schemas.microsoft.com/office/drawing/2014/main" id="{4AD60412-9682-4E82-BB59-EB5A6AA02F4E}"/>
                  </a:ext>
                </a:extLst>
              </p:cNvPr>
              <p:cNvSpPr/>
              <p:nvPr/>
            </p:nvSpPr>
            <p:spPr>
              <a:xfrm>
                <a:off x="5395212" y="2675464"/>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99" name="流程图: 接点 98">
                <a:extLst>
                  <a:ext uri="{FF2B5EF4-FFF2-40B4-BE49-F238E27FC236}">
                    <a16:creationId xmlns:a16="http://schemas.microsoft.com/office/drawing/2014/main" id="{1022C8DD-9EDC-496D-97A3-68ED8E45C259}"/>
                  </a:ext>
                </a:extLst>
              </p:cNvPr>
              <p:cNvSpPr/>
              <p:nvPr/>
            </p:nvSpPr>
            <p:spPr>
              <a:xfrm>
                <a:off x="4953987" y="242198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00" name="流程图: 接点 99">
                <a:extLst>
                  <a:ext uri="{FF2B5EF4-FFF2-40B4-BE49-F238E27FC236}">
                    <a16:creationId xmlns:a16="http://schemas.microsoft.com/office/drawing/2014/main" id="{5FCB4186-00E9-4218-AFFD-16369838DCC4}"/>
                  </a:ext>
                </a:extLst>
              </p:cNvPr>
              <p:cNvSpPr/>
              <p:nvPr/>
            </p:nvSpPr>
            <p:spPr>
              <a:xfrm>
                <a:off x="4955272" y="303784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01" name="流程图: 接点 100">
                <a:extLst>
                  <a:ext uri="{FF2B5EF4-FFF2-40B4-BE49-F238E27FC236}">
                    <a16:creationId xmlns:a16="http://schemas.microsoft.com/office/drawing/2014/main" id="{135E16FE-559E-4244-804B-2E9D19BC2F56}"/>
                  </a:ext>
                </a:extLst>
              </p:cNvPr>
              <p:cNvSpPr/>
              <p:nvPr/>
            </p:nvSpPr>
            <p:spPr>
              <a:xfrm>
                <a:off x="5931869" y="241866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02" name="流程图: 接点 101">
                <a:extLst>
                  <a:ext uri="{FF2B5EF4-FFF2-40B4-BE49-F238E27FC236}">
                    <a16:creationId xmlns:a16="http://schemas.microsoft.com/office/drawing/2014/main" id="{3481187A-ABEA-44B4-9A46-2DA6ABCEC055}"/>
                  </a:ext>
                </a:extLst>
              </p:cNvPr>
              <p:cNvSpPr/>
              <p:nvPr/>
            </p:nvSpPr>
            <p:spPr>
              <a:xfrm>
                <a:off x="5930741" y="303784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103" name="直接连接符 102">
                <a:extLst>
                  <a:ext uri="{FF2B5EF4-FFF2-40B4-BE49-F238E27FC236}">
                    <a16:creationId xmlns:a16="http://schemas.microsoft.com/office/drawing/2014/main" id="{4BC48933-D3D1-4CBF-AE1E-FD1099F010A4}"/>
                  </a:ext>
                </a:extLst>
              </p:cNvPr>
              <p:cNvCxnSpPr>
                <a:stCxn id="98" idx="4"/>
                <a:endCxn id="88" idx="0"/>
              </p:cNvCxnSpPr>
              <p:nvPr/>
            </p:nvCxnSpPr>
            <p:spPr>
              <a:xfrm flipH="1">
                <a:off x="5435810" y="2767562"/>
                <a:ext cx="5122" cy="6100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C69EA534-8E63-46BD-932F-B2C0868B57A5}"/>
                  </a:ext>
                </a:extLst>
              </p:cNvPr>
              <p:cNvCxnSpPr>
                <a:stCxn id="102" idx="3"/>
                <a:endCxn id="88" idx="7"/>
              </p:cNvCxnSpPr>
              <p:nvPr/>
            </p:nvCxnSpPr>
            <p:spPr>
              <a:xfrm flipH="1">
                <a:off x="5468139" y="3116452"/>
                <a:ext cx="475993" cy="2746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5E9082CD-3413-4559-AAE9-5B1CB98FA95E}"/>
                  </a:ext>
                </a:extLst>
              </p:cNvPr>
              <p:cNvCxnSpPr>
                <a:stCxn id="101" idx="4"/>
                <a:endCxn id="102" idx="0"/>
              </p:cNvCxnSpPr>
              <p:nvPr/>
            </p:nvCxnSpPr>
            <p:spPr>
              <a:xfrm flipH="1">
                <a:off x="5976461" y="2510761"/>
                <a:ext cx="1128" cy="5270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74E4F4ED-8CA7-43E4-8C3B-BCFB3F0FDDF4}"/>
                  </a:ext>
                </a:extLst>
              </p:cNvPr>
              <p:cNvCxnSpPr>
                <a:stCxn id="88" idx="1"/>
                <a:endCxn id="100" idx="5"/>
              </p:cNvCxnSpPr>
              <p:nvPr/>
            </p:nvCxnSpPr>
            <p:spPr>
              <a:xfrm flipH="1" flipV="1">
                <a:off x="5033321" y="3116452"/>
                <a:ext cx="370160" cy="2746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221A9E91-006F-46F3-9653-F0D6173AADAA}"/>
                      </a:ext>
                    </a:extLst>
                  </p:cNvPr>
                  <p:cNvSpPr txBox="1"/>
                  <p:nvPr/>
                </p:nvSpPr>
                <p:spPr>
                  <a:xfrm>
                    <a:off x="4696896" y="289175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107" name="文本框 106">
                    <a:extLst>
                      <a:ext uri="{FF2B5EF4-FFF2-40B4-BE49-F238E27FC236}">
                        <a16:creationId xmlns:a16="http://schemas.microsoft.com/office/drawing/2014/main" id="{221A9E91-006F-46F3-9653-F0D6173AADAA}"/>
                      </a:ext>
                    </a:extLst>
                  </p:cNvPr>
                  <p:cNvSpPr txBox="1">
                    <a:spLocks noRot="1" noChangeAspect="1" noMove="1" noResize="1" noEditPoints="1" noAdjustHandles="1" noChangeArrowheads="1" noChangeShapeType="1" noTextEdit="1"/>
                  </p:cNvSpPr>
                  <p:nvPr/>
                </p:nvSpPr>
                <p:spPr>
                  <a:xfrm>
                    <a:off x="4696896" y="2891751"/>
                    <a:ext cx="234779" cy="443948"/>
                  </a:xfrm>
                  <a:prstGeom prst="rect">
                    <a:avLst/>
                  </a:prstGeom>
                  <a:blipFill>
                    <a:blip r:embed="rId25"/>
                    <a:stretch>
                      <a:fillRect l="-10256" r="-61538"/>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7ACF078C-11DF-4B0D-A47E-7F2A1BEE04DB}"/>
                      </a:ext>
                    </a:extLst>
                  </p:cNvPr>
                  <p:cNvSpPr txBox="1"/>
                  <p:nvPr/>
                </p:nvSpPr>
                <p:spPr>
                  <a:xfrm>
                    <a:off x="5960124" y="2872840"/>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108" name="文本框 107">
                    <a:extLst>
                      <a:ext uri="{FF2B5EF4-FFF2-40B4-BE49-F238E27FC236}">
                        <a16:creationId xmlns:a16="http://schemas.microsoft.com/office/drawing/2014/main" id="{7ACF078C-11DF-4B0D-A47E-7F2A1BEE04DB}"/>
                      </a:ext>
                    </a:extLst>
                  </p:cNvPr>
                  <p:cNvSpPr txBox="1">
                    <a:spLocks noRot="1" noChangeAspect="1" noMove="1" noResize="1" noEditPoints="1" noAdjustHandles="1" noChangeArrowheads="1" noChangeShapeType="1" noTextEdit="1"/>
                  </p:cNvSpPr>
                  <p:nvPr/>
                </p:nvSpPr>
                <p:spPr>
                  <a:xfrm>
                    <a:off x="5960124" y="2872840"/>
                    <a:ext cx="234779" cy="443948"/>
                  </a:xfrm>
                  <a:prstGeom prst="rect">
                    <a:avLst/>
                  </a:prstGeom>
                  <a:blipFill>
                    <a:blip r:embed="rId26"/>
                    <a:stretch>
                      <a:fillRect r="-35897"/>
                    </a:stretch>
                  </a:blipFill>
                  <a:ln w="19050">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6BCF18BB-77BA-4F0B-8B77-9AC76AC38155}"/>
                    </a:ext>
                  </a:extLst>
                </p:cNvPr>
                <p:cNvSpPr txBox="1"/>
                <p:nvPr/>
              </p:nvSpPr>
              <p:spPr>
                <a:xfrm>
                  <a:off x="3232978" y="385085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rgbClr val="0000FF"/>
                                </a:solidFill>
                                <a:latin typeface="Cambria Math" panose="02040503050406030204" pitchFamily="18" charset="0"/>
                              </a:rPr>
                            </m:ctrlPr>
                          </m:sSubPr>
                          <m:e>
                            <m:r>
                              <a:rPr lang="en-US" altLang="zh-CN" b="1" i="1" dirty="0" smtClean="0">
                                <a:solidFill>
                                  <a:srgbClr val="0000FF"/>
                                </a:solidFill>
                                <a:latin typeface="Cambria Math" panose="02040503050406030204" pitchFamily="18" charset="0"/>
                              </a:rPr>
                              <m:t>𝑳</m:t>
                            </m:r>
                          </m:e>
                          <m:sub>
                            <m:r>
                              <a:rPr lang="en-US" altLang="zh-CN" b="1" i="1" dirty="0" smtClean="0">
                                <a:solidFill>
                                  <a:srgbClr val="0000FF"/>
                                </a:solidFill>
                                <a:latin typeface="Cambria Math" panose="02040503050406030204" pitchFamily="18" charset="0"/>
                              </a:rPr>
                              <m:t>𝟏</m:t>
                            </m:r>
                          </m:sub>
                        </m:sSub>
                      </m:oMath>
                    </m:oMathPara>
                  </a14:m>
                  <a:endParaRPr lang="en-US" b="1" dirty="0">
                    <a:solidFill>
                      <a:srgbClr val="FF0000"/>
                    </a:solidFill>
                  </a:endParaRPr>
                </a:p>
              </p:txBody>
            </p:sp>
          </mc:Choice>
          <mc:Fallback xmlns="">
            <p:sp>
              <p:nvSpPr>
                <p:cNvPr id="84" name="文本框 83">
                  <a:extLst>
                    <a:ext uri="{FF2B5EF4-FFF2-40B4-BE49-F238E27FC236}">
                      <a16:creationId xmlns:a16="http://schemas.microsoft.com/office/drawing/2014/main" id="{6BCF18BB-77BA-4F0B-8B77-9AC76AC38155}"/>
                    </a:ext>
                  </a:extLst>
                </p:cNvPr>
                <p:cNvSpPr txBox="1">
                  <a:spLocks noRot="1" noChangeAspect="1" noMove="1" noResize="1" noEditPoints="1" noAdjustHandles="1" noChangeArrowheads="1" noChangeShapeType="1" noTextEdit="1"/>
                </p:cNvSpPr>
                <p:nvPr/>
              </p:nvSpPr>
              <p:spPr>
                <a:xfrm>
                  <a:off x="3232978" y="3850853"/>
                  <a:ext cx="234779" cy="443948"/>
                </a:xfrm>
                <a:prstGeom prst="rect">
                  <a:avLst/>
                </a:prstGeom>
                <a:blipFill>
                  <a:blip r:embed="rId27"/>
                  <a:stretch>
                    <a:fillRect l="-5128" r="-100000" b="-526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4D92A4A1-BAD9-4292-8CE3-921D022C41D1}"/>
                    </a:ext>
                  </a:extLst>
                </p:cNvPr>
                <p:cNvSpPr txBox="1"/>
                <p:nvPr/>
              </p:nvSpPr>
              <p:spPr>
                <a:xfrm>
                  <a:off x="5312514" y="385681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rgbClr val="0000FF"/>
                                </a:solidFill>
                                <a:latin typeface="Cambria Math" panose="02040503050406030204" pitchFamily="18" charset="0"/>
                              </a:rPr>
                            </m:ctrlPr>
                          </m:sSubPr>
                          <m:e>
                            <m:r>
                              <a:rPr lang="en-US" altLang="zh-CN" b="1" i="1" dirty="0" smtClean="0">
                                <a:solidFill>
                                  <a:srgbClr val="0000FF"/>
                                </a:solidFill>
                                <a:latin typeface="Cambria Math" panose="02040503050406030204" pitchFamily="18" charset="0"/>
                              </a:rPr>
                              <m:t>𝑳</m:t>
                            </m:r>
                          </m:e>
                          <m:sub>
                            <m:r>
                              <a:rPr lang="en-US" altLang="zh-CN" b="1" i="1" dirty="0" smtClean="0">
                                <a:solidFill>
                                  <a:srgbClr val="0000FF"/>
                                </a:solidFill>
                                <a:latin typeface="Cambria Math" panose="02040503050406030204" pitchFamily="18" charset="0"/>
                              </a:rPr>
                              <m:t>𝟐</m:t>
                            </m:r>
                          </m:sub>
                        </m:sSub>
                      </m:oMath>
                    </m:oMathPara>
                  </a14:m>
                  <a:endParaRPr lang="en-US" b="1" dirty="0">
                    <a:solidFill>
                      <a:srgbClr val="FF0000"/>
                    </a:solidFill>
                  </a:endParaRPr>
                </a:p>
              </p:txBody>
            </p:sp>
          </mc:Choice>
          <mc:Fallback xmlns="">
            <p:sp>
              <p:nvSpPr>
                <p:cNvPr id="85" name="文本框 84">
                  <a:extLst>
                    <a:ext uri="{FF2B5EF4-FFF2-40B4-BE49-F238E27FC236}">
                      <a16:creationId xmlns:a16="http://schemas.microsoft.com/office/drawing/2014/main" id="{4D92A4A1-BAD9-4292-8CE3-921D022C41D1}"/>
                    </a:ext>
                  </a:extLst>
                </p:cNvPr>
                <p:cNvSpPr txBox="1">
                  <a:spLocks noRot="1" noChangeAspect="1" noMove="1" noResize="1" noEditPoints="1" noAdjustHandles="1" noChangeArrowheads="1" noChangeShapeType="1" noTextEdit="1"/>
                </p:cNvSpPr>
                <p:nvPr/>
              </p:nvSpPr>
              <p:spPr>
                <a:xfrm>
                  <a:off x="5312514" y="3856813"/>
                  <a:ext cx="234779" cy="443948"/>
                </a:xfrm>
                <a:prstGeom prst="rect">
                  <a:avLst/>
                </a:prstGeom>
                <a:blipFill>
                  <a:blip r:embed="rId28"/>
                  <a:stretch>
                    <a:fillRect l="-7692" r="-100000" b="-526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EB3AB257-592E-46E5-BE04-F510192BC650}"/>
                    </a:ext>
                  </a:extLst>
                </p:cNvPr>
                <p:cNvSpPr txBox="1"/>
                <p:nvPr/>
              </p:nvSpPr>
              <p:spPr>
                <a:xfrm>
                  <a:off x="7300302" y="385085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rgbClr val="0000FF"/>
                                </a:solidFill>
                                <a:latin typeface="Cambria Math" panose="02040503050406030204" pitchFamily="18" charset="0"/>
                              </a:rPr>
                            </m:ctrlPr>
                          </m:sSubPr>
                          <m:e>
                            <m:r>
                              <a:rPr lang="en-US" altLang="zh-CN" b="1" i="1" dirty="0" smtClean="0">
                                <a:solidFill>
                                  <a:srgbClr val="0000FF"/>
                                </a:solidFill>
                                <a:latin typeface="Cambria Math" panose="02040503050406030204" pitchFamily="18" charset="0"/>
                              </a:rPr>
                              <m:t>𝑳</m:t>
                            </m:r>
                          </m:e>
                          <m:sub>
                            <m:r>
                              <a:rPr lang="en-US" altLang="zh-CN" b="1" i="1" dirty="0" smtClean="0">
                                <a:solidFill>
                                  <a:srgbClr val="0000FF"/>
                                </a:solidFill>
                                <a:latin typeface="Cambria Math" panose="02040503050406030204" pitchFamily="18" charset="0"/>
                              </a:rPr>
                              <m:t>𝟑</m:t>
                            </m:r>
                          </m:sub>
                        </m:sSub>
                      </m:oMath>
                    </m:oMathPara>
                  </a14:m>
                  <a:endParaRPr lang="en-US" b="1" dirty="0">
                    <a:solidFill>
                      <a:srgbClr val="FF0000"/>
                    </a:solidFill>
                  </a:endParaRPr>
                </a:p>
              </p:txBody>
            </p:sp>
          </mc:Choice>
          <mc:Fallback xmlns="">
            <p:sp>
              <p:nvSpPr>
                <p:cNvPr id="86" name="文本框 85">
                  <a:extLst>
                    <a:ext uri="{FF2B5EF4-FFF2-40B4-BE49-F238E27FC236}">
                      <a16:creationId xmlns:a16="http://schemas.microsoft.com/office/drawing/2014/main" id="{EB3AB257-592E-46E5-BE04-F510192BC650}"/>
                    </a:ext>
                  </a:extLst>
                </p:cNvPr>
                <p:cNvSpPr txBox="1">
                  <a:spLocks noRot="1" noChangeAspect="1" noMove="1" noResize="1" noEditPoints="1" noAdjustHandles="1" noChangeArrowheads="1" noChangeShapeType="1" noTextEdit="1"/>
                </p:cNvSpPr>
                <p:nvPr/>
              </p:nvSpPr>
              <p:spPr>
                <a:xfrm>
                  <a:off x="7300302" y="3850853"/>
                  <a:ext cx="234779" cy="443948"/>
                </a:xfrm>
                <a:prstGeom prst="rect">
                  <a:avLst/>
                </a:prstGeom>
                <a:blipFill>
                  <a:blip r:embed="rId29"/>
                  <a:stretch>
                    <a:fillRect l="-5128" r="-100000" b="-5263"/>
                  </a:stretch>
                </a:blipFill>
                <a:ln w="19050">
                  <a:noFill/>
                </a:ln>
              </p:spPr>
              <p:txBody>
                <a:bodyPr/>
                <a:lstStyle/>
                <a:p>
                  <a:r>
                    <a:rPr lang="zh-CN" altLang="en-US">
                      <a:noFill/>
                    </a:rPr>
                    <a:t> </a:t>
                  </a:r>
                </a:p>
              </p:txBody>
            </p:sp>
          </mc:Fallback>
        </mc:AlternateContent>
      </p:grpSp>
    </p:spTree>
    <p:custDataLst>
      <p:tags r:id="rId1"/>
    </p:custDataLst>
    <p:extLst>
      <p:ext uri="{BB962C8B-B14F-4D97-AF65-F5344CB8AC3E}">
        <p14:creationId xmlns:p14="http://schemas.microsoft.com/office/powerpoint/2010/main" val="2342633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A2B13D-FEE4-47EB-B971-5BD0D76C5991}"/>
              </a:ext>
            </a:extLst>
          </p:cNvPr>
          <p:cNvSpPr>
            <a:spLocks noGrp="1"/>
          </p:cNvSpPr>
          <p:nvPr>
            <p:ph type="title"/>
          </p:nvPr>
        </p:nvSpPr>
        <p:spPr/>
        <p:txBody>
          <a:bodyPr/>
          <a:lstStyle/>
          <a:p>
            <a:r>
              <a:rPr lang="zh-CN" altLang="en-US" dirty="0"/>
              <a:t>特殊格</a:t>
            </a:r>
          </a:p>
        </p:txBody>
      </p:sp>
      <p:sp>
        <p:nvSpPr>
          <p:cNvPr id="3" name="内容占位符 2">
            <a:extLst>
              <a:ext uri="{FF2B5EF4-FFF2-40B4-BE49-F238E27FC236}">
                <a16:creationId xmlns:a16="http://schemas.microsoft.com/office/drawing/2014/main" id="{F82232F6-029A-4848-A08A-A6CD3ECEF5E2}"/>
              </a:ext>
            </a:extLst>
          </p:cNvPr>
          <p:cNvSpPr>
            <a:spLocks noGrp="1"/>
          </p:cNvSpPr>
          <p:nvPr>
            <p:ph idx="1"/>
          </p:nvPr>
        </p:nvSpPr>
        <p:spPr>
          <a:xfrm>
            <a:off x="841375" y="1296194"/>
            <a:ext cx="9982200" cy="4953000"/>
          </a:xfrm>
        </p:spPr>
        <p:txBody>
          <a:bodyPr>
            <a:normAutofit/>
          </a:bodyPr>
          <a:lstStyle/>
          <a:p>
            <a:pPr>
              <a:lnSpc>
                <a:spcPct val="150000"/>
              </a:lnSpc>
            </a:pPr>
            <a:r>
              <a:rPr lang="zh-CN" altLang="en-US" dirty="0">
                <a:solidFill>
                  <a:schemeClr val="bg1">
                    <a:lumMod val="65000"/>
                  </a:schemeClr>
                </a:solidFill>
              </a:rPr>
              <a:t>按照满足的运算定律来划分：</a:t>
            </a:r>
            <a:endParaRPr lang="en-US" altLang="zh-CN" dirty="0">
              <a:solidFill>
                <a:schemeClr val="bg1">
                  <a:lumMod val="65000"/>
                </a:schemeClr>
              </a:solidFill>
            </a:endParaRPr>
          </a:p>
          <a:p>
            <a:pPr lvl="1">
              <a:lnSpc>
                <a:spcPct val="150000"/>
              </a:lnSpc>
            </a:pPr>
            <a:r>
              <a:rPr lang="zh-CN" altLang="en-US" sz="2400" dirty="0">
                <a:solidFill>
                  <a:schemeClr val="bg1">
                    <a:lumMod val="65000"/>
                  </a:schemeClr>
                </a:solidFill>
              </a:rPr>
              <a:t>分配格：满足分配律</a:t>
            </a:r>
            <a:endParaRPr lang="en-US" altLang="zh-CN" sz="2400" dirty="0">
              <a:solidFill>
                <a:schemeClr val="bg1">
                  <a:lumMod val="65000"/>
                </a:schemeClr>
              </a:solidFill>
            </a:endParaRPr>
          </a:p>
          <a:p>
            <a:pPr lvl="1">
              <a:lnSpc>
                <a:spcPct val="150000"/>
              </a:lnSpc>
            </a:pPr>
            <a:r>
              <a:rPr lang="zh-CN" altLang="en-US" sz="2400" dirty="0">
                <a:solidFill>
                  <a:schemeClr val="bg1">
                    <a:lumMod val="65000"/>
                  </a:schemeClr>
                </a:solidFill>
              </a:rPr>
              <a:t>模格：满足模律</a:t>
            </a:r>
            <a:endParaRPr lang="en-US" altLang="zh-CN" sz="2400" dirty="0">
              <a:solidFill>
                <a:schemeClr val="bg1">
                  <a:lumMod val="65000"/>
                </a:schemeClr>
              </a:solidFill>
            </a:endParaRPr>
          </a:p>
          <a:p>
            <a:pPr>
              <a:lnSpc>
                <a:spcPct val="150000"/>
              </a:lnSpc>
            </a:pPr>
            <a:r>
              <a:rPr lang="zh-CN" altLang="en-US" dirty="0"/>
              <a:t>按照</a:t>
            </a:r>
            <a:r>
              <a:rPr lang="zh-CN" altLang="en-US" dirty="0">
                <a:solidFill>
                  <a:srgbClr val="0000FF"/>
                </a:solidFill>
              </a:rPr>
              <a:t>特殊元素</a:t>
            </a:r>
            <a:r>
              <a:rPr lang="zh-CN" altLang="en-US" dirty="0"/>
              <a:t>来划分：</a:t>
            </a:r>
            <a:endParaRPr lang="en-US" altLang="zh-CN" dirty="0"/>
          </a:p>
          <a:p>
            <a:pPr lvl="1">
              <a:lnSpc>
                <a:spcPct val="150000"/>
              </a:lnSpc>
            </a:pPr>
            <a:r>
              <a:rPr lang="zh-CN" altLang="en-US" sz="2400" dirty="0">
                <a:solidFill>
                  <a:srgbClr val="FF0000"/>
                </a:solidFill>
              </a:rPr>
              <a:t>有界格</a:t>
            </a:r>
            <a:r>
              <a:rPr lang="zh-CN" altLang="en-US" sz="2400" dirty="0"/>
              <a:t>：有全上界和全下界</a:t>
            </a:r>
            <a:endParaRPr lang="en-US" altLang="zh-CN" sz="2400" dirty="0"/>
          </a:p>
          <a:p>
            <a:pPr lvl="1">
              <a:lnSpc>
                <a:spcPct val="150000"/>
              </a:lnSpc>
            </a:pPr>
            <a:r>
              <a:rPr lang="zh-CN" altLang="en-US" sz="2400" dirty="0">
                <a:solidFill>
                  <a:srgbClr val="FF0000"/>
                </a:solidFill>
              </a:rPr>
              <a:t>有补格</a:t>
            </a:r>
            <a:r>
              <a:rPr lang="zh-CN" altLang="en-US" sz="2400" dirty="0"/>
              <a:t>：每个元素有补元</a:t>
            </a:r>
          </a:p>
        </p:txBody>
      </p:sp>
    </p:spTree>
    <p:extLst>
      <p:ext uri="{BB962C8B-B14F-4D97-AF65-F5344CB8AC3E}">
        <p14:creationId xmlns:p14="http://schemas.microsoft.com/office/powerpoint/2010/main" val="26931112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F66F93-CAB2-41E8-8759-121DDE16889C}"/>
              </a:ext>
            </a:extLst>
          </p:cNvPr>
          <p:cNvSpPr>
            <a:spLocks noGrp="1"/>
          </p:cNvSpPr>
          <p:nvPr>
            <p:ph type="title"/>
          </p:nvPr>
        </p:nvSpPr>
        <p:spPr/>
        <p:txBody>
          <a:bodyPr/>
          <a:lstStyle/>
          <a:p>
            <a:r>
              <a:rPr lang="zh-CN" altLang="en-US" dirty="0"/>
              <a:t>有界格</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1FD4330-490F-453F-9206-04EA2F252E0B}"/>
                  </a:ext>
                </a:extLst>
              </p:cNvPr>
              <p:cNvSpPr>
                <a:spLocks noGrp="1"/>
              </p:cNvSpPr>
              <p:nvPr>
                <p:ph idx="1"/>
              </p:nvPr>
            </p:nvSpPr>
            <p:spPr>
              <a:xfrm>
                <a:off x="169337" y="1014978"/>
                <a:ext cx="11822980" cy="2120472"/>
              </a:xfrm>
            </p:spPr>
            <p:txBody>
              <a:bodyPr>
                <a:noAutofit/>
              </a:bodyPr>
              <a:lstStyle/>
              <a:p>
                <a:pPr marL="0" indent="0" algn="just">
                  <a:buNone/>
                </a:pPr>
                <a:r>
                  <a:rPr lang="zh-CN" altLang="zh-CN" kern="1100" dirty="0">
                    <a:solidFill>
                      <a:srgbClr val="0000FF"/>
                    </a:solidFill>
                    <a:effectLst/>
                    <a:latin typeface="+mn-ea"/>
                  </a:rPr>
                  <a:t>定义</a:t>
                </a:r>
                <a:r>
                  <a:rPr lang="en-US" altLang="zh-CN" kern="1100" dirty="0">
                    <a:solidFill>
                      <a:srgbClr val="0000FF"/>
                    </a:solidFill>
                    <a:effectLst/>
                    <a:latin typeface="+mn-ea"/>
                  </a:rPr>
                  <a:t>10.9</a:t>
                </a:r>
                <a:r>
                  <a:rPr lang="en-US" altLang="zh-CN" kern="100" dirty="0">
                    <a:solidFill>
                      <a:srgbClr val="0000FF"/>
                    </a:solidFill>
                    <a:effectLst/>
                    <a:latin typeface="+mn-ea"/>
                  </a:rPr>
                  <a:t>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kern="100" dirty="0">
                    <a:effectLst/>
                    <a:latin typeface="+mn-ea"/>
                  </a:rPr>
                  <a:t>是一个格，</a:t>
                </a:r>
                <a:endParaRPr lang="en-US"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1</a:t>
                </a:r>
                <a:r>
                  <a:rPr lang="zh-CN" altLang="zh-CN" kern="100" dirty="0">
                    <a:effectLst/>
                    <a:latin typeface="+mn-ea"/>
                  </a:rPr>
                  <a:t>）若存在</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𝑳</m:t>
                    </m:r>
                  </m:oMath>
                </a14:m>
                <a:r>
                  <a:rPr lang="zh-CN" altLang="zh-CN" kern="100" dirty="0">
                    <a:effectLst/>
                    <a:latin typeface="+mn-ea"/>
                  </a:rPr>
                  <a:t>，使得对</a:t>
                </a:r>
                <a14:m>
                  <m:oMath xmlns:m="http://schemas.openxmlformats.org/officeDocument/2006/math">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𝒙</m:t>
                    </m:r>
                    <m:r>
                      <a:rPr lang="en-US" altLang="zh-CN" b="1" i="1" kern="100" dirty="0">
                        <a:latin typeface="Cambria Math" panose="02040503050406030204" pitchFamily="18" charset="0"/>
                        <a:ea typeface="Cambria Math" panose="02040503050406030204" pitchFamily="18" charset="0"/>
                      </a:rPr>
                      <m:t>∈</m:t>
                    </m:r>
                    <m:r>
                      <a:rPr lang="en-US" altLang="zh-CN" b="1" i="1" kern="100" dirty="0">
                        <a:latin typeface="Cambria Math" panose="02040503050406030204" pitchFamily="18" charset="0"/>
                        <a:ea typeface="Cambria Math" panose="02040503050406030204" pitchFamily="18" charset="0"/>
                      </a:rPr>
                      <m:t>𝑳</m:t>
                    </m:r>
                  </m:oMath>
                </a14:m>
                <a:r>
                  <a:rPr lang="zh-CN" altLang="zh-CN" kern="100" dirty="0">
                    <a:effectLst/>
                    <a:latin typeface="+mn-ea"/>
                  </a:rPr>
                  <a:t>，都有</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𝒙</m:t>
                    </m:r>
                  </m:oMath>
                </a14:m>
                <a:r>
                  <a:rPr lang="zh-CN" altLang="zh-CN" kern="100" dirty="0">
                    <a:effectLst/>
                    <a:latin typeface="+mn-ea"/>
                  </a:rPr>
                  <a:t>，则称</a:t>
                </a:r>
                <a14:m>
                  <m:oMath xmlns:m="http://schemas.openxmlformats.org/officeDocument/2006/math">
                    <m:r>
                      <a:rPr lang="en-US" altLang="zh-CN" b="1" i="1" kern="100" dirty="0" smtClean="0">
                        <a:effectLst/>
                        <a:latin typeface="Cambria Math" panose="02040503050406030204" pitchFamily="18" charset="0"/>
                      </a:rPr>
                      <m:t>𝒂</m:t>
                    </m:r>
                  </m:oMath>
                </a14:m>
                <a:r>
                  <a:rPr lang="zh-CN" altLang="zh-CN" kern="100" dirty="0">
                    <a:effectLst/>
                    <a:latin typeface="+mn-ea"/>
                  </a:rPr>
                  <a:t>为格</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kern="100" dirty="0">
                    <a:effectLst/>
                    <a:latin typeface="+mn-ea"/>
                  </a:rPr>
                  <a:t>的</a:t>
                </a:r>
                <a:r>
                  <a:rPr lang="zh-CN" altLang="zh-CN" kern="100" dirty="0">
                    <a:solidFill>
                      <a:srgbClr val="FF0000"/>
                    </a:solidFill>
                    <a:effectLst/>
                    <a:latin typeface="+mn-ea"/>
                  </a:rPr>
                  <a:t>全下界</a:t>
                </a:r>
                <a:r>
                  <a:rPr lang="zh-CN" altLang="zh-CN" kern="100" dirty="0">
                    <a:effectLst/>
                    <a:latin typeface="+mn-ea"/>
                  </a:rPr>
                  <a:t>，记为</a:t>
                </a:r>
                <a14:m>
                  <m:oMath xmlns:m="http://schemas.openxmlformats.org/officeDocument/2006/math">
                    <m:r>
                      <a:rPr lang="en-US" altLang="zh-CN" b="1" i="1" kern="100" dirty="0" smtClean="0">
                        <a:solidFill>
                          <a:srgbClr val="CC00CC"/>
                        </a:solidFill>
                        <a:effectLst/>
                        <a:latin typeface="Cambria Math" panose="02040503050406030204" pitchFamily="18" charset="0"/>
                      </a:rPr>
                      <m:t>𝟎</m:t>
                    </m:r>
                  </m:oMath>
                </a14:m>
                <a:r>
                  <a:rPr lang="zh-CN" altLang="zh-CN" kern="100" dirty="0">
                    <a:effectLst/>
                    <a:latin typeface="+mn-ea"/>
                  </a:rPr>
                  <a:t>；</a:t>
                </a:r>
                <a:endParaRPr lang="en-US"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2</a:t>
                </a:r>
                <a:r>
                  <a:rPr lang="zh-CN" altLang="zh-CN" kern="100" dirty="0">
                    <a:effectLst/>
                    <a:latin typeface="+mn-ea"/>
                  </a:rPr>
                  <a:t>）若存在</a:t>
                </a:r>
                <a14:m>
                  <m:oMath xmlns:m="http://schemas.openxmlformats.org/officeDocument/2006/math">
                    <m:r>
                      <a:rPr lang="en-US" altLang="zh-CN" b="1" i="1" kern="100" dirty="0" smtClean="0">
                        <a:effectLst/>
                        <a:latin typeface="Cambria Math" panose="02040503050406030204" pitchFamily="18" charset="0"/>
                      </a:rPr>
                      <m:t>𝒃</m:t>
                    </m:r>
                    <m:r>
                      <a:rPr lang="en-US" altLang="zh-CN" b="1" i="1" kern="100" dirty="0">
                        <a:latin typeface="Cambria Math" panose="02040503050406030204" pitchFamily="18" charset="0"/>
                        <a:ea typeface="Cambria Math" panose="02040503050406030204" pitchFamily="18" charset="0"/>
                      </a:rPr>
                      <m:t>∈</m:t>
                    </m:r>
                    <m:r>
                      <a:rPr lang="en-US" altLang="zh-CN" b="1" i="1" kern="100" dirty="0">
                        <a:latin typeface="Cambria Math" panose="02040503050406030204" pitchFamily="18" charset="0"/>
                        <a:ea typeface="Cambria Math" panose="02040503050406030204" pitchFamily="18" charset="0"/>
                      </a:rPr>
                      <m:t>𝑳</m:t>
                    </m:r>
                  </m:oMath>
                </a14:m>
                <a:r>
                  <a:rPr lang="zh-CN" altLang="zh-CN" kern="100" dirty="0">
                    <a:effectLst/>
                    <a:latin typeface="+mn-ea"/>
                  </a:rPr>
                  <a:t>，使得对</a:t>
                </a:r>
                <a14:m>
                  <m:oMath xmlns:m="http://schemas.openxmlformats.org/officeDocument/2006/math">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𝒙</m:t>
                    </m:r>
                    <m:r>
                      <a:rPr lang="en-US" altLang="zh-CN" b="1" i="1" kern="100" dirty="0">
                        <a:latin typeface="Cambria Math" panose="02040503050406030204" pitchFamily="18" charset="0"/>
                        <a:ea typeface="Cambria Math" panose="02040503050406030204" pitchFamily="18" charset="0"/>
                      </a:rPr>
                      <m:t>∈</m:t>
                    </m:r>
                    <m:r>
                      <a:rPr lang="en-US" altLang="zh-CN" b="1" i="1" kern="100" dirty="0">
                        <a:latin typeface="Cambria Math" panose="02040503050406030204" pitchFamily="18" charset="0"/>
                        <a:ea typeface="Cambria Math" panose="02040503050406030204" pitchFamily="18" charset="0"/>
                      </a:rPr>
                      <m:t>𝑳</m:t>
                    </m:r>
                  </m:oMath>
                </a14:m>
                <a:r>
                  <a:rPr lang="zh-CN" altLang="zh-CN" kern="100" dirty="0">
                    <a:effectLst/>
                    <a:latin typeface="+mn-ea"/>
                  </a:rPr>
                  <a:t>，都有</a:t>
                </a:r>
                <a14:m>
                  <m:oMath xmlns:m="http://schemas.openxmlformats.org/officeDocument/2006/math">
                    <m:r>
                      <a:rPr lang="en-US" altLang="zh-CN" b="1" i="1" kern="100" dirty="0" smtClean="0">
                        <a:effectLst/>
                        <a:latin typeface="Cambria Math" panose="02040503050406030204" pitchFamily="18" charset="0"/>
                      </a:rPr>
                      <m:t>𝒙</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𝒃</m:t>
                    </m:r>
                  </m:oMath>
                </a14:m>
                <a:r>
                  <a:rPr lang="zh-CN" altLang="zh-CN" kern="100" dirty="0">
                    <a:effectLst/>
                    <a:latin typeface="+mn-ea"/>
                  </a:rPr>
                  <a:t>，则称</a:t>
                </a:r>
                <a14:m>
                  <m:oMath xmlns:m="http://schemas.openxmlformats.org/officeDocument/2006/math">
                    <m:r>
                      <a:rPr lang="en-US" altLang="zh-CN" b="1" i="1" kern="100" dirty="0" smtClean="0">
                        <a:effectLst/>
                        <a:latin typeface="Cambria Math" panose="02040503050406030204" pitchFamily="18" charset="0"/>
                      </a:rPr>
                      <m:t>𝒃</m:t>
                    </m:r>
                  </m:oMath>
                </a14:m>
                <a:r>
                  <a:rPr lang="zh-CN" altLang="zh-CN" kern="100" dirty="0">
                    <a:effectLst/>
                    <a:latin typeface="+mn-ea"/>
                  </a:rPr>
                  <a:t>为格</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kern="100" dirty="0">
                    <a:effectLst/>
                    <a:latin typeface="+mn-ea"/>
                  </a:rPr>
                  <a:t>的</a:t>
                </a:r>
                <a:r>
                  <a:rPr lang="zh-CN" altLang="zh-CN" kern="100" dirty="0">
                    <a:solidFill>
                      <a:srgbClr val="FF0000"/>
                    </a:solidFill>
                    <a:effectLst/>
                    <a:latin typeface="+mn-ea"/>
                  </a:rPr>
                  <a:t>全上界</a:t>
                </a:r>
                <a:r>
                  <a:rPr lang="zh-CN" altLang="zh-CN" kern="100" dirty="0">
                    <a:effectLst/>
                    <a:latin typeface="+mn-ea"/>
                  </a:rPr>
                  <a:t>，记为</a:t>
                </a:r>
                <a14:m>
                  <m:oMath xmlns:m="http://schemas.openxmlformats.org/officeDocument/2006/math">
                    <m:r>
                      <a:rPr lang="en-US" altLang="zh-CN" b="1" i="1" kern="100" dirty="0" smtClean="0">
                        <a:solidFill>
                          <a:srgbClr val="CC00CC"/>
                        </a:solidFill>
                        <a:effectLst/>
                        <a:latin typeface="Cambria Math" panose="02040503050406030204" pitchFamily="18" charset="0"/>
                      </a:rPr>
                      <m:t>𝟏</m:t>
                    </m:r>
                  </m:oMath>
                </a14:m>
                <a:r>
                  <a:rPr lang="zh-CN" altLang="zh-CN" kern="100" dirty="0">
                    <a:effectLst/>
                    <a:latin typeface="+mn-ea"/>
                  </a:rPr>
                  <a:t>；</a:t>
                </a:r>
              </a:p>
              <a:p>
                <a:pPr marL="0" indent="0">
                  <a:buNone/>
                </a:pPr>
                <a:r>
                  <a:rPr lang="zh-CN" altLang="zh-CN" dirty="0">
                    <a:effectLst/>
                    <a:latin typeface="+mn-ea"/>
                    <a:cs typeface="Times New Roman" panose="02020603050405020304" pitchFamily="18" charset="0"/>
                  </a:rPr>
                  <a:t>（</a:t>
                </a:r>
                <a:r>
                  <a:rPr lang="en-US" altLang="zh-CN" dirty="0">
                    <a:effectLst/>
                    <a:latin typeface="+mn-ea"/>
                  </a:rPr>
                  <a:t>3</a:t>
                </a:r>
                <a:r>
                  <a:rPr lang="zh-CN" altLang="zh-CN" dirty="0">
                    <a:effectLst/>
                    <a:latin typeface="+mn-ea"/>
                    <a:cs typeface="Times New Roman" panose="02020603050405020304" pitchFamily="18" charset="0"/>
                  </a:rPr>
                  <a:t>）具有全上界</a:t>
                </a:r>
                <a14:m>
                  <m:oMath xmlns:m="http://schemas.openxmlformats.org/officeDocument/2006/math">
                    <m:r>
                      <a:rPr lang="en-US" altLang="zh-CN" b="1" i="1" dirty="0" smtClean="0">
                        <a:solidFill>
                          <a:srgbClr val="CC00CC"/>
                        </a:solidFill>
                        <a:effectLst/>
                        <a:latin typeface="Cambria Math" panose="02040503050406030204" pitchFamily="18" charset="0"/>
                        <a:cs typeface="Times New Roman" panose="02020603050405020304" pitchFamily="18" charset="0"/>
                      </a:rPr>
                      <m:t>𝟎</m:t>
                    </m:r>
                  </m:oMath>
                </a14:m>
                <a:r>
                  <a:rPr lang="zh-CN" altLang="zh-CN" dirty="0">
                    <a:effectLst/>
                    <a:latin typeface="+mn-ea"/>
                    <a:cs typeface="Times New Roman" panose="02020603050405020304" pitchFamily="18" charset="0"/>
                  </a:rPr>
                  <a:t>和全下界</a:t>
                </a:r>
                <a14:m>
                  <m:oMath xmlns:m="http://schemas.openxmlformats.org/officeDocument/2006/math">
                    <m:r>
                      <a:rPr lang="en-US" altLang="zh-CN" b="1" i="1" dirty="0" smtClean="0">
                        <a:solidFill>
                          <a:srgbClr val="CC00CC"/>
                        </a:solidFill>
                        <a:effectLst/>
                        <a:latin typeface="Cambria Math" panose="02040503050406030204" pitchFamily="18" charset="0"/>
                        <a:cs typeface="Times New Roman" panose="02020603050405020304" pitchFamily="18" charset="0"/>
                      </a:rPr>
                      <m:t>𝟏</m:t>
                    </m:r>
                  </m:oMath>
                </a14:m>
                <a:r>
                  <a:rPr lang="zh-CN" altLang="zh-CN" dirty="0">
                    <a:effectLst/>
                    <a:latin typeface="+mn-ea"/>
                    <a:cs typeface="Times New Roman" panose="02020603050405020304" pitchFamily="18" charset="0"/>
                  </a:rPr>
                  <a:t>的格称为</a:t>
                </a:r>
                <a:r>
                  <a:rPr lang="zh-CN" altLang="zh-CN" dirty="0">
                    <a:solidFill>
                      <a:srgbClr val="FF0000"/>
                    </a:solidFill>
                    <a:effectLst/>
                    <a:latin typeface="+mn-ea"/>
                    <a:cs typeface="Times New Roman" panose="02020603050405020304" pitchFamily="18" charset="0"/>
                  </a:rPr>
                  <a:t>有界格</a:t>
                </a:r>
                <a:r>
                  <a:rPr lang="zh-CN" altLang="zh-CN" dirty="0">
                    <a:effectLst/>
                    <a:latin typeface="+mn-ea"/>
                    <a:cs typeface="Times New Roman" panose="02020603050405020304" pitchFamily="18" charset="0"/>
                  </a:rPr>
                  <a:t>。</a:t>
                </a:r>
                <a:endParaRPr lang="zh-CN" altLang="en-US" dirty="0">
                  <a:latin typeface="+mn-ea"/>
                </a:endParaRPr>
              </a:p>
            </p:txBody>
          </p:sp>
        </mc:Choice>
        <mc:Fallback xmlns="">
          <p:sp>
            <p:nvSpPr>
              <p:cNvPr id="3" name="内容占位符 2">
                <a:extLst>
                  <a:ext uri="{FF2B5EF4-FFF2-40B4-BE49-F238E27FC236}">
                    <a16:creationId xmlns:a16="http://schemas.microsoft.com/office/drawing/2014/main" id="{11FD4330-490F-453F-9206-04EA2F252E0B}"/>
                  </a:ext>
                </a:extLst>
              </p:cNvPr>
              <p:cNvSpPr>
                <a:spLocks noGrp="1" noRot="1" noChangeAspect="1" noMove="1" noResize="1" noEditPoints="1" noAdjustHandles="1" noChangeArrowheads="1" noChangeShapeType="1" noTextEdit="1"/>
              </p:cNvSpPr>
              <p:nvPr>
                <p:ph idx="1"/>
              </p:nvPr>
            </p:nvSpPr>
            <p:spPr>
              <a:xfrm>
                <a:off x="169337" y="1014978"/>
                <a:ext cx="11822980" cy="2120472"/>
              </a:xfrm>
              <a:blipFill>
                <a:blip r:embed="rId5"/>
                <a:stretch>
                  <a:fillRect l="-567" r="-3094" b="-3161"/>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7A808FED-A767-4678-AF59-9B6BD445C329}"/>
              </a:ext>
            </a:extLst>
          </p:cNvPr>
          <p:cNvGrpSpPr/>
          <p:nvPr/>
        </p:nvGrpSpPr>
        <p:grpSpPr>
          <a:xfrm>
            <a:off x="3051175" y="3277394"/>
            <a:ext cx="5585028" cy="2948572"/>
            <a:chOff x="2674597" y="1465347"/>
            <a:chExt cx="5530234" cy="2835414"/>
          </a:xfrm>
        </p:grpSpPr>
        <p:grpSp>
          <p:nvGrpSpPr>
            <p:cNvPr id="5" name="组合 4">
              <a:extLst>
                <a:ext uri="{FF2B5EF4-FFF2-40B4-BE49-F238E27FC236}">
                  <a16:creationId xmlns:a16="http://schemas.microsoft.com/office/drawing/2014/main" id="{217EF661-3711-4765-996B-5BAEEB4F15E2}"/>
                </a:ext>
              </a:extLst>
            </p:cNvPr>
            <p:cNvGrpSpPr/>
            <p:nvPr/>
          </p:nvGrpSpPr>
          <p:grpSpPr>
            <a:xfrm>
              <a:off x="2674597" y="1465347"/>
              <a:ext cx="1441081" cy="2388548"/>
              <a:chOff x="2674597" y="1465347"/>
              <a:chExt cx="1441081" cy="2388548"/>
            </a:xfrm>
          </p:grpSpPr>
          <p:sp>
            <p:nvSpPr>
              <p:cNvPr id="52" name="流程图: 接点 51">
                <a:extLst>
                  <a:ext uri="{FF2B5EF4-FFF2-40B4-BE49-F238E27FC236}">
                    <a16:creationId xmlns:a16="http://schemas.microsoft.com/office/drawing/2014/main" id="{56F5423D-01AD-41B0-AFFC-C8E3B6D3A83B}"/>
                  </a:ext>
                </a:extLst>
              </p:cNvPr>
              <p:cNvSpPr/>
              <p:nvPr/>
            </p:nvSpPr>
            <p:spPr>
              <a:xfrm>
                <a:off x="2907659" y="2335338"/>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53" name="流程图: 接点 52">
                <a:extLst>
                  <a:ext uri="{FF2B5EF4-FFF2-40B4-BE49-F238E27FC236}">
                    <a16:creationId xmlns:a16="http://schemas.microsoft.com/office/drawing/2014/main" id="{DFC8128C-6EA5-4031-A843-33B31F32B677}"/>
                  </a:ext>
                </a:extLst>
              </p:cNvPr>
              <p:cNvSpPr/>
              <p:nvPr/>
            </p:nvSpPr>
            <p:spPr>
              <a:xfrm>
                <a:off x="3376317" y="2335338"/>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54" name="流程图: 接点 53">
                <a:extLst>
                  <a:ext uri="{FF2B5EF4-FFF2-40B4-BE49-F238E27FC236}">
                    <a16:creationId xmlns:a16="http://schemas.microsoft.com/office/drawing/2014/main" id="{4B314D55-37A1-4D88-9310-1807BA3D06F8}"/>
                  </a:ext>
                </a:extLst>
              </p:cNvPr>
              <p:cNvSpPr/>
              <p:nvPr/>
            </p:nvSpPr>
            <p:spPr>
              <a:xfrm>
                <a:off x="3855658" y="2335338"/>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55" name="流程图: 接点 54">
                <a:extLst>
                  <a:ext uri="{FF2B5EF4-FFF2-40B4-BE49-F238E27FC236}">
                    <a16:creationId xmlns:a16="http://schemas.microsoft.com/office/drawing/2014/main" id="{E389F6D9-08BE-4BF0-8AB2-D37B4A53E771}"/>
                  </a:ext>
                </a:extLst>
              </p:cNvPr>
              <p:cNvSpPr/>
              <p:nvPr/>
            </p:nvSpPr>
            <p:spPr>
              <a:xfrm>
                <a:off x="3362926" y="350251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56" name="流程图: 接点 55">
                <a:extLst>
                  <a:ext uri="{FF2B5EF4-FFF2-40B4-BE49-F238E27FC236}">
                    <a16:creationId xmlns:a16="http://schemas.microsoft.com/office/drawing/2014/main" id="{E30FF91F-9FA2-4AA4-B143-A16778ED22F8}"/>
                  </a:ext>
                </a:extLst>
              </p:cNvPr>
              <p:cNvSpPr/>
              <p:nvPr/>
            </p:nvSpPr>
            <p:spPr>
              <a:xfrm>
                <a:off x="3842932" y="306972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57" name="流程图: 接点 56">
                <a:extLst>
                  <a:ext uri="{FF2B5EF4-FFF2-40B4-BE49-F238E27FC236}">
                    <a16:creationId xmlns:a16="http://schemas.microsoft.com/office/drawing/2014/main" id="{3C045CCA-DB71-4D8E-A32F-36F36F0AC49B}"/>
                  </a:ext>
                </a:extLst>
              </p:cNvPr>
              <p:cNvSpPr/>
              <p:nvPr/>
            </p:nvSpPr>
            <p:spPr>
              <a:xfrm>
                <a:off x="2907659" y="307509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58" name="流程图: 接点 57">
                <a:extLst>
                  <a:ext uri="{FF2B5EF4-FFF2-40B4-BE49-F238E27FC236}">
                    <a16:creationId xmlns:a16="http://schemas.microsoft.com/office/drawing/2014/main" id="{6A1651E8-E8D8-41EE-A3E6-B0864B855187}"/>
                  </a:ext>
                </a:extLst>
              </p:cNvPr>
              <p:cNvSpPr/>
              <p:nvPr/>
            </p:nvSpPr>
            <p:spPr>
              <a:xfrm>
                <a:off x="3376317" y="191660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59" name="流程图: 接点 58">
                <a:extLst>
                  <a:ext uri="{FF2B5EF4-FFF2-40B4-BE49-F238E27FC236}">
                    <a16:creationId xmlns:a16="http://schemas.microsoft.com/office/drawing/2014/main" id="{FDD66BCE-5263-4775-8807-ABB94C0F8DA1}"/>
                  </a:ext>
                </a:extLst>
              </p:cNvPr>
              <p:cNvSpPr/>
              <p:nvPr/>
            </p:nvSpPr>
            <p:spPr>
              <a:xfrm>
                <a:off x="3376317" y="275407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60" name="直接连接符 59">
                <a:extLst>
                  <a:ext uri="{FF2B5EF4-FFF2-40B4-BE49-F238E27FC236}">
                    <a16:creationId xmlns:a16="http://schemas.microsoft.com/office/drawing/2014/main" id="{F8F5E7F4-74D7-48FB-AAE3-C134AACF9D45}"/>
                  </a:ext>
                </a:extLst>
              </p:cNvPr>
              <p:cNvCxnSpPr>
                <a:stCxn id="58" idx="3"/>
                <a:endCxn id="52" idx="7"/>
              </p:cNvCxnSpPr>
              <p:nvPr/>
            </p:nvCxnSpPr>
            <p:spPr>
              <a:xfrm flipH="1">
                <a:off x="2985708" y="1995212"/>
                <a:ext cx="404000" cy="3536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B2BEE480-B7D8-4DA2-993D-430C56010AEC}"/>
                  </a:ext>
                </a:extLst>
              </p:cNvPr>
              <p:cNvCxnSpPr>
                <a:stCxn id="59" idx="1"/>
                <a:endCxn id="52" idx="6"/>
              </p:cNvCxnSpPr>
              <p:nvPr/>
            </p:nvCxnSpPr>
            <p:spPr>
              <a:xfrm flipH="1" flipV="1">
                <a:off x="2999099" y="2381387"/>
                <a:ext cx="390609" cy="386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CD15D48-7089-480B-9D92-C7F54C5E6AB8}"/>
                  </a:ext>
                </a:extLst>
              </p:cNvPr>
              <p:cNvCxnSpPr>
                <a:stCxn id="59" idx="2"/>
                <a:endCxn id="57" idx="7"/>
              </p:cNvCxnSpPr>
              <p:nvPr/>
            </p:nvCxnSpPr>
            <p:spPr>
              <a:xfrm flipH="1">
                <a:off x="2985708" y="2800124"/>
                <a:ext cx="390609" cy="2884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13F25A7D-2C73-4E62-BF05-82DFF1EFC0F9}"/>
                  </a:ext>
                </a:extLst>
              </p:cNvPr>
              <p:cNvCxnSpPr>
                <a:stCxn id="54" idx="3"/>
                <a:endCxn id="59" idx="7"/>
              </p:cNvCxnSpPr>
              <p:nvPr/>
            </p:nvCxnSpPr>
            <p:spPr>
              <a:xfrm flipH="1">
                <a:off x="3454366" y="2413949"/>
                <a:ext cx="414683" cy="3536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7DF660D4-6DD5-4FE6-BE23-EC4477479092}"/>
                  </a:ext>
                </a:extLst>
              </p:cNvPr>
              <p:cNvCxnSpPr>
                <a:stCxn id="57" idx="5"/>
                <a:endCxn id="55" idx="1"/>
              </p:cNvCxnSpPr>
              <p:nvPr/>
            </p:nvCxnSpPr>
            <p:spPr>
              <a:xfrm>
                <a:off x="2985708" y="3153707"/>
                <a:ext cx="390609" cy="3622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9418DB62-C3D4-4DCE-A862-F8D804E25D8B}"/>
                  </a:ext>
                </a:extLst>
              </p:cNvPr>
              <p:cNvCxnSpPr>
                <a:stCxn id="56" idx="1"/>
                <a:endCxn id="59" idx="6"/>
              </p:cNvCxnSpPr>
              <p:nvPr/>
            </p:nvCxnSpPr>
            <p:spPr>
              <a:xfrm flipH="1" flipV="1">
                <a:off x="3467757" y="2800124"/>
                <a:ext cx="388566" cy="2830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67F2E9EF-E840-42CB-A8DE-BB241F5AF04F}"/>
                  </a:ext>
                </a:extLst>
              </p:cNvPr>
              <p:cNvCxnSpPr>
                <a:stCxn id="56" idx="3"/>
                <a:endCxn id="55" idx="7"/>
              </p:cNvCxnSpPr>
              <p:nvPr/>
            </p:nvCxnSpPr>
            <p:spPr>
              <a:xfrm flipH="1">
                <a:off x="3440975" y="3148333"/>
                <a:ext cx="415348" cy="367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8301E729-E61F-4917-873E-6B04A5465EB6}"/>
                  </a:ext>
                </a:extLst>
              </p:cNvPr>
              <p:cNvCxnSpPr>
                <a:stCxn id="58" idx="4"/>
                <a:endCxn id="53" idx="0"/>
              </p:cNvCxnSpPr>
              <p:nvPr/>
            </p:nvCxnSpPr>
            <p:spPr>
              <a:xfrm>
                <a:off x="3422037" y="2008699"/>
                <a:ext cx="0" cy="3266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FABA561F-FBC4-4E3E-8C70-A9182C349F08}"/>
                  </a:ext>
                </a:extLst>
              </p:cNvPr>
              <p:cNvCxnSpPr>
                <a:stCxn id="58" idx="5"/>
                <a:endCxn id="54" idx="1"/>
              </p:cNvCxnSpPr>
              <p:nvPr/>
            </p:nvCxnSpPr>
            <p:spPr>
              <a:xfrm>
                <a:off x="3454366" y="1995212"/>
                <a:ext cx="414683" cy="3536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6255230-EAEA-4834-915D-0771F55E5EC6}"/>
                  </a:ext>
                </a:extLst>
              </p:cNvPr>
              <p:cNvCxnSpPr>
                <a:stCxn id="53" idx="4"/>
                <a:endCxn id="59" idx="0"/>
              </p:cNvCxnSpPr>
              <p:nvPr/>
            </p:nvCxnSpPr>
            <p:spPr>
              <a:xfrm>
                <a:off x="3422037" y="2427436"/>
                <a:ext cx="0" cy="3266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89304B06-4A8E-476F-93B6-DF80140AA100}"/>
                      </a:ext>
                    </a:extLst>
                  </p:cNvPr>
                  <p:cNvSpPr txBox="1"/>
                  <p:nvPr/>
                </p:nvSpPr>
                <p:spPr>
                  <a:xfrm>
                    <a:off x="2674597" y="2914447"/>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70" name="文本框 69">
                    <a:extLst>
                      <a:ext uri="{FF2B5EF4-FFF2-40B4-BE49-F238E27FC236}">
                        <a16:creationId xmlns:a16="http://schemas.microsoft.com/office/drawing/2014/main" id="{89304B06-4A8E-476F-93B6-DF80140AA100}"/>
                      </a:ext>
                    </a:extLst>
                  </p:cNvPr>
                  <p:cNvSpPr txBox="1">
                    <a:spLocks noRot="1" noChangeAspect="1" noMove="1" noResize="1" noEditPoints="1" noAdjustHandles="1" noChangeArrowheads="1" noChangeShapeType="1" noTextEdit="1"/>
                  </p:cNvSpPr>
                  <p:nvPr/>
                </p:nvSpPr>
                <p:spPr>
                  <a:xfrm>
                    <a:off x="2674597" y="2914447"/>
                    <a:ext cx="234779" cy="443948"/>
                  </a:xfrm>
                  <a:prstGeom prst="rect">
                    <a:avLst/>
                  </a:prstGeom>
                  <a:blipFill>
                    <a:blip r:embed="rId6"/>
                    <a:stretch>
                      <a:fillRect l="-7692" r="-6410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60B58AE3-A6BF-4285-8206-014729A13EB2}"/>
                      </a:ext>
                    </a:extLst>
                  </p:cNvPr>
                  <p:cNvSpPr txBox="1"/>
                  <p:nvPr/>
                </p:nvSpPr>
                <p:spPr>
                  <a:xfrm>
                    <a:off x="3114756" y="3409947"/>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71" name="文本框 70">
                    <a:extLst>
                      <a:ext uri="{FF2B5EF4-FFF2-40B4-BE49-F238E27FC236}">
                        <a16:creationId xmlns:a16="http://schemas.microsoft.com/office/drawing/2014/main" id="{60B58AE3-A6BF-4285-8206-014729A13EB2}"/>
                      </a:ext>
                    </a:extLst>
                  </p:cNvPr>
                  <p:cNvSpPr txBox="1">
                    <a:spLocks noRot="1" noChangeAspect="1" noMove="1" noResize="1" noEditPoints="1" noAdjustHandles="1" noChangeArrowheads="1" noChangeShapeType="1" noTextEdit="1"/>
                  </p:cNvSpPr>
                  <p:nvPr/>
                </p:nvSpPr>
                <p:spPr>
                  <a:xfrm>
                    <a:off x="3114756" y="3409947"/>
                    <a:ext cx="234779" cy="443948"/>
                  </a:xfrm>
                  <a:prstGeom prst="rect">
                    <a:avLst/>
                  </a:prstGeom>
                  <a:blipFill>
                    <a:blip r:embed="rId7"/>
                    <a:stretch>
                      <a:fillRect r="-51282"/>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D043E930-D4CD-4CF3-A04D-1260588ABFC0}"/>
                      </a:ext>
                    </a:extLst>
                  </p:cNvPr>
                  <p:cNvSpPr txBox="1"/>
                  <p:nvPr/>
                </p:nvSpPr>
                <p:spPr>
                  <a:xfrm>
                    <a:off x="3880899" y="289175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72" name="文本框 71">
                    <a:extLst>
                      <a:ext uri="{FF2B5EF4-FFF2-40B4-BE49-F238E27FC236}">
                        <a16:creationId xmlns:a16="http://schemas.microsoft.com/office/drawing/2014/main" id="{D043E930-D4CD-4CF3-A04D-1260588ABFC0}"/>
                      </a:ext>
                    </a:extLst>
                  </p:cNvPr>
                  <p:cNvSpPr txBox="1">
                    <a:spLocks noRot="1" noChangeAspect="1" noMove="1" noResize="1" noEditPoints="1" noAdjustHandles="1" noChangeArrowheads="1" noChangeShapeType="1" noTextEdit="1"/>
                  </p:cNvSpPr>
                  <p:nvPr/>
                </p:nvSpPr>
                <p:spPr>
                  <a:xfrm>
                    <a:off x="3880899" y="2891751"/>
                    <a:ext cx="234779" cy="443948"/>
                  </a:xfrm>
                  <a:prstGeom prst="rect">
                    <a:avLst/>
                  </a:prstGeom>
                  <a:blipFill>
                    <a:blip r:embed="rId8"/>
                    <a:stretch>
                      <a:fillRect r="-3589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D247AF50-825D-4AFE-AE54-F6B468781840}"/>
                      </a:ext>
                    </a:extLst>
                  </p:cNvPr>
                  <p:cNvSpPr txBox="1"/>
                  <p:nvPr/>
                </p:nvSpPr>
                <p:spPr>
                  <a:xfrm>
                    <a:off x="3522064" y="2517162"/>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73" name="文本框 72">
                    <a:extLst>
                      <a:ext uri="{FF2B5EF4-FFF2-40B4-BE49-F238E27FC236}">
                        <a16:creationId xmlns:a16="http://schemas.microsoft.com/office/drawing/2014/main" id="{D247AF50-825D-4AFE-AE54-F6B468781840}"/>
                      </a:ext>
                    </a:extLst>
                  </p:cNvPr>
                  <p:cNvSpPr txBox="1">
                    <a:spLocks noRot="1" noChangeAspect="1" noMove="1" noResize="1" noEditPoints="1" noAdjustHandles="1" noChangeArrowheads="1" noChangeShapeType="1" noTextEdit="1"/>
                  </p:cNvSpPr>
                  <p:nvPr/>
                </p:nvSpPr>
                <p:spPr>
                  <a:xfrm>
                    <a:off x="3522064" y="2517162"/>
                    <a:ext cx="234779" cy="443948"/>
                  </a:xfrm>
                  <a:prstGeom prst="rect">
                    <a:avLst/>
                  </a:prstGeom>
                  <a:blipFill>
                    <a:blip r:embed="rId9"/>
                    <a:stretch>
                      <a:fillRect l="-10256" r="-6666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B0F7C086-ABF7-4180-8A89-724968139E3A}"/>
                      </a:ext>
                    </a:extLst>
                  </p:cNvPr>
                  <p:cNvSpPr txBox="1"/>
                  <p:nvPr/>
                </p:nvSpPr>
                <p:spPr>
                  <a:xfrm>
                    <a:off x="2704834" y="2295938"/>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74" name="文本框 73">
                    <a:extLst>
                      <a:ext uri="{FF2B5EF4-FFF2-40B4-BE49-F238E27FC236}">
                        <a16:creationId xmlns:a16="http://schemas.microsoft.com/office/drawing/2014/main" id="{B0F7C086-ABF7-4180-8A89-724968139E3A}"/>
                      </a:ext>
                    </a:extLst>
                  </p:cNvPr>
                  <p:cNvSpPr txBox="1">
                    <a:spLocks noRot="1" noChangeAspect="1" noMove="1" noResize="1" noEditPoints="1" noAdjustHandles="1" noChangeArrowheads="1" noChangeShapeType="1" noTextEdit="1"/>
                  </p:cNvSpPr>
                  <p:nvPr/>
                </p:nvSpPr>
                <p:spPr>
                  <a:xfrm>
                    <a:off x="2704834" y="2295938"/>
                    <a:ext cx="234779" cy="443948"/>
                  </a:xfrm>
                  <a:prstGeom prst="rect">
                    <a:avLst/>
                  </a:prstGeom>
                  <a:blipFill>
                    <a:blip r:embed="rId10"/>
                    <a:stretch>
                      <a:fillRect r="-41026"/>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12DCC253-CCB3-46B8-ABCA-0E5C6B909B7D}"/>
                      </a:ext>
                    </a:extLst>
                  </p:cNvPr>
                  <p:cNvSpPr txBox="1"/>
                  <p:nvPr/>
                </p:nvSpPr>
                <p:spPr>
                  <a:xfrm>
                    <a:off x="3158925" y="2046536"/>
                    <a:ext cx="139344"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𝒇</m:t>
                          </m:r>
                        </m:oMath>
                      </m:oMathPara>
                    </a14:m>
                    <a:endParaRPr lang="en-US" b="1" dirty="0">
                      <a:solidFill>
                        <a:srgbClr val="FF0000"/>
                      </a:solidFill>
                    </a:endParaRPr>
                  </a:p>
                </p:txBody>
              </p:sp>
            </mc:Choice>
            <mc:Fallback xmlns="">
              <p:sp>
                <p:nvSpPr>
                  <p:cNvPr id="75" name="文本框 74">
                    <a:extLst>
                      <a:ext uri="{FF2B5EF4-FFF2-40B4-BE49-F238E27FC236}">
                        <a16:creationId xmlns:a16="http://schemas.microsoft.com/office/drawing/2014/main" id="{12DCC253-CCB3-46B8-ABCA-0E5C6B909B7D}"/>
                      </a:ext>
                    </a:extLst>
                  </p:cNvPr>
                  <p:cNvSpPr txBox="1">
                    <a:spLocks noRot="1" noChangeAspect="1" noMove="1" noResize="1" noEditPoints="1" noAdjustHandles="1" noChangeArrowheads="1" noChangeShapeType="1" noTextEdit="1"/>
                  </p:cNvSpPr>
                  <p:nvPr/>
                </p:nvSpPr>
                <p:spPr>
                  <a:xfrm>
                    <a:off x="3158925" y="2046536"/>
                    <a:ext cx="139344" cy="443948"/>
                  </a:xfrm>
                  <a:prstGeom prst="rect">
                    <a:avLst/>
                  </a:prstGeom>
                  <a:blipFill>
                    <a:blip r:embed="rId11"/>
                    <a:stretch>
                      <a:fillRect l="-52174" r="-173913" b="-19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A9F9A656-E986-46FF-998A-D5E62CCCC7D9}"/>
                      </a:ext>
                    </a:extLst>
                  </p:cNvPr>
                  <p:cNvSpPr txBox="1"/>
                  <p:nvPr/>
                </p:nvSpPr>
                <p:spPr>
                  <a:xfrm>
                    <a:off x="3871156" y="2150672"/>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𝒈</m:t>
                          </m:r>
                        </m:oMath>
                      </m:oMathPara>
                    </a14:m>
                    <a:endParaRPr lang="en-US" b="1" dirty="0">
                      <a:solidFill>
                        <a:srgbClr val="FF0000"/>
                      </a:solidFill>
                    </a:endParaRPr>
                  </a:p>
                </p:txBody>
              </p:sp>
            </mc:Choice>
            <mc:Fallback xmlns="">
              <p:sp>
                <p:nvSpPr>
                  <p:cNvPr id="76" name="文本框 75">
                    <a:extLst>
                      <a:ext uri="{FF2B5EF4-FFF2-40B4-BE49-F238E27FC236}">
                        <a16:creationId xmlns:a16="http://schemas.microsoft.com/office/drawing/2014/main" id="{A9F9A656-E986-46FF-998A-D5E62CCCC7D9}"/>
                      </a:ext>
                    </a:extLst>
                  </p:cNvPr>
                  <p:cNvSpPr txBox="1">
                    <a:spLocks noRot="1" noChangeAspect="1" noMove="1" noResize="1" noEditPoints="1" noAdjustHandles="1" noChangeArrowheads="1" noChangeShapeType="1" noTextEdit="1"/>
                  </p:cNvSpPr>
                  <p:nvPr/>
                </p:nvSpPr>
                <p:spPr>
                  <a:xfrm>
                    <a:off x="3871156" y="2150672"/>
                    <a:ext cx="234779" cy="443948"/>
                  </a:xfrm>
                  <a:prstGeom prst="rect">
                    <a:avLst/>
                  </a:prstGeom>
                  <a:blipFill>
                    <a:blip r:embed="rId12"/>
                    <a:stretch>
                      <a:fillRect l="-7692" r="-74359" b="-1466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C1F36529-977C-4F91-AA13-D5A99B4DCD34}"/>
                      </a:ext>
                    </a:extLst>
                  </p:cNvPr>
                  <p:cNvSpPr txBox="1"/>
                  <p:nvPr/>
                </p:nvSpPr>
                <p:spPr>
                  <a:xfrm>
                    <a:off x="3300822" y="1465347"/>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𝒉</m:t>
                          </m:r>
                        </m:oMath>
                      </m:oMathPara>
                    </a14:m>
                    <a:endParaRPr lang="en-US" b="1" dirty="0">
                      <a:solidFill>
                        <a:srgbClr val="FF0000"/>
                      </a:solidFill>
                    </a:endParaRPr>
                  </a:p>
                </p:txBody>
              </p:sp>
            </mc:Choice>
            <mc:Fallback xmlns="">
              <p:sp>
                <p:nvSpPr>
                  <p:cNvPr id="77" name="文本框 76">
                    <a:extLst>
                      <a:ext uri="{FF2B5EF4-FFF2-40B4-BE49-F238E27FC236}">
                        <a16:creationId xmlns:a16="http://schemas.microsoft.com/office/drawing/2014/main" id="{C1F36529-977C-4F91-AA13-D5A99B4DCD34}"/>
                      </a:ext>
                    </a:extLst>
                  </p:cNvPr>
                  <p:cNvSpPr txBox="1">
                    <a:spLocks noRot="1" noChangeAspect="1" noMove="1" noResize="1" noEditPoints="1" noAdjustHandles="1" noChangeArrowheads="1" noChangeShapeType="1" noTextEdit="1"/>
                  </p:cNvSpPr>
                  <p:nvPr/>
                </p:nvSpPr>
                <p:spPr>
                  <a:xfrm>
                    <a:off x="3300822" y="1465347"/>
                    <a:ext cx="234779" cy="443948"/>
                  </a:xfrm>
                  <a:prstGeom prst="rect">
                    <a:avLst/>
                  </a:prstGeom>
                  <a:blipFill>
                    <a:blip r:embed="rId13"/>
                    <a:stretch>
                      <a:fillRect l="-10256" r="-66667"/>
                    </a:stretch>
                  </a:blipFill>
                  <a:ln w="19050">
                    <a:noFill/>
                  </a:ln>
                </p:spPr>
                <p:txBody>
                  <a:bodyPr/>
                  <a:lstStyle/>
                  <a:p>
                    <a:r>
                      <a:rPr lang="zh-CN" altLang="en-US">
                        <a:noFill/>
                      </a:rPr>
                      <a:t> </a:t>
                    </a:r>
                  </a:p>
                </p:txBody>
              </p:sp>
            </mc:Fallback>
          </mc:AlternateContent>
        </p:grpSp>
        <p:grpSp>
          <p:nvGrpSpPr>
            <p:cNvPr id="6" name="组合 5">
              <a:extLst>
                <a:ext uri="{FF2B5EF4-FFF2-40B4-BE49-F238E27FC236}">
                  <a16:creationId xmlns:a16="http://schemas.microsoft.com/office/drawing/2014/main" id="{F3C1EB43-A179-4338-B8A7-D4E1EF9FEDE0}"/>
                </a:ext>
              </a:extLst>
            </p:cNvPr>
            <p:cNvGrpSpPr/>
            <p:nvPr/>
          </p:nvGrpSpPr>
          <p:grpSpPr>
            <a:xfrm>
              <a:off x="6655255" y="1838536"/>
              <a:ext cx="1549576" cy="1962023"/>
              <a:chOff x="6655255" y="1838536"/>
              <a:chExt cx="1549576" cy="1962023"/>
            </a:xfrm>
          </p:grpSpPr>
          <p:sp>
            <p:nvSpPr>
              <p:cNvPr id="33" name="流程图: 接点 32">
                <a:extLst>
                  <a:ext uri="{FF2B5EF4-FFF2-40B4-BE49-F238E27FC236}">
                    <a16:creationId xmlns:a16="http://schemas.microsoft.com/office/drawing/2014/main" id="{A5C8C4E8-0FA4-4337-A797-E84A72D94991}"/>
                  </a:ext>
                </a:extLst>
              </p:cNvPr>
              <p:cNvSpPr/>
              <p:nvPr/>
            </p:nvSpPr>
            <p:spPr>
              <a:xfrm>
                <a:off x="7929270" y="2833710"/>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34" name="流程图: 接点 33">
                <a:extLst>
                  <a:ext uri="{FF2B5EF4-FFF2-40B4-BE49-F238E27FC236}">
                    <a16:creationId xmlns:a16="http://schemas.microsoft.com/office/drawing/2014/main" id="{1940601B-6D2E-4C65-9514-631DDD12F65A}"/>
                  </a:ext>
                </a:extLst>
              </p:cNvPr>
              <p:cNvSpPr/>
              <p:nvPr/>
            </p:nvSpPr>
            <p:spPr>
              <a:xfrm>
                <a:off x="7393742" y="295359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35" name="流程图: 接点 34">
                <a:extLst>
                  <a:ext uri="{FF2B5EF4-FFF2-40B4-BE49-F238E27FC236}">
                    <a16:creationId xmlns:a16="http://schemas.microsoft.com/office/drawing/2014/main" id="{5B8C32E0-E14B-4232-8AD3-9EE233BD405B}"/>
                  </a:ext>
                </a:extLst>
              </p:cNvPr>
              <p:cNvSpPr/>
              <p:nvPr/>
            </p:nvSpPr>
            <p:spPr>
              <a:xfrm>
                <a:off x="6907497" y="2601490"/>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36" name="流程图: 接点 35">
                <a:extLst>
                  <a:ext uri="{FF2B5EF4-FFF2-40B4-BE49-F238E27FC236}">
                    <a16:creationId xmlns:a16="http://schemas.microsoft.com/office/drawing/2014/main" id="{616D5B1E-4165-4675-A453-C46F9798C8B1}"/>
                  </a:ext>
                </a:extLst>
              </p:cNvPr>
              <p:cNvSpPr/>
              <p:nvPr/>
            </p:nvSpPr>
            <p:spPr>
              <a:xfrm>
                <a:off x="7388804" y="2601490"/>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37" name="流程图: 接点 36">
                <a:extLst>
                  <a:ext uri="{FF2B5EF4-FFF2-40B4-BE49-F238E27FC236}">
                    <a16:creationId xmlns:a16="http://schemas.microsoft.com/office/drawing/2014/main" id="{DD427A2F-F227-4138-906D-7C20604076B2}"/>
                  </a:ext>
                </a:extLst>
              </p:cNvPr>
              <p:cNvSpPr/>
              <p:nvPr/>
            </p:nvSpPr>
            <p:spPr>
              <a:xfrm>
                <a:off x="7388804" y="336367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38" name="流程图: 接点 37">
                <a:extLst>
                  <a:ext uri="{FF2B5EF4-FFF2-40B4-BE49-F238E27FC236}">
                    <a16:creationId xmlns:a16="http://schemas.microsoft.com/office/drawing/2014/main" id="{9799C14A-2D68-4E49-8B4A-9F2ED595E272}"/>
                  </a:ext>
                </a:extLst>
              </p:cNvPr>
              <p:cNvSpPr/>
              <p:nvPr/>
            </p:nvSpPr>
            <p:spPr>
              <a:xfrm>
                <a:off x="7388804" y="2220399"/>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EFDF4996-C7B9-4B3B-8AA4-1C337838B427}"/>
                      </a:ext>
                    </a:extLst>
                  </p:cNvPr>
                  <p:cNvSpPr txBox="1"/>
                  <p:nvPr/>
                </p:nvSpPr>
                <p:spPr>
                  <a:xfrm>
                    <a:off x="7142009" y="1838536"/>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𝒇</m:t>
                          </m:r>
                        </m:oMath>
                      </m:oMathPara>
                    </a14:m>
                    <a:endParaRPr lang="en-US" b="1" dirty="0">
                      <a:solidFill>
                        <a:srgbClr val="FF0000"/>
                      </a:solidFill>
                    </a:endParaRPr>
                  </a:p>
                </p:txBody>
              </p:sp>
            </mc:Choice>
            <mc:Fallback xmlns="">
              <p:sp>
                <p:nvSpPr>
                  <p:cNvPr id="39" name="文本框 38">
                    <a:extLst>
                      <a:ext uri="{FF2B5EF4-FFF2-40B4-BE49-F238E27FC236}">
                        <a16:creationId xmlns:a16="http://schemas.microsoft.com/office/drawing/2014/main" id="{EFDF4996-C7B9-4B3B-8AA4-1C337838B427}"/>
                      </a:ext>
                    </a:extLst>
                  </p:cNvPr>
                  <p:cNvSpPr txBox="1">
                    <a:spLocks noRot="1" noChangeAspect="1" noMove="1" noResize="1" noEditPoints="1" noAdjustHandles="1" noChangeArrowheads="1" noChangeShapeType="1" noTextEdit="1"/>
                  </p:cNvSpPr>
                  <p:nvPr/>
                </p:nvSpPr>
                <p:spPr>
                  <a:xfrm>
                    <a:off x="7142009" y="1838536"/>
                    <a:ext cx="234779" cy="443948"/>
                  </a:xfrm>
                  <a:prstGeom prst="rect">
                    <a:avLst/>
                  </a:prstGeom>
                  <a:blipFill>
                    <a:blip r:embed="rId14"/>
                    <a:stretch>
                      <a:fillRect l="-20513" r="-71795" b="-19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96992284-A35C-4E2D-998C-71DA3213BA81}"/>
                      </a:ext>
                    </a:extLst>
                  </p:cNvPr>
                  <p:cNvSpPr txBox="1"/>
                  <p:nvPr/>
                </p:nvSpPr>
                <p:spPr>
                  <a:xfrm>
                    <a:off x="7970052" y="265392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40" name="文本框 39">
                    <a:extLst>
                      <a:ext uri="{FF2B5EF4-FFF2-40B4-BE49-F238E27FC236}">
                        <a16:creationId xmlns:a16="http://schemas.microsoft.com/office/drawing/2014/main" id="{96992284-A35C-4E2D-998C-71DA3213BA81}"/>
                      </a:ext>
                    </a:extLst>
                  </p:cNvPr>
                  <p:cNvSpPr txBox="1">
                    <a:spLocks noRot="1" noChangeAspect="1" noMove="1" noResize="1" noEditPoints="1" noAdjustHandles="1" noChangeArrowheads="1" noChangeShapeType="1" noTextEdit="1"/>
                  </p:cNvSpPr>
                  <p:nvPr/>
                </p:nvSpPr>
                <p:spPr>
                  <a:xfrm>
                    <a:off x="7970052" y="2653921"/>
                    <a:ext cx="234779" cy="443948"/>
                  </a:xfrm>
                  <a:prstGeom prst="rect">
                    <a:avLst/>
                  </a:prstGeom>
                  <a:blipFill>
                    <a:blip r:embed="rId15"/>
                    <a:stretch>
                      <a:fillRect r="-3589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BE5BA055-9651-47A2-A835-5730917F3671}"/>
                      </a:ext>
                    </a:extLst>
                  </p:cNvPr>
                  <p:cNvSpPr txBox="1"/>
                  <p:nvPr/>
                </p:nvSpPr>
                <p:spPr>
                  <a:xfrm>
                    <a:off x="7144412" y="283182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41" name="文本框 40">
                    <a:extLst>
                      <a:ext uri="{FF2B5EF4-FFF2-40B4-BE49-F238E27FC236}">
                        <a16:creationId xmlns:a16="http://schemas.microsoft.com/office/drawing/2014/main" id="{BE5BA055-9651-47A2-A835-5730917F3671}"/>
                      </a:ext>
                    </a:extLst>
                  </p:cNvPr>
                  <p:cNvSpPr txBox="1">
                    <a:spLocks noRot="1" noChangeAspect="1" noMove="1" noResize="1" noEditPoints="1" noAdjustHandles="1" noChangeArrowheads="1" noChangeShapeType="1" noTextEdit="1"/>
                  </p:cNvSpPr>
                  <p:nvPr/>
                </p:nvSpPr>
                <p:spPr>
                  <a:xfrm>
                    <a:off x="7144412" y="2831821"/>
                    <a:ext cx="234779" cy="443948"/>
                  </a:xfrm>
                  <a:prstGeom prst="rect">
                    <a:avLst/>
                  </a:prstGeom>
                  <a:blipFill>
                    <a:blip r:embed="rId16"/>
                    <a:stretch>
                      <a:fillRect l="-10526" r="-65789"/>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6762BBFD-2492-42EE-A10A-7E9BF511E3AE}"/>
                      </a:ext>
                    </a:extLst>
                  </p:cNvPr>
                  <p:cNvSpPr txBox="1"/>
                  <p:nvPr/>
                </p:nvSpPr>
                <p:spPr>
                  <a:xfrm>
                    <a:off x="7284804" y="335661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42" name="文本框 41">
                    <a:extLst>
                      <a:ext uri="{FF2B5EF4-FFF2-40B4-BE49-F238E27FC236}">
                        <a16:creationId xmlns:a16="http://schemas.microsoft.com/office/drawing/2014/main" id="{6762BBFD-2492-42EE-A10A-7E9BF511E3AE}"/>
                      </a:ext>
                    </a:extLst>
                  </p:cNvPr>
                  <p:cNvSpPr txBox="1">
                    <a:spLocks noRot="1" noChangeAspect="1" noMove="1" noResize="1" noEditPoints="1" noAdjustHandles="1" noChangeArrowheads="1" noChangeShapeType="1" noTextEdit="1"/>
                  </p:cNvSpPr>
                  <p:nvPr/>
                </p:nvSpPr>
                <p:spPr>
                  <a:xfrm>
                    <a:off x="7284804" y="3356611"/>
                    <a:ext cx="234779" cy="443948"/>
                  </a:xfrm>
                  <a:prstGeom prst="rect">
                    <a:avLst/>
                  </a:prstGeom>
                  <a:blipFill>
                    <a:blip r:embed="rId17"/>
                    <a:stretch>
                      <a:fillRect r="-51282"/>
                    </a:stretch>
                  </a:blipFill>
                  <a:ln w="19050">
                    <a:noFill/>
                  </a:ln>
                </p:spPr>
                <p:txBody>
                  <a:bodyPr/>
                  <a:lstStyle/>
                  <a:p>
                    <a:r>
                      <a:rPr lang="zh-CN" altLang="en-US">
                        <a:noFill/>
                      </a:rPr>
                      <a:t> </a:t>
                    </a:r>
                  </a:p>
                </p:txBody>
              </p:sp>
            </mc:Fallback>
          </mc:AlternateContent>
          <p:cxnSp>
            <p:nvCxnSpPr>
              <p:cNvPr id="43" name="直接连接符 42">
                <a:extLst>
                  <a:ext uri="{FF2B5EF4-FFF2-40B4-BE49-F238E27FC236}">
                    <a16:creationId xmlns:a16="http://schemas.microsoft.com/office/drawing/2014/main" id="{C1DE5CC2-0426-4461-B75B-B7D072857DB6}"/>
                  </a:ext>
                </a:extLst>
              </p:cNvPr>
              <p:cNvCxnSpPr>
                <a:stCxn id="33" idx="0"/>
                <a:endCxn id="38" idx="5"/>
              </p:cNvCxnSpPr>
              <p:nvPr/>
            </p:nvCxnSpPr>
            <p:spPr>
              <a:xfrm flipH="1" flipV="1">
                <a:off x="7466853" y="2299010"/>
                <a:ext cx="508137" cy="5347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874371DE-4546-40CA-81D6-A4FABF9A5142}"/>
                  </a:ext>
                </a:extLst>
              </p:cNvPr>
              <p:cNvCxnSpPr>
                <a:stCxn id="34" idx="1"/>
                <a:endCxn id="35" idx="5"/>
              </p:cNvCxnSpPr>
              <p:nvPr/>
            </p:nvCxnSpPr>
            <p:spPr>
              <a:xfrm flipH="1" flipV="1">
                <a:off x="6985546" y="2680101"/>
                <a:ext cx="421587" cy="2869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2F6F2ECC-78A2-432E-BA9A-AD56AFA487CA}"/>
                  </a:ext>
                </a:extLst>
              </p:cNvPr>
              <p:cNvCxnSpPr>
                <a:stCxn id="38" idx="3"/>
                <a:endCxn id="35" idx="7"/>
              </p:cNvCxnSpPr>
              <p:nvPr/>
            </p:nvCxnSpPr>
            <p:spPr>
              <a:xfrm flipH="1">
                <a:off x="6985546" y="2299010"/>
                <a:ext cx="416649" cy="315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8808263-AAB9-407D-9589-97132178F195}"/>
                  </a:ext>
                </a:extLst>
              </p:cNvPr>
              <p:cNvCxnSpPr>
                <a:stCxn id="38" idx="4"/>
                <a:endCxn id="36" idx="0"/>
              </p:cNvCxnSpPr>
              <p:nvPr/>
            </p:nvCxnSpPr>
            <p:spPr>
              <a:xfrm>
                <a:off x="7434524" y="2312497"/>
                <a:ext cx="0" cy="2889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F771EAB6-D918-4262-989E-2D308D4107FD}"/>
                  </a:ext>
                </a:extLst>
              </p:cNvPr>
              <p:cNvCxnSpPr>
                <a:stCxn id="36" idx="4"/>
                <a:endCxn id="34" idx="0"/>
              </p:cNvCxnSpPr>
              <p:nvPr/>
            </p:nvCxnSpPr>
            <p:spPr>
              <a:xfrm>
                <a:off x="7434524" y="2693588"/>
                <a:ext cx="4938" cy="2600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2E85B121-5BB7-4077-B75D-FB9965383D31}"/>
                  </a:ext>
                </a:extLst>
              </p:cNvPr>
              <p:cNvCxnSpPr>
                <a:stCxn id="34" idx="4"/>
                <a:endCxn id="37" idx="0"/>
              </p:cNvCxnSpPr>
              <p:nvPr/>
            </p:nvCxnSpPr>
            <p:spPr>
              <a:xfrm flipH="1">
                <a:off x="7434524" y="3045694"/>
                <a:ext cx="4938" cy="3179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440D6B6-38DB-4175-8273-EC5BF1E6E14C}"/>
                  </a:ext>
                </a:extLst>
              </p:cNvPr>
              <p:cNvCxnSpPr>
                <a:stCxn id="33" idx="3"/>
                <a:endCxn id="37" idx="7"/>
              </p:cNvCxnSpPr>
              <p:nvPr/>
            </p:nvCxnSpPr>
            <p:spPr>
              <a:xfrm flipH="1">
                <a:off x="7466853" y="2912321"/>
                <a:ext cx="475808" cy="4648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5B74CD67-4CDB-466A-84EE-FE2A955C89D6}"/>
                      </a:ext>
                    </a:extLst>
                  </p:cNvPr>
                  <p:cNvSpPr txBox="1"/>
                  <p:nvPr/>
                </p:nvSpPr>
                <p:spPr>
                  <a:xfrm>
                    <a:off x="7419726" y="2438748"/>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50" name="文本框 49">
                    <a:extLst>
                      <a:ext uri="{FF2B5EF4-FFF2-40B4-BE49-F238E27FC236}">
                        <a16:creationId xmlns:a16="http://schemas.microsoft.com/office/drawing/2014/main" id="{5B74CD67-4CDB-466A-84EE-FE2A955C89D6}"/>
                      </a:ext>
                    </a:extLst>
                  </p:cNvPr>
                  <p:cNvSpPr txBox="1">
                    <a:spLocks noRot="1" noChangeAspect="1" noMove="1" noResize="1" noEditPoints="1" noAdjustHandles="1" noChangeArrowheads="1" noChangeShapeType="1" noTextEdit="1"/>
                  </p:cNvSpPr>
                  <p:nvPr/>
                </p:nvSpPr>
                <p:spPr>
                  <a:xfrm>
                    <a:off x="7419726" y="2438748"/>
                    <a:ext cx="234779" cy="443948"/>
                  </a:xfrm>
                  <a:prstGeom prst="rect">
                    <a:avLst/>
                  </a:prstGeom>
                  <a:blipFill>
                    <a:blip r:embed="rId18"/>
                    <a:stretch>
                      <a:fillRect r="-41026"/>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9EDD5F06-2C2C-4D45-81EE-F4FBB464CDDB}"/>
                      </a:ext>
                    </a:extLst>
                  </p:cNvPr>
                  <p:cNvSpPr txBox="1"/>
                  <p:nvPr/>
                </p:nvSpPr>
                <p:spPr>
                  <a:xfrm>
                    <a:off x="6655255" y="2389116"/>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51" name="文本框 50">
                    <a:extLst>
                      <a:ext uri="{FF2B5EF4-FFF2-40B4-BE49-F238E27FC236}">
                        <a16:creationId xmlns:a16="http://schemas.microsoft.com/office/drawing/2014/main" id="{9EDD5F06-2C2C-4D45-81EE-F4FBB464CDDB}"/>
                      </a:ext>
                    </a:extLst>
                  </p:cNvPr>
                  <p:cNvSpPr txBox="1">
                    <a:spLocks noRot="1" noChangeAspect="1" noMove="1" noResize="1" noEditPoints="1" noAdjustHandles="1" noChangeArrowheads="1" noChangeShapeType="1" noTextEdit="1"/>
                  </p:cNvSpPr>
                  <p:nvPr/>
                </p:nvSpPr>
                <p:spPr>
                  <a:xfrm>
                    <a:off x="6655255" y="2389116"/>
                    <a:ext cx="234779" cy="443948"/>
                  </a:xfrm>
                  <a:prstGeom prst="rect">
                    <a:avLst/>
                  </a:prstGeom>
                  <a:blipFill>
                    <a:blip r:embed="rId19"/>
                    <a:stretch>
                      <a:fillRect l="-7692" r="-69231"/>
                    </a:stretch>
                  </a:blipFill>
                  <a:ln w="19050">
                    <a:noFill/>
                  </a:ln>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F8533B0E-764B-409B-9C9D-DF32E9280734}"/>
                </a:ext>
              </a:extLst>
            </p:cNvPr>
            <p:cNvGrpSpPr/>
            <p:nvPr/>
          </p:nvGrpSpPr>
          <p:grpSpPr>
            <a:xfrm>
              <a:off x="4696896" y="1611021"/>
              <a:ext cx="1508460" cy="2094010"/>
              <a:chOff x="4696896" y="1611021"/>
              <a:chExt cx="1508460" cy="2094010"/>
            </a:xfrm>
          </p:grpSpPr>
          <p:sp>
            <p:nvSpPr>
              <p:cNvPr id="11" name="流程图: 接点 10">
                <a:extLst>
                  <a:ext uri="{FF2B5EF4-FFF2-40B4-BE49-F238E27FC236}">
                    <a16:creationId xmlns:a16="http://schemas.microsoft.com/office/drawing/2014/main" id="{86231A1D-C475-4D69-A91E-4D24A3D20B39}"/>
                  </a:ext>
                </a:extLst>
              </p:cNvPr>
              <p:cNvSpPr/>
              <p:nvPr/>
            </p:nvSpPr>
            <p:spPr>
              <a:xfrm>
                <a:off x="5390090" y="2026637"/>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2" name="流程图: 接点 11">
                <a:extLst>
                  <a:ext uri="{FF2B5EF4-FFF2-40B4-BE49-F238E27FC236}">
                    <a16:creationId xmlns:a16="http://schemas.microsoft.com/office/drawing/2014/main" id="{3DCC32BD-0A06-4A88-B1BA-B2405A6FB8C5}"/>
                  </a:ext>
                </a:extLst>
              </p:cNvPr>
              <p:cNvSpPr/>
              <p:nvPr/>
            </p:nvSpPr>
            <p:spPr>
              <a:xfrm>
                <a:off x="5390090" y="337761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13" name="直接连接符 12">
                <a:extLst>
                  <a:ext uri="{FF2B5EF4-FFF2-40B4-BE49-F238E27FC236}">
                    <a16:creationId xmlns:a16="http://schemas.microsoft.com/office/drawing/2014/main" id="{1FBCB6D6-3478-4586-8F49-FB6A03659A17}"/>
                  </a:ext>
                </a:extLst>
              </p:cNvPr>
              <p:cNvCxnSpPr>
                <a:stCxn id="24" idx="0"/>
                <a:endCxn id="23" idx="4"/>
              </p:cNvCxnSpPr>
              <p:nvPr/>
            </p:nvCxnSpPr>
            <p:spPr>
              <a:xfrm flipH="1" flipV="1">
                <a:off x="4999707" y="2514079"/>
                <a:ext cx="1285" cy="523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F5BB565-4B31-43C7-A5E3-17183624247C}"/>
                  </a:ext>
                </a:extLst>
              </p:cNvPr>
              <p:cNvCxnSpPr>
                <a:stCxn id="11" idx="3"/>
                <a:endCxn id="23" idx="7"/>
              </p:cNvCxnSpPr>
              <p:nvPr/>
            </p:nvCxnSpPr>
            <p:spPr>
              <a:xfrm flipH="1">
                <a:off x="5032036" y="2105248"/>
                <a:ext cx="371445" cy="3302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5AFCBAD-7BF1-4D25-85DE-B803579C52E4}"/>
                      </a:ext>
                    </a:extLst>
                  </p:cNvPr>
                  <p:cNvSpPr txBox="1"/>
                  <p:nvPr/>
                </p:nvSpPr>
                <p:spPr>
                  <a:xfrm>
                    <a:off x="5435810" y="326108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15" name="文本框 14">
                    <a:extLst>
                      <a:ext uri="{FF2B5EF4-FFF2-40B4-BE49-F238E27FC236}">
                        <a16:creationId xmlns:a16="http://schemas.microsoft.com/office/drawing/2014/main" id="{A5AFCBAD-7BF1-4D25-85DE-B803579C52E4}"/>
                      </a:ext>
                    </a:extLst>
                  </p:cNvPr>
                  <p:cNvSpPr txBox="1">
                    <a:spLocks noRot="1" noChangeAspect="1" noMove="1" noResize="1" noEditPoints="1" noAdjustHandles="1" noChangeArrowheads="1" noChangeShapeType="1" noTextEdit="1"/>
                  </p:cNvSpPr>
                  <p:nvPr/>
                </p:nvSpPr>
                <p:spPr>
                  <a:xfrm>
                    <a:off x="5435810" y="3261083"/>
                    <a:ext cx="234779" cy="443948"/>
                  </a:xfrm>
                  <a:prstGeom prst="rect">
                    <a:avLst/>
                  </a:prstGeom>
                  <a:blipFill>
                    <a:blip r:embed="rId20"/>
                    <a:stretch>
                      <a:fillRect r="-51282"/>
                    </a:stretch>
                  </a:blipFill>
                  <a:ln w="19050">
                    <a:noFill/>
                  </a:ln>
                </p:spPr>
                <p:txBody>
                  <a:bodyPr/>
                  <a:lstStyle/>
                  <a:p>
                    <a:r>
                      <a:rPr lang="zh-CN" altLang="en-US">
                        <a:noFill/>
                      </a:rPr>
                      <a:t> </a:t>
                    </a:r>
                  </a:p>
                </p:txBody>
              </p:sp>
            </mc:Fallback>
          </mc:AlternateContent>
          <p:cxnSp>
            <p:nvCxnSpPr>
              <p:cNvPr id="16" name="直接连接符 15">
                <a:extLst>
                  <a:ext uri="{FF2B5EF4-FFF2-40B4-BE49-F238E27FC236}">
                    <a16:creationId xmlns:a16="http://schemas.microsoft.com/office/drawing/2014/main" id="{8BC56973-C140-4174-B610-C2A443EA5DB3}"/>
                  </a:ext>
                </a:extLst>
              </p:cNvPr>
              <p:cNvCxnSpPr>
                <a:stCxn id="11" idx="4"/>
                <a:endCxn id="22" idx="0"/>
              </p:cNvCxnSpPr>
              <p:nvPr/>
            </p:nvCxnSpPr>
            <p:spPr>
              <a:xfrm>
                <a:off x="5435810" y="2118735"/>
                <a:ext cx="5122" cy="5567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7B76544-672C-4455-9C85-C24E0BBB3B84}"/>
                  </a:ext>
                </a:extLst>
              </p:cNvPr>
              <p:cNvCxnSpPr>
                <a:stCxn id="11" idx="5"/>
                <a:endCxn id="25" idx="1"/>
              </p:cNvCxnSpPr>
              <p:nvPr/>
            </p:nvCxnSpPr>
            <p:spPr>
              <a:xfrm>
                <a:off x="5468139" y="2105248"/>
                <a:ext cx="477121" cy="3269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0B694DB-3E53-4BE5-906C-3EE81EC3A19A}"/>
                      </a:ext>
                    </a:extLst>
                  </p:cNvPr>
                  <p:cNvSpPr txBox="1"/>
                  <p:nvPr/>
                </p:nvSpPr>
                <p:spPr>
                  <a:xfrm>
                    <a:off x="5408597" y="161102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𝒈</m:t>
                          </m:r>
                        </m:oMath>
                      </m:oMathPara>
                    </a14:m>
                    <a:endParaRPr lang="en-US" b="1" dirty="0">
                      <a:solidFill>
                        <a:srgbClr val="FF0000"/>
                      </a:solidFill>
                    </a:endParaRPr>
                  </a:p>
                </p:txBody>
              </p:sp>
            </mc:Choice>
            <mc:Fallback xmlns="">
              <p:sp>
                <p:nvSpPr>
                  <p:cNvPr id="18" name="文本框 17">
                    <a:extLst>
                      <a:ext uri="{FF2B5EF4-FFF2-40B4-BE49-F238E27FC236}">
                        <a16:creationId xmlns:a16="http://schemas.microsoft.com/office/drawing/2014/main" id="{20B694DB-3E53-4BE5-906C-3EE81EC3A19A}"/>
                      </a:ext>
                    </a:extLst>
                  </p:cNvPr>
                  <p:cNvSpPr txBox="1">
                    <a:spLocks noRot="1" noChangeAspect="1" noMove="1" noResize="1" noEditPoints="1" noAdjustHandles="1" noChangeArrowheads="1" noChangeShapeType="1" noTextEdit="1"/>
                  </p:cNvSpPr>
                  <p:nvPr/>
                </p:nvSpPr>
                <p:spPr>
                  <a:xfrm>
                    <a:off x="5408597" y="1611021"/>
                    <a:ext cx="234779" cy="443948"/>
                  </a:xfrm>
                  <a:prstGeom prst="rect">
                    <a:avLst/>
                  </a:prstGeom>
                  <a:blipFill>
                    <a:blip r:embed="rId21"/>
                    <a:stretch>
                      <a:fillRect l="-10256" r="-71795" b="-1466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EAC1A90-D873-4800-94CE-2087170D6632}"/>
                      </a:ext>
                    </a:extLst>
                  </p:cNvPr>
                  <p:cNvSpPr txBox="1"/>
                  <p:nvPr/>
                </p:nvSpPr>
                <p:spPr>
                  <a:xfrm>
                    <a:off x="4702444" y="222142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19" name="文本框 18">
                    <a:extLst>
                      <a:ext uri="{FF2B5EF4-FFF2-40B4-BE49-F238E27FC236}">
                        <a16:creationId xmlns:a16="http://schemas.microsoft.com/office/drawing/2014/main" id="{1EAC1A90-D873-4800-94CE-2087170D6632}"/>
                      </a:ext>
                    </a:extLst>
                  </p:cNvPr>
                  <p:cNvSpPr txBox="1">
                    <a:spLocks noRot="1" noChangeAspect="1" noMove="1" noResize="1" noEditPoints="1" noAdjustHandles="1" noChangeArrowheads="1" noChangeShapeType="1" noTextEdit="1"/>
                  </p:cNvSpPr>
                  <p:nvPr/>
                </p:nvSpPr>
                <p:spPr>
                  <a:xfrm>
                    <a:off x="4702444" y="2221423"/>
                    <a:ext cx="234779" cy="443948"/>
                  </a:xfrm>
                  <a:prstGeom prst="rect">
                    <a:avLst/>
                  </a:prstGeom>
                  <a:blipFill>
                    <a:blip r:embed="rId22"/>
                    <a:stretch>
                      <a:fillRect r="-41026"/>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8E475D2A-A69B-46D4-A4C8-14AD800AB920}"/>
                      </a:ext>
                    </a:extLst>
                  </p:cNvPr>
                  <p:cNvSpPr txBox="1"/>
                  <p:nvPr/>
                </p:nvSpPr>
                <p:spPr>
                  <a:xfrm>
                    <a:off x="5970577" y="2237315"/>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𝒇</m:t>
                          </m:r>
                        </m:oMath>
                      </m:oMathPara>
                    </a14:m>
                    <a:endParaRPr lang="en-US" b="1" dirty="0">
                      <a:solidFill>
                        <a:srgbClr val="FF0000"/>
                      </a:solidFill>
                    </a:endParaRPr>
                  </a:p>
                </p:txBody>
              </p:sp>
            </mc:Choice>
            <mc:Fallback xmlns="">
              <p:sp>
                <p:nvSpPr>
                  <p:cNvPr id="20" name="文本框 19">
                    <a:extLst>
                      <a:ext uri="{FF2B5EF4-FFF2-40B4-BE49-F238E27FC236}">
                        <a16:creationId xmlns:a16="http://schemas.microsoft.com/office/drawing/2014/main" id="{8E475D2A-A69B-46D4-A4C8-14AD800AB920}"/>
                      </a:ext>
                    </a:extLst>
                  </p:cNvPr>
                  <p:cNvSpPr txBox="1">
                    <a:spLocks noRot="1" noChangeAspect="1" noMove="1" noResize="1" noEditPoints="1" noAdjustHandles="1" noChangeArrowheads="1" noChangeShapeType="1" noTextEdit="1"/>
                  </p:cNvSpPr>
                  <p:nvPr/>
                </p:nvSpPr>
                <p:spPr>
                  <a:xfrm>
                    <a:off x="5970577" y="2237315"/>
                    <a:ext cx="234779" cy="443948"/>
                  </a:xfrm>
                  <a:prstGeom prst="rect">
                    <a:avLst/>
                  </a:prstGeom>
                  <a:blipFill>
                    <a:blip r:embed="rId23"/>
                    <a:stretch>
                      <a:fillRect l="-20513" r="-71795" b="-1973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215FB010-3E10-46C7-BC0B-EAF2F76F6EB6}"/>
                      </a:ext>
                    </a:extLst>
                  </p:cNvPr>
                  <p:cNvSpPr txBox="1"/>
                  <p:nvPr/>
                </p:nvSpPr>
                <p:spPr>
                  <a:xfrm>
                    <a:off x="5416342" y="2503508"/>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21" name="文本框 20">
                    <a:extLst>
                      <a:ext uri="{FF2B5EF4-FFF2-40B4-BE49-F238E27FC236}">
                        <a16:creationId xmlns:a16="http://schemas.microsoft.com/office/drawing/2014/main" id="{215FB010-3E10-46C7-BC0B-EAF2F76F6EB6}"/>
                      </a:ext>
                    </a:extLst>
                  </p:cNvPr>
                  <p:cNvSpPr txBox="1">
                    <a:spLocks noRot="1" noChangeAspect="1" noMove="1" noResize="1" noEditPoints="1" noAdjustHandles="1" noChangeArrowheads="1" noChangeShapeType="1" noTextEdit="1"/>
                  </p:cNvSpPr>
                  <p:nvPr/>
                </p:nvSpPr>
                <p:spPr>
                  <a:xfrm>
                    <a:off x="5416342" y="2503508"/>
                    <a:ext cx="234779" cy="443948"/>
                  </a:xfrm>
                  <a:prstGeom prst="rect">
                    <a:avLst/>
                  </a:prstGeom>
                  <a:blipFill>
                    <a:blip r:embed="rId24"/>
                    <a:stretch>
                      <a:fillRect l="-7692" r="-69231"/>
                    </a:stretch>
                  </a:blipFill>
                  <a:ln w="19050">
                    <a:noFill/>
                  </a:ln>
                </p:spPr>
                <p:txBody>
                  <a:bodyPr/>
                  <a:lstStyle/>
                  <a:p>
                    <a:r>
                      <a:rPr lang="zh-CN" altLang="en-US">
                        <a:noFill/>
                      </a:rPr>
                      <a:t> </a:t>
                    </a:r>
                  </a:p>
                </p:txBody>
              </p:sp>
            </mc:Fallback>
          </mc:AlternateContent>
          <p:sp>
            <p:nvSpPr>
              <p:cNvPr id="22" name="流程图: 接点 21">
                <a:extLst>
                  <a:ext uri="{FF2B5EF4-FFF2-40B4-BE49-F238E27FC236}">
                    <a16:creationId xmlns:a16="http://schemas.microsoft.com/office/drawing/2014/main" id="{996B3237-ED27-4BFD-B531-4B2BCA35A009}"/>
                  </a:ext>
                </a:extLst>
              </p:cNvPr>
              <p:cNvSpPr/>
              <p:nvPr/>
            </p:nvSpPr>
            <p:spPr>
              <a:xfrm>
                <a:off x="5395212" y="2675464"/>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23" name="流程图: 接点 22">
                <a:extLst>
                  <a:ext uri="{FF2B5EF4-FFF2-40B4-BE49-F238E27FC236}">
                    <a16:creationId xmlns:a16="http://schemas.microsoft.com/office/drawing/2014/main" id="{4F70CE77-81F4-44FA-9D7C-90DA9963D8DA}"/>
                  </a:ext>
                </a:extLst>
              </p:cNvPr>
              <p:cNvSpPr/>
              <p:nvPr/>
            </p:nvSpPr>
            <p:spPr>
              <a:xfrm>
                <a:off x="4953987" y="242198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24" name="流程图: 接点 23">
                <a:extLst>
                  <a:ext uri="{FF2B5EF4-FFF2-40B4-BE49-F238E27FC236}">
                    <a16:creationId xmlns:a16="http://schemas.microsoft.com/office/drawing/2014/main" id="{582D1A5D-E283-4907-B326-4844DC08AB14}"/>
                  </a:ext>
                </a:extLst>
              </p:cNvPr>
              <p:cNvSpPr/>
              <p:nvPr/>
            </p:nvSpPr>
            <p:spPr>
              <a:xfrm>
                <a:off x="4955272" y="303784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25" name="流程图: 接点 24">
                <a:extLst>
                  <a:ext uri="{FF2B5EF4-FFF2-40B4-BE49-F238E27FC236}">
                    <a16:creationId xmlns:a16="http://schemas.microsoft.com/office/drawing/2014/main" id="{588B9719-A197-404D-B193-E3946CC41CEA}"/>
                  </a:ext>
                </a:extLst>
              </p:cNvPr>
              <p:cNvSpPr/>
              <p:nvPr/>
            </p:nvSpPr>
            <p:spPr>
              <a:xfrm>
                <a:off x="5931869" y="241866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26" name="流程图: 接点 25">
                <a:extLst>
                  <a:ext uri="{FF2B5EF4-FFF2-40B4-BE49-F238E27FC236}">
                    <a16:creationId xmlns:a16="http://schemas.microsoft.com/office/drawing/2014/main" id="{01894BF9-741A-4F76-B83E-B135634B2675}"/>
                  </a:ext>
                </a:extLst>
              </p:cNvPr>
              <p:cNvSpPr/>
              <p:nvPr/>
            </p:nvSpPr>
            <p:spPr>
              <a:xfrm>
                <a:off x="5930741" y="303784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27" name="直接连接符 26">
                <a:extLst>
                  <a:ext uri="{FF2B5EF4-FFF2-40B4-BE49-F238E27FC236}">
                    <a16:creationId xmlns:a16="http://schemas.microsoft.com/office/drawing/2014/main" id="{0ED5AA64-9955-45B9-B736-13A9A19054BE}"/>
                  </a:ext>
                </a:extLst>
              </p:cNvPr>
              <p:cNvCxnSpPr>
                <a:stCxn id="22" idx="4"/>
                <a:endCxn id="12" idx="0"/>
              </p:cNvCxnSpPr>
              <p:nvPr/>
            </p:nvCxnSpPr>
            <p:spPr>
              <a:xfrm flipH="1">
                <a:off x="5435810" y="2767562"/>
                <a:ext cx="5122" cy="6100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90AFD442-CAFE-443C-B240-7F4C822C2D58}"/>
                  </a:ext>
                </a:extLst>
              </p:cNvPr>
              <p:cNvCxnSpPr>
                <a:stCxn id="26" idx="3"/>
                <a:endCxn id="12" idx="7"/>
              </p:cNvCxnSpPr>
              <p:nvPr/>
            </p:nvCxnSpPr>
            <p:spPr>
              <a:xfrm flipH="1">
                <a:off x="5468139" y="3116452"/>
                <a:ext cx="475993" cy="2746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431F39A5-577F-434C-AB77-1D2CE92B4270}"/>
                  </a:ext>
                </a:extLst>
              </p:cNvPr>
              <p:cNvCxnSpPr>
                <a:stCxn id="25" idx="4"/>
                <a:endCxn id="26" idx="0"/>
              </p:cNvCxnSpPr>
              <p:nvPr/>
            </p:nvCxnSpPr>
            <p:spPr>
              <a:xfrm flipH="1">
                <a:off x="5976461" y="2510761"/>
                <a:ext cx="1128" cy="5270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50B683E7-D28E-4B87-B90E-3B09C25AF0CF}"/>
                  </a:ext>
                </a:extLst>
              </p:cNvPr>
              <p:cNvCxnSpPr>
                <a:stCxn id="12" idx="1"/>
                <a:endCxn id="24" idx="5"/>
              </p:cNvCxnSpPr>
              <p:nvPr/>
            </p:nvCxnSpPr>
            <p:spPr>
              <a:xfrm flipH="1" flipV="1">
                <a:off x="5033321" y="3116452"/>
                <a:ext cx="370160" cy="2746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FD2D09CD-C686-49B1-B8DB-338D730C39CA}"/>
                      </a:ext>
                    </a:extLst>
                  </p:cNvPr>
                  <p:cNvSpPr txBox="1"/>
                  <p:nvPr/>
                </p:nvSpPr>
                <p:spPr>
                  <a:xfrm>
                    <a:off x="4696896" y="2891751"/>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31" name="文本框 30">
                    <a:extLst>
                      <a:ext uri="{FF2B5EF4-FFF2-40B4-BE49-F238E27FC236}">
                        <a16:creationId xmlns:a16="http://schemas.microsoft.com/office/drawing/2014/main" id="{FD2D09CD-C686-49B1-B8DB-338D730C39CA}"/>
                      </a:ext>
                    </a:extLst>
                  </p:cNvPr>
                  <p:cNvSpPr txBox="1">
                    <a:spLocks noRot="1" noChangeAspect="1" noMove="1" noResize="1" noEditPoints="1" noAdjustHandles="1" noChangeArrowheads="1" noChangeShapeType="1" noTextEdit="1"/>
                  </p:cNvSpPr>
                  <p:nvPr/>
                </p:nvSpPr>
                <p:spPr>
                  <a:xfrm>
                    <a:off x="4696896" y="2891751"/>
                    <a:ext cx="234779" cy="443948"/>
                  </a:xfrm>
                  <a:prstGeom prst="rect">
                    <a:avLst/>
                  </a:prstGeom>
                  <a:blipFill>
                    <a:blip r:embed="rId25"/>
                    <a:stretch>
                      <a:fillRect l="-7692" r="-6410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FD27895C-47DC-4A37-B069-AD5037696972}"/>
                      </a:ext>
                    </a:extLst>
                  </p:cNvPr>
                  <p:cNvSpPr txBox="1"/>
                  <p:nvPr/>
                </p:nvSpPr>
                <p:spPr>
                  <a:xfrm>
                    <a:off x="5960124" y="2872840"/>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32" name="文本框 31">
                    <a:extLst>
                      <a:ext uri="{FF2B5EF4-FFF2-40B4-BE49-F238E27FC236}">
                        <a16:creationId xmlns:a16="http://schemas.microsoft.com/office/drawing/2014/main" id="{FD27895C-47DC-4A37-B069-AD5037696972}"/>
                      </a:ext>
                    </a:extLst>
                  </p:cNvPr>
                  <p:cNvSpPr txBox="1">
                    <a:spLocks noRot="1" noChangeAspect="1" noMove="1" noResize="1" noEditPoints="1" noAdjustHandles="1" noChangeArrowheads="1" noChangeShapeType="1" noTextEdit="1"/>
                  </p:cNvSpPr>
                  <p:nvPr/>
                </p:nvSpPr>
                <p:spPr>
                  <a:xfrm>
                    <a:off x="5960124" y="2872840"/>
                    <a:ext cx="234779" cy="443948"/>
                  </a:xfrm>
                  <a:prstGeom prst="rect">
                    <a:avLst/>
                  </a:prstGeom>
                  <a:blipFill>
                    <a:blip r:embed="rId26"/>
                    <a:stretch>
                      <a:fillRect r="-35897"/>
                    </a:stretch>
                  </a:blipFill>
                  <a:ln w="19050">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D802557-CDD1-46A7-9E5F-7CE6735B9E1D}"/>
                    </a:ext>
                  </a:extLst>
                </p:cNvPr>
                <p:cNvSpPr txBox="1"/>
                <p:nvPr/>
              </p:nvSpPr>
              <p:spPr>
                <a:xfrm>
                  <a:off x="3232978" y="385085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rgbClr val="0000FF"/>
                                </a:solidFill>
                                <a:latin typeface="Cambria Math" panose="02040503050406030204" pitchFamily="18" charset="0"/>
                              </a:rPr>
                            </m:ctrlPr>
                          </m:sSubPr>
                          <m:e>
                            <m:r>
                              <a:rPr lang="en-US" altLang="zh-CN" b="1" i="1" dirty="0" smtClean="0">
                                <a:solidFill>
                                  <a:srgbClr val="0000FF"/>
                                </a:solidFill>
                                <a:latin typeface="Cambria Math" panose="02040503050406030204" pitchFamily="18" charset="0"/>
                              </a:rPr>
                              <m:t>𝑳</m:t>
                            </m:r>
                          </m:e>
                          <m:sub>
                            <m:r>
                              <a:rPr lang="en-US" altLang="zh-CN" b="1" i="1" dirty="0" smtClean="0">
                                <a:solidFill>
                                  <a:srgbClr val="0000FF"/>
                                </a:solidFill>
                                <a:latin typeface="Cambria Math" panose="02040503050406030204" pitchFamily="18" charset="0"/>
                              </a:rPr>
                              <m:t>𝟏</m:t>
                            </m:r>
                          </m:sub>
                        </m:sSub>
                      </m:oMath>
                    </m:oMathPara>
                  </a14:m>
                  <a:endParaRPr lang="en-US" b="1" dirty="0">
                    <a:solidFill>
                      <a:srgbClr val="FF0000"/>
                    </a:solidFill>
                  </a:endParaRPr>
                </a:p>
              </p:txBody>
            </p:sp>
          </mc:Choice>
          <mc:Fallback xmlns="">
            <p:sp>
              <p:nvSpPr>
                <p:cNvPr id="8" name="文本框 7">
                  <a:extLst>
                    <a:ext uri="{FF2B5EF4-FFF2-40B4-BE49-F238E27FC236}">
                      <a16:creationId xmlns:a16="http://schemas.microsoft.com/office/drawing/2014/main" id="{9D802557-CDD1-46A7-9E5F-7CE6735B9E1D}"/>
                    </a:ext>
                  </a:extLst>
                </p:cNvPr>
                <p:cNvSpPr txBox="1">
                  <a:spLocks noRot="1" noChangeAspect="1" noMove="1" noResize="1" noEditPoints="1" noAdjustHandles="1" noChangeArrowheads="1" noChangeShapeType="1" noTextEdit="1"/>
                </p:cNvSpPr>
                <p:nvPr/>
              </p:nvSpPr>
              <p:spPr>
                <a:xfrm>
                  <a:off x="3232978" y="3850853"/>
                  <a:ext cx="234779" cy="443948"/>
                </a:xfrm>
                <a:prstGeom prst="rect">
                  <a:avLst/>
                </a:prstGeom>
                <a:blipFill>
                  <a:blip r:embed="rId27"/>
                  <a:stretch>
                    <a:fillRect l="-7895" r="-105263" b="-533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B2C22C2-CBED-4F20-83C0-52282EC4DE5A}"/>
                    </a:ext>
                  </a:extLst>
                </p:cNvPr>
                <p:cNvSpPr txBox="1"/>
                <p:nvPr/>
              </p:nvSpPr>
              <p:spPr>
                <a:xfrm>
                  <a:off x="5312514" y="385681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rgbClr val="0000FF"/>
                                </a:solidFill>
                                <a:latin typeface="Cambria Math" panose="02040503050406030204" pitchFamily="18" charset="0"/>
                              </a:rPr>
                            </m:ctrlPr>
                          </m:sSubPr>
                          <m:e>
                            <m:r>
                              <a:rPr lang="en-US" altLang="zh-CN" b="1" i="1" dirty="0" smtClean="0">
                                <a:solidFill>
                                  <a:srgbClr val="0000FF"/>
                                </a:solidFill>
                                <a:latin typeface="Cambria Math" panose="02040503050406030204" pitchFamily="18" charset="0"/>
                              </a:rPr>
                              <m:t>𝑳</m:t>
                            </m:r>
                          </m:e>
                          <m:sub>
                            <m:r>
                              <a:rPr lang="en-US" altLang="zh-CN" b="1" i="1" dirty="0" smtClean="0">
                                <a:solidFill>
                                  <a:srgbClr val="0000FF"/>
                                </a:solidFill>
                                <a:latin typeface="Cambria Math" panose="02040503050406030204" pitchFamily="18" charset="0"/>
                              </a:rPr>
                              <m:t>𝟐</m:t>
                            </m:r>
                          </m:sub>
                        </m:sSub>
                      </m:oMath>
                    </m:oMathPara>
                  </a14:m>
                  <a:endParaRPr lang="en-US" b="1" dirty="0">
                    <a:solidFill>
                      <a:srgbClr val="FF0000"/>
                    </a:solidFill>
                  </a:endParaRPr>
                </a:p>
              </p:txBody>
            </p:sp>
          </mc:Choice>
          <mc:Fallback xmlns="">
            <p:sp>
              <p:nvSpPr>
                <p:cNvPr id="9" name="文本框 8">
                  <a:extLst>
                    <a:ext uri="{FF2B5EF4-FFF2-40B4-BE49-F238E27FC236}">
                      <a16:creationId xmlns:a16="http://schemas.microsoft.com/office/drawing/2014/main" id="{5B2C22C2-CBED-4F20-83C0-52282EC4DE5A}"/>
                    </a:ext>
                  </a:extLst>
                </p:cNvPr>
                <p:cNvSpPr txBox="1">
                  <a:spLocks noRot="1" noChangeAspect="1" noMove="1" noResize="1" noEditPoints="1" noAdjustHandles="1" noChangeArrowheads="1" noChangeShapeType="1" noTextEdit="1"/>
                </p:cNvSpPr>
                <p:nvPr/>
              </p:nvSpPr>
              <p:spPr>
                <a:xfrm>
                  <a:off x="5312514" y="3856813"/>
                  <a:ext cx="234779" cy="443948"/>
                </a:xfrm>
                <a:prstGeom prst="rect">
                  <a:avLst/>
                </a:prstGeom>
                <a:blipFill>
                  <a:blip r:embed="rId28"/>
                  <a:stretch>
                    <a:fillRect l="-5128" r="-100000" b="-5333"/>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B8BCF09A-E9C1-4BAA-A093-CB1357495417}"/>
                    </a:ext>
                  </a:extLst>
                </p:cNvPr>
                <p:cNvSpPr txBox="1"/>
                <p:nvPr/>
              </p:nvSpPr>
              <p:spPr>
                <a:xfrm>
                  <a:off x="7300302" y="3850853"/>
                  <a:ext cx="234779" cy="443948"/>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rgbClr val="0000FF"/>
                                </a:solidFill>
                                <a:latin typeface="Cambria Math" panose="02040503050406030204" pitchFamily="18" charset="0"/>
                              </a:rPr>
                            </m:ctrlPr>
                          </m:sSubPr>
                          <m:e>
                            <m:r>
                              <a:rPr lang="en-US" altLang="zh-CN" b="1" i="1" dirty="0" smtClean="0">
                                <a:solidFill>
                                  <a:srgbClr val="0000FF"/>
                                </a:solidFill>
                                <a:latin typeface="Cambria Math" panose="02040503050406030204" pitchFamily="18" charset="0"/>
                              </a:rPr>
                              <m:t>𝑳</m:t>
                            </m:r>
                          </m:e>
                          <m:sub>
                            <m:r>
                              <a:rPr lang="en-US" altLang="zh-CN" b="1" i="1" dirty="0" smtClean="0">
                                <a:solidFill>
                                  <a:srgbClr val="0000FF"/>
                                </a:solidFill>
                                <a:latin typeface="Cambria Math" panose="02040503050406030204" pitchFamily="18" charset="0"/>
                              </a:rPr>
                              <m:t>𝟑</m:t>
                            </m:r>
                          </m:sub>
                        </m:sSub>
                      </m:oMath>
                    </m:oMathPara>
                  </a14:m>
                  <a:endParaRPr lang="en-US" b="1" dirty="0">
                    <a:solidFill>
                      <a:srgbClr val="FF0000"/>
                    </a:solidFill>
                  </a:endParaRPr>
                </a:p>
              </p:txBody>
            </p:sp>
          </mc:Choice>
          <mc:Fallback xmlns="">
            <p:sp>
              <p:nvSpPr>
                <p:cNvPr id="10" name="文本框 9">
                  <a:extLst>
                    <a:ext uri="{FF2B5EF4-FFF2-40B4-BE49-F238E27FC236}">
                      <a16:creationId xmlns:a16="http://schemas.microsoft.com/office/drawing/2014/main" id="{B8BCF09A-E9C1-4BAA-A093-CB1357495417}"/>
                    </a:ext>
                  </a:extLst>
                </p:cNvPr>
                <p:cNvSpPr txBox="1">
                  <a:spLocks noRot="1" noChangeAspect="1" noMove="1" noResize="1" noEditPoints="1" noAdjustHandles="1" noChangeArrowheads="1" noChangeShapeType="1" noTextEdit="1"/>
                </p:cNvSpPr>
                <p:nvPr/>
              </p:nvSpPr>
              <p:spPr>
                <a:xfrm>
                  <a:off x="7300302" y="3850853"/>
                  <a:ext cx="234779" cy="443948"/>
                </a:xfrm>
                <a:prstGeom prst="rect">
                  <a:avLst/>
                </a:prstGeom>
                <a:blipFill>
                  <a:blip r:embed="rId29"/>
                  <a:stretch>
                    <a:fillRect l="-5128" r="-100000" b="-5333"/>
                  </a:stretch>
                </a:blipFill>
                <a:ln w="19050">
                  <a:noFill/>
                </a:ln>
              </p:spPr>
              <p:txBody>
                <a:bodyPr/>
                <a:lstStyle/>
                <a:p>
                  <a:r>
                    <a:rPr lang="zh-CN" altLang="en-US">
                      <a:noFill/>
                    </a:rPr>
                    <a:t> </a:t>
                  </a:r>
                </a:p>
              </p:txBody>
            </p:sp>
          </mc:Fallback>
        </mc:AlternateContent>
      </p:grpSp>
    </p:spTree>
    <p:custDataLst>
      <p:tags r:id="rId1"/>
    </p:custDataLst>
    <p:extLst>
      <p:ext uri="{BB962C8B-B14F-4D97-AF65-F5344CB8AC3E}">
        <p14:creationId xmlns:p14="http://schemas.microsoft.com/office/powerpoint/2010/main" val="82414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29BAFF-391E-4EF9-98F3-6DFA03DC7723}"/>
              </a:ext>
            </a:extLst>
          </p:cNvPr>
          <p:cNvSpPr>
            <a:spLocks noGrp="1"/>
          </p:cNvSpPr>
          <p:nvPr>
            <p:ph type="title"/>
          </p:nvPr>
        </p:nvSpPr>
        <p:spPr/>
        <p:txBody>
          <a:bodyPr/>
          <a:lstStyle/>
          <a:p>
            <a:r>
              <a:rPr lang="zh-CN" altLang="en-US" dirty="0"/>
              <a:t>有界格</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EF95ACB-9648-4B93-9F10-14229E311E65}"/>
                  </a:ext>
                </a:extLst>
              </p:cNvPr>
              <p:cNvSpPr>
                <a:spLocks noGrp="1"/>
              </p:cNvSpPr>
              <p:nvPr>
                <p:ph idx="1"/>
              </p:nvPr>
            </p:nvSpPr>
            <p:spPr>
              <a:xfrm>
                <a:off x="612775" y="1067594"/>
                <a:ext cx="10134600" cy="4953000"/>
              </a:xfrm>
            </p:spPr>
            <p:txBody>
              <a:bodyPr>
                <a:noAutofit/>
              </a:bodyPr>
              <a:lstStyle/>
              <a:p>
                <a:pPr marL="0" indent="0" algn="just">
                  <a:buNone/>
                </a:pPr>
                <a:r>
                  <a:rPr lang="zh-CN" altLang="en-US" kern="100" dirty="0">
                    <a:solidFill>
                      <a:srgbClr val="0000FF"/>
                    </a:solidFill>
                    <a:effectLst/>
                    <a:latin typeface="+mn-ea"/>
                  </a:rPr>
                  <a:t>结论</a:t>
                </a:r>
                <a:r>
                  <a:rPr lang="zh-CN" altLang="en-US" kern="100" dirty="0">
                    <a:solidFill>
                      <a:schemeClr val="tx1"/>
                    </a:solidFill>
                    <a:effectLst/>
                    <a:latin typeface="+mn-ea"/>
                  </a:rPr>
                  <a:t>：</a:t>
                </a:r>
                <a:endParaRPr lang="en-US" altLang="zh-CN" kern="100" dirty="0">
                  <a:solidFill>
                    <a:schemeClr val="tx1"/>
                  </a:solidFill>
                  <a:effectLst/>
                  <a:latin typeface="+mn-ea"/>
                </a:endParaRPr>
              </a:p>
              <a:p>
                <a:pPr marL="0" indent="0" algn="just">
                  <a:buNone/>
                </a:pPr>
                <a:r>
                  <a:rPr lang="zh-CN" altLang="zh-CN" kern="100" dirty="0">
                    <a:solidFill>
                      <a:schemeClr val="tx1"/>
                    </a:solidFill>
                    <a:effectLst/>
                    <a:latin typeface="+mn-ea"/>
                  </a:rPr>
                  <a:t>（</a:t>
                </a:r>
                <a:r>
                  <a:rPr lang="en-US" altLang="zh-CN" kern="100" dirty="0">
                    <a:solidFill>
                      <a:schemeClr val="tx1"/>
                    </a:solidFill>
                    <a:effectLst/>
                    <a:latin typeface="+mn-ea"/>
                  </a:rPr>
                  <a:t>1</a:t>
                </a:r>
                <a:r>
                  <a:rPr lang="zh-CN" altLang="zh-CN" kern="100" dirty="0">
                    <a:solidFill>
                      <a:schemeClr val="tx1"/>
                    </a:solidFill>
                    <a:effectLst/>
                    <a:latin typeface="+mn-ea"/>
                  </a:rPr>
                  <a:t>）全下界和全上界如果存在，必然是</a:t>
                </a:r>
                <a:r>
                  <a:rPr lang="zh-CN" altLang="en-US" kern="100" dirty="0">
                    <a:solidFill>
                      <a:srgbClr val="0000FF"/>
                    </a:solidFill>
                    <a:effectLst/>
                    <a:latin typeface="+mn-ea"/>
                  </a:rPr>
                  <a:t>唯一</a:t>
                </a:r>
                <a:r>
                  <a:rPr lang="zh-CN" altLang="zh-CN" kern="100" dirty="0">
                    <a:solidFill>
                      <a:schemeClr val="tx1"/>
                    </a:solidFill>
                    <a:effectLst/>
                    <a:latin typeface="+mn-ea"/>
                  </a:rPr>
                  <a:t>的。</a:t>
                </a:r>
              </a:p>
              <a:p>
                <a:pPr marL="0" indent="0" algn="just">
                  <a:buNone/>
                </a:pPr>
                <a:r>
                  <a:rPr lang="zh-CN" altLang="zh-CN" kern="100" dirty="0">
                    <a:solidFill>
                      <a:schemeClr val="tx1"/>
                    </a:solidFill>
                    <a:effectLst/>
                    <a:latin typeface="+mn-ea"/>
                  </a:rPr>
                  <a:t>（</a:t>
                </a:r>
                <a:r>
                  <a:rPr lang="en-US" altLang="zh-CN" kern="100" dirty="0">
                    <a:solidFill>
                      <a:schemeClr val="tx1"/>
                    </a:solidFill>
                    <a:effectLst/>
                    <a:latin typeface="+mn-ea"/>
                  </a:rPr>
                  <a:t>2</a:t>
                </a:r>
                <a:r>
                  <a:rPr lang="zh-CN" altLang="zh-CN" kern="100" dirty="0">
                    <a:solidFill>
                      <a:schemeClr val="tx1"/>
                    </a:solidFill>
                    <a:effectLst/>
                    <a:latin typeface="+mn-ea"/>
                  </a:rPr>
                  <a:t>）对运算</a:t>
                </a:r>
                <a14:m>
                  <m:oMath xmlns:m="http://schemas.openxmlformats.org/officeDocument/2006/math">
                    <m:r>
                      <a:rPr lang="zh-CN" altLang="zh-CN" b="1" i="1" kern="100" dirty="0" smtClean="0">
                        <a:solidFill>
                          <a:schemeClr val="tx1"/>
                        </a:solidFill>
                        <a:effectLst/>
                        <a:latin typeface="Cambria Math" panose="02040503050406030204" pitchFamily="18" charset="0"/>
                      </a:rPr>
                      <m:t>“</m:t>
                    </m:r>
                    <m:r>
                      <a:rPr lang="zh-CN" altLang="en-US" b="1" i="1" kern="100" dirty="0" smtClean="0">
                        <a:solidFill>
                          <a:srgbClr val="FF0000"/>
                        </a:solidFill>
                        <a:effectLst/>
                        <a:latin typeface="Cambria Math" panose="02040503050406030204" pitchFamily="18" charset="0"/>
                        <a:cs typeface="宋体" panose="02010600030101010101" pitchFamily="2" charset="-122"/>
                      </a:rPr>
                      <m:t>∧</m:t>
                    </m:r>
                    <m:r>
                      <a:rPr lang="zh-CN" altLang="zh-CN" b="1" i="1" kern="100" dirty="0" smtClean="0">
                        <a:solidFill>
                          <a:schemeClr val="tx1"/>
                        </a:solidFill>
                        <a:effectLst/>
                        <a:latin typeface="Cambria Math" panose="02040503050406030204" pitchFamily="18" charset="0"/>
                      </a:rPr>
                      <m:t>”</m:t>
                    </m:r>
                  </m:oMath>
                </a14:m>
                <a:r>
                  <a:rPr lang="zh-CN" altLang="zh-CN" kern="100" dirty="0">
                    <a:solidFill>
                      <a:schemeClr val="tx1"/>
                    </a:solidFill>
                    <a:effectLst/>
                    <a:latin typeface="+mn-ea"/>
                  </a:rPr>
                  <a:t>而言，</a:t>
                </a:r>
                <a:r>
                  <a:rPr lang="en-US" altLang="zh-CN" kern="100" dirty="0">
                    <a:solidFill>
                      <a:srgbClr val="0000FF"/>
                    </a:solidFill>
                    <a:effectLst/>
                    <a:latin typeface="+mn-ea"/>
                  </a:rPr>
                  <a:t>1</a:t>
                </a:r>
                <a:r>
                  <a:rPr lang="zh-CN" altLang="zh-CN" kern="100" dirty="0">
                    <a:solidFill>
                      <a:srgbClr val="0000FF"/>
                    </a:solidFill>
                    <a:effectLst/>
                    <a:latin typeface="+mn-ea"/>
                  </a:rPr>
                  <a:t>是单位元，</a:t>
                </a:r>
                <a:r>
                  <a:rPr lang="en-US" altLang="zh-CN" kern="100" dirty="0">
                    <a:solidFill>
                      <a:srgbClr val="0000FF"/>
                    </a:solidFill>
                    <a:effectLst/>
                    <a:latin typeface="+mn-ea"/>
                  </a:rPr>
                  <a:t>0</a:t>
                </a:r>
                <a:r>
                  <a:rPr lang="zh-CN" altLang="zh-CN" kern="100" dirty="0">
                    <a:solidFill>
                      <a:srgbClr val="0000FF"/>
                    </a:solidFill>
                    <a:effectLst/>
                    <a:latin typeface="+mn-ea"/>
                  </a:rPr>
                  <a:t>是零元</a:t>
                </a:r>
                <a:r>
                  <a:rPr lang="zh-CN" altLang="en-US" kern="100" dirty="0">
                    <a:solidFill>
                      <a:srgbClr val="0000FF"/>
                    </a:solidFill>
                    <a:latin typeface="+mn-ea"/>
                  </a:rPr>
                  <a:t>。</a:t>
                </a:r>
                <a:endParaRPr lang="en-US" altLang="zh-CN" kern="100" dirty="0">
                  <a:solidFill>
                    <a:schemeClr val="tx1"/>
                  </a:solidFill>
                  <a:latin typeface="+mn-ea"/>
                </a:endParaRPr>
              </a:p>
              <a:p>
                <a:pPr marL="0" indent="0" algn="just">
                  <a:buNone/>
                </a:pPr>
                <a:r>
                  <a:rPr lang="zh-CN" altLang="en-US" kern="100" dirty="0">
                    <a:solidFill>
                      <a:schemeClr val="tx1"/>
                    </a:solidFill>
                    <a:latin typeface="+mn-ea"/>
                  </a:rPr>
                  <a:t>（</a:t>
                </a:r>
                <a:r>
                  <a:rPr lang="en-US" altLang="zh-CN" kern="100" dirty="0">
                    <a:solidFill>
                      <a:schemeClr val="tx1"/>
                    </a:solidFill>
                    <a:latin typeface="+mn-ea"/>
                  </a:rPr>
                  <a:t>3</a:t>
                </a:r>
                <a:r>
                  <a:rPr lang="zh-CN" altLang="en-US" kern="100" dirty="0">
                    <a:solidFill>
                      <a:schemeClr val="tx1"/>
                    </a:solidFill>
                    <a:latin typeface="+mn-ea"/>
                  </a:rPr>
                  <a:t>）</a:t>
                </a:r>
                <a:r>
                  <a:rPr lang="zh-CN" altLang="zh-CN" kern="100" dirty="0">
                    <a:solidFill>
                      <a:schemeClr val="tx1"/>
                    </a:solidFill>
                    <a:effectLst/>
                    <a:latin typeface="+mn-ea"/>
                  </a:rPr>
                  <a:t>对运算</a:t>
                </a:r>
                <a14:m>
                  <m:oMath xmlns:m="http://schemas.openxmlformats.org/officeDocument/2006/math">
                    <m:r>
                      <a:rPr lang="zh-CN" altLang="zh-CN" b="1" i="1" kern="100" dirty="0" smtClean="0">
                        <a:solidFill>
                          <a:schemeClr val="tx1"/>
                        </a:solidFill>
                        <a:effectLst/>
                        <a:latin typeface="Cambria Math" panose="02040503050406030204" pitchFamily="18" charset="0"/>
                      </a:rPr>
                      <m:t>“</m:t>
                    </m:r>
                    <m:r>
                      <a:rPr lang="en-US" altLang="zh-CN" b="1" i="1" kern="100" dirty="0" smtClean="0">
                        <a:solidFill>
                          <a:srgbClr val="FF0000"/>
                        </a:solidFill>
                        <a:effectLst/>
                        <a:latin typeface="Cambria Math" panose="02040503050406030204" pitchFamily="18" charset="0"/>
                        <a:ea typeface="Cambria Math" panose="02040503050406030204" pitchFamily="18" charset="0"/>
                        <a:sym typeface="Symbol" panose="05050102010706020507" pitchFamily="18" charset="2"/>
                      </a:rPr>
                      <m:t>∨</m:t>
                    </m:r>
                    <m:r>
                      <a:rPr lang="zh-CN" altLang="zh-CN" b="1" i="1" kern="100" dirty="0" smtClean="0">
                        <a:solidFill>
                          <a:schemeClr val="tx1"/>
                        </a:solidFill>
                        <a:effectLst/>
                        <a:latin typeface="Cambria Math" panose="02040503050406030204" pitchFamily="18" charset="0"/>
                      </a:rPr>
                      <m:t>”</m:t>
                    </m:r>
                  </m:oMath>
                </a14:m>
                <a:r>
                  <a:rPr lang="zh-CN" altLang="zh-CN" kern="100" dirty="0">
                    <a:solidFill>
                      <a:schemeClr val="tx1"/>
                    </a:solidFill>
                    <a:effectLst/>
                    <a:latin typeface="+mn-ea"/>
                  </a:rPr>
                  <a:t>而言，</a:t>
                </a:r>
                <a:r>
                  <a:rPr lang="ru-RU" altLang="zh-CN" kern="1100" dirty="0">
                    <a:solidFill>
                      <a:srgbClr val="0000FF"/>
                    </a:solidFill>
                    <a:effectLst/>
                    <a:latin typeface="+mn-ea"/>
                  </a:rPr>
                  <a:t>1</a:t>
                </a:r>
                <a:r>
                  <a:rPr lang="zh-CN" altLang="zh-CN" kern="1100" dirty="0">
                    <a:solidFill>
                      <a:srgbClr val="0000FF"/>
                    </a:solidFill>
                    <a:effectLst/>
                    <a:latin typeface="+mn-ea"/>
                  </a:rPr>
                  <a:t>是</a:t>
                </a:r>
                <a:r>
                  <a:rPr lang="zh-CN" altLang="zh-CN" kern="100" dirty="0">
                    <a:solidFill>
                      <a:srgbClr val="0000FF"/>
                    </a:solidFill>
                    <a:effectLst/>
                    <a:latin typeface="+mn-ea"/>
                  </a:rPr>
                  <a:t>零元</a:t>
                </a:r>
                <a:r>
                  <a:rPr lang="zh-CN" altLang="zh-CN" kern="1100" dirty="0">
                    <a:solidFill>
                      <a:srgbClr val="0000FF"/>
                    </a:solidFill>
                    <a:effectLst/>
                    <a:latin typeface="+mn-ea"/>
                  </a:rPr>
                  <a:t>，</a:t>
                </a:r>
                <a:r>
                  <a:rPr lang="ru-RU" altLang="zh-CN" kern="1100" dirty="0">
                    <a:solidFill>
                      <a:srgbClr val="0000FF"/>
                    </a:solidFill>
                    <a:effectLst/>
                    <a:latin typeface="+mn-ea"/>
                  </a:rPr>
                  <a:t>0</a:t>
                </a:r>
                <a:r>
                  <a:rPr lang="zh-CN" altLang="zh-CN" kern="1100" dirty="0">
                    <a:solidFill>
                      <a:srgbClr val="0000FF"/>
                    </a:solidFill>
                    <a:effectLst/>
                    <a:latin typeface="+mn-ea"/>
                  </a:rPr>
                  <a:t>是单位元</a:t>
                </a:r>
                <a:r>
                  <a:rPr lang="zh-CN" altLang="zh-CN" kern="100" dirty="0">
                    <a:solidFill>
                      <a:schemeClr val="tx1"/>
                    </a:solidFill>
                    <a:effectLst/>
                    <a:latin typeface="+mn-ea"/>
                  </a:rPr>
                  <a:t>。</a:t>
                </a:r>
              </a:p>
              <a:p>
                <a:pPr marL="0" indent="0" algn="just">
                  <a:buNone/>
                </a:pPr>
                <a:r>
                  <a:rPr lang="zh-CN" altLang="en-US" kern="100" dirty="0">
                    <a:solidFill>
                      <a:schemeClr val="tx1"/>
                    </a:solidFill>
                    <a:latin typeface="+mn-ea"/>
                  </a:rPr>
                  <a:t>（</a:t>
                </a:r>
                <a:r>
                  <a:rPr lang="en-US" altLang="zh-CN" kern="100" dirty="0">
                    <a:solidFill>
                      <a:schemeClr val="tx1"/>
                    </a:solidFill>
                    <a:latin typeface="+mn-ea"/>
                  </a:rPr>
                  <a:t>4</a:t>
                </a:r>
                <a:r>
                  <a:rPr lang="zh-CN" altLang="en-US" kern="100" dirty="0">
                    <a:solidFill>
                      <a:schemeClr val="tx1"/>
                    </a:solidFill>
                    <a:latin typeface="+mn-ea"/>
                  </a:rPr>
                  <a:t>）</a:t>
                </a:r>
                <a:r>
                  <a:rPr lang="zh-CN" altLang="zh-CN" kern="100" dirty="0">
                    <a:solidFill>
                      <a:schemeClr val="tx1"/>
                    </a:solidFill>
                    <a:effectLst/>
                    <a:latin typeface="+mn-ea"/>
                  </a:rPr>
                  <a:t>若</a:t>
                </a:r>
                <a14:m>
                  <m:oMath xmlns:m="http://schemas.openxmlformats.org/officeDocument/2006/math">
                    <m:r>
                      <a:rPr lang="en-US" altLang="zh-CN" b="1" i="1" kern="100" dirty="0" smtClean="0">
                        <a:solidFill>
                          <a:schemeClr val="tx1"/>
                        </a:solidFill>
                        <a:effectLst/>
                        <a:latin typeface="Cambria Math" panose="02040503050406030204" pitchFamily="18" charset="0"/>
                      </a:rPr>
                      <m:t>𝑳</m:t>
                    </m:r>
                  </m:oMath>
                </a14:m>
                <a:r>
                  <a:rPr lang="zh-CN" altLang="zh-CN" kern="100" dirty="0">
                    <a:solidFill>
                      <a:schemeClr val="tx1"/>
                    </a:solidFill>
                    <a:effectLst/>
                    <a:latin typeface="+mn-ea"/>
                  </a:rPr>
                  <a:t>是</a:t>
                </a:r>
                <a:r>
                  <a:rPr lang="zh-CN" altLang="zh-CN" kern="100" dirty="0">
                    <a:solidFill>
                      <a:srgbClr val="0000FF"/>
                    </a:solidFill>
                    <a:effectLst/>
                    <a:latin typeface="+mn-ea"/>
                  </a:rPr>
                  <a:t>有限格</a:t>
                </a:r>
                <a:r>
                  <a:rPr lang="zh-CN" altLang="zh-CN" kern="100" dirty="0">
                    <a:solidFill>
                      <a:schemeClr val="tx1"/>
                    </a:solidFill>
                    <a:effectLst/>
                    <a:latin typeface="+mn-ea"/>
                  </a:rPr>
                  <a:t>，则</a:t>
                </a:r>
                <a14:m>
                  <m:oMath xmlns:m="http://schemas.openxmlformats.org/officeDocument/2006/math">
                    <m:r>
                      <a:rPr lang="en-US" altLang="zh-CN" b="1" i="1" kern="100" dirty="0" smtClean="0">
                        <a:solidFill>
                          <a:schemeClr val="tx1"/>
                        </a:solidFill>
                        <a:effectLst/>
                        <a:latin typeface="Cambria Math" panose="02040503050406030204" pitchFamily="18" charset="0"/>
                      </a:rPr>
                      <m:t>𝑳</m:t>
                    </m:r>
                  </m:oMath>
                </a14:m>
                <a:r>
                  <a:rPr lang="zh-CN" altLang="zh-CN" kern="100" dirty="0">
                    <a:solidFill>
                      <a:srgbClr val="0000FF"/>
                    </a:solidFill>
                    <a:effectLst/>
                    <a:latin typeface="+mn-ea"/>
                  </a:rPr>
                  <a:t>一定是有界格</a:t>
                </a:r>
                <a:r>
                  <a:rPr lang="zh-CN" altLang="zh-CN" kern="100" dirty="0">
                    <a:solidFill>
                      <a:schemeClr val="tx1"/>
                    </a:solidFill>
                    <a:effectLst/>
                    <a:latin typeface="+mn-ea"/>
                  </a:rPr>
                  <a:t>，此时，</a:t>
                </a:r>
                <a14:m>
                  <m:oMath xmlns:m="http://schemas.openxmlformats.org/officeDocument/2006/math">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𝟏</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𝟐</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𝒏</m:t>
                    </m:r>
                  </m:oMath>
                </a14:m>
                <a:r>
                  <a:rPr lang="zh-CN" altLang="zh-CN" kern="100" dirty="0">
                    <a:solidFill>
                      <a:schemeClr val="tx1"/>
                    </a:solidFill>
                    <a:effectLst/>
                    <a:latin typeface="+mn-ea"/>
                  </a:rPr>
                  <a:t>和</a:t>
                </a:r>
                <a14:m>
                  <m:oMath xmlns:m="http://schemas.openxmlformats.org/officeDocument/2006/math">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𝟏</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𝟐</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𝒏</m:t>
                    </m:r>
                  </m:oMath>
                </a14:m>
                <a:r>
                  <a:rPr lang="zh-CN" altLang="zh-CN" kern="100" dirty="0">
                    <a:solidFill>
                      <a:schemeClr val="tx1"/>
                    </a:solidFill>
                    <a:effectLst/>
                    <a:latin typeface="+mn-ea"/>
                  </a:rPr>
                  <a:t>分别是格</a:t>
                </a:r>
                <a14:m>
                  <m:oMath xmlns:m="http://schemas.openxmlformats.org/officeDocument/2006/math">
                    <m:r>
                      <a:rPr lang="en-US" altLang="zh-CN" b="1" i="1" kern="100" dirty="0" smtClean="0">
                        <a:solidFill>
                          <a:schemeClr val="tx1"/>
                        </a:solidFill>
                        <a:effectLst/>
                        <a:latin typeface="Cambria Math" panose="02040503050406030204" pitchFamily="18" charset="0"/>
                      </a:rPr>
                      <m:t>𝑳</m:t>
                    </m:r>
                  </m:oMath>
                </a14:m>
                <a:r>
                  <a:rPr lang="zh-CN" altLang="zh-CN" kern="100" dirty="0">
                    <a:solidFill>
                      <a:schemeClr val="tx1"/>
                    </a:solidFill>
                    <a:effectLst/>
                    <a:latin typeface="+mn-ea"/>
                  </a:rPr>
                  <a:t>的全下界和全上界，即有</a:t>
                </a:r>
              </a:p>
              <a:p>
                <a:pPr marL="0" indent="0" algn="ctr">
                  <a:buNone/>
                </a:pPr>
                <a14:m>
                  <m:oMathPara xmlns:m="http://schemas.openxmlformats.org/officeDocument/2006/math">
                    <m:oMathParaPr>
                      <m:jc m:val="centerGroup"/>
                    </m:oMathParaPr>
                    <m:oMath xmlns:m="http://schemas.openxmlformats.org/officeDocument/2006/math">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𝟏</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𝟐</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𝒏</m:t>
                      </m:r>
                      <m:r>
                        <a:rPr lang="en-US" altLang="zh-CN" b="1" i="1" kern="100" dirty="0" smtClean="0">
                          <a:solidFill>
                            <a:schemeClr val="tx1"/>
                          </a:solidFill>
                          <a:effectLst/>
                          <a:latin typeface="Cambria Math" panose="02040503050406030204" pitchFamily="18" charset="0"/>
                        </a:rPr>
                        <m:t> = </m:t>
                      </m:r>
                      <m:r>
                        <a:rPr lang="en-US" altLang="zh-CN" b="1" i="1" kern="100" dirty="0" smtClean="0">
                          <a:solidFill>
                            <a:schemeClr val="tx1"/>
                          </a:solidFill>
                          <a:effectLst/>
                          <a:latin typeface="Cambria Math" panose="02040503050406030204" pitchFamily="18" charset="0"/>
                        </a:rPr>
                        <m:t>𝟎</m:t>
                      </m:r>
                    </m:oMath>
                  </m:oMathPara>
                </a14:m>
                <a:endParaRPr lang="zh-CN" altLang="zh-CN" kern="100" dirty="0">
                  <a:solidFill>
                    <a:schemeClr val="tx1"/>
                  </a:solidFill>
                  <a:effectLst/>
                  <a:latin typeface="+mn-ea"/>
                </a:endParaRPr>
              </a:p>
              <a:p>
                <a:pPr marL="0" indent="0" algn="ctr">
                  <a:buNone/>
                </a:pPr>
                <a14:m>
                  <m:oMathPara xmlns:m="http://schemas.openxmlformats.org/officeDocument/2006/math">
                    <m:oMathParaPr>
                      <m:jc m:val="centerGroup"/>
                    </m:oMathParaPr>
                    <m:oMath xmlns:m="http://schemas.openxmlformats.org/officeDocument/2006/math">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𝟏</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𝟐</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m:t>
                      </m:r>
                      <m:r>
                        <a:rPr lang="zh-CN" altLang="zh-CN" b="1" i="1" kern="100" dirty="0" smtClean="0">
                          <a:solidFill>
                            <a:schemeClr val="tx1"/>
                          </a:solidFill>
                          <a:effectLst/>
                          <a:latin typeface="Cambria Math" panose="02040503050406030204" pitchFamily="18" charset="0"/>
                          <a:cs typeface="宋体" panose="02010600030101010101" pitchFamily="2" charset="-122"/>
                        </a:rPr>
                        <m:t>∨</m:t>
                      </m:r>
                      <m:r>
                        <a:rPr lang="en-US" altLang="zh-CN" b="1" i="1" kern="100" dirty="0" smtClean="0">
                          <a:solidFill>
                            <a:schemeClr val="tx1"/>
                          </a:solidFill>
                          <a:effectLst/>
                          <a:latin typeface="Cambria Math" panose="02040503050406030204" pitchFamily="18" charset="0"/>
                        </a:rPr>
                        <m:t>𝒂</m:t>
                      </m:r>
                      <m:r>
                        <a:rPr lang="en-US" altLang="zh-CN" b="1" i="1" kern="100" baseline="-25000" dirty="0" smtClean="0">
                          <a:solidFill>
                            <a:schemeClr val="tx1"/>
                          </a:solidFill>
                          <a:effectLst/>
                          <a:latin typeface="Cambria Math" panose="02040503050406030204" pitchFamily="18" charset="0"/>
                        </a:rPr>
                        <m:t>𝒏</m:t>
                      </m:r>
                      <m:r>
                        <a:rPr lang="en-US" altLang="zh-CN" b="1" i="1" kern="100" dirty="0" smtClean="0">
                          <a:solidFill>
                            <a:schemeClr val="tx1"/>
                          </a:solidFill>
                          <a:effectLst/>
                          <a:latin typeface="Cambria Math" panose="02040503050406030204" pitchFamily="18" charset="0"/>
                        </a:rPr>
                        <m:t> = </m:t>
                      </m:r>
                      <m:r>
                        <a:rPr lang="en-US" altLang="zh-CN" b="1" i="1" kern="100" dirty="0" smtClean="0">
                          <a:solidFill>
                            <a:schemeClr val="tx1"/>
                          </a:solidFill>
                          <a:effectLst/>
                          <a:latin typeface="Cambria Math" panose="02040503050406030204" pitchFamily="18" charset="0"/>
                        </a:rPr>
                        <m:t>𝟏</m:t>
                      </m:r>
                    </m:oMath>
                  </m:oMathPara>
                </a14:m>
                <a:endParaRPr lang="zh-CN" altLang="zh-CN" kern="100" dirty="0">
                  <a:solidFill>
                    <a:schemeClr val="tx1"/>
                  </a:solidFill>
                  <a:effectLst/>
                  <a:latin typeface="+mn-ea"/>
                </a:endParaRPr>
              </a:p>
              <a:p>
                <a:pPr marL="0" indent="0">
                  <a:buNone/>
                </a:pPr>
                <a:r>
                  <a:rPr lang="zh-CN" altLang="zh-CN" dirty="0">
                    <a:solidFill>
                      <a:schemeClr val="tx1"/>
                    </a:solidFill>
                    <a:effectLst/>
                    <a:latin typeface="+mn-ea"/>
                    <a:cs typeface="Times New Roman" panose="02020603050405020304" pitchFamily="18" charset="0"/>
                  </a:rPr>
                  <a:t>（</a:t>
                </a:r>
                <a:r>
                  <a:rPr lang="en-US" altLang="zh-CN" dirty="0">
                    <a:solidFill>
                      <a:schemeClr val="tx1"/>
                    </a:solidFill>
                    <a:effectLst/>
                    <a:latin typeface="+mn-ea"/>
                  </a:rPr>
                  <a:t>5</a:t>
                </a:r>
                <a:r>
                  <a:rPr lang="zh-CN" altLang="zh-CN" dirty="0">
                    <a:solidFill>
                      <a:schemeClr val="tx1"/>
                    </a:solidFill>
                    <a:effectLst/>
                    <a:latin typeface="+mn-ea"/>
                    <a:cs typeface="Times New Roman" panose="02020603050405020304" pitchFamily="18" charset="0"/>
                  </a:rPr>
                  <a:t>）一个</a:t>
                </a:r>
                <a:r>
                  <a:rPr lang="zh-CN" altLang="zh-CN" dirty="0">
                    <a:solidFill>
                      <a:srgbClr val="0000FF"/>
                    </a:solidFill>
                    <a:effectLst/>
                    <a:latin typeface="+mn-ea"/>
                    <a:cs typeface="Times New Roman" panose="02020603050405020304" pitchFamily="18" charset="0"/>
                  </a:rPr>
                  <a:t>有界格不一定是有限格</a:t>
                </a:r>
                <a:r>
                  <a:rPr lang="zh-CN" altLang="zh-CN" dirty="0">
                    <a:solidFill>
                      <a:schemeClr val="tx1"/>
                    </a:solidFill>
                    <a:effectLst/>
                    <a:latin typeface="+mn-ea"/>
                    <a:cs typeface="Times New Roman" panose="02020603050405020304" pitchFamily="18" charset="0"/>
                  </a:rPr>
                  <a:t>，例如</a:t>
                </a:r>
                <a14:m>
                  <m:oMath xmlns:m="http://schemas.openxmlformats.org/officeDocument/2006/math">
                    <m:r>
                      <a:rPr lang="en-US" altLang="zh-CN" b="1" i="1" dirty="0" smtClean="0">
                        <a:solidFill>
                          <a:schemeClr val="tx1"/>
                        </a:solidFill>
                        <a:effectLst/>
                        <a:latin typeface="Cambria Math" panose="02040503050406030204" pitchFamily="18" charset="0"/>
                      </a:rPr>
                      <m:t>&lt;[</m:t>
                    </m:r>
                    <m:r>
                      <a:rPr lang="en-US" altLang="zh-CN" b="1" i="1" dirty="0" smtClean="0">
                        <a:solidFill>
                          <a:schemeClr val="tx1"/>
                        </a:solidFill>
                        <a:effectLst/>
                        <a:latin typeface="Cambria Math" panose="02040503050406030204" pitchFamily="18" charset="0"/>
                      </a:rPr>
                      <m:t>𝟎</m:t>
                    </m:r>
                    <m:r>
                      <a:rPr lang="en-US" altLang="zh-CN" b="1" i="1" dirty="0" smtClean="0">
                        <a:solidFill>
                          <a:schemeClr val="tx1"/>
                        </a:solidFill>
                        <a:effectLst/>
                        <a:latin typeface="Cambria Math" panose="02040503050406030204" pitchFamily="18" charset="0"/>
                      </a:rPr>
                      <m:t>, </m:t>
                    </m:r>
                    <m:r>
                      <a:rPr lang="en-US" altLang="zh-CN" b="1" i="1" dirty="0" smtClean="0">
                        <a:solidFill>
                          <a:schemeClr val="tx1"/>
                        </a:solidFill>
                        <a:effectLst/>
                        <a:latin typeface="Cambria Math" panose="02040503050406030204" pitchFamily="18" charset="0"/>
                      </a:rPr>
                      <m:t>𝟏</m:t>
                    </m:r>
                    <m:r>
                      <a:rPr lang="en-US" altLang="zh-CN" b="1" i="1" dirty="0" smtClean="0">
                        <a:solidFill>
                          <a:schemeClr val="tx1"/>
                        </a:solidFill>
                        <a:effectLst/>
                        <a:latin typeface="Cambria Math" panose="02040503050406030204" pitchFamily="18" charset="0"/>
                      </a:rPr>
                      <m:t>], ≤ &gt;</m:t>
                    </m:r>
                  </m:oMath>
                </a14:m>
                <a:r>
                  <a:rPr lang="zh-CN" altLang="zh-CN" dirty="0">
                    <a:solidFill>
                      <a:schemeClr val="tx1"/>
                    </a:solidFill>
                    <a:effectLst/>
                    <a:latin typeface="+mn-ea"/>
                    <a:cs typeface="Times New Roman" panose="02020603050405020304" pitchFamily="18" charset="0"/>
                  </a:rPr>
                  <a:t>是有界格，但不是有限格。</a:t>
                </a:r>
                <a:endParaRPr lang="zh-CN" altLang="en-US" dirty="0">
                  <a:solidFill>
                    <a:schemeClr val="tx1"/>
                  </a:solidFill>
                  <a:latin typeface="+mn-ea"/>
                </a:endParaRPr>
              </a:p>
            </p:txBody>
          </p:sp>
        </mc:Choice>
        <mc:Fallback xmlns="">
          <p:sp>
            <p:nvSpPr>
              <p:cNvPr id="3" name="内容占位符 2">
                <a:extLst>
                  <a:ext uri="{FF2B5EF4-FFF2-40B4-BE49-F238E27FC236}">
                    <a16:creationId xmlns:a16="http://schemas.microsoft.com/office/drawing/2014/main" id="{3EF95ACB-9648-4B93-9F10-14229E311E65}"/>
                  </a:ext>
                </a:extLst>
              </p:cNvPr>
              <p:cNvSpPr>
                <a:spLocks noGrp="1" noRot="1" noChangeAspect="1" noMove="1" noResize="1" noEditPoints="1" noAdjustHandles="1" noChangeArrowheads="1" noChangeShapeType="1" noTextEdit="1"/>
              </p:cNvSpPr>
              <p:nvPr>
                <p:ph idx="1"/>
              </p:nvPr>
            </p:nvSpPr>
            <p:spPr>
              <a:xfrm>
                <a:off x="612775" y="1067594"/>
                <a:ext cx="10134600" cy="4953000"/>
              </a:xfrm>
              <a:blipFill>
                <a:blip r:embed="rId5"/>
                <a:stretch>
                  <a:fillRect l="-662" b="-24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419302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7B85EF-1983-4A04-9A55-5E6957C47B6C}"/>
              </a:ext>
            </a:extLst>
          </p:cNvPr>
          <p:cNvSpPr>
            <a:spLocks noGrp="1"/>
          </p:cNvSpPr>
          <p:nvPr>
            <p:ph type="title"/>
          </p:nvPr>
        </p:nvSpPr>
        <p:spPr/>
        <p:txBody>
          <a:bodyPr/>
          <a:lstStyle/>
          <a:p>
            <a:r>
              <a:rPr lang="zh-CN" altLang="en-US" dirty="0"/>
              <a:t>补元和有补格</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EA196AA-8473-48EF-8C25-80F2491BB95D}"/>
                  </a:ext>
                </a:extLst>
              </p:cNvPr>
              <p:cNvSpPr>
                <a:spLocks noGrp="1"/>
              </p:cNvSpPr>
              <p:nvPr>
                <p:ph idx="1"/>
              </p:nvPr>
            </p:nvSpPr>
            <p:spPr>
              <a:xfrm>
                <a:off x="774700" y="989321"/>
                <a:ext cx="9896475" cy="1447800"/>
              </a:xfrm>
              <a:solidFill>
                <a:srgbClr val="FFC000"/>
              </a:solidFill>
            </p:spPr>
            <p:txBody>
              <a:bodyPr>
                <a:noAutofit/>
              </a:bodyPr>
              <a:lstStyle/>
              <a:p>
                <a:pPr marL="0" indent="0" algn="just">
                  <a:buNone/>
                </a:pPr>
                <a:r>
                  <a:rPr lang="zh-CN" altLang="zh-CN" kern="100" dirty="0">
                    <a:effectLst/>
                    <a:latin typeface="+mn-ea"/>
                  </a:rPr>
                  <a:t>考虑集合</a:t>
                </a:r>
                <a14:m>
                  <m:oMath xmlns:m="http://schemas.openxmlformats.org/officeDocument/2006/math">
                    <m:r>
                      <a:rPr lang="en-US" altLang="zh-CN" b="1" i="1" kern="100" dirty="0" smtClean="0">
                        <a:effectLst/>
                        <a:latin typeface="Cambria Math" panose="02040503050406030204" pitchFamily="18" charset="0"/>
                      </a:rPr>
                      <m:t>𝑨</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𝟏</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𝟐</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𝟑</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𝟒</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𝟓</m:t>
                    </m:r>
                    <m:r>
                      <a:rPr lang="en-US" altLang="zh-CN" b="1" i="1" kern="100" dirty="0" smtClean="0">
                        <a:effectLst/>
                        <a:latin typeface="Cambria Math" panose="02040503050406030204" pitchFamily="18" charset="0"/>
                      </a:rPr>
                      <m:t>}</m:t>
                    </m:r>
                  </m:oMath>
                </a14:m>
                <a:r>
                  <a:rPr lang="zh-CN" altLang="zh-CN" kern="100" dirty="0">
                    <a:effectLst/>
                    <a:latin typeface="+mn-ea"/>
                  </a:rPr>
                  <a:t>上的幂集格</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𝑷</m:t>
                    </m:r>
                    <m:d>
                      <m:dPr>
                        <m:ctrlPr>
                          <a:rPr lang="en-US" altLang="zh-CN" b="1" i="1" kern="100" dirty="0" smtClean="0">
                            <a:effectLst/>
                            <a:latin typeface="Cambria Math" panose="02040503050406030204" pitchFamily="18" charset="0"/>
                          </a:rPr>
                        </m:ctrlPr>
                      </m:dPr>
                      <m:e>
                        <m:r>
                          <a:rPr lang="en-US" altLang="zh-CN" b="1" i="1" kern="100" dirty="0" smtClean="0">
                            <a:effectLst/>
                            <a:latin typeface="Cambria Math" panose="02040503050406030204" pitchFamily="18" charset="0"/>
                          </a:rPr>
                          <m:t>𝑨</m:t>
                        </m:r>
                      </m:e>
                    </m:d>
                    <m:r>
                      <a:rPr lang="en-US" altLang="zh-CN" b="1" i="1" kern="100" dirty="0" smtClean="0">
                        <a:effectLst/>
                        <a:latin typeface="Cambria Math" panose="02040503050406030204" pitchFamily="18" charset="0"/>
                      </a:rPr>
                      <m:t>,</m:t>
                    </m:r>
                    <m:r>
                      <a:rPr lang="en-US" altLang="zh-CN" b="1" i="1" kern="100" dirty="0">
                        <a:effectLst/>
                        <a:latin typeface="Cambria Math" panose="02040503050406030204" pitchFamily="18" charset="0"/>
                      </a:rPr>
                      <m:t>∩</m:t>
                    </m:r>
                    <m:r>
                      <a:rPr lang="en-US" altLang="zh-CN" b="1" i="1" kern="100" dirty="0" smtClean="0">
                        <a:effectLst/>
                        <a:latin typeface="Cambria Math" panose="02040503050406030204" pitchFamily="18" charset="0"/>
                      </a:rPr>
                      <m:t>,</m:t>
                    </m:r>
                    <m:r>
                      <a:rPr lang="en-US" altLang="zh-CN" b="1" i="1" kern="100" dirty="0">
                        <a:effectLst/>
                        <a:latin typeface="Cambria Math" panose="02040503050406030204" pitchFamily="18" charset="0"/>
                        <a:cs typeface="Cambria Math" panose="02040503050406030204" pitchFamily="18" charset="0"/>
                      </a:rPr>
                      <m:t>∪</m:t>
                    </m:r>
                    <m:r>
                      <a:rPr lang="en-US" altLang="zh-CN" b="1" i="1" kern="100" dirty="0">
                        <a:effectLst/>
                        <a:latin typeface="Cambria Math" panose="02040503050406030204" pitchFamily="18" charset="0"/>
                      </a:rPr>
                      <m:t>&gt;</m:t>
                    </m:r>
                  </m:oMath>
                </a14:m>
                <a:r>
                  <a:rPr lang="zh-CN" altLang="zh-CN" kern="100" dirty="0">
                    <a:effectLst/>
                    <a:latin typeface="+mn-ea"/>
                  </a:rPr>
                  <a:t>，其全下界</a:t>
                </a:r>
                <a14:m>
                  <m:oMath xmlns:m="http://schemas.openxmlformats.org/officeDocument/2006/math">
                    <m:r>
                      <a:rPr lang="en-US" altLang="zh-CN" b="1" i="1" kern="100" dirty="0" smtClean="0">
                        <a:effectLst/>
                        <a:latin typeface="Cambria Math" panose="02040503050406030204" pitchFamily="18" charset="0"/>
                      </a:rPr>
                      <m:t>𝟎</m:t>
                    </m:r>
                    <m:r>
                      <a:rPr lang="en-US" altLang="zh-CN" b="1" i="1" kern="100" dirty="0" smtClean="0">
                        <a:effectLst/>
                        <a:latin typeface="Cambria Math" panose="02040503050406030204" pitchFamily="18" charset="0"/>
                      </a:rPr>
                      <m:t> = ∅</m:t>
                    </m:r>
                  </m:oMath>
                </a14:m>
                <a:r>
                  <a:rPr lang="zh-CN" altLang="zh-CN" kern="100" dirty="0">
                    <a:effectLst/>
                    <a:latin typeface="+mn-ea"/>
                  </a:rPr>
                  <a:t>，全上界</a:t>
                </a:r>
                <a14:m>
                  <m:oMath xmlns:m="http://schemas.openxmlformats.org/officeDocument/2006/math">
                    <m:r>
                      <a:rPr lang="en-US" altLang="zh-CN" b="1" i="1" kern="100" dirty="0" smtClean="0">
                        <a:effectLst/>
                        <a:latin typeface="Cambria Math" panose="02040503050406030204" pitchFamily="18" charset="0"/>
                      </a:rPr>
                      <m:t>𝟏</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𝑨</m:t>
                    </m:r>
                  </m:oMath>
                </a14:m>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𝑿</m:t>
                    </m:r>
                    <m:r>
                      <a:rPr lang="en-US" altLang="zh-CN" b="1" i="1" kern="100" dirty="0">
                        <a:effectLst/>
                        <a:latin typeface="Cambria Math" panose="02040503050406030204" pitchFamily="18" charset="0"/>
                        <a:cs typeface="Cambria Math" panose="02040503050406030204" pitchFamily="18" charset="0"/>
                      </a:rPr>
                      <m:t>∈</m:t>
                    </m:r>
                    <m:r>
                      <a:rPr lang="en-US" altLang="zh-CN" b="1" i="1" kern="100" dirty="0">
                        <a:effectLst/>
                        <a:latin typeface="Cambria Math" panose="02040503050406030204" pitchFamily="18" charset="0"/>
                      </a:rPr>
                      <m:t>𝑷</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𝑨</m:t>
                    </m:r>
                    <m:r>
                      <a:rPr lang="en-US" altLang="zh-CN" b="1" i="1" kern="100" dirty="0">
                        <a:effectLst/>
                        <a:latin typeface="Cambria Math" panose="02040503050406030204" pitchFamily="18" charset="0"/>
                      </a:rPr>
                      <m:t>)</m:t>
                    </m:r>
                  </m:oMath>
                </a14:m>
                <a:r>
                  <a:rPr lang="zh-CN" altLang="zh-CN" kern="100" dirty="0">
                    <a:effectLst/>
                    <a:latin typeface="+mn-ea"/>
                  </a:rPr>
                  <a:t>，</a:t>
                </a:r>
                <a:r>
                  <a:rPr lang="zh-CN" altLang="en-US" kern="100" dirty="0">
                    <a:effectLst/>
                    <a:latin typeface="+mn-ea"/>
                  </a:rPr>
                  <a:t>考虑</a:t>
                </a:r>
                <a14:m>
                  <m:oMath xmlns:m="http://schemas.openxmlformats.org/officeDocument/2006/math">
                    <m:r>
                      <a:rPr lang="en-US" altLang="zh-CN" b="1" i="1" kern="100" dirty="0" smtClean="0">
                        <a:effectLst/>
                        <a:latin typeface="Cambria Math" panose="02040503050406030204" pitchFamily="18" charset="0"/>
                      </a:rPr>
                      <m:t>𝑿</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𝟏</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𝟑</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𝟓</m:t>
                    </m:r>
                    <m:r>
                      <a:rPr lang="en-US" altLang="zh-CN" b="1" i="1" kern="100" dirty="0" smtClean="0">
                        <a:effectLst/>
                        <a:latin typeface="Cambria Math" panose="02040503050406030204" pitchFamily="18" charset="0"/>
                      </a:rPr>
                      <m:t>}</m:t>
                    </m:r>
                  </m:oMath>
                </a14:m>
                <a:r>
                  <a:rPr lang="zh-CN" altLang="en-US" kern="100" dirty="0">
                    <a:effectLst/>
                    <a:latin typeface="+mn-ea"/>
                  </a:rPr>
                  <a:t>和</a:t>
                </a:r>
                <a14:m>
                  <m:oMath xmlns:m="http://schemas.openxmlformats.org/officeDocument/2006/math">
                    <m:r>
                      <a:rPr lang="en-US" altLang="zh-CN" b="1" i="1" kern="100" dirty="0" smtClean="0">
                        <a:effectLst/>
                        <a:latin typeface="Cambria Math" panose="02040503050406030204" pitchFamily="18" charset="0"/>
                      </a:rPr>
                      <m:t>𝒀</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𝟐</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𝟒</m:t>
                    </m:r>
                    <m:r>
                      <a:rPr lang="en-US" altLang="zh-CN" b="1" i="1" kern="100" dirty="0" smtClean="0">
                        <a:effectLst/>
                        <a:latin typeface="Cambria Math" panose="02040503050406030204" pitchFamily="18" charset="0"/>
                      </a:rPr>
                      <m:t>}</m:t>
                    </m:r>
                  </m:oMath>
                </a14:m>
                <a:r>
                  <a:rPr lang="zh-CN" altLang="en-US" kern="100" dirty="0">
                    <a:effectLst/>
                    <a:latin typeface="+mn-ea"/>
                  </a:rPr>
                  <a:t>之间的关系</a:t>
                </a:r>
                <a:r>
                  <a:rPr lang="zh-CN" altLang="zh-CN" kern="100" dirty="0">
                    <a:effectLst/>
                    <a:latin typeface="+mn-ea"/>
                  </a:rPr>
                  <a:t>：</a:t>
                </a:r>
              </a:p>
              <a:p>
                <a:pPr indent="0" algn="ctr">
                  <a:buNone/>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𝑿</m:t>
                      </m:r>
                      <m:r>
                        <a:rPr lang="en-US" altLang="zh-CN" b="1" i="1" kern="100" dirty="0">
                          <a:effectLst/>
                          <a:latin typeface="Cambria Math" panose="02040503050406030204" pitchFamily="18" charset="0"/>
                          <a:cs typeface="Cambria Math" panose="02040503050406030204" pitchFamily="18" charset="0"/>
                        </a:rPr>
                        <m:t>∪</m:t>
                      </m:r>
                      <m:r>
                        <a:rPr lang="en-US" altLang="zh-CN" b="1" i="1" kern="100" dirty="0">
                          <a:effectLst/>
                          <a:latin typeface="Cambria Math" panose="02040503050406030204" pitchFamily="18" charset="0"/>
                        </a:rPr>
                        <m:t>𝒀</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𝑨</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𝟏</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𝑿</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𝒀</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𝟎</m:t>
                      </m:r>
                    </m:oMath>
                  </m:oMathPara>
                </a14:m>
                <a:endParaRPr lang="zh-CN" altLang="zh-CN" kern="100" dirty="0">
                  <a:effectLst/>
                  <a:latin typeface="+mn-ea"/>
                </a:endParaRPr>
              </a:p>
            </p:txBody>
          </p:sp>
        </mc:Choice>
        <mc:Fallback xmlns="">
          <p:sp>
            <p:nvSpPr>
              <p:cNvPr id="3" name="内容占位符 2">
                <a:extLst>
                  <a:ext uri="{FF2B5EF4-FFF2-40B4-BE49-F238E27FC236}">
                    <a16:creationId xmlns:a16="http://schemas.microsoft.com/office/drawing/2014/main" id="{4EA196AA-8473-48EF-8C25-80F2491BB95D}"/>
                  </a:ext>
                </a:extLst>
              </p:cNvPr>
              <p:cNvSpPr>
                <a:spLocks noGrp="1" noRot="1" noChangeAspect="1" noMove="1" noResize="1" noEditPoints="1" noAdjustHandles="1" noChangeArrowheads="1" noChangeShapeType="1" noTextEdit="1"/>
              </p:cNvSpPr>
              <p:nvPr>
                <p:ph idx="1"/>
              </p:nvPr>
            </p:nvSpPr>
            <p:spPr>
              <a:xfrm>
                <a:off x="774700" y="989321"/>
                <a:ext cx="9896475" cy="1447800"/>
              </a:xfrm>
              <a:blipFill>
                <a:blip r:embed="rId5"/>
                <a:stretch>
                  <a:fillRect l="-616" r="-6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3126996-D155-4DDC-BD4B-61803ABB3436}"/>
                  </a:ext>
                </a:extLst>
              </p:cNvPr>
              <p:cNvSpPr txBox="1"/>
              <p:nvPr/>
            </p:nvSpPr>
            <p:spPr>
              <a:xfrm>
                <a:off x="336275" y="2644600"/>
                <a:ext cx="11461236" cy="2119939"/>
              </a:xfrm>
              <a:prstGeom prst="rect">
                <a:avLst/>
              </a:prstGeom>
              <a:noFill/>
            </p:spPr>
            <p:txBody>
              <a:bodyPr wrap="square">
                <a:spAutoFit/>
              </a:bodyPr>
              <a:lstStyle/>
              <a:p>
                <a:pPr algn="just">
                  <a:lnSpc>
                    <a:spcPct val="130000"/>
                  </a:lnSpc>
                  <a:spcBef>
                    <a:spcPts val="600"/>
                  </a:spcBef>
                </a:pPr>
                <a:r>
                  <a:rPr lang="zh-CN" altLang="zh-CN" b="1" kern="1100" dirty="0">
                    <a:solidFill>
                      <a:srgbClr val="0000FF"/>
                    </a:solidFill>
                    <a:effectLst/>
                    <a:latin typeface="+mn-ea"/>
                  </a:rPr>
                  <a:t>定义</a:t>
                </a:r>
                <a:r>
                  <a:rPr lang="en-US" altLang="zh-CN" b="1" kern="1100" dirty="0">
                    <a:solidFill>
                      <a:srgbClr val="0000FF"/>
                    </a:solidFill>
                    <a:effectLst/>
                    <a:latin typeface="+mn-ea"/>
                  </a:rPr>
                  <a:t>10.10</a:t>
                </a:r>
                <a:r>
                  <a:rPr lang="en-US" altLang="zh-CN" b="1" kern="100" dirty="0">
                    <a:solidFill>
                      <a:srgbClr val="0000FF"/>
                    </a:solidFill>
                    <a:effectLst/>
                    <a:latin typeface="+mn-ea"/>
                  </a:rPr>
                  <a:t>  </a:t>
                </a:r>
                <a:r>
                  <a:rPr lang="zh-CN" altLang="zh-CN" b="1"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𝑳</m:t>
                    </m:r>
                    <m:r>
                      <a:rPr lang="en-US" altLang="zh-CN" b="1" i="1" kern="100" dirty="0" smtClean="0">
                        <a:effectLst/>
                        <a:latin typeface="Cambria Math" panose="02040503050406030204" pitchFamily="18" charset="0"/>
                      </a:rPr>
                      <m:t>, ∧, ∨&gt;</m:t>
                    </m:r>
                  </m:oMath>
                </a14:m>
                <a:r>
                  <a:rPr lang="zh-CN" altLang="zh-CN" b="1" kern="100" dirty="0">
                    <a:effectLst/>
                    <a:latin typeface="+mn-ea"/>
                  </a:rPr>
                  <a:t>为有界格，</a:t>
                </a:r>
                <a14:m>
                  <m:oMath xmlns:m="http://schemas.openxmlformats.org/officeDocument/2006/math">
                    <m:r>
                      <a:rPr lang="en-US" altLang="zh-CN" b="1" i="1" kern="100" dirty="0" smtClean="0">
                        <a:effectLst/>
                        <a:latin typeface="Cambria Math" panose="02040503050406030204" pitchFamily="18" charset="0"/>
                      </a:rPr>
                      <m:t>𝟏</m:t>
                    </m:r>
                  </m:oMath>
                </a14:m>
                <a:r>
                  <a:rPr lang="zh-CN" altLang="zh-CN" b="1" kern="100" dirty="0">
                    <a:effectLst/>
                    <a:latin typeface="+mn-ea"/>
                  </a:rPr>
                  <a:t>和</a:t>
                </a:r>
                <a14:m>
                  <m:oMath xmlns:m="http://schemas.openxmlformats.org/officeDocument/2006/math">
                    <m:r>
                      <a:rPr lang="en-US" altLang="zh-CN" b="1" i="1" kern="100" dirty="0" smtClean="0">
                        <a:effectLst/>
                        <a:latin typeface="Cambria Math" panose="02040503050406030204" pitchFamily="18" charset="0"/>
                      </a:rPr>
                      <m:t>𝟎</m:t>
                    </m:r>
                  </m:oMath>
                </a14:m>
                <a:r>
                  <a:rPr lang="zh-CN" altLang="zh-CN" b="1" kern="100" dirty="0">
                    <a:effectLst/>
                    <a:latin typeface="+mn-ea"/>
                  </a:rPr>
                  <a:t>分别为它的全上界和全下界，</a:t>
                </a:r>
                <a14:m>
                  <m:oMath xmlns:m="http://schemas.openxmlformats.org/officeDocument/2006/math">
                    <m:r>
                      <a:rPr lang="en-US" altLang="zh-CN" b="1" i="1" kern="100" dirty="0">
                        <a:latin typeface="Cambria Math" panose="02040503050406030204" pitchFamily="18" charset="0"/>
                      </a:rPr>
                      <m:t>𝒂</m:t>
                    </m:r>
                    <m:r>
                      <a:rPr lang="en-US" altLang="zh-CN" b="1" i="1" kern="100" dirty="0">
                        <a:latin typeface="Cambria Math" panose="02040503050406030204" pitchFamily="18" charset="0"/>
                        <a:ea typeface="Cambria Math" panose="02040503050406030204" pitchFamily="18" charset="0"/>
                      </a:rPr>
                      <m:t>∈</m:t>
                    </m:r>
                    <m:r>
                      <a:rPr lang="en-US" altLang="zh-CN" b="1" i="1" kern="100" dirty="0">
                        <a:latin typeface="Cambria Math" panose="02040503050406030204" pitchFamily="18" charset="0"/>
                        <a:ea typeface="Cambria Math" panose="02040503050406030204" pitchFamily="18" charset="0"/>
                      </a:rPr>
                      <m:t>𝑳</m:t>
                    </m:r>
                  </m:oMath>
                </a14:m>
                <a:r>
                  <a:rPr lang="zh-CN" altLang="zh-CN" b="1" kern="100" dirty="0">
                    <a:effectLst/>
                    <a:latin typeface="+mn-ea"/>
                  </a:rPr>
                  <a:t>，若满足：</a:t>
                </a:r>
              </a:p>
              <a:p>
                <a:pPr algn="ctr">
                  <a:lnSpc>
                    <a:spcPct val="130000"/>
                  </a:lnSpc>
                  <a:spcBef>
                    <a:spcPts val="600"/>
                  </a:spcBef>
                </a:pPr>
                <a14:m>
                  <m:oMath xmlns:m="http://schemas.openxmlformats.org/officeDocument/2006/math">
                    <m:r>
                      <a:rPr lang="en-US" altLang="zh-CN" b="1" i="1" kern="100" dirty="0" smtClean="0">
                        <a:effectLst/>
                        <a:latin typeface="Cambria Math" panose="02040503050406030204" pitchFamily="18" charset="0"/>
                        <a:sym typeface="Symbol" panose="05050102010706020507" pitchFamily="18" charset="2"/>
                      </a:rPr>
                      <m:t></m:t>
                    </m:r>
                    <m:r>
                      <a:rPr lang="en-US" altLang="zh-CN" b="1" i="1" kern="100" dirty="0" smtClean="0">
                        <a:latin typeface="Cambria Math" panose="02040503050406030204" pitchFamily="18" charset="0"/>
                      </a:rPr>
                      <m:t>𝒃</m:t>
                    </m:r>
                    <m:r>
                      <a:rPr lang="en-US" altLang="zh-CN" b="1" i="1" kern="100" dirty="0">
                        <a:latin typeface="Cambria Math" panose="02040503050406030204" pitchFamily="18" charset="0"/>
                        <a:ea typeface="Cambria Math" panose="02040503050406030204" pitchFamily="18" charset="0"/>
                      </a:rPr>
                      <m:t>∈</m:t>
                    </m:r>
                    <m:r>
                      <a:rPr lang="en-US" altLang="zh-CN" b="1" i="1" kern="100" dirty="0">
                        <a:latin typeface="Cambria Math" panose="02040503050406030204" pitchFamily="18" charset="0"/>
                        <a:ea typeface="Cambria Math" panose="02040503050406030204" pitchFamily="18" charset="0"/>
                      </a:rPr>
                      <m:t>𝑳</m:t>
                    </m:r>
                    <m:r>
                      <a:rPr lang="zh-CN" altLang="zh-CN" b="1" i="1" kern="100" dirty="0">
                        <a:effectLst/>
                        <a:latin typeface="Cambria Math" panose="02040503050406030204" pitchFamily="18" charset="0"/>
                      </a:rPr>
                      <m:t>，</m:t>
                    </m:r>
                  </m:oMath>
                </a14:m>
                <a:r>
                  <a:rPr lang="zh-CN" altLang="zh-CN" b="1" kern="100" dirty="0">
                    <a:effectLst/>
                    <a:latin typeface="+mn-ea"/>
                  </a:rPr>
                  <a:t>使得</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𝟎</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𝟏</m:t>
                    </m:r>
                    <m:r>
                      <a:rPr lang="zh-CN" altLang="zh-CN" b="1" i="1" kern="100" dirty="0">
                        <a:effectLst/>
                        <a:latin typeface="Cambria Math" panose="02040503050406030204" pitchFamily="18" charset="0"/>
                      </a:rPr>
                      <m:t>，</m:t>
                    </m:r>
                  </m:oMath>
                </a14:m>
                <a:endParaRPr lang="zh-CN" altLang="zh-CN" b="1" kern="100" dirty="0">
                  <a:effectLst/>
                  <a:latin typeface="+mn-ea"/>
                </a:endParaRPr>
              </a:p>
              <a:p>
                <a:pPr algn="just">
                  <a:lnSpc>
                    <a:spcPct val="130000"/>
                  </a:lnSpc>
                  <a:spcBef>
                    <a:spcPts val="600"/>
                  </a:spcBef>
                </a:pPr>
                <a:r>
                  <a:rPr lang="zh-CN" altLang="zh-CN" b="1" kern="100" dirty="0">
                    <a:effectLst/>
                    <a:latin typeface="+mn-ea"/>
                  </a:rPr>
                  <a:t>则称</a:t>
                </a:r>
                <a14:m>
                  <m:oMath xmlns:m="http://schemas.openxmlformats.org/officeDocument/2006/math">
                    <m:r>
                      <a:rPr lang="en-US" altLang="zh-CN" b="1" i="1" kern="100" dirty="0" smtClean="0">
                        <a:effectLst/>
                        <a:latin typeface="Cambria Math" panose="02040503050406030204" pitchFamily="18" charset="0"/>
                      </a:rPr>
                      <m:t>𝒂</m:t>
                    </m:r>
                  </m:oMath>
                </a14:m>
                <a:r>
                  <a:rPr lang="zh-CN" altLang="zh-CN" b="1" kern="100" dirty="0">
                    <a:effectLst/>
                    <a:latin typeface="+mn-ea"/>
                  </a:rPr>
                  <a:t>为</a:t>
                </a:r>
                <a:r>
                  <a:rPr lang="zh-CN" altLang="zh-CN" b="1" kern="100" dirty="0">
                    <a:solidFill>
                      <a:srgbClr val="FF0000"/>
                    </a:solidFill>
                    <a:effectLst/>
                    <a:latin typeface="+mn-ea"/>
                  </a:rPr>
                  <a:t>有补元</a:t>
                </a:r>
                <a:r>
                  <a:rPr lang="zh-CN" altLang="zh-CN" b="1" kern="100" dirty="0">
                    <a:effectLst/>
                    <a:latin typeface="+mn-ea"/>
                  </a:rPr>
                  <a:t>，</a:t>
                </a:r>
                <a14:m>
                  <m:oMath xmlns:m="http://schemas.openxmlformats.org/officeDocument/2006/math">
                    <m:r>
                      <a:rPr lang="en-US" altLang="zh-CN" b="1" i="1" kern="100" dirty="0" smtClean="0">
                        <a:effectLst/>
                        <a:latin typeface="Cambria Math" panose="02040503050406030204" pitchFamily="18" charset="0"/>
                      </a:rPr>
                      <m:t>𝒃</m:t>
                    </m:r>
                  </m:oMath>
                </a14:m>
                <a:r>
                  <a:rPr lang="zh-CN" altLang="zh-CN" b="1" kern="100" dirty="0">
                    <a:effectLst/>
                    <a:latin typeface="+mn-ea"/>
                  </a:rPr>
                  <a:t>为</a:t>
                </a:r>
                <a14:m>
                  <m:oMath xmlns:m="http://schemas.openxmlformats.org/officeDocument/2006/math">
                    <m:r>
                      <a:rPr lang="en-US" altLang="zh-CN" b="1" i="1" kern="100" dirty="0" smtClean="0">
                        <a:effectLst/>
                        <a:latin typeface="Cambria Math" panose="02040503050406030204" pitchFamily="18" charset="0"/>
                      </a:rPr>
                      <m:t>𝒂</m:t>
                    </m:r>
                  </m:oMath>
                </a14:m>
                <a:r>
                  <a:rPr lang="zh-CN" altLang="zh-CN" b="1" kern="100" dirty="0">
                    <a:effectLst/>
                    <a:latin typeface="+mn-ea"/>
                  </a:rPr>
                  <a:t>的</a:t>
                </a:r>
                <a:r>
                  <a:rPr lang="zh-CN" altLang="zh-CN" b="1" kern="100" dirty="0">
                    <a:solidFill>
                      <a:srgbClr val="FF0000"/>
                    </a:solidFill>
                    <a:effectLst/>
                    <a:latin typeface="+mn-ea"/>
                  </a:rPr>
                  <a:t>补元</a:t>
                </a:r>
                <a:r>
                  <a:rPr lang="zh-CN" altLang="zh-CN" b="1" kern="100" dirty="0">
                    <a:effectLst/>
                    <a:latin typeface="+mn-ea"/>
                  </a:rPr>
                  <a:t>，记为</a:t>
                </a:r>
                <a14:m>
                  <m:oMath xmlns:m="http://schemas.openxmlformats.org/officeDocument/2006/math">
                    <m:r>
                      <a:rPr lang="en-US" altLang="zh-CN" b="1" i="1" kern="100" dirty="0" smtClean="0">
                        <a:solidFill>
                          <a:srgbClr val="0000FF"/>
                        </a:solidFill>
                        <a:effectLst/>
                        <a:latin typeface="Cambria Math" panose="02040503050406030204" pitchFamily="18" charset="0"/>
                      </a:rPr>
                      <m:t>𝒂</m:t>
                    </m:r>
                    <m:r>
                      <a:rPr lang="en-US" altLang="zh-CN" b="1" i="1" kern="100" dirty="0" smtClean="0">
                        <a:solidFill>
                          <a:srgbClr val="0000FF"/>
                        </a:solidFill>
                        <a:effectLst/>
                        <a:latin typeface="Cambria Math" panose="02040503050406030204" pitchFamily="18" charset="0"/>
                      </a:rPr>
                      <m:t>′</m:t>
                    </m:r>
                  </m:oMath>
                </a14:m>
                <a:r>
                  <a:rPr lang="zh-CN" altLang="zh-CN" b="1" kern="100" dirty="0">
                    <a:effectLst/>
                    <a:latin typeface="+mn-ea"/>
                  </a:rPr>
                  <a:t>。若有界格</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b="1" kern="100" dirty="0">
                    <a:effectLst/>
                    <a:latin typeface="+mn-ea"/>
                  </a:rPr>
                  <a:t>中的</a:t>
                </a:r>
                <a:r>
                  <a:rPr lang="zh-CN" altLang="zh-CN" b="1" kern="100" dirty="0">
                    <a:solidFill>
                      <a:srgbClr val="0000FF"/>
                    </a:solidFill>
                    <a:effectLst/>
                    <a:latin typeface="+mn-ea"/>
                  </a:rPr>
                  <a:t>所有元素都有补元存在</a:t>
                </a:r>
                <a:r>
                  <a:rPr lang="zh-CN" altLang="zh-CN" b="1" kern="100" dirty="0">
                    <a:effectLst/>
                    <a:latin typeface="+mn-ea"/>
                  </a:rPr>
                  <a:t>，则称</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b="1" kern="100" dirty="0">
                    <a:effectLst/>
                    <a:latin typeface="+mn-ea"/>
                  </a:rPr>
                  <a:t>为</a:t>
                </a:r>
                <a:r>
                  <a:rPr lang="zh-CN" altLang="zh-CN" b="1" kern="100" dirty="0">
                    <a:solidFill>
                      <a:srgbClr val="FF0000"/>
                    </a:solidFill>
                    <a:effectLst/>
                    <a:latin typeface="+mn-ea"/>
                  </a:rPr>
                  <a:t>有补格</a:t>
                </a:r>
                <a:r>
                  <a:rPr lang="zh-CN" altLang="zh-CN" b="1" kern="100" dirty="0">
                    <a:effectLst/>
                    <a:latin typeface="+mn-ea"/>
                  </a:rPr>
                  <a:t>。</a:t>
                </a:r>
              </a:p>
            </p:txBody>
          </p:sp>
        </mc:Choice>
        <mc:Fallback xmlns="">
          <p:sp>
            <p:nvSpPr>
              <p:cNvPr id="5" name="文本框 4">
                <a:extLst>
                  <a:ext uri="{FF2B5EF4-FFF2-40B4-BE49-F238E27FC236}">
                    <a16:creationId xmlns:a16="http://schemas.microsoft.com/office/drawing/2014/main" id="{B3126996-D155-4DDC-BD4B-61803ABB3436}"/>
                  </a:ext>
                </a:extLst>
              </p:cNvPr>
              <p:cNvSpPr txBox="1">
                <a:spLocks noRot="1" noChangeAspect="1" noMove="1" noResize="1" noEditPoints="1" noAdjustHandles="1" noChangeArrowheads="1" noChangeShapeType="1" noTextEdit="1"/>
              </p:cNvSpPr>
              <p:nvPr/>
            </p:nvSpPr>
            <p:spPr>
              <a:xfrm>
                <a:off x="336275" y="2644600"/>
                <a:ext cx="11461236" cy="2119939"/>
              </a:xfrm>
              <a:prstGeom prst="rect">
                <a:avLst/>
              </a:prstGeom>
              <a:blipFill>
                <a:blip r:embed="rId6"/>
                <a:stretch>
                  <a:fillRect l="-798" r="-3511" b="-57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4F49769-0656-4B00-9CDF-70D3C317BB96}"/>
                  </a:ext>
                </a:extLst>
              </p:cNvPr>
              <p:cNvSpPr/>
              <p:nvPr/>
            </p:nvSpPr>
            <p:spPr>
              <a:xfrm>
                <a:off x="1374775" y="4928894"/>
                <a:ext cx="9144000" cy="1562864"/>
              </a:xfrm>
              <a:prstGeom prst="rect">
                <a:avLst/>
              </a:prstGeom>
              <a:solidFill>
                <a:schemeClr val="accent3">
                  <a:lumMod val="20000"/>
                  <a:lumOff val="80000"/>
                </a:schemeClr>
              </a:solidFill>
            </p:spPr>
            <p:txBody>
              <a:bodyPr wrap="square">
                <a:spAutoFit/>
              </a:bodyPr>
              <a:lstStyle/>
              <a:p>
                <a:pPr marL="457200" indent="-457200" algn="just">
                  <a:lnSpc>
                    <a:spcPct val="130000"/>
                  </a:lnSpc>
                  <a:spcBef>
                    <a:spcPts val="600"/>
                  </a:spcBef>
                  <a:buFont typeface="Arial" panose="020B0604020202020204" pitchFamily="34" charset="0"/>
                  <a:buChar char="•"/>
                </a:pPr>
                <a:r>
                  <a:rPr lang="zh-CN" altLang="zh-CN" b="1" kern="1100" dirty="0">
                    <a:solidFill>
                      <a:srgbClr val="000000"/>
                    </a:solidFill>
                    <a:latin typeface="+mn-ea"/>
                  </a:rPr>
                  <a:t>在有界格中，</a:t>
                </a:r>
                <a14:m>
                  <m:oMath xmlns:m="http://schemas.openxmlformats.org/officeDocument/2006/math">
                    <m:r>
                      <a:rPr lang="en-US" altLang="zh-CN" b="1" i="1" kern="1100" dirty="0">
                        <a:solidFill>
                          <a:srgbClr val="CC00CC"/>
                        </a:solidFill>
                        <a:latin typeface="Cambria Math" panose="02040503050406030204" pitchFamily="18" charset="0"/>
                      </a:rPr>
                      <m:t>𝟎</m:t>
                    </m:r>
                  </m:oMath>
                </a14:m>
                <a:r>
                  <a:rPr lang="zh-CN" altLang="zh-CN" b="1" kern="1100" dirty="0">
                    <a:solidFill>
                      <a:srgbClr val="CC00CC"/>
                    </a:solidFill>
                    <a:latin typeface="+mn-ea"/>
                  </a:rPr>
                  <a:t>与</a:t>
                </a:r>
                <a14:m>
                  <m:oMath xmlns:m="http://schemas.openxmlformats.org/officeDocument/2006/math">
                    <m:r>
                      <a:rPr lang="en-US" altLang="zh-CN" b="1" i="1" kern="1100" dirty="0">
                        <a:solidFill>
                          <a:srgbClr val="CC00CC"/>
                        </a:solidFill>
                        <a:latin typeface="Cambria Math" panose="02040503050406030204" pitchFamily="18" charset="0"/>
                      </a:rPr>
                      <m:t>𝟏</m:t>
                    </m:r>
                  </m:oMath>
                </a14:m>
                <a:r>
                  <a:rPr lang="zh-CN" altLang="zh-CN" b="1" kern="1100" dirty="0">
                    <a:solidFill>
                      <a:srgbClr val="000000"/>
                    </a:solidFill>
                    <a:latin typeface="+mn-ea"/>
                  </a:rPr>
                  <a:t>必然</a:t>
                </a:r>
                <a:r>
                  <a:rPr lang="zh-CN" altLang="zh-CN" b="1" kern="1100" dirty="0">
                    <a:solidFill>
                      <a:srgbClr val="CC00CC"/>
                    </a:solidFill>
                    <a:latin typeface="+mn-ea"/>
                  </a:rPr>
                  <a:t>互为补元</a:t>
                </a:r>
                <a:r>
                  <a:rPr lang="zh-CN" altLang="zh-CN" b="1" kern="1100" dirty="0">
                    <a:solidFill>
                      <a:srgbClr val="000000"/>
                    </a:solidFill>
                    <a:latin typeface="+mn-ea"/>
                  </a:rPr>
                  <a:t>，称这两个为</a:t>
                </a:r>
                <a:r>
                  <a:rPr lang="zh-CN" altLang="zh-CN" b="1" kern="1100" dirty="0">
                    <a:solidFill>
                      <a:srgbClr val="FF0000"/>
                    </a:solidFill>
                    <a:latin typeface="+mn-ea"/>
                  </a:rPr>
                  <a:t>平凡有补元</a:t>
                </a:r>
                <a:r>
                  <a:rPr lang="zh-CN" altLang="zh-CN" b="1" kern="1100" dirty="0">
                    <a:solidFill>
                      <a:srgbClr val="000000"/>
                    </a:solidFill>
                    <a:latin typeface="+mn-ea"/>
                  </a:rPr>
                  <a:t>。</a:t>
                </a:r>
                <a:endParaRPr lang="zh-CN" altLang="zh-CN" b="1" kern="100" dirty="0">
                  <a:latin typeface="+mn-ea"/>
                </a:endParaRPr>
              </a:p>
              <a:p>
                <a:pPr marL="457200" indent="-457200">
                  <a:lnSpc>
                    <a:spcPct val="130000"/>
                  </a:lnSpc>
                  <a:spcBef>
                    <a:spcPts val="600"/>
                  </a:spcBef>
                  <a:buFont typeface="Arial" panose="020B0604020202020204" pitchFamily="34" charset="0"/>
                  <a:buChar char="•"/>
                </a:pPr>
                <a:r>
                  <a:rPr lang="zh-CN" altLang="zh-CN" b="1" kern="1100" dirty="0">
                    <a:solidFill>
                      <a:srgbClr val="000000"/>
                    </a:solidFill>
                    <a:latin typeface="+mn-ea"/>
                    <a:cs typeface="Times New Roman" panose="02020603050405020304" pitchFamily="18" charset="0"/>
                  </a:rPr>
                  <a:t>由交换律，如果</a:t>
                </a:r>
                <a14:m>
                  <m:oMath xmlns:m="http://schemas.openxmlformats.org/officeDocument/2006/math">
                    <m:r>
                      <a:rPr lang="en-US" altLang="zh-CN" b="1" i="1" kern="1100" dirty="0">
                        <a:solidFill>
                          <a:srgbClr val="000000"/>
                        </a:solidFill>
                        <a:latin typeface="Cambria Math" panose="02040503050406030204" pitchFamily="18" charset="0"/>
                      </a:rPr>
                      <m:t>𝒃</m:t>
                    </m:r>
                  </m:oMath>
                </a14:m>
                <a:r>
                  <a:rPr lang="zh-CN" altLang="zh-CN" b="1" kern="1100" dirty="0">
                    <a:solidFill>
                      <a:srgbClr val="000000"/>
                    </a:solidFill>
                    <a:latin typeface="+mn-ea"/>
                    <a:cs typeface="Times New Roman" panose="02020603050405020304" pitchFamily="18" charset="0"/>
                  </a:rPr>
                  <a:t>是</a:t>
                </a:r>
                <a14:m>
                  <m:oMath xmlns:m="http://schemas.openxmlformats.org/officeDocument/2006/math">
                    <m:r>
                      <a:rPr lang="en-US" altLang="zh-CN" b="1" i="1" kern="1100" dirty="0">
                        <a:solidFill>
                          <a:srgbClr val="000000"/>
                        </a:solidFill>
                        <a:latin typeface="Cambria Math" panose="02040503050406030204" pitchFamily="18" charset="0"/>
                      </a:rPr>
                      <m:t>𝒂</m:t>
                    </m:r>
                  </m:oMath>
                </a14:m>
                <a:r>
                  <a:rPr lang="zh-CN" altLang="zh-CN" b="1" kern="1100" dirty="0">
                    <a:solidFill>
                      <a:srgbClr val="000000"/>
                    </a:solidFill>
                    <a:latin typeface="+mn-ea"/>
                    <a:cs typeface="Times New Roman" panose="02020603050405020304" pitchFamily="18" charset="0"/>
                  </a:rPr>
                  <a:t>的补元，那么</a:t>
                </a:r>
                <a14:m>
                  <m:oMath xmlns:m="http://schemas.openxmlformats.org/officeDocument/2006/math">
                    <m:r>
                      <a:rPr lang="en-US" altLang="zh-CN" b="1" i="1" kern="1100" dirty="0">
                        <a:solidFill>
                          <a:srgbClr val="000000"/>
                        </a:solidFill>
                        <a:latin typeface="Cambria Math" panose="02040503050406030204" pitchFamily="18" charset="0"/>
                      </a:rPr>
                      <m:t>𝒂</m:t>
                    </m:r>
                  </m:oMath>
                </a14:m>
                <a:r>
                  <a:rPr lang="zh-CN" altLang="zh-CN" b="1" kern="1100" dirty="0">
                    <a:solidFill>
                      <a:srgbClr val="000000"/>
                    </a:solidFill>
                    <a:latin typeface="+mn-ea"/>
                    <a:cs typeface="Times New Roman" panose="02020603050405020304" pitchFamily="18" charset="0"/>
                  </a:rPr>
                  <a:t>也是</a:t>
                </a:r>
                <a14:m>
                  <m:oMath xmlns:m="http://schemas.openxmlformats.org/officeDocument/2006/math">
                    <m:r>
                      <a:rPr lang="en-US" altLang="zh-CN" b="1" i="1" kern="1100" dirty="0">
                        <a:solidFill>
                          <a:srgbClr val="000000"/>
                        </a:solidFill>
                        <a:latin typeface="Cambria Math" panose="02040503050406030204" pitchFamily="18" charset="0"/>
                      </a:rPr>
                      <m:t>𝒃</m:t>
                    </m:r>
                  </m:oMath>
                </a14:m>
                <a:r>
                  <a:rPr lang="zh-CN" altLang="zh-CN" b="1" kern="1100" dirty="0">
                    <a:solidFill>
                      <a:srgbClr val="000000"/>
                    </a:solidFill>
                    <a:latin typeface="+mn-ea"/>
                    <a:cs typeface="Times New Roman" panose="02020603050405020304" pitchFamily="18" charset="0"/>
                  </a:rPr>
                  <a:t>的补元，即</a:t>
                </a:r>
                <a14:m>
                  <m:oMath xmlns:m="http://schemas.openxmlformats.org/officeDocument/2006/math">
                    <m:r>
                      <a:rPr lang="en-US" altLang="zh-CN" b="1" i="1" kern="1100" dirty="0">
                        <a:solidFill>
                          <a:srgbClr val="0000FF"/>
                        </a:solidFill>
                        <a:latin typeface="Cambria Math" panose="02040503050406030204" pitchFamily="18" charset="0"/>
                      </a:rPr>
                      <m:t>𝒂</m:t>
                    </m:r>
                  </m:oMath>
                </a14:m>
                <a:r>
                  <a:rPr lang="zh-CN" altLang="zh-CN" b="1" kern="1100" dirty="0">
                    <a:solidFill>
                      <a:srgbClr val="0000FF"/>
                    </a:solidFill>
                    <a:latin typeface="+mn-ea"/>
                    <a:cs typeface="Times New Roman" panose="02020603050405020304" pitchFamily="18" charset="0"/>
                  </a:rPr>
                  <a:t>与</a:t>
                </a:r>
                <a14:m>
                  <m:oMath xmlns:m="http://schemas.openxmlformats.org/officeDocument/2006/math">
                    <m:r>
                      <a:rPr lang="en-US" altLang="zh-CN" b="1" i="1" kern="1100" dirty="0">
                        <a:solidFill>
                          <a:srgbClr val="0000FF"/>
                        </a:solidFill>
                        <a:latin typeface="Cambria Math" panose="02040503050406030204" pitchFamily="18" charset="0"/>
                      </a:rPr>
                      <m:t>𝒃</m:t>
                    </m:r>
                  </m:oMath>
                </a14:m>
                <a:r>
                  <a:rPr lang="zh-CN" altLang="zh-CN" b="1" kern="1100" dirty="0">
                    <a:solidFill>
                      <a:srgbClr val="0000FF"/>
                    </a:solidFill>
                    <a:latin typeface="+mn-ea"/>
                    <a:cs typeface="Times New Roman" panose="02020603050405020304" pitchFamily="18" charset="0"/>
                  </a:rPr>
                  <a:t>互为补元</a:t>
                </a:r>
                <a:r>
                  <a:rPr lang="zh-CN" altLang="zh-CN" b="1" kern="1100" dirty="0">
                    <a:solidFill>
                      <a:srgbClr val="000000"/>
                    </a:solidFill>
                    <a:latin typeface="+mn-ea"/>
                    <a:cs typeface="Times New Roman" panose="02020603050405020304" pitchFamily="18" charset="0"/>
                  </a:rPr>
                  <a:t>。</a:t>
                </a:r>
                <a:endParaRPr lang="zh-CN" altLang="en-US" b="1" dirty="0">
                  <a:latin typeface="+mn-ea"/>
                </a:endParaRPr>
              </a:p>
            </p:txBody>
          </p:sp>
        </mc:Choice>
        <mc:Fallback xmlns="">
          <p:sp>
            <p:nvSpPr>
              <p:cNvPr id="4" name="Rectangle 3">
                <a:extLst>
                  <a:ext uri="{FF2B5EF4-FFF2-40B4-BE49-F238E27FC236}">
                    <a16:creationId xmlns:a16="http://schemas.microsoft.com/office/drawing/2014/main" id="{A4F49769-0656-4B00-9CDF-70D3C317BB96}"/>
                  </a:ext>
                </a:extLst>
              </p:cNvPr>
              <p:cNvSpPr>
                <a:spLocks noRot="1" noChangeAspect="1" noMove="1" noResize="1" noEditPoints="1" noAdjustHandles="1" noChangeArrowheads="1" noChangeShapeType="1" noTextEdit="1"/>
              </p:cNvSpPr>
              <p:nvPr/>
            </p:nvSpPr>
            <p:spPr>
              <a:xfrm>
                <a:off x="1374775" y="4928894"/>
                <a:ext cx="9144000" cy="1562864"/>
              </a:xfrm>
              <a:prstGeom prst="rect">
                <a:avLst/>
              </a:prstGeom>
              <a:blipFill>
                <a:blip r:embed="rId7"/>
                <a:stretch>
                  <a:fillRect l="-933" r="-200" b="-8203"/>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50106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build="p"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5A3602-EEA9-4289-9B5B-57AEAA10C607}"/>
              </a:ext>
            </a:extLst>
          </p:cNvPr>
          <p:cNvSpPr>
            <a:spLocks noGrp="1"/>
          </p:cNvSpPr>
          <p:nvPr>
            <p:ph type="title"/>
          </p:nvPr>
        </p:nvSpPr>
        <p:spPr/>
        <p:txBody>
          <a:bodyPr/>
          <a:lstStyle/>
          <a:p>
            <a:r>
              <a:rPr lang="zh-CN" altLang="en-US" dirty="0"/>
              <a:t>补元和有补格</a:t>
            </a:r>
          </a:p>
        </p:txBody>
      </p:sp>
      <p:sp>
        <p:nvSpPr>
          <p:cNvPr id="3" name="内容占位符 2">
            <a:extLst>
              <a:ext uri="{FF2B5EF4-FFF2-40B4-BE49-F238E27FC236}">
                <a16:creationId xmlns:a16="http://schemas.microsoft.com/office/drawing/2014/main" id="{0A5C3B9D-5240-4299-83AC-CF37A98289D7}"/>
              </a:ext>
            </a:extLst>
          </p:cNvPr>
          <p:cNvSpPr>
            <a:spLocks noGrp="1"/>
          </p:cNvSpPr>
          <p:nvPr>
            <p:ph idx="1"/>
          </p:nvPr>
        </p:nvSpPr>
        <p:spPr>
          <a:xfrm>
            <a:off x="241636" y="967712"/>
            <a:ext cx="7310150" cy="1256588"/>
          </a:xfrm>
        </p:spPr>
        <p:txBody>
          <a:bodyPr>
            <a:noAutofit/>
          </a:bodyPr>
          <a:lstStyle/>
          <a:p>
            <a:pPr marL="0" indent="0">
              <a:lnSpc>
                <a:spcPct val="130000"/>
              </a:lnSpc>
              <a:spcBef>
                <a:spcPts val="600"/>
              </a:spcBef>
              <a:buNone/>
            </a:pPr>
            <a:r>
              <a:rPr lang="zh-CN" altLang="zh-CN" kern="1100" dirty="0">
                <a:solidFill>
                  <a:srgbClr val="0000FF"/>
                </a:solidFill>
                <a:effectLst/>
                <a:latin typeface="+mn-ea"/>
                <a:cs typeface="Times New Roman" panose="02020603050405020304" pitchFamily="18" charset="0"/>
              </a:rPr>
              <a:t>例</a:t>
            </a:r>
            <a:r>
              <a:rPr lang="en-US" altLang="zh-CN" kern="1100" dirty="0">
                <a:solidFill>
                  <a:srgbClr val="0000FF"/>
                </a:solidFill>
                <a:effectLst/>
                <a:latin typeface="+mn-ea"/>
              </a:rPr>
              <a:t>10.7  </a:t>
            </a:r>
            <a:r>
              <a:rPr lang="zh-CN" altLang="en-US" dirty="0">
                <a:effectLst/>
                <a:latin typeface="+mn-ea"/>
                <a:cs typeface="Times New Roman" panose="02020603050405020304" pitchFamily="18" charset="0"/>
              </a:rPr>
              <a:t>右</a:t>
            </a:r>
            <a:r>
              <a:rPr lang="zh-CN" altLang="zh-CN" dirty="0">
                <a:effectLst/>
                <a:latin typeface="+mn-ea"/>
                <a:cs typeface="Times New Roman" panose="02020603050405020304" pitchFamily="18" charset="0"/>
              </a:rPr>
              <a:t>图所示的有界格，求其所有元素的补元</a:t>
            </a:r>
            <a:r>
              <a:rPr lang="en-US" altLang="zh-CN" dirty="0">
                <a:effectLst/>
                <a:latin typeface="+mn-ea"/>
              </a:rPr>
              <a:t>(</a:t>
            </a:r>
            <a:r>
              <a:rPr lang="zh-CN" altLang="zh-CN" dirty="0">
                <a:effectLst/>
                <a:latin typeface="+mn-ea"/>
                <a:cs typeface="Times New Roman" panose="02020603050405020304" pitchFamily="18" charset="0"/>
              </a:rPr>
              <a:t>如果有的话</a:t>
            </a:r>
            <a:r>
              <a:rPr lang="en-US" altLang="zh-CN" dirty="0">
                <a:effectLst/>
                <a:latin typeface="+mn-ea"/>
              </a:rPr>
              <a:t>)</a:t>
            </a:r>
            <a:r>
              <a:rPr lang="zh-CN" altLang="zh-CN" dirty="0">
                <a:effectLst/>
                <a:latin typeface="+mn-ea"/>
                <a:cs typeface="Times New Roman" panose="02020603050405020304" pitchFamily="18" charset="0"/>
              </a:rPr>
              <a:t>，指出它们是否是有补格。</a:t>
            </a:r>
            <a:endParaRPr lang="zh-CN" altLang="en-US" dirty="0">
              <a:latin typeface="+mn-ea"/>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4DB1D0F-1677-4EA0-927C-E86FA50D969C}"/>
                  </a:ext>
                </a:extLst>
              </p:cNvPr>
              <p:cNvSpPr txBox="1"/>
              <p:nvPr/>
            </p:nvSpPr>
            <p:spPr>
              <a:xfrm>
                <a:off x="425752" y="2205803"/>
                <a:ext cx="6685740" cy="1082732"/>
              </a:xfrm>
              <a:prstGeom prst="rect">
                <a:avLst/>
              </a:prstGeom>
              <a:noFill/>
            </p:spPr>
            <p:txBody>
              <a:bodyPr wrap="square">
                <a:spAutoFit/>
              </a:bodyPr>
              <a:lstStyle/>
              <a:p>
                <a:pPr>
                  <a:lnSpc>
                    <a:spcPct val="130000"/>
                  </a:lnSpc>
                  <a:spcBef>
                    <a:spcPts val="600"/>
                  </a:spcBef>
                </a:pPr>
                <a:r>
                  <a:rPr lang="zh-CN" altLang="zh-CN" b="1" kern="1100" dirty="0">
                    <a:solidFill>
                      <a:srgbClr val="FF0000"/>
                    </a:solidFill>
                    <a:effectLst/>
                    <a:latin typeface="+mn-ea"/>
                    <a:cs typeface="Times New Roman" panose="02020603050405020304" pitchFamily="18" charset="0"/>
                  </a:rPr>
                  <a:t>解</a:t>
                </a:r>
                <a:r>
                  <a:rPr lang="zh-CN" altLang="zh-CN" b="1" kern="1100" dirty="0">
                    <a:solidFill>
                      <a:srgbClr val="000000"/>
                    </a:solidFill>
                    <a:effectLst/>
                    <a:latin typeface="+mn-ea"/>
                  </a:rPr>
                  <a:t>  </a:t>
                </a:r>
                <a14:m>
                  <m:oMath xmlns:m="http://schemas.openxmlformats.org/officeDocument/2006/math">
                    <m:r>
                      <a:rPr lang="en-US" altLang="zh-CN" b="1" i="1" dirty="0" smtClean="0">
                        <a:effectLst/>
                        <a:latin typeface="Cambria Math" panose="02040503050406030204" pitchFamily="18" charset="0"/>
                      </a:rPr>
                      <m:t>𝑳</m:t>
                    </m:r>
                    <m:r>
                      <a:rPr lang="en-US" altLang="zh-CN" b="1" i="1" baseline="-25000" dirty="0">
                        <a:effectLst/>
                        <a:latin typeface="Cambria Math" panose="02040503050406030204" pitchFamily="18" charset="0"/>
                      </a:rPr>
                      <m:t>𝟏</m:t>
                    </m:r>
                  </m:oMath>
                </a14:m>
                <a:r>
                  <a:rPr lang="en-US" altLang="zh-CN" b="1" dirty="0">
                    <a:effectLst/>
                    <a:latin typeface="+mn-ea"/>
                  </a:rPr>
                  <a:t> </a:t>
                </a:r>
                <a:r>
                  <a:rPr lang="zh-CN" altLang="zh-CN" b="1" dirty="0">
                    <a:effectLst/>
                    <a:latin typeface="+mn-ea"/>
                    <a:cs typeface="Times New Roman" panose="02020603050405020304" pitchFamily="18" charset="0"/>
                  </a:rPr>
                  <a:t>和</a:t>
                </a:r>
                <a14:m>
                  <m:oMath xmlns:m="http://schemas.openxmlformats.org/officeDocument/2006/math">
                    <m:r>
                      <a:rPr lang="en-US" altLang="zh-CN" b="1" i="1" dirty="0" smtClean="0">
                        <a:effectLst/>
                        <a:latin typeface="Cambria Math" panose="02040503050406030204" pitchFamily="18" charset="0"/>
                      </a:rPr>
                      <m:t>𝑳</m:t>
                    </m:r>
                    <m:r>
                      <a:rPr lang="en-US" altLang="zh-CN" b="1" i="1" baseline="-25000" dirty="0">
                        <a:effectLst/>
                        <a:latin typeface="Cambria Math" panose="02040503050406030204" pitchFamily="18" charset="0"/>
                      </a:rPr>
                      <m:t>𝟐</m:t>
                    </m:r>
                  </m:oMath>
                </a14:m>
                <a:r>
                  <a:rPr lang="zh-CN" altLang="zh-CN" b="1" dirty="0">
                    <a:effectLst/>
                    <a:latin typeface="+mn-ea"/>
                    <a:cs typeface="Times New Roman" panose="02020603050405020304" pitchFamily="18" charset="0"/>
                  </a:rPr>
                  <a:t>中各元素的补元见</a:t>
                </a:r>
                <a:r>
                  <a:rPr lang="zh-CN" altLang="en-US" b="1" dirty="0">
                    <a:effectLst/>
                    <a:latin typeface="+mn-ea"/>
                    <a:cs typeface="Times New Roman" panose="02020603050405020304" pitchFamily="18" charset="0"/>
                  </a:rPr>
                  <a:t>下</a:t>
                </a:r>
                <a:r>
                  <a:rPr lang="zh-CN" altLang="zh-CN" b="1" dirty="0">
                    <a:effectLst/>
                    <a:latin typeface="+mn-ea"/>
                    <a:cs typeface="Times New Roman" panose="02020603050405020304" pitchFamily="18" charset="0"/>
                  </a:rPr>
                  <a:t>表</a:t>
                </a:r>
                <a:r>
                  <a:rPr lang="zh-CN" altLang="en-US" b="1" dirty="0">
                    <a:effectLst/>
                    <a:latin typeface="+mn-ea"/>
                    <a:cs typeface="Times New Roman" panose="02020603050405020304" pitchFamily="18" charset="0"/>
                  </a:rPr>
                  <a:t>。</a:t>
                </a:r>
                <a:endParaRPr lang="en-US" altLang="zh-CN" b="1" dirty="0">
                  <a:effectLst/>
                  <a:latin typeface="+mn-ea"/>
                  <a:cs typeface="Times New Roman" panose="02020603050405020304" pitchFamily="18" charset="0"/>
                </a:endParaRPr>
              </a:p>
              <a:p>
                <a:pPr>
                  <a:lnSpc>
                    <a:spcPct val="130000"/>
                  </a:lnSpc>
                  <a:spcBef>
                    <a:spcPts val="600"/>
                  </a:spcBef>
                </a:pPr>
                <a:r>
                  <a:rPr lang="zh-CN" altLang="zh-CN" b="1" dirty="0">
                    <a:effectLst/>
                    <a:latin typeface="+mn-ea"/>
                    <a:cs typeface="Times New Roman" panose="02020603050405020304" pitchFamily="18" charset="0"/>
                  </a:rPr>
                  <a:t>可见，</a:t>
                </a:r>
                <a14:m>
                  <m:oMath xmlns:m="http://schemas.openxmlformats.org/officeDocument/2006/math">
                    <m:r>
                      <a:rPr lang="en-US" altLang="zh-CN" b="1" i="1" dirty="0" smtClean="0">
                        <a:effectLst/>
                        <a:latin typeface="Cambria Math" panose="02040503050406030204" pitchFamily="18" charset="0"/>
                      </a:rPr>
                      <m:t>𝑳</m:t>
                    </m:r>
                    <m:r>
                      <a:rPr lang="en-US" altLang="zh-CN" b="1" i="1" baseline="-25000" dirty="0">
                        <a:effectLst/>
                        <a:latin typeface="Cambria Math" panose="02040503050406030204" pitchFamily="18" charset="0"/>
                      </a:rPr>
                      <m:t>𝟏</m:t>
                    </m:r>
                  </m:oMath>
                </a14:m>
                <a:r>
                  <a:rPr lang="zh-CN" altLang="zh-CN" b="1" dirty="0">
                    <a:effectLst/>
                    <a:latin typeface="+mn-ea"/>
                    <a:cs typeface="Times New Roman" panose="02020603050405020304" pitchFamily="18" charset="0"/>
                  </a:rPr>
                  <a:t>不是有补格，而</a:t>
                </a:r>
                <a14:m>
                  <m:oMath xmlns:m="http://schemas.openxmlformats.org/officeDocument/2006/math">
                    <m:r>
                      <a:rPr lang="en-US" altLang="zh-CN" b="1" i="1" dirty="0" smtClean="0">
                        <a:effectLst/>
                        <a:latin typeface="Cambria Math" panose="02040503050406030204" pitchFamily="18" charset="0"/>
                      </a:rPr>
                      <m:t>𝑳</m:t>
                    </m:r>
                    <m:r>
                      <a:rPr lang="en-US" altLang="zh-CN" b="1" i="1" baseline="-25000" dirty="0">
                        <a:effectLst/>
                        <a:latin typeface="Cambria Math" panose="02040503050406030204" pitchFamily="18" charset="0"/>
                      </a:rPr>
                      <m:t>𝟐</m:t>
                    </m:r>
                  </m:oMath>
                </a14:m>
                <a:r>
                  <a:rPr lang="zh-CN" altLang="zh-CN" b="1" dirty="0">
                    <a:effectLst/>
                    <a:latin typeface="+mn-ea"/>
                    <a:cs typeface="Times New Roman" panose="02020603050405020304" pitchFamily="18" charset="0"/>
                  </a:rPr>
                  <a:t>是有补格。</a:t>
                </a:r>
                <a:endParaRPr lang="zh-CN" altLang="en-US" b="1" dirty="0">
                  <a:latin typeface="+mn-ea"/>
                </a:endParaRPr>
              </a:p>
            </p:txBody>
          </p:sp>
        </mc:Choice>
        <mc:Fallback xmlns="">
          <p:sp>
            <p:nvSpPr>
              <p:cNvPr id="9" name="文本框 8">
                <a:extLst>
                  <a:ext uri="{FF2B5EF4-FFF2-40B4-BE49-F238E27FC236}">
                    <a16:creationId xmlns:a16="http://schemas.microsoft.com/office/drawing/2014/main" id="{F4DB1D0F-1677-4EA0-927C-E86FA50D969C}"/>
                  </a:ext>
                </a:extLst>
              </p:cNvPr>
              <p:cNvSpPr txBox="1">
                <a:spLocks noRot="1" noChangeAspect="1" noMove="1" noResize="1" noEditPoints="1" noAdjustHandles="1" noChangeArrowheads="1" noChangeShapeType="1" noTextEdit="1"/>
              </p:cNvSpPr>
              <p:nvPr/>
            </p:nvSpPr>
            <p:spPr>
              <a:xfrm>
                <a:off x="425752" y="2205803"/>
                <a:ext cx="6685740" cy="1082732"/>
              </a:xfrm>
              <a:prstGeom prst="rect">
                <a:avLst/>
              </a:prstGeom>
              <a:blipFill>
                <a:blip r:embed="rId5"/>
                <a:stretch>
                  <a:fillRect l="-1459" b="-12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35600499-7E5C-410A-8732-A2068A253FF2}"/>
                  </a:ext>
                </a:extLst>
              </p:cNvPr>
              <p:cNvGraphicFramePr>
                <a:graphicFrameLocks noGrp="1"/>
              </p:cNvGraphicFramePr>
              <p:nvPr/>
            </p:nvGraphicFramePr>
            <p:xfrm>
              <a:off x="774700" y="3859891"/>
              <a:ext cx="8318841" cy="2148459"/>
            </p:xfrm>
            <a:graphic>
              <a:graphicData uri="http://schemas.openxmlformats.org/drawingml/2006/table">
                <a:tbl>
                  <a:tblPr firstRow="1" firstCol="1" bandRow="1">
                    <a:tableStyleId>{5940675A-B579-460E-94D1-54222C63F5DA}</a:tableStyleId>
                  </a:tblPr>
                  <a:tblGrid>
                    <a:gridCol w="1385164">
                      <a:extLst>
                        <a:ext uri="{9D8B030D-6E8A-4147-A177-3AD203B41FA5}">
                          <a16:colId xmlns:a16="http://schemas.microsoft.com/office/drawing/2014/main" val="3885274474"/>
                        </a:ext>
                      </a:extLst>
                    </a:gridCol>
                    <a:gridCol w="609600">
                      <a:extLst>
                        <a:ext uri="{9D8B030D-6E8A-4147-A177-3AD203B41FA5}">
                          <a16:colId xmlns:a16="http://schemas.microsoft.com/office/drawing/2014/main" val="422577864"/>
                        </a:ext>
                      </a:extLst>
                    </a:gridCol>
                    <a:gridCol w="609600">
                      <a:extLst>
                        <a:ext uri="{9D8B030D-6E8A-4147-A177-3AD203B41FA5}">
                          <a16:colId xmlns:a16="http://schemas.microsoft.com/office/drawing/2014/main" val="3274739249"/>
                        </a:ext>
                      </a:extLst>
                    </a:gridCol>
                    <a:gridCol w="1066800">
                      <a:extLst>
                        <a:ext uri="{9D8B030D-6E8A-4147-A177-3AD203B41FA5}">
                          <a16:colId xmlns:a16="http://schemas.microsoft.com/office/drawing/2014/main" val="2060045122"/>
                        </a:ext>
                      </a:extLst>
                    </a:gridCol>
                    <a:gridCol w="1066800">
                      <a:extLst>
                        <a:ext uri="{9D8B030D-6E8A-4147-A177-3AD203B41FA5}">
                          <a16:colId xmlns:a16="http://schemas.microsoft.com/office/drawing/2014/main" val="1534148280"/>
                        </a:ext>
                      </a:extLst>
                    </a:gridCol>
                    <a:gridCol w="1295400">
                      <a:extLst>
                        <a:ext uri="{9D8B030D-6E8A-4147-A177-3AD203B41FA5}">
                          <a16:colId xmlns:a16="http://schemas.microsoft.com/office/drawing/2014/main" val="722338621"/>
                        </a:ext>
                      </a:extLst>
                    </a:gridCol>
                    <a:gridCol w="1066800">
                      <a:extLst>
                        <a:ext uri="{9D8B030D-6E8A-4147-A177-3AD203B41FA5}">
                          <a16:colId xmlns:a16="http://schemas.microsoft.com/office/drawing/2014/main" val="2061121869"/>
                        </a:ext>
                      </a:extLst>
                    </a:gridCol>
                    <a:gridCol w="1218677">
                      <a:extLst>
                        <a:ext uri="{9D8B030D-6E8A-4147-A177-3AD203B41FA5}">
                          <a16:colId xmlns:a16="http://schemas.microsoft.com/office/drawing/2014/main" val="3394192037"/>
                        </a:ext>
                      </a:extLst>
                    </a:gridCol>
                  </a:tblGrid>
                  <a:tr h="636703">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𝒙</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𝟎</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𝟏</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𝒂</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𝒃</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𝒄</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𝒅</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𝒆</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309844761"/>
                      </a:ext>
                    </a:extLst>
                  </a:tr>
                  <a:tr h="741553">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kern="0" dirty="0" smtClean="0">
                                        <a:effectLst/>
                                        <a:latin typeface="Cambria Math" panose="02040503050406030204" pitchFamily="18" charset="0"/>
                                        <a:ea typeface="楷体" panose="02010609060101010101" pitchFamily="49" charset="-122"/>
                                      </a:rPr>
                                    </m:ctrlPr>
                                  </m:sSupPr>
                                  <m:e>
                                    <m:r>
                                      <a:rPr lang="en-US" altLang="zh-CN" sz="2400" b="1" i="1" kern="0" dirty="0" smtClean="0">
                                        <a:effectLst/>
                                        <a:latin typeface="Cambria Math" panose="02040503050406030204" pitchFamily="18" charset="0"/>
                                        <a:ea typeface="楷体" panose="02010609060101010101" pitchFamily="49" charset="-122"/>
                                      </a:rPr>
                                      <m:t>𝒙</m:t>
                                    </m:r>
                                  </m:e>
                                  <m:sup>
                                    <m:r>
                                      <a:rPr lang="en-US" altLang="zh-CN" sz="2400" b="1" i="1" kern="0" dirty="0" smtClean="0">
                                        <a:effectLst/>
                                        <a:latin typeface="Cambria Math" panose="02040503050406030204" pitchFamily="18" charset="0"/>
                                        <a:ea typeface="楷体" panose="02010609060101010101" pitchFamily="49" charset="-122"/>
                                      </a:rPr>
                                      <m:t>−</m:t>
                                    </m:r>
                                    <m:r>
                                      <a:rPr lang="en-US" altLang="zh-CN" sz="2400" b="1" i="1" kern="0" dirty="0" smtClean="0">
                                        <a:effectLst/>
                                        <a:latin typeface="Cambria Math" panose="02040503050406030204" pitchFamily="18" charset="0"/>
                                        <a:ea typeface="楷体" panose="02010609060101010101" pitchFamily="49" charset="-122"/>
                                      </a:rPr>
                                      <m:t>𝟏</m:t>
                                    </m:r>
                                  </m:sup>
                                </m:sSup>
                                <m:r>
                                  <a:rPr lang="en-US" altLang="zh-CN" sz="2400" b="1" i="1" kern="0" dirty="0" smtClean="0">
                                    <a:effectLst/>
                                    <a:latin typeface="Cambria Math" panose="02040503050406030204" pitchFamily="18" charset="0"/>
                                    <a:ea typeface="楷体" panose="02010609060101010101" pitchFamily="49" charset="-122"/>
                                  </a:rPr>
                                  <m:t>(</m:t>
                                </m:r>
                                <m:sSub>
                                  <m:sSubPr>
                                    <m:ctrlPr>
                                      <a:rPr lang="en-US" altLang="zh-CN" sz="2400" b="1" i="1" kern="0" dirty="0" smtClean="0">
                                        <a:effectLst/>
                                        <a:latin typeface="Cambria Math" panose="02040503050406030204" pitchFamily="18" charset="0"/>
                                        <a:ea typeface="楷体" panose="02010609060101010101" pitchFamily="49" charset="-122"/>
                                      </a:rPr>
                                    </m:ctrlPr>
                                  </m:sSubPr>
                                  <m:e>
                                    <m:r>
                                      <a:rPr lang="en-US" altLang="zh-CN" sz="2400" b="1" i="1" kern="0" dirty="0" smtClean="0">
                                        <a:effectLst/>
                                        <a:latin typeface="Cambria Math" panose="02040503050406030204" pitchFamily="18" charset="0"/>
                                        <a:ea typeface="楷体" panose="02010609060101010101" pitchFamily="49" charset="-122"/>
                                      </a:rPr>
                                      <m:t>𝑳</m:t>
                                    </m:r>
                                  </m:e>
                                  <m:sub>
                                    <m:r>
                                      <a:rPr lang="en-US" altLang="zh-CN" sz="2400" b="1" i="1" kern="0" dirty="0" smtClean="0">
                                        <a:effectLst/>
                                        <a:latin typeface="Cambria Math" panose="02040503050406030204" pitchFamily="18" charset="0"/>
                                        <a:ea typeface="楷体" panose="02010609060101010101" pitchFamily="49" charset="-122"/>
                                      </a:rPr>
                                      <m:t>𝟏</m:t>
                                    </m:r>
                                  </m:sub>
                                </m:sSub>
                                <m:r>
                                  <a:rPr lang="en-US" altLang="zh-CN" sz="2400" b="1" i="1" kern="0" dirty="0" smtClean="0">
                                    <a:effectLst/>
                                    <a:latin typeface="Cambria Math" panose="02040503050406030204" pitchFamily="18" charset="0"/>
                                    <a:ea typeface="楷体" panose="02010609060101010101" pitchFamily="49" charset="-122"/>
                                  </a:rPr>
                                  <m:t>)</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𝟏</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𝟎</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extLst>
                      <a:ext uri="{0D108BD9-81ED-4DB2-BD59-A6C34878D82A}">
                        <a16:rowId xmlns:a16="http://schemas.microsoft.com/office/drawing/2014/main" val="1268684479"/>
                      </a:ext>
                    </a:extLst>
                  </a:tr>
                  <a:tr h="770203">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kern="0" dirty="0" smtClean="0">
                                        <a:effectLst/>
                                        <a:latin typeface="Cambria Math" panose="02040503050406030204" pitchFamily="18" charset="0"/>
                                        <a:ea typeface="楷体" panose="02010609060101010101" pitchFamily="49" charset="-122"/>
                                      </a:rPr>
                                    </m:ctrlPr>
                                  </m:sSupPr>
                                  <m:e>
                                    <m:r>
                                      <a:rPr lang="en-US" altLang="zh-CN" sz="2400" b="1" i="1" kern="0" dirty="0" smtClean="0">
                                        <a:effectLst/>
                                        <a:latin typeface="Cambria Math" panose="02040503050406030204" pitchFamily="18" charset="0"/>
                                        <a:ea typeface="楷体" panose="02010609060101010101" pitchFamily="49" charset="-122"/>
                                      </a:rPr>
                                      <m:t>𝒙</m:t>
                                    </m:r>
                                  </m:e>
                                  <m:sup>
                                    <m:r>
                                      <a:rPr lang="en-US" altLang="zh-CN" sz="2400" b="1" i="1" kern="0" dirty="0" smtClean="0">
                                        <a:effectLst/>
                                        <a:latin typeface="Cambria Math" panose="02040503050406030204" pitchFamily="18" charset="0"/>
                                        <a:ea typeface="楷体" panose="02010609060101010101" pitchFamily="49" charset="-122"/>
                                      </a:rPr>
                                      <m:t>−</m:t>
                                    </m:r>
                                    <m:r>
                                      <a:rPr lang="en-US" altLang="zh-CN" sz="2400" b="1" i="1" kern="0" dirty="0" smtClean="0">
                                        <a:effectLst/>
                                        <a:latin typeface="Cambria Math" panose="02040503050406030204" pitchFamily="18" charset="0"/>
                                        <a:ea typeface="楷体" panose="02010609060101010101" pitchFamily="49" charset="-122"/>
                                      </a:rPr>
                                      <m:t>𝟏</m:t>
                                    </m:r>
                                  </m:sup>
                                </m:sSup>
                                <m:r>
                                  <a:rPr lang="en-US" altLang="zh-CN" sz="2400" b="1" i="1" kern="0" dirty="0" smtClean="0">
                                    <a:effectLst/>
                                    <a:latin typeface="Cambria Math" panose="02040503050406030204" pitchFamily="18" charset="0"/>
                                    <a:ea typeface="楷体" panose="02010609060101010101" pitchFamily="49" charset="-122"/>
                                  </a:rPr>
                                  <m:t>(</m:t>
                                </m:r>
                                <m:sSub>
                                  <m:sSubPr>
                                    <m:ctrlPr>
                                      <a:rPr lang="en-US" altLang="zh-CN" sz="2400" b="1" i="1" kern="0" dirty="0" smtClean="0">
                                        <a:effectLst/>
                                        <a:latin typeface="Cambria Math" panose="02040503050406030204" pitchFamily="18" charset="0"/>
                                        <a:ea typeface="楷体" panose="02010609060101010101" pitchFamily="49" charset="-122"/>
                                      </a:rPr>
                                    </m:ctrlPr>
                                  </m:sSubPr>
                                  <m:e>
                                    <m:r>
                                      <a:rPr lang="en-US" altLang="zh-CN" sz="2400" b="1" i="1" kern="0" dirty="0" smtClean="0">
                                        <a:effectLst/>
                                        <a:latin typeface="Cambria Math" panose="02040503050406030204" pitchFamily="18" charset="0"/>
                                        <a:ea typeface="楷体" panose="02010609060101010101" pitchFamily="49" charset="-122"/>
                                      </a:rPr>
                                      <m:t>𝑳</m:t>
                                    </m:r>
                                  </m:e>
                                  <m:sub>
                                    <m:r>
                                      <a:rPr lang="en-US" altLang="zh-CN" sz="2400" b="1" i="1" kern="0" dirty="0" smtClean="0">
                                        <a:effectLst/>
                                        <a:latin typeface="Cambria Math" panose="02040503050406030204" pitchFamily="18" charset="0"/>
                                        <a:ea typeface="楷体" panose="02010609060101010101" pitchFamily="49" charset="-122"/>
                                      </a:rPr>
                                      <m:t>𝟐</m:t>
                                    </m:r>
                                  </m:sub>
                                </m:sSub>
                                <m:r>
                                  <a:rPr lang="en-US" altLang="zh-CN" sz="2400" b="1" i="1" kern="0" dirty="0" smtClean="0">
                                    <a:effectLst/>
                                    <a:latin typeface="Cambria Math" panose="02040503050406030204" pitchFamily="18" charset="0"/>
                                    <a:ea typeface="楷体" panose="02010609060101010101" pitchFamily="49" charset="-122"/>
                                  </a:rPr>
                                  <m:t>)</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solidFill>
                          <a:schemeClr val="accent3">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𝟏</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r>
                                  <a:rPr lang="en-US" sz="2400" b="1" i="1" kern="0" dirty="0" smtClean="0">
                                    <a:effectLst/>
                                    <a:latin typeface="Cambria Math" panose="02040503050406030204" pitchFamily="18" charset="0"/>
                                    <a:ea typeface="楷体" panose="02010609060101010101" pitchFamily="49" charset="-122"/>
                                  </a:rPr>
                                  <m:t>𝟎</m:t>
                                </m:r>
                              </m:oMath>
                            </m:oMathPara>
                          </a14:m>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extLst>
                      <a:ext uri="{0D108BD9-81ED-4DB2-BD59-A6C34878D82A}">
                        <a16:rowId xmlns:a16="http://schemas.microsoft.com/office/drawing/2014/main" val="1488730687"/>
                      </a:ext>
                    </a:extLst>
                  </a:tr>
                </a:tbl>
              </a:graphicData>
            </a:graphic>
          </p:graphicFrame>
        </mc:Choice>
        <mc:Fallback xmlns="">
          <p:graphicFrame>
            <p:nvGraphicFramePr>
              <p:cNvPr id="10" name="表格 9">
                <a:extLst>
                  <a:ext uri="{FF2B5EF4-FFF2-40B4-BE49-F238E27FC236}">
                    <a16:creationId xmlns:a16="http://schemas.microsoft.com/office/drawing/2014/main" id="{35600499-7E5C-410A-8732-A2068A253FF2}"/>
                  </a:ext>
                </a:extLst>
              </p:cNvPr>
              <p:cNvGraphicFramePr>
                <a:graphicFrameLocks noGrp="1"/>
              </p:cNvGraphicFramePr>
              <p:nvPr>
                <p:extLst>
                  <p:ext uri="{D42A27DB-BD31-4B8C-83A1-F6EECF244321}">
                    <p14:modId xmlns:p14="http://schemas.microsoft.com/office/powerpoint/2010/main" val="3758741741"/>
                  </p:ext>
                </p:extLst>
              </p:nvPr>
            </p:nvGraphicFramePr>
            <p:xfrm>
              <a:off x="774700" y="3859891"/>
              <a:ext cx="8318841" cy="2148459"/>
            </p:xfrm>
            <a:graphic>
              <a:graphicData uri="http://schemas.openxmlformats.org/drawingml/2006/table">
                <a:tbl>
                  <a:tblPr firstRow="1" firstCol="1" bandRow="1">
                    <a:tableStyleId>{5940675A-B579-460E-94D1-54222C63F5DA}</a:tableStyleId>
                  </a:tblPr>
                  <a:tblGrid>
                    <a:gridCol w="1385164">
                      <a:extLst>
                        <a:ext uri="{9D8B030D-6E8A-4147-A177-3AD203B41FA5}">
                          <a16:colId xmlns:a16="http://schemas.microsoft.com/office/drawing/2014/main" val="3885274474"/>
                        </a:ext>
                      </a:extLst>
                    </a:gridCol>
                    <a:gridCol w="609600">
                      <a:extLst>
                        <a:ext uri="{9D8B030D-6E8A-4147-A177-3AD203B41FA5}">
                          <a16:colId xmlns:a16="http://schemas.microsoft.com/office/drawing/2014/main" val="422577864"/>
                        </a:ext>
                      </a:extLst>
                    </a:gridCol>
                    <a:gridCol w="609600">
                      <a:extLst>
                        <a:ext uri="{9D8B030D-6E8A-4147-A177-3AD203B41FA5}">
                          <a16:colId xmlns:a16="http://schemas.microsoft.com/office/drawing/2014/main" val="3274739249"/>
                        </a:ext>
                      </a:extLst>
                    </a:gridCol>
                    <a:gridCol w="1066800">
                      <a:extLst>
                        <a:ext uri="{9D8B030D-6E8A-4147-A177-3AD203B41FA5}">
                          <a16:colId xmlns:a16="http://schemas.microsoft.com/office/drawing/2014/main" val="2060045122"/>
                        </a:ext>
                      </a:extLst>
                    </a:gridCol>
                    <a:gridCol w="1066800">
                      <a:extLst>
                        <a:ext uri="{9D8B030D-6E8A-4147-A177-3AD203B41FA5}">
                          <a16:colId xmlns:a16="http://schemas.microsoft.com/office/drawing/2014/main" val="1534148280"/>
                        </a:ext>
                      </a:extLst>
                    </a:gridCol>
                    <a:gridCol w="1295400">
                      <a:extLst>
                        <a:ext uri="{9D8B030D-6E8A-4147-A177-3AD203B41FA5}">
                          <a16:colId xmlns:a16="http://schemas.microsoft.com/office/drawing/2014/main" val="722338621"/>
                        </a:ext>
                      </a:extLst>
                    </a:gridCol>
                    <a:gridCol w="1066800">
                      <a:extLst>
                        <a:ext uri="{9D8B030D-6E8A-4147-A177-3AD203B41FA5}">
                          <a16:colId xmlns:a16="http://schemas.microsoft.com/office/drawing/2014/main" val="2061121869"/>
                        </a:ext>
                      </a:extLst>
                    </a:gridCol>
                    <a:gridCol w="1218677">
                      <a:extLst>
                        <a:ext uri="{9D8B030D-6E8A-4147-A177-3AD203B41FA5}">
                          <a16:colId xmlns:a16="http://schemas.microsoft.com/office/drawing/2014/main" val="3394192037"/>
                        </a:ext>
                      </a:extLst>
                    </a:gridCol>
                  </a:tblGrid>
                  <a:tr h="636703">
                    <a:tc>
                      <a:txBody>
                        <a:bodyPr/>
                        <a:lstStyle/>
                        <a:p>
                          <a:endParaRPr lang="zh-CN"/>
                        </a:p>
                      </a:txBody>
                      <a:tcPr marL="68580" marR="68580" marT="0" marB="0" anchor="ctr">
                        <a:blipFill>
                          <a:blip r:embed="rId6"/>
                          <a:stretch>
                            <a:fillRect l="-441" t="-952" r="-502203" b="-238095"/>
                          </a:stretch>
                        </a:blipFill>
                      </a:tcPr>
                    </a:tc>
                    <a:tc>
                      <a:txBody>
                        <a:bodyPr/>
                        <a:lstStyle/>
                        <a:p>
                          <a:endParaRPr lang="zh-CN"/>
                        </a:p>
                      </a:txBody>
                      <a:tcPr marL="68580" marR="68580" marT="0" marB="0" anchor="ctr">
                        <a:blipFill>
                          <a:blip r:embed="rId6"/>
                          <a:stretch>
                            <a:fillRect l="-228000" t="-952" r="-1040000" b="-238095"/>
                          </a:stretch>
                        </a:blipFill>
                      </a:tcPr>
                    </a:tc>
                    <a:tc>
                      <a:txBody>
                        <a:bodyPr/>
                        <a:lstStyle/>
                        <a:p>
                          <a:endParaRPr lang="zh-CN"/>
                        </a:p>
                      </a:txBody>
                      <a:tcPr marL="68580" marR="68580" marT="0" marB="0" anchor="ctr">
                        <a:blipFill>
                          <a:blip r:embed="rId6"/>
                          <a:stretch>
                            <a:fillRect l="-328000" t="-952" r="-940000" b="-238095"/>
                          </a:stretch>
                        </a:blipFill>
                      </a:tcPr>
                    </a:tc>
                    <a:tc>
                      <a:txBody>
                        <a:bodyPr/>
                        <a:lstStyle/>
                        <a:p>
                          <a:endParaRPr lang="zh-CN"/>
                        </a:p>
                      </a:txBody>
                      <a:tcPr marL="68580" marR="68580" marT="0" marB="0" anchor="ctr">
                        <a:blipFill>
                          <a:blip r:embed="rId6"/>
                          <a:stretch>
                            <a:fillRect l="-244571" t="-952" r="-437143" b="-238095"/>
                          </a:stretch>
                        </a:blipFill>
                      </a:tcPr>
                    </a:tc>
                    <a:tc>
                      <a:txBody>
                        <a:bodyPr/>
                        <a:lstStyle/>
                        <a:p>
                          <a:endParaRPr lang="zh-CN"/>
                        </a:p>
                      </a:txBody>
                      <a:tcPr marL="68580" marR="68580" marT="0" marB="0" anchor="ctr">
                        <a:blipFill>
                          <a:blip r:embed="rId6"/>
                          <a:stretch>
                            <a:fillRect l="-344571" t="-952" r="-337143" b="-238095"/>
                          </a:stretch>
                        </a:blipFill>
                      </a:tcPr>
                    </a:tc>
                    <a:tc>
                      <a:txBody>
                        <a:bodyPr/>
                        <a:lstStyle/>
                        <a:p>
                          <a:endParaRPr lang="zh-CN"/>
                        </a:p>
                      </a:txBody>
                      <a:tcPr marL="68580" marR="68580" marT="0" marB="0" anchor="ctr">
                        <a:blipFill>
                          <a:blip r:embed="rId6"/>
                          <a:stretch>
                            <a:fillRect l="-365258" t="-952" r="-176995" b="-238095"/>
                          </a:stretch>
                        </a:blipFill>
                      </a:tcPr>
                    </a:tc>
                    <a:tc>
                      <a:txBody>
                        <a:bodyPr/>
                        <a:lstStyle/>
                        <a:p>
                          <a:endParaRPr lang="zh-CN"/>
                        </a:p>
                      </a:txBody>
                      <a:tcPr marL="68580" marR="68580" marT="0" marB="0" anchor="ctr">
                        <a:blipFill>
                          <a:blip r:embed="rId6"/>
                          <a:stretch>
                            <a:fillRect l="-566286" t="-952" r="-115429" b="-238095"/>
                          </a:stretch>
                        </a:blipFill>
                      </a:tcPr>
                    </a:tc>
                    <a:tc>
                      <a:txBody>
                        <a:bodyPr/>
                        <a:lstStyle/>
                        <a:p>
                          <a:endParaRPr lang="zh-CN"/>
                        </a:p>
                      </a:txBody>
                      <a:tcPr marL="68580" marR="68580" marT="0" marB="0" anchor="ctr">
                        <a:blipFill>
                          <a:blip r:embed="rId6"/>
                          <a:stretch>
                            <a:fillRect l="-583000" t="-952" r="-1000" b="-238095"/>
                          </a:stretch>
                        </a:blipFill>
                      </a:tcPr>
                    </a:tc>
                    <a:extLst>
                      <a:ext uri="{0D108BD9-81ED-4DB2-BD59-A6C34878D82A}">
                        <a16:rowId xmlns:a16="http://schemas.microsoft.com/office/drawing/2014/main" val="309844761"/>
                      </a:ext>
                    </a:extLst>
                  </a:tr>
                  <a:tr h="741553">
                    <a:tc>
                      <a:txBody>
                        <a:bodyPr/>
                        <a:lstStyle/>
                        <a:p>
                          <a:endParaRPr lang="zh-CN"/>
                        </a:p>
                      </a:txBody>
                      <a:tcPr marL="68580" marR="68580" marT="0" marB="0" anchor="ctr">
                        <a:blipFill>
                          <a:blip r:embed="rId6"/>
                          <a:stretch>
                            <a:fillRect l="-441" t="-87603" r="-502203" b="-106612"/>
                          </a:stretch>
                        </a:blipFill>
                      </a:tcPr>
                    </a:tc>
                    <a:tc>
                      <a:txBody>
                        <a:bodyPr/>
                        <a:lstStyle/>
                        <a:p>
                          <a:endParaRPr lang="zh-CN"/>
                        </a:p>
                      </a:txBody>
                      <a:tcPr marL="68580" marR="68580" marT="0" marB="0" anchor="ctr">
                        <a:blipFill>
                          <a:blip r:embed="rId6"/>
                          <a:stretch>
                            <a:fillRect l="-228000" t="-87603" r="-1040000" b="-106612"/>
                          </a:stretch>
                        </a:blipFill>
                      </a:tcPr>
                    </a:tc>
                    <a:tc>
                      <a:txBody>
                        <a:bodyPr/>
                        <a:lstStyle/>
                        <a:p>
                          <a:endParaRPr lang="zh-CN"/>
                        </a:p>
                      </a:txBody>
                      <a:tcPr marL="68580" marR="68580" marT="0" marB="0" anchor="ctr">
                        <a:blipFill>
                          <a:blip r:embed="rId6"/>
                          <a:stretch>
                            <a:fillRect l="-328000" t="-87603" r="-940000" b="-106612"/>
                          </a:stretch>
                        </a:blipFill>
                      </a:tcP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extLst>
                      <a:ext uri="{0D108BD9-81ED-4DB2-BD59-A6C34878D82A}">
                        <a16:rowId xmlns:a16="http://schemas.microsoft.com/office/drawing/2014/main" val="1268684479"/>
                      </a:ext>
                    </a:extLst>
                  </a:tr>
                  <a:tr h="770203">
                    <a:tc>
                      <a:txBody>
                        <a:bodyPr/>
                        <a:lstStyle/>
                        <a:p>
                          <a:endParaRPr lang="zh-CN"/>
                        </a:p>
                      </a:txBody>
                      <a:tcPr marL="68580" marR="68580" marT="0" marB="0" anchor="ctr">
                        <a:blipFill>
                          <a:blip r:embed="rId6"/>
                          <a:stretch>
                            <a:fillRect l="-441" t="-178740" r="-502203" b="-1575"/>
                          </a:stretch>
                        </a:blipFill>
                      </a:tcPr>
                    </a:tc>
                    <a:tc>
                      <a:txBody>
                        <a:bodyPr/>
                        <a:lstStyle/>
                        <a:p>
                          <a:endParaRPr lang="zh-CN"/>
                        </a:p>
                      </a:txBody>
                      <a:tcPr marL="68580" marR="68580" marT="0" marB="0" anchor="ctr">
                        <a:blipFill>
                          <a:blip r:embed="rId6"/>
                          <a:stretch>
                            <a:fillRect l="-228000" t="-178740" r="-1040000" b="-1575"/>
                          </a:stretch>
                        </a:blipFill>
                      </a:tcPr>
                    </a:tc>
                    <a:tc>
                      <a:txBody>
                        <a:bodyPr/>
                        <a:lstStyle/>
                        <a:p>
                          <a:endParaRPr lang="zh-CN"/>
                        </a:p>
                      </a:txBody>
                      <a:tcPr marL="68580" marR="68580" marT="0" marB="0" anchor="ctr">
                        <a:blipFill>
                          <a:blip r:embed="rId6"/>
                          <a:stretch>
                            <a:fillRect l="-328000" t="-178740" r="-940000" b="-1575"/>
                          </a:stretch>
                        </a:blipFill>
                      </a:tcP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tc>
                      <a:txBody>
                        <a:bodyPr/>
                        <a:lstStyle/>
                        <a:p>
                          <a:pPr algn="ctr"/>
                          <a:endParaRPr lang="zh-CN" sz="2400" b="1" kern="100" dirty="0">
                            <a:effectLst/>
                            <a:latin typeface="楷体" panose="02010609060101010101" pitchFamily="49" charset="-122"/>
                            <a:ea typeface="楷体" panose="02010609060101010101" pitchFamily="49" charset="-122"/>
                          </a:endParaRPr>
                        </a:p>
                      </a:txBody>
                      <a:tcPr marL="68580" marR="68580" marT="0" marB="0" anchor="ctr"/>
                    </a:tc>
                    <a:extLst>
                      <a:ext uri="{0D108BD9-81ED-4DB2-BD59-A6C34878D82A}">
                        <a16:rowId xmlns:a16="http://schemas.microsoft.com/office/drawing/2014/main" val="1488730687"/>
                      </a:ext>
                    </a:extLst>
                  </a:tr>
                </a:tbl>
              </a:graphicData>
            </a:graphic>
          </p:graphicFrame>
        </mc:Fallback>
      </mc:AlternateContent>
      <p:grpSp>
        <p:nvGrpSpPr>
          <p:cNvPr id="11" name="组合 89">
            <a:extLst>
              <a:ext uri="{FF2B5EF4-FFF2-40B4-BE49-F238E27FC236}">
                <a16:creationId xmlns:a16="http://schemas.microsoft.com/office/drawing/2014/main" id="{E02DFD53-593D-4A80-81D0-B065414162AA}"/>
              </a:ext>
            </a:extLst>
          </p:cNvPr>
          <p:cNvGrpSpPr/>
          <p:nvPr/>
        </p:nvGrpSpPr>
        <p:grpSpPr>
          <a:xfrm>
            <a:off x="7612099" y="999716"/>
            <a:ext cx="3751531" cy="2665259"/>
            <a:chOff x="2581383" y="1677940"/>
            <a:chExt cx="3623973" cy="2640538"/>
          </a:xfrm>
        </p:grpSpPr>
        <p:grpSp>
          <p:nvGrpSpPr>
            <p:cNvPr id="12" name="组合 84">
              <a:extLst>
                <a:ext uri="{FF2B5EF4-FFF2-40B4-BE49-F238E27FC236}">
                  <a16:creationId xmlns:a16="http://schemas.microsoft.com/office/drawing/2014/main" id="{EDC7192F-2B05-4234-82F9-5AA8D03017E2}"/>
                </a:ext>
              </a:extLst>
            </p:cNvPr>
            <p:cNvGrpSpPr/>
            <p:nvPr/>
          </p:nvGrpSpPr>
          <p:grpSpPr>
            <a:xfrm>
              <a:off x="2581383" y="1695633"/>
              <a:ext cx="1574129" cy="2616885"/>
              <a:chOff x="2581383" y="1695633"/>
              <a:chExt cx="1574129" cy="2616885"/>
            </a:xfrm>
          </p:grpSpPr>
          <p:sp>
            <p:nvSpPr>
              <p:cNvPr id="38" name="流程图: 接点 49">
                <a:extLst>
                  <a:ext uri="{FF2B5EF4-FFF2-40B4-BE49-F238E27FC236}">
                    <a16:creationId xmlns:a16="http://schemas.microsoft.com/office/drawing/2014/main" id="{BBF598A0-B769-4849-AE14-9736C596B7CA}"/>
                  </a:ext>
                </a:extLst>
              </p:cNvPr>
              <p:cNvSpPr/>
              <p:nvPr/>
            </p:nvSpPr>
            <p:spPr>
              <a:xfrm>
                <a:off x="2907659" y="2335338"/>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39" name="流程图: 接点 51">
                <a:extLst>
                  <a:ext uri="{FF2B5EF4-FFF2-40B4-BE49-F238E27FC236}">
                    <a16:creationId xmlns:a16="http://schemas.microsoft.com/office/drawing/2014/main" id="{E95ACDD0-7E78-42EE-B812-C6F9C85C3B6B}"/>
                  </a:ext>
                </a:extLst>
              </p:cNvPr>
              <p:cNvSpPr/>
              <p:nvPr/>
            </p:nvSpPr>
            <p:spPr>
              <a:xfrm>
                <a:off x="3855658" y="2335338"/>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0" name="流程图: 接点 52">
                <a:extLst>
                  <a:ext uri="{FF2B5EF4-FFF2-40B4-BE49-F238E27FC236}">
                    <a16:creationId xmlns:a16="http://schemas.microsoft.com/office/drawing/2014/main" id="{EF9FC5DA-33A8-4CD7-A40B-7555B8D1CA6F}"/>
                  </a:ext>
                </a:extLst>
              </p:cNvPr>
              <p:cNvSpPr/>
              <p:nvPr/>
            </p:nvSpPr>
            <p:spPr>
              <a:xfrm>
                <a:off x="3362926" y="350251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1" name="流程图: 接点 53">
                <a:extLst>
                  <a:ext uri="{FF2B5EF4-FFF2-40B4-BE49-F238E27FC236}">
                    <a16:creationId xmlns:a16="http://schemas.microsoft.com/office/drawing/2014/main" id="{36282DC0-7185-4AFB-8168-E57F06AE1937}"/>
                  </a:ext>
                </a:extLst>
              </p:cNvPr>
              <p:cNvSpPr/>
              <p:nvPr/>
            </p:nvSpPr>
            <p:spPr>
              <a:xfrm>
                <a:off x="3842932" y="306972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2" name="流程图: 接点 54">
                <a:extLst>
                  <a:ext uri="{FF2B5EF4-FFF2-40B4-BE49-F238E27FC236}">
                    <a16:creationId xmlns:a16="http://schemas.microsoft.com/office/drawing/2014/main" id="{E62C9C3B-0BD0-4632-9031-368963DEDC20}"/>
                  </a:ext>
                </a:extLst>
              </p:cNvPr>
              <p:cNvSpPr/>
              <p:nvPr/>
            </p:nvSpPr>
            <p:spPr>
              <a:xfrm>
                <a:off x="2907659" y="3075096"/>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3" name="流程图: 接点 55">
                <a:extLst>
                  <a:ext uri="{FF2B5EF4-FFF2-40B4-BE49-F238E27FC236}">
                    <a16:creationId xmlns:a16="http://schemas.microsoft.com/office/drawing/2014/main" id="{412C597A-D9C3-4902-9162-CF7AD5F5D6CD}"/>
                  </a:ext>
                </a:extLst>
              </p:cNvPr>
              <p:cNvSpPr/>
              <p:nvPr/>
            </p:nvSpPr>
            <p:spPr>
              <a:xfrm>
                <a:off x="3384528" y="2036492"/>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44" name="流程图: 接点 56">
                <a:extLst>
                  <a:ext uri="{FF2B5EF4-FFF2-40B4-BE49-F238E27FC236}">
                    <a16:creationId xmlns:a16="http://schemas.microsoft.com/office/drawing/2014/main" id="{EA5A84C3-4FB1-4AD8-A4FC-7A9E98D73DBF}"/>
                  </a:ext>
                </a:extLst>
              </p:cNvPr>
              <p:cNvSpPr/>
              <p:nvPr/>
            </p:nvSpPr>
            <p:spPr>
              <a:xfrm>
                <a:off x="3376317" y="2754075"/>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45" name="直接连接符 57">
                <a:extLst>
                  <a:ext uri="{FF2B5EF4-FFF2-40B4-BE49-F238E27FC236}">
                    <a16:creationId xmlns:a16="http://schemas.microsoft.com/office/drawing/2014/main" id="{C056CADF-B379-496C-8996-F0F802DFF56D}"/>
                  </a:ext>
                </a:extLst>
              </p:cNvPr>
              <p:cNvCxnSpPr>
                <a:stCxn id="43" idx="3"/>
                <a:endCxn id="38" idx="7"/>
              </p:cNvCxnSpPr>
              <p:nvPr/>
            </p:nvCxnSpPr>
            <p:spPr>
              <a:xfrm flipH="1">
                <a:off x="2985708" y="2115103"/>
                <a:ext cx="412211" cy="2337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58">
                <a:extLst>
                  <a:ext uri="{FF2B5EF4-FFF2-40B4-BE49-F238E27FC236}">
                    <a16:creationId xmlns:a16="http://schemas.microsoft.com/office/drawing/2014/main" id="{9B641A1C-EC13-4916-9A58-44C6A9BA01DA}"/>
                  </a:ext>
                </a:extLst>
              </p:cNvPr>
              <p:cNvCxnSpPr>
                <a:stCxn id="42" idx="0"/>
                <a:endCxn id="38" idx="4"/>
              </p:cNvCxnSpPr>
              <p:nvPr/>
            </p:nvCxnSpPr>
            <p:spPr>
              <a:xfrm flipV="1">
                <a:off x="2953379" y="2427436"/>
                <a:ext cx="0" cy="6476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59">
                <a:extLst>
                  <a:ext uri="{FF2B5EF4-FFF2-40B4-BE49-F238E27FC236}">
                    <a16:creationId xmlns:a16="http://schemas.microsoft.com/office/drawing/2014/main" id="{E8658341-E85D-40AF-8D6E-312594760010}"/>
                  </a:ext>
                </a:extLst>
              </p:cNvPr>
              <p:cNvCxnSpPr>
                <a:stCxn id="44" idx="2"/>
                <a:endCxn id="42" idx="7"/>
              </p:cNvCxnSpPr>
              <p:nvPr/>
            </p:nvCxnSpPr>
            <p:spPr>
              <a:xfrm flipH="1">
                <a:off x="2985708" y="2800124"/>
                <a:ext cx="390609" cy="2884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60">
                <a:extLst>
                  <a:ext uri="{FF2B5EF4-FFF2-40B4-BE49-F238E27FC236}">
                    <a16:creationId xmlns:a16="http://schemas.microsoft.com/office/drawing/2014/main" id="{1E78FA2F-3E36-40A5-90C4-0507499F9C0C}"/>
                  </a:ext>
                </a:extLst>
              </p:cNvPr>
              <p:cNvCxnSpPr>
                <a:stCxn id="39" idx="4"/>
                <a:endCxn id="41" idx="0"/>
              </p:cNvCxnSpPr>
              <p:nvPr/>
            </p:nvCxnSpPr>
            <p:spPr>
              <a:xfrm flipH="1">
                <a:off x="3888652" y="2427436"/>
                <a:ext cx="12726" cy="6422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61">
                <a:extLst>
                  <a:ext uri="{FF2B5EF4-FFF2-40B4-BE49-F238E27FC236}">
                    <a16:creationId xmlns:a16="http://schemas.microsoft.com/office/drawing/2014/main" id="{650FCF15-71CC-4753-8C86-8A018360F745}"/>
                  </a:ext>
                </a:extLst>
              </p:cNvPr>
              <p:cNvCxnSpPr>
                <a:stCxn id="42" idx="5"/>
                <a:endCxn id="40" idx="1"/>
              </p:cNvCxnSpPr>
              <p:nvPr/>
            </p:nvCxnSpPr>
            <p:spPr>
              <a:xfrm>
                <a:off x="2985708" y="3153707"/>
                <a:ext cx="390609" cy="3622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62">
                <a:extLst>
                  <a:ext uri="{FF2B5EF4-FFF2-40B4-BE49-F238E27FC236}">
                    <a16:creationId xmlns:a16="http://schemas.microsoft.com/office/drawing/2014/main" id="{83E7BD90-8CCF-4CC7-832B-6BB58BB051AF}"/>
                  </a:ext>
                </a:extLst>
              </p:cNvPr>
              <p:cNvCxnSpPr>
                <a:stCxn id="41" idx="1"/>
                <a:endCxn id="44" idx="6"/>
              </p:cNvCxnSpPr>
              <p:nvPr/>
            </p:nvCxnSpPr>
            <p:spPr>
              <a:xfrm flipH="1" flipV="1">
                <a:off x="3467757" y="2800124"/>
                <a:ext cx="388566" cy="2830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63">
                <a:extLst>
                  <a:ext uri="{FF2B5EF4-FFF2-40B4-BE49-F238E27FC236}">
                    <a16:creationId xmlns:a16="http://schemas.microsoft.com/office/drawing/2014/main" id="{A5971E6F-06F1-45DB-A4CA-9910CA7865F4}"/>
                  </a:ext>
                </a:extLst>
              </p:cNvPr>
              <p:cNvCxnSpPr>
                <a:stCxn id="41" idx="3"/>
                <a:endCxn id="40" idx="7"/>
              </p:cNvCxnSpPr>
              <p:nvPr/>
            </p:nvCxnSpPr>
            <p:spPr>
              <a:xfrm flipH="1">
                <a:off x="3440975" y="3148333"/>
                <a:ext cx="415348" cy="3676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64">
                <a:extLst>
                  <a:ext uri="{FF2B5EF4-FFF2-40B4-BE49-F238E27FC236}">
                    <a16:creationId xmlns:a16="http://schemas.microsoft.com/office/drawing/2014/main" id="{C99819C0-1108-4827-9972-413AA9933853}"/>
                  </a:ext>
                </a:extLst>
              </p:cNvPr>
              <p:cNvCxnSpPr>
                <a:stCxn id="43" idx="4"/>
                <a:endCxn id="44" idx="0"/>
              </p:cNvCxnSpPr>
              <p:nvPr/>
            </p:nvCxnSpPr>
            <p:spPr>
              <a:xfrm flipH="1">
                <a:off x="3422037" y="2128590"/>
                <a:ext cx="8211" cy="6254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65">
                <a:extLst>
                  <a:ext uri="{FF2B5EF4-FFF2-40B4-BE49-F238E27FC236}">
                    <a16:creationId xmlns:a16="http://schemas.microsoft.com/office/drawing/2014/main" id="{65E70553-F9CD-47ED-8406-12D3F132F10A}"/>
                  </a:ext>
                </a:extLst>
              </p:cNvPr>
              <p:cNvCxnSpPr>
                <a:stCxn id="43" idx="5"/>
                <a:endCxn id="39" idx="1"/>
              </p:cNvCxnSpPr>
              <p:nvPr/>
            </p:nvCxnSpPr>
            <p:spPr>
              <a:xfrm>
                <a:off x="3462577" y="2115103"/>
                <a:ext cx="406472" cy="2337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文本框 67">
                    <a:extLst>
                      <a:ext uri="{FF2B5EF4-FFF2-40B4-BE49-F238E27FC236}">
                        <a16:creationId xmlns:a16="http://schemas.microsoft.com/office/drawing/2014/main" id="{CC6D20D0-F553-4A4C-9DB0-D08AC4AF276B}"/>
                      </a:ext>
                    </a:extLst>
                  </p:cNvPr>
                  <p:cNvSpPr txBox="1"/>
                  <p:nvPr/>
                </p:nvSpPr>
                <p:spPr>
                  <a:xfrm>
                    <a:off x="2587607" y="2992347"/>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54" name="文本框 67">
                    <a:extLst>
                      <a:ext uri="{FF2B5EF4-FFF2-40B4-BE49-F238E27FC236}">
                        <a16:creationId xmlns:a16="http://schemas.microsoft.com/office/drawing/2014/main" id="{CC6D20D0-F553-4A4C-9DB0-D08AC4AF276B}"/>
                      </a:ext>
                    </a:extLst>
                  </p:cNvPr>
                  <p:cNvSpPr txBox="1">
                    <a:spLocks noRot="1" noChangeAspect="1" noMove="1" noResize="1" noEditPoints="1" noAdjustHandles="1" noChangeArrowheads="1" noChangeShapeType="1" noTextEdit="1"/>
                  </p:cNvSpPr>
                  <p:nvPr/>
                </p:nvSpPr>
                <p:spPr>
                  <a:xfrm>
                    <a:off x="2587607" y="2992347"/>
                    <a:ext cx="234779" cy="461665"/>
                  </a:xfrm>
                  <a:prstGeom prst="rect">
                    <a:avLst/>
                  </a:prstGeom>
                  <a:blipFill>
                    <a:blip r:embed="rId7"/>
                    <a:stretch>
                      <a:fillRect r="-47500"/>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68">
                    <a:extLst>
                      <a:ext uri="{FF2B5EF4-FFF2-40B4-BE49-F238E27FC236}">
                        <a16:creationId xmlns:a16="http://schemas.microsoft.com/office/drawing/2014/main" id="{5F0BE0A8-B940-487A-B24E-C9FD4A7922D6}"/>
                      </a:ext>
                    </a:extLst>
                  </p:cNvPr>
                  <p:cNvSpPr txBox="1"/>
                  <p:nvPr/>
                </p:nvSpPr>
                <p:spPr>
                  <a:xfrm>
                    <a:off x="3114756" y="3409947"/>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𝟎</m:t>
                          </m:r>
                        </m:oMath>
                      </m:oMathPara>
                    </a14:m>
                    <a:endParaRPr lang="en-US" b="1" dirty="0">
                      <a:solidFill>
                        <a:srgbClr val="FF0000"/>
                      </a:solidFill>
                    </a:endParaRPr>
                  </a:p>
                </p:txBody>
              </p:sp>
            </mc:Choice>
            <mc:Fallback xmlns="">
              <p:sp>
                <p:nvSpPr>
                  <p:cNvPr id="55" name="文本框 68">
                    <a:extLst>
                      <a:ext uri="{FF2B5EF4-FFF2-40B4-BE49-F238E27FC236}">
                        <a16:creationId xmlns:a16="http://schemas.microsoft.com/office/drawing/2014/main" id="{5F0BE0A8-B940-487A-B24E-C9FD4A7922D6}"/>
                      </a:ext>
                    </a:extLst>
                  </p:cNvPr>
                  <p:cNvSpPr txBox="1">
                    <a:spLocks noRot="1" noChangeAspect="1" noMove="1" noResize="1" noEditPoints="1" noAdjustHandles="1" noChangeArrowheads="1" noChangeShapeType="1" noTextEdit="1"/>
                  </p:cNvSpPr>
                  <p:nvPr/>
                </p:nvSpPr>
                <p:spPr>
                  <a:xfrm>
                    <a:off x="3114756" y="3409947"/>
                    <a:ext cx="234779" cy="461665"/>
                  </a:xfrm>
                  <a:prstGeom prst="rect">
                    <a:avLst/>
                  </a:prstGeom>
                  <a:blipFill>
                    <a:blip r:embed="rId8"/>
                    <a:stretch>
                      <a:fillRect l="-5000" r="-57500"/>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69">
                    <a:extLst>
                      <a:ext uri="{FF2B5EF4-FFF2-40B4-BE49-F238E27FC236}">
                        <a16:creationId xmlns:a16="http://schemas.microsoft.com/office/drawing/2014/main" id="{44E88629-AD1C-43B5-B0C6-723287E15095}"/>
                      </a:ext>
                    </a:extLst>
                  </p:cNvPr>
                  <p:cNvSpPr txBox="1"/>
                  <p:nvPr/>
                </p:nvSpPr>
                <p:spPr>
                  <a:xfrm>
                    <a:off x="3883489" y="2898543"/>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56" name="文本框 69">
                    <a:extLst>
                      <a:ext uri="{FF2B5EF4-FFF2-40B4-BE49-F238E27FC236}">
                        <a16:creationId xmlns:a16="http://schemas.microsoft.com/office/drawing/2014/main" id="{44E88629-AD1C-43B5-B0C6-723287E15095}"/>
                      </a:ext>
                    </a:extLst>
                  </p:cNvPr>
                  <p:cNvSpPr txBox="1">
                    <a:spLocks noRot="1" noChangeAspect="1" noMove="1" noResize="1" noEditPoints="1" noAdjustHandles="1" noChangeArrowheads="1" noChangeShapeType="1" noTextEdit="1"/>
                  </p:cNvSpPr>
                  <p:nvPr/>
                </p:nvSpPr>
                <p:spPr>
                  <a:xfrm>
                    <a:off x="3883489" y="2898543"/>
                    <a:ext cx="234779" cy="461665"/>
                  </a:xfrm>
                  <a:prstGeom prst="rect">
                    <a:avLst/>
                  </a:prstGeom>
                  <a:blipFill>
                    <a:blip r:embed="rId9"/>
                    <a:stretch>
                      <a:fillRect l="-10000" r="-57500"/>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70">
                    <a:extLst>
                      <a:ext uri="{FF2B5EF4-FFF2-40B4-BE49-F238E27FC236}">
                        <a16:creationId xmlns:a16="http://schemas.microsoft.com/office/drawing/2014/main" id="{C39335E5-F76E-46CA-BBD1-765A38ACCD5E}"/>
                      </a:ext>
                    </a:extLst>
                  </p:cNvPr>
                  <p:cNvSpPr txBox="1"/>
                  <p:nvPr/>
                </p:nvSpPr>
                <p:spPr>
                  <a:xfrm>
                    <a:off x="3450541" y="2449712"/>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57" name="文本框 70">
                    <a:extLst>
                      <a:ext uri="{FF2B5EF4-FFF2-40B4-BE49-F238E27FC236}">
                        <a16:creationId xmlns:a16="http://schemas.microsoft.com/office/drawing/2014/main" id="{C39335E5-F76E-46CA-BBD1-765A38ACCD5E}"/>
                      </a:ext>
                    </a:extLst>
                  </p:cNvPr>
                  <p:cNvSpPr txBox="1">
                    <a:spLocks noRot="1" noChangeAspect="1" noMove="1" noResize="1" noEditPoints="1" noAdjustHandles="1" noChangeArrowheads="1" noChangeShapeType="1" noTextEdit="1"/>
                  </p:cNvSpPr>
                  <p:nvPr/>
                </p:nvSpPr>
                <p:spPr>
                  <a:xfrm>
                    <a:off x="3450541" y="2449712"/>
                    <a:ext cx="234779" cy="461665"/>
                  </a:xfrm>
                  <a:prstGeom prst="rect">
                    <a:avLst/>
                  </a:prstGeom>
                  <a:blipFill>
                    <a:blip r:embed="rId10"/>
                    <a:stretch>
                      <a:fillRect r="-32500"/>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71">
                    <a:extLst>
                      <a:ext uri="{FF2B5EF4-FFF2-40B4-BE49-F238E27FC236}">
                        <a16:creationId xmlns:a16="http://schemas.microsoft.com/office/drawing/2014/main" id="{C9DF48FF-A666-4A93-91CC-3EE8BEDE61E7}"/>
                      </a:ext>
                    </a:extLst>
                  </p:cNvPr>
                  <p:cNvSpPr txBox="1"/>
                  <p:nvPr/>
                </p:nvSpPr>
                <p:spPr>
                  <a:xfrm>
                    <a:off x="2581383" y="2058908"/>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58" name="文本框 71">
                    <a:extLst>
                      <a:ext uri="{FF2B5EF4-FFF2-40B4-BE49-F238E27FC236}">
                        <a16:creationId xmlns:a16="http://schemas.microsoft.com/office/drawing/2014/main" id="{C9DF48FF-A666-4A93-91CC-3EE8BEDE61E7}"/>
                      </a:ext>
                    </a:extLst>
                  </p:cNvPr>
                  <p:cNvSpPr txBox="1">
                    <a:spLocks noRot="1" noChangeAspect="1" noMove="1" noResize="1" noEditPoints="1" noAdjustHandles="1" noChangeArrowheads="1" noChangeShapeType="1" noTextEdit="1"/>
                  </p:cNvSpPr>
                  <p:nvPr/>
                </p:nvSpPr>
                <p:spPr>
                  <a:xfrm>
                    <a:off x="2581383" y="2058908"/>
                    <a:ext cx="234779" cy="461665"/>
                  </a:xfrm>
                  <a:prstGeom prst="rect">
                    <a:avLst/>
                  </a:prstGeom>
                  <a:blipFill>
                    <a:blip r:embed="rId11"/>
                    <a:stretch>
                      <a:fillRect l="-10000" r="-62500"/>
                    </a:stretch>
                  </a:blipFill>
                  <a:ln w="19050">
                    <a:noFill/>
                  </a:ln>
                </p:spPr>
                <p:txBody>
                  <a:bodyPr/>
                  <a:lstStyle/>
                  <a:p>
                    <a:r>
                      <a:rPr lang="zh-CN" altLang="en-US">
                        <a:noFill/>
                      </a:rPr>
                      <a:t> </a:t>
                    </a:r>
                  </a:p>
                </p:txBody>
              </p:sp>
            </mc:Fallback>
          </mc:AlternateContent>
          <p:sp>
            <p:nvSpPr>
              <p:cNvPr id="59" name="文本框 73">
                <a:extLst>
                  <a:ext uri="{FF2B5EF4-FFF2-40B4-BE49-F238E27FC236}">
                    <a16:creationId xmlns:a16="http://schemas.microsoft.com/office/drawing/2014/main" id="{73BA1BBD-F9C3-446B-BD81-24BD0D6A3A30}"/>
                  </a:ext>
                </a:extLst>
              </p:cNvPr>
              <p:cNvSpPr txBox="1"/>
              <p:nvPr/>
            </p:nvSpPr>
            <p:spPr>
              <a:xfrm>
                <a:off x="3920733" y="2091038"/>
                <a:ext cx="234779" cy="461665"/>
              </a:xfrm>
              <a:prstGeom prst="rect">
                <a:avLst/>
              </a:prstGeom>
              <a:noFill/>
              <a:ln w="19050">
                <a:noFill/>
              </a:ln>
            </p:spPr>
            <p:txBody>
              <a:bodyPr wrap="square" rtlCol="0">
                <a:spAutoFit/>
              </a:bodyPr>
              <a:lstStyle/>
              <a:p>
                <a:r>
                  <a:rPr lang="en-US" altLang="zh-CN" b="1" i="1" dirty="0">
                    <a:solidFill>
                      <a:srgbClr val="FF0000"/>
                    </a:solidFill>
                  </a:rPr>
                  <a:t>e</a:t>
                </a:r>
                <a:endParaRPr lang="en-US" b="1" i="1" dirty="0">
                  <a:solidFill>
                    <a:srgbClr val="FF0000"/>
                  </a:solidFill>
                </a:endParaRPr>
              </a:p>
            </p:txBody>
          </p:sp>
          <mc:AlternateContent xmlns:mc="http://schemas.openxmlformats.org/markup-compatibility/2006" xmlns:a14="http://schemas.microsoft.com/office/drawing/2010/main">
            <mc:Choice Requires="a14">
              <p:sp>
                <p:nvSpPr>
                  <p:cNvPr id="60" name="文本框 74">
                    <a:extLst>
                      <a:ext uri="{FF2B5EF4-FFF2-40B4-BE49-F238E27FC236}">
                        <a16:creationId xmlns:a16="http://schemas.microsoft.com/office/drawing/2014/main" id="{6067015A-6C96-4CA4-BFAC-547BB1B3FA0A}"/>
                      </a:ext>
                    </a:extLst>
                  </p:cNvPr>
                  <p:cNvSpPr txBox="1"/>
                  <p:nvPr/>
                </p:nvSpPr>
                <p:spPr>
                  <a:xfrm>
                    <a:off x="3421909" y="1695633"/>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𝟏</m:t>
                          </m:r>
                        </m:oMath>
                      </m:oMathPara>
                    </a14:m>
                    <a:endParaRPr lang="en-US" b="1" dirty="0">
                      <a:solidFill>
                        <a:srgbClr val="FF0000"/>
                      </a:solidFill>
                    </a:endParaRPr>
                  </a:p>
                </p:txBody>
              </p:sp>
            </mc:Choice>
            <mc:Fallback xmlns="">
              <p:sp>
                <p:nvSpPr>
                  <p:cNvPr id="60" name="文本框 74">
                    <a:extLst>
                      <a:ext uri="{FF2B5EF4-FFF2-40B4-BE49-F238E27FC236}">
                        <a16:creationId xmlns:a16="http://schemas.microsoft.com/office/drawing/2014/main" id="{6067015A-6C96-4CA4-BFAC-547BB1B3FA0A}"/>
                      </a:ext>
                    </a:extLst>
                  </p:cNvPr>
                  <p:cNvSpPr txBox="1">
                    <a:spLocks noRot="1" noChangeAspect="1" noMove="1" noResize="1" noEditPoints="1" noAdjustHandles="1" noChangeArrowheads="1" noChangeShapeType="1" noTextEdit="1"/>
                  </p:cNvSpPr>
                  <p:nvPr/>
                </p:nvSpPr>
                <p:spPr>
                  <a:xfrm>
                    <a:off x="3421909" y="1695633"/>
                    <a:ext cx="234779" cy="461665"/>
                  </a:xfrm>
                  <a:prstGeom prst="rect">
                    <a:avLst/>
                  </a:prstGeom>
                  <a:blipFill>
                    <a:blip r:embed="rId12"/>
                    <a:stretch>
                      <a:fillRect l="-5000" r="-57500"/>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5">
                    <a:extLst>
                      <a:ext uri="{FF2B5EF4-FFF2-40B4-BE49-F238E27FC236}">
                        <a16:creationId xmlns:a16="http://schemas.microsoft.com/office/drawing/2014/main" id="{9862F24B-BE91-4AEF-BCDB-B4D54577C103}"/>
                      </a:ext>
                    </a:extLst>
                  </p:cNvPr>
                  <p:cNvSpPr txBox="1"/>
                  <p:nvPr/>
                </p:nvSpPr>
                <p:spPr>
                  <a:xfrm>
                    <a:off x="3232978" y="3850853"/>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rgbClr val="0000FF"/>
                                  </a:solidFill>
                                  <a:latin typeface="Cambria Math" panose="02040503050406030204" pitchFamily="18" charset="0"/>
                                </a:rPr>
                              </m:ctrlPr>
                            </m:sSubPr>
                            <m:e>
                              <m:r>
                                <a:rPr lang="en-US" altLang="zh-CN" b="1" i="1" dirty="0" smtClean="0">
                                  <a:solidFill>
                                    <a:srgbClr val="0000FF"/>
                                  </a:solidFill>
                                  <a:latin typeface="Cambria Math" panose="02040503050406030204" pitchFamily="18" charset="0"/>
                                </a:rPr>
                                <m:t>𝑳</m:t>
                              </m:r>
                            </m:e>
                            <m:sub>
                              <m:r>
                                <a:rPr lang="en-US" altLang="zh-CN" b="1" i="1" dirty="0" smtClean="0">
                                  <a:solidFill>
                                    <a:srgbClr val="0000FF"/>
                                  </a:solidFill>
                                  <a:latin typeface="Cambria Math" panose="02040503050406030204" pitchFamily="18" charset="0"/>
                                </a:rPr>
                                <m:t>𝟏</m:t>
                              </m:r>
                            </m:sub>
                          </m:sSub>
                        </m:oMath>
                      </m:oMathPara>
                    </a14:m>
                    <a:endParaRPr lang="en-US" b="1" dirty="0">
                      <a:solidFill>
                        <a:srgbClr val="FF0000"/>
                      </a:solidFill>
                    </a:endParaRPr>
                  </a:p>
                </p:txBody>
              </p:sp>
            </mc:Choice>
            <mc:Fallback xmlns="">
              <p:sp>
                <p:nvSpPr>
                  <p:cNvPr id="61" name="文本框 5">
                    <a:extLst>
                      <a:ext uri="{FF2B5EF4-FFF2-40B4-BE49-F238E27FC236}">
                        <a16:creationId xmlns:a16="http://schemas.microsoft.com/office/drawing/2014/main" id="{9862F24B-BE91-4AEF-BCDB-B4D54577C103}"/>
                      </a:ext>
                    </a:extLst>
                  </p:cNvPr>
                  <p:cNvSpPr txBox="1">
                    <a:spLocks noRot="1" noChangeAspect="1" noMove="1" noResize="1" noEditPoints="1" noAdjustHandles="1" noChangeArrowheads="1" noChangeShapeType="1" noTextEdit="1"/>
                  </p:cNvSpPr>
                  <p:nvPr/>
                </p:nvSpPr>
                <p:spPr>
                  <a:xfrm>
                    <a:off x="3232978" y="3850853"/>
                    <a:ext cx="234779" cy="461665"/>
                  </a:xfrm>
                  <a:prstGeom prst="rect">
                    <a:avLst/>
                  </a:prstGeom>
                  <a:blipFill>
                    <a:blip r:embed="rId13"/>
                    <a:stretch>
                      <a:fillRect l="-5000" r="-95000" b="-3947"/>
                    </a:stretch>
                  </a:blipFill>
                  <a:ln w="19050">
                    <a:noFill/>
                  </a:ln>
                </p:spPr>
                <p:txBody>
                  <a:bodyPr/>
                  <a:lstStyle/>
                  <a:p>
                    <a:r>
                      <a:rPr lang="zh-CN" altLang="en-US">
                        <a:noFill/>
                      </a:rPr>
                      <a:t> </a:t>
                    </a:r>
                  </a:p>
                </p:txBody>
              </p:sp>
            </mc:Fallback>
          </mc:AlternateContent>
        </p:grpSp>
        <p:grpSp>
          <p:nvGrpSpPr>
            <p:cNvPr id="13" name="组合 85">
              <a:extLst>
                <a:ext uri="{FF2B5EF4-FFF2-40B4-BE49-F238E27FC236}">
                  <a16:creationId xmlns:a16="http://schemas.microsoft.com/office/drawing/2014/main" id="{71629047-CA85-44C1-BB0F-6B729B8259A9}"/>
                </a:ext>
              </a:extLst>
            </p:cNvPr>
            <p:cNvGrpSpPr/>
            <p:nvPr/>
          </p:nvGrpSpPr>
          <p:grpSpPr>
            <a:xfrm>
              <a:off x="4630145" y="1677940"/>
              <a:ext cx="1575211" cy="2640538"/>
              <a:chOff x="4630145" y="1677940"/>
              <a:chExt cx="1575211" cy="2640538"/>
            </a:xfrm>
          </p:grpSpPr>
          <p:grpSp>
            <p:nvGrpSpPr>
              <p:cNvPr id="14" name="组合 4">
                <a:extLst>
                  <a:ext uri="{FF2B5EF4-FFF2-40B4-BE49-F238E27FC236}">
                    <a16:creationId xmlns:a16="http://schemas.microsoft.com/office/drawing/2014/main" id="{8C6936D3-716B-4B36-A488-0A0F094C197B}"/>
                  </a:ext>
                </a:extLst>
              </p:cNvPr>
              <p:cNvGrpSpPr/>
              <p:nvPr/>
            </p:nvGrpSpPr>
            <p:grpSpPr>
              <a:xfrm>
                <a:off x="4630145" y="1677940"/>
                <a:ext cx="1575211" cy="2143491"/>
                <a:chOff x="4630145" y="1677940"/>
                <a:chExt cx="1575211" cy="2143491"/>
              </a:xfrm>
            </p:grpSpPr>
            <p:sp>
              <p:nvSpPr>
                <p:cNvPr id="16" name="流程图: 接点 8">
                  <a:extLst>
                    <a:ext uri="{FF2B5EF4-FFF2-40B4-BE49-F238E27FC236}">
                      <a16:creationId xmlns:a16="http://schemas.microsoft.com/office/drawing/2014/main" id="{64DB9C27-F3E8-496E-8247-B3D56FA97DFF}"/>
                    </a:ext>
                  </a:extLst>
                </p:cNvPr>
                <p:cNvSpPr/>
                <p:nvPr/>
              </p:nvSpPr>
              <p:spPr>
                <a:xfrm>
                  <a:off x="5390090" y="2026637"/>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17" name="流程图: 接点 9">
                  <a:extLst>
                    <a:ext uri="{FF2B5EF4-FFF2-40B4-BE49-F238E27FC236}">
                      <a16:creationId xmlns:a16="http://schemas.microsoft.com/office/drawing/2014/main" id="{B0FD60D7-0B19-4E15-BFF3-C46A2829B378}"/>
                    </a:ext>
                  </a:extLst>
                </p:cNvPr>
                <p:cNvSpPr/>
                <p:nvPr/>
              </p:nvSpPr>
              <p:spPr>
                <a:xfrm>
                  <a:off x="5390090" y="337761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18" name="直接连接符 10">
                  <a:extLst>
                    <a:ext uri="{FF2B5EF4-FFF2-40B4-BE49-F238E27FC236}">
                      <a16:creationId xmlns:a16="http://schemas.microsoft.com/office/drawing/2014/main" id="{508EF446-F74A-4C5B-9731-104AD85C641A}"/>
                    </a:ext>
                  </a:extLst>
                </p:cNvPr>
                <p:cNvCxnSpPr>
                  <a:stCxn id="29" idx="0"/>
                  <a:endCxn id="28" idx="4"/>
                </p:cNvCxnSpPr>
                <p:nvPr/>
              </p:nvCxnSpPr>
              <p:spPr>
                <a:xfrm flipH="1" flipV="1">
                  <a:off x="4999707" y="2514079"/>
                  <a:ext cx="1285" cy="523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1">
                  <a:extLst>
                    <a:ext uri="{FF2B5EF4-FFF2-40B4-BE49-F238E27FC236}">
                      <a16:creationId xmlns:a16="http://schemas.microsoft.com/office/drawing/2014/main" id="{B052C9B8-20A7-420A-B432-A5702B242B2F}"/>
                    </a:ext>
                  </a:extLst>
                </p:cNvPr>
                <p:cNvCxnSpPr>
                  <a:stCxn id="16" idx="3"/>
                  <a:endCxn id="28" idx="7"/>
                </p:cNvCxnSpPr>
                <p:nvPr/>
              </p:nvCxnSpPr>
              <p:spPr>
                <a:xfrm flipH="1">
                  <a:off x="5032036" y="2105248"/>
                  <a:ext cx="371445" cy="3302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2">
                      <a:extLst>
                        <a:ext uri="{FF2B5EF4-FFF2-40B4-BE49-F238E27FC236}">
                          <a16:creationId xmlns:a16="http://schemas.microsoft.com/office/drawing/2014/main" id="{168EB478-C80A-4DC9-9460-AA80B24629EC}"/>
                        </a:ext>
                      </a:extLst>
                    </p:cNvPr>
                    <p:cNvSpPr txBox="1"/>
                    <p:nvPr/>
                  </p:nvSpPr>
                  <p:spPr>
                    <a:xfrm>
                      <a:off x="5428798" y="3359766"/>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𝟎</m:t>
                            </m:r>
                          </m:oMath>
                        </m:oMathPara>
                      </a14:m>
                      <a:endParaRPr lang="en-US" b="1" dirty="0">
                        <a:solidFill>
                          <a:srgbClr val="FF0000"/>
                        </a:solidFill>
                      </a:endParaRPr>
                    </a:p>
                  </p:txBody>
                </p:sp>
              </mc:Choice>
              <mc:Fallback xmlns="">
                <p:sp>
                  <p:nvSpPr>
                    <p:cNvPr id="20" name="文本框 12">
                      <a:extLst>
                        <a:ext uri="{FF2B5EF4-FFF2-40B4-BE49-F238E27FC236}">
                          <a16:creationId xmlns:a16="http://schemas.microsoft.com/office/drawing/2014/main" id="{168EB478-C80A-4DC9-9460-AA80B24629EC}"/>
                        </a:ext>
                      </a:extLst>
                    </p:cNvPr>
                    <p:cNvSpPr txBox="1">
                      <a:spLocks noRot="1" noChangeAspect="1" noMove="1" noResize="1" noEditPoints="1" noAdjustHandles="1" noChangeArrowheads="1" noChangeShapeType="1" noTextEdit="1"/>
                    </p:cNvSpPr>
                    <p:nvPr/>
                  </p:nvSpPr>
                  <p:spPr>
                    <a:xfrm>
                      <a:off x="5428798" y="3359766"/>
                      <a:ext cx="234779" cy="461665"/>
                    </a:xfrm>
                    <a:prstGeom prst="rect">
                      <a:avLst/>
                    </a:prstGeom>
                    <a:blipFill>
                      <a:blip r:embed="rId14"/>
                      <a:stretch>
                        <a:fillRect l="-5000" r="-57500"/>
                      </a:stretch>
                    </a:blipFill>
                    <a:ln w="19050">
                      <a:noFill/>
                    </a:ln>
                  </p:spPr>
                  <p:txBody>
                    <a:bodyPr/>
                    <a:lstStyle/>
                    <a:p>
                      <a:r>
                        <a:rPr lang="zh-CN" altLang="en-US">
                          <a:noFill/>
                        </a:rPr>
                        <a:t> </a:t>
                      </a:r>
                    </a:p>
                  </p:txBody>
                </p:sp>
              </mc:Fallback>
            </mc:AlternateContent>
            <p:cxnSp>
              <p:nvCxnSpPr>
                <p:cNvPr id="21" name="直接连接符 13">
                  <a:extLst>
                    <a:ext uri="{FF2B5EF4-FFF2-40B4-BE49-F238E27FC236}">
                      <a16:creationId xmlns:a16="http://schemas.microsoft.com/office/drawing/2014/main" id="{C2EFE660-9CE8-4C75-94E0-C96E97EBDD3E}"/>
                    </a:ext>
                  </a:extLst>
                </p:cNvPr>
                <p:cNvCxnSpPr>
                  <a:stCxn id="16" idx="4"/>
                  <a:endCxn id="27" idx="0"/>
                </p:cNvCxnSpPr>
                <p:nvPr/>
              </p:nvCxnSpPr>
              <p:spPr>
                <a:xfrm>
                  <a:off x="5435810" y="2118735"/>
                  <a:ext cx="5122" cy="5567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14">
                  <a:extLst>
                    <a:ext uri="{FF2B5EF4-FFF2-40B4-BE49-F238E27FC236}">
                      <a16:creationId xmlns:a16="http://schemas.microsoft.com/office/drawing/2014/main" id="{5A395023-319C-4666-B6D2-4C128C2125F5}"/>
                    </a:ext>
                  </a:extLst>
                </p:cNvPr>
                <p:cNvCxnSpPr>
                  <a:stCxn id="16" idx="5"/>
                  <a:endCxn id="30" idx="1"/>
                </p:cNvCxnSpPr>
                <p:nvPr/>
              </p:nvCxnSpPr>
              <p:spPr>
                <a:xfrm>
                  <a:off x="5468139" y="2105248"/>
                  <a:ext cx="477121" cy="3269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15">
                      <a:extLst>
                        <a:ext uri="{FF2B5EF4-FFF2-40B4-BE49-F238E27FC236}">
                          <a16:creationId xmlns:a16="http://schemas.microsoft.com/office/drawing/2014/main" id="{3C38C474-28A2-4B80-90B2-F1B66C769867}"/>
                        </a:ext>
                      </a:extLst>
                    </p:cNvPr>
                    <p:cNvSpPr txBox="1"/>
                    <p:nvPr/>
                  </p:nvSpPr>
                  <p:spPr>
                    <a:xfrm>
                      <a:off x="5421457" y="1677940"/>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𝟏</m:t>
                            </m:r>
                          </m:oMath>
                        </m:oMathPara>
                      </a14:m>
                      <a:endParaRPr lang="en-US" b="1" dirty="0">
                        <a:solidFill>
                          <a:srgbClr val="FF0000"/>
                        </a:solidFill>
                      </a:endParaRPr>
                    </a:p>
                  </p:txBody>
                </p:sp>
              </mc:Choice>
              <mc:Fallback xmlns="">
                <p:sp>
                  <p:nvSpPr>
                    <p:cNvPr id="23" name="文本框 15">
                      <a:extLst>
                        <a:ext uri="{FF2B5EF4-FFF2-40B4-BE49-F238E27FC236}">
                          <a16:creationId xmlns:a16="http://schemas.microsoft.com/office/drawing/2014/main" id="{3C38C474-28A2-4B80-90B2-F1B66C769867}"/>
                        </a:ext>
                      </a:extLst>
                    </p:cNvPr>
                    <p:cNvSpPr txBox="1">
                      <a:spLocks noRot="1" noChangeAspect="1" noMove="1" noResize="1" noEditPoints="1" noAdjustHandles="1" noChangeArrowheads="1" noChangeShapeType="1" noTextEdit="1"/>
                    </p:cNvSpPr>
                    <p:nvPr/>
                  </p:nvSpPr>
                  <p:spPr>
                    <a:xfrm>
                      <a:off x="5421457" y="1677940"/>
                      <a:ext cx="234779" cy="461665"/>
                    </a:xfrm>
                    <a:prstGeom prst="rect">
                      <a:avLst/>
                    </a:prstGeom>
                    <a:blipFill>
                      <a:blip r:embed="rId15"/>
                      <a:stretch>
                        <a:fillRect l="-7500" r="-55000"/>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16">
                      <a:extLst>
                        <a:ext uri="{FF2B5EF4-FFF2-40B4-BE49-F238E27FC236}">
                          <a16:creationId xmlns:a16="http://schemas.microsoft.com/office/drawing/2014/main" id="{E3E98F50-F5A2-4FED-A306-EF433CE897E0}"/>
                        </a:ext>
                      </a:extLst>
                    </p:cNvPr>
                    <p:cNvSpPr txBox="1"/>
                    <p:nvPr/>
                  </p:nvSpPr>
                  <p:spPr>
                    <a:xfrm>
                      <a:off x="4630145" y="2172556"/>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𝒅</m:t>
                            </m:r>
                          </m:oMath>
                        </m:oMathPara>
                      </a14:m>
                      <a:endParaRPr lang="en-US" b="1" dirty="0">
                        <a:solidFill>
                          <a:srgbClr val="FF0000"/>
                        </a:solidFill>
                      </a:endParaRPr>
                    </a:p>
                  </p:txBody>
                </p:sp>
              </mc:Choice>
              <mc:Fallback xmlns="">
                <p:sp>
                  <p:nvSpPr>
                    <p:cNvPr id="24" name="文本框 16">
                      <a:extLst>
                        <a:ext uri="{FF2B5EF4-FFF2-40B4-BE49-F238E27FC236}">
                          <a16:creationId xmlns:a16="http://schemas.microsoft.com/office/drawing/2014/main" id="{E3E98F50-F5A2-4FED-A306-EF433CE897E0}"/>
                        </a:ext>
                      </a:extLst>
                    </p:cNvPr>
                    <p:cNvSpPr txBox="1">
                      <a:spLocks noRot="1" noChangeAspect="1" noMove="1" noResize="1" noEditPoints="1" noAdjustHandles="1" noChangeArrowheads="1" noChangeShapeType="1" noTextEdit="1"/>
                    </p:cNvSpPr>
                    <p:nvPr/>
                  </p:nvSpPr>
                  <p:spPr>
                    <a:xfrm>
                      <a:off x="4630145" y="2172556"/>
                      <a:ext cx="234779" cy="461665"/>
                    </a:xfrm>
                    <a:prstGeom prst="rect">
                      <a:avLst/>
                    </a:prstGeom>
                    <a:blipFill>
                      <a:blip r:embed="rId16"/>
                      <a:stretch>
                        <a:fillRect l="-10256" r="-66667"/>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17">
                      <a:extLst>
                        <a:ext uri="{FF2B5EF4-FFF2-40B4-BE49-F238E27FC236}">
                          <a16:creationId xmlns:a16="http://schemas.microsoft.com/office/drawing/2014/main" id="{F90489E1-54AD-4391-9BD3-E7AA3CA0538A}"/>
                        </a:ext>
                      </a:extLst>
                    </p:cNvPr>
                    <p:cNvSpPr txBox="1"/>
                    <p:nvPr/>
                  </p:nvSpPr>
                  <p:spPr>
                    <a:xfrm>
                      <a:off x="5970577" y="2237315"/>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𝒆</m:t>
                            </m:r>
                          </m:oMath>
                        </m:oMathPara>
                      </a14:m>
                      <a:endParaRPr lang="en-US" b="1" dirty="0">
                        <a:solidFill>
                          <a:srgbClr val="FF0000"/>
                        </a:solidFill>
                      </a:endParaRPr>
                    </a:p>
                  </p:txBody>
                </p:sp>
              </mc:Choice>
              <mc:Fallback xmlns="">
                <p:sp>
                  <p:nvSpPr>
                    <p:cNvPr id="25" name="文本框 17">
                      <a:extLst>
                        <a:ext uri="{FF2B5EF4-FFF2-40B4-BE49-F238E27FC236}">
                          <a16:creationId xmlns:a16="http://schemas.microsoft.com/office/drawing/2014/main" id="{F90489E1-54AD-4391-9BD3-E7AA3CA0538A}"/>
                        </a:ext>
                      </a:extLst>
                    </p:cNvPr>
                    <p:cNvSpPr txBox="1">
                      <a:spLocks noRot="1" noChangeAspect="1" noMove="1" noResize="1" noEditPoints="1" noAdjustHandles="1" noChangeArrowheads="1" noChangeShapeType="1" noTextEdit="1"/>
                    </p:cNvSpPr>
                    <p:nvPr/>
                  </p:nvSpPr>
                  <p:spPr>
                    <a:xfrm>
                      <a:off x="5970577" y="2237315"/>
                      <a:ext cx="234779" cy="461665"/>
                    </a:xfrm>
                    <a:prstGeom prst="rect">
                      <a:avLst/>
                    </a:prstGeom>
                    <a:blipFill>
                      <a:blip r:embed="rId17"/>
                      <a:stretch>
                        <a:fillRect r="-37500"/>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18">
                      <a:extLst>
                        <a:ext uri="{FF2B5EF4-FFF2-40B4-BE49-F238E27FC236}">
                          <a16:creationId xmlns:a16="http://schemas.microsoft.com/office/drawing/2014/main" id="{D0CBA66A-AE6C-4019-82FD-A845D93480D4}"/>
                        </a:ext>
                      </a:extLst>
                    </p:cNvPr>
                    <p:cNvSpPr txBox="1"/>
                    <p:nvPr/>
                  </p:nvSpPr>
                  <p:spPr>
                    <a:xfrm>
                      <a:off x="5416342" y="2503508"/>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𝒄</m:t>
                            </m:r>
                          </m:oMath>
                        </m:oMathPara>
                      </a14:m>
                      <a:endParaRPr lang="en-US" b="1" dirty="0">
                        <a:solidFill>
                          <a:srgbClr val="FF0000"/>
                        </a:solidFill>
                      </a:endParaRPr>
                    </a:p>
                  </p:txBody>
                </p:sp>
              </mc:Choice>
              <mc:Fallback xmlns="">
                <p:sp>
                  <p:nvSpPr>
                    <p:cNvPr id="26" name="文本框 18">
                      <a:extLst>
                        <a:ext uri="{FF2B5EF4-FFF2-40B4-BE49-F238E27FC236}">
                          <a16:creationId xmlns:a16="http://schemas.microsoft.com/office/drawing/2014/main" id="{D0CBA66A-AE6C-4019-82FD-A845D93480D4}"/>
                        </a:ext>
                      </a:extLst>
                    </p:cNvPr>
                    <p:cNvSpPr txBox="1">
                      <a:spLocks noRot="1" noChangeAspect="1" noMove="1" noResize="1" noEditPoints="1" noAdjustHandles="1" noChangeArrowheads="1" noChangeShapeType="1" noTextEdit="1"/>
                    </p:cNvSpPr>
                    <p:nvPr/>
                  </p:nvSpPr>
                  <p:spPr>
                    <a:xfrm>
                      <a:off x="5416342" y="2503508"/>
                      <a:ext cx="234779" cy="461665"/>
                    </a:xfrm>
                    <a:prstGeom prst="rect">
                      <a:avLst/>
                    </a:prstGeom>
                    <a:blipFill>
                      <a:blip r:embed="rId18"/>
                      <a:stretch>
                        <a:fillRect r="-32500"/>
                      </a:stretch>
                    </a:blipFill>
                    <a:ln w="19050">
                      <a:noFill/>
                    </a:ln>
                  </p:spPr>
                  <p:txBody>
                    <a:bodyPr/>
                    <a:lstStyle/>
                    <a:p>
                      <a:r>
                        <a:rPr lang="zh-CN" altLang="en-US">
                          <a:noFill/>
                        </a:rPr>
                        <a:t> </a:t>
                      </a:r>
                    </a:p>
                  </p:txBody>
                </p:sp>
              </mc:Fallback>
            </mc:AlternateContent>
            <p:sp>
              <p:nvSpPr>
                <p:cNvPr id="27" name="流程图: 接点 19">
                  <a:extLst>
                    <a:ext uri="{FF2B5EF4-FFF2-40B4-BE49-F238E27FC236}">
                      <a16:creationId xmlns:a16="http://schemas.microsoft.com/office/drawing/2014/main" id="{0D47BF8B-3D78-4C0B-931B-2B451903F24B}"/>
                    </a:ext>
                  </a:extLst>
                </p:cNvPr>
                <p:cNvSpPr/>
                <p:nvPr/>
              </p:nvSpPr>
              <p:spPr>
                <a:xfrm>
                  <a:off x="5395212" y="2675464"/>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28" name="流程图: 接点 20">
                  <a:extLst>
                    <a:ext uri="{FF2B5EF4-FFF2-40B4-BE49-F238E27FC236}">
                      <a16:creationId xmlns:a16="http://schemas.microsoft.com/office/drawing/2014/main" id="{173C4729-57AE-410B-BCB6-B01CDDEEFD1C}"/>
                    </a:ext>
                  </a:extLst>
                </p:cNvPr>
                <p:cNvSpPr/>
                <p:nvPr/>
              </p:nvSpPr>
              <p:spPr>
                <a:xfrm>
                  <a:off x="4953987" y="242198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29" name="流程图: 接点 21">
                  <a:extLst>
                    <a:ext uri="{FF2B5EF4-FFF2-40B4-BE49-F238E27FC236}">
                      <a16:creationId xmlns:a16="http://schemas.microsoft.com/office/drawing/2014/main" id="{203BDF01-13BC-4947-B8AB-1730C87B791A}"/>
                    </a:ext>
                  </a:extLst>
                </p:cNvPr>
                <p:cNvSpPr/>
                <p:nvPr/>
              </p:nvSpPr>
              <p:spPr>
                <a:xfrm>
                  <a:off x="4955272" y="303784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30" name="流程图: 接点 22">
                  <a:extLst>
                    <a:ext uri="{FF2B5EF4-FFF2-40B4-BE49-F238E27FC236}">
                      <a16:creationId xmlns:a16="http://schemas.microsoft.com/office/drawing/2014/main" id="{9ECF0FB8-EB63-493A-93B8-EDF8AC85C284}"/>
                    </a:ext>
                  </a:extLst>
                </p:cNvPr>
                <p:cNvSpPr/>
                <p:nvPr/>
              </p:nvSpPr>
              <p:spPr>
                <a:xfrm>
                  <a:off x="5931869" y="2418663"/>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sp>
              <p:nvSpPr>
                <p:cNvPr id="31" name="流程图: 接点 23">
                  <a:extLst>
                    <a:ext uri="{FF2B5EF4-FFF2-40B4-BE49-F238E27FC236}">
                      <a16:creationId xmlns:a16="http://schemas.microsoft.com/office/drawing/2014/main" id="{1B15436A-AE29-4345-B432-8F3D950EC288}"/>
                    </a:ext>
                  </a:extLst>
                </p:cNvPr>
                <p:cNvSpPr/>
                <p:nvPr/>
              </p:nvSpPr>
              <p:spPr>
                <a:xfrm>
                  <a:off x="5930741" y="3037841"/>
                  <a:ext cx="91440" cy="9209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FF0000"/>
                    </a:solidFill>
                  </a:endParaRPr>
                </a:p>
              </p:txBody>
            </p:sp>
            <p:cxnSp>
              <p:nvCxnSpPr>
                <p:cNvPr id="32" name="直接连接符 24">
                  <a:extLst>
                    <a:ext uri="{FF2B5EF4-FFF2-40B4-BE49-F238E27FC236}">
                      <a16:creationId xmlns:a16="http://schemas.microsoft.com/office/drawing/2014/main" id="{BBCA486C-2F7D-447E-8808-D48E9B74EE92}"/>
                    </a:ext>
                  </a:extLst>
                </p:cNvPr>
                <p:cNvCxnSpPr>
                  <a:stCxn id="27" idx="4"/>
                  <a:endCxn id="17" idx="0"/>
                </p:cNvCxnSpPr>
                <p:nvPr/>
              </p:nvCxnSpPr>
              <p:spPr>
                <a:xfrm flipH="1">
                  <a:off x="5435810" y="2767562"/>
                  <a:ext cx="5122" cy="6100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25">
                  <a:extLst>
                    <a:ext uri="{FF2B5EF4-FFF2-40B4-BE49-F238E27FC236}">
                      <a16:creationId xmlns:a16="http://schemas.microsoft.com/office/drawing/2014/main" id="{7C9B0EDA-D86D-4C56-90CE-F803B511732D}"/>
                    </a:ext>
                  </a:extLst>
                </p:cNvPr>
                <p:cNvCxnSpPr>
                  <a:stCxn id="31" idx="3"/>
                  <a:endCxn id="17" idx="7"/>
                </p:cNvCxnSpPr>
                <p:nvPr/>
              </p:nvCxnSpPr>
              <p:spPr>
                <a:xfrm flipH="1">
                  <a:off x="5468139" y="3116452"/>
                  <a:ext cx="475993" cy="2746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26">
                  <a:extLst>
                    <a:ext uri="{FF2B5EF4-FFF2-40B4-BE49-F238E27FC236}">
                      <a16:creationId xmlns:a16="http://schemas.microsoft.com/office/drawing/2014/main" id="{7F86FD80-902B-43E6-B84A-649F1CD0E615}"/>
                    </a:ext>
                  </a:extLst>
                </p:cNvPr>
                <p:cNvCxnSpPr>
                  <a:stCxn id="30" idx="4"/>
                  <a:endCxn id="31" idx="0"/>
                </p:cNvCxnSpPr>
                <p:nvPr/>
              </p:nvCxnSpPr>
              <p:spPr>
                <a:xfrm flipH="1">
                  <a:off x="5976461" y="2510761"/>
                  <a:ext cx="1128" cy="5270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27">
                  <a:extLst>
                    <a:ext uri="{FF2B5EF4-FFF2-40B4-BE49-F238E27FC236}">
                      <a16:creationId xmlns:a16="http://schemas.microsoft.com/office/drawing/2014/main" id="{B00C17C2-5145-454C-B1BE-57FEB759C151}"/>
                    </a:ext>
                  </a:extLst>
                </p:cNvPr>
                <p:cNvCxnSpPr>
                  <a:stCxn id="17" idx="1"/>
                  <a:endCxn id="29" idx="5"/>
                </p:cNvCxnSpPr>
                <p:nvPr/>
              </p:nvCxnSpPr>
              <p:spPr>
                <a:xfrm flipH="1" flipV="1">
                  <a:off x="5033321" y="3116452"/>
                  <a:ext cx="370160" cy="2746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文本框 28">
                      <a:extLst>
                        <a:ext uri="{FF2B5EF4-FFF2-40B4-BE49-F238E27FC236}">
                          <a16:creationId xmlns:a16="http://schemas.microsoft.com/office/drawing/2014/main" id="{C1BC897C-356C-4423-9F55-51273E0A2CE6}"/>
                        </a:ext>
                      </a:extLst>
                    </p:cNvPr>
                    <p:cNvSpPr txBox="1"/>
                    <p:nvPr/>
                  </p:nvSpPr>
                  <p:spPr>
                    <a:xfrm>
                      <a:off x="4655708" y="2912823"/>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𝒂</m:t>
                            </m:r>
                          </m:oMath>
                        </m:oMathPara>
                      </a14:m>
                      <a:endParaRPr lang="en-US" b="1" dirty="0">
                        <a:solidFill>
                          <a:srgbClr val="FF0000"/>
                        </a:solidFill>
                      </a:endParaRPr>
                    </a:p>
                  </p:txBody>
                </p:sp>
              </mc:Choice>
              <mc:Fallback xmlns="">
                <p:sp>
                  <p:nvSpPr>
                    <p:cNvPr id="36" name="文本框 28">
                      <a:extLst>
                        <a:ext uri="{FF2B5EF4-FFF2-40B4-BE49-F238E27FC236}">
                          <a16:creationId xmlns:a16="http://schemas.microsoft.com/office/drawing/2014/main" id="{C1BC897C-356C-4423-9F55-51273E0A2CE6}"/>
                        </a:ext>
                      </a:extLst>
                    </p:cNvPr>
                    <p:cNvSpPr txBox="1">
                      <a:spLocks noRot="1" noChangeAspect="1" noMove="1" noResize="1" noEditPoints="1" noAdjustHandles="1" noChangeArrowheads="1" noChangeShapeType="1" noTextEdit="1"/>
                    </p:cNvSpPr>
                    <p:nvPr/>
                  </p:nvSpPr>
                  <p:spPr>
                    <a:xfrm>
                      <a:off x="4655708" y="2912823"/>
                      <a:ext cx="234779" cy="461665"/>
                    </a:xfrm>
                    <a:prstGeom prst="rect">
                      <a:avLst/>
                    </a:prstGeom>
                    <a:blipFill>
                      <a:blip r:embed="rId19"/>
                      <a:stretch>
                        <a:fillRect r="-47500"/>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29">
                      <a:extLst>
                        <a:ext uri="{FF2B5EF4-FFF2-40B4-BE49-F238E27FC236}">
                          <a16:creationId xmlns:a16="http://schemas.microsoft.com/office/drawing/2014/main" id="{58E8B0E4-735C-4E5D-BF7B-0212C3927F89}"/>
                        </a:ext>
                      </a:extLst>
                    </p:cNvPr>
                    <p:cNvSpPr txBox="1"/>
                    <p:nvPr/>
                  </p:nvSpPr>
                  <p:spPr>
                    <a:xfrm>
                      <a:off x="5960124" y="2872840"/>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FF0000"/>
                                </a:solidFill>
                                <a:latin typeface="Cambria Math" panose="02040503050406030204" pitchFamily="18" charset="0"/>
                              </a:rPr>
                              <m:t>𝒃</m:t>
                            </m:r>
                          </m:oMath>
                        </m:oMathPara>
                      </a14:m>
                      <a:endParaRPr lang="en-US" b="1" dirty="0">
                        <a:solidFill>
                          <a:srgbClr val="FF0000"/>
                        </a:solidFill>
                      </a:endParaRPr>
                    </a:p>
                  </p:txBody>
                </p:sp>
              </mc:Choice>
              <mc:Fallback xmlns="">
                <p:sp>
                  <p:nvSpPr>
                    <p:cNvPr id="37" name="文本框 29">
                      <a:extLst>
                        <a:ext uri="{FF2B5EF4-FFF2-40B4-BE49-F238E27FC236}">
                          <a16:creationId xmlns:a16="http://schemas.microsoft.com/office/drawing/2014/main" id="{58E8B0E4-735C-4E5D-BF7B-0212C3927F89}"/>
                        </a:ext>
                      </a:extLst>
                    </p:cNvPr>
                    <p:cNvSpPr txBox="1">
                      <a:spLocks noRot="1" noChangeAspect="1" noMove="1" noResize="1" noEditPoints="1" noAdjustHandles="1" noChangeArrowheads="1" noChangeShapeType="1" noTextEdit="1"/>
                    </p:cNvSpPr>
                    <p:nvPr/>
                  </p:nvSpPr>
                  <p:spPr>
                    <a:xfrm>
                      <a:off x="5960124" y="2872840"/>
                      <a:ext cx="234779" cy="461665"/>
                    </a:xfrm>
                    <a:prstGeom prst="rect">
                      <a:avLst/>
                    </a:prstGeom>
                    <a:blipFill>
                      <a:blip r:embed="rId20"/>
                      <a:stretch>
                        <a:fillRect l="-7500" r="-60000"/>
                      </a:stretch>
                    </a:blipFill>
                    <a:ln w="19050">
                      <a:noFill/>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5" name="文本框 6">
                    <a:extLst>
                      <a:ext uri="{FF2B5EF4-FFF2-40B4-BE49-F238E27FC236}">
                        <a16:creationId xmlns:a16="http://schemas.microsoft.com/office/drawing/2014/main" id="{ECB0AC61-1220-4C4A-907D-D4C9F5DD2640}"/>
                      </a:ext>
                    </a:extLst>
                  </p:cNvPr>
                  <p:cNvSpPr txBox="1"/>
                  <p:nvPr/>
                </p:nvSpPr>
                <p:spPr>
                  <a:xfrm>
                    <a:off x="5312514" y="3856813"/>
                    <a:ext cx="234779" cy="461665"/>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rgbClr val="0000FF"/>
                                  </a:solidFill>
                                  <a:latin typeface="Cambria Math" panose="02040503050406030204" pitchFamily="18" charset="0"/>
                                </a:rPr>
                              </m:ctrlPr>
                            </m:sSubPr>
                            <m:e>
                              <m:r>
                                <a:rPr lang="en-US" altLang="zh-CN" b="1" i="1" dirty="0" smtClean="0">
                                  <a:solidFill>
                                    <a:srgbClr val="0000FF"/>
                                  </a:solidFill>
                                  <a:latin typeface="Cambria Math" panose="02040503050406030204" pitchFamily="18" charset="0"/>
                                </a:rPr>
                                <m:t>𝑳</m:t>
                              </m:r>
                            </m:e>
                            <m:sub>
                              <m:r>
                                <a:rPr lang="en-US" altLang="zh-CN" b="1" i="1" dirty="0" smtClean="0">
                                  <a:solidFill>
                                    <a:srgbClr val="0000FF"/>
                                  </a:solidFill>
                                  <a:latin typeface="Cambria Math" panose="02040503050406030204" pitchFamily="18" charset="0"/>
                                </a:rPr>
                                <m:t>𝟐</m:t>
                              </m:r>
                            </m:sub>
                          </m:sSub>
                        </m:oMath>
                      </m:oMathPara>
                    </a14:m>
                    <a:endParaRPr lang="en-US" b="1" dirty="0">
                      <a:solidFill>
                        <a:srgbClr val="FF0000"/>
                      </a:solidFill>
                    </a:endParaRPr>
                  </a:p>
                </p:txBody>
              </p:sp>
            </mc:Choice>
            <mc:Fallback xmlns="">
              <p:sp>
                <p:nvSpPr>
                  <p:cNvPr id="15" name="文本框 6">
                    <a:extLst>
                      <a:ext uri="{FF2B5EF4-FFF2-40B4-BE49-F238E27FC236}">
                        <a16:creationId xmlns:a16="http://schemas.microsoft.com/office/drawing/2014/main" id="{ECB0AC61-1220-4C4A-907D-D4C9F5DD2640}"/>
                      </a:ext>
                    </a:extLst>
                  </p:cNvPr>
                  <p:cNvSpPr txBox="1">
                    <a:spLocks noRot="1" noChangeAspect="1" noMove="1" noResize="1" noEditPoints="1" noAdjustHandles="1" noChangeArrowheads="1" noChangeShapeType="1" noTextEdit="1"/>
                  </p:cNvSpPr>
                  <p:nvPr/>
                </p:nvSpPr>
                <p:spPr>
                  <a:xfrm>
                    <a:off x="5312514" y="3856813"/>
                    <a:ext cx="234779" cy="461665"/>
                  </a:xfrm>
                  <a:prstGeom prst="rect">
                    <a:avLst/>
                  </a:prstGeom>
                  <a:blipFill>
                    <a:blip r:embed="rId21"/>
                    <a:stretch>
                      <a:fillRect l="-5000" r="-95000" b="-3947"/>
                    </a:stretch>
                  </a:blipFill>
                  <a:ln w="19050">
                    <a:noFill/>
                  </a:ln>
                </p:spPr>
                <p:txBody>
                  <a:bodyPr/>
                  <a:lstStyle/>
                  <a:p>
                    <a:r>
                      <a:rPr lang="zh-CN" altLang="en-US">
                        <a:noFill/>
                      </a:rPr>
                      <a:t> </a:t>
                    </a:r>
                  </a:p>
                </p:txBody>
              </p:sp>
            </mc:Fallback>
          </mc:AlternateContent>
        </p:grpSp>
      </p:gr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5C026BD-862E-4A87-AB11-117F354C4ADC}"/>
                  </a:ext>
                </a:extLst>
              </p:cNvPr>
              <p:cNvSpPr/>
              <p:nvPr/>
            </p:nvSpPr>
            <p:spPr>
              <a:xfrm>
                <a:off x="3768622" y="4645513"/>
                <a:ext cx="508473"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ea typeface="楷体" panose="02010609060101010101" pitchFamily="49" charset="-122"/>
                        </a:rPr>
                        <m:t>𝒆</m:t>
                      </m:r>
                    </m:oMath>
                  </m:oMathPara>
                </a14:m>
                <a:endParaRPr lang="zh-CN" altLang="zh-CN" b="1" kern="100" dirty="0">
                  <a:latin typeface="楷体" panose="02010609060101010101" pitchFamily="49" charset="-122"/>
                  <a:ea typeface="楷体" panose="02010609060101010101" pitchFamily="49" charset="-122"/>
                </a:endParaRPr>
              </a:p>
            </p:txBody>
          </p:sp>
        </mc:Choice>
        <mc:Fallback xmlns="">
          <p:sp>
            <p:nvSpPr>
              <p:cNvPr id="4" name="Rectangle 3">
                <a:extLst>
                  <a:ext uri="{FF2B5EF4-FFF2-40B4-BE49-F238E27FC236}">
                    <a16:creationId xmlns:a16="http://schemas.microsoft.com/office/drawing/2014/main" id="{05C026BD-862E-4A87-AB11-117F354C4ADC}"/>
                  </a:ext>
                </a:extLst>
              </p:cNvPr>
              <p:cNvSpPr>
                <a:spLocks noRot="1" noChangeAspect="1" noMove="1" noResize="1" noEditPoints="1" noAdjustHandles="1" noChangeArrowheads="1" noChangeShapeType="1" noTextEdit="1"/>
              </p:cNvSpPr>
              <p:nvPr/>
            </p:nvSpPr>
            <p:spPr>
              <a:xfrm>
                <a:off x="3768622" y="4645513"/>
                <a:ext cx="508473" cy="461665"/>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87BACA9-0C32-46B2-A7AD-2CC22280EF89}"/>
                  </a:ext>
                </a:extLst>
              </p:cNvPr>
              <p:cNvSpPr/>
              <p:nvPr/>
            </p:nvSpPr>
            <p:spPr>
              <a:xfrm>
                <a:off x="4727575" y="4645512"/>
                <a:ext cx="53892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ea typeface="楷体" panose="02010609060101010101" pitchFamily="49" charset="-122"/>
                        </a:rPr>
                        <m:t>𝒅</m:t>
                      </m:r>
                    </m:oMath>
                  </m:oMathPara>
                </a14:m>
                <a:endParaRPr lang="zh-CN" altLang="zh-CN" b="1" kern="100" dirty="0">
                  <a:latin typeface="楷体" panose="02010609060101010101" pitchFamily="49" charset="-122"/>
                  <a:ea typeface="楷体" panose="02010609060101010101" pitchFamily="49" charset="-122"/>
                </a:endParaRPr>
              </a:p>
            </p:txBody>
          </p:sp>
        </mc:Choice>
        <mc:Fallback xmlns="">
          <p:sp>
            <p:nvSpPr>
              <p:cNvPr id="5" name="Rectangle 4">
                <a:extLst>
                  <a:ext uri="{FF2B5EF4-FFF2-40B4-BE49-F238E27FC236}">
                    <a16:creationId xmlns:a16="http://schemas.microsoft.com/office/drawing/2014/main" id="{787BACA9-0C32-46B2-A7AD-2CC22280EF89}"/>
                  </a:ext>
                </a:extLst>
              </p:cNvPr>
              <p:cNvSpPr>
                <a:spLocks noRot="1" noChangeAspect="1" noMove="1" noResize="1" noEditPoints="1" noAdjustHandles="1" noChangeArrowheads="1" noChangeShapeType="1" noTextEdit="1"/>
              </p:cNvSpPr>
              <p:nvPr/>
            </p:nvSpPr>
            <p:spPr>
              <a:xfrm>
                <a:off x="4727575" y="4645512"/>
                <a:ext cx="538929" cy="461665"/>
              </a:xfrm>
              <a:prstGeom prst="rect">
                <a:avLst/>
              </a:prstGeom>
              <a:blipFill>
                <a:blip r:embed="rId23"/>
                <a:stretch>
                  <a:fillRect l="-4545"/>
                </a:stretch>
              </a:blipFill>
            </p:spPr>
            <p:txBody>
              <a:bodyPr/>
              <a:lstStyle/>
              <a:p>
                <a:r>
                  <a:rPr lang="zh-CN" altLang="en-US">
                    <a:noFill/>
                  </a:rPr>
                  <a:t> </a:t>
                </a:r>
              </a:p>
            </p:txBody>
          </p:sp>
        </mc:Fallback>
      </mc:AlternateContent>
      <p:sp>
        <p:nvSpPr>
          <p:cNvPr id="6" name="Rectangle 5">
            <a:extLst>
              <a:ext uri="{FF2B5EF4-FFF2-40B4-BE49-F238E27FC236}">
                <a16:creationId xmlns:a16="http://schemas.microsoft.com/office/drawing/2014/main" id="{1CC27BF1-F477-40C4-ACD8-804A08E41FCD}"/>
              </a:ext>
            </a:extLst>
          </p:cNvPr>
          <p:cNvSpPr/>
          <p:nvPr/>
        </p:nvSpPr>
        <p:spPr>
          <a:xfrm>
            <a:off x="5852152" y="4645511"/>
            <a:ext cx="494046" cy="461665"/>
          </a:xfrm>
          <a:prstGeom prst="rect">
            <a:avLst/>
          </a:prstGeom>
        </p:spPr>
        <p:txBody>
          <a:bodyPr wrap="none">
            <a:spAutoFit/>
          </a:bodyPr>
          <a:lstStyle/>
          <a:p>
            <a:pPr algn="ctr"/>
            <a:r>
              <a:rPr lang="zh-CN" altLang="zh-CN" b="1" kern="0" dirty="0">
                <a:ea typeface="楷体" panose="02010609060101010101" pitchFamily="49" charset="-122"/>
              </a:rPr>
              <a:t>无</a:t>
            </a:r>
            <a:endParaRPr lang="zh-CN" altLang="zh-CN" b="1" kern="100"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4E4C1AD-FF81-496A-89E7-3CE53829AC4D}"/>
                  </a:ext>
                </a:extLst>
              </p:cNvPr>
              <p:cNvSpPr/>
              <p:nvPr/>
            </p:nvSpPr>
            <p:spPr>
              <a:xfrm>
                <a:off x="7007062" y="4641684"/>
                <a:ext cx="80983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ea typeface="楷体" panose="02010609060101010101" pitchFamily="49" charset="-122"/>
                        </a:rPr>
                        <m:t>𝒃</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𝒆</m:t>
                      </m:r>
                    </m:oMath>
                  </m:oMathPara>
                </a14:m>
                <a:endParaRPr lang="zh-CN" altLang="zh-CN" b="1" kern="100" dirty="0">
                  <a:latin typeface="楷体" panose="02010609060101010101" pitchFamily="49" charset="-122"/>
                  <a:ea typeface="楷体" panose="02010609060101010101" pitchFamily="49" charset="-122"/>
                </a:endParaRPr>
              </a:p>
            </p:txBody>
          </p:sp>
        </mc:Choice>
        <mc:Fallback xmlns="">
          <p:sp>
            <p:nvSpPr>
              <p:cNvPr id="7" name="Rectangle 6">
                <a:extLst>
                  <a:ext uri="{FF2B5EF4-FFF2-40B4-BE49-F238E27FC236}">
                    <a16:creationId xmlns:a16="http://schemas.microsoft.com/office/drawing/2014/main" id="{34E4C1AD-FF81-496A-89E7-3CE53829AC4D}"/>
                  </a:ext>
                </a:extLst>
              </p:cNvPr>
              <p:cNvSpPr>
                <a:spLocks noRot="1" noChangeAspect="1" noMove="1" noResize="1" noEditPoints="1" noAdjustHandles="1" noChangeArrowheads="1" noChangeShapeType="1" noTextEdit="1"/>
              </p:cNvSpPr>
              <p:nvPr/>
            </p:nvSpPr>
            <p:spPr>
              <a:xfrm>
                <a:off x="7007062" y="4641684"/>
                <a:ext cx="809837" cy="461665"/>
              </a:xfrm>
              <a:prstGeom prst="rect">
                <a:avLst/>
              </a:prstGeom>
              <a:blipFill>
                <a:blip r:embed="rId24"/>
                <a:stretch>
                  <a:fillRect l="-22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68FD8CA2-6039-4D9E-8168-CADC64749662}"/>
                  </a:ext>
                </a:extLst>
              </p:cNvPr>
              <p:cNvSpPr/>
              <p:nvPr/>
            </p:nvSpPr>
            <p:spPr>
              <a:xfrm>
                <a:off x="8099328" y="4641684"/>
                <a:ext cx="843501"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ea typeface="楷体" panose="02010609060101010101" pitchFamily="49" charset="-122"/>
                        </a:rPr>
                        <m:t>𝒂</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𝒅</m:t>
                      </m:r>
                    </m:oMath>
                  </m:oMathPara>
                </a14:m>
                <a:endParaRPr lang="zh-CN" altLang="zh-CN" b="1" kern="100" dirty="0">
                  <a:latin typeface="楷体" panose="02010609060101010101" pitchFamily="49" charset="-122"/>
                  <a:ea typeface="楷体" panose="02010609060101010101" pitchFamily="49" charset="-122"/>
                </a:endParaRPr>
              </a:p>
            </p:txBody>
          </p:sp>
        </mc:Choice>
        <mc:Fallback xmlns="">
          <p:sp>
            <p:nvSpPr>
              <p:cNvPr id="8" name="Rectangle 7">
                <a:extLst>
                  <a:ext uri="{FF2B5EF4-FFF2-40B4-BE49-F238E27FC236}">
                    <a16:creationId xmlns:a16="http://schemas.microsoft.com/office/drawing/2014/main" id="{68FD8CA2-6039-4D9E-8168-CADC64749662}"/>
                  </a:ext>
                </a:extLst>
              </p:cNvPr>
              <p:cNvSpPr>
                <a:spLocks noRot="1" noChangeAspect="1" noMove="1" noResize="1" noEditPoints="1" noAdjustHandles="1" noChangeArrowheads="1" noChangeShapeType="1" noTextEdit="1"/>
              </p:cNvSpPr>
              <p:nvPr/>
            </p:nvSpPr>
            <p:spPr>
              <a:xfrm>
                <a:off x="8099328" y="4641684"/>
                <a:ext cx="843501" cy="461665"/>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05CA6AAE-074B-419A-A883-083AB000E7E6}"/>
                  </a:ext>
                </a:extLst>
              </p:cNvPr>
              <p:cNvSpPr/>
              <p:nvPr/>
            </p:nvSpPr>
            <p:spPr>
              <a:xfrm>
                <a:off x="3483287" y="5392197"/>
                <a:ext cx="107914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ea typeface="楷体" panose="02010609060101010101" pitchFamily="49" charset="-122"/>
                        </a:rPr>
                        <m:t>𝒃</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𝒄</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𝒆</m:t>
                      </m:r>
                    </m:oMath>
                  </m:oMathPara>
                </a14:m>
                <a:endParaRPr lang="zh-CN" altLang="zh-CN" b="1" kern="100" dirty="0">
                  <a:latin typeface="楷体" panose="02010609060101010101" pitchFamily="49" charset="-122"/>
                  <a:ea typeface="楷体" panose="02010609060101010101" pitchFamily="49" charset="-122"/>
                </a:endParaRPr>
              </a:p>
            </p:txBody>
          </p:sp>
        </mc:Choice>
        <mc:Fallback xmlns="">
          <p:sp>
            <p:nvSpPr>
              <p:cNvPr id="62" name="Rectangle 61">
                <a:extLst>
                  <a:ext uri="{FF2B5EF4-FFF2-40B4-BE49-F238E27FC236}">
                    <a16:creationId xmlns:a16="http://schemas.microsoft.com/office/drawing/2014/main" id="{05CA6AAE-074B-419A-A883-083AB000E7E6}"/>
                  </a:ext>
                </a:extLst>
              </p:cNvPr>
              <p:cNvSpPr>
                <a:spLocks noRot="1" noChangeAspect="1" noMove="1" noResize="1" noEditPoints="1" noAdjustHandles="1" noChangeArrowheads="1" noChangeShapeType="1" noTextEdit="1"/>
              </p:cNvSpPr>
              <p:nvPr/>
            </p:nvSpPr>
            <p:spPr>
              <a:xfrm>
                <a:off x="3483287" y="5392197"/>
                <a:ext cx="1079142" cy="461665"/>
              </a:xfrm>
              <a:prstGeom prst="rect">
                <a:avLst/>
              </a:prstGeom>
              <a:blipFill>
                <a:blip r:embed="rId26"/>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AD518F3F-0A51-4C04-990B-CF28F706A1B9}"/>
                  </a:ext>
                </a:extLst>
              </p:cNvPr>
              <p:cNvSpPr/>
              <p:nvPr/>
            </p:nvSpPr>
            <p:spPr>
              <a:xfrm>
                <a:off x="4440636" y="5392197"/>
                <a:ext cx="111280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ea typeface="楷体" panose="02010609060101010101" pitchFamily="49" charset="-122"/>
                        </a:rPr>
                        <m:t>𝒂</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𝒄</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𝒅</m:t>
                      </m:r>
                    </m:oMath>
                  </m:oMathPara>
                </a14:m>
                <a:endParaRPr lang="zh-CN" altLang="zh-CN" b="1" kern="100" dirty="0">
                  <a:latin typeface="楷体" panose="02010609060101010101" pitchFamily="49" charset="-122"/>
                  <a:ea typeface="楷体" panose="02010609060101010101" pitchFamily="49" charset="-122"/>
                </a:endParaRPr>
              </a:p>
            </p:txBody>
          </p:sp>
        </mc:Choice>
        <mc:Fallback xmlns="">
          <p:sp>
            <p:nvSpPr>
              <p:cNvPr id="63" name="Rectangle 62">
                <a:extLst>
                  <a:ext uri="{FF2B5EF4-FFF2-40B4-BE49-F238E27FC236}">
                    <a16:creationId xmlns:a16="http://schemas.microsoft.com/office/drawing/2014/main" id="{AD518F3F-0A51-4C04-990B-CF28F706A1B9}"/>
                  </a:ext>
                </a:extLst>
              </p:cNvPr>
              <p:cNvSpPr>
                <a:spLocks noRot="1" noChangeAspect="1" noMove="1" noResize="1" noEditPoints="1" noAdjustHandles="1" noChangeArrowheads="1" noChangeShapeType="1" noTextEdit="1"/>
              </p:cNvSpPr>
              <p:nvPr/>
            </p:nvSpPr>
            <p:spPr>
              <a:xfrm>
                <a:off x="4440636" y="5392197"/>
                <a:ext cx="1112805" cy="461665"/>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1B80F872-D0C5-43C1-B1A9-38AE7CA6C552}"/>
                  </a:ext>
                </a:extLst>
              </p:cNvPr>
              <p:cNvSpPr/>
              <p:nvPr/>
            </p:nvSpPr>
            <p:spPr>
              <a:xfrm>
                <a:off x="5519778" y="5392196"/>
                <a:ext cx="1426994"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ea typeface="楷体" panose="02010609060101010101" pitchFamily="49" charset="-122"/>
                        </a:rPr>
                        <m:t>𝒂</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𝒃</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𝒅</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𝒆</m:t>
                      </m:r>
                    </m:oMath>
                  </m:oMathPara>
                </a14:m>
                <a:endParaRPr lang="zh-CN" altLang="zh-CN" b="1" kern="100" dirty="0">
                  <a:latin typeface="楷体" panose="02010609060101010101" pitchFamily="49" charset="-122"/>
                  <a:ea typeface="楷体" panose="02010609060101010101" pitchFamily="49" charset="-122"/>
                </a:endParaRPr>
              </a:p>
            </p:txBody>
          </p:sp>
        </mc:Choice>
        <mc:Fallback xmlns="">
          <p:sp>
            <p:nvSpPr>
              <p:cNvPr id="64" name="Rectangle 63">
                <a:extLst>
                  <a:ext uri="{FF2B5EF4-FFF2-40B4-BE49-F238E27FC236}">
                    <a16:creationId xmlns:a16="http://schemas.microsoft.com/office/drawing/2014/main" id="{1B80F872-D0C5-43C1-B1A9-38AE7CA6C552}"/>
                  </a:ext>
                </a:extLst>
              </p:cNvPr>
              <p:cNvSpPr>
                <a:spLocks noRot="1" noChangeAspect="1" noMove="1" noResize="1" noEditPoints="1" noAdjustHandles="1" noChangeArrowheads="1" noChangeShapeType="1" noTextEdit="1"/>
              </p:cNvSpPr>
              <p:nvPr/>
            </p:nvSpPr>
            <p:spPr>
              <a:xfrm>
                <a:off x="5519778" y="5392196"/>
                <a:ext cx="1426994" cy="461665"/>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0703AF9A-54F0-48C4-823B-56D5A52C3165}"/>
                  </a:ext>
                </a:extLst>
              </p:cNvPr>
              <p:cNvSpPr/>
              <p:nvPr/>
            </p:nvSpPr>
            <p:spPr>
              <a:xfrm>
                <a:off x="6846754" y="5376444"/>
                <a:ext cx="107914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ea typeface="楷体" panose="02010609060101010101" pitchFamily="49" charset="-122"/>
                        </a:rPr>
                        <m:t>𝒃</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𝒄</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𝒆</m:t>
                      </m:r>
                    </m:oMath>
                  </m:oMathPara>
                </a14:m>
                <a:endParaRPr lang="zh-CN" altLang="zh-CN" b="1" kern="100" dirty="0">
                  <a:latin typeface="楷体" panose="02010609060101010101" pitchFamily="49" charset="-122"/>
                  <a:ea typeface="楷体" panose="02010609060101010101" pitchFamily="49" charset="-122"/>
                </a:endParaRPr>
              </a:p>
            </p:txBody>
          </p:sp>
        </mc:Choice>
        <mc:Fallback xmlns="">
          <p:sp>
            <p:nvSpPr>
              <p:cNvPr id="65" name="Rectangle 64">
                <a:extLst>
                  <a:ext uri="{FF2B5EF4-FFF2-40B4-BE49-F238E27FC236}">
                    <a16:creationId xmlns:a16="http://schemas.microsoft.com/office/drawing/2014/main" id="{0703AF9A-54F0-48C4-823B-56D5A52C3165}"/>
                  </a:ext>
                </a:extLst>
              </p:cNvPr>
              <p:cNvSpPr>
                <a:spLocks noRot="1" noChangeAspect="1" noMove="1" noResize="1" noEditPoints="1" noAdjustHandles="1" noChangeArrowheads="1" noChangeShapeType="1" noTextEdit="1"/>
              </p:cNvSpPr>
              <p:nvPr/>
            </p:nvSpPr>
            <p:spPr>
              <a:xfrm>
                <a:off x="6846754" y="5376444"/>
                <a:ext cx="1079142" cy="461665"/>
              </a:xfrm>
              <a:prstGeom prst="rect">
                <a:avLst/>
              </a:prstGeom>
              <a:blipFill>
                <a:blip r:embed="rId29"/>
                <a:stretch>
                  <a:fillRect l="-1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4D14723D-4A2F-4D53-8903-9BD3FD059A94}"/>
                  </a:ext>
                </a:extLst>
              </p:cNvPr>
              <p:cNvSpPr/>
              <p:nvPr/>
            </p:nvSpPr>
            <p:spPr>
              <a:xfrm>
                <a:off x="7945544" y="5401216"/>
                <a:ext cx="111280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ea typeface="楷体" panose="02010609060101010101" pitchFamily="49" charset="-122"/>
                        </a:rPr>
                        <m:t>𝒂</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𝒄</m:t>
                      </m:r>
                      <m:r>
                        <a:rPr lang="en-US" altLang="zh-CN" b="1" i="1" kern="0" dirty="0">
                          <a:latin typeface="Cambria Math" panose="02040503050406030204" pitchFamily="18" charset="0"/>
                          <a:ea typeface="楷体" panose="02010609060101010101" pitchFamily="49" charset="-122"/>
                        </a:rPr>
                        <m:t>,</m:t>
                      </m:r>
                      <m:r>
                        <a:rPr lang="en-US" altLang="zh-CN" b="1" i="1" kern="0" dirty="0">
                          <a:latin typeface="Cambria Math" panose="02040503050406030204" pitchFamily="18" charset="0"/>
                          <a:ea typeface="楷体" panose="02010609060101010101" pitchFamily="49" charset="-122"/>
                        </a:rPr>
                        <m:t>𝒅</m:t>
                      </m:r>
                    </m:oMath>
                  </m:oMathPara>
                </a14:m>
                <a:endParaRPr lang="zh-CN" altLang="zh-CN" b="1" kern="100" dirty="0">
                  <a:latin typeface="楷体" panose="02010609060101010101" pitchFamily="49" charset="-122"/>
                  <a:ea typeface="楷体" panose="02010609060101010101" pitchFamily="49" charset="-122"/>
                </a:endParaRPr>
              </a:p>
            </p:txBody>
          </p:sp>
        </mc:Choice>
        <mc:Fallback xmlns="">
          <p:sp>
            <p:nvSpPr>
              <p:cNvPr id="66" name="Rectangle 65">
                <a:extLst>
                  <a:ext uri="{FF2B5EF4-FFF2-40B4-BE49-F238E27FC236}">
                    <a16:creationId xmlns:a16="http://schemas.microsoft.com/office/drawing/2014/main" id="{4D14723D-4A2F-4D53-8903-9BD3FD059A94}"/>
                  </a:ext>
                </a:extLst>
              </p:cNvPr>
              <p:cNvSpPr>
                <a:spLocks noRot="1" noChangeAspect="1" noMove="1" noResize="1" noEditPoints="1" noAdjustHandles="1" noChangeArrowheads="1" noChangeShapeType="1" noTextEdit="1"/>
              </p:cNvSpPr>
              <p:nvPr/>
            </p:nvSpPr>
            <p:spPr>
              <a:xfrm>
                <a:off x="7945544" y="5401216"/>
                <a:ext cx="1112805" cy="461665"/>
              </a:xfrm>
              <a:prstGeom prst="rect">
                <a:avLst/>
              </a:prstGeom>
              <a:blipFill>
                <a:blip r:embed="rId30"/>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06959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4" grpId="0"/>
      <p:bldP spid="5" grpId="0"/>
      <p:bldP spid="6" grpId="0"/>
      <p:bldP spid="7" grpId="0"/>
      <p:bldP spid="8" grpId="0"/>
      <p:bldP spid="62" grpId="0"/>
      <p:bldP spid="63" grpId="0"/>
      <p:bldP spid="64" grpId="0"/>
      <p:bldP spid="65" grpId="0"/>
      <p:bldP spid="6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1F8ABF-D78C-458B-96A0-E97E19D66780}"/>
              </a:ext>
            </a:extLst>
          </p:cNvPr>
          <p:cNvSpPr>
            <a:spLocks noGrp="1"/>
          </p:cNvSpPr>
          <p:nvPr>
            <p:ph type="title"/>
          </p:nvPr>
        </p:nvSpPr>
        <p:spPr/>
        <p:txBody>
          <a:bodyPr/>
          <a:lstStyle/>
          <a:p>
            <a:r>
              <a:rPr lang="zh-CN" altLang="en-US" dirty="0"/>
              <a:t>补元的求解</a:t>
            </a:r>
          </a:p>
        </p:txBody>
      </p:sp>
      <p:sp>
        <p:nvSpPr>
          <p:cNvPr id="4" name="文本框 2">
            <a:extLst>
              <a:ext uri="{FF2B5EF4-FFF2-40B4-BE49-F238E27FC236}">
                <a16:creationId xmlns:a16="http://schemas.microsoft.com/office/drawing/2014/main" id="{4B114B95-2208-405B-9D34-232527A4E3B8}"/>
              </a:ext>
            </a:extLst>
          </p:cNvPr>
          <p:cNvSpPr txBox="1">
            <a:spLocks noGrp="1" noChangeArrowheads="1"/>
          </p:cNvSpPr>
          <p:nvPr>
            <p:ph idx="1"/>
          </p:nvPr>
        </p:nvSpPr>
        <p:spPr bwMode="auto">
          <a:xfrm>
            <a:off x="1298575" y="1643471"/>
            <a:ext cx="8153400" cy="3572645"/>
          </a:xfrm>
          <a:prstGeom prst="rect">
            <a:avLst/>
          </a:prstGeom>
          <a:solidFill>
            <a:schemeClr val="bg1">
              <a:lumMod val="85000"/>
            </a:schemeClr>
          </a:solidFill>
          <a:ln w="9525">
            <a:solidFill>
              <a:srgbClr val="000000"/>
            </a:solidFill>
            <a:miter lim="800000"/>
            <a:headEnd/>
            <a:tailEnd/>
          </a:ln>
        </p:spPr>
        <p:txBody>
          <a:bodyPr rot="0" vert="horz" wrap="square" lIns="91440" tIns="45720" rIns="91440" bIns="45720" anchor="t" anchorCtr="0">
            <a:spAutoFit/>
          </a:bodyPr>
          <a:lstStyle/>
          <a:p>
            <a:pPr marL="0" indent="0" algn="just">
              <a:lnSpc>
                <a:spcPct val="150000"/>
              </a:lnSpc>
              <a:buNone/>
            </a:pPr>
            <a:r>
              <a:rPr lang="zh-CN" kern="100" dirty="0">
                <a:solidFill>
                  <a:srgbClr val="CC00CC"/>
                </a:solidFill>
                <a:effectLst/>
                <a:latin typeface="华文行楷" panose="02010800040101010101" pitchFamily="2" charset="-122"/>
                <a:ea typeface="华文行楷" panose="02010800040101010101" pitchFamily="2" charset="-122"/>
                <a:cs typeface="宋体" panose="02010600030101010101" pitchFamily="2" charset="-122"/>
              </a:rPr>
              <a:t>解题小贴士</a:t>
            </a:r>
            <a:endParaRPr lang="en-US" altLang="zh-CN" kern="100" dirty="0">
              <a:solidFill>
                <a:srgbClr val="CC00CC"/>
              </a:solidFill>
              <a:effectLst/>
              <a:latin typeface="华文行楷" panose="02010800040101010101" pitchFamily="2" charset="-122"/>
              <a:ea typeface="华文行楷" panose="02010800040101010101" pitchFamily="2" charset="-122"/>
              <a:cs typeface="宋体" panose="02010600030101010101" pitchFamily="2" charset="-122"/>
            </a:endParaRPr>
          </a:p>
          <a:p>
            <a:pPr marL="0" indent="0" algn="just">
              <a:lnSpc>
                <a:spcPct val="150000"/>
              </a:lnSpc>
              <a:buNone/>
            </a:pPr>
            <a:r>
              <a:rPr lang="en-US" altLang="zh-CN" kern="100" dirty="0">
                <a:latin typeface="+mn-ea"/>
              </a:rPr>
              <a:t>                   </a:t>
            </a:r>
            <a:r>
              <a:rPr lang="zh-CN" altLang="zh-CN" kern="100" dirty="0">
                <a:solidFill>
                  <a:srgbClr val="0000FF"/>
                </a:solidFill>
                <a:latin typeface="+mn-ea"/>
              </a:rPr>
              <a:t>通过哈斯图计算补元的方法</a:t>
            </a:r>
          </a:p>
          <a:p>
            <a:pPr marL="0" indent="0" algn="just">
              <a:lnSpc>
                <a:spcPct val="150000"/>
              </a:lnSpc>
              <a:buNone/>
            </a:pPr>
            <a:r>
              <a:rPr lang="zh-CN" altLang="zh-CN" kern="100" dirty="0">
                <a:latin typeface="+mn-ea"/>
              </a:rPr>
              <a:t>（</a:t>
            </a:r>
            <a:r>
              <a:rPr lang="en-US" altLang="zh-CN" kern="100" dirty="0">
                <a:latin typeface="+mn-ea"/>
              </a:rPr>
              <a:t>1</a:t>
            </a:r>
            <a:r>
              <a:rPr lang="zh-CN" altLang="zh-CN" kern="100" dirty="0">
                <a:latin typeface="+mn-ea"/>
              </a:rPr>
              <a:t>）</a:t>
            </a:r>
            <a:r>
              <a:rPr lang="en-US" altLang="zh-CN" kern="100" dirty="0">
                <a:latin typeface="+mn-ea"/>
              </a:rPr>
              <a:t>0</a:t>
            </a:r>
            <a:r>
              <a:rPr lang="zh-CN" altLang="zh-CN" kern="100" dirty="0">
                <a:latin typeface="+mn-ea"/>
              </a:rPr>
              <a:t>和</a:t>
            </a:r>
            <a:r>
              <a:rPr lang="en-US" altLang="zh-CN" kern="100" dirty="0">
                <a:latin typeface="+mn-ea"/>
              </a:rPr>
              <a:t>1</a:t>
            </a:r>
            <a:r>
              <a:rPr lang="zh-CN" altLang="zh-CN" kern="100" dirty="0">
                <a:latin typeface="+mn-ea"/>
              </a:rPr>
              <a:t>互为补元。</a:t>
            </a:r>
          </a:p>
          <a:p>
            <a:pPr marL="0" indent="0">
              <a:lnSpc>
                <a:spcPct val="150000"/>
              </a:lnSpc>
              <a:buNone/>
            </a:pPr>
            <a:r>
              <a:rPr lang="zh-CN" altLang="zh-CN" kern="100" dirty="0">
                <a:latin typeface="+mn-ea"/>
              </a:rPr>
              <a:t>（</a:t>
            </a:r>
            <a:r>
              <a:rPr lang="en-US" altLang="zh-CN" kern="100" dirty="0">
                <a:latin typeface="+mn-ea"/>
              </a:rPr>
              <a:t>2</a:t>
            </a:r>
            <a:r>
              <a:rPr lang="zh-CN" altLang="zh-CN" kern="100" dirty="0">
                <a:latin typeface="+mn-ea"/>
              </a:rPr>
              <a:t>）除</a:t>
            </a:r>
            <a:r>
              <a:rPr lang="en-US" altLang="zh-CN" kern="100" dirty="0">
                <a:latin typeface="+mn-ea"/>
              </a:rPr>
              <a:t>0</a:t>
            </a:r>
            <a:r>
              <a:rPr lang="zh-CN" altLang="zh-CN" kern="100" dirty="0">
                <a:latin typeface="+mn-ea"/>
              </a:rPr>
              <a:t>和</a:t>
            </a:r>
            <a:r>
              <a:rPr lang="en-US" altLang="zh-CN" kern="100" dirty="0">
                <a:latin typeface="+mn-ea"/>
              </a:rPr>
              <a:t>1</a:t>
            </a:r>
            <a:r>
              <a:rPr lang="zh-CN" altLang="zh-CN" kern="100" dirty="0">
                <a:latin typeface="+mn-ea"/>
              </a:rPr>
              <a:t>外，可比的两个元素不可能存在补元关系，即他们不在同一条链上。所以只要验证与所求元素不在同一条链的元素就可以了（即不可比的元素才有可能</a:t>
            </a:r>
            <a:r>
              <a:rPr lang="zh-CN" altLang="en-US" kern="100" dirty="0">
                <a:latin typeface="+mn-ea"/>
              </a:rPr>
              <a:t>为补元</a:t>
            </a:r>
            <a:r>
              <a:rPr lang="zh-CN" altLang="zh-CN" kern="100" dirty="0">
                <a:latin typeface="+mn-ea"/>
              </a:rPr>
              <a:t>）。</a:t>
            </a:r>
            <a:endParaRPr lang="zh-CN" altLang="en-US" kern="100" dirty="0">
              <a:latin typeface="+mn-ea"/>
            </a:endParaRPr>
          </a:p>
        </p:txBody>
      </p:sp>
    </p:spTree>
    <p:extLst>
      <p:ext uri="{BB962C8B-B14F-4D97-AF65-F5344CB8AC3E}">
        <p14:creationId xmlns:p14="http://schemas.microsoft.com/office/powerpoint/2010/main" val="16251681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6C11CB-F286-4076-8601-45F262734216}"/>
              </a:ext>
            </a:extLst>
          </p:cNvPr>
          <p:cNvSpPr>
            <a:spLocks noGrp="1"/>
          </p:cNvSpPr>
          <p:nvPr>
            <p:ph type="title"/>
          </p:nvPr>
        </p:nvSpPr>
        <p:spPr/>
        <p:txBody>
          <a:bodyPr/>
          <a:lstStyle/>
          <a:p>
            <a:r>
              <a:rPr lang="zh-CN" altLang="en-US" dirty="0"/>
              <a:t>补元和有补格</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23BC354-94B6-4C3C-841E-8801BB7E27D2}"/>
                  </a:ext>
                </a:extLst>
              </p:cNvPr>
              <p:cNvSpPr>
                <a:spLocks noGrp="1"/>
              </p:cNvSpPr>
              <p:nvPr>
                <p:ph idx="1"/>
              </p:nvPr>
            </p:nvSpPr>
            <p:spPr>
              <a:xfrm>
                <a:off x="516977" y="970107"/>
                <a:ext cx="11049000" cy="707087"/>
              </a:xfrm>
            </p:spPr>
            <p:txBody>
              <a:bodyPr>
                <a:noAutofit/>
              </a:bodyPr>
              <a:lstStyle/>
              <a:p>
                <a:pPr marL="0" indent="0" algn="just">
                  <a:lnSpc>
                    <a:spcPct val="130000"/>
                  </a:lnSpc>
                  <a:buNone/>
                </a:pPr>
                <a:r>
                  <a:rPr lang="zh-CN" altLang="zh-CN" kern="1100" dirty="0">
                    <a:solidFill>
                      <a:srgbClr val="0000FF"/>
                    </a:solidFill>
                    <a:effectLst/>
                    <a:latin typeface="+mn-ea"/>
                  </a:rPr>
                  <a:t>定理</a:t>
                </a:r>
                <a:r>
                  <a:rPr lang="en-US" altLang="zh-CN" kern="1100" dirty="0">
                    <a:solidFill>
                      <a:srgbClr val="0000FF"/>
                    </a:solidFill>
                    <a:effectLst/>
                    <a:latin typeface="+mn-ea"/>
                  </a:rPr>
                  <a:t>10.9 </a:t>
                </a:r>
                <a:r>
                  <a:rPr lang="en-US" altLang="zh-CN" kern="100" dirty="0">
                    <a:solidFill>
                      <a:srgbClr val="0000FF"/>
                    </a:solidFill>
                    <a:effectLst/>
                    <a:latin typeface="+mn-ea"/>
                  </a:rPr>
                  <a:t>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是一个有界分配格，则</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的任意一个有补元的补元必是</a:t>
                </a:r>
                <a:r>
                  <a:rPr lang="zh-CN" altLang="en-US" kern="100" dirty="0">
                    <a:effectLst/>
                    <a:latin typeface="+mn-ea"/>
                  </a:rPr>
                  <a:t>唯一</a:t>
                </a:r>
                <a:r>
                  <a:rPr lang="zh-CN" altLang="zh-CN" kern="100" dirty="0">
                    <a:effectLst/>
                    <a:latin typeface="+mn-ea"/>
                  </a:rPr>
                  <a:t>的。</a:t>
                </a:r>
              </a:p>
            </p:txBody>
          </p:sp>
        </mc:Choice>
        <mc:Fallback xmlns="">
          <p:sp>
            <p:nvSpPr>
              <p:cNvPr id="3" name="内容占位符 2">
                <a:extLst>
                  <a:ext uri="{FF2B5EF4-FFF2-40B4-BE49-F238E27FC236}">
                    <a16:creationId xmlns:a16="http://schemas.microsoft.com/office/drawing/2014/main" id="{923BC354-94B6-4C3C-841E-8801BB7E27D2}"/>
                  </a:ext>
                </a:extLst>
              </p:cNvPr>
              <p:cNvSpPr>
                <a:spLocks noGrp="1" noRot="1" noChangeAspect="1" noMove="1" noResize="1" noEditPoints="1" noAdjustHandles="1" noChangeArrowheads="1" noChangeShapeType="1" noTextEdit="1"/>
              </p:cNvSpPr>
              <p:nvPr>
                <p:ph idx="1"/>
              </p:nvPr>
            </p:nvSpPr>
            <p:spPr>
              <a:xfrm>
                <a:off x="516977" y="970107"/>
                <a:ext cx="11049000" cy="707087"/>
              </a:xfrm>
              <a:blipFill>
                <a:blip r:embed="rId5"/>
                <a:stretch>
                  <a:fillRect l="-6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154C6F9-08E6-45DC-895B-457AD85E6AC5}"/>
                  </a:ext>
                </a:extLst>
              </p:cNvPr>
              <p:cNvSpPr txBox="1"/>
              <p:nvPr/>
            </p:nvSpPr>
            <p:spPr>
              <a:xfrm>
                <a:off x="609918" y="3734594"/>
                <a:ext cx="10863118" cy="525657"/>
              </a:xfrm>
              <a:prstGeom prst="rect">
                <a:avLst/>
              </a:prstGeom>
              <a:noFill/>
            </p:spPr>
            <p:txBody>
              <a:bodyPr wrap="square">
                <a:spAutoFit/>
              </a:bodyPr>
              <a:lstStyle/>
              <a:p>
                <a:pPr>
                  <a:lnSpc>
                    <a:spcPct val="130000"/>
                  </a:lnSpc>
                </a:pPr>
                <a:r>
                  <a:rPr lang="zh-CN" altLang="zh-CN" b="1" kern="1100" dirty="0">
                    <a:solidFill>
                      <a:srgbClr val="0000FF"/>
                    </a:solidFill>
                    <a:effectLst/>
                    <a:latin typeface="+mn-ea"/>
                    <a:cs typeface="Times New Roman" panose="02020603050405020304" pitchFamily="18" charset="0"/>
                  </a:rPr>
                  <a:t>推论</a:t>
                </a:r>
                <a:r>
                  <a:rPr lang="en-US" altLang="zh-CN" b="1" kern="1100" dirty="0">
                    <a:solidFill>
                      <a:srgbClr val="0000FF"/>
                    </a:solidFill>
                    <a:effectLst/>
                    <a:latin typeface="+mn-ea"/>
                  </a:rPr>
                  <a:t>10.1 </a:t>
                </a:r>
                <a:r>
                  <a:rPr lang="en-US" altLang="zh-CN" b="1" dirty="0">
                    <a:solidFill>
                      <a:srgbClr val="0000FF"/>
                    </a:solidFill>
                    <a:effectLst/>
                    <a:latin typeface="+mn-ea"/>
                  </a:rPr>
                  <a:t> </a:t>
                </a:r>
                <a:r>
                  <a:rPr lang="zh-CN" altLang="zh-CN" b="1" dirty="0">
                    <a:effectLst/>
                    <a:latin typeface="+mn-ea"/>
                    <a:cs typeface="Times New Roman" panose="02020603050405020304" pitchFamily="18" charset="0"/>
                  </a:rPr>
                  <a:t>设</a:t>
                </a:r>
                <a14:m>
                  <m:oMath xmlns:m="http://schemas.openxmlformats.org/officeDocument/2006/math">
                    <m:r>
                      <a:rPr lang="en-US" altLang="zh-CN" b="1" i="1" dirty="0" smtClean="0">
                        <a:effectLst/>
                        <a:latin typeface="Cambria Math" panose="02040503050406030204" pitchFamily="18" charset="0"/>
                      </a:rPr>
                      <m:t>𝑳</m:t>
                    </m:r>
                  </m:oMath>
                </a14:m>
                <a:r>
                  <a:rPr lang="zh-CN" altLang="zh-CN" b="1" dirty="0">
                    <a:effectLst/>
                    <a:latin typeface="+mn-ea"/>
                    <a:cs typeface="Times New Roman" panose="02020603050405020304" pitchFamily="18" charset="0"/>
                  </a:rPr>
                  <a:t>是一个有补分配格，则</a:t>
                </a:r>
                <a14:m>
                  <m:oMath xmlns:m="http://schemas.openxmlformats.org/officeDocument/2006/math">
                    <m:r>
                      <a:rPr lang="en-US" altLang="zh-CN" b="1" i="1" dirty="0" smtClean="0">
                        <a:effectLst/>
                        <a:latin typeface="Cambria Math" panose="02040503050406030204" pitchFamily="18" charset="0"/>
                      </a:rPr>
                      <m:t>𝑳</m:t>
                    </m:r>
                  </m:oMath>
                </a14:m>
                <a:r>
                  <a:rPr lang="zh-CN" altLang="zh-CN" b="1" dirty="0">
                    <a:effectLst/>
                    <a:latin typeface="+mn-ea"/>
                    <a:cs typeface="Times New Roman" panose="02020603050405020304" pitchFamily="18" charset="0"/>
                  </a:rPr>
                  <a:t>中每个元素都存在</a:t>
                </a:r>
                <a:r>
                  <a:rPr lang="zh-CN" altLang="en-US" b="1" dirty="0">
                    <a:latin typeface="+mn-ea"/>
                    <a:cs typeface="Times New Roman" panose="02020603050405020304" pitchFamily="18" charset="0"/>
                  </a:rPr>
                  <a:t>唯一</a:t>
                </a:r>
                <a:r>
                  <a:rPr lang="zh-CN" altLang="zh-CN" b="1" dirty="0">
                    <a:effectLst/>
                    <a:latin typeface="+mn-ea"/>
                    <a:cs typeface="Times New Roman" panose="02020603050405020304" pitchFamily="18" charset="0"/>
                  </a:rPr>
                  <a:t>的补元。</a:t>
                </a:r>
                <a:endParaRPr lang="zh-CN" altLang="en-US" b="1" dirty="0">
                  <a:latin typeface="+mn-ea"/>
                </a:endParaRPr>
              </a:p>
            </p:txBody>
          </p:sp>
        </mc:Choice>
        <mc:Fallback xmlns="">
          <p:sp>
            <p:nvSpPr>
              <p:cNvPr id="5" name="文本框 4">
                <a:extLst>
                  <a:ext uri="{FF2B5EF4-FFF2-40B4-BE49-F238E27FC236}">
                    <a16:creationId xmlns:a16="http://schemas.microsoft.com/office/drawing/2014/main" id="{B154C6F9-08E6-45DC-895B-457AD85E6AC5}"/>
                  </a:ext>
                </a:extLst>
              </p:cNvPr>
              <p:cNvSpPr txBox="1">
                <a:spLocks noRot="1" noChangeAspect="1" noMove="1" noResize="1" noEditPoints="1" noAdjustHandles="1" noChangeArrowheads="1" noChangeShapeType="1" noTextEdit="1"/>
              </p:cNvSpPr>
              <p:nvPr/>
            </p:nvSpPr>
            <p:spPr>
              <a:xfrm>
                <a:off x="609918" y="3734594"/>
                <a:ext cx="10863118" cy="525657"/>
              </a:xfrm>
              <a:prstGeom prst="rect">
                <a:avLst/>
              </a:prstGeom>
              <a:blipFill>
                <a:blip r:embed="rId6"/>
                <a:stretch>
                  <a:fillRect l="-842" b="-267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EED931D-786E-459C-944F-083A75DD2151}"/>
                  </a:ext>
                </a:extLst>
              </p:cNvPr>
              <p:cNvSpPr txBox="1"/>
              <p:nvPr/>
            </p:nvSpPr>
            <p:spPr>
              <a:xfrm>
                <a:off x="575495" y="1744901"/>
                <a:ext cx="10936461" cy="1689052"/>
              </a:xfrm>
              <a:prstGeom prst="rect">
                <a:avLst/>
              </a:prstGeom>
              <a:solidFill>
                <a:schemeClr val="accent2">
                  <a:lumMod val="20000"/>
                  <a:lumOff val="80000"/>
                </a:schemeClr>
              </a:solidFill>
            </p:spPr>
            <p:txBody>
              <a:bodyPr wrap="square">
                <a:spAutoFit/>
              </a:bodyPr>
              <a:lstStyle/>
              <a:p>
                <a:pPr algn="just">
                  <a:lnSpc>
                    <a:spcPct val="150000"/>
                  </a:lnSpc>
                </a:pPr>
                <a:r>
                  <a:rPr lang="zh-CN" altLang="zh-CN" b="1" kern="1100" dirty="0">
                    <a:solidFill>
                      <a:srgbClr val="FF0000"/>
                    </a:solidFill>
                    <a:effectLst/>
                    <a:latin typeface="+mn-ea"/>
                  </a:rPr>
                  <a:t>证明</a:t>
                </a:r>
                <a:r>
                  <a:rPr lang="zh-CN" altLang="zh-CN" b="1" kern="1100" dirty="0">
                    <a:solidFill>
                      <a:srgbClr val="000000"/>
                    </a:solidFill>
                    <a:effectLst/>
                    <a:latin typeface="+mn-ea"/>
                  </a:rPr>
                  <a:t>  利用反证法，</a:t>
                </a:r>
                <a:r>
                  <a:rPr lang="zh-CN" altLang="zh-CN" b="1"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𝑳</m:t>
                    </m:r>
                  </m:oMath>
                </a14:m>
                <a:r>
                  <a:rPr lang="zh-CN" altLang="zh-CN" b="1" kern="100" dirty="0">
                    <a:effectLst/>
                    <a:latin typeface="+mn-ea"/>
                  </a:rPr>
                  <a:t>是有补元且有两个补元</a:t>
                </a:r>
                <a14:m>
                  <m:oMath xmlns:m="http://schemas.openxmlformats.org/officeDocument/2006/math">
                    <m:r>
                      <a:rPr lang="en-US" altLang="zh-CN" b="1" i="1" kern="100" dirty="0" smtClean="0">
                        <a:effectLst/>
                        <a:latin typeface="Cambria Math" panose="02040503050406030204" pitchFamily="18" charset="0"/>
                      </a:rPr>
                      <m:t>𝒃</m:t>
                    </m:r>
                  </m:oMath>
                </a14:m>
                <a:r>
                  <a:rPr lang="zh-CN" altLang="zh-CN" b="1" kern="100" dirty="0">
                    <a:effectLst/>
                    <a:latin typeface="+mn-ea"/>
                  </a:rPr>
                  <a:t>和</a:t>
                </a:r>
                <a14:m>
                  <m:oMath xmlns:m="http://schemas.openxmlformats.org/officeDocument/2006/math">
                    <m:r>
                      <a:rPr lang="en-US" altLang="zh-CN" b="1" i="1" kern="100" dirty="0" smtClean="0">
                        <a:effectLst/>
                        <a:latin typeface="Cambria Math" panose="02040503050406030204" pitchFamily="18" charset="0"/>
                      </a:rPr>
                      <m:t>𝒄</m:t>
                    </m:r>
                  </m:oMath>
                </a14:m>
                <a:r>
                  <a:rPr lang="zh-CN" altLang="zh-CN" b="1" kern="100" dirty="0">
                    <a:effectLst/>
                    <a:latin typeface="+mn-ea"/>
                  </a:rPr>
                  <a:t>，由补元的定义知</a:t>
                </a:r>
              </a:p>
              <a:p>
                <a:pPr algn="ctr">
                  <a:lnSpc>
                    <a:spcPct val="150000"/>
                  </a:lnSpc>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𝟎</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𝟏</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oMath>
                  </m:oMathPara>
                </a14:m>
                <a:endParaRPr lang="zh-CN" altLang="zh-CN" b="1" kern="100" dirty="0">
                  <a:effectLst/>
                  <a:latin typeface="+mn-ea"/>
                </a:endParaRPr>
              </a:p>
              <a:p>
                <a:pPr algn="just">
                  <a:lnSpc>
                    <a:spcPct val="150000"/>
                  </a:lnSpc>
                </a:pPr>
                <a:r>
                  <a:rPr lang="zh-CN" altLang="zh-CN" b="1" kern="100" dirty="0">
                    <a:effectLst/>
                    <a:latin typeface="+mn-ea"/>
                  </a:rPr>
                  <a:t>由于分配格满足消去律，则有</a:t>
                </a:r>
                <a14:m>
                  <m:oMath xmlns:m="http://schemas.openxmlformats.org/officeDocument/2006/math">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𝒄</m:t>
                    </m:r>
                  </m:oMath>
                </a14:m>
                <a:r>
                  <a:rPr lang="zh-CN" altLang="zh-CN" b="1" kern="100" dirty="0">
                    <a:effectLst/>
                    <a:latin typeface="+mn-ea"/>
                  </a:rPr>
                  <a:t>。可知</a:t>
                </a:r>
                <a14:m>
                  <m:oMath xmlns:m="http://schemas.openxmlformats.org/officeDocument/2006/math">
                    <m:r>
                      <a:rPr lang="en-US" altLang="zh-CN" b="1" i="1" kern="100" dirty="0" smtClean="0">
                        <a:effectLst/>
                        <a:latin typeface="Cambria Math" panose="02040503050406030204" pitchFamily="18" charset="0"/>
                      </a:rPr>
                      <m:t>𝒂</m:t>
                    </m:r>
                  </m:oMath>
                </a14:m>
                <a:r>
                  <a:rPr lang="zh-CN" altLang="zh-CN" b="1" kern="100" dirty="0">
                    <a:effectLst/>
                    <a:latin typeface="+mn-ea"/>
                  </a:rPr>
                  <a:t>的补元必然是</a:t>
                </a:r>
                <a:r>
                  <a:rPr lang="zh-CN" altLang="en-US" b="1" kern="100" dirty="0">
                    <a:effectLst/>
                    <a:latin typeface="+mn-ea"/>
                  </a:rPr>
                  <a:t>唯一</a:t>
                </a:r>
                <a:r>
                  <a:rPr lang="zh-CN" altLang="zh-CN" b="1" kern="100" dirty="0">
                    <a:effectLst/>
                    <a:latin typeface="+mn-ea"/>
                  </a:rPr>
                  <a:t>的。</a:t>
                </a:r>
              </a:p>
            </p:txBody>
          </p:sp>
        </mc:Choice>
        <mc:Fallback xmlns="">
          <p:sp>
            <p:nvSpPr>
              <p:cNvPr id="7" name="文本框 6">
                <a:extLst>
                  <a:ext uri="{FF2B5EF4-FFF2-40B4-BE49-F238E27FC236}">
                    <a16:creationId xmlns:a16="http://schemas.microsoft.com/office/drawing/2014/main" id="{BEED931D-786E-459C-944F-083A75DD2151}"/>
                  </a:ext>
                </a:extLst>
              </p:cNvPr>
              <p:cNvSpPr txBox="1">
                <a:spLocks noRot="1" noChangeAspect="1" noMove="1" noResize="1" noEditPoints="1" noAdjustHandles="1" noChangeArrowheads="1" noChangeShapeType="1" noTextEdit="1"/>
              </p:cNvSpPr>
              <p:nvPr/>
            </p:nvSpPr>
            <p:spPr>
              <a:xfrm>
                <a:off x="575495" y="1744901"/>
                <a:ext cx="10936461" cy="1689052"/>
              </a:xfrm>
              <a:prstGeom prst="rect">
                <a:avLst/>
              </a:prstGeom>
              <a:blipFill>
                <a:blip r:embed="rId7"/>
                <a:stretch>
                  <a:fillRect l="-836" b="-758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99242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build="p"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648D47-3A8A-4A9F-AB64-233E6E6F202D}"/>
              </a:ext>
            </a:extLst>
          </p:cNvPr>
          <p:cNvSpPr>
            <a:spLocks noGrp="1"/>
          </p:cNvSpPr>
          <p:nvPr>
            <p:ph type="title"/>
          </p:nvPr>
        </p:nvSpPr>
        <p:spPr/>
        <p:txBody>
          <a:bodyPr/>
          <a:lstStyle/>
          <a:p>
            <a:r>
              <a:rPr lang="zh-CN" altLang="en-US" dirty="0"/>
              <a:t>有补分配格</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736FB53-76E5-459D-941F-64CC6320E548}"/>
                  </a:ext>
                </a:extLst>
              </p:cNvPr>
              <p:cNvSpPr>
                <a:spLocks noGrp="1"/>
              </p:cNvSpPr>
              <p:nvPr>
                <p:ph idx="1"/>
              </p:nvPr>
            </p:nvSpPr>
            <p:spPr>
              <a:xfrm>
                <a:off x="231775" y="877418"/>
                <a:ext cx="11658600" cy="1905000"/>
              </a:xfrm>
            </p:spPr>
            <p:txBody>
              <a:bodyPr>
                <a:noAutofit/>
              </a:bodyPr>
              <a:lstStyle/>
              <a:p>
                <a:pPr marL="0" indent="0" algn="just">
                  <a:lnSpc>
                    <a:spcPct val="130000"/>
                  </a:lnSpc>
                  <a:buNone/>
                </a:pPr>
                <a:r>
                  <a:rPr lang="zh-CN" altLang="zh-CN" kern="1100" dirty="0">
                    <a:solidFill>
                      <a:srgbClr val="0000FF"/>
                    </a:solidFill>
                    <a:effectLst/>
                    <a:latin typeface="+mn-ea"/>
                  </a:rPr>
                  <a:t>定理</a:t>
                </a:r>
                <a:r>
                  <a:rPr lang="en-US" altLang="zh-CN" kern="1100" dirty="0">
                    <a:solidFill>
                      <a:srgbClr val="0000FF"/>
                    </a:solidFill>
                    <a:effectLst/>
                    <a:latin typeface="+mn-ea"/>
                  </a:rPr>
                  <a:t>10.10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是有补分配格，则对任意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err="1">
                        <a:effectLst/>
                        <a:latin typeface="Cambria Math" panose="02040503050406030204" pitchFamily="18" charset="0"/>
                      </a:rPr>
                      <m:t>𝒃</m:t>
                    </m:r>
                    <m:r>
                      <a:rPr lang="en-US" altLang="zh-CN" b="1" i="1" kern="100" dirty="0" err="1">
                        <a:effectLst/>
                        <a:latin typeface="Cambria Math" panose="02040503050406030204" pitchFamily="18" charset="0"/>
                        <a:cs typeface="Cambria Math" panose="02040503050406030204" pitchFamily="18" charset="0"/>
                      </a:rPr>
                      <m:t>∈</m:t>
                    </m:r>
                    <m:r>
                      <a:rPr lang="en-US" altLang="zh-CN" b="1" i="1" kern="100" dirty="0" err="1">
                        <a:effectLst/>
                        <a:latin typeface="Cambria Math" panose="02040503050406030204" pitchFamily="18" charset="0"/>
                      </a:rPr>
                      <m:t>𝑳</m:t>
                    </m:r>
                  </m:oMath>
                </a14:m>
                <a:r>
                  <a:rPr lang="zh-CN" altLang="zh-CN" kern="100" dirty="0">
                    <a:effectLst/>
                    <a:latin typeface="+mn-ea"/>
                  </a:rPr>
                  <a:t>，都有</a:t>
                </a:r>
              </a:p>
              <a:p>
                <a:pPr indent="0" algn="just">
                  <a:lnSpc>
                    <a:spcPct val="130000"/>
                  </a:lnSpc>
                  <a:buNone/>
                </a:pPr>
                <a:r>
                  <a:rPr lang="zh-CN" altLang="zh-CN" kern="100" dirty="0">
                    <a:effectLst/>
                    <a:latin typeface="+mn-ea"/>
                  </a:rPr>
                  <a:t>（</a:t>
                </a:r>
                <a:r>
                  <a:rPr lang="en-US" altLang="zh-CN" kern="100" dirty="0">
                    <a:effectLst/>
                    <a:latin typeface="+mn-ea"/>
                  </a:rPr>
                  <a:t>1</a:t>
                </a:r>
                <a:r>
                  <a:rPr lang="zh-CN" altLang="zh-CN" kern="100" dirty="0">
                    <a:effectLst/>
                    <a:latin typeface="+mn-ea"/>
                  </a:rPr>
                  <a:t>）</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𝒂</m:t>
                    </m:r>
                  </m:oMath>
                </a14:m>
                <a:r>
                  <a:rPr lang="zh-CN" altLang="zh-CN" kern="100" dirty="0">
                    <a:effectLst/>
                    <a:latin typeface="+mn-ea"/>
                  </a:rPr>
                  <a:t>；</a:t>
                </a:r>
                <a:r>
                  <a:rPr lang="en-US" altLang="zh-CN" kern="100" dirty="0">
                    <a:effectLst/>
                    <a:latin typeface="+mn-ea"/>
                  </a:rPr>
                  <a:t>			            (</a:t>
                </a:r>
                <a:r>
                  <a:rPr lang="zh-CN" altLang="zh-CN" kern="100" dirty="0">
                    <a:effectLst/>
                    <a:latin typeface="+mn-ea"/>
                  </a:rPr>
                  <a:t>对合律</a:t>
                </a:r>
                <a:r>
                  <a:rPr lang="en-US" altLang="zh-CN" kern="100" dirty="0">
                    <a:effectLst/>
                    <a:latin typeface="+mn-ea"/>
                  </a:rPr>
                  <a:t>/</a:t>
                </a:r>
                <a:r>
                  <a:rPr lang="zh-CN" altLang="zh-CN" kern="100" dirty="0">
                    <a:effectLst/>
                    <a:latin typeface="+mn-ea"/>
                  </a:rPr>
                  <a:t>双重否定律</a:t>
                </a:r>
                <a:r>
                  <a:rPr lang="en-US" altLang="zh-CN" kern="100" dirty="0">
                    <a:effectLst/>
                    <a:latin typeface="+mn-ea"/>
                  </a:rPr>
                  <a:t>)</a:t>
                </a:r>
                <a:endParaRPr lang="zh-CN" altLang="zh-CN" kern="100" dirty="0">
                  <a:effectLst/>
                  <a:latin typeface="+mn-ea"/>
                </a:endParaRPr>
              </a:p>
              <a:p>
                <a:pPr indent="0" algn="just">
                  <a:lnSpc>
                    <a:spcPct val="130000"/>
                  </a:lnSpc>
                  <a:buNone/>
                </a:pPr>
                <a:r>
                  <a:rPr lang="zh-CN" altLang="zh-CN" kern="100" dirty="0">
                    <a:effectLst/>
                    <a:latin typeface="+mn-ea"/>
                  </a:rPr>
                  <a:t>（</a:t>
                </a:r>
                <a:r>
                  <a:rPr lang="en-US" altLang="zh-CN" kern="100" dirty="0">
                    <a:effectLst/>
                    <a:latin typeface="+mn-ea"/>
                  </a:rPr>
                  <a:t>2</a:t>
                </a:r>
                <a:r>
                  <a:rPr lang="zh-CN" altLang="zh-CN" kern="100" dirty="0">
                    <a:effectLst/>
                    <a:latin typeface="+mn-ea"/>
                  </a:rPr>
                  <a:t>）</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en-US" altLang="zh-CN" i="1" kern="100" dirty="0">
                        <a:latin typeface="Cambria Math" panose="02040503050406030204" pitchFamily="18" charset="0"/>
                      </a:rPr>
                      <m:t>′</m:t>
                    </m:r>
                  </m:oMath>
                </a14:m>
                <a:r>
                  <a:rPr lang="zh-CN" altLang="zh-CN" kern="100" dirty="0">
                    <a:effectLst/>
                    <a:latin typeface="+mn-ea"/>
                  </a:rPr>
                  <a:t>；</a:t>
                </a:r>
                <a:r>
                  <a:rPr lang="en-US" altLang="zh-CN" kern="100" dirty="0">
                    <a:latin typeface="+mn-ea"/>
                  </a:rPr>
                  <a:t>      </a:t>
                </a:r>
                <a:r>
                  <a:rPr lang="en-US" altLang="zh-CN" kern="100" dirty="0">
                    <a:effectLst/>
                    <a:latin typeface="+mn-ea"/>
                  </a:rPr>
                  <a:t>(</a:t>
                </a:r>
                <a:r>
                  <a:rPr lang="zh-CN" altLang="zh-CN" kern="100" dirty="0">
                    <a:effectLst/>
                    <a:latin typeface="+mn-ea"/>
                  </a:rPr>
                  <a:t>德</a:t>
                </a:r>
                <a:r>
                  <a:rPr lang="en-US" altLang="zh-CN" kern="100" dirty="0">
                    <a:effectLst/>
                    <a:latin typeface="+mn-ea"/>
                    <a:sym typeface="Symbol" panose="05050102010706020507" pitchFamily="18" charset="2"/>
                  </a:rPr>
                  <a:t></a:t>
                </a:r>
                <a:r>
                  <a:rPr lang="zh-CN" altLang="zh-CN" kern="100" dirty="0">
                    <a:effectLst/>
                    <a:latin typeface="+mn-ea"/>
                  </a:rPr>
                  <a:t>摩根律</a:t>
                </a:r>
                <a:r>
                  <a:rPr lang="en-US" altLang="zh-CN" kern="100" dirty="0">
                    <a:effectLst/>
                    <a:latin typeface="+mn-ea"/>
                  </a:rPr>
                  <a:t>)</a:t>
                </a:r>
                <a:endParaRPr lang="zh-CN" altLang="zh-CN" kern="100" dirty="0">
                  <a:effectLst/>
                  <a:latin typeface="+mn-ea"/>
                </a:endParaRPr>
              </a:p>
              <a:p>
                <a:pPr indent="0" algn="just">
                  <a:lnSpc>
                    <a:spcPct val="130000"/>
                  </a:lnSpc>
                  <a:buNone/>
                </a:pPr>
                <a:endParaRPr lang="zh-CN" altLang="zh-CN" kern="100" dirty="0">
                  <a:effectLst/>
                  <a:latin typeface="+mn-ea"/>
                </a:endParaRPr>
              </a:p>
            </p:txBody>
          </p:sp>
        </mc:Choice>
        <mc:Fallback xmlns="">
          <p:sp>
            <p:nvSpPr>
              <p:cNvPr id="3" name="内容占位符 2">
                <a:extLst>
                  <a:ext uri="{FF2B5EF4-FFF2-40B4-BE49-F238E27FC236}">
                    <a16:creationId xmlns:a16="http://schemas.microsoft.com/office/drawing/2014/main" id="{A736FB53-76E5-459D-941F-64CC6320E548}"/>
                  </a:ext>
                </a:extLst>
              </p:cNvPr>
              <p:cNvSpPr>
                <a:spLocks noGrp="1" noRot="1" noChangeAspect="1" noMove="1" noResize="1" noEditPoints="1" noAdjustHandles="1" noChangeArrowheads="1" noChangeShapeType="1" noTextEdit="1"/>
              </p:cNvSpPr>
              <p:nvPr>
                <p:ph idx="1"/>
              </p:nvPr>
            </p:nvSpPr>
            <p:spPr>
              <a:xfrm>
                <a:off x="231775" y="877418"/>
                <a:ext cx="11658600" cy="1905000"/>
              </a:xfrm>
              <a:blipFill>
                <a:blip r:embed="rId5"/>
                <a:stretch>
                  <a:fillRect l="-5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B8A7AD0-5737-4844-9438-82BDF9730599}"/>
                  </a:ext>
                </a:extLst>
              </p:cNvPr>
              <p:cNvSpPr txBox="1"/>
              <p:nvPr/>
            </p:nvSpPr>
            <p:spPr>
              <a:xfrm>
                <a:off x="307975" y="2782418"/>
                <a:ext cx="11506200" cy="3714222"/>
              </a:xfrm>
              <a:prstGeom prst="rect">
                <a:avLst/>
              </a:prstGeom>
              <a:noFill/>
            </p:spPr>
            <p:txBody>
              <a:bodyPr wrap="square">
                <a:spAutoFit/>
              </a:bodyPr>
              <a:lstStyle/>
              <a:p>
                <a:pPr algn="just">
                  <a:lnSpc>
                    <a:spcPct val="130000"/>
                  </a:lnSpc>
                  <a:spcBef>
                    <a:spcPts val="600"/>
                  </a:spcBef>
                </a:pPr>
                <a:r>
                  <a:rPr lang="zh-CN" altLang="zh-CN" b="1" kern="1100" dirty="0">
                    <a:solidFill>
                      <a:srgbClr val="FF0000"/>
                    </a:solidFill>
                    <a:effectLst/>
                    <a:latin typeface="+mn-ea"/>
                  </a:rPr>
                  <a:t>证明</a:t>
                </a:r>
                <a:r>
                  <a:rPr lang="zh-CN" altLang="zh-CN" b="1" kern="100" dirty="0">
                    <a:effectLst/>
                    <a:latin typeface="+mn-ea"/>
                  </a:rPr>
                  <a:t>  （</a:t>
                </a:r>
                <a:r>
                  <a:rPr lang="en-US" altLang="zh-CN" b="1" kern="100" dirty="0">
                    <a:effectLst/>
                    <a:latin typeface="+mn-ea"/>
                  </a:rPr>
                  <a:t>1</a:t>
                </a:r>
                <a:r>
                  <a:rPr lang="zh-CN" altLang="zh-CN" b="1" kern="100" dirty="0">
                    <a:effectLst/>
                    <a:latin typeface="+mn-ea"/>
                  </a:rPr>
                  <a:t>）因</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oMath>
                </a14:m>
                <a:r>
                  <a:rPr lang="zh-CN" altLang="zh-CN" b="1"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𝒂</m:t>
                    </m:r>
                  </m:oMath>
                </a14:m>
                <a:r>
                  <a:rPr lang="zh-CN" altLang="zh-CN" b="1" kern="100" dirty="0">
                    <a:effectLst/>
                    <a:latin typeface="+mn-ea"/>
                  </a:rPr>
                  <a:t>的补元，</a:t>
                </a:r>
                <a:r>
                  <a:rPr lang="zh-CN" altLang="en-US" b="1" kern="100" dirty="0">
                    <a:effectLst/>
                    <a:latin typeface="+mn-ea"/>
                  </a:rPr>
                  <a:t>从而</a:t>
                </a:r>
                <a14:m>
                  <m:oMath xmlns:m="http://schemas.openxmlformats.org/officeDocument/2006/math">
                    <m:r>
                      <a:rPr lang="en-US" altLang="zh-CN" b="1" i="1" kern="100" dirty="0" smtClean="0">
                        <a:effectLst/>
                        <a:latin typeface="Cambria Math" panose="02040503050406030204" pitchFamily="18" charset="0"/>
                      </a:rPr>
                      <m:t>𝒂</m:t>
                    </m:r>
                  </m:oMath>
                </a14:m>
                <a:r>
                  <a:rPr lang="zh-CN" altLang="zh-CN" b="1" kern="100" dirty="0">
                    <a:effectLst/>
                    <a:latin typeface="+mn-ea"/>
                  </a:rPr>
                  <a:t>也是</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oMath>
                </a14:m>
                <a:r>
                  <a:rPr lang="zh-CN" altLang="zh-CN" b="1" kern="100" dirty="0">
                    <a:effectLst/>
                    <a:latin typeface="+mn-ea"/>
                  </a:rPr>
                  <a:t>的补元，显然有，</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 </m:t>
                    </m:r>
                    <m:r>
                      <a:rPr lang="en-US" altLang="zh-CN" b="1" i="1" kern="100" dirty="0" smtClean="0">
                        <a:effectLst/>
                        <a:latin typeface="Cambria Math" panose="02040503050406030204" pitchFamily="18" charset="0"/>
                      </a:rPr>
                      <m:t>𝒂</m:t>
                    </m:r>
                  </m:oMath>
                </a14:m>
                <a:r>
                  <a:rPr lang="zh-CN" altLang="zh-CN" b="1" kern="100" dirty="0">
                    <a:effectLst/>
                    <a:latin typeface="+mn-ea"/>
                  </a:rPr>
                  <a:t>。</a:t>
                </a:r>
              </a:p>
              <a:p>
                <a:pPr algn="just">
                  <a:lnSpc>
                    <a:spcPct val="130000"/>
                  </a:lnSpc>
                  <a:spcBef>
                    <a:spcPts val="600"/>
                  </a:spcBef>
                </a:pPr>
                <a:r>
                  <a:rPr lang="zh-CN" altLang="zh-CN" b="1" kern="100" dirty="0">
                    <a:effectLst/>
                    <a:latin typeface="+mn-ea"/>
                  </a:rPr>
                  <a:t>（</a:t>
                </a:r>
                <a:r>
                  <a:rPr lang="en-US" altLang="zh-CN" b="1" kern="100" dirty="0">
                    <a:effectLst/>
                    <a:latin typeface="+mn-ea"/>
                  </a:rPr>
                  <a:t>2</a:t>
                </a:r>
                <a:r>
                  <a:rPr lang="zh-CN" altLang="zh-CN" b="1" kern="100" dirty="0">
                    <a:effectLst/>
                    <a:latin typeface="+mn-ea"/>
                  </a:rPr>
                  <a:t>）因为</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oMath>
                </a14:m>
                <a:endParaRPr lang="zh-CN" altLang="zh-CN" b="1" kern="100" dirty="0">
                  <a:effectLst/>
                  <a:latin typeface="+mn-ea"/>
                </a:endParaRPr>
              </a:p>
              <a:p>
                <a:pPr algn="ctr">
                  <a:lnSpc>
                    <a:spcPct val="130000"/>
                  </a:lnSpc>
                  <a:spcBef>
                    <a:spcPts val="600"/>
                  </a:spcBef>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𝟎</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𝟎</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𝟎</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𝟎</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𝟎</m:t>
                      </m:r>
                    </m:oMath>
                  </m:oMathPara>
                </a14:m>
                <a:endParaRPr lang="zh-CN" altLang="zh-CN" b="1" kern="100" dirty="0">
                  <a:effectLst/>
                  <a:latin typeface="+mn-ea"/>
                </a:endParaRPr>
              </a:p>
              <a:p>
                <a:pPr algn="l">
                  <a:lnSpc>
                    <a:spcPct val="130000"/>
                  </a:lnSpc>
                  <a:spcBef>
                    <a:spcPts val="600"/>
                  </a:spcBef>
                </a:pPr>
                <a:r>
                  <a:rPr lang="zh-CN" altLang="zh-CN" b="1" kern="100" dirty="0">
                    <a:effectLst/>
                    <a:latin typeface="+mn-ea"/>
                  </a:rPr>
                  <a:t>且</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oMath>
                </a14:m>
                <a:endParaRPr lang="zh-CN" altLang="zh-CN" b="1" kern="100" dirty="0">
                  <a:effectLst/>
                  <a:latin typeface="+mn-ea"/>
                </a:endParaRPr>
              </a:p>
              <a:p>
                <a:pPr algn="ctr">
                  <a:lnSpc>
                    <a:spcPct val="130000"/>
                  </a:lnSpc>
                  <a:spcBef>
                    <a:spcPts val="600"/>
                  </a:spcBef>
                </a:pPr>
                <a14:m>
                  <m:oMathPara xmlns:m="http://schemas.openxmlformats.org/officeDocument/2006/math">
                    <m:oMathParaPr>
                      <m:jc m:val="centerGroup"/>
                    </m:oMathParaPr>
                    <m:oMath xmlns:m="http://schemas.openxmlformats.org/officeDocument/2006/math">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𝟏</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𝟏</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𝟏</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𝟏</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𝟏</m:t>
                      </m:r>
                    </m:oMath>
                  </m:oMathPara>
                </a14:m>
                <a:endParaRPr lang="zh-CN" altLang="zh-CN" b="1" kern="100" dirty="0">
                  <a:effectLst/>
                  <a:latin typeface="+mn-ea"/>
                </a:endParaRPr>
              </a:p>
              <a:p>
                <a:pPr algn="just">
                  <a:lnSpc>
                    <a:spcPct val="130000"/>
                  </a:lnSpc>
                  <a:spcBef>
                    <a:spcPts val="600"/>
                  </a:spcBef>
                </a:pPr>
                <a:r>
                  <a:rPr lang="zh-CN" altLang="zh-CN" b="1" kern="100" dirty="0">
                    <a:effectLst/>
                    <a:latin typeface="+mn-ea"/>
                  </a:rPr>
                  <a:t>所以，根据补元定义，</a:t>
                </a:r>
                <a14:m>
                  <m:oMath xmlns:m="http://schemas.openxmlformats.org/officeDocument/2006/math">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m:t>
                    </m:r>
                  </m:oMath>
                </a14:m>
                <a:r>
                  <a:rPr lang="zh-CN" altLang="zh-CN" b="1" kern="100" dirty="0">
                    <a:effectLst/>
                    <a:latin typeface="+mn-ea"/>
                  </a:rPr>
                  <a:t>。</a:t>
                </a:r>
              </a:p>
              <a:p>
                <a:pPr>
                  <a:lnSpc>
                    <a:spcPct val="130000"/>
                  </a:lnSpc>
                  <a:spcBef>
                    <a:spcPts val="600"/>
                  </a:spcBef>
                </a:pPr>
                <a:r>
                  <a:rPr lang="zh-CN" altLang="zh-CN" b="1" dirty="0">
                    <a:effectLst/>
                    <a:latin typeface="+mn-ea"/>
                    <a:cs typeface="Times New Roman" panose="02020603050405020304" pitchFamily="18" charset="0"/>
                  </a:rPr>
                  <a:t>同理可证，</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𝒂</m:t>
                    </m:r>
                    <m:r>
                      <a:rPr lang="zh-CN" altLang="zh-CN" b="1" i="1" dirty="0">
                        <a:effectLst/>
                        <a:latin typeface="Cambria Math" panose="02040503050406030204" pitchFamily="18" charset="0"/>
                        <a:cs typeface="宋体" panose="02010600030101010101" pitchFamily="2" charset="-122"/>
                      </a:rPr>
                      <m:t>∨</m:t>
                    </m:r>
                    <m:r>
                      <a:rPr lang="en-US" altLang="zh-CN" b="1" i="1" dirty="0">
                        <a:effectLst/>
                        <a:latin typeface="Cambria Math" panose="02040503050406030204" pitchFamily="18" charset="0"/>
                      </a:rPr>
                      <m:t>𝒃</m:t>
                    </m:r>
                    <m:r>
                      <a:rPr lang="en-US" altLang="zh-CN" b="1" i="1" dirty="0">
                        <a:effectLst/>
                        <a:latin typeface="Cambria Math" panose="02040503050406030204" pitchFamily="18" charset="0"/>
                      </a:rPr>
                      <m:t>)′ = </m:t>
                    </m:r>
                    <m:r>
                      <a:rPr lang="en-US" altLang="zh-CN" b="1" i="1" dirty="0">
                        <a:effectLst/>
                        <a:latin typeface="Cambria Math" panose="02040503050406030204" pitchFamily="18" charset="0"/>
                      </a:rPr>
                      <m:t>𝒂</m:t>
                    </m:r>
                    <m:r>
                      <a:rPr lang="en-US" altLang="zh-CN" b="1" i="1" dirty="0">
                        <a:effectLst/>
                        <a:latin typeface="Cambria Math" panose="02040503050406030204" pitchFamily="18" charset="0"/>
                      </a:rPr>
                      <m:t>′∧</m:t>
                    </m:r>
                    <m:r>
                      <a:rPr lang="en-US" altLang="zh-CN" b="1" i="1" dirty="0">
                        <a:effectLst/>
                        <a:latin typeface="Cambria Math" panose="02040503050406030204" pitchFamily="18" charset="0"/>
                      </a:rPr>
                      <m:t>𝒃</m:t>
                    </m:r>
                    <m:r>
                      <a:rPr lang="en-US" altLang="zh-CN" b="1" i="1" dirty="0">
                        <a:effectLst/>
                        <a:latin typeface="Cambria Math" panose="02040503050406030204" pitchFamily="18" charset="0"/>
                      </a:rPr>
                      <m:t>′</m:t>
                    </m:r>
                  </m:oMath>
                </a14:m>
                <a:r>
                  <a:rPr lang="zh-CN" altLang="zh-CN" b="1" dirty="0">
                    <a:effectLst/>
                    <a:latin typeface="+mn-ea"/>
                    <a:cs typeface="Times New Roman" panose="02020603050405020304" pitchFamily="18" charset="0"/>
                  </a:rPr>
                  <a:t>。</a:t>
                </a:r>
                <a:endParaRPr lang="zh-CN" altLang="en-US" b="1" dirty="0">
                  <a:latin typeface="+mn-ea"/>
                </a:endParaRPr>
              </a:p>
            </p:txBody>
          </p:sp>
        </mc:Choice>
        <mc:Fallback xmlns="">
          <p:sp>
            <p:nvSpPr>
              <p:cNvPr id="5" name="文本框 4">
                <a:extLst>
                  <a:ext uri="{FF2B5EF4-FFF2-40B4-BE49-F238E27FC236}">
                    <a16:creationId xmlns:a16="http://schemas.microsoft.com/office/drawing/2014/main" id="{7B8A7AD0-5737-4844-9438-82BDF9730599}"/>
                  </a:ext>
                </a:extLst>
              </p:cNvPr>
              <p:cNvSpPr txBox="1">
                <a:spLocks noRot="1" noChangeAspect="1" noMove="1" noResize="1" noEditPoints="1" noAdjustHandles="1" noChangeArrowheads="1" noChangeShapeType="1" noTextEdit="1"/>
              </p:cNvSpPr>
              <p:nvPr/>
            </p:nvSpPr>
            <p:spPr>
              <a:xfrm>
                <a:off x="307975" y="2782418"/>
                <a:ext cx="11506200" cy="3714222"/>
              </a:xfrm>
              <a:prstGeom prst="rect">
                <a:avLst/>
              </a:prstGeom>
              <a:blipFill>
                <a:blip r:embed="rId6"/>
                <a:stretch>
                  <a:fillRect l="-848" b="-2787"/>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78427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651376" y="762794"/>
            <a:ext cx="6629399" cy="5205255"/>
            <a:chOff x="4619229" y="1396940"/>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619229" y="1396940"/>
              <a:ext cx="6629399" cy="5205255"/>
              <a:chOff x="4619229" y="1396940"/>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619229" y="1396940"/>
                <a:ext cx="6629399" cy="5205255"/>
                <a:chOff x="4619229" y="1327998"/>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619229" y="1327998"/>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841681" y="4176907"/>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TextBox 1">
                  <a:extLst>
                    <a:ext uri="{FF2B5EF4-FFF2-40B4-BE49-F238E27FC236}">
                      <a16:creationId xmlns:a16="http://schemas.microsoft.com/office/drawing/2014/main" id="{CC1830B4-B7AE-4F4E-B2A2-7EA3C57296F9}"/>
                    </a:ext>
                  </a:extLst>
                </p:cNvPr>
                <p:cNvSpPr txBox="1"/>
                <p:nvPr/>
              </p:nvSpPr>
              <p:spPr>
                <a:xfrm>
                  <a:off x="6954055" y="2671643"/>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格的定义和性质</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49641" y="3265020"/>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子格与格同态</a:t>
                  </a:r>
                </a:p>
              </p:txBody>
            </p:sp>
            <p:sp>
              <p:nvSpPr>
                <p:cNvPr id="108" name="Freeform 3">
                  <a:extLst>
                    <a:ext uri="{FF2B5EF4-FFF2-40B4-BE49-F238E27FC236}">
                      <a16:creationId xmlns:a16="http://schemas.microsoft.com/office/drawing/2014/main" id="{B90F0CC1-39D6-4CF7-88A9-B6AE46CF38C8}"/>
                    </a:ext>
                  </a:extLst>
                </p:cNvPr>
                <p:cNvSpPr/>
                <p:nvPr/>
              </p:nvSpPr>
              <p:spPr>
                <a:xfrm>
                  <a:off x="6698357" y="1861397"/>
                  <a:ext cx="45719" cy="394420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10" name="Freeform 3">
                  <a:extLst>
                    <a:ext uri="{FF2B5EF4-FFF2-40B4-BE49-F238E27FC236}">
                      <a16:creationId xmlns:a16="http://schemas.microsoft.com/office/drawing/2014/main" id="{4422CB3B-D0D5-4FEA-B0A8-30267AF052B1}"/>
                    </a:ext>
                  </a:extLst>
                </p:cNvPr>
                <p:cNvSpPr/>
                <p:nvPr/>
              </p:nvSpPr>
              <p:spPr>
                <a:xfrm>
                  <a:off x="6646827" y="221089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24104" y="33202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24104" y="37921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82518" y="3778915"/>
                  <a:ext cx="923330"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特殊格</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870609" y="4886187"/>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格与布尔代数的应用</a:t>
                  </a:r>
                </a:p>
              </p:txBody>
            </p:sp>
            <p:sp>
              <p:nvSpPr>
                <p:cNvPr id="116" name="Freeform 3">
                  <a:extLst>
                    <a:ext uri="{FF2B5EF4-FFF2-40B4-BE49-F238E27FC236}">
                      <a16:creationId xmlns:a16="http://schemas.microsoft.com/office/drawing/2014/main" id="{74C8B829-18F9-4783-B4D6-E9A724B05A1B}"/>
                    </a:ext>
                  </a:extLst>
                </p:cNvPr>
                <p:cNvSpPr/>
                <p:nvPr/>
              </p:nvSpPr>
              <p:spPr>
                <a:xfrm>
                  <a:off x="6632575" y="437073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2575" y="4928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876646" y="2669024"/>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851892" y="3265019"/>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821174" y="3775870"/>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885928" y="4293662"/>
                  <a:ext cx="740587"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10.4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63759" y="212402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47502" y="5444665"/>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50219" y="53950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841681" y="4861636"/>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10.5</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54055" y="4407251"/>
                <a:ext cx="1231106"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布尔代数</a:t>
                </a:r>
              </a:p>
            </p:txBody>
          </p:sp>
          <p:sp>
            <p:nvSpPr>
              <p:cNvPr id="50" name="TextBox 1">
                <a:extLst>
                  <a:ext uri="{FF2B5EF4-FFF2-40B4-BE49-F238E27FC236}">
                    <a16:creationId xmlns:a16="http://schemas.microsoft.com/office/drawing/2014/main" id="{159A0760-2207-4EDB-B452-50B7B83350F3}"/>
                  </a:ext>
                </a:extLst>
              </p:cNvPr>
              <p:cNvSpPr txBox="1"/>
              <p:nvPr/>
            </p:nvSpPr>
            <p:spPr>
              <a:xfrm>
                <a:off x="5885927" y="549855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10.6</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2575" y="28313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
        <p:nvSpPr>
          <p:cNvPr id="54" name="TextBox 1">
            <a:extLst>
              <a:ext uri="{FF2B5EF4-FFF2-40B4-BE49-F238E27FC236}">
                <a16:creationId xmlns:a16="http://schemas.microsoft.com/office/drawing/2014/main" id="{1B04C977-68A9-4953-8E5F-2BCF1F470055}"/>
              </a:ext>
            </a:extLst>
          </p:cNvPr>
          <p:cNvSpPr txBox="1"/>
          <p:nvPr/>
        </p:nvSpPr>
        <p:spPr>
          <a:xfrm>
            <a:off x="7012641" y="1612641"/>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3090621171"/>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311334-C88F-4EE7-A60C-D599C992A2D4}"/>
              </a:ext>
            </a:extLst>
          </p:cNvPr>
          <p:cNvSpPr>
            <a:spLocks noGrp="1"/>
          </p:cNvSpPr>
          <p:nvPr>
            <p:ph type="title"/>
          </p:nvPr>
        </p:nvSpPr>
        <p:spPr/>
        <p:txBody>
          <a:bodyPr/>
          <a:lstStyle/>
          <a:p>
            <a:r>
              <a:rPr lang="zh-CN" altLang="en-US" dirty="0"/>
              <a:t>布尔代数</a:t>
            </a:r>
          </a:p>
        </p:txBody>
      </p:sp>
      <p:sp>
        <p:nvSpPr>
          <p:cNvPr id="3" name="内容占位符 2">
            <a:extLst>
              <a:ext uri="{FF2B5EF4-FFF2-40B4-BE49-F238E27FC236}">
                <a16:creationId xmlns:a16="http://schemas.microsoft.com/office/drawing/2014/main" id="{19F766B1-A6DD-4178-B23C-8600489FD700}"/>
              </a:ext>
            </a:extLst>
          </p:cNvPr>
          <p:cNvSpPr>
            <a:spLocks noGrp="1"/>
          </p:cNvSpPr>
          <p:nvPr>
            <p:ph idx="1"/>
          </p:nvPr>
        </p:nvSpPr>
        <p:spPr>
          <a:xfrm>
            <a:off x="536575" y="1296194"/>
            <a:ext cx="10823257" cy="1243966"/>
          </a:xfrm>
          <a:solidFill>
            <a:schemeClr val="bg1">
              <a:lumMod val="95000"/>
            </a:schemeClr>
          </a:solidFill>
        </p:spPr>
        <p:txBody>
          <a:bodyPr>
            <a:noAutofit/>
          </a:bodyPr>
          <a:lstStyle/>
          <a:p>
            <a:pPr marL="0" indent="0">
              <a:lnSpc>
                <a:spcPct val="130000"/>
              </a:lnSpc>
              <a:buNone/>
            </a:pPr>
            <a:r>
              <a:rPr lang="zh-CN" altLang="zh-CN" dirty="0">
                <a:solidFill>
                  <a:srgbClr val="0000FF"/>
                </a:solidFill>
                <a:effectLst/>
                <a:latin typeface="+mn-ea"/>
                <a:cs typeface="Times New Roman" panose="02020603050405020304" pitchFamily="18" charset="0"/>
              </a:rPr>
              <a:t>有补分配格</a:t>
            </a:r>
            <a:r>
              <a:rPr lang="zh-CN" altLang="zh-CN" dirty="0">
                <a:effectLst/>
                <a:latin typeface="+mn-ea"/>
                <a:cs typeface="Times New Roman" panose="02020603050405020304" pitchFamily="18" charset="0"/>
              </a:rPr>
              <a:t>又称为</a:t>
            </a:r>
            <a:r>
              <a:rPr lang="zh-CN" altLang="zh-CN" dirty="0">
                <a:solidFill>
                  <a:srgbClr val="FF0000"/>
                </a:solidFill>
                <a:effectLst/>
                <a:latin typeface="+mn-ea"/>
                <a:cs typeface="Times New Roman" panose="02020603050405020304" pitchFamily="18" charset="0"/>
              </a:rPr>
              <a:t>布尔格</a:t>
            </a:r>
            <a:r>
              <a:rPr lang="zh-CN" altLang="zh-CN" dirty="0">
                <a:effectLst/>
                <a:latin typeface="+mn-ea"/>
                <a:cs typeface="Times New Roman" panose="02020603050405020304" pitchFamily="18" charset="0"/>
              </a:rPr>
              <a:t>。由于布尔格中每个元素都有补元而且补元</a:t>
            </a:r>
            <a:r>
              <a:rPr lang="zh-CN" altLang="en-US" dirty="0">
                <a:effectLst/>
                <a:latin typeface="+mn-ea"/>
                <a:cs typeface="Times New Roman" panose="02020603050405020304" pitchFamily="18" charset="0"/>
              </a:rPr>
              <a:t>唯</a:t>
            </a:r>
            <a:r>
              <a:rPr lang="zh-CN" altLang="zh-CN" dirty="0">
                <a:effectLst/>
                <a:latin typeface="+mn-ea"/>
                <a:cs typeface="Times New Roman" panose="02020603050405020304" pitchFamily="18" charset="0"/>
              </a:rPr>
              <a:t>一，则可以将求元素的补元作为一种一元运算，此时就称为布尔代数。</a:t>
            </a:r>
            <a:endParaRPr lang="zh-CN" altLang="en-US" dirty="0">
              <a:latin typeface="+mn-ea"/>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0744663-9F8B-4897-A14B-75771308B3B6}"/>
                  </a:ext>
                </a:extLst>
              </p:cNvPr>
              <p:cNvSpPr txBox="1"/>
              <p:nvPr/>
            </p:nvSpPr>
            <p:spPr>
              <a:xfrm>
                <a:off x="536575" y="2820194"/>
                <a:ext cx="10978515" cy="1689052"/>
              </a:xfrm>
              <a:prstGeom prst="rect">
                <a:avLst/>
              </a:prstGeom>
              <a:noFill/>
            </p:spPr>
            <p:txBody>
              <a:bodyPr wrap="square">
                <a:spAutoFit/>
              </a:bodyPr>
              <a:lstStyle/>
              <a:p>
                <a:pPr>
                  <a:lnSpc>
                    <a:spcPct val="150000"/>
                  </a:lnSpc>
                </a:pPr>
                <a:r>
                  <a:rPr lang="zh-CN" altLang="zh-CN" b="1" kern="1100" dirty="0">
                    <a:solidFill>
                      <a:srgbClr val="0000FF"/>
                    </a:solidFill>
                    <a:effectLst/>
                    <a:latin typeface="+mn-ea"/>
                    <a:cs typeface="Times New Roman" panose="02020603050405020304" pitchFamily="18" charset="0"/>
                  </a:rPr>
                  <a:t>定义</a:t>
                </a:r>
                <a:r>
                  <a:rPr lang="en-US" altLang="zh-CN" b="1" kern="1100" dirty="0">
                    <a:solidFill>
                      <a:srgbClr val="0000FF"/>
                    </a:solidFill>
                    <a:effectLst/>
                    <a:latin typeface="+mn-ea"/>
                  </a:rPr>
                  <a:t>10.11</a:t>
                </a:r>
                <a:r>
                  <a:rPr lang="en-US" altLang="zh-CN" b="1" dirty="0">
                    <a:solidFill>
                      <a:srgbClr val="0000FF"/>
                    </a:solidFill>
                    <a:effectLst/>
                    <a:latin typeface="+mn-ea"/>
                  </a:rPr>
                  <a:t> </a:t>
                </a:r>
                <a:r>
                  <a:rPr lang="zh-CN" altLang="zh-CN" b="1" dirty="0">
                    <a:effectLst/>
                    <a:latin typeface="+mn-ea"/>
                    <a:cs typeface="Times New Roman" panose="02020603050405020304" pitchFamily="18" charset="0"/>
                  </a:rPr>
                  <a:t>一个赋予了求补运算的布尔格称为</a:t>
                </a:r>
                <a:r>
                  <a:rPr lang="zh-CN" altLang="zh-CN" b="1" dirty="0">
                    <a:solidFill>
                      <a:srgbClr val="FF0000"/>
                    </a:solidFill>
                    <a:effectLst/>
                    <a:latin typeface="+mn-ea"/>
                    <a:cs typeface="Times New Roman" panose="02020603050405020304" pitchFamily="18" charset="0"/>
                  </a:rPr>
                  <a:t>布尔代数</a:t>
                </a:r>
                <a:r>
                  <a:rPr lang="zh-CN" altLang="zh-CN" b="1" dirty="0">
                    <a:effectLst/>
                    <a:latin typeface="+mn-ea"/>
                    <a:cs typeface="Times New Roman" panose="02020603050405020304" pitchFamily="18" charset="0"/>
                  </a:rPr>
                  <a:t>，记为</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𝑳</m:t>
                    </m:r>
                    <m:r>
                      <a:rPr lang="en-US" altLang="zh-CN" b="1" i="1" dirty="0" smtClean="0">
                        <a:effectLst/>
                        <a:latin typeface="Cambria Math" panose="02040503050406030204" pitchFamily="18" charset="0"/>
                      </a:rPr>
                      <m:t>, ∧, ∨,′&gt;</m:t>
                    </m:r>
                  </m:oMath>
                </a14:m>
                <a:r>
                  <a:rPr lang="zh-CN" altLang="zh-CN" b="1" dirty="0">
                    <a:effectLst/>
                    <a:latin typeface="+mn-ea"/>
                    <a:cs typeface="Times New Roman" panose="02020603050405020304" pitchFamily="18" charset="0"/>
                  </a:rPr>
                  <a:t>，有时也将全下界</a:t>
                </a:r>
                <a14:m>
                  <m:oMath xmlns:m="http://schemas.openxmlformats.org/officeDocument/2006/math">
                    <m:r>
                      <a:rPr lang="en-US" altLang="zh-CN" b="1" i="1" dirty="0" smtClean="0">
                        <a:effectLst/>
                        <a:latin typeface="Cambria Math" panose="02040503050406030204" pitchFamily="18" charset="0"/>
                      </a:rPr>
                      <m:t>𝟎</m:t>
                    </m:r>
                  </m:oMath>
                </a14:m>
                <a:r>
                  <a:rPr lang="zh-CN" altLang="zh-CN" b="1" dirty="0">
                    <a:effectLst/>
                    <a:latin typeface="+mn-ea"/>
                    <a:cs typeface="Times New Roman" panose="02020603050405020304" pitchFamily="18" charset="0"/>
                  </a:rPr>
                  <a:t>和全上界</a:t>
                </a:r>
                <a14:m>
                  <m:oMath xmlns:m="http://schemas.openxmlformats.org/officeDocument/2006/math">
                    <m:r>
                      <a:rPr lang="en-US" altLang="zh-CN" b="1" i="1" dirty="0" smtClean="0">
                        <a:effectLst/>
                        <a:latin typeface="Cambria Math" panose="02040503050406030204" pitchFamily="18" charset="0"/>
                      </a:rPr>
                      <m:t>𝟏</m:t>
                    </m:r>
                  </m:oMath>
                </a14:m>
                <a:r>
                  <a:rPr lang="zh-CN" altLang="zh-CN" b="1" dirty="0">
                    <a:effectLst/>
                    <a:latin typeface="+mn-ea"/>
                    <a:cs typeface="Times New Roman" panose="02020603050405020304" pitchFamily="18" charset="0"/>
                  </a:rPr>
                  <a:t>标记出来，记为</a:t>
                </a:r>
                <a14:m>
                  <m:oMath xmlns:m="http://schemas.openxmlformats.org/officeDocument/2006/math">
                    <m:r>
                      <a:rPr lang="en-US" altLang="zh-CN" b="1" i="1" dirty="0" smtClean="0">
                        <a:solidFill>
                          <a:srgbClr val="0000FF"/>
                        </a:solidFill>
                        <a:effectLst/>
                        <a:latin typeface="Cambria Math" panose="02040503050406030204" pitchFamily="18" charset="0"/>
                      </a:rPr>
                      <m:t>&lt;</m:t>
                    </m:r>
                    <m:r>
                      <a:rPr lang="en-US" altLang="zh-CN" b="1" i="1" dirty="0" smtClean="0">
                        <a:solidFill>
                          <a:srgbClr val="0000FF"/>
                        </a:solidFill>
                        <a:effectLst/>
                        <a:latin typeface="Cambria Math" panose="02040503050406030204" pitchFamily="18" charset="0"/>
                      </a:rPr>
                      <m:t>𝑳</m:t>
                    </m:r>
                    <m:r>
                      <a:rPr lang="en-US" altLang="zh-CN" b="1" i="1" dirty="0" smtClean="0">
                        <a:solidFill>
                          <a:srgbClr val="0000FF"/>
                        </a:solidFill>
                        <a:effectLst/>
                        <a:latin typeface="Cambria Math" panose="02040503050406030204" pitchFamily="18" charset="0"/>
                      </a:rPr>
                      <m:t>, ∧, ∨,′, </m:t>
                    </m:r>
                    <m:r>
                      <a:rPr lang="en-US" altLang="zh-CN" b="1" i="1" dirty="0">
                        <a:solidFill>
                          <a:srgbClr val="0000FF"/>
                        </a:solidFill>
                        <a:effectLst/>
                        <a:latin typeface="Cambria Math" panose="02040503050406030204" pitchFamily="18" charset="0"/>
                      </a:rPr>
                      <m:t>𝟎</m:t>
                    </m:r>
                    <m:r>
                      <a:rPr lang="en-US" altLang="zh-CN" b="1" i="1" dirty="0">
                        <a:solidFill>
                          <a:srgbClr val="0000FF"/>
                        </a:solidFill>
                        <a:effectLst/>
                        <a:latin typeface="Cambria Math" panose="02040503050406030204" pitchFamily="18" charset="0"/>
                      </a:rPr>
                      <m:t>,</m:t>
                    </m:r>
                    <m:r>
                      <a:rPr lang="en-US" altLang="zh-CN" b="1" i="1" dirty="0">
                        <a:solidFill>
                          <a:srgbClr val="0000FF"/>
                        </a:solidFill>
                        <a:effectLst/>
                        <a:latin typeface="Cambria Math" panose="02040503050406030204" pitchFamily="18" charset="0"/>
                      </a:rPr>
                      <m:t>𝟏</m:t>
                    </m:r>
                    <m:r>
                      <a:rPr lang="en-US" altLang="zh-CN" b="1" i="1" dirty="0">
                        <a:solidFill>
                          <a:srgbClr val="0000FF"/>
                        </a:solidFill>
                        <a:effectLst/>
                        <a:latin typeface="Cambria Math" panose="02040503050406030204" pitchFamily="18" charset="0"/>
                      </a:rPr>
                      <m:t>&gt;</m:t>
                    </m:r>
                  </m:oMath>
                </a14:m>
                <a:r>
                  <a:rPr lang="zh-CN" altLang="zh-CN" b="1" dirty="0">
                    <a:effectLst/>
                    <a:latin typeface="+mn-ea"/>
                    <a:cs typeface="Times New Roman" panose="02020603050405020304" pitchFamily="18" charset="0"/>
                  </a:rPr>
                  <a:t>。若一个布尔代数的元素个数是有限的，则称此布尔代数为</a:t>
                </a:r>
                <a:r>
                  <a:rPr lang="zh-CN" altLang="zh-CN" b="1" dirty="0">
                    <a:solidFill>
                      <a:srgbClr val="FF0000"/>
                    </a:solidFill>
                    <a:effectLst/>
                    <a:latin typeface="+mn-ea"/>
                    <a:cs typeface="Times New Roman" panose="02020603050405020304" pitchFamily="18" charset="0"/>
                  </a:rPr>
                  <a:t>有限布尔代数</a:t>
                </a:r>
                <a:r>
                  <a:rPr lang="zh-CN" altLang="zh-CN" b="1" dirty="0">
                    <a:effectLst/>
                    <a:latin typeface="+mn-ea"/>
                    <a:cs typeface="Times New Roman" panose="02020603050405020304" pitchFamily="18" charset="0"/>
                  </a:rPr>
                  <a:t>，否则称为</a:t>
                </a:r>
                <a:r>
                  <a:rPr lang="zh-CN" altLang="zh-CN" b="1" dirty="0">
                    <a:solidFill>
                      <a:srgbClr val="FF0000"/>
                    </a:solidFill>
                    <a:effectLst/>
                    <a:latin typeface="+mn-ea"/>
                    <a:cs typeface="Times New Roman" panose="02020603050405020304" pitchFamily="18" charset="0"/>
                  </a:rPr>
                  <a:t>无限布尔代数</a:t>
                </a:r>
                <a:r>
                  <a:rPr lang="zh-CN" altLang="zh-CN" b="1" dirty="0">
                    <a:effectLst/>
                    <a:latin typeface="+mn-ea"/>
                    <a:cs typeface="Times New Roman" panose="02020603050405020304" pitchFamily="18" charset="0"/>
                  </a:rPr>
                  <a:t>。</a:t>
                </a:r>
                <a:endParaRPr lang="zh-CN" altLang="en-US" b="1" dirty="0">
                  <a:latin typeface="+mn-ea"/>
                </a:endParaRPr>
              </a:p>
            </p:txBody>
          </p:sp>
        </mc:Choice>
        <mc:Fallback xmlns="">
          <p:sp>
            <p:nvSpPr>
              <p:cNvPr id="5" name="文本框 4">
                <a:extLst>
                  <a:ext uri="{FF2B5EF4-FFF2-40B4-BE49-F238E27FC236}">
                    <a16:creationId xmlns:a16="http://schemas.microsoft.com/office/drawing/2014/main" id="{10744663-9F8B-4897-A14B-75771308B3B6}"/>
                  </a:ext>
                </a:extLst>
              </p:cNvPr>
              <p:cNvSpPr txBox="1">
                <a:spLocks noRot="1" noChangeAspect="1" noMove="1" noResize="1" noEditPoints="1" noAdjustHandles="1" noChangeArrowheads="1" noChangeShapeType="1" noTextEdit="1"/>
              </p:cNvSpPr>
              <p:nvPr/>
            </p:nvSpPr>
            <p:spPr>
              <a:xfrm>
                <a:off x="536575" y="2820194"/>
                <a:ext cx="10978515" cy="1689052"/>
              </a:xfrm>
              <a:prstGeom prst="rect">
                <a:avLst/>
              </a:prstGeom>
              <a:blipFill>
                <a:blip r:embed="rId5"/>
                <a:stretch>
                  <a:fillRect l="-833" b="-7581"/>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386492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6136B-0584-4B07-81B0-CFB79B6F5571}"/>
              </a:ext>
            </a:extLst>
          </p:cNvPr>
          <p:cNvSpPr>
            <a:spLocks noGrp="1"/>
          </p:cNvSpPr>
          <p:nvPr>
            <p:ph type="title"/>
          </p:nvPr>
        </p:nvSpPr>
        <p:spPr/>
        <p:txBody>
          <a:bodyPr/>
          <a:lstStyle/>
          <a:p>
            <a:r>
              <a:rPr lang="zh-CN" altLang="en-US" dirty="0"/>
              <a:t>布尔代数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DC62A36-40FA-4DE4-8A2D-1E01366DA48B}"/>
                  </a:ext>
                </a:extLst>
              </p:cNvPr>
              <p:cNvSpPr>
                <a:spLocks noGrp="1"/>
              </p:cNvSpPr>
              <p:nvPr>
                <p:ph idx="1"/>
              </p:nvPr>
            </p:nvSpPr>
            <p:spPr>
              <a:xfrm>
                <a:off x="307975" y="1067594"/>
                <a:ext cx="11125200" cy="4572000"/>
              </a:xfrm>
            </p:spPr>
            <p:txBody>
              <a:bodyPr>
                <a:noAutofit/>
              </a:bodyPr>
              <a:lstStyle/>
              <a:p>
                <a:pPr algn="just">
                  <a:lnSpc>
                    <a:spcPct val="150000"/>
                  </a:lnSpc>
                </a:pPr>
                <a:r>
                  <a:rPr lang="zh-CN" altLang="zh-CN" kern="100" dirty="0">
                    <a:effectLst/>
                    <a:latin typeface="+mn-ea"/>
                  </a:rPr>
                  <a:t>布尔代数中，全上界</a:t>
                </a:r>
                <a14:m>
                  <m:oMath xmlns:m="http://schemas.openxmlformats.org/officeDocument/2006/math">
                    <m:r>
                      <a:rPr lang="en-US" altLang="zh-CN" b="1" i="1" kern="100" dirty="0" smtClean="0">
                        <a:effectLst/>
                        <a:latin typeface="Cambria Math" panose="02040503050406030204" pitchFamily="18" charset="0"/>
                      </a:rPr>
                      <m:t>𝟏</m:t>
                    </m:r>
                  </m:oMath>
                </a14:m>
                <a:r>
                  <a:rPr lang="zh-CN" altLang="zh-CN" kern="100" dirty="0">
                    <a:effectLst/>
                    <a:latin typeface="+mn-ea"/>
                  </a:rPr>
                  <a:t>和全下界</a:t>
                </a:r>
                <a14:m>
                  <m:oMath xmlns:m="http://schemas.openxmlformats.org/officeDocument/2006/math">
                    <m:r>
                      <a:rPr lang="en-US" altLang="zh-CN" b="1" i="1" kern="100" dirty="0" smtClean="0">
                        <a:effectLst/>
                        <a:latin typeface="Cambria Math" panose="02040503050406030204" pitchFamily="18" charset="0"/>
                      </a:rPr>
                      <m:t>𝟎</m:t>
                    </m:r>
                  </m:oMath>
                </a14:m>
                <a:r>
                  <a:rPr lang="zh-CN" altLang="zh-CN" kern="100" dirty="0">
                    <a:effectLst/>
                    <a:latin typeface="+mn-ea"/>
                  </a:rPr>
                  <a:t>可以用下面的同一律来描述：</a:t>
                </a:r>
              </a:p>
              <a:p>
                <a:pPr marL="0" indent="0" algn="just">
                  <a:lnSpc>
                    <a:spcPct val="150000"/>
                  </a:lnSpc>
                  <a:buNone/>
                </a:pPr>
                <a:r>
                  <a:rPr lang="zh-CN" altLang="zh-CN" kern="100" dirty="0">
                    <a:solidFill>
                      <a:srgbClr val="0000FF"/>
                    </a:solidFill>
                    <a:effectLst/>
                    <a:latin typeface="+mn-ea"/>
                  </a:rPr>
                  <a:t>同一律</a:t>
                </a:r>
                <a:r>
                  <a:rPr lang="zh-CN" altLang="zh-CN" kern="100" dirty="0">
                    <a:effectLst/>
                    <a:latin typeface="+mn-ea"/>
                  </a:rPr>
                  <a:t>：在</a:t>
                </a:r>
                <a14:m>
                  <m:oMath xmlns:m="http://schemas.openxmlformats.org/officeDocument/2006/math">
                    <m:r>
                      <a:rPr lang="en-US" altLang="zh-CN" b="1" i="1" kern="100" dirty="0" smtClean="0">
                        <a:effectLst/>
                        <a:latin typeface="Cambria Math" panose="02040503050406030204" pitchFamily="18" charset="0"/>
                      </a:rPr>
                      <m:t>𝑳</m:t>
                    </m:r>
                  </m:oMath>
                </a14:m>
                <a:r>
                  <a:rPr lang="zh-CN" altLang="zh-CN" kern="100" dirty="0">
                    <a:effectLst/>
                    <a:latin typeface="+mn-ea"/>
                  </a:rPr>
                  <a:t>中存在两个元素</a:t>
                </a:r>
                <a14:m>
                  <m:oMath xmlns:m="http://schemas.openxmlformats.org/officeDocument/2006/math">
                    <m:r>
                      <a:rPr lang="en-US" altLang="zh-CN" b="1" i="1" kern="100" dirty="0" smtClean="0">
                        <a:effectLst/>
                        <a:latin typeface="Cambria Math" panose="02040503050406030204" pitchFamily="18" charset="0"/>
                      </a:rPr>
                      <m:t>𝟎</m:t>
                    </m:r>
                  </m:oMath>
                </a14:m>
                <a:r>
                  <a:rPr lang="zh-CN" altLang="zh-CN" kern="100" dirty="0">
                    <a:effectLst/>
                    <a:latin typeface="+mn-ea"/>
                  </a:rPr>
                  <a:t>和</a:t>
                </a:r>
                <a14:m>
                  <m:oMath xmlns:m="http://schemas.openxmlformats.org/officeDocument/2006/math">
                    <m:r>
                      <a:rPr lang="en-US" altLang="zh-CN" b="1" i="1" kern="100" dirty="0" smtClean="0">
                        <a:effectLst/>
                        <a:latin typeface="Cambria Math" panose="02040503050406030204" pitchFamily="18" charset="0"/>
                      </a:rPr>
                      <m:t>𝟏</m:t>
                    </m:r>
                  </m:oMath>
                </a14:m>
                <a:r>
                  <a:rPr lang="zh-CN" altLang="zh-CN" kern="100" dirty="0">
                    <a:effectLst/>
                    <a:latin typeface="+mn-ea"/>
                  </a:rPr>
                  <a:t>，使得对任意</a:t>
                </a:r>
                <a14:m>
                  <m:oMath xmlns:m="http://schemas.openxmlformats.org/officeDocument/2006/math">
                    <m:r>
                      <a:rPr lang="en-US" altLang="zh-CN" b="1" i="1" kern="100" dirty="0" smtClean="0">
                        <a:effectLst/>
                        <a:latin typeface="Cambria Math" panose="02040503050406030204" pitchFamily="18" charset="0"/>
                      </a:rPr>
                      <m:t>𝒂</m:t>
                    </m:r>
                    <m:r>
                      <a:rPr lang="en-US" altLang="zh-CN" i="1" kern="100" dirty="0">
                        <a:latin typeface="Cambria Math" panose="02040503050406030204" pitchFamily="18" charset="0"/>
                        <a:ea typeface="Cambria Math" panose="02040503050406030204" pitchFamily="18" charset="0"/>
                      </a:rPr>
                      <m:t>∈</m:t>
                    </m:r>
                    <m:r>
                      <a:rPr lang="en-US" altLang="zh-CN" b="1" i="1" kern="100" dirty="0" smtClean="0">
                        <a:latin typeface="Cambria Math" panose="02040503050406030204" pitchFamily="18" charset="0"/>
                        <a:ea typeface="Cambria Math" panose="02040503050406030204" pitchFamily="18" charset="0"/>
                      </a:rPr>
                      <m:t>𝑳</m:t>
                    </m:r>
                  </m:oMath>
                </a14:m>
                <a:r>
                  <a:rPr lang="zh-CN" altLang="zh-CN" kern="100" dirty="0">
                    <a:effectLst/>
                    <a:latin typeface="+mn-ea"/>
                  </a:rPr>
                  <a:t>，有</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𝟏</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𝟎</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oMath>
                </a14:m>
                <a:r>
                  <a:rPr lang="zh-CN" altLang="zh-CN" kern="100" dirty="0">
                    <a:effectLst/>
                    <a:latin typeface="+mn-ea"/>
                  </a:rPr>
                  <a:t>。</a:t>
                </a:r>
              </a:p>
              <a:p>
                <a:pPr algn="just">
                  <a:lnSpc>
                    <a:spcPct val="150000"/>
                  </a:lnSpc>
                </a:pPr>
                <a:r>
                  <a:rPr lang="zh-CN" altLang="zh-CN" kern="100" dirty="0">
                    <a:effectLst/>
                    <a:latin typeface="+mn-ea"/>
                  </a:rPr>
                  <a:t>而补元的存在可以用下面的互补律来描述。</a:t>
                </a:r>
              </a:p>
              <a:p>
                <a:pPr marL="0" indent="0" algn="just">
                  <a:lnSpc>
                    <a:spcPct val="150000"/>
                  </a:lnSpc>
                  <a:buNone/>
                </a:pPr>
                <a:r>
                  <a:rPr lang="zh-CN" altLang="zh-CN" kern="100" dirty="0">
                    <a:solidFill>
                      <a:srgbClr val="0000FF"/>
                    </a:solidFill>
                    <a:effectLst/>
                    <a:latin typeface="+mn-ea"/>
                  </a:rPr>
                  <a:t>互补律</a:t>
                </a:r>
                <a:r>
                  <a:rPr lang="zh-CN" altLang="zh-CN" kern="100" dirty="0">
                    <a:effectLst/>
                    <a:latin typeface="+mn-ea"/>
                  </a:rPr>
                  <a:t>：对任意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𝑳</m:t>
                    </m:r>
                  </m:oMath>
                </a14:m>
                <a:r>
                  <a:rPr lang="zh-CN" altLang="zh-CN" kern="100" dirty="0">
                    <a:effectLst/>
                    <a:latin typeface="+mn-ea"/>
                  </a:rPr>
                  <a:t>，存在</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m:t>
                    </m:r>
                    <m:r>
                      <a:rPr lang="en-US" altLang="zh-CN" i="1" kern="100" dirty="0">
                        <a:latin typeface="Cambria Math" panose="02040503050406030204" pitchFamily="18" charset="0"/>
                        <a:ea typeface="Cambria Math" panose="02040503050406030204" pitchFamily="18" charset="0"/>
                      </a:rPr>
                      <m:t>∈</m:t>
                    </m:r>
                    <m:r>
                      <a:rPr lang="en-US" altLang="zh-CN" b="1" i="1" kern="100" dirty="0" smtClean="0">
                        <a:latin typeface="Cambria Math" panose="02040503050406030204" pitchFamily="18" charset="0"/>
                        <a:ea typeface="Cambria Math" panose="02040503050406030204" pitchFamily="18" charset="0"/>
                      </a:rPr>
                      <m:t>𝑳</m:t>
                    </m:r>
                  </m:oMath>
                </a14:m>
                <a:r>
                  <a:rPr lang="zh-CN" altLang="zh-CN" kern="100" dirty="0">
                    <a:effectLst/>
                    <a:latin typeface="+mn-ea"/>
                  </a:rPr>
                  <a:t>，使得</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𝟎</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𝟏</m:t>
                    </m:r>
                  </m:oMath>
                </a14:m>
                <a:r>
                  <a:rPr lang="zh-CN" altLang="zh-CN" kern="100" dirty="0">
                    <a:effectLst/>
                    <a:latin typeface="+mn-ea"/>
                  </a:rPr>
                  <a:t>。</a:t>
                </a:r>
              </a:p>
              <a:p>
                <a:pPr>
                  <a:lnSpc>
                    <a:spcPct val="150000"/>
                  </a:lnSpc>
                </a:pPr>
                <a:r>
                  <a:rPr lang="zh-CN" altLang="zh-CN" dirty="0">
                    <a:effectLst/>
                    <a:latin typeface="+mn-ea"/>
                    <a:cs typeface="Times New Roman" panose="02020603050405020304" pitchFamily="18" charset="0"/>
                  </a:rPr>
                  <a:t>因而，布尔代数是满足</a:t>
                </a:r>
                <a:r>
                  <a:rPr lang="zh-CN" altLang="zh-CN" dirty="0">
                    <a:solidFill>
                      <a:srgbClr val="0000FF"/>
                    </a:solidFill>
                    <a:effectLst/>
                    <a:latin typeface="+mn-ea"/>
                    <a:cs typeface="Times New Roman" panose="02020603050405020304" pitchFamily="18" charset="0"/>
                  </a:rPr>
                  <a:t>交换律、结合律、吸收律、分配律、同一律、互补律</a:t>
                </a:r>
                <a:r>
                  <a:rPr lang="zh-CN" altLang="zh-CN" dirty="0">
                    <a:effectLst/>
                    <a:latin typeface="+mn-ea"/>
                    <a:cs typeface="Times New Roman" panose="02020603050405020304" pitchFamily="18" charset="0"/>
                  </a:rPr>
                  <a:t>的代数系统。</a:t>
                </a:r>
                <a:endParaRPr lang="en-US" altLang="zh-CN" dirty="0">
                  <a:effectLst/>
                  <a:latin typeface="+mn-ea"/>
                  <a:cs typeface="Times New Roman" panose="02020603050405020304" pitchFamily="18" charset="0"/>
                </a:endParaRPr>
              </a:p>
              <a:p>
                <a:pPr>
                  <a:lnSpc>
                    <a:spcPct val="150000"/>
                  </a:lnSpc>
                </a:pPr>
                <a:r>
                  <a:rPr lang="zh-CN" altLang="zh-CN" dirty="0">
                    <a:effectLst/>
                    <a:latin typeface="+mn-ea"/>
                    <a:cs typeface="Times New Roman" panose="02020603050405020304" pitchFamily="18" charset="0"/>
                  </a:rPr>
                  <a:t>而</a:t>
                </a:r>
                <a:r>
                  <a:rPr lang="zh-CN" altLang="zh-CN" dirty="0">
                    <a:solidFill>
                      <a:srgbClr val="0000FF"/>
                    </a:solidFill>
                    <a:effectLst/>
                    <a:latin typeface="+mn-ea"/>
                    <a:cs typeface="Times New Roman" panose="02020603050405020304" pitchFamily="18" charset="0"/>
                  </a:rPr>
                  <a:t>交换律、分配律、同一律、互补律</a:t>
                </a:r>
                <a:r>
                  <a:rPr lang="zh-CN" altLang="zh-CN" dirty="0">
                    <a:effectLst/>
                    <a:latin typeface="+mn-ea"/>
                    <a:cs typeface="Times New Roman" panose="02020603050405020304" pitchFamily="18" charset="0"/>
                  </a:rPr>
                  <a:t>可以</a:t>
                </a:r>
                <a:r>
                  <a:rPr lang="zh-CN" altLang="zh-CN" dirty="0">
                    <a:solidFill>
                      <a:srgbClr val="CC00CC"/>
                    </a:solidFill>
                    <a:effectLst/>
                    <a:latin typeface="+mn-ea"/>
                    <a:cs typeface="Times New Roman" panose="02020603050405020304" pitchFamily="18" charset="0"/>
                  </a:rPr>
                  <a:t>推导出结合律、吸收律</a:t>
                </a:r>
                <a:r>
                  <a:rPr lang="zh-CN" altLang="zh-CN" dirty="0">
                    <a:effectLst/>
                    <a:latin typeface="+mn-ea"/>
                    <a:cs typeface="Times New Roman" panose="02020603050405020304" pitchFamily="18" charset="0"/>
                  </a:rPr>
                  <a:t>。</a:t>
                </a:r>
                <a:endParaRPr lang="zh-CN" altLang="en-US" dirty="0">
                  <a:latin typeface="+mn-ea"/>
                </a:endParaRPr>
              </a:p>
            </p:txBody>
          </p:sp>
        </mc:Choice>
        <mc:Fallback xmlns="">
          <p:sp>
            <p:nvSpPr>
              <p:cNvPr id="3" name="内容占位符 2">
                <a:extLst>
                  <a:ext uri="{FF2B5EF4-FFF2-40B4-BE49-F238E27FC236}">
                    <a16:creationId xmlns:a16="http://schemas.microsoft.com/office/drawing/2014/main" id="{7DC62A36-40FA-4DE4-8A2D-1E01366DA48B}"/>
                  </a:ext>
                </a:extLst>
              </p:cNvPr>
              <p:cNvSpPr>
                <a:spLocks noGrp="1" noRot="1" noChangeAspect="1" noMove="1" noResize="1" noEditPoints="1" noAdjustHandles="1" noChangeArrowheads="1" noChangeShapeType="1" noTextEdit="1"/>
              </p:cNvSpPr>
              <p:nvPr>
                <p:ph idx="1"/>
              </p:nvPr>
            </p:nvSpPr>
            <p:spPr>
              <a:xfrm>
                <a:off x="307975" y="1067594"/>
                <a:ext cx="11125200" cy="4572000"/>
              </a:xfrm>
              <a:blipFill>
                <a:blip r:embed="rId5"/>
                <a:stretch>
                  <a:fillRect l="-603" r="-3288"/>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33581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0123DE-043E-4EC0-9697-B06F7750E848}"/>
              </a:ext>
            </a:extLst>
          </p:cNvPr>
          <p:cNvSpPr>
            <a:spLocks noGrp="1"/>
          </p:cNvSpPr>
          <p:nvPr>
            <p:ph type="title"/>
          </p:nvPr>
        </p:nvSpPr>
        <p:spPr/>
        <p:txBody>
          <a:bodyPr/>
          <a:lstStyle/>
          <a:p>
            <a:r>
              <a:rPr lang="zh-CN" altLang="en-US" dirty="0"/>
              <a:t>布尔代数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4558777-3CB2-4320-913A-E638EA298A36}"/>
                  </a:ext>
                </a:extLst>
              </p:cNvPr>
              <p:cNvSpPr>
                <a:spLocks noGrp="1"/>
              </p:cNvSpPr>
              <p:nvPr>
                <p:ph idx="1"/>
              </p:nvPr>
            </p:nvSpPr>
            <p:spPr>
              <a:xfrm>
                <a:off x="307975" y="991394"/>
                <a:ext cx="11658600" cy="4114800"/>
              </a:xfrm>
            </p:spPr>
            <p:txBody>
              <a:bodyPr>
                <a:noAutofit/>
              </a:bodyPr>
              <a:lstStyle/>
              <a:p>
                <a:pPr marL="0" indent="0" algn="just">
                  <a:buNone/>
                </a:pPr>
                <a:r>
                  <a:rPr lang="zh-CN" altLang="zh-CN" kern="1100" dirty="0">
                    <a:solidFill>
                      <a:srgbClr val="0000FF"/>
                    </a:solidFill>
                    <a:effectLst/>
                    <a:latin typeface="+mn-ea"/>
                  </a:rPr>
                  <a:t>定义</a:t>
                </a:r>
                <a:r>
                  <a:rPr lang="en-US" altLang="zh-CN" kern="1100" dirty="0">
                    <a:solidFill>
                      <a:srgbClr val="0000FF"/>
                    </a:solidFill>
                    <a:effectLst/>
                    <a:latin typeface="+mn-ea"/>
                  </a:rPr>
                  <a:t>10.12 </a:t>
                </a:r>
                <a:r>
                  <a:rPr lang="en-US" altLang="zh-CN" kern="100" dirty="0">
                    <a:solidFill>
                      <a:srgbClr val="0000FF"/>
                    </a:solidFill>
                    <a:effectLst/>
                    <a:latin typeface="+mn-ea"/>
                  </a:rPr>
                  <a:t> </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𝑩</m:t>
                    </m:r>
                    <m:r>
                      <a:rPr lang="en-US" altLang="zh-CN" b="1" i="1" kern="100" dirty="0" smtClean="0">
                        <a:effectLst/>
                        <a:latin typeface="Cambria Math" panose="02040503050406030204" pitchFamily="18" charset="0"/>
                      </a:rPr>
                      <m:t>, ∧, ∨&gt;</m:t>
                    </m:r>
                  </m:oMath>
                </a14:m>
                <a:r>
                  <a:rPr lang="zh-CN" altLang="zh-CN" kern="100" dirty="0">
                    <a:effectLst/>
                    <a:latin typeface="+mn-ea"/>
                  </a:rPr>
                  <a:t>是一个代数系统，其中</a:t>
                </a:r>
                <a14:m>
                  <m:oMath xmlns:m="http://schemas.openxmlformats.org/officeDocument/2006/math">
                    <m:r>
                      <a:rPr lang="zh-CN" altLang="zh-CN" b="1" i="1" kern="100" dirty="0" smtClean="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m:t>
                    </m:r>
                    <m:r>
                      <a:rPr lang="zh-CN" altLang="zh-CN" b="1" i="1" kern="100" dirty="0">
                        <a:effectLst/>
                        <a:latin typeface="Cambria Math" panose="02040503050406030204" pitchFamily="18" charset="0"/>
                        <a:cs typeface="宋体" panose="02010600030101010101" pitchFamily="2" charset="-122"/>
                      </a:rPr>
                      <m:t>∨</m:t>
                    </m:r>
                  </m:oMath>
                </a14:m>
                <a:r>
                  <a:rPr lang="zh-CN" altLang="zh-CN"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𝑩</m:t>
                    </m:r>
                  </m:oMath>
                </a14:m>
                <a:r>
                  <a:rPr lang="zh-CN" altLang="zh-CN" kern="100" dirty="0">
                    <a:effectLst/>
                    <a:latin typeface="+mn-ea"/>
                  </a:rPr>
                  <a:t>中的二元运算，如果对任意</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𝒃</m:t>
                    </m:r>
                    <m:r>
                      <a:rPr lang="en-US" altLang="zh-CN" b="1" i="1" kern="100" dirty="0" smtClean="0">
                        <a:effectLst/>
                        <a:latin typeface="Cambria Math" panose="02040503050406030204" pitchFamily="18" charset="0"/>
                      </a:rPr>
                      <m:t>, </m:t>
                    </m:r>
                    <m:r>
                      <a:rPr lang="en-US" altLang="zh-CN" b="1" i="1" kern="100" dirty="0" smtClean="0">
                        <a:effectLst/>
                        <a:latin typeface="Cambria Math" panose="02040503050406030204" pitchFamily="18" charset="0"/>
                      </a:rPr>
                      <m:t>𝒄</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ea typeface="Cambria Math" panose="02040503050406030204" pitchFamily="18" charset="0"/>
                      </a:rPr>
                      <m:t>𝑩</m:t>
                    </m:r>
                  </m:oMath>
                </a14:m>
                <a:r>
                  <a:rPr lang="zh-CN" altLang="zh-CN" kern="100" dirty="0">
                    <a:effectLst/>
                    <a:latin typeface="+mn-ea"/>
                  </a:rPr>
                  <a:t>，满足</a:t>
                </a:r>
              </a:p>
              <a:p>
                <a:pPr marL="0" indent="0" algn="just">
                  <a:buNone/>
                </a:pPr>
                <a:r>
                  <a:rPr lang="zh-CN" altLang="zh-CN" kern="100" dirty="0">
                    <a:effectLst/>
                    <a:latin typeface="+mn-ea"/>
                  </a:rPr>
                  <a:t>（</a:t>
                </a:r>
                <a:r>
                  <a:rPr lang="en-US" altLang="zh-CN" kern="100" dirty="0">
                    <a:effectLst/>
                    <a:latin typeface="+mn-ea"/>
                  </a:rPr>
                  <a:t>1</a:t>
                </a:r>
                <a:r>
                  <a:rPr lang="zh-CN" altLang="zh-CN" kern="100" dirty="0">
                    <a:effectLst/>
                    <a:latin typeface="+mn-ea"/>
                  </a:rPr>
                  <a:t>）</a:t>
                </a:r>
                <a:r>
                  <a:rPr lang="zh-CN" altLang="zh-CN" kern="100" dirty="0">
                    <a:solidFill>
                      <a:srgbClr val="0000FF"/>
                    </a:solidFill>
                    <a:effectLst/>
                    <a:latin typeface="+mn-ea"/>
                  </a:rPr>
                  <a:t>交换律</a:t>
                </a:r>
                <a:r>
                  <a:rPr lang="zh-CN" altLang="zh-CN" kern="100" dirty="0">
                    <a:effectLst/>
                    <a:latin typeface="+mn-ea"/>
                  </a:rPr>
                  <a:t>：</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oMath>
                </a14:m>
                <a:endParaRPr lang="zh-CN"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2</a:t>
                </a:r>
                <a:r>
                  <a:rPr lang="zh-CN" altLang="zh-CN" kern="100" dirty="0">
                    <a:effectLst/>
                    <a:latin typeface="+mn-ea"/>
                  </a:rPr>
                  <a:t>）</a:t>
                </a:r>
                <a:r>
                  <a:rPr lang="zh-CN" altLang="zh-CN" kern="100" dirty="0">
                    <a:solidFill>
                      <a:srgbClr val="0000FF"/>
                    </a:solidFill>
                    <a:effectLst/>
                    <a:latin typeface="+mn-ea"/>
                  </a:rPr>
                  <a:t>分配律</a:t>
                </a:r>
                <a:r>
                  <a:rPr lang="zh-CN" altLang="zh-CN" kern="100" dirty="0">
                    <a:effectLst/>
                    <a:latin typeface="+mn-ea"/>
                  </a:rPr>
                  <a:t>：</a:t>
                </a:r>
                <a14:m>
                  <m:oMath xmlns:m="http://schemas.openxmlformats.org/officeDocument/2006/math">
                    <m:r>
                      <a:rPr lang="en-US" altLang="zh-CN" b="1" i="1" kern="100" dirty="0" smtClean="0">
                        <a:effectLst/>
                        <a:latin typeface="Cambria Math" panose="02040503050406030204" pitchFamily="18" charset="0"/>
                      </a:rPr>
                      <m:t>𝒂</m:t>
                    </m:r>
                    <m:r>
                      <a:rPr lang="en-US" altLang="zh-CN" b="1" i="1" kern="100" dirty="0">
                        <a:effectLst/>
                        <a:latin typeface="Cambria Math" panose="02040503050406030204" pitchFamily="18" charset="0"/>
                        <a:sym typeface="Symbol" panose="05050102010706020507" pitchFamily="18" charset="2"/>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smtClean="0">
                        <a:effectLst/>
                        <a:latin typeface="Cambria Math" panose="02040503050406030204" pitchFamily="18" charset="0"/>
                      </a:rPr>
                      <m:t>𝒂</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smtClean="0">
                        <a:effectLst/>
                        <a:latin typeface="Cambria Math" panose="02040503050406030204" pitchFamily="18" charset="0"/>
                      </a:rPr>
                      <m:t>𝒃</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cs typeface="宋体" panose="02010600030101010101" pitchFamily="2" charset="-122"/>
                      </a:rPr>
                      <m:t> </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i="1" kern="100" dirty="0">
                        <a:latin typeface="Cambria Math" panose="02040503050406030204" pitchFamily="18" charset="0"/>
                      </a:rPr>
                      <m:t>𝒂</m:t>
                    </m:r>
                    <m:r>
                      <a:rPr lang="en-US" altLang="zh-CN" i="1" kern="100" dirty="0">
                        <a:latin typeface="Cambria Math" panose="02040503050406030204" pitchFamily="18" charset="0"/>
                        <a:ea typeface="Cambria Math" panose="02040503050406030204" pitchFamily="18" charset="0"/>
                      </a:rPr>
                      <m:t>∨</m:t>
                    </m:r>
                    <m:r>
                      <a:rPr lang="en-US" altLang="zh-CN" b="1" i="1" kern="100" dirty="0" smtClean="0">
                        <a:latin typeface="Cambria Math" panose="02040503050406030204" pitchFamily="18" charset="0"/>
                        <a:ea typeface="Cambria Math" panose="02040503050406030204" pitchFamily="18" charset="0"/>
                      </a:rPr>
                      <m:t>𝒄</m:t>
                    </m:r>
                    <m:r>
                      <a:rPr lang="en-US" altLang="zh-CN" b="1" i="1" kern="100" dirty="0">
                        <a:effectLst/>
                        <a:latin typeface="Cambria Math" panose="02040503050406030204" pitchFamily="18" charset="0"/>
                      </a:rPr>
                      <m:t>)</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𝒃</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𝒃</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𝒄</m:t>
                    </m:r>
                    <m:r>
                      <a:rPr lang="en-US" altLang="zh-CN" b="1" i="1" kern="100" dirty="0">
                        <a:effectLst/>
                        <a:latin typeface="Cambria Math" panose="02040503050406030204" pitchFamily="18" charset="0"/>
                      </a:rPr>
                      <m:t>)</m:t>
                    </m:r>
                    <m:r>
                      <a:rPr lang="zh-CN" altLang="zh-CN" b="1" i="1" kern="100" dirty="0">
                        <a:effectLst/>
                        <a:latin typeface="Cambria Math" panose="02040503050406030204" pitchFamily="18" charset="0"/>
                      </a:rPr>
                      <m:t>；</m:t>
                    </m:r>
                  </m:oMath>
                </a14:m>
                <a:endParaRPr lang="zh-CN"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3</a:t>
                </a:r>
                <a:r>
                  <a:rPr lang="zh-CN" altLang="zh-CN" kern="100" dirty="0">
                    <a:effectLst/>
                    <a:latin typeface="+mn-ea"/>
                  </a:rPr>
                  <a:t>）</a:t>
                </a:r>
                <a:r>
                  <a:rPr lang="zh-CN" altLang="zh-CN" kern="100" dirty="0">
                    <a:solidFill>
                      <a:srgbClr val="0000FF"/>
                    </a:solidFill>
                    <a:effectLst/>
                    <a:latin typeface="+mn-ea"/>
                  </a:rPr>
                  <a:t>同一律</a:t>
                </a:r>
                <a:r>
                  <a:rPr lang="zh-CN" altLang="zh-CN" kern="100" dirty="0">
                    <a:effectLst/>
                    <a:latin typeface="+mn-ea"/>
                  </a:rPr>
                  <a:t>：在</a:t>
                </a:r>
                <a14:m>
                  <m:oMath xmlns:m="http://schemas.openxmlformats.org/officeDocument/2006/math">
                    <m:r>
                      <a:rPr lang="en-US" altLang="zh-CN" b="1" i="1" kern="100" dirty="0" smtClean="0">
                        <a:effectLst/>
                        <a:latin typeface="Cambria Math" panose="02040503050406030204" pitchFamily="18" charset="0"/>
                      </a:rPr>
                      <m:t>𝑩</m:t>
                    </m:r>
                  </m:oMath>
                </a14:m>
                <a:r>
                  <a:rPr lang="zh-CN" altLang="zh-CN" kern="100" dirty="0">
                    <a:effectLst/>
                    <a:latin typeface="+mn-ea"/>
                  </a:rPr>
                  <a:t>中存在两个元素</a:t>
                </a:r>
                <a14:m>
                  <m:oMath xmlns:m="http://schemas.openxmlformats.org/officeDocument/2006/math">
                    <m:r>
                      <a:rPr lang="en-US" altLang="zh-CN" b="1" i="1" kern="100" dirty="0" smtClean="0">
                        <a:effectLst/>
                        <a:latin typeface="Cambria Math" panose="02040503050406030204" pitchFamily="18" charset="0"/>
                      </a:rPr>
                      <m:t>𝟎</m:t>
                    </m:r>
                  </m:oMath>
                </a14:m>
                <a:r>
                  <a:rPr lang="zh-CN" altLang="zh-CN" kern="100" dirty="0">
                    <a:effectLst/>
                    <a:latin typeface="+mn-ea"/>
                  </a:rPr>
                  <a:t>和</a:t>
                </a:r>
                <a14:m>
                  <m:oMath xmlns:m="http://schemas.openxmlformats.org/officeDocument/2006/math">
                    <m:r>
                      <a:rPr lang="en-US" altLang="zh-CN" b="1" i="1" kern="100" dirty="0" smtClean="0">
                        <a:effectLst/>
                        <a:latin typeface="Cambria Math" panose="02040503050406030204" pitchFamily="18" charset="0"/>
                      </a:rPr>
                      <m:t>𝟏</m:t>
                    </m:r>
                  </m:oMath>
                </a14:m>
                <a:r>
                  <a:rPr lang="zh-CN" altLang="zh-CN" kern="100" dirty="0">
                    <a:effectLst/>
                    <a:latin typeface="+mn-ea"/>
                  </a:rPr>
                  <a:t>，使得对</a:t>
                </a:r>
                <a14:m>
                  <m:oMath xmlns:m="http://schemas.openxmlformats.org/officeDocument/2006/math">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dirty="0" smtClean="0">
                        <a:effectLst/>
                        <a:latin typeface="Cambria Math" panose="02040503050406030204" pitchFamily="18" charset="0"/>
                        <a:ea typeface="Cambria Math" panose="02040503050406030204" pitchFamily="18" charset="0"/>
                        <a:sym typeface="Symbol" panose="05050102010706020507" pitchFamily="18" charset="2"/>
                      </a:rPr>
                      <m:t>𝒂</m:t>
                    </m:r>
                    <m:r>
                      <a:rPr lang="en-US" altLang="zh-CN" i="1" kern="100" dirty="0">
                        <a:latin typeface="Cambria Math" panose="02040503050406030204" pitchFamily="18" charset="0"/>
                        <a:ea typeface="Cambria Math" panose="02040503050406030204" pitchFamily="18" charset="0"/>
                      </a:rPr>
                      <m:t>∈</m:t>
                    </m:r>
                    <m:r>
                      <a:rPr lang="en-US" altLang="zh-CN" i="1" kern="100" dirty="0">
                        <a:latin typeface="Cambria Math" panose="02040503050406030204" pitchFamily="18" charset="0"/>
                        <a:ea typeface="Cambria Math" panose="02040503050406030204" pitchFamily="18" charset="0"/>
                      </a:rPr>
                      <m:t>𝑩</m:t>
                    </m:r>
                  </m:oMath>
                </a14:m>
                <a:r>
                  <a:rPr lang="zh-CN" altLang="zh-CN" kern="100" dirty="0">
                    <a:effectLst/>
                    <a:latin typeface="+mn-ea"/>
                  </a:rPr>
                  <a:t>，有</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𝟏</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𝟎</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rPr>
                      <m:t>；</m:t>
                    </m:r>
                  </m:oMath>
                </a14:m>
                <a:endParaRPr lang="zh-CN"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4</a:t>
                </a:r>
                <a:r>
                  <a:rPr lang="zh-CN" altLang="zh-CN" kern="100" dirty="0">
                    <a:effectLst/>
                    <a:latin typeface="+mn-ea"/>
                  </a:rPr>
                  <a:t>）</a:t>
                </a:r>
                <a:r>
                  <a:rPr lang="zh-CN" altLang="zh-CN" kern="100" dirty="0">
                    <a:solidFill>
                      <a:srgbClr val="0000FF"/>
                    </a:solidFill>
                    <a:effectLst/>
                    <a:latin typeface="+mn-ea"/>
                  </a:rPr>
                  <a:t>互补律</a:t>
                </a:r>
                <a:r>
                  <a:rPr lang="zh-CN" altLang="zh-CN" kern="100" dirty="0">
                    <a:effectLst/>
                    <a:latin typeface="+mn-ea"/>
                  </a:rPr>
                  <a:t>：对</a:t>
                </a:r>
                <a14:m>
                  <m:oMath xmlns:m="http://schemas.openxmlformats.org/officeDocument/2006/math">
                    <m:r>
                      <a:rPr lang="en-US" altLang="zh-CN" i="1" kern="100" dirty="0">
                        <a:latin typeface="Cambria Math" panose="02040503050406030204" pitchFamily="18" charset="0"/>
                        <a:ea typeface="Cambria Math" panose="02040503050406030204" pitchFamily="18" charset="0"/>
                        <a:sym typeface="Symbol" panose="05050102010706020507" pitchFamily="18" charset="2"/>
                      </a:rPr>
                      <m:t>∀</m:t>
                    </m:r>
                    <m:r>
                      <a:rPr lang="en-US" altLang="zh-CN" i="1" kern="100" dirty="0">
                        <a:latin typeface="Cambria Math" panose="02040503050406030204" pitchFamily="18" charset="0"/>
                        <a:ea typeface="Cambria Math" panose="02040503050406030204" pitchFamily="18" charset="0"/>
                        <a:sym typeface="Symbol" panose="05050102010706020507" pitchFamily="18" charset="2"/>
                      </a:rPr>
                      <m:t>𝒂</m:t>
                    </m:r>
                    <m:r>
                      <a:rPr lang="en-US" altLang="zh-CN" i="1" kern="100" dirty="0">
                        <a:latin typeface="Cambria Math" panose="02040503050406030204" pitchFamily="18" charset="0"/>
                        <a:ea typeface="Cambria Math" panose="02040503050406030204" pitchFamily="18" charset="0"/>
                      </a:rPr>
                      <m:t>∈</m:t>
                    </m:r>
                    <m:r>
                      <a:rPr lang="en-US" altLang="zh-CN" i="1" kern="100" dirty="0">
                        <a:latin typeface="Cambria Math" panose="02040503050406030204" pitchFamily="18" charset="0"/>
                        <a:ea typeface="Cambria Math" panose="02040503050406030204" pitchFamily="18" charset="0"/>
                      </a:rPr>
                      <m:t>𝑩</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sym typeface="Symbol" panose="05050102010706020507" pitchFamily="18" charset="2"/>
                      </a:rPr>
                      <m:t></m:t>
                    </m:r>
                    <m:r>
                      <a:rPr lang="en-US" altLang="zh-CN" i="1" kern="100" dirty="0">
                        <a:latin typeface="Cambria Math" panose="02040503050406030204" pitchFamily="18" charset="0"/>
                      </a:rPr>
                      <m:t>𝒂</m:t>
                    </m:r>
                    <m:r>
                      <a:rPr lang="en-US" altLang="zh-CN" i="1" kern="100" dirty="0">
                        <a:latin typeface="Cambria Math" panose="02040503050406030204" pitchFamily="18" charset="0"/>
                      </a:rPr>
                      <m:t>′∈</m:t>
                    </m:r>
                    <m:r>
                      <a:rPr lang="en-US" altLang="zh-CN" i="1" kern="100" dirty="0">
                        <a:latin typeface="Cambria Math" panose="02040503050406030204" pitchFamily="18" charset="0"/>
                        <a:ea typeface="Cambria Math" panose="02040503050406030204" pitchFamily="18" charset="0"/>
                      </a:rPr>
                      <m:t>𝑩</m:t>
                    </m:r>
                    <m:r>
                      <a:rPr lang="zh-CN" altLang="zh-CN" b="1" i="1" kern="100" dirty="0">
                        <a:effectLst/>
                        <a:latin typeface="Cambria Math" panose="02040503050406030204" pitchFamily="18" charset="0"/>
                      </a:rPr>
                      <m:t>，</m:t>
                    </m:r>
                  </m:oMath>
                </a14:m>
                <a:r>
                  <a:rPr lang="zh-CN" altLang="zh-CN" kern="100" dirty="0">
                    <a:effectLst/>
                    <a:latin typeface="+mn-ea"/>
                  </a:rPr>
                  <a:t>使得</a:t>
                </a:r>
                <a14:m>
                  <m:oMath xmlns:m="http://schemas.openxmlformats.org/officeDocument/2006/math">
                    <m:r>
                      <a:rPr lang="en-US" altLang="zh-CN" b="1" i="1" kern="100" dirty="0" smtClean="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𝟎</m:t>
                    </m:r>
                    <m:r>
                      <a:rPr lang="zh-CN" altLang="zh-CN" b="1" i="1" kern="100" dirty="0">
                        <a:effectLst/>
                        <a:latin typeface="Cambria Math" panose="02040503050406030204" pitchFamily="18" charset="0"/>
                      </a:rPr>
                      <m:t>，</m:t>
                    </m:r>
                    <m:r>
                      <a:rPr lang="en-US" altLang="zh-CN" b="1" i="1" kern="100" dirty="0">
                        <a:effectLst/>
                        <a:latin typeface="Cambria Math" panose="02040503050406030204" pitchFamily="18" charset="0"/>
                      </a:rPr>
                      <m:t>𝒂</m:t>
                    </m:r>
                    <m:r>
                      <a:rPr lang="zh-CN" altLang="zh-CN" b="1" i="1" kern="100" dirty="0">
                        <a:effectLst/>
                        <a:latin typeface="Cambria Math" panose="02040503050406030204" pitchFamily="18" charset="0"/>
                        <a:cs typeface="宋体" panose="02010600030101010101" pitchFamily="2" charset="-122"/>
                      </a:rPr>
                      <m:t>∨</m:t>
                    </m:r>
                    <m:r>
                      <a:rPr lang="en-US" altLang="zh-CN" b="1" i="1" kern="100" dirty="0">
                        <a:effectLst/>
                        <a:latin typeface="Cambria Math" panose="02040503050406030204" pitchFamily="18" charset="0"/>
                      </a:rPr>
                      <m:t>𝒂</m:t>
                    </m:r>
                    <m:r>
                      <a:rPr lang="en-US" altLang="zh-CN" b="1" i="1" kern="100" dirty="0">
                        <a:effectLst/>
                        <a:latin typeface="Cambria Math" panose="02040503050406030204" pitchFamily="18" charset="0"/>
                      </a:rPr>
                      <m:t>′ = </m:t>
                    </m:r>
                    <m:r>
                      <a:rPr lang="en-US" altLang="zh-CN" b="1" i="1" kern="100" dirty="0">
                        <a:effectLst/>
                        <a:latin typeface="Cambria Math" panose="02040503050406030204" pitchFamily="18" charset="0"/>
                      </a:rPr>
                      <m:t>𝟏</m:t>
                    </m:r>
                  </m:oMath>
                </a14:m>
                <a:r>
                  <a:rPr lang="zh-CN" altLang="zh-CN" kern="100" dirty="0">
                    <a:effectLst/>
                    <a:latin typeface="+mn-ea"/>
                  </a:rPr>
                  <a:t>。</a:t>
                </a:r>
              </a:p>
              <a:p>
                <a:pPr marL="0" indent="0">
                  <a:buNone/>
                </a:pPr>
                <a:r>
                  <a:rPr lang="zh-CN" altLang="zh-CN" dirty="0">
                    <a:effectLst/>
                    <a:latin typeface="+mn-ea"/>
                    <a:cs typeface="Times New Roman" panose="02020603050405020304" pitchFamily="18" charset="0"/>
                  </a:rPr>
                  <a:t>则称</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𝑩</m:t>
                    </m:r>
                    <m:r>
                      <a:rPr lang="en-US" altLang="zh-CN" b="1" i="1" dirty="0" smtClean="0">
                        <a:effectLst/>
                        <a:latin typeface="Cambria Math" panose="02040503050406030204" pitchFamily="18" charset="0"/>
                      </a:rPr>
                      <m:t>, ∧, ∨&gt;</m:t>
                    </m:r>
                  </m:oMath>
                </a14:m>
                <a:r>
                  <a:rPr lang="zh-CN" altLang="zh-CN" dirty="0">
                    <a:effectLst/>
                    <a:latin typeface="+mn-ea"/>
                    <a:cs typeface="Times New Roman" panose="02020603050405020304" pitchFamily="18" charset="0"/>
                  </a:rPr>
                  <a:t>为</a:t>
                </a:r>
                <a:r>
                  <a:rPr lang="zh-CN" altLang="zh-CN" dirty="0">
                    <a:solidFill>
                      <a:srgbClr val="FF0000"/>
                    </a:solidFill>
                    <a:effectLst/>
                    <a:latin typeface="+mn-ea"/>
                    <a:cs typeface="Times New Roman" panose="02020603050405020304" pitchFamily="18" charset="0"/>
                  </a:rPr>
                  <a:t>布尔代数</a:t>
                </a:r>
                <a:r>
                  <a:rPr lang="zh-CN" altLang="zh-CN" dirty="0">
                    <a:effectLst/>
                    <a:latin typeface="+mn-ea"/>
                    <a:cs typeface="Times New Roman" panose="02020603050405020304" pitchFamily="18" charset="0"/>
                  </a:rPr>
                  <a:t>，记为</a:t>
                </a:r>
                <a14:m>
                  <m:oMath xmlns:m="http://schemas.openxmlformats.org/officeDocument/2006/math">
                    <m:r>
                      <a:rPr lang="en-US" altLang="zh-CN" b="1" i="1" dirty="0" smtClean="0">
                        <a:effectLst/>
                        <a:latin typeface="Cambria Math" panose="02040503050406030204" pitchFamily="18" charset="0"/>
                      </a:rPr>
                      <m:t>&lt;</m:t>
                    </m:r>
                    <m:r>
                      <a:rPr lang="en-US" altLang="zh-CN" b="1" i="1" dirty="0" smtClean="0">
                        <a:effectLst/>
                        <a:latin typeface="Cambria Math" panose="02040503050406030204" pitchFamily="18" charset="0"/>
                      </a:rPr>
                      <m:t>𝑩</m:t>
                    </m:r>
                    <m:r>
                      <a:rPr lang="en-US" altLang="zh-CN" b="1" i="1" dirty="0" smtClean="0">
                        <a:effectLst/>
                        <a:latin typeface="Cambria Math" panose="02040503050406030204" pitchFamily="18" charset="0"/>
                      </a:rPr>
                      <m:t>, ∧, ∨, ′, </m:t>
                    </m:r>
                    <m:r>
                      <a:rPr lang="en-US" altLang="zh-CN" b="1" i="1" dirty="0">
                        <a:effectLst/>
                        <a:latin typeface="Cambria Math" panose="02040503050406030204" pitchFamily="18" charset="0"/>
                      </a:rPr>
                      <m:t>𝟎</m:t>
                    </m:r>
                    <m:r>
                      <a:rPr lang="en-US" altLang="zh-CN" b="1" i="1" dirty="0">
                        <a:effectLst/>
                        <a:latin typeface="Cambria Math" panose="02040503050406030204" pitchFamily="18" charset="0"/>
                      </a:rPr>
                      <m:t>, </m:t>
                    </m:r>
                    <m:r>
                      <a:rPr lang="en-US" altLang="zh-CN" b="1" i="1" dirty="0">
                        <a:effectLst/>
                        <a:latin typeface="Cambria Math" panose="02040503050406030204" pitchFamily="18" charset="0"/>
                      </a:rPr>
                      <m:t>𝟏</m:t>
                    </m:r>
                    <m:r>
                      <a:rPr lang="en-US" altLang="zh-CN" b="1" i="1" dirty="0">
                        <a:effectLst/>
                        <a:latin typeface="Cambria Math" panose="02040503050406030204" pitchFamily="18" charset="0"/>
                      </a:rPr>
                      <m:t>&gt;</m:t>
                    </m:r>
                  </m:oMath>
                </a14:m>
                <a:r>
                  <a:rPr lang="zh-CN" altLang="zh-CN" dirty="0">
                    <a:effectLst/>
                    <a:latin typeface="+mn-ea"/>
                    <a:cs typeface="Times New Roman" panose="02020603050405020304" pitchFamily="18" charset="0"/>
                  </a:rPr>
                  <a:t>。简称</a:t>
                </a:r>
                <a14:m>
                  <m:oMath xmlns:m="http://schemas.openxmlformats.org/officeDocument/2006/math">
                    <m:r>
                      <a:rPr lang="en-US" altLang="zh-CN" b="1" i="1" dirty="0" smtClean="0">
                        <a:effectLst/>
                        <a:latin typeface="Cambria Math" panose="02040503050406030204" pitchFamily="18" charset="0"/>
                      </a:rPr>
                      <m:t>𝑩</m:t>
                    </m:r>
                  </m:oMath>
                </a14:m>
                <a:r>
                  <a:rPr lang="zh-CN" altLang="zh-CN" dirty="0">
                    <a:effectLst/>
                    <a:latin typeface="+mn-ea"/>
                    <a:cs typeface="Times New Roman" panose="02020603050405020304" pitchFamily="18" charset="0"/>
                  </a:rPr>
                  <a:t>是布尔代数。</a:t>
                </a:r>
                <a:endParaRPr lang="zh-CN" altLang="en-US" dirty="0">
                  <a:latin typeface="+mn-ea"/>
                </a:endParaRPr>
              </a:p>
            </p:txBody>
          </p:sp>
        </mc:Choice>
        <mc:Fallback xmlns="">
          <p:sp>
            <p:nvSpPr>
              <p:cNvPr id="3" name="内容占位符 2">
                <a:extLst>
                  <a:ext uri="{FF2B5EF4-FFF2-40B4-BE49-F238E27FC236}">
                    <a16:creationId xmlns:a16="http://schemas.microsoft.com/office/drawing/2014/main" id="{74558777-3CB2-4320-913A-E638EA298A36}"/>
                  </a:ext>
                </a:extLst>
              </p:cNvPr>
              <p:cNvSpPr>
                <a:spLocks noGrp="1" noRot="1" noChangeAspect="1" noMove="1" noResize="1" noEditPoints="1" noAdjustHandles="1" noChangeArrowheads="1" noChangeShapeType="1" noTextEdit="1"/>
              </p:cNvSpPr>
              <p:nvPr>
                <p:ph idx="1"/>
              </p:nvPr>
            </p:nvSpPr>
            <p:spPr>
              <a:xfrm>
                <a:off x="307975" y="991394"/>
                <a:ext cx="11658600" cy="4114800"/>
              </a:xfrm>
              <a:blipFill>
                <a:blip r:embed="rId5"/>
                <a:stretch>
                  <a:fillRect l="-575" r="-523"/>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55349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23ECF8-B367-4C6D-9DBD-5EB4CEA8C3F0}"/>
              </a:ext>
            </a:extLst>
          </p:cNvPr>
          <p:cNvSpPr>
            <a:spLocks noGrp="1"/>
          </p:cNvSpPr>
          <p:nvPr>
            <p:ph type="title"/>
          </p:nvPr>
        </p:nvSpPr>
        <p:spPr/>
        <p:txBody>
          <a:bodyPr/>
          <a:lstStyle/>
          <a:p>
            <a:r>
              <a:rPr lang="zh-CN" altLang="en-US" dirty="0"/>
              <a:t>最简单的布尔代数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D9FF652-9D54-422C-A509-92F9872CE99E}"/>
                  </a:ext>
                </a:extLst>
              </p:cNvPr>
              <p:cNvSpPr>
                <a:spLocks noGrp="1"/>
              </p:cNvSpPr>
              <p:nvPr>
                <p:ph idx="1"/>
              </p:nvPr>
            </p:nvSpPr>
            <p:spPr>
              <a:xfrm>
                <a:off x="609918" y="1143795"/>
                <a:ext cx="10978515" cy="609599"/>
              </a:xfrm>
            </p:spPr>
            <p:txBody>
              <a:bodyPr>
                <a:normAutofit/>
              </a:bodyPr>
              <a:lstStyle/>
              <a:p>
                <a:pPr marL="0" indent="0">
                  <a:buNone/>
                </a:pPr>
                <a:r>
                  <a:rPr lang="zh-CN" altLang="zh-CN" dirty="0">
                    <a:effectLst/>
                    <a:latin typeface="+mn-ea"/>
                    <a:cs typeface="Times New Roman" panose="02020603050405020304" pitchFamily="18" charset="0"/>
                  </a:rPr>
                  <a:t>最简单的一个布尔代数是</a:t>
                </a:r>
                <a14:m>
                  <m:oMath xmlns:m="http://schemas.openxmlformats.org/officeDocument/2006/math">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𝟎</m:t>
                    </m:r>
                    <m:r>
                      <a:rPr lang="en-US" altLang="zh-CN" b="1" i="1" dirty="0" smtClean="0">
                        <a:effectLst/>
                        <a:latin typeface="Cambria Math" panose="02040503050406030204" pitchFamily="18" charset="0"/>
                      </a:rPr>
                      <m:t>,</m:t>
                    </m:r>
                    <m:r>
                      <a:rPr lang="en-US" altLang="zh-CN" b="1" i="1" dirty="0" smtClean="0">
                        <a:effectLst/>
                        <a:latin typeface="Cambria Math" panose="02040503050406030204" pitchFamily="18" charset="0"/>
                      </a:rPr>
                      <m:t>𝟏</m:t>
                    </m:r>
                    <m:r>
                      <a:rPr lang="en-US" altLang="zh-CN" b="1" i="1" dirty="0" smtClean="0">
                        <a:effectLst/>
                        <a:latin typeface="Cambria Math" panose="02040503050406030204" pitchFamily="18" charset="0"/>
                      </a:rPr>
                      <m:t>}</m:t>
                    </m:r>
                  </m:oMath>
                </a14:m>
                <a:r>
                  <a:rPr lang="zh-CN" altLang="zh-CN" dirty="0">
                    <a:effectLst/>
                    <a:latin typeface="+mn-ea"/>
                    <a:cs typeface="Times New Roman" panose="02020603050405020304" pitchFamily="18" charset="0"/>
                  </a:rPr>
                  <a:t>，仅包含两个平凡互补元。</a:t>
                </a:r>
                <a:endParaRPr lang="zh-CN" altLang="en-US" dirty="0">
                  <a:latin typeface="+mn-ea"/>
                </a:endParaRPr>
              </a:p>
            </p:txBody>
          </p:sp>
        </mc:Choice>
        <mc:Fallback xmlns="">
          <p:sp>
            <p:nvSpPr>
              <p:cNvPr id="3" name="内容占位符 2">
                <a:extLst>
                  <a:ext uri="{FF2B5EF4-FFF2-40B4-BE49-F238E27FC236}">
                    <a16:creationId xmlns:a16="http://schemas.microsoft.com/office/drawing/2014/main" id="{DD9FF652-9D54-422C-A509-92F9872CE99E}"/>
                  </a:ext>
                </a:extLst>
              </p:cNvPr>
              <p:cNvSpPr>
                <a:spLocks noGrp="1" noRot="1" noChangeAspect="1" noMove="1" noResize="1" noEditPoints="1" noAdjustHandles="1" noChangeArrowheads="1" noChangeShapeType="1" noTextEdit="1"/>
              </p:cNvSpPr>
              <p:nvPr>
                <p:ph idx="1"/>
              </p:nvPr>
            </p:nvSpPr>
            <p:spPr>
              <a:xfrm>
                <a:off x="609918" y="1143795"/>
                <a:ext cx="10978515" cy="609599"/>
              </a:xfrm>
              <a:blipFill>
                <a:blip r:embed="rId5"/>
                <a:stretch>
                  <a:fillRect l="-555" b="-6000"/>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4608BA31-12A8-4FEB-BAC6-09DD00B28050}"/>
              </a:ext>
            </a:extLst>
          </p:cNvPr>
          <p:cNvGraphicFramePr>
            <a:graphicFrameLocks noGrp="1"/>
          </p:cNvGraphicFramePr>
          <p:nvPr/>
        </p:nvGraphicFramePr>
        <p:xfrm>
          <a:off x="750063" y="2659223"/>
          <a:ext cx="2342572" cy="1905000"/>
        </p:xfrm>
        <a:graphic>
          <a:graphicData uri="http://schemas.openxmlformats.org/drawingml/2006/table">
            <a:tbl>
              <a:tblPr firstRow="1" firstCol="1">
                <a:tableStyleId>{5C22544A-7EE6-4342-B048-85BDC9FD1C3A}</a:tableStyleId>
              </a:tblPr>
              <a:tblGrid>
                <a:gridCol w="780283">
                  <a:extLst>
                    <a:ext uri="{9D8B030D-6E8A-4147-A177-3AD203B41FA5}">
                      <a16:colId xmlns:a16="http://schemas.microsoft.com/office/drawing/2014/main" val="1910006872"/>
                    </a:ext>
                  </a:extLst>
                </a:gridCol>
                <a:gridCol w="780283">
                  <a:extLst>
                    <a:ext uri="{9D8B030D-6E8A-4147-A177-3AD203B41FA5}">
                      <a16:colId xmlns:a16="http://schemas.microsoft.com/office/drawing/2014/main" val="3031456925"/>
                    </a:ext>
                  </a:extLst>
                </a:gridCol>
                <a:gridCol w="782006">
                  <a:extLst>
                    <a:ext uri="{9D8B030D-6E8A-4147-A177-3AD203B41FA5}">
                      <a16:colId xmlns:a16="http://schemas.microsoft.com/office/drawing/2014/main" val="3440294441"/>
                    </a:ext>
                  </a:extLst>
                </a:gridCol>
              </a:tblGrid>
              <a:tr h="701842">
                <a:tc>
                  <a:txBody>
                    <a:bodyPr/>
                    <a:lstStyle/>
                    <a:p>
                      <a:pPr algn="ctr" fontAlgn="b"/>
                      <a:r>
                        <a:rPr lang="zh-CN" sz="2800" b="1" kern="100">
                          <a:effectLst/>
                        </a:rPr>
                        <a:t>∧</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0</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60940414"/>
                  </a:ext>
                </a:extLst>
              </a:tr>
              <a:tr h="601579">
                <a:tc>
                  <a:txBody>
                    <a:bodyPr/>
                    <a:lstStyle/>
                    <a:p>
                      <a:pPr algn="ctr" fontAlgn="b"/>
                      <a:r>
                        <a:rPr lang="en-US" sz="2800" b="1" kern="100">
                          <a:effectLst/>
                        </a:rPr>
                        <a:t>0</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0</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0</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3353216"/>
                  </a:ext>
                </a:extLst>
              </a:tr>
              <a:tr h="601579">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dirty="0">
                          <a:effectLst/>
                        </a:rPr>
                        <a:t>0</a:t>
                      </a:r>
                      <a:endParaRPr lang="zh-CN" sz="28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dirty="0">
                          <a:effectLst/>
                        </a:rPr>
                        <a:t>1</a:t>
                      </a:r>
                      <a:endParaRPr lang="zh-CN" sz="28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51402514"/>
                  </a:ext>
                </a:extLst>
              </a:tr>
            </a:tbl>
          </a:graphicData>
        </a:graphic>
      </p:graphicFrame>
      <p:graphicFrame>
        <p:nvGraphicFramePr>
          <p:cNvPr id="5" name="表格 4">
            <a:extLst>
              <a:ext uri="{FF2B5EF4-FFF2-40B4-BE49-F238E27FC236}">
                <a16:creationId xmlns:a16="http://schemas.microsoft.com/office/drawing/2014/main" id="{934FCAAE-CA36-4D51-A8F0-20C6228795F7}"/>
              </a:ext>
            </a:extLst>
          </p:cNvPr>
          <p:cNvGraphicFramePr>
            <a:graphicFrameLocks noGrp="1"/>
          </p:cNvGraphicFramePr>
          <p:nvPr/>
        </p:nvGraphicFramePr>
        <p:xfrm>
          <a:off x="4194175" y="2659223"/>
          <a:ext cx="2590800" cy="1905000"/>
        </p:xfrm>
        <a:graphic>
          <a:graphicData uri="http://schemas.openxmlformats.org/drawingml/2006/table">
            <a:tbl>
              <a:tblPr firstRow="1" firstCol="1">
                <a:tableStyleId>{F5AB1C69-6EDB-4FF4-983F-18BD219EF322}</a:tableStyleId>
              </a:tblPr>
              <a:tblGrid>
                <a:gridCol w="862965">
                  <a:extLst>
                    <a:ext uri="{9D8B030D-6E8A-4147-A177-3AD203B41FA5}">
                      <a16:colId xmlns:a16="http://schemas.microsoft.com/office/drawing/2014/main" val="3050683838"/>
                    </a:ext>
                  </a:extLst>
                </a:gridCol>
                <a:gridCol w="862965">
                  <a:extLst>
                    <a:ext uri="{9D8B030D-6E8A-4147-A177-3AD203B41FA5}">
                      <a16:colId xmlns:a16="http://schemas.microsoft.com/office/drawing/2014/main" val="146841746"/>
                    </a:ext>
                  </a:extLst>
                </a:gridCol>
                <a:gridCol w="864870">
                  <a:extLst>
                    <a:ext uri="{9D8B030D-6E8A-4147-A177-3AD203B41FA5}">
                      <a16:colId xmlns:a16="http://schemas.microsoft.com/office/drawing/2014/main" val="1674133759"/>
                    </a:ext>
                  </a:extLst>
                </a:gridCol>
              </a:tblGrid>
              <a:tr h="701842">
                <a:tc>
                  <a:txBody>
                    <a:bodyPr/>
                    <a:lstStyle/>
                    <a:p>
                      <a:pPr algn="ctr" fontAlgn="b"/>
                      <a:r>
                        <a:rPr lang="zh-CN" sz="2800" b="1" kern="100">
                          <a:effectLst/>
                        </a:rPr>
                        <a:t>∨</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0</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55142623"/>
                  </a:ext>
                </a:extLst>
              </a:tr>
              <a:tr h="601579">
                <a:tc>
                  <a:txBody>
                    <a:bodyPr/>
                    <a:lstStyle/>
                    <a:p>
                      <a:pPr algn="ctr" fontAlgn="b"/>
                      <a:r>
                        <a:rPr lang="en-US" sz="2800" b="1" kern="100">
                          <a:effectLst/>
                        </a:rPr>
                        <a:t>0</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0</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28052004"/>
                  </a:ext>
                </a:extLst>
              </a:tr>
              <a:tr h="601579">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dirty="0">
                          <a:effectLst/>
                        </a:rPr>
                        <a:t>1</a:t>
                      </a:r>
                      <a:endParaRPr lang="zh-CN" sz="28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33272053"/>
                  </a:ext>
                </a:extLst>
              </a:tr>
            </a:tbl>
          </a:graphicData>
        </a:graphic>
      </p:graphicFrame>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A94278C-FBC4-4B2D-93C8-BA8C3F782428}"/>
                  </a:ext>
                </a:extLst>
              </p:cNvPr>
              <p:cNvGraphicFramePr>
                <a:graphicFrameLocks noGrp="1"/>
              </p:cNvGraphicFramePr>
              <p:nvPr/>
            </p:nvGraphicFramePr>
            <p:xfrm>
              <a:off x="8156575" y="2659223"/>
              <a:ext cx="1600200" cy="1937388"/>
            </p:xfrm>
            <a:graphic>
              <a:graphicData uri="http://schemas.openxmlformats.org/drawingml/2006/table">
                <a:tbl>
                  <a:tblPr firstRow="1" firstCol="1">
                    <a:tableStyleId>{93296810-A885-4BE3-A3E7-6D5BEEA58F35}</a:tableStyleId>
                  </a:tblPr>
                  <a:tblGrid>
                    <a:gridCol w="800100">
                      <a:extLst>
                        <a:ext uri="{9D8B030D-6E8A-4147-A177-3AD203B41FA5}">
                          <a16:colId xmlns:a16="http://schemas.microsoft.com/office/drawing/2014/main" val="3552002755"/>
                        </a:ext>
                      </a:extLst>
                    </a:gridCol>
                    <a:gridCol w="800100">
                      <a:extLst>
                        <a:ext uri="{9D8B030D-6E8A-4147-A177-3AD203B41FA5}">
                          <a16:colId xmlns:a16="http://schemas.microsoft.com/office/drawing/2014/main" val="90106805"/>
                        </a:ext>
                      </a:extLst>
                    </a:gridCol>
                  </a:tblGrid>
                  <a:tr h="645796">
                    <a:tc>
                      <a:txBody>
                        <a:bodyPr/>
                        <a:lstStyle/>
                        <a:p>
                          <a:pPr algn="ctr" fontAlgn="b"/>
                          <a14:m>
                            <m:oMathPara xmlns:m="http://schemas.openxmlformats.org/officeDocument/2006/math">
                              <m:oMathParaPr>
                                <m:jc m:val="centerGroup"/>
                              </m:oMathParaPr>
                              <m:oMath xmlns:m="http://schemas.openxmlformats.org/officeDocument/2006/math">
                                <m:r>
                                  <a:rPr lang="en-US" sz="2800" b="1" i="1" kern="100" dirty="0" smtClean="0">
                                    <a:effectLst/>
                                    <a:latin typeface="Cambria Math" panose="02040503050406030204" pitchFamily="18" charset="0"/>
                                  </a:rPr>
                                  <m:t>𝒙</m:t>
                                </m:r>
                              </m:oMath>
                            </m:oMathPara>
                          </a14:m>
                          <a:endParaRPr lang="zh-CN" sz="28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14:m>
                            <m:oMathPara xmlns:m="http://schemas.openxmlformats.org/officeDocument/2006/math">
                              <m:oMathParaPr>
                                <m:jc m:val="centerGroup"/>
                              </m:oMathParaPr>
                              <m:oMath xmlns:m="http://schemas.openxmlformats.org/officeDocument/2006/math">
                                <m:r>
                                  <a:rPr lang="en-US" sz="2800" b="1" i="1" kern="100" dirty="0" smtClean="0">
                                    <a:effectLst/>
                                    <a:latin typeface="Cambria Math" panose="02040503050406030204" pitchFamily="18" charset="0"/>
                                  </a:rPr>
                                  <m:t>𝒙</m:t>
                                </m:r>
                                <m:r>
                                  <a:rPr lang="en-US" sz="2800" b="1" i="1" kern="100" dirty="0" smtClean="0">
                                    <a:effectLst/>
                                    <a:latin typeface="Cambria Math" panose="02040503050406030204" pitchFamily="18" charset="0"/>
                                  </a:rPr>
                                  <m:t>′</m:t>
                                </m:r>
                              </m:oMath>
                            </m:oMathPara>
                          </a14:m>
                          <a:endParaRPr lang="zh-CN" sz="28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11241830"/>
                      </a:ext>
                    </a:extLst>
                  </a:tr>
                  <a:tr h="645796">
                    <a:tc>
                      <a:txBody>
                        <a:bodyPr/>
                        <a:lstStyle/>
                        <a:p>
                          <a:pPr algn="ctr" fontAlgn="b"/>
                          <a:r>
                            <a:rPr lang="en-US" sz="2800" b="1" kern="100">
                              <a:effectLst/>
                            </a:rPr>
                            <a:t>0</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23451060"/>
                      </a:ext>
                    </a:extLst>
                  </a:tr>
                  <a:tr h="645796">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dirty="0">
                              <a:effectLst/>
                            </a:rPr>
                            <a:t>0</a:t>
                          </a:r>
                          <a:endParaRPr lang="zh-CN" sz="28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49721733"/>
                      </a:ext>
                    </a:extLst>
                  </a:tr>
                </a:tbl>
              </a:graphicData>
            </a:graphic>
          </p:graphicFrame>
        </mc:Choice>
        <mc:Fallback xmlns="">
          <p:graphicFrame>
            <p:nvGraphicFramePr>
              <p:cNvPr id="6" name="表格 5">
                <a:extLst>
                  <a:ext uri="{FF2B5EF4-FFF2-40B4-BE49-F238E27FC236}">
                    <a16:creationId xmlns:a16="http://schemas.microsoft.com/office/drawing/2014/main" id="{AA94278C-FBC4-4B2D-93C8-BA8C3F782428}"/>
                  </a:ext>
                </a:extLst>
              </p:cNvPr>
              <p:cNvGraphicFramePr>
                <a:graphicFrameLocks noGrp="1"/>
              </p:cNvGraphicFramePr>
              <p:nvPr>
                <p:extLst>
                  <p:ext uri="{D42A27DB-BD31-4B8C-83A1-F6EECF244321}">
                    <p14:modId xmlns:p14="http://schemas.microsoft.com/office/powerpoint/2010/main" val="2694229567"/>
                  </p:ext>
                </p:extLst>
              </p:nvPr>
            </p:nvGraphicFramePr>
            <p:xfrm>
              <a:off x="8156575" y="2659223"/>
              <a:ext cx="1600200" cy="1937388"/>
            </p:xfrm>
            <a:graphic>
              <a:graphicData uri="http://schemas.openxmlformats.org/drawingml/2006/table">
                <a:tbl>
                  <a:tblPr firstRow="1" firstCol="1">
                    <a:tableStyleId>{93296810-A885-4BE3-A3E7-6D5BEEA58F35}</a:tableStyleId>
                  </a:tblPr>
                  <a:tblGrid>
                    <a:gridCol w="800100">
                      <a:extLst>
                        <a:ext uri="{9D8B030D-6E8A-4147-A177-3AD203B41FA5}">
                          <a16:colId xmlns:a16="http://schemas.microsoft.com/office/drawing/2014/main" val="3552002755"/>
                        </a:ext>
                      </a:extLst>
                    </a:gridCol>
                    <a:gridCol w="800100">
                      <a:extLst>
                        <a:ext uri="{9D8B030D-6E8A-4147-A177-3AD203B41FA5}">
                          <a16:colId xmlns:a16="http://schemas.microsoft.com/office/drawing/2014/main" val="90106805"/>
                        </a:ext>
                      </a:extLst>
                    </a:gridCol>
                  </a:tblGrid>
                  <a:tr h="645796">
                    <a:tc>
                      <a:txBody>
                        <a:bodyPr/>
                        <a:lstStyle/>
                        <a:p>
                          <a:endParaRPr lang="zh-CN"/>
                        </a:p>
                      </a:txBody>
                      <a:tcPr marL="68580" marR="68580" marT="0" marB="0" anchor="ctr">
                        <a:blipFill>
                          <a:blip r:embed="rId6"/>
                          <a:stretch>
                            <a:fillRect l="-1515" t="-943" r="-102273" b="-216038"/>
                          </a:stretch>
                        </a:blipFill>
                      </a:tcPr>
                    </a:tc>
                    <a:tc>
                      <a:txBody>
                        <a:bodyPr/>
                        <a:lstStyle/>
                        <a:p>
                          <a:endParaRPr lang="zh-CN"/>
                        </a:p>
                      </a:txBody>
                      <a:tcPr marL="68580" marR="68580" marT="0" marB="0" anchor="ctr">
                        <a:blipFill>
                          <a:blip r:embed="rId6"/>
                          <a:stretch>
                            <a:fillRect l="-102290" t="-943" r="-3053" b="-216038"/>
                          </a:stretch>
                        </a:blipFill>
                      </a:tcPr>
                    </a:tc>
                    <a:extLst>
                      <a:ext uri="{0D108BD9-81ED-4DB2-BD59-A6C34878D82A}">
                        <a16:rowId xmlns:a16="http://schemas.microsoft.com/office/drawing/2014/main" val="1511241830"/>
                      </a:ext>
                    </a:extLst>
                  </a:tr>
                  <a:tr h="645796">
                    <a:tc>
                      <a:txBody>
                        <a:bodyPr/>
                        <a:lstStyle/>
                        <a:p>
                          <a:pPr algn="ctr" fontAlgn="b"/>
                          <a:r>
                            <a:rPr lang="en-US" sz="2800" b="1" kern="100">
                              <a:effectLst/>
                            </a:rPr>
                            <a:t>0</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23451060"/>
                      </a:ext>
                    </a:extLst>
                  </a:tr>
                  <a:tr h="645796">
                    <a:tc>
                      <a:txBody>
                        <a:bodyPr/>
                        <a:lstStyle/>
                        <a:p>
                          <a:pPr algn="ctr" fontAlgn="b"/>
                          <a:r>
                            <a:rPr lang="en-US" sz="2800" b="1" kern="100">
                              <a:effectLst/>
                            </a:rPr>
                            <a:t>1</a:t>
                          </a:r>
                          <a:endParaRPr lang="zh-CN" sz="28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fontAlgn="b"/>
                          <a:r>
                            <a:rPr lang="en-US" sz="2800" b="1" kern="100" dirty="0">
                              <a:effectLst/>
                            </a:rPr>
                            <a:t>0</a:t>
                          </a:r>
                          <a:endParaRPr lang="zh-CN" sz="28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49721733"/>
                      </a:ext>
                    </a:extLst>
                  </a:tr>
                </a:tbl>
              </a:graphicData>
            </a:graphic>
          </p:graphicFrame>
        </mc:Fallback>
      </mc:AlternateContent>
    </p:spTree>
    <p:custDataLst>
      <p:tags r:id="rId1"/>
    </p:custDataLst>
    <p:extLst>
      <p:ext uri="{BB962C8B-B14F-4D97-AF65-F5344CB8AC3E}">
        <p14:creationId xmlns:p14="http://schemas.microsoft.com/office/powerpoint/2010/main" val="46812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AC15B-0D8F-4A15-B765-0A63835E7B4E}"/>
              </a:ext>
            </a:extLst>
          </p:cNvPr>
          <p:cNvSpPr>
            <a:spLocks noGrp="1"/>
          </p:cNvSpPr>
          <p:nvPr>
            <p:ph type="title"/>
          </p:nvPr>
        </p:nvSpPr>
        <p:spPr/>
        <p:txBody>
          <a:bodyPr/>
          <a:lstStyle/>
          <a:p>
            <a:r>
              <a:rPr lang="zh-CN" altLang="en-US" dirty="0"/>
              <a:t>典型布尔代数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E80B988-E4C7-44AC-93F9-822BC9BD0BB4}"/>
                  </a:ext>
                </a:extLst>
              </p:cNvPr>
              <p:cNvSpPr>
                <a:spLocks noGrp="1"/>
              </p:cNvSpPr>
              <p:nvPr>
                <p:ph idx="1"/>
              </p:nvPr>
            </p:nvSpPr>
            <p:spPr>
              <a:xfrm>
                <a:off x="384175" y="1143794"/>
                <a:ext cx="11125200" cy="3429000"/>
              </a:xfrm>
            </p:spPr>
            <p:txBody>
              <a:bodyPr>
                <a:noAutofit/>
              </a:bodyPr>
              <a:lstStyle/>
              <a:p>
                <a:pPr marL="0" indent="0" algn="just">
                  <a:lnSpc>
                    <a:spcPct val="140000"/>
                  </a:lnSpc>
                  <a:spcBef>
                    <a:spcPts val="1200"/>
                  </a:spcBef>
                  <a:buNone/>
                </a:pPr>
                <a:r>
                  <a:rPr lang="zh-CN" altLang="zh-CN" kern="100" dirty="0">
                    <a:effectLst/>
                    <a:latin typeface="+mn-ea"/>
                  </a:rPr>
                  <a:t>（</a:t>
                </a:r>
                <a:r>
                  <a:rPr lang="en-US" altLang="zh-CN" kern="100" dirty="0">
                    <a:effectLst/>
                    <a:latin typeface="+mn-ea"/>
                  </a:rPr>
                  <a:t>1</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𝑨</m:t>
                    </m:r>
                  </m:oMath>
                </a14:m>
                <a:r>
                  <a:rPr lang="zh-CN" altLang="zh-CN" kern="100" dirty="0">
                    <a:effectLst/>
                    <a:latin typeface="+mn-ea"/>
                  </a:rPr>
                  <a:t>为任意集合，</a:t>
                </a:r>
                <a14:m>
                  <m:oMath xmlns:m="http://schemas.openxmlformats.org/officeDocument/2006/math">
                    <m:r>
                      <a:rPr lang="en-US" altLang="zh-CN" b="1" i="1" kern="100" dirty="0" smtClean="0">
                        <a:solidFill>
                          <a:srgbClr val="0000FF"/>
                        </a:solidFill>
                        <a:effectLst/>
                        <a:latin typeface="Cambria Math" panose="02040503050406030204" pitchFamily="18" charset="0"/>
                      </a:rPr>
                      <m:t>𝑷</m:t>
                    </m:r>
                    <m:r>
                      <a:rPr lang="en-US" altLang="zh-CN" b="1" i="1" kern="100" dirty="0">
                        <a:solidFill>
                          <a:srgbClr val="0000FF"/>
                        </a:solidFill>
                        <a:effectLst/>
                        <a:latin typeface="Cambria Math" panose="02040503050406030204" pitchFamily="18" charset="0"/>
                      </a:rPr>
                      <m:t>(</m:t>
                    </m:r>
                    <m:r>
                      <a:rPr lang="en-US" altLang="zh-CN" b="1" i="1" kern="100" dirty="0">
                        <a:solidFill>
                          <a:srgbClr val="0000FF"/>
                        </a:solidFill>
                        <a:effectLst/>
                        <a:latin typeface="Cambria Math" panose="02040503050406030204" pitchFamily="18" charset="0"/>
                      </a:rPr>
                      <m:t>𝑨</m:t>
                    </m:r>
                    <m:r>
                      <a:rPr lang="en-US" altLang="zh-CN" b="1" i="1" kern="100" dirty="0">
                        <a:solidFill>
                          <a:srgbClr val="0000FF"/>
                        </a:solidFill>
                        <a:effectLst/>
                        <a:latin typeface="Cambria Math" panose="02040503050406030204" pitchFamily="18" charset="0"/>
                      </a:rPr>
                      <m:t>)</m:t>
                    </m:r>
                  </m:oMath>
                </a14:m>
                <a:r>
                  <a:rPr lang="zh-CN" altLang="zh-CN" kern="100" dirty="0">
                    <a:effectLst/>
                    <a:latin typeface="+mn-ea"/>
                  </a:rPr>
                  <a:t>是</a:t>
                </a:r>
                <a14:m>
                  <m:oMath xmlns:m="http://schemas.openxmlformats.org/officeDocument/2006/math">
                    <m:r>
                      <a:rPr lang="en-US" altLang="zh-CN" b="1" i="1" kern="100" dirty="0" smtClean="0">
                        <a:effectLst/>
                        <a:latin typeface="Cambria Math" panose="02040503050406030204" pitchFamily="18" charset="0"/>
                      </a:rPr>
                      <m:t>𝑨</m:t>
                    </m:r>
                  </m:oMath>
                </a14:m>
                <a:r>
                  <a:rPr lang="zh-CN" altLang="zh-CN" kern="100" dirty="0">
                    <a:effectLst/>
                    <a:latin typeface="+mn-ea"/>
                  </a:rPr>
                  <a:t>的幂集，</a:t>
                </a:r>
                <a14:m>
                  <m:oMath xmlns:m="http://schemas.openxmlformats.org/officeDocument/2006/math">
                    <m:r>
                      <a:rPr lang="en-US" altLang="zh-CN" b="1" i="1" kern="100" dirty="0" smtClean="0">
                        <a:effectLst/>
                        <a:latin typeface="Cambria Math" panose="02040503050406030204" pitchFamily="18" charset="0"/>
                      </a:rPr>
                      <m:t>∩</m:t>
                    </m:r>
                    <m:r>
                      <a:rPr lang="zh-CN" altLang="en-US" i="1" kern="100" dirty="0">
                        <a:latin typeface="Cambria Math" panose="02040503050406030204" pitchFamily="18" charset="0"/>
                      </a:rPr>
                      <m:t>、</m:t>
                    </m:r>
                    <m:r>
                      <a:rPr lang="en-US" altLang="zh-CN" b="1" i="1" kern="100" dirty="0">
                        <a:effectLst/>
                        <a:latin typeface="Cambria Math" panose="02040503050406030204" pitchFamily="18" charset="0"/>
                        <a:cs typeface="Cambria Math" panose="02040503050406030204" pitchFamily="18" charset="0"/>
                      </a:rPr>
                      <m:t>∪</m:t>
                    </m:r>
                  </m:oMath>
                </a14:m>
                <a:r>
                  <a:rPr lang="zh-CN" altLang="zh-CN" kern="100" dirty="0">
                    <a:effectLst/>
                    <a:latin typeface="+mn-ea"/>
                  </a:rPr>
                  <a:t>和</a:t>
                </a:r>
                <a14:m>
                  <m:oMath xmlns:m="http://schemas.openxmlformats.org/officeDocument/2006/math">
                    <m:r>
                      <a:rPr lang="en-US" altLang="zh-CN" i="1" kern="100" dirty="0" smtClean="0">
                        <a:effectLst/>
                        <a:latin typeface="Cambria Math" panose="02040503050406030204" pitchFamily="18" charset="0"/>
                        <a:ea typeface="Cambria Math" panose="02040503050406030204" pitchFamily="18" charset="0"/>
                      </a:rPr>
                      <m:t>~</m:t>
                    </m:r>
                  </m:oMath>
                </a14:m>
                <a:r>
                  <a:rPr lang="zh-CN" altLang="zh-CN" kern="100" dirty="0">
                    <a:effectLst/>
                    <a:latin typeface="+mn-ea"/>
                  </a:rPr>
                  <a:t>分别是</a:t>
                </a:r>
                <a:r>
                  <a:rPr lang="zh-CN" altLang="zh-CN" kern="100" dirty="0">
                    <a:solidFill>
                      <a:srgbClr val="0000FF"/>
                    </a:solidFill>
                    <a:effectLst/>
                    <a:latin typeface="+mn-ea"/>
                  </a:rPr>
                  <a:t>集合的交、并和补运算</a:t>
                </a:r>
                <a:r>
                  <a:rPr lang="zh-CN" altLang="zh-CN" kern="100" dirty="0">
                    <a:effectLst/>
                    <a:latin typeface="+mn-ea"/>
                  </a:rPr>
                  <a:t>，容易证明</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𝑷</m:t>
                    </m:r>
                    <m:r>
                      <a:rPr lang="en-US" altLang="zh-CN" b="1" i="1" kern="100" baseline="-25000" dirty="0">
                        <a:effectLst/>
                        <a:latin typeface="Cambria Math" panose="02040503050406030204" pitchFamily="18" charset="0"/>
                      </a:rPr>
                      <m:t> </m:t>
                    </m:r>
                    <m:r>
                      <a:rPr lang="en-US" altLang="zh-CN" b="1" i="1" kern="100" dirty="0">
                        <a:effectLst/>
                        <a:latin typeface="Cambria Math" panose="02040503050406030204" pitchFamily="18" charset="0"/>
                      </a:rPr>
                      <m:t>(</m:t>
                    </m:r>
                    <m:r>
                      <a:rPr lang="en-US" altLang="zh-CN" b="1" i="1" kern="100" dirty="0" smtClean="0">
                        <a:effectLst/>
                        <a:latin typeface="Cambria Math" panose="02040503050406030204" pitchFamily="18" charset="0"/>
                      </a:rPr>
                      <m:t>𝑨</m:t>
                    </m:r>
                    <m:r>
                      <a:rPr lang="en-US" altLang="zh-CN" b="1" i="1" kern="100" dirty="0">
                        <a:effectLst/>
                        <a:latin typeface="Cambria Math" panose="02040503050406030204" pitchFamily="18" charset="0"/>
                      </a:rPr>
                      <m:t>), ∩, ∪,</m:t>
                    </m:r>
                    <m:r>
                      <a:rPr lang="en-US" altLang="zh-CN" i="1" kern="100" dirty="0">
                        <a:latin typeface="Cambria Math" panose="02040503050406030204" pitchFamily="18" charset="0"/>
                        <a:ea typeface="Cambria Math" panose="02040503050406030204" pitchFamily="18" charset="0"/>
                      </a:rPr>
                      <m:t>~</m:t>
                    </m:r>
                    <m:r>
                      <a:rPr lang="en-US" altLang="zh-CN" b="1" i="1" kern="100" dirty="0">
                        <a:effectLst/>
                        <a:latin typeface="Cambria Math" panose="02040503050406030204" pitchFamily="18" charset="0"/>
                      </a:rPr>
                      <m:t>, </m:t>
                    </m:r>
                    <m:r>
                      <a:rPr lang="en-US" altLang="zh-CN" b="1" i="1" kern="100" dirty="0" smtClean="0">
                        <a:effectLst/>
                        <a:latin typeface="Cambria Math" panose="02040503050406030204" pitchFamily="18" charset="0"/>
                        <a:ea typeface="Cambria Math" panose="02040503050406030204" pitchFamily="18" charset="0"/>
                      </a:rPr>
                      <m:t>∅</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𝑨</m:t>
                    </m:r>
                    <m:r>
                      <a:rPr lang="en-US" altLang="zh-CN" b="1" i="1" kern="100" dirty="0">
                        <a:effectLst/>
                        <a:latin typeface="Cambria Math" panose="02040503050406030204" pitchFamily="18" charset="0"/>
                      </a:rPr>
                      <m:t>&gt;</m:t>
                    </m:r>
                  </m:oMath>
                </a14:m>
                <a:r>
                  <a:rPr lang="zh-CN" altLang="zh-CN" kern="100" dirty="0">
                    <a:effectLst/>
                    <a:latin typeface="+mn-ea"/>
                  </a:rPr>
                  <a:t>是布尔代数，称之为</a:t>
                </a:r>
                <a:r>
                  <a:rPr lang="zh-CN" altLang="zh-CN" kern="100" dirty="0">
                    <a:solidFill>
                      <a:srgbClr val="FF0000"/>
                    </a:solidFill>
                    <a:effectLst/>
                    <a:latin typeface="+mn-ea"/>
                  </a:rPr>
                  <a:t>集合代数</a:t>
                </a:r>
                <a:r>
                  <a:rPr lang="zh-CN" altLang="zh-CN" kern="100" dirty="0">
                    <a:effectLst/>
                    <a:latin typeface="+mn-ea"/>
                  </a:rPr>
                  <a:t>。如果</a:t>
                </a:r>
                <a14:m>
                  <m:oMath xmlns:m="http://schemas.openxmlformats.org/officeDocument/2006/math">
                    <m:r>
                      <a:rPr lang="en-US" altLang="zh-CN" b="1" i="1" kern="100" dirty="0" smtClean="0">
                        <a:effectLst/>
                        <a:latin typeface="Cambria Math" panose="02040503050406030204" pitchFamily="18" charset="0"/>
                      </a:rPr>
                      <m:t>𝑨</m:t>
                    </m:r>
                  </m:oMath>
                </a14:m>
                <a:r>
                  <a:rPr lang="zh-CN" altLang="zh-CN" kern="100" dirty="0">
                    <a:effectLst/>
                    <a:latin typeface="+mn-ea"/>
                  </a:rPr>
                  <a:t>为</a:t>
                </a:r>
                <a14:m>
                  <m:oMath xmlns:m="http://schemas.openxmlformats.org/officeDocument/2006/math">
                    <m:r>
                      <a:rPr lang="en-US" altLang="zh-CN" b="1" i="1" kern="100" dirty="0" smtClean="0">
                        <a:effectLst/>
                        <a:latin typeface="Cambria Math" panose="02040503050406030204" pitchFamily="18" charset="0"/>
                      </a:rPr>
                      <m:t>𝒏</m:t>
                    </m:r>
                  </m:oMath>
                </a14:m>
                <a:r>
                  <a:rPr lang="zh-CN" altLang="zh-CN" kern="100" dirty="0">
                    <a:effectLst/>
                    <a:latin typeface="+mn-ea"/>
                  </a:rPr>
                  <a:t>个元素的有限集，则</a:t>
                </a:r>
                <a14:m>
                  <m:oMath xmlns:m="http://schemas.openxmlformats.org/officeDocument/2006/math">
                    <m:r>
                      <a:rPr lang="en-US" altLang="zh-CN" b="1" i="1" kern="100" dirty="0" smtClean="0">
                        <a:effectLst/>
                        <a:latin typeface="Cambria Math" panose="02040503050406030204" pitchFamily="18" charset="0"/>
                      </a:rPr>
                      <m:t>𝑷</m:t>
                    </m:r>
                    <m:r>
                      <a:rPr lang="en-US" altLang="zh-CN" b="1" i="1" kern="100" dirty="0" smtClean="0">
                        <a:effectLst/>
                        <a:latin typeface="Cambria Math" panose="02040503050406030204" pitchFamily="18" charset="0"/>
                      </a:rPr>
                      <m:t>(</m:t>
                    </m:r>
                    <m:r>
                      <a:rPr lang="en-US" altLang="zh-CN" b="1" i="1" kern="100" dirty="0" smtClean="0">
                        <a:effectLst/>
                        <a:latin typeface="Cambria Math" panose="02040503050406030204" pitchFamily="18" charset="0"/>
                      </a:rPr>
                      <m:t>𝑨</m:t>
                    </m:r>
                    <m:r>
                      <a:rPr lang="en-US" altLang="zh-CN" b="1" i="1" kern="100" dirty="0" smtClean="0">
                        <a:effectLst/>
                        <a:latin typeface="Cambria Math" panose="02040503050406030204" pitchFamily="18" charset="0"/>
                      </a:rPr>
                      <m:t>)</m:t>
                    </m:r>
                  </m:oMath>
                </a14:m>
                <a:r>
                  <a:rPr lang="zh-CN" altLang="zh-CN" kern="100" dirty="0">
                    <a:effectLst/>
                    <a:latin typeface="+mn-ea"/>
                  </a:rPr>
                  <a:t>有</a:t>
                </a:r>
                <a14:m>
                  <m:oMath xmlns:m="http://schemas.openxmlformats.org/officeDocument/2006/math">
                    <m:r>
                      <a:rPr lang="en-US" altLang="zh-CN" b="1" i="1" kern="100" dirty="0" smtClean="0">
                        <a:effectLst/>
                        <a:latin typeface="Cambria Math" panose="02040503050406030204" pitchFamily="18" charset="0"/>
                      </a:rPr>
                      <m:t>𝟐</m:t>
                    </m:r>
                    <m:r>
                      <a:rPr lang="en-US" altLang="zh-CN" b="1" i="1" kern="100" baseline="30000" dirty="0">
                        <a:effectLst/>
                        <a:latin typeface="Cambria Math" panose="02040503050406030204" pitchFamily="18" charset="0"/>
                      </a:rPr>
                      <m:t>𝒏</m:t>
                    </m:r>
                  </m:oMath>
                </a14:m>
                <a:r>
                  <a:rPr lang="zh-CN" altLang="zh-CN" kern="100" dirty="0">
                    <a:effectLst/>
                    <a:latin typeface="+mn-ea"/>
                  </a:rPr>
                  <a:t>个元素，该布尔代数的哈斯图为</a:t>
                </a:r>
                <a14:m>
                  <m:oMath xmlns:m="http://schemas.openxmlformats.org/officeDocument/2006/math">
                    <m:r>
                      <a:rPr lang="en-US" altLang="zh-CN" b="1" i="1" kern="100" dirty="0" smtClean="0">
                        <a:effectLst/>
                        <a:latin typeface="Cambria Math" panose="02040503050406030204" pitchFamily="18" charset="0"/>
                      </a:rPr>
                      <m:t>𝒏</m:t>
                    </m:r>
                  </m:oMath>
                </a14:m>
                <a:r>
                  <a:rPr lang="zh-CN" altLang="zh-CN" kern="100" dirty="0">
                    <a:effectLst/>
                    <a:latin typeface="+mn-ea"/>
                  </a:rPr>
                  <a:t>维立方体图。</a:t>
                </a:r>
              </a:p>
              <a:p>
                <a:pPr marL="0" indent="0" algn="just">
                  <a:lnSpc>
                    <a:spcPct val="140000"/>
                  </a:lnSpc>
                  <a:spcBef>
                    <a:spcPts val="1200"/>
                  </a:spcBef>
                  <a:buNone/>
                </a:pPr>
                <a:r>
                  <a:rPr lang="zh-CN" altLang="zh-CN" kern="100" dirty="0">
                    <a:effectLst/>
                    <a:latin typeface="+mn-ea"/>
                  </a:rPr>
                  <a:t>（</a:t>
                </a:r>
                <a:r>
                  <a:rPr lang="en-US" altLang="zh-CN" kern="100" dirty="0">
                    <a:effectLst/>
                    <a:latin typeface="+mn-ea"/>
                  </a:rPr>
                  <a:t>2</a:t>
                </a:r>
                <a:r>
                  <a:rPr lang="zh-CN" altLang="zh-CN" kern="100" dirty="0">
                    <a:effectLst/>
                    <a:latin typeface="+mn-ea"/>
                  </a:rPr>
                  <a:t>）设</a:t>
                </a:r>
                <a14:m>
                  <m:oMath xmlns:m="http://schemas.openxmlformats.org/officeDocument/2006/math">
                    <m:r>
                      <a:rPr lang="en-US" altLang="zh-CN" b="1" i="1" kern="100" dirty="0" smtClean="0">
                        <a:effectLst/>
                        <a:latin typeface="Cambria Math" panose="02040503050406030204" pitchFamily="18" charset="0"/>
                      </a:rPr>
                      <m:t>𝑺</m:t>
                    </m:r>
                  </m:oMath>
                </a14:m>
                <a:r>
                  <a:rPr lang="zh-CN" altLang="zh-CN" kern="100" dirty="0">
                    <a:effectLst/>
                    <a:latin typeface="+mn-ea"/>
                  </a:rPr>
                  <a:t>为含有</a:t>
                </a:r>
                <a14:m>
                  <m:oMath xmlns:m="http://schemas.openxmlformats.org/officeDocument/2006/math">
                    <m:r>
                      <a:rPr lang="en-US" altLang="zh-CN" b="1" i="1" kern="100" dirty="0" smtClean="0">
                        <a:solidFill>
                          <a:srgbClr val="0000FF"/>
                        </a:solidFill>
                        <a:effectLst/>
                        <a:latin typeface="Cambria Math" panose="02040503050406030204" pitchFamily="18" charset="0"/>
                      </a:rPr>
                      <m:t>𝒏</m:t>
                    </m:r>
                  </m:oMath>
                </a14:m>
                <a:r>
                  <a:rPr lang="zh-CN" altLang="zh-CN" kern="100" dirty="0">
                    <a:solidFill>
                      <a:srgbClr val="0000FF"/>
                    </a:solidFill>
                    <a:effectLst/>
                    <a:latin typeface="+mn-ea"/>
                  </a:rPr>
                  <a:t>个命题变元的命题公式</a:t>
                </a:r>
                <a:r>
                  <a:rPr lang="zh-CN" altLang="zh-CN" kern="100" dirty="0">
                    <a:effectLst/>
                    <a:latin typeface="+mn-ea"/>
                  </a:rPr>
                  <a:t>集合，</a:t>
                </a:r>
                <a14:m>
                  <m:oMath xmlns:m="http://schemas.openxmlformats.org/officeDocument/2006/math">
                    <m:r>
                      <a:rPr lang="zh-CN" altLang="zh-CN" b="1" i="1" kern="100" dirty="0" smtClean="0">
                        <a:effectLst/>
                        <a:latin typeface="Cambria Math" panose="02040503050406030204" pitchFamily="18" charset="0"/>
                        <a:cs typeface="宋体" panose="02010600030101010101" pitchFamily="2" charset="-122"/>
                      </a:rPr>
                      <m:t>∧</m:t>
                    </m:r>
                    <m:r>
                      <a:rPr lang="zh-CN" altLang="zh-CN" b="1" i="1" kern="100" dirty="0">
                        <a:effectLst/>
                        <a:latin typeface="Cambria Math" panose="02040503050406030204" pitchFamily="18" charset="0"/>
                      </a:rPr>
                      <m:t>、</m:t>
                    </m:r>
                    <m:r>
                      <a:rPr lang="zh-CN" altLang="zh-CN" b="1" i="1" kern="100" dirty="0">
                        <a:effectLst/>
                        <a:latin typeface="Cambria Math" panose="02040503050406030204" pitchFamily="18" charset="0"/>
                        <a:cs typeface="宋体" panose="02010600030101010101" pitchFamily="2" charset="-122"/>
                      </a:rPr>
                      <m:t>∨</m:t>
                    </m:r>
                  </m:oMath>
                </a14:m>
                <a:r>
                  <a:rPr lang="zh-CN" altLang="zh-CN" kern="100" dirty="0">
                    <a:effectLst/>
                    <a:latin typeface="+mn-ea"/>
                  </a:rPr>
                  <a:t>和</a:t>
                </a:r>
                <a14:m>
                  <m:oMath xmlns:m="http://schemas.openxmlformats.org/officeDocument/2006/math">
                    <m:r>
                      <a:rPr lang="en-US" altLang="zh-CN" b="1" i="1" kern="100" spc="-200" dirty="0" smtClean="0">
                        <a:effectLst/>
                        <a:latin typeface="Cambria Math" panose="02040503050406030204" pitchFamily="18" charset="0"/>
                        <a:ea typeface="Cambria Math" panose="02040503050406030204" pitchFamily="18" charset="0"/>
                        <a:sym typeface="Symbol" panose="05050102010706020507" pitchFamily="18" charset="2"/>
                      </a:rPr>
                      <m:t>¬</m:t>
                    </m:r>
                    <m:r>
                      <a:rPr lang="en-US" altLang="zh-CN" b="1" i="1" kern="100" spc="-200" dirty="0">
                        <a:effectLst/>
                        <a:latin typeface="Cambria Math" panose="02040503050406030204" pitchFamily="18" charset="0"/>
                      </a:rPr>
                      <m:t>  </m:t>
                    </m:r>
                  </m:oMath>
                </a14:m>
                <a:r>
                  <a:rPr lang="zh-CN" altLang="zh-CN" kern="100" dirty="0">
                    <a:effectLst/>
                    <a:latin typeface="+mn-ea"/>
                  </a:rPr>
                  <a:t>分别表示命题公式的</a:t>
                </a:r>
                <a:r>
                  <a:rPr lang="zh-CN" altLang="zh-CN" kern="100" dirty="0">
                    <a:solidFill>
                      <a:srgbClr val="0000FF"/>
                    </a:solidFill>
                    <a:effectLst/>
                    <a:latin typeface="+mn-ea"/>
                  </a:rPr>
                  <a:t>合取、析取和否定运算</a:t>
                </a:r>
                <a:r>
                  <a:rPr lang="zh-CN" altLang="zh-CN" kern="100" dirty="0">
                    <a:effectLst/>
                    <a:latin typeface="+mn-ea"/>
                  </a:rPr>
                  <a:t>，</a:t>
                </a:r>
                <a14:m>
                  <m:oMath xmlns:m="http://schemas.openxmlformats.org/officeDocument/2006/math">
                    <m:r>
                      <a:rPr lang="en-US" altLang="zh-CN" b="1" i="1" kern="100" dirty="0" smtClean="0">
                        <a:effectLst/>
                        <a:latin typeface="Cambria Math" panose="02040503050406030204" pitchFamily="18" charset="0"/>
                      </a:rPr>
                      <m:t>𝑭</m:t>
                    </m:r>
                  </m:oMath>
                </a14:m>
                <a:r>
                  <a:rPr lang="zh-CN" altLang="zh-CN" kern="100" dirty="0">
                    <a:effectLst/>
                    <a:latin typeface="+mn-ea"/>
                  </a:rPr>
                  <a:t>和</a:t>
                </a:r>
                <a14:m>
                  <m:oMath xmlns:m="http://schemas.openxmlformats.org/officeDocument/2006/math">
                    <m:r>
                      <a:rPr lang="en-US" altLang="zh-CN" b="1" i="1" kern="100" dirty="0" smtClean="0">
                        <a:effectLst/>
                        <a:latin typeface="Cambria Math" panose="02040503050406030204" pitchFamily="18" charset="0"/>
                      </a:rPr>
                      <m:t>𝑻</m:t>
                    </m:r>
                  </m:oMath>
                </a14:m>
                <a:r>
                  <a:rPr lang="zh-CN" altLang="zh-CN" kern="100" dirty="0">
                    <a:effectLst/>
                    <a:latin typeface="+mn-ea"/>
                  </a:rPr>
                  <a:t>分别表示永</a:t>
                </a:r>
                <a:r>
                  <a:rPr lang="zh-CN" altLang="en-US" kern="100" dirty="0">
                    <a:effectLst/>
                    <a:latin typeface="+mn-ea"/>
                  </a:rPr>
                  <a:t>假</a:t>
                </a:r>
                <a:r>
                  <a:rPr lang="zh-CN" altLang="zh-CN" kern="100" dirty="0">
                    <a:effectLst/>
                    <a:latin typeface="+mn-ea"/>
                  </a:rPr>
                  <a:t>公式和永</a:t>
                </a:r>
                <a:r>
                  <a:rPr lang="zh-CN" altLang="en-US" kern="100" dirty="0">
                    <a:effectLst/>
                    <a:latin typeface="+mn-ea"/>
                  </a:rPr>
                  <a:t>真</a:t>
                </a:r>
                <a:r>
                  <a:rPr lang="zh-CN" altLang="zh-CN" kern="100" dirty="0">
                    <a:effectLst/>
                    <a:latin typeface="+mn-ea"/>
                  </a:rPr>
                  <a:t>公式，显然</a:t>
                </a:r>
                <a14:m>
                  <m:oMath xmlns:m="http://schemas.openxmlformats.org/officeDocument/2006/math">
                    <m:r>
                      <a:rPr lang="en-US" altLang="zh-CN" b="1" i="1" kern="100" dirty="0" smtClean="0">
                        <a:effectLst/>
                        <a:latin typeface="Cambria Math" panose="02040503050406030204" pitchFamily="18" charset="0"/>
                      </a:rPr>
                      <m:t>&lt;</m:t>
                    </m:r>
                    <m:r>
                      <a:rPr lang="en-US" altLang="zh-CN" b="1" i="1" kern="100" dirty="0" smtClean="0">
                        <a:effectLst/>
                        <a:latin typeface="Cambria Math" panose="02040503050406030204" pitchFamily="18" charset="0"/>
                      </a:rPr>
                      <m:t>𝑺</m:t>
                    </m:r>
                    <m:r>
                      <a:rPr lang="en-US" altLang="zh-CN" b="1" i="1" kern="100" dirty="0" smtClean="0">
                        <a:effectLst/>
                        <a:latin typeface="Cambria Math" panose="02040503050406030204" pitchFamily="18" charset="0"/>
                      </a:rPr>
                      <m:t>, ∧, ∨, ¬ , </m:t>
                    </m:r>
                    <m:r>
                      <a:rPr lang="en-US" altLang="zh-CN" b="1" i="1" kern="100" dirty="0">
                        <a:effectLst/>
                        <a:latin typeface="Cambria Math" panose="02040503050406030204" pitchFamily="18" charset="0"/>
                      </a:rPr>
                      <m:t>𝑭</m:t>
                    </m:r>
                    <m:r>
                      <a:rPr lang="en-US" altLang="zh-CN" b="1" i="1" kern="100" dirty="0">
                        <a:effectLst/>
                        <a:latin typeface="Cambria Math" panose="02040503050406030204" pitchFamily="18" charset="0"/>
                      </a:rPr>
                      <m:t>, </m:t>
                    </m:r>
                    <m:r>
                      <a:rPr lang="en-US" altLang="zh-CN" b="1" i="1" kern="100" dirty="0">
                        <a:effectLst/>
                        <a:latin typeface="Cambria Math" panose="02040503050406030204" pitchFamily="18" charset="0"/>
                      </a:rPr>
                      <m:t>𝑻</m:t>
                    </m:r>
                    <m:r>
                      <a:rPr lang="en-US" altLang="zh-CN" b="1" i="1" kern="100" dirty="0">
                        <a:effectLst/>
                        <a:latin typeface="Cambria Math" panose="02040503050406030204" pitchFamily="18" charset="0"/>
                      </a:rPr>
                      <m:t>&gt;</m:t>
                    </m:r>
                  </m:oMath>
                </a14:m>
                <a:r>
                  <a:rPr lang="zh-CN" altLang="zh-CN" kern="100" dirty="0">
                    <a:effectLst/>
                    <a:latin typeface="+mn-ea"/>
                  </a:rPr>
                  <a:t>是布尔代数，称之为</a:t>
                </a:r>
                <a14:m>
                  <m:oMath xmlns:m="http://schemas.openxmlformats.org/officeDocument/2006/math">
                    <m:r>
                      <a:rPr lang="en-US" altLang="zh-CN" b="1" i="1" kern="100" dirty="0" smtClean="0">
                        <a:solidFill>
                          <a:srgbClr val="FF0000"/>
                        </a:solidFill>
                        <a:effectLst/>
                        <a:latin typeface="Cambria Math" panose="02040503050406030204" pitchFamily="18" charset="0"/>
                      </a:rPr>
                      <m:t>𝒏</m:t>
                    </m:r>
                  </m:oMath>
                </a14:m>
                <a:r>
                  <a:rPr lang="zh-CN" altLang="zh-CN" kern="100" dirty="0">
                    <a:solidFill>
                      <a:srgbClr val="FF0000"/>
                    </a:solidFill>
                    <a:effectLst/>
                    <a:latin typeface="+mn-ea"/>
                  </a:rPr>
                  <a:t>元逻辑代数或命题代数</a:t>
                </a:r>
                <a:r>
                  <a:rPr lang="zh-CN" altLang="zh-CN" kern="100" dirty="0">
                    <a:effectLst/>
                    <a:latin typeface="+mn-ea"/>
                  </a:rPr>
                  <a:t>。</a:t>
                </a:r>
              </a:p>
            </p:txBody>
          </p:sp>
        </mc:Choice>
        <mc:Fallback xmlns="">
          <p:sp>
            <p:nvSpPr>
              <p:cNvPr id="3" name="内容占位符 2">
                <a:extLst>
                  <a:ext uri="{FF2B5EF4-FFF2-40B4-BE49-F238E27FC236}">
                    <a16:creationId xmlns:a16="http://schemas.microsoft.com/office/drawing/2014/main" id="{AE80B988-E4C7-44AC-93F9-822BC9BD0BB4}"/>
                  </a:ext>
                </a:extLst>
              </p:cNvPr>
              <p:cNvSpPr>
                <a:spLocks noGrp="1" noRot="1" noChangeAspect="1" noMove="1" noResize="1" noEditPoints="1" noAdjustHandles="1" noChangeArrowheads="1" noChangeShapeType="1" noTextEdit="1"/>
              </p:cNvSpPr>
              <p:nvPr>
                <p:ph idx="1"/>
              </p:nvPr>
            </p:nvSpPr>
            <p:spPr>
              <a:xfrm>
                <a:off x="384175" y="1143794"/>
                <a:ext cx="11125200" cy="3429000"/>
              </a:xfrm>
              <a:blipFill>
                <a:blip r:embed="rId5"/>
                <a:stretch>
                  <a:fillRect l="-548" r="-3397"/>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45817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575176" y="838994"/>
            <a:ext cx="6629399" cy="5205255"/>
            <a:chOff x="4543029" y="1297085"/>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543029" y="1297085"/>
              <a:ext cx="6629399" cy="5205255"/>
              <a:chOff x="4543029" y="1297085"/>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543029" y="1297085"/>
                <a:ext cx="6629399" cy="5205255"/>
                <a:chOff x="4543029" y="1228143"/>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543029" y="1228143"/>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841681" y="4758387"/>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TextBox 1">
                  <a:extLst>
                    <a:ext uri="{FF2B5EF4-FFF2-40B4-BE49-F238E27FC236}">
                      <a16:creationId xmlns:a16="http://schemas.microsoft.com/office/drawing/2014/main" id="{CC1830B4-B7AE-4F4E-B2A2-7EA3C57296F9}"/>
                    </a:ext>
                  </a:extLst>
                </p:cNvPr>
                <p:cNvSpPr txBox="1"/>
                <p:nvPr/>
              </p:nvSpPr>
              <p:spPr>
                <a:xfrm>
                  <a:off x="6954055" y="2671643"/>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格的定义和性质</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49641" y="3265020"/>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子格与格同态</a:t>
                  </a:r>
                </a:p>
              </p:txBody>
            </p:sp>
            <p:sp>
              <p:nvSpPr>
                <p:cNvPr id="108" name="Freeform 3">
                  <a:extLst>
                    <a:ext uri="{FF2B5EF4-FFF2-40B4-BE49-F238E27FC236}">
                      <a16:creationId xmlns:a16="http://schemas.microsoft.com/office/drawing/2014/main" id="{B90F0CC1-39D6-4CF7-88A9-B6AE46CF38C8}"/>
                    </a:ext>
                  </a:extLst>
                </p:cNvPr>
                <p:cNvSpPr/>
                <p:nvPr/>
              </p:nvSpPr>
              <p:spPr>
                <a:xfrm>
                  <a:off x="6698357" y="1860009"/>
                  <a:ext cx="45719" cy="3945596"/>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10" name="Freeform 3">
                  <a:extLst>
                    <a:ext uri="{FF2B5EF4-FFF2-40B4-BE49-F238E27FC236}">
                      <a16:creationId xmlns:a16="http://schemas.microsoft.com/office/drawing/2014/main" id="{4422CB3B-D0D5-4FEA-B0A8-30267AF052B1}"/>
                    </a:ext>
                  </a:extLst>
                </p:cNvPr>
                <p:cNvSpPr/>
                <p:nvPr/>
              </p:nvSpPr>
              <p:spPr>
                <a:xfrm>
                  <a:off x="6646827" y="221089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24104" y="33202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24104" y="37921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82518" y="3778915"/>
                  <a:ext cx="923330"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特殊格</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870609" y="4886187"/>
                  <a:ext cx="2769989"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格与布尔代数的应用</a:t>
                  </a:r>
                </a:p>
              </p:txBody>
            </p:sp>
            <p:sp>
              <p:nvSpPr>
                <p:cNvPr id="116" name="Freeform 3">
                  <a:extLst>
                    <a:ext uri="{FF2B5EF4-FFF2-40B4-BE49-F238E27FC236}">
                      <a16:creationId xmlns:a16="http://schemas.microsoft.com/office/drawing/2014/main" id="{74C8B829-18F9-4783-B4D6-E9A724B05A1B}"/>
                    </a:ext>
                  </a:extLst>
                </p:cNvPr>
                <p:cNvSpPr/>
                <p:nvPr/>
              </p:nvSpPr>
              <p:spPr>
                <a:xfrm>
                  <a:off x="6632575" y="437073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2575" y="4928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876646" y="2669024"/>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851892" y="3265019"/>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821174" y="3775870"/>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885928" y="429366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63759" y="212402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47502" y="5444665"/>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50219" y="539505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841681" y="4861636"/>
                  <a:ext cx="740587"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10.5</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54055" y="4407251"/>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布尔代数</a:t>
                </a:r>
              </a:p>
            </p:txBody>
          </p:sp>
          <p:sp>
            <p:nvSpPr>
              <p:cNvPr id="50" name="TextBox 1">
                <a:extLst>
                  <a:ext uri="{FF2B5EF4-FFF2-40B4-BE49-F238E27FC236}">
                    <a16:creationId xmlns:a16="http://schemas.microsoft.com/office/drawing/2014/main" id="{159A0760-2207-4EDB-B452-50B7B83350F3}"/>
                  </a:ext>
                </a:extLst>
              </p:cNvPr>
              <p:cNvSpPr txBox="1"/>
              <p:nvPr/>
            </p:nvSpPr>
            <p:spPr>
              <a:xfrm>
                <a:off x="5885927" y="549855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10.6</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2575" y="28313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
        <p:nvSpPr>
          <p:cNvPr id="54" name="TextBox 1">
            <a:extLst>
              <a:ext uri="{FF2B5EF4-FFF2-40B4-BE49-F238E27FC236}">
                <a16:creationId xmlns:a16="http://schemas.microsoft.com/office/drawing/2014/main" id="{82769295-87FB-4BB7-B57D-2B27AD8B720F}"/>
              </a:ext>
            </a:extLst>
          </p:cNvPr>
          <p:cNvSpPr txBox="1"/>
          <p:nvPr/>
        </p:nvSpPr>
        <p:spPr>
          <a:xfrm>
            <a:off x="7012641" y="1712496"/>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4079005929"/>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56DCE-CB50-4401-99AD-7794EB471F5C}"/>
              </a:ext>
            </a:extLst>
          </p:cNvPr>
          <p:cNvSpPr>
            <a:spLocks noGrp="1"/>
          </p:cNvSpPr>
          <p:nvPr>
            <p:ph type="title"/>
          </p:nvPr>
        </p:nvSpPr>
        <p:spPr/>
        <p:txBody>
          <a:bodyPr/>
          <a:lstStyle/>
          <a:p>
            <a:r>
              <a:rPr lang="en-US" altLang="zh-CN" dirty="0"/>
              <a:t>10.5.1 </a:t>
            </a:r>
            <a:r>
              <a:rPr lang="zh-CN" altLang="en-US" dirty="0"/>
              <a:t>格与树形图结构</a:t>
            </a:r>
          </a:p>
        </p:txBody>
      </p:sp>
      <p:sp>
        <p:nvSpPr>
          <p:cNvPr id="3" name="内容占位符 2">
            <a:extLst>
              <a:ext uri="{FF2B5EF4-FFF2-40B4-BE49-F238E27FC236}">
                <a16:creationId xmlns:a16="http://schemas.microsoft.com/office/drawing/2014/main" id="{A24AC711-39D2-4555-A470-0A77AA1F8077}"/>
              </a:ext>
            </a:extLst>
          </p:cNvPr>
          <p:cNvSpPr>
            <a:spLocks noGrp="1"/>
          </p:cNvSpPr>
          <p:nvPr>
            <p:ph idx="1"/>
          </p:nvPr>
        </p:nvSpPr>
        <p:spPr>
          <a:xfrm>
            <a:off x="381317" y="991394"/>
            <a:ext cx="11432858" cy="2743200"/>
          </a:xfrm>
        </p:spPr>
        <p:txBody>
          <a:bodyPr>
            <a:noAutofit/>
          </a:bodyPr>
          <a:lstStyle/>
          <a:p>
            <a:pPr marL="0" indent="0" algn="just">
              <a:buNone/>
            </a:pPr>
            <a:r>
              <a:rPr lang="zh-CN" altLang="zh-CN" b="1" kern="100" dirty="0">
                <a:effectLst/>
                <a:latin typeface="+mn-ea"/>
              </a:rPr>
              <a:t>定理</a:t>
            </a:r>
            <a:r>
              <a:rPr lang="en-US" altLang="zh-CN" b="1" kern="100" dirty="0">
                <a:effectLst/>
                <a:latin typeface="+mn-ea"/>
              </a:rPr>
              <a:t>10.11</a:t>
            </a:r>
            <a:r>
              <a:rPr lang="en-US" altLang="zh-CN" kern="100" dirty="0">
                <a:effectLst/>
                <a:latin typeface="+mn-ea"/>
              </a:rPr>
              <a:t> </a:t>
            </a:r>
            <a:r>
              <a:rPr lang="zh-CN" altLang="zh-CN" kern="100" dirty="0">
                <a:effectLst/>
                <a:latin typeface="+mn-ea"/>
              </a:rPr>
              <a:t>设</a:t>
            </a:r>
            <a:r>
              <a:rPr lang="en-US" altLang="zh-CN" kern="100" dirty="0">
                <a:effectLst/>
                <a:latin typeface="+mn-ea"/>
              </a:rPr>
              <a:t>T</a:t>
            </a:r>
            <a:r>
              <a:rPr lang="zh-CN" altLang="zh-CN" kern="100" dirty="0">
                <a:effectLst/>
                <a:latin typeface="+mn-ea"/>
              </a:rPr>
              <a:t>是一棵有</a:t>
            </a:r>
            <a:r>
              <a:rPr lang="en-US" altLang="zh-CN" kern="100" dirty="0">
                <a:effectLst/>
                <a:latin typeface="+mn-ea"/>
              </a:rPr>
              <a:t>n</a:t>
            </a:r>
            <a:r>
              <a:rPr lang="zh-CN" altLang="zh-CN" kern="100" dirty="0">
                <a:effectLst/>
                <a:latin typeface="+mn-ea"/>
              </a:rPr>
              <a:t>个结点的根树，</a:t>
            </a:r>
            <a:r>
              <a:rPr lang="en-US" altLang="zh-CN" kern="100" dirty="0">
                <a:effectLst/>
                <a:latin typeface="+mn-ea"/>
              </a:rPr>
              <a:t>V</a:t>
            </a:r>
            <a:r>
              <a:rPr lang="zh-CN" altLang="zh-CN" kern="100" dirty="0">
                <a:effectLst/>
                <a:latin typeface="+mn-ea"/>
              </a:rPr>
              <a:t>是</a:t>
            </a:r>
            <a:r>
              <a:rPr lang="en-US" altLang="zh-CN" kern="100" dirty="0">
                <a:effectLst/>
                <a:latin typeface="+mn-ea"/>
              </a:rPr>
              <a:t>T</a:t>
            </a:r>
            <a:r>
              <a:rPr lang="zh-CN" altLang="zh-CN" kern="100" dirty="0">
                <a:effectLst/>
                <a:latin typeface="+mn-ea"/>
              </a:rPr>
              <a:t>的结点集合，设</a:t>
            </a:r>
            <a:r>
              <a:rPr lang="en-US" altLang="zh-CN" kern="100" dirty="0">
                <a:effectLst/>
                <a:latin typeface="+mn-ea"/>
              </a:rPr>
              <a:t>0</a:t>
            </a:r>
            <a:r>
              <a:rPr lang="en-US" altLang="zh-CN" kern="100" dirty="0">
                <a:effectLst/>
                <a:latin typeface="+mn-ea"/>
                <a:sym typeface="Symbol" panose="05050102010706020507" pitchFamily="18" charset="2"/>
              </a:rPr>
              <a:t></a:t>
            </a:r>
            <a:r>
              <a:rPr lang="en-US" altLang="zh-CN" kern="100" dirty="0">
                <a:effectLst/>
                <a:latin typeface="+mn-ea"/>
              </a:rPr>
              <a:t>V</a:t>
            </a:r>
            <a:r>
              <a:rPr lang="zh-CN" altLang="zh-CN" kern="100" dirty="0">
                <a:effectLst/>
                <a:latin typeface="+mn-ea"/>
              </a:rPr>
              <a:t>，令</a:t>
            </a:r>
            <a:r>
              <a:rPr lang="en-US" altLang="zh-CN" kern="100" dirty="0">
                <a:effectLst/>
                <a:latin typeface="+mn-ea"/>
              </a:rPr>
              <a:t>L=V</a:t>
            </a:r>
            <a:r>
              <a:rPr lang="en-US" altLang="zh-CN" kern="100" dirty="0">
                <a:effectLst/>
                <a:latin typeface="+mn-ea"/>
                <a:sym typeface="Symbol" panose="05050102010706020507" pitchFamily="18" charset="2"/>
              </a:rPr>
              <a:t></a:t>
            </a:r>
            <a:r>
              <a:rPr lang="en-US" altLang="zh-CN" kern="100" dirty="0">
                <a:effectLst/>
                <a:latin typeface="+mn-ea"/>
              </a:rPr>
              <a:t>{0}</a:t>
            </a:r>
            <a:r>
              <a:rPr lang="zh-CN" altLang="zh-CN" kern="100" dirty="0">
                <a:effectLst/>
                <a:latin typeface="+mn-ea"/>
              </a:rPr>
              <a:t>，定义</a:t>
            </a:r>
            <a:r>
              <a:rPr lang="en-US" altLang="zh-CN" kern="100" dirty="0">
                <a:effectLst/>
                <a:latin typeface="+mn-ea"/>
              </a:rPr>
              <a:t>L</a:t>
            </a:r>
            <a:r>
              <a:rPr lang="zh-CN" altLang="zh-CN" kern="100" dirty="0">
                <a:effectLst/>
                <a:latin typeface="+mn-ea"/>
              </a:rPr>
              <a:t>上的一个二元关系</a:t>
            </a:r>
            <a:r>
              <a:rPr lang="en-US" altLang="zh-CN" kern="100" dirty="0">
                <a:effectLst/>
                <a:latin typeface="+mn-ea"/>
                <a:sym typeface="Symbol" panose="05050102010706020507" pitchFamily="18" charset="2"/>
              </a:rPr>
              <a:t></a:t>
            </a:r>
            <a:r>
              <a:rPr lang="zh-CN" altLang="zh-CN" kern="100" dirty="0">
                <a:effectLst/>
                <a:latin typeface="+mn-ea"/>
              </a:rPr>
              <a:t>为：</a:t>
            </a:r>
            <a:endParaRPr lang="en-US" altLang="zh-CN" kern="100" dirty="0">
              <a:effectLst/>
              <a:latin typeface="+mn-ea"/>
            </a:endParaRPr>
          </a:p>
          <a:p>
            <a:pPr marL="0" indent="0" algn="just">
              <a:buNone/>
            </a:pPr>
            <a:r>
              <a:rPr lang="zh-CN" altLang="zh-CN" kern="100" dirty="0">
                <a:effectLst/>
                <a:latin typeface="+mn-ea"/>
              </a:rPr>
              <a:t>（</a:t>
            </a:r>
            <a:r>
              <a:rPr lang="en-US" altLang="zh-CN" kern="100" dirty="0">
                <a:effectLst/>
                <a:latin typeface="+mn-ea"/>
              </a:rPr>
              <a:t>1</a:t>
            </a:r>
            <a:r>
              <a:rPr lang="zh-CN" altLang="zh-CN" kern="100" dirty="0">
                <a:effectLst/>
                <a:latin typeface="+mn-ea"/>
              </a:rPr>
              <a:t>）规定</a:t>
            </a:r>
            <a:r>
              <a:rPr lang="en-US" altLang="zh-CN" kern="100" dirty="0">
                <a:effectLst/>
                <a:latin typeface="+mn-ea"/>
              </a:rPr>
              <a:t>0</a:t>
            </a:r>
            <a:r>
              <a:rPr lang="en-US" altLang="zh-CN" kern="100" dirty="0">
                <a:effectLst/>
                <a:latin typeface="+mn-ea"/>
                <a:sym typeface="Symbol" panose="05050102010706020507" pitchFamily="18" charset="2"/>
              </a:rPr>
              <a:t></a:t>
            </a:r>
            <a:r>
              <a:rPr lang="en-US" altLang="zh-CN" kern="100" dirty="0">
                <a:effectLst/>
                <a:latin typeface="+mn-ea"/>
              </a:rPr>
              <a:t>0</a:t>
            </a:r>
            <a:r>
              <a:rPr lang="zh-CN" altLang="zh-CN" kern="100" dirty="0">
                <a:effectLst/>
                <a:latin typeface="+mn-ea"/>
              </a:rPr>
              <a:t>，且对</a:t>
            </a:r>
            <a:r>
              <a:rPr lang="en-US" altLang="zh-CN" kern="100" dirty="0">
                <a:effectLst/>
                <a:latin typeface="+mn-ea"/>
                <a:sym typeface="Symbol" panose="05050102010706020507" pitchFamily="18" charset="2"/>
              </a:rPr>
              <a:t></a:t>
            </a:r>
            <a:r>
              <a:rPr lang="en-US" altLang="zh-CN" kern="100" dirty="0" err="1">
                <a:effectLst/>
                <a:latin typeface="+mn-ea"/>
              </a:rPr>
              <a:t>a</a:t>
            </a:r>
            <a:r>
              <a:rPr lang="en-US" altLang="zh-CN" kern="100" dirty="0" err="1">
                <a:effectLst/>
                <a:latin typeface="+mn-ea"/>
                <a:sym typeface="Symbol" panose="05050102010706020507" pitchFamily="18" charset="2"/>
              </a:rPr>
              <a:t></a:t>
            </a:r>
            <a:r>
              <a:rPr lang="en-US" altLang="zh-CN" kern="100" dirty="0" err="1">
                <a:effectLst/>
                <a:latin typeface="+mn-ea"/>
              </a:rPr>
              <a:t>V</a:t>
            </a:r>
            <a:r>
              <a:rPr lang="zh-CN" altLang="zh-CN" kern="100" dirty="0">
                <a:effectLst/>
                <a:latin typeface="+mn-ea"/>
              </a:rPr>
              <a:t>，</a:t>
            </a:r>
            <a:r>
              <a:rPr lang="en-US" altLang="zh-CN" kern="100" dirty="0">
                <a:effectLst/>
                <a:latin typeface="+mn-ea"/>
              </a:rPr>
              <a:t>0</a:t>
            </a:r>
            <a:r>
              <a:rPr lang="en-US" altLang="zh-CN" kern="100" dirty="0">
                <a:effectLst/>
                <a:latin typeface="+mn-ea"/>
                <a:sym typeface="Symbol" panose="05050102010706020507" pitchFamily="18" charset="2"/>
              </a:rPr>
              <a:t></a:t>
            </a:r>
            <a:r>
              <a:rPr lang="en-US" altLang="zh-CN" kern="100" dirty="0">
                <a:effectLst/>
                <a:latin typeface="+mn-ea"/>
              </a:rPr>
              <a:t>a.</a:t>
            </a:r>
            <a:endParaRPr lang="en-US" altLang="zh-CN" kern="100" dirty="0">
              <a:latin typeface="+mn-ea"/>
            </a:endParaRPr>
          </a:p>
          <a:p>
            <a:pPr marL="0" indent="0" algn="just">
              <a:buNone/>
            </a:pPr>
            <a:r>
              <a:rPr lang="zh-CN" altLang="zh-CN" kern="100" dirty="0">
                <a:effectLst/>
                <a:latin typeface="+mn-ea"/>
              </a:rPr>
              <a:t>（</a:t>
            </a:r>
            <a:r>
              <a:rPr lang="en-US" altLang="zh-CN" kern="100" dirty="0">
                <a:effectLst/>
                <a:latin typeface="+mn-ea"/>
              </a:rPr>
              <a:t>2</a:t>
            </a:r>
            <a:r>
              <a:rPr lang="zh-CN" altLang="zh-CN" kern="100" dirty="0">
                <a:effectLst/>
                <a:latin typeface="+mn-ea"/>
              </a:rPr>
              <a:t>）</a:t>
            </a:r>
            <a:r>
              <a:rPr lang="en-US" altLang="zh-CN" kern="100" dirty="0">
                <a:effectLst/>
                <a:latin typeface="+mn-ea"/>
                <a:sym typeface="Symbol" panose="05050102010706020507" pitchFamily="18" charset="2"/>
              </a:rPr>
              <a:t></a:t>
            </a:r>
            <a:r>
              <a:rPr lang="en-US" altLang="zh-CN" kern="100" dirty="0" err="1">
                <a:effectLst/>
                <a:latin typeface="+mn-ea"/>
              </a:rPr>
              <a:t>a,b</a:t>
            </a:r>
            <a:r>
              <a:rPr lang="en-US" altLang="zh-CN" kern="100" dirty="0" err="1">
                <a:effectLst/>
                <a:latin typeface="+mn-ea"/>
                <a:sym typeface="Symbol" panose="05050102010706020507" pitchFamily="18" charset="2"/>
              </a:rPr>
              <a:t></a:t>
            </a:r>
            <a:r>
              <a:rPr lang="en-US" altLang="zh-CN" kern="100" dirty="0" err="1">
                <a:effectLst/>
                <a:latin typeface="+mn-ea"/>
              </a:rPr>
              <a:t>V,a</a:t>
            </a:r>
            <a:r>
              <a:rPr lang="en-US" altLang="zh-CN" kern="100" dirty="0" err="1">
                <a:effectLst/>
                <a:latin typeface="+mn-ea"/>
                <a:sym typeface="Symbol" panose="05050102010706020507" pitchFamily="18" charset="2"/>
              </a:rPr>
              <a:t></a:t>
            </a:r>
            <a:r>
              <a:rPr lang="en-US" altLang="zh-CN" kern="100" dirty="0" err="1">
                <a:effectLst/>
                <a:latin typeface="+mn-ea"/>
              </a:rPr>
              <a:t>b</a:t>
            </a:r>
            <a:r>
              <a:rPr lang="zh-CN" altLang="zh-CN" kern="100" dirty="0">
                <a:effectLst/>
                <a:latin typeface="+mn-ea"/>
              </a:rPr>
              <a:t>当且仅当</a:t>
            </a:r>
            <a:r>
              <a:rPr lang="en-US" altLang="zh-CN" kern="100" dirty="0">
                <a:effectLst/>
                <a:latin typeface="+mn-ea"/>
              </a:rPr>
              <a:t>b</a:t>
            </a:r>
            <a:r>
              <a:rPr lang="zh-CN" altLang="zh-CN" kern="100" dirty="0">
                <a:effectLst/>
                <a:latin typeface="+mn-ea"/>
              </a:rPr>
              <a:t>到</a:t>
            </a:r>
            <a:r>
              <a:rPr lang="en-US" altLang="zh-CN" kern="100" dirty="0">
                <a:effectLst/>
                <a:latin typeface="+mn-ea"/>
              </a:rPr>
              <a:t>a</a:t>
            </a:r>
            <a:r>
              <a:rPr lang="zh-CN" altLang="zh-CN" kern="100" dirty="0">
                <a:effectLst/>
                <a:latin typeface="+mn-ea"/>
              </a:rPr>
              <a:t>存在一条通路或</a:t>
            </a:r>
            <a:r>
              <a:rPr lang="en-US" altLang="zh-CN" kern="100" dirty="0">
                <a:effectLst/>
                <a:latin typeface="+mn-ea"/>
              </a:rPr>
              <a:t>a=b.</a:t>
            </a:r>
            <a:endParaRPr lang="zh-CN" altLang="zh-CN" kern="100" dirty="0">
              <a:effectLst/>
              <a:latin typeface="+mn-ea"/>
            </a:endParaRPr>
          </a:p>
          <a:p>
            <a:pPr marL="0" indent="0">
              <a:buNone/>
            </a:pPr>
            <a:r>
              <a:rPr lang="zh-CN" altLang="zh-CN" dirty="0">
                <a:effectLst/>
                <a:latin typeface="+mn-ea"/>
                <a:cs typeface="Times New Roman" panose="02020603050405020304" pitchFamily="18" charset="0"/>
              </a:rPr>
              <a:t>则</a:t>
            </a:r>
            <a:r>
              <a:rPr lang="en-US" altLang="zh-CN" dirty="0">
                <a:effectLst/>
                <a:latin typeface="+mn-ea"/>
              </a:rPr>
              <a:t>&lt;L, </a:t>
            </a:r>
            <a:r>
              <a:rPr lang="en-US" altLang="zh-CN" dirty="0">
                <a:effectLst/>
                <a:latin typeface="+mn-ea"/>
                <a:cs typeface="Times New Roman" panose="02020603050405020304" pitchFamily="18" charset="0"/>
                <a:sym typeface="Symbol" panose="05050102010706020507" pitchFamily="18" charset="2"/>
              </a:rPr>
              <a:t></a:t>
            </a:r>
            <a:r>
              <a:rPr lang="en-US" altLang="zh-CN" dirty="0">
                <a:effectLst/>
                <a:latin typeface="+mn-ea"/>
              </a:rPr>
              <a:t>&gt;</a:t>
            </a:r>
            <a:r>
              <a:rPr lang="zh-CN" altLang="zh-CN" dirty="0">
                <a:effectLst/>
                <a:latin typeface="+mn-ea"/>
                <a:cs typeface="Times New Roman" panose="02020603050405020304" pitchFamily="18" charset="0"/>
              </a:rPr>
              <a:t>是一个格。</a:t>
            </a:r>
            <a:r>
              <a:rPr lang="en-US" altLang="zh-CN" kern="0" dirty="0">
                <a:effectLst/>
                <a:latin typeface="+mn-ea"/>
              </a:rPr>
              <a:t> </a:t>
            </a:r>
            <a:endParaRPr lang="zh-CN" altLang="zh-CN" kern="100" dirty="0">
              <a:effectLst/>
              <a:latin typeface="+mn-ea"/>
            </a:endParaRPr>
          </a:p>
        </p:txBody>
      </p:sp>
      <p:pic>
        <p:nvPicPr>
          <p:cNvPr id="8" name="图片 7">
            <a:extLst>
              <a:ext uri="{FF2B5EF4-FFF2-40B4-BE49-F238E27FC236}">
                <a16:creationId xmlns:a16="http://schemas.microsoft.com/office/drawing/2014/main" id="{2FCDCD41-D844-4126-BED5-334343F8B620}"/>
              </a:ext>
            </a:extLst>
          </p:cNvPr>
          <p:cNvPicPr/>
          <p:nvPr/>
        </p:nvPicPr>
        <p:blipFill>
          <a:blip r:embed="rId2"/>
          <a:stretch>
            <a:fillRect/>
          </a:stretch>
        </p:blipFill>
        <p:spPr>
          <a:xfrm>
            <a:off x="4651375" y="3048795"/>
            <a:ext cx="6934200" cy="3424528"/>
          </a:xfrm>
          <a:prstGeom prst="rect">
            <a:avLst/>
          </a:prstGeom>
        </p:spPr>
      </p:pic>
    </p:spTree>
    <p:extLst>
      <p:ext uri="{BB962C8B-B14F-4D97-AF65-F5344CB8AC3E}">
        <p14:creationId xmlns:p14="http://schemas.microsoft.com/office/powerpoint/2010/main" val="5194942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AA9426-C049-41EA-BC12-089BB6B0C86F}"/>
              </a:ext>
            </a:extLst>
          </p:cNvPr>
          <p:cNvSpPr>
            <a:spLocks noGrp="1"/>
          </p:cNvSpPr>
          <p:nvPr>
            <p:ph type="title"/>
          </p:nvPr>
        </p:nvSpPr>
        <p:spPr/>
        <p:txBody>
          <a:bodyPr/>
          <a:lstStyle/>
          <a:p>
            <a:r>
              <a:rPr lang="en-US" altLang="zh-CN" dirty="0"/>
              <a:t>10.5.2 </a:t>
            </a:r>
            <a:r>
              <a:rPr lang="zh-CN" altLang="en-US" dirty="0"/>
              <a:t>布尔函数及其表示</a:t>
            </a:r>
          </a:p>
        </p:txBody>
      </p:sp>
      <p:sp>
        <p:nvSpPr>
          <p:cNvPr id="3" name="内容占位符 2">
            <a:extLst>
              <a:ext uri="{FF2B5EF4-FFF2-40B4-BE49-F238E27FC236}">
                <a16:creationId xmlns:a16="http://schemas.microsoft.com/office/drawing/2014/main" id="{3FB16036-C410-44B3-BA4F-FDEF6332EE0A}"/>
              </a:ext>
            </a:extLst>
          </p:cNvPr>
          <p:cNvSpPr>
            <a:spLocks noGrp="1"/>
          </p:cNvSpPr>
          <p:nvPr>
            <p:ph idx="1"/>
          </p:nvPr>
        </p:nvSpPr>
        <p:spPr>
          <a:xfrm>
            <a:off x="341789" y="1067594"/>
            <a:ext cx="11396186" cy="5029200"/>
          </a:xfrm>
        </p:spPr>
        <p:txBody>
          <a:bodyPr>
            <a:noAutofit/>
          </a:bodyPr>
          <a:lstStyle/>
          <a:p>
            <a:r>
              <a:rPr lang="zh-CN" altLang="zh-CN" sz="2800" kern="100" dirty="0">
                <a:latin typeface="+mn-ea"/>
                <a:cs typeface="Times New Roman" panose="02020603050405020304" pitchFamily="18" charset="0"/>
              </a:rPr>
              <a:t>互联网正在给人类社会带来重大变化，海量的信息在互联网上存储和传递，包括一些隐私信息。</a:t>
            </a:r>
            <a:endParaRPr lang="en-US" altLang="zh-CN" sz="2800" kern="100" dirty="0">
              <a:latin typeface="+mn-ea"/>
              <a:cs typeface="Times New Roman" panose="02020603050405020304" pitchFamily="18" charset="0"/>
            </a:endParaRPr>
          </a:p>
          <a:p>
            <a:r>
              <a:rPr lang="zh-CN" altLang="zh-CN" sz="2800" kern="100" dirty="0">
                <a:latin typeface="+mn-ea"/>
                <a:cs typeface="Times New Roman" panose="02020603050405020304" pitchFamily="18" charset="0"/>
              </a:rPr>
              <a:t>为了保证这些</a:t>
            </a:r>
            <a:r>
              <a:rPr lang="zh-CN" altLang="zh-CN" sz="2800" kern="100" dirty="0">
                <a:solidFill>
                  <a:srgbClr val="0000FF"/>
                </a:solidFill>
                <a:latin typeface="+mn-ea"/>
                <a:cs typeface="Times New Roman" panose="02020603050405020304" pitchFamily="18" charset="0"/>
              </a:rPr>
              <a:t>信息的安全</a:t>
            </a:r>
            <a:r>
              <a:rPr lang="zh-CN" altLang="zh-CN" sz="2800" kern="100" dirty="0">
                <a:latin typeface="+mn-ea"/>
                <a:cs typeface="Times New Roman" panose="02020603050405020304" pitchFamily="18" charset="0"/>
              </a:rPr>
              <a:t>，人们使用密码学理论和方法来对重要信息进行</a:t>
            </a:r>
            <a:r>
              <a:rPr lang="zh-CN" altLang="zh-CN" sz="2800" kern="100" dirty="0">
                <a:solidFill>
                  <a:srgbClr val="FF0000"/>
                </a:solidFill>
                <a:latin typeface="+mn-ea"/>
                <a:cs typeface="Times New Roman" panose="02020603050405020304" pitchFamily="18" charset="0"/>
              </a:rPr>
              <a:t>加密</a:t>
            </a:r>
            <a:r>
              <a:rPr lang="zh-CN" altLang="zh-CN" sz="2800" kern="100" dirty="0">
                <a:latin typeface="+mn-ea"/>
                <a:cs typeface="Times New Roman" panose="02020603050405020304" pitchFamily="18" charset="0"/>
              </a:rPr>
              <a:t>。</a:t>
            </a:r>
            <a:endParaRPr lang="en-US" altLang="zh-CN" sz="2800" kern="100" dirty="0">
              <a:latin typeface="+mn-ea"/>
              <a:cs typeface="Times New Roman" panose="02020603050405020304" pitchFamily="18" charset="0"/>
            </a:endParaRPr>
          </a:p>
          <a:p>
            <a:r>
              <a:rPr lang="zh-CN" altLang="zh-CN" sz="2800" kern="100" dirty="0">
                <a:solidFill>
                  <a:srgbClr val="FF0000"/>
                </a:solidFill>
                <a:latin typeface="+mn-ea"/>
                <a:cs typeface="Times New Roman" panose="02020603050405020304" pitchFamily="18" charset="0"/>
              </a:rPr>
              <a:t>布尔函数</a:t>
            </a:r>
            <a:r>
              <a:rPr lang="zh-CN" altLang="zh-CN" sz="2800" kern="100" dirty="0">
                <a:latin typeface="+mn-ea"/>
                <a:cs typeface="Times New Roman" panose="02020603050405020304" pitchFamily="18" charset="0"/>
              </a:rPr>
              <a:t>在密码算法的设计和分析中占有极其重要的地位。例如，在流密码中最常用的密钥流生成器是非线性滤波生成器和非线性组合生成器，对它们的研究可归结于对布尔函数的各种性质的研究。</a:t>
            </a:r>
            <a:endParaRPr lang="en-US" altLang="zh-CN" sz="2800" kern="100" dirty="0">
              <a:latin typeface="+mn-ea"/>
              <a:cs typeface="Times New Roman" panose="02020603050405020304" pitchFamily="18" charset="0"/>
            </a:endParaRPr>
          </a:p>
          <a:p>
            <a:r>
              <a:rPr lang="zh-CN" altLang="zh-CN" sz="2800" kern="100" dirty="0">
                <a:solidFill>
                  <a:srgbClr val="0000FF"/>
                </a:solidFill>
                <a:latin typeface="+mn-ea"/>
                <a:cs typeface="Times New Roman" panose="02020603050405020304" pitchFamily="18" charset="0"/>
              </a:rPr>
              <a:t>布尔函数的平衡性、对称性、高非线性、相关免疫性、扩散性</a:t>
            </a:r>
            <a:r>
              <a:rPr lang="zh-CN" altLang="zh-CN" sz="2800" kern="100" dirty="0">
                <a:latin typeface="+mn-ea"/>
                <a:cs typeface="Times New Roman" panose="02020603050405020304" pitchFamily="18" charset="0"/>
              </a:rPr>
              <a:t>等，都是研究的热点问题。</a:t>
            </a:r>
            <a:endParaRPr lang="en-US" altLang="zh-CN" sz="2800" kern="100" dirty="0">
              <a:latin typeface="+mn-ea"/>
              <a:cs typeface="Times New Roman" panose="02020603050405020304" pitchFamily="18" charset="0"/>
            </a:endParaRPr>
          </a:p>
        </p:txBody>
      </p:sp>
    </p:spTree>
    <p:extLst>
      <p:ext uri="{BB962C8B-B14F-4D97-AF65-F5344CB8AC3E}">
        <p14:creationId xmlns:p14="http://schemas.microsoft.com/office/powerpoint/2010/main" val="14707201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190663-B94B-4CFF-A2B1-0F7EC7756FF8}"/>
              </a:ext>
            </a:extLst>
          </p:cNvPr>
          <p:cNvSpPr>
            <a:spLocks noGrp="1"/>
          </p:cNvSpPr>
          <p:nvPr>
            <p:ph type="title"/>
          </p:nvPr>
        </p:nvSpPr>
        <p:spPr/>
        <p:txBody>
          <a:bodyPr/>
          <a:lstStyle/>
          <a:p>
            <a:r>
              <a:rPr lang="zh-CN" altLang="en-US" dirty="0"/>
              <a:t>布尔函数</a:t>
            </a:r>
          </a:p>
        </p:txBody>
      </p:sp>
      <p:sp>
        <p:nvSpPr>
          <p:cNvPr id="3" name="内容占位符 2">
            <a:extLst>
              <a:ext uri="{FF2B5EF4-FFF2-40B4-BE49-F238E27FC236}">
                <a16:creationId xmlns:a16="http://schemas.microsoft.com/office/drawing/2014/main" id="{0292A3D6-545F-4F2E-A80B-26EA3001B06D}"/>
              </a:ext>
            </a:extLst>
          </p:cNvPr>
          <p:cNvSpPr>
            <a:spLocks noGrp="1"/>
          </p:cNvSpPr>
          <p:nvPr>
            <p:ph idx="1"/>
          </p:nvPr>
        </p:nvSpPr>
        <p:spPr>
          <a:xfrm>
            <a:off x="352193" y="893510"/>
            <a:ext cx="11157182" cy="1824400"/>
          </a:xfrm>
        </p:spPr>
        <p:txBody>
          <a:bodyPr>
            <a:normAutofit/>
          </a:bodyPr>
          <a:lstStyle/>
          <a:p>
            <a:pPr marL="0" indent="0" algn="just">
              <a:lnSpc>
                <a:spcPct val="200000"/>
              </a:lnSpc>
              <a:buNone/>
              <a:tabLst>
                <a:tab pos="4229100" algn="l"/>
              </a:tabLst>
            </a:pPr>
            <a:r>
              <a:rPr lang="zh-CN" altLang="zh-CN" sz="2800" kern="100" dirty="0">
                <a:solidFill>
                  <a:srgbClr val="0000FF"/>
                </a:solidFill>
                <a:effectLst/>
                <a:latin typeface="+mn-ea"/>
              </a:rPr>
              <a:t>定义</a:t>
            </a:r>
            <a:r>
              <a:rPr lang="en-US" altLang="zh-CN" sz="2800" kern="100" dirty="0">
                <a:solidFill>
                  <a:srgbClr val="0000FF"/>
                </a:solidFill>
                <a:effectLst/>
                <a:latin typeface="+mn-ea"/>
              </a:rPr>
              <a:t>10.13 </a:t>
            </a:r>
            <a:r>
              <a:rPr lang="zh-CN" altLang="zh-CN" sz="2800" kern="100" dirty="0">
                <a:effectLst/>
                <a:latin typeface="+mn-ea"/>
              </a:rPr>
              <a:t>令</a:t>
            </a:r>
            <a:r>
              <a:rPr lang="en-US" altLang="zh-CN" sz="2800" kern="100" dirty="0">
                <a:effectLst/>
                <a:latin typeface="+mn-ea"/>
              </a:rPr>
              <a:t>B={0,1}</a:t>
            </a:r>
            <a:r>
              <a:rPr lang="zh-CN" altLang="zh-CN" sz="2800" kern="100" dirty="0">
                <a:effectLst/>
                <a:latin typeface="+mn-ea"/>
              </a:rPr>
              <a:t>是布尔代数，则称函数</a:t>
            </a:r>
            <a:r>
              <a:rPr lang="en-US" altLang="zh-CN" sz="2800" kern="100" dirty="0">
                <a:effectLst/>
                <a:latin typeface="+mn-ea"/>
              </a:rPr>
              <a:t>f:B</a:t>
            </a:r>
            <a:r>
              <a:rPr lang="en-US" altLang="zh-CN" sz="2800" kern="100" baseline="30000" dirty="0">
                <a:effectLst/>
                <a:latin typeface="+mn-ea"/>
              </a:rPr>
              <a:t>n</a:t>
            </a:r>
            <a:r>
              <a:rPr lang="en-US" altLang="zh-CN" sz="2800" kern="100" dirty="0">
                <a:effectLst/>
                <a:latin typeface="+mn-ea"/>
                <a:sym typeface="Symbol" panose="05050102010706020507" pitchFamily="18" charset="2"/>
              </a:rPr>
              <a:t></a:t>
            </a:r>
            <a:r>
              <a:rPr lang="en-US" altLang="zh-CN" sz="2800" kern="100" dirty="0">
                <a:effectLst/>
                <a:latin typeface="+mn-ea"/>
              </a:rPr>
              <a:t>B</a:t>
            </a:r>
            <a:r>
              <a:rPr lang="zh-CN" altLang="zh-CN" sz="2800" kern="100" dirty="0">
                <a:effectLst/>
                <a:latin typeface="+mn-ea"/>
              </a:rPr>
              <a:t>为</a:t>
            </a:r>
            <a:r>
              <a:rPr lang="en-US" altLang="zh-CN" sz="2800" kern="100" dirty="0">
                <a:solidFill>
                  <a:srgbClr val="FF0000"/>
                </a:solidFill>
                <a:effectLst/>
                <a:latin typeface="+mn-ea"/>
              </a:rPr>
              <a:t>n</a:t>
            </a:r>
            <a:r>
              <a:rPr lang="zh-CN" altLang="zh-CN" sz="2800" kern="100" dirty="0">
                <a:solidFill>
                  <a:srgbClr val="FF0000"/>
                </a:solidFill>
                <a:effectLst/>
                <a:latin typeface="+mn-ea"/>
              </a:rPr>
              <a:t>元布尔函数</a:t>
            </a:r>
            <a:r>
              <a:rPr lang="zh-CN" altLang="zh-CN" sz="2800" kern="100" dirty="0">
                <a:effectLst/>
                <a:latin typeface="+mn-ea"/>
              </a:rPr>
              <a:t>，记为</a:t>
            </a:r>
            <a:r>
              <a:rPr lang="en-US" altLang="zh-CN" sz="2800" kern="100" dirty="0">
                <a:effectLst/>
                <a:latin typeface="+mn-ea"/>
              </a:rPr>
              <a:t>f(x</a:t>
            </a:r>
            <a:r>
              <a:rPr lang="en-US" altLang="zh-CN" sz="2800" kern="100" baseline="-25000" dirty="0">
                <a:effectLst/>
                <a:latin typeface="+mn-ea"/>
              </a:rPr>
              <a:t>1</a:t>
            </a:r>
            <a:r>
              <a:rPr lang="en-US" altLang="zh-CN" sz="2800" kern="100" dirty="0">
                <a:effectLst/>
                <a:latin typeface="+mn-ea"/>
              </a:rPr>
              <a:t>,x</a:t>
            </a:r>
            <a:r>
              <a:rPr lang="en-US" altLang="zh-CN" sz="2800" kern="100" baseline="-25000" dirty="0">
                <a:effectLst/>
                <a:latin typeface="+mn-ea"/>
              </a:rPr>
              <a:t>2</a:t>
            </a:r>
            <a:r>
              <a:rPr lang="en-US" altLang="zh-CN" sz="2800" kern="100" dirty="0">
                <a:effectLst/>
                <a:latin typeface="+mn-ea"/>
              </a:rPr>
              <a:t>,…,</a:t>
            </a:r>
            <a:r>
              <a:rPr lang="en-US" altLang="zh-CN" sz="2800" kern="100" dirty="0" err="1">
                <a:effectLst/>
                <a:latin typeface="+mn-ea"/>
              </a:rPr>
              <a:t>x</a:t>
            </a:r>
            <a:r>
              <a:rPr lang="en-US" altLang="zh-CN" sz="2800" kern="100" baseline="-25000" dirty="0" err="1">
                <a:effectLst/>
                <a:latin typeface="+mn-ea"/>
              </a:rPr>
              <a:t>n</a:t>
            </a:r>
            <a:r>
              <a:rPr lang="en-US" altLang="zh-CN" sz="2800" kern="100" dirty="0">
                <a:effectLst/>
                <a:latin typeface="+mn-ea"/>
              </a:rPr>
              <a:t>)</a:t>
            </a:r>
            <a:r>
              <a:rPr lang="zh-CN" altLang="zh-CN" sz="2800" kern="100" dirty="0">
                <a:effectLst/>
                <a:latin typeface="+mn-ea"/>
              </a:rPr>
              <a:t>。</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26EE09C-5FC3-4819-911C-0F4C43462429}"/>
                  </a:ext>
                </a:extLst>
              </p:cNvPr>
              <p:cNvSpPr txBox="1"/>
              <p:nvPr/>
            </p:nvSpPr>
            <p:spPr>
              <a:xfrm>
                <a:off x="612775" y="2896394"/>
                <a:ext cx="10744200" cy="2007473"/>
              </a:xfrm>
              <a:prstGeom prst="rect">
                <a:avLst/>
              </a:prstGeom>
              <a:noFill/>
            </p:spPr>
            <p:txBody>
              <a:bodyPr wrap="square">
                <a:spAutoFit/>
              </a:bodyPr>
              <a:lstStyle/>
              <a:p>
                <a:pPr marL="457200" indent="-457200" algn="just">
                  <a:lnSpc>
                    <a:spcPct val="150000"/>
                  </a:lnSpc>
                  <a:buFont typeface="Wingdings" panose="05000000000000000000" pitchFamily="2" charset="2"/>
                  <a:buChar char="l"/>
                  <a:tabLst>
                    <a:tab pos="4229100" algn="l"/>
                  </a:tabLst>
                </a:pPr>
                <a:r>
                  <a:rPr lang="en-US" altLang="zh-CN" sz="2800" b="1" kern="100" dirty="0">
                    <a:effectLst/>
                    <a:latin typeface="+mn-ea"/>
                  </a:rPr>
                  <a:t>n</a:t>
                </a:r>
                <a:r>
                  <a:rPr lang="zh-CN" altLang="zh-CN" sz="2800" b="1" kern="100" dirty="0">
                    <a:effectLst/>
                    <a:latin typeface="+mn-ea"/>
                  </a:rPr>
                  <a:t>元布尔函数</a:t>
                </a:r>
                <a:r>
                  <a:rPr lang="zh-CN" altLang="en-US" sz="2800" b="1" kern="100" dirty="0">
                    <a:effectLst/>
                    <a:latin typeface="+mn-ea"/>
                  </a:rPr>
                  <a:t>总共</a:t>
                </a:r>
                <a:r>
                  <a:rPr lang="zh-CN" altLang="zh-CN" sz="2800" b="1" kern="100" dirty="0">
                    <a:effectLst/>
                    <a:latin typeface="+mn-ea"/>
                  </a:rPr>
                  <a:t>有</a:t>
                </a:r>
                <a14:m>
                  <m:oMath xmlns:m="http://schemas.openxmlformats.org/officeDocument/2006/math">
                    <m:sSup>
                      <m:sSupPr>
                        <m:ctrlPr>
                          <a:rPr lang="zh-CN" altLang="zh-CN" sz="2800" b="1" i="1" kern="100" smtClean="0">
                            <a:solidFill>
                              <a:srgbClr val="0000FF"/>
                            </a:solidFill>
                            <a:effectLst/>
                            <a:latin typeface="Cambria Math" panose="02040503050406030204" pitchFamily="18" charset="0"/>
                          </a:rPr>
                        </m:ctrlPr>
                      </m:sSupPr>
                      <m:e>
                        <m:r>
                          <a:rPr lang="en-US" altLang="zh-CN" sz="2800" b="1" i="1" kern="100">
                            <a:solidFill>
                              <a:srgbClr val="0000FF"/>
                            </a:solidFill>
                            <a:effectLst/>
                            <a:latin typeface="Cambria Math" panose="02040503050406030204" pitchFamily="18" charset="0"/>
                          </a:rPr>
                          <m:t>𝟐</m:t>
                        </m:r>
                      </m:e>
                      <m:sup>
                        <m:sSup>
                          <m:sSupPr>
                            <m:ctrlPr>
                              <a:rPr lang="zh-CN" altLang="zh-CN" sz="2800" b="1" i="1" kern="100">
                                <a:solidFill>
                                  <a:srgbClr val="0000FF"/>
                                </a:solidFill>
                                <a:effectLst/>
                                <a:latin typeface="Cambria Math" panose="02040503050406030204" pitchFamily="18" charset="0"/>
                              </a:rPr>
                            </m:ctrlPr>
                          </m:sSupPr>
                          <m:e>
                            <m:r>
                              <a:rPr lang="en-US" altLang="zh-CN" sz="2800" b="1" i="1" kern="100">
                                <a:solidFill>
                                  <a:srgbClr val="0000FF"/>
                                </a:solidFill>
                                <a:effectLst/>
                                <a:latin typeface="Cambria Math" panose="02040503050406030204" pitchFamily="18" charset="0"/>
                              </a:rPr>
                              <m:t>𝟐</m:t>
                            </m:r>
                          </m:e>
                          <m:sup>
                            <m:r>
                              <a:rPr lang="en-US" altLang="zh-CN" sz="2800" b="1" i="1" kern="100">
                                <a:solidFill>
                                  <a:srgbClr val="0000FF"/>
                                </a:solidFill>
                                <a:effectLst/>
                                <a:latin typeface="Cambria Math" panose="02040503050406030204" pitchFamily="18" charset="0"/>
                              </a:rPr>
                              <m:t>𝒏</m:t>
                            </m:r>
                          </m:sup>
                        </m:sSup>
                      </m:sup>
                    </m:sSup>
                  </m:oMath>
                </a14:m>
                <a:r>
                  <a:rPr lang="zh-CN" altLang="zh-CN" sz="2800" b="1" kern="100" dirty="0">
                    <a:effectLst/>
                    <a:latin typeface="+mn-ea"/>
                  </a:rPr>
                  <a:t>个。</a:t>
                </a:r>
              </a:p>
              <a:p>
                <a:pPr marL="457200" indent="-457200">
                  <a:lnSpc>
                    <a:spcPct val="150000"/>
                  </a:lnSpc>
                  <a:buFont typeface="Wingdings" panose="05000000000000000000" pitchFamily="2" charset="2"/>
                  <a:buChar char="l"/>
                </a:pPr>
                <a:r>
                  <a:rPr lang="zh-CN" altLang="zh-CN" sz="2800" b="1" dirty="0">
                    <a:effectLst/>
                    <a:latin typeface="+mn-ea"/>
                    <a:cs typeface="Times New Roman" panose="02020603050405020304" pitchFamily="18" charset="0"/>
                  </a:rPr>
                  <a:t>布尔函数有多种表示方法，包括</a:t>
                </a:r>
                <a:r>
                  <a:rPr lang="zh-CN" altLang="zh-CN" sz="2800" b="1" dirty="0">
                    <a:solidFill>
                      <a:srgbClr val="0000FF"/>
                    </a:solidFill>
                    <a:effectLst/>
                    <a:latin typeface="+mn-ea"/>
                    <a:cs typeface="Times New Roman" panose="02020603050405020304" pitchFamily="18" charset="0"/>
                  </a:rPr>
                  <a:t>真值表、小项表示、多项式表示</a:t>
                </a:r>
                <a:r>
                  <a:rPr lang="zh-CN" altLang="zh-CN" sz="2800" b="1" dirty="0">
                    <a:effectLst/>
                    <a:latin typeface="+mn-ea"/>
                    <a:cs typeface="Times New Roman" panose="02020603050405020304" pitchFamily="18" charset="0"/>
                  </a:rPr>
                  <a:t>、</a:t>
                </a:r>
                <a:r>
                  <a:rPr lang="en-US" altLang="zh-CN" sz="2800" b="1" dirty="0">
                    <a:effectLst/>
                    <a:latin typeface="+mn-ea"/>
                  </a:rPr>
                  <a:t>Walsh</a:t>
                </a:r>
                <a:r>
                  <a:rPr lang="zh-CN" altLang="zh-CN" sz="2800" b="1" dirty="0">
                    <a:effectLst/>
                    <a:latin typeface="+mn-ea"/>
                    <a:cs typeface="Times New Roman" panose="02020603050405020304" pitchFamily="18" charset="0"/>
                  </a:rPr>
                  <a:t>谱表示、迹函数表示和矩阵表示法等。</a:t>
                </a:r>
                <a:endParaRPr lang="zh-CN" altLang="en-US" sz="2800" b="1" dirty="0">
                  <a:latin typeface="+mn-ea"/>
                </a:endParaRPr>
              </a:p>
            </p:txBody>
          </p:sp>
        </mc:Choice>
        <mc:Fallback xmlns="">
          <p:sp>
            <p:nvSpPr>
              <p:cNvPr id="5" name="文本框 4">
                <a:extLst>
                  <a:ext uri="{FF2B5EF4-FFF2-40B4-BE49-F238E27FC236}">
                    <a16:creationId xmlns:a16="http://schemas.microsoft.com/office/drawing/2014/main" id="{A26EE09C-5FC3-4819-911C-0F4C43462429}"/>
                  </a:ext>
                </a:extLst>
              </p:cNvPr>
              <p:cNvSpPr txBox="1">
                <a:spLocks noRot="1" noChangeAspect="1" noMove="1" noResize="1" noEditPoints="1" noAdjustHandles="1" noChangeArrowheads="1" noChangeShapeType="1" noTextEdit="1"/>
              </p:cNvSpPr>
              <p:nvPr/>
            </p:nvSpPr>
            <p:spPr>
              <a:xfrm>
                <a:off x="612775" y="2896394"/>
                <a:ext cx="10744200" cy="2007473"/>
              </a:xfrm>
              <a:prstGeom prst="rect">
                <a:avLst/>
              </a:prstGeom>
              <a:blipFill>
                <a:blip r:embed="rId2"/>
                <a:stretch>
                  <a:fillRect l="-1022" r="-3121" b="-759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749689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D2FAD2-0858-44E3-93F9-FECE0FEBB4D3}"/>
              </a:ext>
            </a:extLst>
          </p:cNvPr>
          <p:cNvSpPr>
            <a:spLocks noGrp="1"/>
          </p:cNvSpPr>
          <p:nvPr>
            <p:ph type="title"/>
          </p:nvPr>
        </p:nvSpPr>
        <p:spPr/>
        <p:txBody>
          <a:bodyPr/>
          <a:lstStyle/>
          <a:p>
            <a:r>
              <a:rPr lang="zh-CN" altLang="en-US" dirty="0"/>
              <a:t>布尔函数表示：真值表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7899FF5-F265-4D65-AC36-711AD118A4F2}"/>
                  </a:ext>
                </a:extLst>
              </p:cNvPr>
              <p:cNvSpPr>
                <a:spLocks noGrp="1"/>
              </p:cNvSpPr>
              <p:nvPr>
                <p:ph idx="1"/>
              </p:nvPr>
            </p:nvSpPr>
            <p:spPr>
              <a:xfrm>
                <a:off x="609918" y="1143795"/>
                <a:ext cx="10137457" cy="761999"/>
              </a:xfrm>
            </p:spPr>
            <p:txBody>
              <a:bodyPr>
                <a:noAutofit/>
              </a:bodyPr>
              <a:lstStyle/>
              <a:p>
                <a:r>
                  <a:rPr lang="zh-CN" altLang="en-US" sz="2800" dirty="0">
                    <a:effectLst/>
                    <a:latin typeface="+mn-ea"/>
                  </a:rPr>
                  <a:t>例如，若</a:t>
                </a:r>
                <a14:m>
                  <m:oMath xmlns:m="http://schemas.openxmlformats.org/officeDocument/2006/math">
                    <m:r>
                      <a:rPr lang="en-US" altLang="zh-CN" sz="2800" b="1" i="1" dirty="0" smtClean="0">
                        <a:effectLst/>
                        <a:latin typeface="Cambria Math" panose="02040503050406030204" pitchFamily="18" charset="0"/>
                      </a:rPr>
                      <m:t>𝒇</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𝒇</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𝒇</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𝒇</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oMath>
                </a14:m>
                <a:endParaRPr lang="zh-CN" altLang="en-US" sz="2800" dirty="0">
                  <a:latin typeface="+mn-ea"/>
                </a:endParaRPr>
              </a:p>
            </p:txBody>
          </p:sp>
        </mc:Choice>
        <mc:Fallback xmlns="">
          <p:sp>
            <p:nvSpPr>
              <p:cNvPr id="3" name="内容占位符 2">
                <a:extLst>
                  <a:ext uri="{FF2B5EF4-FFF2-40B4-BE49-F238E27FC236}">
                    <a16:creationId xmlns:a16="http://schemas.microsoft.com/office/drawing/2014/main" id="{87899FF5-F265-4D65-AC36-711AD118A4F2}"/>
                  </a:ext>
                </a:extLst>
              </p:cNvPr>
              <p:cNvSpPr>
                <a:spLocks noGrp="1" noRot="1" noChangeAspect="1" noMove="1" noResize="1" noEditPoints="1" noAdjustHandles="1" noChangeArrowheads="1" noChangeShapeType="1" noTextEdit="1"/>
              </p:cNvSpPr>
              <p:nvPr>
                <p:ph idx="1"/>
              </p:nvPr>
            </p:nvSpPr>
            <p:spPr>
              <a:xfrm>
                <a:off x="609918" y="1143795"/>
                <a:ext cx="10137457" cy="761999"/>
              </a:xfrm>
              <a:blipFill>
                <a:blip r:embed="rId2"/>
                <a:stretch>
                  <a:fillRect l="-361" t="-8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1FF42819-337F-4063-9801-9411BB3617B9}"/>
                  </a:ext>
                </a:extLst>
              </p:cNvPr>
              <p:cNvGraphicFramePr>
                <a:graphicFrameLocks noGrp="1"/>
              </p:cNvGraphicFramePr>
              <p:nvPr/>
            </p:nvGraphicFramePr>
            <p:xfrm>
              <a:off x="2974975" y="1905794"/>
              <a:ext cx="3985260" cy="4267200"/>
            </p:xfrm>
            <a:graphic>
              <a:graphicData uri="http://schemas.openxmlformats.org/drawingml/2006/table">
                <a:tbl>
                  <a:tblPr firstRow="1" bandRow="1">
                    <a:tableStyleId>{21E4AEA4-8DFA-4A89-87EB-49C32662AFE0}</a:tableStyleId>
                  </a:tblPr>
                  <a:tblGrid>
                    <a:gridCol w="990600">
                      <a:extLst>
                        <a:ext uri="{9D8B030D-6E8A-4147-A177-3AD203B41FA5}">
                          <a16:colId xmlns:a16="http://schemas.microsoft.com/office/drawing/2014/main" val="162323567"/>
                        </a:ext>
                      </a:extLst>
                    </a:gridCol>
                    <a:gridCol w="1013460">
                      <a:extLst>
                        <a:ext uri="{9D8B030D-6E8A-4147-A177-3AD203B41FA5}">
                          <a16:colId xmlns:a16="http://schemas.microsoft.com/office/drawing/2014/main" val="1608215997"/>
                        </a:ext>
                      </a:extLst>
                    </a:gridCol>
                    <a:gridCol w="1981200">
                      <a:extLst>
                        <a:ext uri="{9D8B030D-6E8A-4147-A177-3AD203B41FA5}">
                          <a16:colId xmlns:a16="http://schemas.microsoft.com/office/drawing/2014/main" val="4186836388"/>
                        </a:ext>
                      </a:extLst>
                    </a:gridCol>
                  </a:tblGrid>
                  <a:tr h="853440">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dirty="0" smtClean="0">
                                    <a:effectLst/>
                                    <a:latin typeface="Cambria Math" panose="02040503050406030204" pitchFamily="18" charset="0"/>
                                  </a:rPr>
                                  <m:t>𝒙</m:t>
                                </m:r>
                                <m:r>
                                  <a:rPr lang="en-US" sz="2800" b="1" i="1" kern="0" baseline="-25000" dirty="0">
                                    <a:effectLst/>
                                    <a:latin typeface="Cambria Math" panose="02040503050406030204" pitchFamily="18" charset="0"/>
                                  </a:rPr>
                                  <m:t>𝟏</m:t>
                                </m:r>
                              </m:oMath>
                            </m:oMathPara>
                          </a14:m>
                          <a:endParaRPr lang="zh-CN" sz="2800" b="1"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dirty="0" smtClean="0">
                                    <a:effectLst/>
                                    <a:latin typeface="Cambria Math" panose="02040503050406030204" pitchFamily="18" charset="0"/>
                                  </a:rPr>
                                  <m:t>𝒙</m:t>
                                </m:r>
                                <m:r>
                                  <a:rPr lang="en-US" sz="2800" b="1" i="1" kern="0" baseline="-25000" dirty="0">
                                    <a:effectLst/>
                                    <a:latin typeface="Cambria Math" panose="02040503050406030204" pitchFamily="18" charset="0"/>
                                  </a:rPr>
                                  <m:t>𝟐</m:t>
                                </m:r>
                              </m:oMath>
                            </m:oMathPara>
                          </a14:m>
                          <a:endParaRPr lang="zh-CN" sz="2800" b="1"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dirty="0" smtClean="0">
                                    <a:effectLst/>
                                    <a:latin typeface="Cambria Math" panose="02040503050406030204" pitchFamily="18" charset="0"/>
                                  </a:rPr>
                                  <m:t>𝒇</m:t>
                                </m:r>
                                <m:r>
                                  <a:rPr lang="en-US" sz="2800" b="1" i="1" kern="0" dirty="0" smtClean="0">
                                    <a:effectLst/>
                                    <a:latin typeface="Cambria Math" panose="02040503050406030204" pitchFamily="18" charset="0"/>
                                  </a:rPr>
                                  <m:t>(</m:t>
                                </m:r>
                                <m:r>
                                  <a:rPr lang="en-US" sz="2800" b="1" i="1" kern="0" dirty="0" smtClean="0">
                                    <a:effectLst/>
                                    <a:latin typeface="Cambria Math" panose="02040503050406030204" pitchFamily="18" charset="0"/>
                                  </a:rPr>
                                  <m:t>𝒙</m:t>
                                </m:r>
                                <m:r>
                                  <a:rPr lang="en-US" sz="2800" b="1" i="1" kern="0" baseline="-25000" dirty="0">
                                    <a:effectLst/>
                                    <a:latin typeface="Cambria Math" panose="02040503050406030204" pitchFamily="18" charset="0"/>
                                  </a:rPr>
                                  <m:t>𝟏</m:t>
                                </m:r>
                                <m:r>
                                  <a:rPr lang="en-US" sz="2800" b="1" i="1" kern="0" dirty="0">
                                    <a:effectLst/>
                                    <a:latin typeface="Cambria Math" panose="02040503050406030204" pitchFamily="18" charset="0"/>
                                  </a:rPr>
                                  <m:t>, </m:t>
                                </m:r>
                                <m:r>
                                  <a:rPr lang="en-US" sz="2800" b="1" i="1" kern="0" dirty="0">
                                    <a:effectLst/>
                                    <a:latin typeface="Cambria Math" panose="02040503050406030204" pitchFamily="18" charset="0"/>
                                  </a:rPr>
                                  <m:t>𝒙</m:t>
                                </m:r>
                                <m:r>
                                  <a:rPr lang="en-US" sz="2800" b="1" i="1" kern="0" baseline="-25000" dirty="0">
                                    <a:effectLst/>
                                    <a:latin typeface="Cambria Math" panose="02040503050406030204" pitchFamily="18" charset="0"/>
                                  </a:rPr>
                                  <m:t>𝟐</m:t>
                                </m:r>
                                <m:r>
                                  <a:rPr lang="en-US" sz="2800" b="1" i="1" kern="0" dirty="0">
                                    <a:effectLst/>
                                    <a:latin typeface="Cambria Math" panose="02040503050406030204" pitchFamily="18" charset="0"/>
                                  </a:rPr>
                                  <m:t>)</m:t>
                                </m:r>
                              </m:oMath>
                            </m:oMathPara>
                          </a14:m>
                          <a:endParaRPr lang="zh-CN" sz="2800" b="1"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500993668"/>
                      </a:ext>
                    </a:extLst>
                  </a:tr>
                  <a:tr h="853440">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smtClean="0">
                                    <a:effectLst/>
                                    <a:latin typeface="Cambria Math" panose="02040503050406030204" pitchFamily="18" charset="0"/>
                                  </a:rPr>
                                  <m:t>𝟎</m:t>
                                </m:r>
                              </m:oMath>
                            </m:oMathPara>
                          </a14:m>
                          <a:endParaRPr lang="zh-CN" sz="2800" b="1"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smtClean="0">
                                    <a:effectLst/>
                                    <a:latin typeface="Cambria Math" panose="02040503050406030204" pitchFamily="18" charset="0"/>
                                  </a:rPr>
                                  <m:t>𝟎</m:t>
                                </m:r>
                              </m:oMath>
                            </m:oMathPara>
                          </a14:m>
                          <a:endParaRPr lang="zh-CN" sz="2800" b="1"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dirty="0" smtClean="0">
                                    <a:solidFill>
                                      <a:srgbClr val="0000FF"/>
                                    </a:solidFill>
                                    <a:effectLst/>
                                    <a:latin typeface="Cambria Math" panose="02040503050406030204" pitchFamily="18" charset="0"/>
                                  </a:rPr>
                                  <m:t>𝟏</m:t>
                                </m:r>
                              </m:oMath>
                            </m:oMathPara>
                          </a14:m>
                          <a:endParaRPr lang="zh-CN" sz="2800" b="1" kern="100" dirty="0">
                            <a:solidFill>
                              <a:srgbClr val="0000FF"/>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97092237"/>
                      </a:ext>
                    </a:extLst>
                  </a:tr>
                  <a:tr h="853440">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smtClean="0">
                                    <a:effectLst/>
                                    <a:latin typeface="Cambria Math" panose="02040503050406030204" pitchFamily="18" charset="0"/>
                                  </a:rPr>
                                  <m:t>𝟎</m:t>
                                </m:r>
                              </m:oMath>
                            </m:oMathPara>
                          </a14:m>
                          <a:endParaRPr lang="zh-CN" sz="2800" b="1"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smtClean="0">
                                    <a:effectLst/>
                                    <a:latin typeface="Cambria Math" panose="02040503050406030204" pitchFamily="18" charset="0"/>
                                  </a:rPr>
                                  <m:t>𝟏</m:t>
                                </m:r>
                              </m:oMath>
                            </m:oMathPara>
                          </a14:m>
                          <a:endParaRPr lang="zh-CN" sz="2800" b="1"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dirty="0" smtClean="0">
                                    <a:solidFill>
                                      <a:srgbClr val="0000FF"/>
                                    </a:solidFill>
                                    <a:effectLst/>
                                    <a:latin typeface="Cambria Math" panose="02040503050406030204" pitchFamily="18" charset="0"/>
                                  </a:rPr>
                                  <m:t>𝟎</m:t>
                                </m:r>
                              </m:oMath>
                            </m:oMathPara>
                          </a14:m>
                          <a:endParaRPr lang="zh-CN" sz="2800" b="1" kern="100" dirty="0">
                            <a:solidFill>
                              <a:srgbClr val="0000FF"/>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979937970"/>
                      </a:ext>
                    </a:extLst>
                  </a:tr>
                  <a:tr h="853440">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smtClean="0">
                                    <a:effectLst/>
                                    <a:latin typeface="Cambria Math" panose="02040503050406030204" pitchFamily="18" charset="0"/>
                                  </a:rPr>
                                  <m:t>𝟏</m:t>
                                </m:r>
                              </m:oMath>
                            </m:oMathPara>
                          </a14:m>
                          <a:endParaRPr lang="zh-CN" sz="2800" b="1"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smtClean="0">
                                    <a:effectLst/>
                                    <a:latin typeface="Cambria Math" panose="02040503050406030204" pitchFamily="18" charset="0"/>
                                  </a:rPr>
                                  <m:t>𝟎</m:t>
                                </m:r>
                              </m:oMath>
                            </m:oMathPara>
                          </a14:m>
                          <a:endParaRPr lang="zh-CN" sz="2800" b="1"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dirty="0" smtClean="0">
                                    <a:solidFill>
                                      <a:srgbClr val="0000FF"/>
                                    </a:solidFill>
                                    <a:effectLst/>
                                    <a:latin typeface="Cambria Math" panose="02040503050406030204" pitchFamily="18" charset="0"/>
                                  </a:rPr>
                                  <m:t>𝟏</m:t>
                                </m:r>
                              </m:oMath>
                            </m:oMathPara>
                          </a14:m>
                          <a:endParaRPr lang="zh-CN" sz="2800" b="1" kern="100" dirty="0">
                            <a:solidFill>
                              <a:srgbClr val="0000FF"/>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172419926"/>
                      </a:ext>
                    </a:extLst>
                  </a:tr>
                  <a:tr h="853440">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smtClean="0">
                                    <a:effectLst/>
                                    <a:latin typeface="Cambria Math" panose="02040503050406030204" pitchFamily="18" charset="0"/>
                                  </a:rPr>
                                  <m:t>𝟏</m:t>
                                </m:r>
                              </m:oMath>
                            </m:oMathPara>
                          </a14:m>
                          <a:endParaRPr lang="zh-CN" sz="2800" b="1"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smtClean="0">
                                    <a:effectLst/>
                                    <a:latin typeface="Cambria Math" panose="02040503050406030204" pitchFamily="18" charset="0"/>
                                  </a:rPr>
                                  <m:t>𝟏</m:t>
                                </m:r>
                              </m:oMath>
                            </m:oMathPara>
                          </a14:m>
                          <a:endParaRPr lang="zh-CN" sz="2800" b="1"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ct val="200000"/>
                            </a:lnSpc>
                            <a:tabLst>
                              <a:tab pos="4229100" algn="l"/>
                            </a:tabLst>
                          </a:pPr>
                          <a14:m>
                            <m:oMathPara xmlns:m="http://schemas.openxmlformats.org/officeDocument/2006/math">
                              <m:oMathParaPr>
                                <m:jc m:val="centerGroup"/>
                              </m:oMathParaPr>
                              <m:oMath xmlns:m="http://schemas.openxmlformats.org/officeDocument/2006/math">
                                <m:r>
                                  <a:rPr lang="en-US" sz="2800" b="1" i="1" kern="0" dirty="0" smtClean="0">
                                    <a:solidFill>
                                      <a:srgbClr val="0000FF"/>
                                    </a:solidFill>
                                    <a:effectLst/>
                                    <a:latin typeface="Cambria Math" panose="02040503050406030204" pitchFamily="18" charset="0"/>
                                  </a:rPr>
                                  <m:t>𝟎</m:t>
                                </m:r>
                              </m:oMath>
                            </m:oMathPara>
                          </a14:m>
                          <a:endParaRPr lang="zh-CN" sz="2800" b="1" kern="100" dirty="0">
                            <a:solidFill>
                              <a:srgbClr val="0000FF"/>
                            </a:solidFill>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542835427"/>
                      </a:ext>
                    </a:extLst>
                  </a:tr>
                </a:tbl>
              </a:graphicData>
            </a:graphic>
          </p:graphicFrame>
        </mc:Choice>
        <mc:Fallback xmlns="">
          <p:graphicFrame>
            <p:nvGraphicFramePr>
              <p:cNvPr id="4" name="表格 3">
                <a:extLst>
                  <a:ext uri="{FF2B5EF4-FFF2-40B4-BE49-F238E27FC236}">
                    <a16:creationId xmlns:a16="http://schemas.microsoft.com/office/drawing/2014/main" id="{1FF42819-337F-4063-9801-9411BB3617B9}"/>
                  </a:ext>
                </a:extLst>
              </p:cNvPr>
              <p:cNvGraphicFramePr>
                <a:graphicFrameLocks noGrp="1"/>
              </p:cNvGraphicFramePr>
              <p:nvPr>
                <p:extLst>
                  <p:ext uri="{D42A27DB-BD31-4B8C-83A1-F6EECF244321}">
                    <p14:modId xmlns:p14="http://schemas.microsoft.com/office/powerpoint/2010/main" val="1225558096"/>
                  </p:ext>
                </p:extLst>
              </p:nvPr>
            </p:nvGraphicFramePr>
            <p:xfrm>
              <a:off x="2974975" y="1905794"/>
              <a:ext cx="3985260" cy="4267200"/>
            </p:xfrm>
            <a:graphic>
              <a:graphicData uri="http://schemas.openxmlformats.org/drawingml/2006/table">
                <a:tbl>
                  <a:tblPr firstRow="1" bandRow="1">
                    <a:tableStyleId>{21E4AEA4-8DFA-4A89-87EB-49C32662AFE0}</a:tableStyleId>
                  </a:tblPr>
                  <a:tblGrid>
                    <a:gridCol w="990600">
                      <a:extLst>
                        <a:ext uri="{9D8B030D-6E8A-4147-A177-3AD203B41FA5}">
                          <a16:colId xmlns:a16="http://schemas.microsoft.com/office/drawing/2014/main" val="162323567"/>
                        </a:ext>
                      </a:extLst>
                    </a:gridCol>
                    <a:gridCol w="1013460">
                      <a:extLst>
                        <a:ext uri="{9D8B030D-6E8A-4147-A177-3AD203B41FA5}">
                          <a16:colId xmlns:a16="http://schemas.microsoft.com/office/drawing/2014/main" val="1608215997"/>
                        </a:ext>
                      </a:extLst>
                    </a:gridCol>
                    <a:gridCol w="1981200">
                      <a:extLst>
                        <a:ext uri="{9D8B030D-6E8A-4147-A177-3AD203B41FA5}">
                          <a16:colId xmlns:a16="http://schemas.microsoft.com/office/drawing/2014/main" val="4186836388"/>
                        </a:ext>
                      </a:extLst>
                    </a:gridCol>
                  </a:tblGrid>
                  <a:tr h="853440">
                    <a:tc>
                      <a:txBody>
                        <a:bodyPr/>
                        <a:lstStyle/>
                        <a:p>
                          <a:endParaRPr lang="zh-CN"/>
                        </a:p>
                      </a:txBody>
                      <a:tcPr marL="68580" marR="68580" marT="0" marB="0">
                        <a:blipFill>
                          <a:blip r:embed="rId3"/>
                          <a:stretch>
                            <a:fillRect l="-1227" t="-714" r="-303681" b="-402143"/>
                          </a:stretch>
                        </a:blipFill>
                      </a:tcPr>
                    </a:tc>
                    <a:tc>
                      <a:txBody>
                        <a:bodyPr/>
                        <a:lstStyle/>
                        <a:p>
                          <a:endParaRPr lang="zh-CN"/>
                        </a:p>
                      </a:txBody>
                      <a:tcPr marL="68580" marR="68580" marT="0" marB="0">
                        <a:blipFill>
                          <a:blip r:embed="rId3"/>
                          <a:stretch>
                            <a:fillRect l="-99398" t="-714" r="-198193" b="-402143"/>
                          </a:stretch>
                        </a:blipFill>
                      </a:tcPr>
                    </a:tc>
                    <a:tc>
                      <a:txBody>
                        <a:bodyPr/>
                        <a:lstStyle/>
                        <a:p>
                          <a:endParaRPr lang="zh-CN"/>
                        </a:p>
                      </a:txBody>
                      <a:tcPr marL="68580" marR="68580" marT="0" marB="0">
                        <a:blipFill>
                          <a:blip r:embed="rId3"/>
                          <a:stretch>
                            <a:fillRect l="-101846" t="-714" r="-1231" b="-402143"/>
                          </a:stretch>
                        </a:blipFill>
                      </a:tcPr>
                    </a:tc>
                    <a:extLst>
                      <a:ext uri="{0D108BD9-81ED-4DB2-BD59-A6C34878D82A}">
                        <a16:rowId xmlns:a16="http://schemas.microsoft.com/office/drawing/2014/main" val="3500993668"/>
                      </a:ext>
                    </a:extLst>
                  </a:tr>
                  <a:tr h="853440">
                    <a:tc>
                      <a:txBody>
                        <a:bodyPr/>
                        <a:lstStyle/>
                        <a:p>
                          <a:endParaRPr lang="zh-CN"/>
                        </a:p>
                      </a:txBody>
                      <a:tcPr marL="68580" marR="68580" marT="0" marB="0">
                        <a:blipFill>
                          <a:blip r:embed="rId3"/>
                          <a:stretch>
                            <a:fillRect l="-1227" t="-100714" r="-303681" b="-302143"/>
                          </a:stretch>
                        </a:blipFill>
                      </a:tcPr>
                    </a:tc>
                    <a:tc>
                      <a:txBody>
                        <a:bodyPr/>
                        <a:lstStyle/>
                        <a:p>
                          <a:endParaRPr lang="zh-CN"/>
                        </a:p>
                      </a:txBody>
                      <a:tcPr marL="68580" marR="68580" marT="0" marB="0">
                        <a:blipFill>
                          <a:blip r:embed="rId3"/>
                          <a:stretch>
                            <a:fillRect l="-99398" t="-100714" r="-198193" b="-302143"/>
                          </a:stretch>
                        </a:blipFill>
                      </a:tcPr>
                    </a:tc>
                    <a:tc>
                      <a:txBody>
                        <a:bodyPr/>
                        <a:lstStyle/>
                        <a:p>
                          <a:endParaRPr lang="zh-CN"/>
                        </a:p>
                      </a:txBody>
                      <a:tcPr marL="68580" marR="68580" marT="0" marB="0">
                        <a:blipFill>
                          <a:blip r:embed="rId3"/>
                          <a:stretch>
                            <a:fillRect l="-101846" t="-100714" r="-1231" b="-302143"/>
                          </a:stretch>
                        </a:blipFill>
                      </a:tcPr>
                    </a:tc>
                    <a:extLst>
                      <a:ext uri="{0D108BD9-81ED-4DB2-BD59-A6C34878D82A}">
                        <a16:rowId xmlns:a16="http://schemas.microsoft.com/office/drawing/2014/main" val="497092237"/>
                      </a:ext>
                    </a:extLst>
                  </a:tr>
                  <a:tr h="853440">
                    <a:tc>
                      <a:txBody>
                        <a:bodyPr/>
                        <a:lstStyle/>
                        <a:p>
                          <a:endParaRPr lang="zh-CN"/>
                        </a:p>
                      </a:txBody>
                      <a:tcPr marL="68580" marR="68580" marT="0" marB="0">
                        <a:blipFill>
                          <a:blip r:embed="rId3"/>
                          <a:stretch>
                            <a:fillRect l="-1227" t="-199291" r="-303681" b="-200000"/>
                          </a:stretch>
                        </a:blipFill>
                      </a:tcPr>
                    </a:tc>
                    <a:tc>
                      <a:txBody>
                        <a:bodyPr/>
                        <a:lstStyle/>
                        <a:p>
                          <a:endParaRPr lang="zh-CN"/>
                        </a:p>
                      </a:txBody>
                      <a:tcPr marL="68580" marR="68580" marT="0" marB="0">
                        <a:blipFill>
                          <a:blip r:embed="rId3"/>
                          <a:stretch>
                            <a:fillRect l="-99398" t="-199291" r="-198193" b="-200000"/>
                          </a:stretch>
                        </a:blipFill>
                      </a:tcPr>
                    </a:tc>
                    <a:tc>
                      <a:txBody>
                        <a:bodyPr/>
                        <a:lstStyle/>
                        <a:p>
                          <a:endParaRPr lang="zh-CN"/>
                        </a:p>
                      </a:txBody>
                      <a:tcPr marL="68580" marR="68580" marT="0" marB="0">
                        <a:blipFill>
                          <a:blip r:embed="rId3"/>
                          <a:stretch>
                            <a:fillRect l="-101846" t="-199291" r="-1231" b="-200000"/>
                          </a:stretch>
                        </a:blipFill>
                      </a:tcPr>
                    </a:tc>
                    <a:extLst>
                      <a:ext uri="{0D108BD9-81ED-4DB2-BD59-A6C34878D82A}">
                        <a16:rowId xmlns:a16="http://schemas.microsoft.com/office/drawing/2014/main" val="2979937970"/>
                      </a:ext>
                    </a:extLst>
                  </a:tr>
                  <a:tr h="853440">
                    <a:tc>
                      <a:txBody>
                        <a:bodyPr/>
                        <a:lstStyle/>
                        <a:p>
                          <a:endParaRPr lang="zh-CN"/>
                        </a:p>
                      </a:txBody>
                      <a:tcPr marL="68580" marR="68580" marT="0" marB="0">
                        <a:blipFill>
                          <a:blip r:embed="rId3"/>
                          <a:stretch>
                            <a:fillRect l="-1227" t="-301429" r="-303681" b="-101429"/>
                          </a:stretch>
                        </a:blipFill>
                      </a:tcPr>
                    </a:tc>
                    <a:tc>
                      <a:txBody>
                        <a:bodyPr/>
                        <a:lstStyle/>
                        <a:p>
                          <a:endParaRPr lang="zh-CN"/>
                        </a:p>
                      </a:txBody>
                      <a:tcPr marL="68580" marR="68580" marT="0" marB="0">
                        <a:blipFill>
                          <a:blip r:embed="rId3"/>
                          <a:stretch>
                            <a:fillRect l="-99398" t="-301429" r="-198193" b="-101429"/>
                          </a:stretch>
                        </a:blipFill>
                      </a:tcPr>
                    </a:tc>
                    <a:tc>
                      <a:txBody>
                        <a:bodyPr/>
                        <a:lstStyle/>
                        <a:p>
                          <a:endParaRPr lang="zh-CN"/>
                        </a:p>
                      </a:txBody>
                      <a:tcPr marL="68580" marR="68580" marT="0" marB="0">
                        <a:blipFill>
                          <a:blip r:embed="rId3"/>
                          <a:stretch>
                            <a:fillRect l="-101846" t="-301429" r="-1231" b="-101429"/>
                          </a:stretch>
                        </a:blipFill>
                      </a:tcPr>
                    </a:tc>
                    <a:extLst>
                      <a:ext uri="{0D108BD9-81ED-4DB2-BD59-A6C34878D82A}">
                        <a16:rowId xmlns:a16="http://schemas.microsoft.com/office/drawing/2014/main" val="3172419926"/>
                      </a:ext>
                    </a:extLst>
                  </a:tr>
                  <a:tr h="853440">
                    <a:tc>
                      <a:txBody>
                        <a:bodyPr/>
                        <a:lstStyle/>
                        <a:p>
                          <a:endParaRPr lang="zh-CN"/>
                        </a:p>
                      </a:txBody>
                      <a:tcPr marL="68580" marR="68580" marT="0" marB="0">
                        <a:blipFill>
                          <a:blip r:embed="rId3"/>
                          <a:stretch>
                            <a:fillRect l="-1227" t="-401429" r="-303681" b="-1429"/>
                          </a:stretch>
                        </a:blipFill>
                      </a:tcPr>
                    </a:tc>
                    <a:tc>
                      <a:txBody>
                        <a:bodyPr/>
                        <a:lstStyle/>
                        <a:p>
                          <a:endParaRPr lang="zh-CN"/>
                        </a:p>
                      </a:txBody>
                      <a:tcPr marL="68580" marR="68580" marT="0" marB="0">
                        <a:blipFill>
                          <a:blip r:embed="rId3"/>
                          <a:stretch>
                            <a:fillRect l="-99398" t="-401429" r="-198193" b="-1429"/>
                          </a:stretch>
                        </a:blipFill>
                      </a:tcPr>
                    </a:tc>
                    <a:tc>
                      <a:txBody>
                        <a:bodyPr/>
                        <a:lstStyle/>
                        <a:p>
                          <a:endParaRPr lang="zh-CN"/>
                        </a:p>
                      </a:txBody>
                      <a:tcPr marL="68580" marR="68580" marT="0" marB="0">
                        <a:blipFill>
                          <a:blip r:embed="rId3"/>
                          <a:stretch>
                            <a:fillRect l="-101846" t="-401429" r="-1231" b="-1429"/>
                          </a:stretch>
                        </a:blipFill>
                      </a:tcPr>
                    </a:tc>
                    <a:extLst>
                      <a:ext uri="{0D108BD9-81ED-4DB2-BD59-A6C34878D82A}">
                        <a16:rowId xmlns:a16="http://schemas.microsoft.com/office/drawing/2014/main" val="3542835427"/>
                      </a:ext>
                    </a:extLst>
                  </a:tr>
                </a:tbl>
              </a:graphicData>
            </a:graphic>
          </p:graphicFrame>
        </mc:Fallback>
      </mc:AlternateContent>
    </p:spTree>
    <p:extLst>
      <p:ext uri="{BB962C8B-B14F-4D97-AF65-F5344CB8AC3E}">
        <p14:creationId xmlns:p14="http://schemas.microsoft.com/office/powerpoint/2010/main" val="25794034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0D4AEE-2880-4413-A63E-4102A4313D20}"/>
              </a:ext>
            </a:extLst>
          </p:cNvPr>
          <p:cNvSpPr>
            <a:spLocks noGrp="1"/>
          </p:cNvSpPr>
          <p:nvPr>
            <p:ph type="title"/>
          </p:nvPr>
        </p:nvSpPr>
        <p:spPr/>
        <p:txBody>
          <a:bodyPr/>
          <a:lstStyle/>
          <a:p>
            <a:r>
              <a:rPr lang="zh-CN" altLang="en-US" dirty="0"/>
              <a:t>布尔函数：小项表示</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244FB91-B045-4329-8ECA-14402E5F53B6}"/>
                  </a:ext>
                </a:extLst>
              </p:cNvPr>
              <p:cNvSpPr>
                <a:spLocks noGrp="1"/>
              </p:cNvSpPr>
              <p:nvPr>
                <p:ph idx="1"/>
              </p:nvPr>
            </p:nvSpPr>
            <p:spPr>
              <a:xfrm>
                <a:off x="307975" y="953294"/>
                <a:ext cx="11658600" cy="3314700"/>
              </a:xfrm>
              <a:solidFill>
                <a:srgbClr val="FFC000"/>
              </a:solidFill>
            </p:spPr>
            <p:txBody>
              <a:bodyPr>
                <a:noAutofit/>
              </a:bodyPr>
              <a:lstStyle/>
              <a:p>
                <a:pPr marL="0" indent="0" algn="just">
                  <a:lnSpc>
                    <a:spcPct val="130000"/>
                  </a:lnSpc>
                  <a:spcBef>
                    <a:spcPts val="0"/>
                  </a:spcBef>
                  <a:buNone/>
                  <a:tabLst>
                    <a:tab pos="4229100" algn="l"/>
                  </a:tabLst>
                </a:pPr>
                <a:r>
                  <a:rPr lang="zh-CN" altLang="zh-CN" sz="2800" kern="100" dirty="0">
                    <a:effectLst/>
                    <a:latin typeface="+mn-ea"/>
                  </a:rPr>
                  <a:t>首先引入一个记号，对</a:t>
                </a:r>
                <a:r>
                  <a:rPr lang="en-US" altLang="zh-CN" sz="2800" kern="100" dirty="0" err="1">
                    <a:effectLst/>
                    <a:latin typeface="+mn-ea"/>
                  </a:rPr>
                  <a:t>x</a:t>
                </a:r>
                <a:r>
                  <a:rPr lang="en-US" altLang="zh-CN" sz="2800" kern="100" baseline="-25000" dirty="0" err="1">
                    <a:effectLst/>
                    <a:latin typeface="+mn-ea"/>
                  </a:rPr>
                  <a:t>i</a:t>
                </a:r>
                <a:r>
                  <a:rPr lang="en-US" altLang="zh-CN" sz="2800" kern="100" dirty="0" err="1">
                    <a:effectLst/>
                    <a:latin typeface="+mn-ea"/>
                  </a:rPr>
                  <a:t>,c</a:t>
                </a:r>
                <a:r>
                  <a:rPr lang="en-US" altLang="zh-CN" sz="2800" kern="100" baseline="-25000" dirty="0" err="1">
                    <a:effectLst/>
                    <a:latin typeface="+mn-ea"/>
                  </a:rPr>
                  <a:t>i</a:t>
                </a:r>
                <a:r>
                  <a:rPr lang="en-US" altLang="zh-CN" sz="2800" kern="100" dirty="0" err="1">
                    <a:effectLst/>
                    <a:latin typeface="+mn-ea"/>
                    <a:sym typeface="Symbol" panose="05050102010706020507" pitchFamily="18" charset="2"/>
                  </a:rPr>
                  <a:t></a:t>
                </a:r>
                <a:r>
                  <a:rPr lang="en-US" altLang="zh-CN" sz="2800" kern="100" dirty="0" err="1">
                    <a:effectLst/>
                    <a:latin typeface="+mn-ea"/>
                  </a:rPr>
                  <a:t>B</a:t>
                </a:r>
                <a:r>
                  <a:rPr lang="zh-CN" altLang="zh-CN" sz="2800" kern="100" dirty="0">
                    <a:effectLst/>
                    <a:latin typeface="+mn-ea"/>
                  </a:rPr>
                  <a:t>，定义</a:t>
                </a:r>
                <a14:m>
                  <m:oMath xmlns:m="http://schemas.openxmlformats.org/officeDocument/2006/math">
                    <m:sSup>
                      <m:sSupPr>
                        <m:ctrlPr>
                          <a:rPr lang="zh-CN" altLang="zh-CN" sz="2800" i="1" kern="100">
                            <a:effectLst/>
                            <a:latin typeface="Cambria Math" panose="02040503050406030204" pitchFamily="18" charset="0"/>
                          </a:rPr>
                        </m:ctrlPr>
                      </m:sSupPr>
                      <m:e>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𝒙</m:t>
                            </m:r>
                          </m:e>
                          <m:sub>
                            <m:r>
                              <a:rPr lang="en-US" altLang="zh-CN" sz="2800" b="1" i="1" kern="100">
                                <a:effectLst/>
                                <a:latin typeface="Cambria Math" panose="02040503050406030204" pitchFamily="18" charset="0"/>
                              </a:rPr>
                              <m:t>𝒊</m:t>
                            </m:r>
                          </m:sub>
                        </m:sSub>
                      </m:e>
                      <m:sup>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𝒄</m:t>
                            </m:r>
                          </m:e>
                          <m:sub>
                            <m:r>
                              <a:rPr lang="en-US" altLang="zh-CN" sz="2800" b="1" i="1" kern="100">
                                <a:effectLst/>
                                <a:latin typeface="Cambria Math" panose="02040503050406030204" pitchFamily="18" charset="0"/>
                              </a:rPr>
                              <m:t>𝒊</m:t>
                            </m:r>
                          </m:sub>
                        </m:sSub>
                      </m:sup>
                    </m:sSup>
                    <m:r>
                      <a:rPr lang="en-US" altLang="zh-CN" sz="2800" b="1" i="1" kern="100">
                        <a:effectLst/>
                        <a:latin typeface="Cambria Math" panose="02040503050406030204" pitchFamily="18" charset="0"/>
                      </a:rPr>
                      <m:t>=</m:t>
                    </m:r>
                    <m:d>
                      <m:dPr>
                        <m:begChr m:val="{"/>
                        <m:endChr m:val=""/>
                        <m:ctrlPr>
                          <a:rPr lang="zh-CN" altLang="zh-CN" sz="2800" i="1" kern="100">
                            <a:effectLst/>
                            <a:latin typeface="Cambria Math" panose="02040503050406030204" pitchFamily="18" charset="0"/>
                          </a:rPr>
                        </m:ctrlPr>
                      </m:dPr>
                      <m:e>
                        <m:m>
                          <m:mPr>
                            <m:mcs>
                              <m:mc>
                                <m:mcPr>
                                  <m:count m:val="1"/>
                                  <m:mcJc m:val="center"/>
                                </m:mcPr>
                              </m:mc>
                            </m:mcs>
                            <m:ctrlPr>
                              <a:rPr lang="zh-CN" altLang="zh-CN" sz="2800" i="1" kern="100">
                                <a:effectLst/>
                                <a:latin typeface="Cambria Math" panose="02040503050406030204" pitchFamily="18" charset="0"/>
                              </a:rPr>
                            </m:ctrlPr>
                          </m:mPr>
                          <m:mr>
                            <m:e>
                              <m:r>
                                <a:rPr lang="en-US" altLang="zh-CN" sz="2800" b="1" i="1" kern="100">
                                  <a:effectLst/>
                                  <a:latin typeface="Cambria Math" panose="02040503050406030204" pitchFamily="18" charset="0"/>
                                </a:rPr>
                                <m:t>𝟏</m:t>
                              </m:r>
                              <m:r>
                                <a:rPr lang="en-US" altLang="zh-CN" sz="2800" b="1" i="1" kern="100">
                                  <a:effectLst/>
                                  <a:latin typeface="Cambria Math" panose="02040503050406030204" pitchFamily="18" charset="0"/>
                                </a:rPr>
                                <m:t>;</m:t>
                              </m:r>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𝒙</m:t>
                                  </m:r>
                                </m:e>
                                <m:sub>
                                  <m:r>
                                    <a:rPr lang="en-US" altLang="zh-CN" sz="2800" b="1" i="1" kern="100">
                                      <a:effectLst/>
                                      <a:latin typeface="Cambria Math" panose="02040503050406030204" pitchFamily="18" charset="0"/>
                                    </a:rPr>
                                    <m:t>𝒊</m:t>
                                  </m:r>
                                </m:sub>
                              </m:sSub>
                              <m:r>
                                <a:rPr lang="en-US" altLang="zh-CN" sz="2800" b="1" i="1" kern="100">
                                  <a:effectLst/>
                                  <a:latin typeface="Cambria Math" panose="02040503050406030204" pitchFamily="18" charset="0"/>
                                </a:rPr>
                                <m:t>=</m:t>
                              </m:r>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𝒄</m:t>
                                  </m:r>
                                </m:e>
                                <m:sub>
                                  <m:r>
                                    <a:rPr lang="en-US" altLang="zh-CN" sz="2800" b="1" i="1" kern="100">
                                      <a:effectLst/>
                                      <a:latin typeface="Cambria Math" panose="02040503050406030204" pitchFamily="18" charset="0"/>
                                    </a:rPr>
                                    <m:t>𝒊</m:t>
                                  </m:r>
                                </m:sub>
                              </m:sSub>
                            </m:e>
                          </m:mr>
                          <m:mr>
                            <m:e>
                              <m:r>
                                <a:rPr lang="en-US" altLang="zh-CN" sz="2800" b="1" i="1" kern="100">
                                  <a:effectLst/>
                                  <a:latin typeface="Cambria Math" panose="02040503050406030204" pitchFamily="18" charset="0"/>
                                </a:rPr>
                                <m:t>𝟎</m:t>
                              </m:r>
                              <m:r>
                                <a:rPr lang="en-US" altLang="zh-CN" sz="2800" b="1" i="1" kern="100">
                                  <a:effectLst/>
                                  <a:latin typeface="Cambria Math" panose="02040503050406030204" pitchFamily="18" charset="0"/>
                                </a:rPr>
                                <m:t>;</m:t>
                              </m:r>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𝒙</m:t>
                                  </m:r>
                                </m:e>
                                <m:sub>
                                  <m:r>
                                    <a:rPr lang="en-US" altLang="zh-CN" sz="2800" b="1" i="1" kern="100">
                                      <a:effectLst/>
                                      <a:latin typeface="Cambria Math" panose="02040503050406030204" pitchFamily="18" charset="0"/>
                                    </a:rPr>
                                    <m:t>𝒊</m:t>
                                  </m:r>
                                </m:sub>
                              </m:sSub>
                              <m:r>
                                <a:rPr lang="en-US" altLang="zh-CN" sz="2800" b="1" i="1" kern="100">
                                  <a:effectLst/>
                                  <a:latin typeface="Cambria Math" panose="02040503050406030204" pitchFamily="18" charset="0"/>
                                </a:rPr>
                                <m:t>≠</m:t>
                              </m:r>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𝒄</m:t>
                                  </m:r>
                                </m:e>
                                <m:sub>
                                  <m:r>
                                    <a:rPr lang="en-US" altLang="zh-CN" sz="2800" b="1" i="1" kern="100">
                                      <a:effectLst/>
                                      <a:latin typeface="Cambria Math" panose="02040503050406030204" pitchFamily="18" charset="0"/>
                                    </a:rPr>
                                    <m:t>𝒊</m:t>
                                  </m:r>
                                </m:sub>
                              </m:sSub>
                            </m:e>
                          </m:mr>
                        </m:m>
                      </m:e>
                    </m:d>
                  </m:oMath>
                </a14:m>
                <a:endParaRPr lang="zh-CN" altLang="zh-CN" sz="2800" kern="100" dirty="0">
                  <a:effectLst/>
                  <a:latin typeface="+mn-ea"/>
                </a:endParaRPr>
              </a:p>
              <a:p>
                <a:pPr marL="0" indent="0" algn="just">
                  <a:lnSpc>
                    <a:spcPct val="130000"/>
                  </a:lnSpc>
                  <a:spcBef>
                    <a:spcPts val="0"/>
                  </a:spcBef>
                  <a:buNone/>
                  <a:tabLst>
                    <a:tab pos="4229100" algn="l"/>
                  </a:tabLst>
                </a:pPr>
                <a:r>
                  <a:rPr lang="zh-CN" altLang="zh-CN" sz="2800" kern="100" dirty="0">
                    <a:effectLst/>
                    <a:latin typeface="+mn-ea"/>
                  </a:rPr>
                  <a:t>从而对</a:t>
                </a:r>
                <a:r>
                  <a:rPr lang="en-US" altLang="zh-CN" sz="2800" kern="100" dirty="0" err="1">
                    <a:effectLst/>
                    <a:latin typeface="+mn-ea"/>
                  </a:rPr>
                  <a:t>x,c</a:t>
                </a:r>
                <a:r>
                  <a:rPr lang="en-US" altLang="zh-CN" sz="2800" kern="100" dirty="0" err="1">
                    <a:effectLst/>
                    <a:latin typeface="+mn-ea"/>
                    <a:sym typeface="Symbol" panose="05050102010706020507" pitchFamily="18" charset="2"/>
                  </a:rPr>
                  <a:t></a:t>
                </a:r>
                <a:r>
                  <a:rPr lang="en-US" altLang="zh-CN" sz="2800" kern="100" dirty="0" err="1">
                    <a:effectLst/>
                    <a:latin typeface="+mn-ea"/>
                  </a:rPr>
                  <a:t>B</a:t>
                </a:r>
                <a:r>
                  <a:rPr lang="en-US" altLang="zh-CN" sz="2800" kern="100" baseline="30000" dirty="0" err="1">
                    <a:effectLst/>
                    <a:latin typeface="+mn-ea"/>
                  </a:rPr>
                  <a:t>n</a:t>
                </a:r>
                <a:r>
                  <a:rPr lang="zh-CN" altLang="zh-CN" sz="2800" kern="100" dirty="0">
                    <a:effectLst/>
                    <a:latin typeface="+mn-ea"/>
                  </a:rPr>
                  <a:t>，</a:t>
                </a:r>
                <a14:m>
                  <m:oMath xmlns:m="http://schemas.openxmlformats.org/officeDocument/2006/math">
                    <m:sSup>
                      <m:sSupPr>
                        <m:ctrlPr>
                          <a:rPr lang="zh-CN" altLang="zh-CN" sz="2800" i="1" kern="100">
                            <a:effectLst/>
                            <a:latin typeface="Cambria Math" panose="02040503050406030204" pitchFamily="18" charset="0"/>
                          </a:rPr>
                        </m:ctrlPr>
                      </m:sSupPr>
                      <m:e>
                        <m:r>
                          <a:rPr lang="en-US" altLang="zh-CN" sz="2800" b="1" i="1" kern="100">
                            <a:effectLst/>
                            <a:latin typeface="Cambria Math" panose="02040503050406030204" pitchFamily="18" charset="0"/>
                          </a:rPr>
                          <m:t>𝒙</m:t>
                        </m:r>
                      </m:e>
                      <m:sup>
                        <m:r>
                          <a:rPr lang="en-US" altLang="zh-CN" sz="2800" b="1" i="1" kern="100">
                            <a:effectLst/>
                            <a:latin typeface="Cambria Math" panose="02040503050406030204" pitchFamily="18" charset="0"/>
                          </a:rPr>
                          <m:t>𝒄</m:t>
                        </m:r>
                      </m:sup>
                    </m:sSup>
                    <m:r>
                      <a:rPr lang="en-US" altLang="zh-CN" sz="2800" b="1" i="1" kern="100">
                        <a:effectLst/>
                        <a:latin typeface="Cambria Math" panose="02040503050406030204" pitchFamily="18" charset="0"/>
                      </a:rPr>
                      <m:t>=</m:t>
                    </m:r>
                    <m:sSup>
                      <m:sSupPr>
                        <m:ctrlPr>
                          <a:rPr lang="zh-CN" altLang="zh-CN" sz="2800" i="1" kern="100">
                            <a:effectLst/>
                            <a:latin typeface="Cambria Math" panose="02040503050406030204" pitchFamily="18" charset="0"/>
                          </a:rPr>
                        </m:ctrlPr>
                      </m:sSupPr>
                      <m:e>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𝒙</m:t>
                            </m:r>
                          </m:e>
                          <m:sub>
                            <m:r>
                              <a:rPr lang="en-US" altLang="zh-CN" sz="2800" b="1" i="1" kern="100">
                                <a:effectLst/>
                                <a:latin typeface="Cambria Math" panose="02040503050406030204" pitchFamily="18" charset="0"/>
                              </a:rPr>
                              <m:t>𝟏</m:t>
                            </m:r>
                          </m:sub>
                        </m:sSub>
                      </m:e>
                      <m:sup>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𝒄</m:t>
                            </m:r>
                          </m:e>
                          <m:sub>
                            <m:r>
                              <a:rPr lang="en-US" altLang="zh-CN" sz="2800" b="1" i="1" kern="100">
                                <a:effectLst/>
                                <a:latin typeface="Cambria Math" panose="02040503050406030204" pitchFamily="18" charset="0"/>
                              </a:rPr>
                              <m:t>𝟏</m:t>
                            </m:r>
                          </m:sub>
                        </m:sSub>
                      </m:sup>
                    </m:sSup>
                    <m:sSup>
                      <m:sSupPr>
                        <m:ctrlPr>
                          <a:rPr lang="zh-CN" altLang="zh-CN" sz="2800" i="1" kern="100">
                            <a:effectLst/>
                            <a:latin typeface="Cambria Math" panose="02040503050406030204" pitchFamily="18" charset="0"/>
                          </a:rPr>
                        </m:ctrlPr>
                      </m:sSupPr>
                      <m:e>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𝒙</m:t>
                            </m:r>
                          </m:e>
                          <m:sub>
                            <m:r>
                              <a:rPr lang="en-US" altLang="zh-CN" sz="2800" b="1" i="1" kern="100">
                                <a:effectLst/>
                                <a:latin typeface="Cambria Math" panose="02040503050406030204" pitchFamily="18" charset="0"/>
                              </a:rPr>
                              <m:t>𝟐</m:t>
                            </m:r>
                          </m:sub>
                        </m:sSub>
                      </m:e>
                      <m:sup>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𝒄</m:t>
                            </m:r>
                          </m:e>
                          <m:sub>
                            <m:r>
                              <a:rPr lang="en-US" altLang="zh-CN" sz="2800" b="1" i="1" kern="100">
                                <a:effectLst/>
                                <a:latin typeface="Cambria Math" panose="02040503050406030204" pitchFamily="18" charset="0"/>
                              </a:rPr>
                              <m:t>𝟐</m:t>
                            </m:r>
                          </m:sub>
                        </m:sSub>
                      </m:sup>
                    </m:sSup>
                    <m:r>
                      <a:rPr lang="en-US" altLang="zh-CN" sz="2800" b="1" i="1" kern="100">
                        <a:effectLst/>
                        <a:latin typeface="Cambria Math" panose="02040503050406030204" pitchFamily="18" charset="0"/>
                      </a:rPr>
                      <m:t>⋯</m:t>
                    </m:r>
                    <m:sSup>
                      <m:sSupPr>
                        <m:ctrlPr>
                          <a:rPr lang="zh-CN" altLang="zh-CN" sz="2800" i="1" kern="100">
                            <a:effectLst/>
                            <a:latin typeface="Cambria Math" panose="02040503050406030204" pitchFamily="18" charset="0"/>
                          </a:rPr>
                        </m:ctrlPr>
                      </m:sSupPr>
                      <m:e>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𝒙</m:t>
                            </m:r>
                          </m:e>
                          <m:sub>
                            <m:r>
                              <a:rPr lang="en-US" altLang="zh-CN" sz="2800" b="1" i="1" kern="100">
                                <a:effectLst/>
                                <a:latin typeface="Cambria Math" panose="02040503050406030204" pitchFamily="18" charset="0"/>
                              </a:rPr>
                              <m:t>𝒏</m:t>
                            </m:r>
                          </m:sub>
                        </m:sSub>
                      </m:e>
                      <m:sup>
                        <m:sSub>
                          <m:sSubPr>
                            <m:ctrlPr>
                              <a:rPr lang="zh-CN" altLang="zh-CN" sz="2800" i="1" kern="100">
                                <a:effectLst/>
                                <a:latin typeface="Cambria Math" panose="02040503050406030204" pitchFamily="18" charset="0"/>
                              </a:rPr>
                            </m:ctrlPr>
                          </m:sSubPr>
                          <m:e>
                            <m:r>
                              <a:rPr lang="en-US" altLang="zh-CN" sz="2800" b="1" i="1" kern="100">
                                <a:effectLst/>
                                <a:latin typeface="Cambria Math" panose="02040503050406030204" pitchFamily="18" charset="0"/>
                              </a:rPr>
                              <m:t>𝒄</m:t>
                            </m:r>
                          </m:e>
                          <m:sub>
                            <m:r>
                              <a:rPr lang="en-US" altLang="zh-CN" sz="2800" b="1" i="1" kern="100">
                                <a:effectLst/>
                                <a:latin typeface="Cambria Math" panose="02040503050406030204" pitchFamily="18" charset="0"/>
                              </a:rPr>
                              <m:t>𝒏</m:t>
                            </m:r>
                          </m:sub>
                        </m:sSub>
                      </m:sup>
                    </m:sSup>
                  </m:oMath>
                </a14:m>
                <a:r>
                  <a:rPr lang="zh-CN" altLang="zh-CN" sz="2800" kern="100" dirty="0">
                    <a:effectLst/>
                    <a:latin typeface="+mn-ea"/>
                  </a:rPr>
                  <a:t>，所以</a:t>
                </a:r>
                <a:r>
                  <a:rPr lang="en-US" altLang="zh-CN" sz="2800" kern="100" dirty="0">
                    <a:effectLst/>
                    <a:latin typeface="+mn-ea"/>
                  </a:rPr>
                  <a:t>n</a:t>
                </a:r>
                <a:r>
                  <a:rPr lang="zh-CN" altLang="zh-CN" sz="2800" kern="100" dirty="0">
                    <a:effectLst/>
                    <a:latin typeface="+mn-ea"/>
                  </a:rPr>
                  <a:t>元布尔函数</a:t>
                </a:r>
                <a:r>
                  <a:rPr lang="en-US" altLang="zh-CN" sz="2800" kern="100" dirty="0">
                    <a:effectLst/>
                    <a:latin typeface="+mn-ea"/>
                  </a:rPr>
                  <a:t>f(x)</a:t>
                </a:r>
                <a:r>
                  <a:rPr lang="zh-CN" altLang="zh-CN" sz="2800" kern="100" dirty="0">
                    <a:effectLst/>
                    <a:latin typeface="+mn-ea"/>
                  </a:rPr>
                  <a:t>可表示为：</a:t>
                </a:r>
              </a:p>
              <a:p>
                <a:pPr marL="0" indent="0" algn="just">
                  <a:lnSpc>
                    <a:spcPct val="130000"/>
                  </a:lnSpc>
                  <a:spcBef>
                    <a:spcPts val="0"/>
                  </a:spcBef>
                  <a:buNone/>
                  <a:tabLst>
                    <a:tab pos="4229100" algn="l"/>
                  </a:tabLst>
                </a:pPr>
                <a14:m>
                  <m:oMathPara xmlns:m="http://schemas.openxmlformats.org/officeDocument/2006/math">
                    <m:oMathParaPr>
                      <m:jc m:val="centerGroup"/>
                    </m:oMathParaPr>
                    <m:oMath xmlns:m="http://schemas.openxmlformats.org/officeDocument/2006/math">
                      <m:r>
                        <a:rPr lang="en-US" altLang="zh-CN" sz="2800" b="1" i="1" kern="100">
                          <a:effectLst/>
                          <a:latin typeface="Cambria Math" panose="02040503050406030204" pitchFamily="18" charset="0"/>
                        </a:rPr>
                        <m:t>𝒇</m:t>
                      </m:r>
                      <m:d>
                        <m:dPr>
                          <m:ctrlPr>
                            <a:rPr lang="zh-CN" altLang="zh-CN" sz="2800" i="1" kern="100">
                              <a:effectLst/>
                              <a:latin typeface="Cambria Math" panose="02040503050406030204" pitchFamily="18" charset="0"/>
                            </a:rPr>
                          </m:ctrlPr>
                        </m:dPr>
                        <m:e>
                          <m:r>
                            <a:rPr lang="en-US" altLang="zh-CN" sz="2800" b="1" i="1" kern="100">
                              <a:effectLst/>
                              <a:latin typeface="Cambria Math" panose="02040503050406030204" pitchFamily="18" charset="0"/>
                            </a:rPr>
                            <m:t>𝒙</m:t>
                          </m:r>
                        </m:e>
                      </m:d>
                      <m:r>
                        <a:rPr lang="en-US" altLang="zh-CN" sz="2800" b="1" i="1" kern="100">
                          <a:effectLst/>
                          <a:latin typeface="Cambria Math" panose="02040503050406030204" pitchFamily="18" charset="0"/>
                        </a:rPr>
                        <m:t>=</m:t>
                      </m:r>
                      <m:nary>
                        <m:naryPr>
                          <m:chr m:val="∑"/>
                          <m:limLoc m:val="undOvr"/>
                          <m:supHide m:val="on"/>
                          <m:ctrlPr>
                            <a:rPr lang="zh-CN" altLang="zh-CN" sz="2800" i="1" kern="100">
                              <a:effectLst/>
                              <a:latin typeface="Cambria Math" panose="02040503050406030204" pitchFamily="18" charset="0"/>
                            </a:rPr>
                          </m:ctrlPr>
                        </m:naryPr>
                        <m:sub>
                          <m:r>
                            <a:rPr lang="en-US" altLang="zh-CN" sz="2800" b="1" i="1" kern="100">
                              <a:effectLst/>
                              <a:latin typeface="Cambria Math" panose="02040503050406030204" pitchFamily="18" charset="0"/>
                            </a:rPr>
                            <m:t>𝒄</m:t>
                          </m:r>
                          <m:r>
                            <a:rPr lang="en-US" altLang="zh-CN" sz="2800" b="1" i="1" kern="100">
                              <a:effectLst/>
                              <a:latin typeface="Cambria Math" panose="02040503050406030204" pitchFamily="18" charset="0"/>
                            </a:rPr>
                            <m:t>∈</m:t>
                          </m:r>
                          <m:sSup>
                            <m:sSupPr>
                              <m:ctrlPr>
                                <a:rPr lang="zh-CN" altLang="zh-CN" sz="2800" i="1" kern="100">
                                  <a:effectLst/>
                                  <a:latin typeface="Cambria Math" panose="02040503050406030204" pitchFamily="18" charset="0"/>
                                </a:rPr>
                              </m:ctrlPr>
                            </m:sSupPr>
                            <m:e>
                              <m:r>
                                <a:rPr lang="en-US" altLang="zh-CN" sz="2800" b="1" i="1" kern="100">
                                  <a:effectLst/>
                                  <a:latin typeface="Cambria Math" panose="02040503050406030204" pitchFamily="18" charset="0"/>
                                </a:rPr>
                                <m:t>𝑩</m:t>
                              </m:r>
                            </m:e>
                            <m:sup>
                              <m:r>
                                <a:rPr lang="en-US" altLang="zh-CN" sz="2800" b="1" i="1" kern="100">
                                  <a:effectLst/>
                                  <a:latin typeface="Cambria Math" panose="02040503050406030204" pitchFamily="18" charset="0"/>
                                </a:rPr>
                                <m:t>𝒏</m:t>
                              </m:r>
                            </m:sup>
                          </m:sSup>
                        </m:sub>
                        <m:sup/>
                        <m:e>
                          <m:r>
                            <a:rPr lang="en-US" altLang="zh-CN" sz="2800" b="1" i="1" kern="100">
                              <a:effectLst/>
                              <a:latin typeface="Cambria Math" panose="02040503050406030204" pitchFamily="18" charset="0"/>
                            </a:rPr>
                            <m:t>𝒇</m:t>
                          </m:r>
                          <m:r>
                            <a:rPr lang="en-US" altLang="zh-CN" sz="2800" b="1" i="1" kern="100">
                              <a:effectLst/>
                              <a:latin typeface="Cambria Math" panose="02040503050406030204" pitchFamily="18" charset="0"/>
                            </a:rPr>
                            <m:t>(</m:t>
                          </m:r>
                          <m:r>
                            <a:rPr lang="en-US" altLang="zh-CN" sz="2800" b="1" i="1" kern="100">
                              <a:effectLst/>
                              <a:latin typeface="Cambria Math" panose="02040503050406030204" pitchFamily="18" charset="0"/>
                            </a:rPr>
                            <m:t>𝒄</m:t>
                          </m:r>
                          <m:r>
                            <a:rPr lang="en-US" altLang="zh-CN" sz="2800" b="1" i="1" kern="100">
                              <a:effectLst/>
                              <a:latin typeface="Cambria Math" panose="02040503050406030204" pitchFamily="18" charset="0"/>
                            </a:rPr>
                            <m:t>)</m:t>
                          </m:r>
                          <m:sSup>
                            <m:sSupPr>
                              <m:ctrlPr>
                                <a:rPr lang="zh-CN" altLang="zh-CN" sz="2800" i="1" kern="100">
                                  <a:effectLst/>
                                  <a:latin typeface="Cambria Math" panose="02040503050406030204" pitchFamily="18" charset="0"/>
                                </a:rPr>
                              </m:ctrlPr>
                            </m:sSupPr>
                            <m:e>
                              <m:r>
                                <a:rPr lang="en-US" altLang="zh-CN" sz="2800" b="1" i="1" kern="100">
                                  <a:effectLst/>
                                  <a:latin typeface="Cambria Math" panose="02040503050406030204" pitchFamily="18" charset="0"/>
                                </a:rPr>
                                <m:t>𝒙</m:t>
                              </m:r>
                            </m:e>
                            <m:sup>
                              <m:r>
                                <a:rPr lang="en-US" altLang="zh-CN" sz="2800" b="1" i="1" kern="100">
                                  <a:effectLst/>
                                  <a:latin typeface="Cambria Math" panose="02040503050406030204" pitchFamily="18" charset="0"/>
                                </a:rPr>
                                <m:t>𝒄</m:t>
                              </m:r>
                            </m:sup>
                          </m:sSup>
                        </m:e>
                      </m:nary>
                    </m:oMath>
                  </m:oMathPara>
                </a14:m>
                <a:endParaRPr lang="zh-CN" altLang="zh-CN" sz="2800" kern="100" dirty="0">
                  <a:effectLst/>
                  <a:latin typeface="+mn-ea"/>
                </a:endParaRPr>
              </a:p>
              <a:p>
                <a:pPr marL="0" indent="0" algn="just">
                  <a:lnSpc>
                    <a:spcPct val="130000"/>
                  </a:lnSpc>
                  <a:spcBef>
                    <a:spcPts val="0"/>
                  </a:spcBef>
                  <a:buNone/>
                </a:pPr>
                <a:r>
                  <a:rPr lang="en-US" altLang="zh-CN" sz="2800" kern="100" dirty="0">
                    <a:effectLst/>
                    <a:latin typeface="+mn-ea"/>
                  </a:rPr>
                  <a:t>        </a:t>
                </a:r>
                <a:endParaRPr lang="zh-CN" altLang="en-US" sz="2800" dirty="0">
                  <a:latin typeface="+mn-ea"/>
                </a:endParaRPr>
              </a:p>
            </p:txBody>
          </p:sp>
        </mc:Choice>
        <mc:Fallback xmlns="">
          <p:sp>
            <p:nvSpPr>
              <p:cNvPr id="3" name="内容占位符 2">
                <a:extLst>
                  <a:ext uri="{FF2B5EF4-FFF2-40B4-BE49-F238E27FC236}">
                    <a16:creationId xmlns:a16="http://schemas.microsoft.com/office/drawing/2014/main" id="{B244FB91-B045-4329-8ECA-14402E5F53B6}"/>
                  </a:ext>
                </a:extLst>
              </p:cNvPr>
              <p:cNvSpPr>
                <a:spLocks noGrp="1" noRot="1" noChangeAspect="1" noMove="1" noResize="1" noEditPoints="1" noAdjustHandles="1" noChangeArrowheads="1" noChangeShapeType="1" noTextEdit="1"/>
              </p:cNvSpPr>
              <p:nvPr>
                <p:ph idx="1"/>
              </p:nvPr>
            </p:nvSpPr>
            <p:spPr>
              <a:xfrm>
                <a:off x="307975" y="953294"/>
                <a:ext cx="11658600" cy="3314700"/>
              </a:xfrm>
              <a:blipFill>
                <a:blip r:embed="rId2"/>
                <a:stretch>
                  <a:fillRect l="-8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B89B68F-E65C-4D8A-9B4F-56BB92045FD6}"/>
                  </a:ext>
                </a:extLst>
              </p:cNvPr>
              <p:cNvSpPr txBox="1"/>
              <p:nvPr/>
            </p:nvSpPr>
            <p:spPr>
              <a:xfrm>
                <a:off x="155575" y="4717892"/>
                <a:ext cx="11582400" cy="1188402"/>
              </a:xfrm>
              <a:prstGeom prst="rect">
                <a:avLst/>
              </a:prstGeom>
              <a:noFill/>
            </p:spPr>
            <p:txBody>
              <a:bodyPr wrap="square">
                <a:spAutoFit/>
              </a:bodyPr>
              <a:lstStyle/>
              <a:p>
                <a:pPr marL="0" indent="0" algn="just">
                  <a:lnSpc>
                    <a:spcPct val="130000"/>
                  </a:lnSpc>
                  <a:spcBef>
                    <a:spcPts val="0"/>
                  </a:spcBef>
                  <a:buNone/>
                </a:pPr>
                <a:r>
                  <a:rPr lang="zh-CN" altLang="zh-CN" sz="2800" b="1" kern="100" dirty="0">
                    <a:effectLst/>
                    <a:latin typeface="+mn-ea"/>
                  </a:rPr>
                  <a:t>例如，</a:t>
                </a:r>
                <a:r>
                  <a:rPr lang="en-US" altLang="zh-CN" sz="2800" b="1" dirty="0">
                    <a:effectLst/>
                    <a:latin typeface="+mn-ea"/>
                  </a:rPr>
                  <a:t> </a:t>
                </a:r>
                <a14:m>
                  <m:oMath xmlns:m="http://schemas.openxmlformats.org/officeDocument/2006/math">
                    <m:r>
                      <a:rPr lang="en-US" altLang="zh-CN" sz="2800" b="1" i="1" dirty="0" smtClean="0">
                        <a:effectLst/>
                        <a:latin typeface="Cambria Math" panose="02040503050406030204" pitchFamily="18" charset="0"/>
                      </a:rPr>
                      <m:t>𝒇</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𝒇</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𝒇</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𝒇</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𝟏</m:t>
                    </m:r>
                    <m:r>
                      <a:rPr lang="en-US" altLang="zh-CN" sz="2800" b="1" i="1" dirty="0" smtClean="0">
                        <a:effectLst/>
                        <a:latin typeface="Cambria Math" panose="02040503050406030204" pitchFamily="18" charset="0"/>
                      </a:rPr>
                      <m:t>)=</m:t>
                    </m:r>
                    <m:r>
                      <a:rPr lang="en-US" altLang="zh-CN" sz="2800" b="1" i="1" dirty="0" smtClean="0">
                        <a:effectLst/>
                        <a:latin typeface="Cambria Math" panose="02040503050406030204" pitchFamily="18" charset="0"/>
                      </a:rPr>
                      <m:t>𝟎</m:t>
                    </m:r>
                  </m:oMath>
                </a14:m>
                <a:r>
                  <a:rPr lang="zh-CN" altLang="zh-CN" sz="2800" b="1" kern="100" dirty="0">
                    <a:effectLst/>
                    <a:latin typeface="+mn-ea"/>
                  </a:rPr>
                  <a:t>的布尔函数</a:t>
                </a:r>
                <a14:m>
                  <m:oMath xmlns:m="http://schemas.openxmlformats.org/officeDocument/2006/math">
                    <m:r>
                      <a:rPr lang="en-US" altLang="zh-CN" sz="2800" b="1" i="1" kern="100" dirty="0" smtClean="0">
                        <a:effectLst/>
                        <a:latin typeface="Cambria Math" panose="02040503050406030204" pitchFamily="18" charset="0"/>
                      </a:rPr>
                      <m:t>𝒇</m:t>
                    </m:r>
                    <m:r>
                      <a:rPr lang="en-US" altLang="zh-CN" sz="2800" b="1" i="1" kern="100" dirty="0" smtClean="0">
                        <a:effectLst/>
                        <a:latin typeface="Cambria Math" panose="02040503050406030204" pitchFamily="18" charset="0"/>
                      </a:rPr>
                      <m:t>(</m:t>
                    </m:r>
                    <m:r>
                      <a:rPr lang="en-US" altLang="zh-CN" sz="2800" b="1" i="1" kern="100" dirty="0" smtClean="0">
                        <a:effectLst/>
                        <a:latin typeface="Cambria Math" panose="02040503050406030204" pitchFamily="18" charset="0"/>
                      </a:rPr>
                      <m:t>𝒙</m:t>
                    </m:r>
                    <m:r>
                      <a:rPr lang="en-US" altLang="zh-CN" sz="2800" b="1" i="1" kern="100" dirty="0" smtClean="0">
                        <a:effectLst/>
                        <a:latin typeface="Cambria Math" panose="02040503050406030204" pitchFamily="18" charset="0"/>
                      </a:rPr>
                      <m:t>)</m:t>
                    </m:r>
                  </m:oMath>
                </a14:m>
                <a:r>
                  <a:rPr lang="zh-CN" altLang="zh-CN" sz="2800" b="1" kern="100" dirty="0">
                    <a:effectLst/>
                    <a:latin typeface="+mn-ea"/>
                  </a:rPr>
                  <a:t>可记为：</a:t>
                </a:r>
              </a:p>
              <a:p>
                <a:pPr marL="0" indent="0">
                  <a:lnSpc>
                    <a:spcPct val="130000"/>
                  </a:lnSpc>
                  <a:spcBef>
                    <a:spcPts val="0"/>
                  </a:spcBef>
                  <a:buNone/>
                </a:pPr>
                <a14:m>
                  <m:oMath xmlns:m="http://schemas.openxmlformats.org/officeDocument/2006/math">
                    <m:r>
                      <a:rPr lang="en-US" altLang="zh-CN" sz="2800" b="1" i="1" smtClean="0">
                        <a:effectLst/>
                        <a:latin typeface="Cambria Math" panose="02040503050406030204" pitchFamily="18" charset="0"/>
                        <a:cs typeface="Times New Roman" panose="02020603050405020304" pitchFamily="18" charset="0"/>
                      </a:rPr>
                      <m:t>𝒇</m:t>
                    </m:r>
                    <m:d>
                      <m:dPr>
                        <m:ctrlPr>
                          <a:rPr lang="zh-CN" altLang="zh-CN" sz="2800" b="1" i="1">
                            <a:effectLst/>
                            <a:latin typeface="Cambria Math" panose="02040503050406030204" pitchFamily="18" charset="0"/>
                          </a:rPr>
                        </m:ctrlPr>
                      </m:dPr>
                      <m:e>
                        <m:r>
                          <a:rPr lang="en-US" altLang="zh-CN" sz="2800" b="1" i="1" smtClean="0">
                            <a:effectLst/>
                            <a:latin typeface="Cambria Math" panose="02040503050406030204" pitchFamily="18" charset="0"/>
                            <a:cs typeface="Times New Roman" panose="02020603050405020304" pitchFamily="18" charset="0"/>
                          </a:rPr>
                          <m:t>𝒙</m:t>
                        </m:r>
                      </m:e>
                    </m:d>
                    <m:r>
                      <a:rPr lang="en-US" altLang="zh-CN" sz="2800" b="1" i="1" smtClean="0">
                        <a:effectLst/>
                        <a:latin typeface="Cambria Math" panose="02040503050406030204" pitchFamily="18" charset="0"/>
                        <a:cs typeface="Times New Roman" panose="02020603050405020304" pitchFamily="18" charset="0"/>
                      </a:rPr>
                      <m:t>=</m:t>
                    </m:r>
                    <m:r>
                      <a:rPr lang="en-US" altLang="zh-CN" sz="2800" b="1" i="1" smtClean="0">
                        <a:effectLst/>
                        <a:latin typeface="Cambria Math" panose="02040503050406030204" pitchFamily="18" charset="0"/>
                        <a:cs typeface="Times New Roman" panose="02020603050405020304" pitchFamily="18" charset="0"/>
                      </a:rPr>
                      <m:t>𝟏</m:t>
                    </m:r>
                    <m:r>
                      <a:rPr lang="en-US" altLang="zh-CN" sz="2800" b="1" i="1" smtClean="0">
                        <a:effectLst/>
                        <a:latin typeface="Cambria Math" panose="02040503050406030204" pitchFamily="18" charset="0"/>
                        <a:cs typeface="Times New Roman" panose="02020603050405020304" pitchFamily="18" charset="0"/>
                      </a:rPr>
                      <m:t>∙</m:t>
                    </m:r>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𝟏</m:t>
                        </m:r>
                      </m:sub>
                      <m:sup>
                        <m:r>
                          <a:rPr lang="en-US" altLang="zh-CN" sz="2800" b="1" i="1" smtClean="0">
                            <a:effectLst/>
                            <a:latin typeface="Cambria Math" panose="02040503050406030204" pitchFamily="18" charset="0"/>
                            <a:cs typeface="Times New Roman" panose="02020603050405020304" pitchFamily="18" charset="0"/>
                          </a:rPr>
                          <m:t>𝟎</m:t>
                        </m:r>
                      </m:sup>
                    </m:sSubSup>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𝟐</m:t>
                        </m:r>
                      </m:sub>
                      <m:sup>
                        <m:r>
                          <a:rPr lang="en-US" altLang="zh-CN" sz="2800" b="1" i="1" smtClean="0">
                            <a:effectLst/>
                            <a:latin typeface="Cambria Math" panose="02040503050406030204" pitchFamily="18" charset="0"/>
                            <a:cs typeface="Times New Roman" panose="02020603050405020304" pitchFamily="18" charset="0"/>
                          </a:rPr>
                          <m:t>𝟎</m:t>
                        </m:r>
                      </m:sup>
                    </m:sSubSup>
                    <m:r>
                      <a:rPr lang="en-US" altLang="zh-CN" sz="2800" b="1" i="1" smtClean="0">
                        <a:effectLst/>
                        <a:latin typeface="Cambria Math" panose="02040503050406030204" pitchFamily="18" charset="0"/>
                        <a:cs typeface="Times New Roman" panose="02020603050405020304" pitchFamily="18" charset="0"/>
                      </a:rPr>
                      <m:t>+</m:t>
                    </m:r>
                    <m:r>
                      <a:rPr lang="en-US" altLang="zh-CN" sz="2800" b="1" i="1" smtClean="0">
                        <a:effectLst/>
                        <a:latin typeface="Cambria Math" panose="02040503050406030204" pitchFamily="18" charset="0"/>
                        <a:cs typeface="Times New Roman" panose="02020603050405020304" pitchFamily="18" charset="0"/>
                      </a:rPr>
                      <m:t>𝟎</m:t>
                    </m:r>
                    <m:r>
                      <a:rPr lang="en-US" altLang="zh-CN" sz="2800" b="1" i="1" smtClean="0">
                        <a:effectLst/>
                        <a:latin typeface="Cambria Math" panose="02040503050406030204" pitchFamily="18" charset="0"/>
                        <a:cs typeface="Times New Roman" panose="02020603050405020304" pitchFamily="18" charset="0"/>
                      </a:rPr>
                      <m:t>∙</m:t>
                    </m:r>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𝟏</m:t>
                        </m:r>
                      </m:sub>
                      <m:sup>
                        <m:r>
                          <a:rPr lang="en-US" altLang="zh-CN" sz="2800" b="1" i="1" smtClean="0">
                            <a:effectLst/>
                            <a:latin typeface="Cambria Math" panose="02040503050406030204" pitchFamily="18" charset="0"/>
                            <a:cs typeface="Times New Roman" panose="02020603050405020304" pitchFamily="18" charset="0"/>
                          </a:rPr>
                          <m:t>𝟎</m:t>
                        </m:r>
                      </m:sup>
                    </m:sSubSup>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𝟐</m:t>
                        </m:r>
                      </m:sub>
                      <m:sup>
                        <m:r>
                          <a:rPr lang="en-US" altLang="zh-CN" sz="2800" b="1" i="1" smtClean="0">
                            <a:effectLst/>
                            <a:latin typeface="Cambria Math" panose="02040503050406030204" pitchFamily="18" charset="0"/>
                            <a:cs typeface="Times New Roman" panose="02020603050405020304" pitchFamily="18" charset="0"/>
                          </a:rPr>
                          <m:t>𝟏</m:t>
                        </m:r>
                      </m:sup>
                    </m:sSubSup>
                    <m:r>
                      <a:rPr lang="en-US" altLang="zh-CN" sz="2800" b="1" i="1" smtClean="0">
                        <a:effectLst/>
                        <a:latin typeface="Cambria Math" panose="02040503050406030204" pitchFamily="18" charset="0"/>
                        <a:cs typeface="Times New Roman" panose="02020603050405020304" pitchFamily="18" charset="0"/>
                      </a:rPr>
                      <m:t>+</m:t>
                    </m:r>
                    <m:r>
                      <a:rPr lang="en-US" altLang="zh-CN" sz="2800" b="1" i="1" smtClean="0">
                        <a:effectLst/>
                        <a:latin typeface="Cambria Math" panose="02040503050406030204" pitchFamily="18" charset="0"/>
                        <a:cs typeface="Times New Roman" panose="02020603050405020304" pitchFamily="18" charset="0"/>
                      </a:rPr>
                      <m:t>𝟏</m:t>
                    </m:r>
                    <m:r>
                      <a:rPr lang="en-US" altLang="zh-CN" sz="2800" b="1" i="1" smtClean="0">
                        <a:effectLst/>
                        <a:latin typeface="Cambria Math" panose="02040503050406030204" pitchFamily="18" charset="0"/>
                        <a:cs typeface="Times New Roman" panose="02020603050405020304" pitchFamily="18" charset="0"/>
                      </a:rPr>
                      <m:t>∙</m:t>
                    </m:r>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𝟏</m:t>
                        </m:r>
                      </m:sub>
                      <m:sup>
                        <m:r>
                          <a:rPr lang="en-US" altLang="zh-CN" sz="2800" b="1" i="1" smtClean="0">
                            <a:effectLst/>
                            <a:latin typeface="Cambria Math" panose="02040503050406030204" pitchFamily="18" charset="0"/>
                            <a:cs typeface="Times New Roman" panose="02020603050405020304" pitchFamily="18" charset="0"/>
                          </a:rPr>
                          <m:t>𝟏</m:t>
                        </m:r>
                      </m:sup>
                    </m:sSubSup>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𝟐</m:t>
                        </m:r>
                      </m:sub>
                      <m:sup>
                        <m:r>
                          <a:rPr lang="en-US" altLang="zh-CN" sz="2800" b="1" i="1" smtClean="0">
                            <a:effectLst/>
                            <a:latin typeface="Cambria Math" panose="02040503050406030204" pitchFamily="18" charset="0"/>
                            <a:cs typeface="Times New Roman" panose="02020603050405020304" pitchFamily="18" charset="0"/>
                          </a:rPr>
                          <m:t>𝟎</m:t>
                        </m:r>
                      </m:sup>
                    </m:sSubSup>
                    <m:r>
                      <a:rPr lang="en-US" altLang="zh-CN" sz="2800" b="1" i="1" smtClean="0">
                        <a:effectLst/>
                        <a:latin typeface="Cambria Math" panose="02040503050406030204" pitchFamily="18" charset="0"/>
                        <a:cs typeface="Times New Roman" panose="02020603050405020304" pitchFamily="18" charset="0"/>
                      </a:rPr>
                      <m:t>+</m:t>
                    </m:r>
                    <m:r>
                      <a:rPr lang="en-US" altLang="zh-CN" sz="2800" b="1" i="1" smtClean="0">
                        <a:effectLst/>
                        <a:latin typeface="Cambria Math" panose="02040503050406030204" pitchFamily="18" charset="0"/>
                        <a:cs typeface="Times New Roman" panose="02020603050405020304" pitchFamily="18" charset="0"/>
                      </a:rPr>
                      <m:t>𝟎</m:t>
                    </m:r>
                    <m:r>
                      <a:rPr lang="en-US" altLang="zh-CN" sz="2800" b="1" i="1" smtClean="0">
                        <a:effectLst/>
                        <a:latin typeface="Cambria Math" panose="02040503050406030204" pitchFamily="18" charset="0"/>
                        <a:cs typeface="Times New Roman" panose="02020603050405020304" pitchFamily="18" charset="0"/>
                      </a:rPr>
                      <m:t>∙</m:t>
                    </m:r>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𝟏</m:t>
                        </m:r>
                      </m:sub>
                      <m:sup>
                        <m:r>
                          <a:rPr lang="en-US" altLang="zh-CN" sz="2800" b="1" i="1" smtClean="0">
                            <a:effectLst/>
                            <a:latin typeface="Cambria Math" panose="02040503050406030204" pitchFamily="18" charset="0"/>
                            <a:cs typeface="Times New Roman" panose="02020603050405020304" pitchFamily="18" charset="0"/>
                          </a:rPr>
                          <m:t>𝟏</m:t>
                        </m:r>
                      </m:sup>
                    </m:sSubSup>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𝟐</m:t>
                        </m:r>
                      </m:sub>
                      <m:sup>
                        <m:r>
                          <a:rPr lang="en-US" altLang="zh-CN" sz="2800" b="1" i="1" smtClean="0">
                            <a:effectLst/>
                            <a:latin typeface="Cambria Math" panose="02040503050406030204" pitchFamily="18" charset="0"/>
                            <a:cs typeface="Times New Roman" panose="02020603050405020304" pitchFamily="18" charset="0"/>
                          </a:rPr>
                          <m:t>𝟏</m:t>
                        </m:r>
                      </m:sup>
                    </m:sSubSup>
                  </m:oMath>
                </a14:m>
                <a:r>
                  <a:rPr lang="en-US" altLang="zh-CN" sz="2800" b="1" i="1" dirty="0">
                    <a:effectLst/>
                    <a:latin typeface="+mn-ea"/>
                  </a:rPr>
                  <a:t>=</a:t>
                </a:r>
                <a14:m>
                  <m:oMath xmlns:m="http://schemas.openxmlformats.org/officeDocument/2006/math">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𝟏</m:t>
                        </m:r>
                      </m:sub>
                      <m:sup>
                        <m:r>
                          <a:rPr lang="en-US" altLang="zh-CN" sz="2800" b="1" i="1" smtClean="0">
                            <a:effectLst/>
                            <a:latin typeface="Cambria Math" panose="02040503050406030204" pitchFamily="18" charset="0"/>
                            <a:cs typeface="Times New Roman" panose="02020603050405020304" pitchFamily="18" charset="0"/>
                          </a:rPr>
                          <m:t>𝟎</m:t>
                        </m:r>
                      </m:sup>
                    </m:sSubSup>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𝟐</m:t>
                        </m:r>
                      </m:sub>
                      <m:sup>
                        <m:r>
                          <a:rPr lang="en-US" altLang="zh-CN" sz="2800" b="1" i="1" smtClean="0">
                            <a:effectLst/>
                            <a:latin typeface="Cambria Math" panose="02040503050406030204" pitchFamily="18" charset="0"/>
                            <a:cs typeface="Times New Roman" panose="02020603050405020304" pitchFamily="18" charset="0"/>
                          </a:rPr>
                          <m:t>𝟎</m:t>
                        </m:r>
                      </m:sup>
                    </m:sSubSup>
                    <m:r>
                      <a:rPr lang="en-US" altLang="zh-CN" sz="2800" b="1" i="1" smtClean="0">
                        <a:effectLst/>
                        <a:latin typeface="Cambria Math" panose="02040503050406030204" pitchFamily="18" charset="0"/>
                        <a:cs typeface="Times New Roman" panose="02020603050405020304" pitchFamily="18" charset="0"/>
                      </a:rPr>
                      <m:t>+</m:t>
                    </m:r>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𝟏</m:t>
                        </m:r>
                      </m:sub>
                      <m:sup>
                        <m:r>
                          <a:rPr lang="en-US" altLang="zh-CN" sz="2800" b="1" i="1" smtClean="0">
                            <a:effectLst/>
                            <a:latin typeface="Cambria Math" panose="02040503050406030204" pitchFamily="18" charset="0"/>
                            <a:cs typeface="Times New Roman" panose="02020603050405020304" pitchFamily="18" charset="0"/>
                          </a:rPr>
                          <m:t>𝟏</m:t>
                        </m:r>
                      </m:sup>
                    </m:sSubSup>
                    <m:sSubSup>
                      <m:sSubSupPr>
                        <m:ctrlPr>
                          <a:rPr lang="zh-CN" altLang="zh-CN" sz="2800" b="1" i="1">
                            <a:effectLst/>
                            <a:latin typeface="Cambria Math" panose="02040503050406030204" pitchFamily="18" charset="0"/>
                          </a:rPr>
                        </m:ctrlPr>
                      </m:sSubSupPr>
                      <m:e>
                        <m:r>
                          <a:rPr lang="en-US" altLang="zh-CN" sz="2800" b="1" i="1" smtClean="0">
                            <a:effectLst/>
                            <a:latin typeface="Cambria Math" panose="02040503050406030204" pitchFamily="18" charset="0"/>
                            <a:cs typeface="Times New Roman" panose="02020603050405020304" pitchFamily="18" charset="0"/>
                          </a:rPr>
                          <m:t>𝒙</m:t>
                        </m:r>
                      </m:e>
                      <m:sub>
                        <m:r>
                          <a:rPr lang="en-US" altLang="zh-CN" sz="2800" b="1" i="1" smtClean="0">
                            <a:effectLst/>
                            <a:latin typeface="Cambria Math" panose="02040503050406030204" pitchFamily="18" charset="0"/>
                            <a:cs typeface="Times New Roman" panose="02020603050405020304" pitchFamily="18" charset="0"/>
                          </a:rPr>
                          <m:t>𝟐</m:t>
                        </m:r>
                      </m:sub>
                      <m:sup>
                        <m:r>
                          <a:rPr lang="en-US" altLang="zh-CN" sz="2800" b="1" i="1" smtClean="0">
                            <a:effectLst/>
                            <a:latin typeface="Cambria Math" panose="02040503050406030204" pitchFamily="18" charset="0"/>
                            <a:cs typeface="Times New Roman" panose="02020603050405020304" pitchFamily="18" charset="0"/>
                          </a:rPr>
                          <m:t>𝟎</m:t>
                        </m:r>
                      </m:sup>
                    </m:sSubSup>
                  </m:oMath>
                </a14:m>
                <a:endParaRPr lang="zh-CN" altLang="en-US" sz="2800" b="1" dirty="0">
                  <a:latin typeface="+mn-ea"/>
                </a:endParaRPr>
              </a:p>
            </p:txBody>
          </p:sp>
        </mc:Choice>
        <mc:Fallback xmlns="">
          <p:sp>
            <p:nvSpPr>
              <p:cNvPr id="7" name="文本框 6">
                <a:extLst>
                  <a:ext uri="{FF2B5EF4-FFF2-40B4-BE49-F238E27FC236}">
                    <a16:creationId xmlns:a16="http://schemas.microsoft.com/office/drawing/2014/main" id="{0B89B68F-E65C-4D8A-9B4F-56BB92045FD6}"/>
                  </a:ext>
                </a:extLst>
              </p:cNvPr>
              <p:cNvSpPr txBox="1">
                <a:spLocks noRot="1" noChangeAspect="1" noMove="1" noResize="1" noEditPoints="1" noAdjustHandles="1" noChangeArrowheads="1" noChangeShapeType="1" noTextEdit="1"/>
              </p:cNvSpPr>
              <p:nvPr/>
            </p:nvSpPr>
            <p:spPr>
              <a:xfrm>
                <a:off x="155575" y="4717892"/>
                <a:ext cx="11582400" cy="1188402"/>
              </a:xfrm>
              <a:prstGeom prst="rect">
                <a:avLst/>
              </a:prstGeom>
              <a:blipFill>
                <a:blip r:embed="rId3"/>
                <a:stretch>
                  <a:fillRect l="-1105" r="-4158" b="-1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61014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0D4AEE-2880-4413-A63E-4102A4313D20}"/>
              </a:ext>
            </a:extLst>
          </p:cNvPr>
          <p:cNvSpPr>
            <a:spLocks noGrp="1"/>
          </p:cNvSpPr>
          <p:nvPr>
            <p:ph type="title"/>
          </p:nvPr>
        </p:nvSpPr>
        <p:spPr/>
        <p:txBody>
          <a:bodyPr/>
          <a:lstStyle/>
          <a:p>
            <a:r>
              <a:rPr lang="zh-CN" altLang="en-US" dirty="0"/>
              <a:t>布尔函数：多项式表示</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244FB91-B045-4329-8ECA-14402E5F53B6}"/>
                  </a:ext>
                </a:extLst>
              </p:cNvPr>
              <p:cNvSpPr>
                <a:spLocks noGrp="1"/>
              </p:cNvSpPr>
              <p:nvPr>
                <p:ph idx="1"/>
              </p:nvPr>
            </p:nvSpPr>
            <p:spPr>
              <a:xfrm>
                <a:off x="307975" y="953294"/>
                <a:ext cx="11658600" cy="1790700"/>
              </a:xfrm>
              <a:solidFill>
                <a:srgbClr val="FFC000"/>
              </a:solidFill>
            </p:spPr>
            <p:txBody>
              <a:bodyPr>
                <a:noAutofit/>
              </a:bodyPr>
              <a:lstStyle/>
              <a:p>
                <a:pPr marL="0" indent="0">
                  <a:buNone/>
                </a:pPr>
                <a:r>
                  <a:rPr lang="zh-CN" altLang="zh-CN" sz="2800" dirty="0">
                    <a:latin typeface="+mn-ea"/>
                  </a:rPr>
                  <a:t>由于</a:t>
                </a:r>
                <a14:m>
                  <m:oMath xmlns:m="http://schemas.openxmlformats.org/officeDocument/2006/math">
                    <m:sSup>
                      <m:sSupPr>
                        <m:ctrlPr>
                          <a:rPr lang="zh-CN" altLang="zh-CN" sz="2800" i="1">
                            <a:latin typeface="Cambria Math" panose="02040503050406030204" pitchFamily="18" charset="0"/>
                          </a:rPr>
                        </m:ctrlPr>
                      </m:sSupPr>
                      <m:e>
                        <m:sSub>
                          <m:sSubPr>
                            <m:ctrlPr>
                              <a:rPr lang="zh-CN" altLang="zh-CN" sz="2800"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𝒊</m:t>
                            </m:r>
                          </m:sub>
                        </m:sSub>
                      </m:e>
                      <m:sup>
                        <m:sSub>
                          <m:sSubPr>
                            <m:ctrlPr>
                              <a:rPr lang="zh-CN" altLang="zh-CN" sz="2800" i="1">
                                <a:latin typeface="Cambria Math" panose="02040503050406030204" pitchFamily="18" charset="0"/>
                              </a:rPr>
                            </m:ctrlPr>
                          </m:sSubPr>
                          <m:e>
                            <m:r>
                              <a:rPr lang="en-US" altLang="zh-CN" sz="2800" b="1" i="1">
                                <a:latin typeface="Cambria Math" panose="02040503050406030204" pitchFamily="18" charset="0"/>
                              </a:rPr>
                              <m:t>𝒄</m:t>
                            </m:r>
                          </m:e>
                          <m:sub>
                            <m:r>
                              <a:rPr lang="en-US" altLang="zh-CN" sz="2800" b="1" i="1">
                                <a:latin typeface="Cambria Math" panose="02040503050406030204" pitchFamily="18" charset="0"/>
                              </a:rPr>
                              <m:t>𝒊</m:t>
                            </m:r>
                          </m:sub>
                        </m:sSub>
                      </m:sup>
                    </m:sSup>
                    <m:r>
                      <a:rPr lang="en-US" altLang="zh-CN" sz="2800" b="1"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𝒊</m:t>
                        </m:r>
                      </m:sub>
                    </m:sSub>
                    <m:r>
                      <a:rPr lang="en-US" altLang="zh-CN" sz="2800" b="1"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b="1" i="1">
                            <a:latin typeface="Cambria Math" panose="02040503050406030204" pitchFamily="18" charset="0"/>
                          </a:rPr>
                          <m:t>𝒄</m:t>
                        </m:r>
                      </m:e>
                      <m:sub>
                        <m:r>
                          <a:rPr lang="en-US" altLang="zh-CN" sz="2800" b="1" i="1">
                            <a:latin typeface="Cambria Math" panose="02040503050406030204" pitchFamily="18" charset="0"/>
                          </a:rPr>
                          <m:t>𝒊</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𝟏</m:t>
                    </m:r>
                  </m:oMath>
                </a14:m>
                <a:r>
                  <a:rPr lang="zh-CN" altLang="zh-CN" sz="2800" dirty="0">
                    <a:latin typeface="+mn-ea"/>
                  </a:rPr>
                  <a:t>，所以</a:t>
                </a:r>
                <a14:m>
                  <m:oMath xmlns:m="http://schemas.openxmlformats.org/officeDocument/2006/math">
                    <m:sSup>
                      <m:sSupPr>
                        <m:ctrlPr>
                          <a:rPr lang="zh-CN" altLang="zh-CN" sz="2800" i="1">
                            <a:latin typeface="Cambria Math" panose="02040503050406030204" pitchFamily="18" charset="0"/>
                          </a:rPr>
                        </m:ctrlPr>
                      </m:sSupPr>
                      <m:e>
                        <m:r>
                          <a:rPr lang="en-US" altLang="zh-CN" sz="2800" b="1" i="1">
                            <a:latin typeface="Cambria Math" panose="02040503050406030204" pitchFamily="18" charset="0"/>
                          </a:rPr>
                          <m:t>𝒙</m:t>
                        </m:r>
                      </m:e>
                      <m:sup>
                        <m:r>
                          <a:rPr lang="en-US" altLang="zh-CN" sz="2800" b="1" i="1">
                            <a:latin typeface="Cambria Math" panose="02040503050406030204" pitchFamily="18" charset="0"/>
                          </a:rPr>
                          <m:t>𝒄</m:t>
                        </m:r>
                      </m:sup>
                    </m:sSup>
                    <m:r>
                      <a:rPr lang="en-US" altLang="zh-CN" sz="2800" b="1" i="1">
                        <a:latin typeface="Cambria Math" panose="02040503050406030204" pitchFamily="18" charset="0"/>
                      </a:rPr>
                      <m:t>=</m:t>
                    </m:r>
                    <m:nary>
                      <m:naryPr>
                        <m:chr m:val="∏"/>
                        <m:limLoc m:val="undOvr"/>
                        <m:ctrlPr>
                          <a:rPr lang="zh-CN" altLang="zh-CN" sz="2800" i="1">
                            <a:latin typeface="Cambria Math" panose="02040503050406030204" pitchFamily="18" charset="0"/>
                          </a:rPr>
                        </m:ctrlPr>
                      </m:naryPr>
                      <m:sub>
                        <m:r>
                          <a:rPr lang="en-US" altLang="zh-CN" sz="2800" b="1" i="1">
                            <a:latin typeface="Cambria Math" panose="02040503050406030204" pitchFamily="18" charset="0"/>
                          </a:rPr>
                          <m:t>𝒊</m:t>
                        </m:r>
                        <m:r>
                          <a:rPr lang="en-US" altLang="zh-CN" sz="2800" b="1" i="1">
                            <a:latin typeface="Cambria Math" panose="02040503050406030204" pitchFamily="18" charset="0"/>
                          </a:rPr>
                          <m:t>=</m:t>
                        </m:r>
                        <m:r>
                          <a:rPr lang="en-US" altLang="zh-CN" sz="2800" b="1" i="1">
                            <a:latin typeface="Cambria Math" panose="02040503050406030204" pitchFamily="18" charset="0"/>
                          </a:rPr>
                          <m:t>𝟏</m:t>
                        </m:r>
                      </m:sub>
                      <m:sup>
                        <m:r>
                          <a:rPr lang="en-US" altLang="zh-CN" sz="2800" b="1" i="1">
                            <a:latin typeface="Cambria Math" panose="02040503050406030204" pitchFamily="18" charset="0"/>
                          </a:rPr>
                          <m:t>𝒏</m:t>
                        </m:r>
                      </m:sup>
                      <m:e>
                        <m:r>
                          <a:rPr lang="en-US" altLang="zh-CN" sz="2800" b="1"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𝒊</m:t>
                            </m:r>
                          </m:sub>
                        </m:sSub>
                        <m:r>
                          <a:rPr lang="en-US" altLang="zh-CN" sz="2800" b="1"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b="1" i="1">
                                <a:latin typeface="Cambria Math" panose="02040503050406030204" pitchFamily="18" charset="0"/>
                              </a:rPr>
                              <m:t>𝒄</m:t>
                            </m:r>
                          </m:e>
                          <m:sub>
                            <m:r>
                              <a:rPr lang="en-US" altLang="zh-CN" sz="2800" b="1" i="1">
                                <a:latin typeface="Cambria Math" panose="02040503050406030204" pitchFamily="18" charset="0"/>
                              </a:rPr>
                              <m:t>𝒊</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𝟏</m:t>
                        </m:r>
                        <m:r>
                          <a:rPr lang="en-US" altLang="zh-CN" sz="2800" b="1" i="1">
                            <a:latin typeface="Cambria Math" panose="02040503050406030204" pitchFamily="18" charset="0"/>
                          </a:rPr>
                          <m:t>)</m:t>
                        </m:r>
                      </m:e>
                    </m:nary>
                  </m:oMath>
                </a14:m>
                <a:endParaRPr lang="zh-CN" altLang="zh-CN" sz="2800" dirty="0">
                  <a:latin typeface="+mn-ea"/>
                </a:endParaRPr>
              </a:p>
              <a:p>
                <a:pPr marL="0" indent="0">
                  <a:buNone/>
                </a:pPr>
                <a:r>
                  <a:rPr lang="zh-CN" altLang="zh-CN" sz="2800" dirty="0">
                    <a:latin typeface="+mn-ea"/>
                  </a:rPr>
                  <a:t>从而可把小项表示中的每一项替换成多项式形式，就可得到布尔函数</a:t>
                </a:r>
                <a14:m>
                  <m:oMath xmlns:m="http://schemas.openxmlformats.org/officeDocument/2006/math">
                    <m:r>
                      <a:rPr lang="en-US" altLang="zh-CN" sz="2800" b="1" i="1" dirty="0" smtClean="0">
                        <a:latin typeface="Cambria Math" panose="02040503050406030204" pitchFamily="18" charset="0"/>
                      </a:rPr>
                      <m:t>𝒇</m:t>
                    </m:r>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𝒙</m:t>
                    </m:r>
                    <m:r>
                      <a:rPr lang="en-US" altLang="zh-CN" sz="2800" b="1" i="1" dirty="0" smtClean="0">
                        <a:latin typeface="Cambria Math" panose="02040503050406030204" pitchFamily="18" charset="0"/>
                      </a:rPr>
                      <m:t>)</m:t>
                    </m:r>
                  </m:oMath>
                </a14:m>
                <a:r>
                  <a:rPr lang="zh-CN" altLang="zh-CN" sz="2800" dirty="0">
                    <a:latin typeface="+mn-ea"/>
                  </a:rPr>
                  <a:t>的多项式表示。</a:t>
                </a:r>
                <a:endParaRPr lang="zh-CN" altLang="zh-CN" sz="2800" kern="100" dirty="0">
                  <a:effectLst/>
                  <a:latin typeface="+mn-ea"/>
                </a:endParaRPr>
              </a:p>
              <a:p>
                <a:pPr marL="0" indent="0" algn="just">
                  <a:lnSpc>
                    <a:spcPct val="130000"/>
                  </a:lnSpc>
                  <a:spcBef>
                    <a:spcPts val="0"/>
                  </a:spcBef>
                  <a:buNone/>
                </a:pPr>
                <a:r>
                  <a:rPr lang="en-US" altLang="zh-CN" sz="2800" kern="100" dirty="0">
                    <a:effectLst/>
                    <a:latin typeface="+mn-ea"/>
                  </a:rPr>
                  <a:t>        </a:t>
                </a:r>
                <a:endParaRPr lang="zh-CN" altLang="en-US" sz="2800" dirty="0">
                  <a:latin typeface="+mn-ea"/>
                </a:endParaRPr>
              </a:p>
            </p:txBody>
          </p:sp>
        </mc:Choice>
        <mc:Fallback xmlns="">
          <p:sp>
            <p:nvSpPr>
              <p:cNvPr id="3" name="内容占位符 2">
                <a:extLst>
                  <a:ext uri="{FF2B5EF4-FFF2-40B4-BE49-F238E27FC236}">
                    <a16:creationId xmlns:a16="http://schemas.microsoft.com/office/drawing/2014/main" id="{B244FB91-B045-4329-8ECA-14402E5F53B6}"/>
                  </a:ext>
                </a:extLst>
              </p:cNvPr>
              <p:cNvSpPr>
                <a:spLocks noGrp="1" noRot="1" noChangeAspect="1" noMove="1" noResize="1" noEditPoints="1" noAdjustHandles="1" noChangeArrowheads="1" noChangeShapeType="1" noTextEdit="1"/>
              </p:cNvSpPr>
              <p:nvPr>
                <p:ph idx="1"/>
              </p:nvPr>
            </p:nvSpPr>
            <p:spPr>
              <a:xfrm>
                <a:off x="307975" y="953294"/>
                <a:ext cx="11658600" cy="1790700"/>
              </a:xfrm>
              <a:blipFill>
                <a:blip r:embed="rId2"/>
                <a:stretch>
                  <a:fillRect l="-837" t="-340" b="-37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B89B68F-E65C-4D8A-9B4F-56BB92045FD6}"/>
                  </a:ext>
                </a:extLst>
              </p:cNvPr>
              <p:cNvSpPr txBox="1"/>
              <p:nvPr/>
            </p:nvSpPr>
            <p:spPr>
              <a:xfrm>
                <a:off x="231775" y="2743994"/>
                <a:ext cx="11582400" cy="3924151"/>
              </a:xfrm>
              <a:prstGeom prst="rect">
                <a:avLst/>
              </a:prstGeom>
              <a:noFill/>
            </p:spPr>
            <p:txBody>
              <a:bodyPr wrap="square">
                <a:spAutoFit/>
              </a:bodyPr>
              <a:lstStyle/>
              <a:p>
                <a:pPr>
                  <a:lnSpc>
                    <a:spcPct val="150000"/>
                  </a:lnSpc>
                </a:pPr>
                <a:r>
                  <a:rPr lang="zh-CN" altLang="zh-CN" sz="2800" b="1" dirty="0">
                    <a:latin typeface="+mn-ea"/>
                  </a:rPr>
                  <a:t>例如，</a:t>
                </a:r>
                <a:r>
                  <a:rPr lang="zh-CN" altLang="en-US" sz="2800" b="1" dirty="0">
                    <a:latin typeface="+mn-ea"/>
                  </a:rPr>
                  <a:t>前面</a:t>
                </a:r>
                <a:r>
                  <a:rPr lang="zh-CN" altLang="zh-CN" sz="2800" b="1" dirty="0">
                    <a:latin typeface="+mn-ea"/>
                  </a:rPr>
                  <a:t>布尔函数的小项表示是</a:t>
                </a:r>
                <a14:m>
                  <m:oMath xmlns:m="http://schemas.openxmlformats.org/officeDocument/2006/math">
                    <m:r>
                      <a:rPr lang="en-US" altLang="zh-CN" sz="2800" b="1" i="1">
                        <a:latin typeface="Cambria Math" panose="02040503050406030204" pitchFamily="18" charset="0"/>
                      </a:rPr>
                      <m:t>𝒇</m:t>
                    </m:r>
                    <m:d>
                      <m:dPr>
                        <m:ctrlPr>
                          <a:rPr lang="zh-CN" altLang="zh-CN" sz="2800" b="1" i="1">
                            <a:latin typeface="Cambria Math" panose="02040503050406030204" pitchFamily="18" charset="0"/>
                          </a:rPr>
                        </m:ctrlPr>
                      </m:dPr>
                      <m:e>
                        <m:r>
                          <a:rPr lang="en-US" altLang="zh-CN" sz="2800" b="1" i="1">
                            <a:latin typeface="Cambria Math" panose="02040503050406030204" pitchFamily="18" charset="0"/>
                          </a:rPr>
                          <m:t>𝒙</m:t>
                        </m:r>
                      </m:e>
                    </m:d>
                    <m:r>
                      <a:rPr lang="en-US" altLang="zh-CN" sz="2800" b="1" i="1">
                        <a:latin typeface="Cambria Math" panose="02040503050406030204" pitchFamily="18" charset="0"/>
                      </a:rPr>
                      <m:t>=</m:t>
                    </m:r>
                    <m:sSubSup>
                      <m:sSubSupPr>
                        <m:ctrlPr>
                          <a:rPr lang="zh-CN" altLang="zh-CN" sz="2800" b="1" i="1">
                            <a:latin typeface="Cambria Math" panose="02040503050406030204" pitchFamily="18" charset="0"/>
                          </a:rPr>
                        </m:ctrlPr>
                      </m:sSubSup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up>
                        <m:r>
                          <a:rPr lang="en-US" altLang="zh-CN" sz="2800" b="1" i="1">
                            <a:latin typeface="Cambria Math" panose="02040503050406030204" pitchFamily="18" charset="0"/>
                          </a:rPr>
                          <m:t>𝟎</m:t>
                        </m:r>
                      </m:sup>
                    </m:sSubSup>
                    <m:sSubSup>
                      <m:sSubSupPr>
                        <m:ctrlPr>
                          <a:rPr lang="zh-CN" altLang="zh-CN" sz="2800" b="1" i="1">
                            <a:latin typeface="Cambria Math" panose="02040503050406030204" pitchFamily="18" charset="0"/>
                          </a:rPr>
                        </m:ctrlPr>
                      </m:sSubSup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up>
                        <m:r>
                          <a:rPr lang="en-US" altLang="zh-CN" sz="2800" b="1" i="1">
                            <a:latin typeface="Cambria Math" panose="02040503050406030204" pitchFamily="18" charset="0"/>
                          </a:rPr>
                          <m:t>𝟎</m:t>
                        </m:r>
                      </m:sup>
                    </m:sSubSup>
                    <m:r>
                      <a:rPr lang="en-US" altLang="zh-CN" sz="2800" b="1" i="1">
                        <a:latin typeface="Cambria Math" panose="02040503050406030204" pitchFamily="18" charset="0"/>
                      </a:rPr>
                      <m:t>+</m:t>
                    </m:r>
                    <m:sSubSup>
                      <m:sSubSupPr>
                        <m:ctrlPr>
                          <a:rPr lang="zh-CN" altLang="zh-CN" sz="2800" b="1" i="1">
                            <a:latin typeface="Cambria Math" panose="02040503050406030204" pitchFamily="18" charset="0"/>
                          </a:rPr>
                        </m:ctrlPr>
                      </m:sSubSup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up>
                        <m:r>
                          <a:rPr lang="en-US" altLang="zh-CN" sz="2800" b="1" i="1">
                            <a:latin typeface="Cambria Math" panose="02040503050406030204" pitchFamily="18" charset="0"/>
                          </a:rPr>
                          <m:t>𝟏</m:t>
                        </m:r>
                      </m:sup>
                    </m:sSubSup>
                    <m:sSubSup>
                      <m:sSubSupPr>
                        <m:ctrlPr>
                          <a:rPr lang="zh-CN" altLang="zh-CN" sz="2800" b="1" i="1">
                            <a:latin typeface="Cambria Math" panose="02040503050406030204" pitchFamily="18" charset="0"/>
                          </a:rPr>
                        </m:ctrlPr>
                      </m:sSubSup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up>
                        <m:r>
                          <a:rPr lang="en-US" altLang="zh-CN" sz="2800" b="1" i="1">
                            <a:latin typeface="Cambria Math" panose="02040503050406030204" pitchFamily="18" charset="0"/>
                          </a:rPr>
                          <m:t>𝟎</m:t>
                        </m:r>
                      </m:sup>
                    </m:sSubSup>
                  </m:oMath>
                </a14:m>
                <a:r>
                  <a:rPr lang="zh-CN" altLang="zh-CN" sz="2800" b="1" dirty="0">
                    <a:latin typeface="+mn-ea"/>
                  </a:rPr>
                  <a:t>，其多项式表示为：</a:t>
                </a:r>
              </a:p>
              <a:p>
                <a:pPr>
                  <a:lnSpc>
                    <a:spcPct val="150000"/>
                  </a:lnSpc>
                </a:pPr>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𝒇</m:t>
                      </m:r>
                      <m:d>
                        <m:dPr>
                          <m:ctrlPr>
                            <a:rPr lang="zh-CN" altLang="zh-CN" sz="2800" b="1" i="1">
                              <a:latin typeface="Cambria Math" panose="02040503050406030204" pitchFamily="18" charset="0"/>
                            </a:rPr>
                          </m:ctrlPr>
                        </m:dPr>
                        <m:e>
                          <m:r>
                            <a:rPr lang="en-US" altLang="zh-CN" sz="2800" b="1" i="1">
                              <a:latin typeface="Cambria Math" panose="02040503050406030204" pitchFamily="18" charset="0"/>
                            </a:rPr>
                            <m:t>𝒙</m:t>
                          </m:r>
                        </m:e>
                      </m:d>
                      <m:r>
                        <a:rPr lang="en-US" altLang="zh-CN" sz="2800" b="1" i="1">
                          <a:latin typeface="Cambria Math" panose="02040503050406030204" pitchFamily="18" charset="0"/>
                        </a:rPr>
                        <m:t>=</m:t>
                      </m:r>
                      <m:d>
                        <m:dPr>
                          <m:ctrlPr>
                            <a:rPr lang="zh-CN" altLang="zh-CN" sz="2800" b="1" i="1">
                              <a:latin typeface="Cambria Math" panose="02040503050406030204" pitchFamily="18" charset="0"/>
                            </a:rPr>
                          </m:ctrlPr>
                        </m:dPr>
                        <m:e>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𝟎</m:t>
                          </m:r>
                          <m:r>
                            <a:rPr lang="en-US" altLang="zh-CN" sz="2800" b="1" i="1">
                              <a:latin typeface="Cambria Math" panose="02040503050406030204" pitchFamily="18" charset="0"/>
                            </a:rPr>
                            <m:t>+</m:t>
                          </m:r>
                          <m:r>
                            <a:rPr lang="en-US" altLang="zh-CN" sz="2800" b="1" i="1">
                              <a:latin typeface="Cambria Math" panose="02040503050406030204" pitchFamily="18" charset="0"/>
                            </a:rPr>
                            <m:t>𝟏</m:t>
                          </m:r>
                        </m:e>
                      </m:d>
                      <m:d>
                        <m:dPr>
                          <m:ctrlPr>
                            <a:rPr lang="zh-CN" altLang="zh-CN" sz="2800" b="1" i="1">
                              <a:latin typeface="Cambria Math" panose="02040503050406030204" pitchFamily="18" charset="0"/>
                            </a:rPr>
                          </m:ctrlPr>
                        </m:dPr>
                        <m:e>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𝟎</m:t>
                          </m:r>
                          <m:r>
                            <a:rPr lang="en-US" altLang="zh-CN" sz="2800" b="1" i="1">
                              <a:latin typeface="Cambria Math" panose="02040503050406030204" pitchFamily="18" charset="0"/>
                            </a:rPr>
                            <m:t>+</m:t>
                          </m:r>
                          <m:r>
                            <a:rPr lang="en-US" altLang="zh-CN" sz="2800" b="1" i="1">
                              <a:latin typeface="Cambria Math" panose="02040503050406030204" pitchFamily="18" charset="0"/>
                            </a:rPr>
                            <m:t>𝟏</m:t>
                          </m:r>
                        </m:e>
                      </m:d>
                      <m:r>
                        <a:rPr lang="en-US" altLang="zh-CN" sz="2800" b="1" i="1">
                          <a:latin typeface="Cambria Math" panose="02040503050406030204" pitchFamily="18" charset="0"/>
                        </a:rPr>
                        <m:t>+</m:t>
                      </m:r>
                      <m:d>
                        <m:dPr>
                          <m:ctrlPr>
                            <a:rPr lang="zh-CN" altLang="zh-CN" sz="2800" b="1" i="1">
                              <a:latin typeface="Cambria Math" panose="02040503050406030204" pitchFamily="18" charset="0"/>
                            </a:rPr>
                          </m:ctrlPr>
                        </m:dPr>
                        <m:e>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𝟏</m:t>
                          </m:r>
                          <m:r>
                            <a:rPr lang="en-US" altLang="zh-CN" sz="2800" b="1" i="1">
                              <a:latin typeface="Cambria Math" panose="02040503050406030204" pitchFamily="18" charset="0"/>
                            </a:rPr>
                            <m:t>+</m:t>
                          </m:r>
                          <m:r>
                            <a:rPr lang="en-US" altLang="zh-CN" sz="2800" b="1" i="1">
                              <a:latin typeface="Cambria Math" panose="02040503050406030204" pitchFamily="18" charset="0"/>
                            </a:rPr>
                            <m:t>𝟏</m:t>
                          </m:r>
                        </m:e>
                      </m:d>
                      <m:d>
                        <m:dPr>
                          <m:ctrlPr>
                            <a:rPr lang="zh-CN" altLang="zh-CN" sz="2800" b="1" i="1">
                              <a:latin typeface="Cambria Math" panose="02040503050406030204" pitchFamily="18" charset="0"/>
                            </a:rPr>
                          </m:ctrlPr>
                        </m:dPr>
                        <m:e>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𝟎</m:t>
                          </m:r>
                          <m:r>
                            <a:rPr lang="en-US" altLang="zh-CN" sz="2800" b="1" i="1">
                              <a:latin typeface="Cambria Math" panose="02040503050406030204" pitchFamily="18" charset="0"/>
                            </a:rPr>
                            <m:t>+</m:t>
                          </m:r>
                          <m:r>
                            <a:rPr lang="en-US" altLang="zh-CN" sz="2800" b="1" i="1">
                              <a:latin typeface="Cambria Math" panose="02040503050406030204" pitchFamily="18" charset="0"/>
                            </a:rPr>
                            <m:t>𝟏</m:t>
                          </m:r>
                        </m:e>
                      </m:d>
                    </m:oMath>
                  </m:oMathPara>
                </a14:m>
                <a:endParaRPr lang="zh-CN" altLang="zh-CN" sz="2800" b="1" dirty="0">
                  <a:latin typeface="+mn-ea"/>
                </a:endParaRPr>
              </a:p>
              <a:p>
                <a:pPr>
                  <a:lnSpc>
                    <a:spcPct val="150000"/>
                  </a:lnSpc>
                </a:pPr>
                <a:r>
                  <a:rPr lang="zh-CN" altLang="zh-CN" sz="2800" b="1" dirty="0">
                    <a:latin typeface="+mn-ea"/>
                  </a:rPr>
                  <a:t>这个多项式可进一步化简：</a:t>
                </a:r>
              </a:p>
              <a:p>
                <a:pPr>
                  <a:lnSpc>
                    <a:spcPct val="150000"/>
                  </a:lnSpc>
                </a:pPr>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𝒇</m:t>
                      </m:r>
                      <m:d>
                        <m:dPr>
                          <m:ctrlPr>
                            <a:rPr lang="zh-CN" altLang="zh-CN" sz="2800" b="1" i="1">
                              <a:latin typeface="Cambria Math" panose="02040503050406030204" pitchFamily="18" charset="0"/>
                            </a:rPr>
                          </m:ctrlPr>
                        </m:dPr>
                        <m:e>
                          <m:r>
                            <a:rPr lang="en-US" altLang="zh-CN" sz="2800" b="1" i="1">
                              <a:latin typeface="Cambria Math" panose="02040503050406030204" pitchFamily="18" charset="0"/>
                            </a:rPr>
                            <m:t>𝒙</m:t>
                          </m:r>
                        </m:e>
                      </m:d>
                      <m:r>
                        <a:rPr lang="en-US" altLang="zh-CN" sz="2800" b="1" i="1">
                          <a:latin typeface="Cambria Math" panose="02040503050406030204" pitchFamily="18" charset="0"/>
                        </a:rPr>
                        <m:t>=</m:t>
                      </m:r>
                      <m:d>
                        <m:dPr>
                          <m:ctrlPr>
                            <a:rPr lang="zh-CN" altLang="zh-CN" sz="2800" b="1" i="1">
                              <a:latin typeface="Cambria Math" panose="02040503050406030204" pitchFamily="18" charset="0"/>
                            </a:rPr>
                          </m:ctrlPr>
                        </m:dPr>
                        <m:e>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𝟏</m:t>
                          </m:r>
                        </m:e>
                      </m:d>
                      <m:d>
                        <m:dPr>
                          <m:ctrlPr>
                            <a:rPr lang="zh-CN" altLang="zh-CN" sz="2800" b="1" i="1">
                              <a:latin typeface="Cambria Math" panose="02040503050406030204" pitchFamily="18" charset="0"/>
                            </a:rPr>
                          </m:ctrlPr>
                        </m:dPr>
                        <m:e>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𝟏</m:t>
                          </m:r>
                        </m:e>
                      </m:d>
                      <m:r>
                        <a:rPr lang="en-US" altLang="zh-CN" sz="2800" b="1" i="1">
                          <a:latin typeface="Cambria Math" panose="02040503050406030204" pitchFamily="18" charset="0"/>
                        </a:rPr>
                        <m:t>+</m:t>
                      </m:r>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Sub>
                      <m:d>
                        <m:dPr>
                          <m:ctrlPr>
                            <a:rPr lang="zh-CN" altLang="zh-CN" sz="2800" b="1" i="1">
                              <a:latin typeface="Cambria Math" panose="02040503050406030204" pitchFamily="18" charset="0"/>
                            </a:rPr>
                          </m:ctrlPr>
                        </m:dPr>
                        <m:e>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𝟏</m:t>
                          </m:r>
                        </m:e>
                      </m:d>
                    </m:oMath>
                  </m:oMathPara>
                </a14:m>
                <a:endParaRPr lang="en-US" altLang="zh-CN" sz="2800" b="1" i="1" dirty="0">
                  <a:latin typeface="+mn-ea"/>
                </a:endParaRPr>
              </a:p>
              <a:p>
                <a:pPr>
                  <a:lnSpc>
                    <a:spcPct val="150000"/>
                  </a:lnSpc>
                </a:pPr>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m:t>
                      </m:r>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Sub>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Sub>
                      <m:r>
                        <a:rPr lang="en-US" altLang="zh-CN" sz="2800" b="1" i="1">
                          <a:latin typeface="Cambria Math" panose="02040503050406030204" pitchFamily="18" charset="0"/>
                        </a:rPr>
                        <m:t>+</m:t>
                      </m:r>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Sub>
                      <m:r>
                        <a:rPr lang="en-US" altLang="zh-CN" sz="2800" b="1" i="1">
                          <a:latin typeface="Cambria Math" panose="02040503050406030204" pitchFamily="18" charset="0"/>
                        </a:rPr>
                        <m:t>+</m:t>
                      </m:r>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𝟏</m:t>
                      </m:r>
                      <m:r>
                        <a:rPr lang="en-US" altLang="zh-CN" sz="2800" b="1" i="1">
                          <a:latin typeface="Cambria Math" panose="02040503050406030204" pitchFamily="18" charset="0"/>
                        </a:rPr>
                        <m:t>+</m:t>
                      </m:r>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Sub>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Sub>
                      <m:r>
                        <a:rPr lang="en-US" altLang="zh-CN" sz="2800" b="1" i="1">
                          <a:latin typeface="Cambria Math" panose="02040503050406030204" pitchFamily="18" charset="0"/>
                        </a:rPr>
                        <m:t>+</m:t>
                      </m:r>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𝟏</m:t>
                          </m:r>
                        </m:sub>
                      </m:sSub>
                      <m:r>
                        <a:rPr lang="en-US" altLang="zh-CN" sz="2800" b="1" i="1">
                          <a:latin typeface="Cambria Math" panose="02040503050406030204" pitchFamily="18" charset="0"/>
                        </a:rPr>
                        <m:t>=</m:t>
                      </m:r>
                      <m:r>
                        <a:rPr lang="en-US" altLang="zh-CN" sz="2800" b="1" i="1">
                          <a:latin typeface="Cambria Math" panose="02040503050406030204" pitchFamily="18" charset="0"/>
                        </a:rPr>
                        <m:t>𝟏</m:t>
                      </m:r>
                      <m:r>
                        <a:rPr lang="en-US" altLang="zh-CN" sz="2800" b="1" i="1">
                          <a:latin typeface="Cambria Math" panose="02040503050406030204" pitchFamily="18" charset="0"/>
                        </a:rPr>
                        <m:t>+</m:t>
                      </m:r>
                      <m:sSub>
                        <m:sSubPr>
                          <m:ctrlPr>
                            <a:rPr lang="zh-CN"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𝟐</m:t>
                          </m:r>
                        </m:sub>
                      </m:sSub>
                    </m:oMath>
                  </m:oMathPara>
                </a14:m>
                <a:endParaRPr lang="zh-CN" altLang="zh-CN" sz="2800" b="1" dirty="0">
                  <a:latin typeface="+mn-ea"/>
                </a:endParaRPr>
              </a:p>
              <a:p>
                <a:pPr>
                  <a:lnSpc>
                    <a:spcPct val="150000"/>
                  </a:lnSpc>
                </a:pPr>
                <a:r>
                  <a:rPr lang="en-US" altLang="zh-CN" sz="2800" b="1" dirty="0">
                    <a:latin typeface="+mn-ea"/>
                  </a:rPr>
                  <a:t> </a:t>
                </a:r>
                <a:r>
                  <a:rPr lang="zh-CN" altLang="zh-CN" sz="2800" b="1" dirty="0">
                    <a:latin typeface="+mn-ea"/>
                  </a:rPr>
                  <a:t>注意，布尔多项式化简过程里面使用的加法和乘法都是模</a:t>
                </a:r>
                <a:r>
                  <a:rPr lang="en-US" altLang="zh-CN" sz="2800" b="1" dirty="0">
                    <a:latin typeface="+mn-ea"/>
                  </a:rPr>
                  <a:t>2</a:t>
                </a:r>
                <a:r>
                  <a:rPr lang="zh-CN" altLang="zh-CN" sz="2800" b="1" dirty="0">
                    <a:latin typeface="+mn-ea"/>
                  </a:rPr>
                  <a:t>的加法和乘法。</a:t>
                </a:r>
              </a:p>
            </p:txBody>
          </p:sp>
        </mc:Choice>
        <mc:Fallback xmlns="">
          <p:sp>
            <p:nvSpPr>
              <p:cNvPr id="7" name="文本框 6">
                <a:extLst>
                  <a:ext uri="{FF2B5EF4-FFF2-40B4-BE49-F238E27FC236}">
                    <a16:creationId xmlns:a16="http://schemas.microsoft.com/office/drawing/2014/main" id="{0B89B68F-E65C-4D8A-9B4F-56BB92045FD6}"/>
                  </a:ext>
                </a:extLst>
              </p:cNvPr>
              <p:cNvSpPr txBox="1">
                <a:spLocks noRot="1" noChangeAspect="1" noMove="1" noResize="1" noEditPoints="1" noAdjustHandles="1" noChangeArrowheads="1" noChangeShapeType="1" noTextEdit="1"/>
              </p:cNvSpPr>
              <p:nvPr/>
            </p:nvSpPr>
            <p:spPr>
              <a:xfrm>
                <a:off x="231775" y="2743994"/>
                <a:ext cx="11582400" cy="3924151"/>
              </a:xfrm>
              <a:prstGeom prst="rect">
                <a:avLst/>
              </a:prstGeom>
              <a:blipFill>
                <a:blip r:embed="rId3"/>
                <a:stretch>
                  <a:fillRect l="-1053" r="-4211" b="-37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479327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8A0984-F8BF-47D8-888A-2691FBE34FAA}"/>
              </a:ext>
            </a:extLst>
          </p:cNvPr>
          <p:cNvSpPr>
            <a:spLocks noGrp="1"/>
          </p:cNvSpPr>
          <p:nvPr>
            <p:ph type="title"/>
          </p:nvPr>
        </p:nvSpPr>
        <p:spPr/>
        <p:txBody>
          <a:bodyPr/>
          <a:lstStyle/>
          <a:p>
            <a:r>
              <a:rPr lang="zh-CN" altLang="en-US" dirty="0"/>
              <a:t>布尔函数的代数标准型</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907618B-AE81-4F43-9666-E05C36F9F6FF}"/>
                  </a:ext>
                </a:extLst>
              </p:cNvPr>
              <p:cNvSpPr>
                <a:spLocks noGrp="1"/>
              </p:cNvSpPr>
              <p:nvPr>
                <p:ph idx="1"/>
              </p:nvPr>
            </p:nvSpPr>
            <p:spPr>
              <a:xfrm>
                <a:off x="460375" y="991394"/>
                <a:ext cx="8915399" cy="5715793"/>
              </a:xfrm>
            </p:spPr>
            <p:txBody>
              <a:bodyPr>
                <a:noAutofit/>
              </a:bodyPr>
              <a:lstStyle/>
              <a:p>
                <a:pPr marL="0" indent="0" algn="just">
                  <a:spcBef>
                    <a:spcPts val="0"/>
                  </a:spcBef>
                  <a:buNone/>
                </a:pPr>
                <a:r>
                  <a:rPr lang="zh-CN" altLang="zh-CN" sz="2800" kern="100" dirty="0">
                    <a:effectLst/>
                    <a:latin typeface="+mn-ea"/>
                  </a:rPr>
                  <a:t>布尔函数的多项式表示具有形式：</a:t>
                </a:r>
              </a:p>
              <a:p>
                <a:pPr marL="0" indent="0" algn="just">
                  <a:spcBef>
                    <a:spcPts val="0"/>
                  </a:spcBef>
                  <a:buNone/>
                </a:pPr>
                <a14:m>
                  <m:oMathPara xmlns:m="http://schemas.openxmlformats.org/officeDocument/2006/math">
                    <m:oMathParaPr>
                      <m:jc m:val="centerGroup"/>
                    </m:oMathParaPr>
                    <m:oMath xmlns:m="http://schemas.openxmlformats.org/officeDocument/2006/math">
                      <m:r>
                        <a:rPr lang="en-US" altLang="zh-CN" sz="2800" i="1" kern="100">
                          <a:effectLst/>
                          <a:latin typeface="Cambria Math" panose="02040503050406030204" pitchFamily="18" charset="0"/>
                        </a:rPr>
                        <m:t>𝑓</m:t>
                      </m:r>
                      <m:d>
                        <m:dPr>
                          <m:ctrlPr>
                            <a:rPr lang="zh-CN" altLang="zh-CN" sz="2800" i="1" kern="100">
                              <a:effectLst/>
                              <a:latin typeface="Cambria Math" panose="02040503050406030204" pitchFamily="18" charset="0"/>
                            </a:rPr>
                          </m:ctrlPr>
                        </m:dPr>
                        <m:e>
                          <m:r>
                            <a:rPr lang="en-US" altLang="zh-CN" sz="2800" i="1" kern="100">
                              <a:effectLst/>
                              <a:latin typeface="Cambria Math" panose="02040503050406030204" pitchFamily="18" charset="0"/>
                            </a:rPr>
                            <m:t>𝑥</m:t>
                          </m:r>
                        </m:e>
                      </m:d>
                      <m:r>
                        <a:rPr lang="en-US" altLang="zh-CN" sz="2800" i="1" kern="100">
                          <a:effectLst/>
                          <a:latin typeface="Cambria Math" panose="02040503050406030204" pitchFamily="18" charset="0"/>
                        </a:rPr>
                        <m:t>=</m:t>
                      </m:r>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𝑎</m:t>
                          </m:r>
                        </m:e>
                        <m:sub>
                          <m:r>
                            <a:rPr lang="en-US" altLang="zh-CN" sz="2800" i="1" kern="100">
                              <a:effectLst/>
                              <a:latin typeface="Cambria Math" panose="02040503050406030204" pitchFamily="18" charset="0"/>
                            </a:rPr>
                            <m:t>0</m:t>
                          </m:r>
                        </m:sub>
                      </m:sSub>
                      <m:r>
                        <a:rPr lang="en-US" altLang="zh-CN" sz="2800" i="1" kern="100">
                          <a:effectLst/>
                          <a:latin typeface="Cambria Math" panose="02040503050406030204" pitchFamily="18" charset="0"/>
                        </a:rPr>
                        <m:t>+</m:t>
                      </m:r>
                      <m:nary>
                        <m:naryPr>
                          <m:chr m:val="∑"/>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𝑖</m:t>
                          </m:r>
                          <m:r>
                            <a:rPr lang="en-US" altLang="zh-CN" sz="2800" i="1" kern="100">
                              <a:effectLst/>
                              <a:latin typeface="Cambria Math" panose="02040503050406030204" pitchFamily="18" charset="0"/>
                            </a:rPr>
                            <m:t>=1</m:t>
                          </m:r>
                        </m:sub>
                        <m:sup>
                          <m:r>
                            <a:rPr lang="en-US" altLang="zh-CN" sz="2800" i="1" kern="100">
                              <a:effectLst/>
                              <a:latin typeface="Cambria Math" panose="02040503050406030204" pitchFamily="18" charset="0"/>
                            </a:rPr>
                            <m:t>𝑛</m:t>
                          </m:r>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𝑎</m:t>
                              </m:r>
                            </m:e>
                            <m:sub>
                              <m:r>
                                <a:rPr lang="en-US" altLang="zh-CN" sz="2800" i="1" kern="100">
                                  <a:effectLst/>
                                  <a:latin typeface="Cambria Math" panose="02040503050406030204" pitchFamily="18" charset="0"/>
                                </a:rPr>
                                <m:t>𝑖</m:t>
                              </m:r>
                            </m:sub>
                          </m:s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𝑥</m:t>
                              </m:r>
                            </m:e>
                            <m:sub>
                              <m:r>
                                <a:rPr lang="en-US" altLang="zh-CN" sz="2800" i="1" kern="100">
                                  <a:effectLst/>
                                  <a:latin typeface="Cambria Math" panose="02040503050406030204" pitchFamily="18" charset="0"/>
                                </a:rPr>
                                <m:t>𝑖</m:t>
                              </m:r>
                            </m:sub>
                          </m:sSub>
                        </m:e>
                      </m:nary>
                      <m:r>
                        <a:rPr lang="en-US" altLang="zh-CN" sz="2800" i="1" kern="100">
                          <a:effectLst/>
                          <a:latin typeface="Cambria Math" panose="02040503050406030204" pitchFamily="18" charset="0"/>
                        </a:rPr>
                        <m:t>+</m:t>
                      </m:r>
                      <m:nary>
                        <m:naryPr>
                          <m:chr m:val="∑"/>
                          <m:supHide m:val="on"/>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𝑖</m:t>
                          </m:r>
                          <m:r>
                            <a:rPr lang="en-US" altLang="zh-CN" sz="2800" i="1" kern="100">
                              <a:effectLst/>
                              <a:latin typeface="Cambria Math" panose="02040503050406030204" pitchFamily="18" charset="0"/>
                            </a:rPr>
                            <m:t>&lt;</m:t>
                          </m:r>
                          <m:r>
                            <a:rPr lang="en-US" altLang="zh-CN" sz="2800" i="1" kern="100">
                              <a:effectLst/>
                              <a:latin typeface="Cambria Math" panose="02040503050406030204" pitchFamily="18" charset="0"/>
                            </a:rPr>
                            <m:t>𝑗</m:t>
                          </m: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𝑎</m:t>
                              </m:r>
                            </m:e>
                            <m:sub>
                              <m:r>
                                <a:rPr lang="en-US" altLang="zh-CN" sz="2800" i="1" kern="100">
                                  <a:effectLst/>
                                  <a:latin typeface="Cambria Math" panose="02040503050406030204" pitchFamily="18" charset="0"/>
                                </a:rPr>
                                <m:t>𝑖𝑗</m:t>
                              </m:r>
                            </m:sub>
                          </m:sSub>
                        </m:e>
                      </m:nary>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𝑥</m:t>
                          </m:r>
                        </m:e>
                        <m:sub>
                          <m:r>
                            <a:rPr lang="en-US" altLang="zh-CN" sz="2800" i="1" kern="100">
                              <a:effectLst/>
                              <a:latin typeface="Cambria Math" panose="02040503050406030204" pitchFamily="18" charset="0"/>
                            </a:rPr>
                            <m:t>𝑖</m:t>
                          </m:r>
                        </m:sub>
                      </m:s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𝑥</m:t>
                          </m:r>
                        </m:e>
                        <m:sub>
                          <m:r>
                            <a:rPr lang="en-US" altLang="zh-CN" sz="2800" i="1" kern="100">
                              <a:effectLst/>
                              <a:latin typeface="Cambria Math" panose="02040503050406030204" pitchFamily="18" charset="0"/>
                            </a:rPr>
                            <m:t>𝑗</m:t>
                          </m:r>
                        </m:sub>
                      </m:sSub>
                      <m:r>
                        <a:rPr lang="en-US" altLang="zh-CN" sz="2800" i="1" kern="100">
                          <a:effectLst/>
                          <a:latin typeface="Cambria Math" panose="02040503050406030204" pitchFamily="18" charset="0"/>
                        </a:rPr>
                        <m:t>+⋯+</m:t>
                      </m:r>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𝑎</m:t>
                          </m:r>
                        </m:e>
                        <m:sub>
                          <m:r>
                            <a:rPr lang="en-US" altLang="zh-CN" sz="2800" i="1" kern="100">
                              <a:effectLst/>
                              <a:latin typeface="Cambria Math" panose="02040503050406030204" pitchFamily="18" charset="0"/>
                            </a:rPr>
                            <m:t>12⋯</m:t>
                          </m:r>
                          <m:r>
                            <a:rPr lang="en-US" altLang="zh-CN" sz="2800" i="1" kern="100">
                              <a:effectLst/>
                              <a:latin typeface="Cambria Math" panose="02040503050406030204" pitchFamily="18" charset="0"/>
                            </a:rPr>
                            <m:t>𝑛</m:t>
                          </m:r>
                        </m:sub>
                      </m:s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𝑥</m:t>
                          </m:r>
                        </m:e>
                        <m:sub>
                          <m:r>
                            <a:rPr lang="en-US" altLang="zh-CN" sz="2800" i="1" kern="100">
                              <a:effectLst/>
                              <a:latin typeface="Cambria Math" panose="02040503050406030204" pitchFamily="18" charset="0"/>
                            </a:rPr>
                            <m:t>1</m:t>
                          </m:r>
                        </m:sub>
                      </m:s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𝑥</m:t>
                          </m:r>
                        </m:e>
                        <m:sub>
                          <m:r>
                            <a:rPr lang="en-US" altLang="zh-CN" sz="2800" i="1" kern="100">
                              <a:effectLst/>
                              <a:latin typeface="Cambria Math" panose="02040503050406030204" pitchFamily="18" charset="0"/>
                            </a:rPr>
                            <m:t>2</m:t>
                          </m:r>
                        </m:sub>
                      </m:sSub>
                      <m:r>
                        <a:rPr lang="en-US" altLang="zh-CN" sz="2800" i="1" kern="100">
                          <a:effectLst/>
                          <a:latin typeface="Cambria Math" panose="02040503050406030204" pitchFamily="18" charset="0"/>
                        </a:rPr>
                        <m:t>⋯</m:t>
                      </m:r>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𝑥</m:t>
                          </m:r>
                        </m:e>
                        <m:sub>
                          <m:r>
                            <a:rPr lang="en-US" altLang="zh-CN" sz="2800" i="1" kern="100">
                              <a:effectLst/>
                              <a:latin typeface="Cambria Math" panose="02040503050406030204" pitchFamily="18" charset="0"/>
                            </a:rPr>
                            <m:t>𝑛</m:t>
                          </m:r>
                        </m:sub>
                      </m:sSub>
                      <m:r>
                        <a:rPr lang="en-US" altLang="zh-CN" sz="2800" kern="100">
                          <a:effectLst/>
                          <a:latin typeface="Cambria Math" panose="02040503050406030204" pitchFamily="18" charset="0"/>
                        </a:rPr>
                        <m:t>=</m:t>
                      </m:r>
                      <m:nary>
                        <m:naryPr>
                          <m:chr m:val="∑"/>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𝑟</m:t>
                          </m:r>
                          <m:r>
                            <a:rPr lang="en-US" altLang="zh-CN" sz="2800" i="1" kern="100">
                              <a:effectLst/>
                              <a:latin typeface="Cambria Math" panose="02040503050406030204" pitchFamily="18" charset="0"/>
                            </a:rPr>
                            <m:t>=0</m:t>
                          </m:r>
                        </m:sub>
                        <m:sup>
                          <m:r>
                            <a:rPr lang="en-US" altLang="zh-CN" sz="2800" i="1" kern="100">
                              <a:effectLst/>
                              <a:latin typeface="Cambria Math" panose="02040503050406030204" pitchFamily="18" charset="0"/>
                            </a:rPr>
                            <m:t>𝑛</m:t>
                          </m:r>
                        </m:sup>
                        <m:e>
                          <m:nary>
                            <m:naryPr>
                              <m:chr m:val="∑"/>
                              <m:supHide m:val="on"/>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1≤</m:t>
                              </m:r>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𝑖</m:t>
                                  </m:r>
                                </m:e>
                                <m:sub>
                                  <m:r>
                                    <a:rPr lang="en-US" altLang="zh-CN" sz="2800" i="1" kern="100">
                                      <a:effectLst/>
                                      <a:latin typeface="Cambria Math" panose="02040503050406030204" pitchFamily="18" charset="0"/>
                                    </a:rPr>
                                    <m:t>1</m:t>
                                  </m:r>
                                </m:sub>
                              </m:sSub>
                              <m:r>
                                <a:rPr lang="en-US" altLang="zh-CN" sz="2800" i="1" kern="100">
                                  <a:effectLst/>
                                  <a:latin typeface="Cambria Math" panose="02040503050406030204" pitchFamily="18" charset="0"/>
                                </a:rPr>
                                <m:t>&lt;</m:t>
                              </m:r>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𝑖</m:t>
                                  </m:r>
                                </m:e>
                                <m:sub>
                                  <m:r>
                                    <a:rPr lang="en-US" altLang="zh-CN" sz="2800" i="1" kern="100">
                                      <a:effectLst/>
                                      <a:latin typeface="Cambria Math" panose="02040503050406030204" pitchFamily="18" charset="0"/>
                                    </a:rPr>
                                    <m:t>2</m:t>
                                  </m:r>
                                </m:sub>
                              </m:sSub>
                              <m:r>
                                <a:rPr lang="en-US" altLang="zh-CN" sz="2800" i="1" kern="100">
                                  <a:effectLst/>
                                  <a:latin typeface="Cambria Math" panose="02040503050406030204" pitchFamily="18" charset="0"/>
                                </a:rPr>
                                <m:t>&lt;⋯&lt;</m:t>
                              </m:r>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𝑖</m:t>
                                  </m:r>
                                </m:e>
                                <m:sub>
                                  <m:r>
                                    <a:rPr lang="en-US" altLang="zh-CN" sz="2800" i="1" kern="100">
                                      <a:effectLst/>
                                      <a:latin typeface="Cambria Math" panose="02040503050406030204" pitchFamily="18" charset="0"/>
                                    </a:rPr>
                                    <m:t>𝑟</m:t>
                                  </m:r>
                                </m:sub>
                              </m:sSub>
                              <m:r>
                                <a:rPr lang="en-US" altLang="zh-CN" sz="2800" i="1" kern="100">
                                  <a:effectLst/>
                                  <a:latin typeface="Cambria Math" panose="02040503050406030204" pitchFamily="18" charset="0"/>
                                </a:rPr>
                                <m:t>≤</m:t>
                              </m:r>
                              <m:r>
                                <a:rPr lang="en-US" altLang="zh-CN" sz="2800" i="1" kern="100">
                                  <a:effectLst/>
                                  <a:latin typeface="Cambria Math" panose="02040503050406030204" pitchFamily="18" charset="0"/>
                                </a:rPr>
                                <m:t>𝑛</m:t>
                              </m: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𝑐</m:t>
                                  </m:r>
                                </m:e>
                                <m: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𝑖</m:t>
                                      </m:r>
                                    </m:e>
                                    <m:sub>
                                      <m:r>
                                        <a:rPr lang="en-US" altLang="zh-CN" sz="2800" i="1" kern="100">
                                          <a:effectLst/>
                                          <a:latin typeface="Cambria Math" panose="02040503050406030204" pitchFamily="18" charset="0"/>
                                        </a:rPr>
                                        <m:t>1</m:t>
                                      </m:r>
                                    </m:sub>
                                  </m:s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𝑖</m:t>
                                      </m:r>
                                    </m:e>
                                    <m:sub>
                                      <m:r>
                                        <a:rPr lang="en-US" altLang="zh-CN" sz="2800" i="1" kern="100">
                                          <a:effectLst/>
                                          <a:latin typeface="Cambria Math" panose="02040503050406030204" pitchFamily="18" charset="0"/>
                                        </a:rPr>
                                        <m:t>2</m:t>
                                      </m:r>
                                    </m:sub>
                                  </m:sSub>
                                  <m:r>
                                    <a:rPr lang="en-US" altLang="zh-CN" sz="2800" i="1" kern="100">
                                      <a:effectLst/>
                                      <a:latin typeface="Cambria Math" panose="02040503050406030204" pitchFamily="18" charset="0"/>
                                    </a:rPr>
                                    <m:t>⋯</m:t>
                                  </m:r>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𝑖</m:t>
                                      </m:r>
                                    </m:e>
                                    <m:sub>
                                      <m:r>
                                        <a:rPr lang="en-US" altLang="zh-CN" sz="2800" i="1" kern="100">
                                          <a:effectLst/>
                                          <a:latin typeface="Cambria Math" panose="02040503050406030204" pitchFamily="18" charset="0"/>
                                        </a:rPr>
                                        <m:t>𝑟</m:t>
                                      </m:r>
                                    </m:sub>
                                  </m:sSub>
                                </m:sub>
                              </m:sSub>
                            </m:e>
                          </m:nary>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𝑥</m:t>
                              </m:r>
                            </m:e>
                            <m: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𝑖</m:t>
                                  </m:r>
                                </m:e>
                                <m:sub>
                                  <m:r>
                                    <a:rPr lang="en-US" altLang="zh-CN" sz="2800" i="1" kern="100">
                                      <a:effectLst/>
                                      <a:latin typeface="Cambria Math" panose="02040503050406030204" pitchFamily="18" charset="0"/>
                                    </a:rPr>
                                    <m:t>1</m:t>
                                  </m:r>
                                </m:sub>
                              </m:sSub>
                            </m:sub>
                          </m:s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𝑥</m:t>
                              </m:r>
                            </m:e>
                            <m: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𝑖</m:t>
                                  </m:r>
                                </m:e>
                                <m:sub>
                                  <m:r>
                                    <a:rPr lang="en-US" altLang="zh-CN" sz="2800" i="1" kern="100">
                                      <a:effectLst/>
                                      <a:latin typeface="Cambria Math" panose="02040503050406030204" pitchFamily="18" charset="0"/>
                                    </a:rPr>
                                    <m:t>2</m:t>
                                  </m:r>
                                </m:sub>
                              </m:sSub>
                            </m:sub>
                          </m:sSub>
                          <m:r>
                            <a:rPr lang="en-US" altLang="zh-CN" sz="2800" i="1" kern="100">
                              <a:effectLst/>
                              <a:latin typeface="Cambria Math" panose="02040503050406030204" pitchFamily="18" charset="0"/>
                            </a:rPr>
                            <m:t>⋯</m:t>
                          </m:r>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𝑥</m:t>
                              </m:r>
                            </m:e>
                            <m:sub>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𝑖</m:t>
                                  </m:r>
                                </m:e>
                                <m:sub>
                                  <m:r>
                                    <a:rPr lang="en-US" altLang="zh-CN" sz="2800" i="1" kern="100">
                                      <a:effectLst/>
                                      <a:latin typeface="Cambria Math" panose="02040503050406030204" pitchFamily="18" charset="0"/>
                                    </a:rPr>
                                    <m:t>𝑟</m:t>
                                  </m:r>
                                </m:sub>
                              </m:sSub>
                            </m:sub>
                          </m:sSub>
                        </m:e>
                      </m:nary>
                    </m:oMath>
                  </m:oMathPara>
                </a14:m>
                <a:endParaRPr lang="zh-CN" altLang="zh-CN" sz="2800" kern="100" dirty="0">
                  <a:effectLst/>
                  <a:latin typeface="+mn-ea"/>
                </a:endParaRPr>
              </a:p>
              <a:p>
                <a:pPr marL="0" indent="0" algn="just">
                  <a:spcBef>
                    <a:spcPts val="0"/>
                  </a:spcBef>
                  <a:buNone/>
                </a:pPr>
                <a:r>
                  <a:rPr lang="en-US" altLang="zh-CN" sz="2800" kern="100" dirty="0">
                    <a:effectLst/>
                    <a:latin typeface="+mn-ea"/>
                  </a:rPr>
                  <a:t> </a:t>
                </a:r>
                <a:endParaRPr lang="zh-CN" altLang="zh-CN" sz="2800" kern="100" dirty="0">
                  <a:effectLst/>
                  <a:latin typeface="+mn-ea"/>
                </a:endParaRPr>
              </a:p>
              <a:p>
                <a:pPr marL="0" indent="0" algn="l">
                  <a:spcBef>
                    <a:spcPts val="0"/>
                  </a:spcBef>
                  <a:buNone/>
                </a:pPr>
                <a:r>
                  <a:rPr lang="zh-CN" altLang="zh-CN" sz="2800" kern="100" dirty="0">
                    <a:effectLst/>
                    <a:latin typeface="+mn-ea"/>
                  </a:rPr>
                  <a:t>这就是</a:t>
                </a:r>
                <a:r>
                  <a:rPr lang="zh-CN" altLang="zh-CN" sz="2800" kern="100" dirty="0">
                    <a:solidFill>
                      <a:srgbClr val="FF0000"/>
                    </a:solidFill>
                    <a:effectLst/>
                    <a:latin typeface="+mn-ea"/>
                  </a:rPr>
                  <a:t>布尔函数的</a:t>
                </a:r>
                <a:r>
                  <a:rPr lang="zh-CN" altLang="zh-CN" sz="2800" b="1" kern="100" dirty="0">
                    <a:solidFill>
                      <a:srgbClr val="FF0000"/>
                    </a:solidFill>
                    <a:effectLst/>
                    <a:latin typeface="+mn-ea"/>
                  </a:rPr>
                  <a:t>代数标准型</a:t>
                </a:r>
                <a:r>
                  <a:rPr lang="zh-CN" altLang="zh-CN" sz="2800" kern="100" dirty="0">
                    <a:effectLst/>
                    <a:latin typeface="+mn-ea"/>
                  </a:rPr>
                  <a:t>。</a:t>
                </a:r>
              </a:p>
              <a:p>
                <a:pPr marL="0" indent="0">
                  <a:spcBef>
                    <a:spcPts val="0"/>
                  </a:spcBef>
                  <a:buNone/>
                </a:pPr>
                <a:r>
                  <a:rPr lang="en-US" altLang="zh-CN" sz="2800" dirty="0">
                    <a:effectLst/>
                    <a:latin typeface="+mn-ea"/>
                  </a:rPr>
                  <a:t>        </a:t>
                </a:r>
                <a:endParaRPr lang="zh-CN" altLang="en-US" sz="2800" dirty="0">
                  <a:latin typeface="+mn-ea"/>
                </a:endParaRPr>
              </a:p>
            </p:txBody>
          </p:sp>
        </mc:Choice>
        <mc:Fallback xmlns="">
          <p:sp>
            <p:nvSpPr>
              <p:cNvPr id="3" name="内容占位符 2">
                <a:extLst>
                  <a:ext uri="{FF2B5EF4-FFF2-40B4-BE49-F238E27FC236}">
                    <a16:creationId xmlns:a16="http://schemas.microsoft.com/office/drawing/2014/main" id="{A907618B-AE81-4F43-9666-E05C36F9F6FF}"/>
                  </a:ext>
                </a:extLst>
              </p:cNvPr>
              <p:cNvSpPr>
                <a:spLocks noGrp="1" noRot="1" noChangeAspect="1" noMove="1" noResize="1" noEditPoints="1" noAdjustHandles="1" noChangeArrowheads="1" noChangeShapeType="1" noTextEdit="1"/>
              </p:cNvSpPr>
              <p:nvPr>
                <p:ph idx="1"/>
              </p:nvPr>
            </p:nvSpPr>
            <p:spPr>
              <a:xfrm>
                <a:off x="460375" y="991394"/>
                <a:ext cx="8915399" cy="5715793"/>
              </a:xfrm>
              <a:blipFill>
                <a:blip r:embed="rId2"/>
                <a:stretch>
                  <a:fillRect l="-1094" t="-107"/>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12DA2A59-22E8-4F56-9E1B-477609AFD9B8}"/>
              </a:ext>
            </a:extLst>
          </p:cNvPr>
          <p:cNvSpPr txBox="1"/>
          <p:nvPr/>
        </p:nvSpPr>
        <p:spPr>
          <a:xfrm>
            <a:off x="6556375" y="3048794"/>
            <a:ext cx="5410200" cy="3539430"/>
          </a:xfrm>
          <a:prstGeom prst="rect">
            <a:avLst/>
          </a:prstGeom>
          <a:noFill/>
        </p:spPr>
        <p:txBody>
          <a:bodyPr wrap="square">
            <a:spAutoFit/>
          </a:bodyPr>
          <a:lstStyle/>
          <a:p>
            <a:r>
              <a:rPr lang="zh-CN" altLang="zh-CN" sz="2800" b="1" dirty="0">
                <a:effectLst/>
                <a:latin typeface="+mn-ea"/>
                <a:cs typeface="Times New Roman" panose="02020603050405020304" pitchFamily="18" charset="0"/>
              </a:rPr>
              <a:t>在布尔函数</a:t>
            </a:r>
            <a:r>
              <a:rPr lang="en-US" altLang="zh-CN" sz="2800" b="1" dirty="0">
                <a:effectLst/>
                <a:latin typeface="+mn-ea"/>
              </a:rPr>
              <a:t> f(x) </a:t>
            </a:r>
            <a:r>
              <a:rPr lang="zh-CN" altLang="zh-CN" sz="2800" b="1" dirty="0">
                <a:effectLst/>
                <a:latin typeface="+mn-ea"/>
                <a:cs typeface="Times New Roman" panose="02020603050405020304" pitchFamily="18" charset="0"/>
              </a:rPr>
              <a:t>的代数标准型中，非零单项包含的最大变元个数称为</a:t>
            </a:r>
            <a:r>
              <a:rPr lang="en-US" altLang="zh-CN" sz="2800" b="1" dirty="0">
                <a:effectLst/>
                <a:latin typeface="+mn-ea"/>
              </a:rPr>
              <a:t>f(x)</a:t>
            </a:r>
            <a:r>
              <a:rPr lang="zh-CN" altLang="zh-CN" sz="2800" b="1" dirty="0">
                <a:effectLst/>
                <a:latin typeface="+mn-ea"/>
                <a:cs typeface="Times New Roman" panose="02020603050405020304" pitchFamily="18" charset="0"/>
              </a:rPr>
              <a:t>的</a:t>
            </a:r>
            <a:r>
              <a:rPr lang="zh-CN" altLang="zh-CN" sz="2800" b="1" dirty="0">
                <a:solidFill>
                  <a:srgbClr val="FF0000"/>
                </a:solidFill>
                <a:effectLst/>
                <a:latin typeface="+mn-ea"/>
                <a:cs typeface="Times New Roman" panose="02020603050405020304" pitchFamily="18" charset="0"/>
              </a:rPr>
              <a:t>次数</a:t>
            </a:r>
            <a:r>
              <a:rPr lang="zh-CN" altLang="zh-CN" sz="2800" b="1" dirty="0">
                <a:effectLst/>
                <a:latin typeface="+mn-ea"/>
                <a:cs typeface="Times New Roman" panose="02020603050405020304" pitchFamily="18" charset="0"/>
              </a:rPr>
              <a:t>，记为</a:t>
            </a:r>
            <a:r>
              <a:rPr lang="en-US" altLang="zh-CN" sz="2800" b="1" dirty="0">
                <a:solidFill>
                  <a:srgbClr val="0000FF"/>
                </a:solidFill>
                <a:effectLst/>
                <a:latin typeface="+mn-ea"/>
              </a:rPr>
              <a:t>deg f(x)</a:t>
            </a:r>
            <a:r>
              <a:rPr lang="zh-CN" altLang="zh-CN" sz="2800" b="1" dirty="0">
                <a:effectLst/>
                <a:latin typeface="+mn-ea"/>
                <a:cs typeface="Times New Roman" panose="02020603050405020304" pitchFamily="18" charset="0"/>
              </a:rPr>
              <a:t>。当</a:t>
            </a:r>
            <a:r>
              <a:rPr lang="en-US" altLang="zh-CN" sz="2800" b="1" dirty="0">
                <a:effectLst/>
                <a:latin typeface="+mn-ea"/>
              </a:rPr>
              <a:t>deg f(x) = 1</a:t>
            </a:r>
            <a:r>
              <a:rPr lang="zh-CN" altLang="zh-CN" sz="2800" b="1" dirty="0">
                <a:effectLst/>
                <a:latin typeface="+mn-ea"/>
                <a:cs typeface="Times New Roman" panose="02020603050405020304" pitchFamily="18" charset="0"/>
              </a:rPr>
              <a:t>时</a:t>
            </a:r>
            <a:r>
              <a:rPr lang="en-US" altLang="zh-CN" sz="2800" b="1" dirty="0">
                <a:effectLst/>
                <a:latin typeface="+mn-ea"/>
              </a:rPr>
              <a:t>, </a:t>
            </a:r>
            <a:r>
              <a:rPr lang="zh-CN" altLang="zh-CN" sz="2800" b="1" dirty="0">
                <a:effectLst/>
                <a:latin typeface="+mn-ea"/>
                <a:cs typeface="Times New Roman" panose="02020603050405020304" pitchFamily="18" charset="0"/>
              </a:rPr>
              <a:t>称</a:t>
            </a:r>
            <a:r>
              <a:rPr lang="en-US" altLang="zh-CN" sz="2800" b="1" dirty="0">
                <a:effectLst/>
                <a:latin typeface="+mn-ea"/>
              </a:rPr>
              <a:t>f(x)</a:t>
            </a:r>
            <a:r>
              <a:rPr lang="zh-CN" altLang="zh-CN" sz="2800" b="1" dirty="0">
                <a:effectLst/>
                <a:latin typeface="+mn-ea"/>
                <a:cs typeface="Times New Roman" panose="02020603050405020304" pitchFamily="18" charset="0"/>
              </a:rPr>
              <a:t>为</a:t>
            </a:r>
            <a:r>
              <a:rPr lang="zh-CN" altLang="zh-CN" sz="2800" b="1" dirty="0">
                <a:solidFill>
                  <a:srgbClr val="FF0000"/>
                </a:solidFill>
                <a:effectLst/>
                <a:latin typeface="+mn-ea"/>
                <a:cs typeface="Times New Roman" panose="02020603050405020304" pitchFamily="18" charset="0"/>
              </a:rPr>
              <a:t>线性布尔函数</a:t>
            </a:r>
            <a:r>
              <a:rPr lang="en-US" altLang="zh-CN" sz="2800" b="1" dirty="0">
                <a:effectLst/>
                <a:latin typeface="+mn-ea"/>
              </a:rPr>
              <a:t>;</a:t>
            </a:r>
            <a:r>
              <a:rPr lang="zh-CN" altLang="zh-CN" sz="2800" b="1" dirty="0">
                <a:effectLst/>
                <a:latin typeface="+mn-ea"/>
                <a:cs typeface="Times New Roman" panose="02020603050405020304" pitchFamily="18" charset="0"/>
              </a:rPr>
              <a:t>当</a:t>
            </a:r>
            <a:r>
              <a:rPr lang="en-US" altLang="zh-CN" sz="2800" b="1" dirty="0">
                <a:effectLst/>
                <a:latin typeface="+mn-ea"/>
              </a:rPr>
              <a:t>deg f(x) </a:t>
            </a:r>
            <a:r>
              <a:rPr lang="zh-CN" altLang="zh-CN" sz="2800" b="1" dirty="0">
                <a:effectLst/>
                <a:latin typeface="+mn-ea"/>
                <a:cs typeface="Times New Roman" panose="02020603050405020304" pitchFamily="18" charset="0"/>
              </a:rPr>
              <a:t>≥</a:t>
            </a:r>
            <a:r>
              <a:rPr lang="en-US" altLang="zh-CN" sz="2800" b="1" dirty="0">
                <a:effectLst/>
                <a:latin typeface="+mn-ea"/>
              </a:rPr>
              <a:t> 2</a:t>
            </a:r>
            <a:r>
              <a:rPr lang="zh-CN" altLang="zh-CN" sz="2800" b="1" dirty="0">
                <a:effectLst/>
                <a:latin typeface="+mn-ea"/>
                <a:cs typeface="Times New Roman" panose="02020603050405020304" pitchFamily="18" charset="0"/>
              </a:rPr>
              <a:t>时</a:t>
            </a:r>
            <a:r>
              <a:rPr lang="en-US" altLang="zh-CN" sz="2800" b="1" dirty="0">
                <a:effectLst/>
                <a:latin typeface="+mn-ea"/>
              </a:rPr>
              <a:t>, </a:t>
            </a:r>
            <a:r>
              <a:rPr lang="zh-CN" altLang="zh-CN" sz="2800" b="1" dirty="0">
                <a:effectLst/>
                <a:latin typeface="+mn-ea"/>
                <a:cs typeface="Times New Roman" panose="02020603050405020304" pitchFamily="18" charset="0"/>
              </a:rPr>
              <a:t>称</a:t>
            </a:r>
            <a:r>
              <a:rPr lang="en-US" altLang="zh-CN" sz="2800" b="1" dirty="0">
                <a:effectLst/>
                <a:latin typeface="+mn-ea"/>
              </a:rPr>
              <a:t>f(x)</a:t>
            </a:r>
            <a:r>
              <a:rPr lang="zh-CN" altLang="zh-CN" sz="2800" b="1" dirty="0">
                <a:effectLst/>
                <a:latin typeface="+mn-ea"/>
                <a:cs typeface="Times New Roman" panose="02020603050405020304" pitchFamily="18" charset="0"/>
              </a:rPr>
              <a:t>为</a:t>
            </a:r>
            <a:r>
              <a:rPr lang="zh-CN" altLang="zh-CN" sz="2800" b="1" dirty="0">
                <a:solidFill>
                  <a:srgbClr val="FF0000"/>
                </a:solidFill>
                <a:effectLst/>
                <a:latin typeface="+mn-ea"/>
                <a:cs typeface="Times New Roman" panose="02020603050405020304" pitchFamily="18" charset="0"/>
              </a:rPr>
              <a:t>非线性布尔函数</a:t>
            </a:r>
            <a:r>
              <a:rPr lang="zh-CN" altLang="zh-CN" sz="2800" b="1" dirty="0">
                <a:effectLst/>
                <a:latin typeface="+mn-ea"/>
                <a:cs typeface="Times New Roman" panose="02020603050405020304" pitchFamily="18" charset="0"/>
              </a:rPr>
              <a:t>。</a:t>
            </a:r>
            <a:r>
              <a:rPr lang="zh-CN" altLang="zh-CN" sz="2800" b="1" dirty="0">
                <a:solidFill>
                  <a:srgbClr val="0000FF"/>
                </a:solidFill>
                <a:effectLst/>
                <a:latin typeface="+mn-ea"/>
                <a:cs typeface="Times New Roman" panose="02020603050405020304" pitchFamily="18" charset="0"/>
              </a:rPr>
              <a:t>布尔函数的非线性度是分析流密码和分组密码安全性的重要密码学准则</a:t>
            </a:r>
            <a:r>
              <a:rPr lang="zh-CN" altLang="zh-CN" sz="2800" b="1" dirty="0">
                <a:effectLst/>
                <a:latin typeface="+mn-ea"/>
                <a:cs typeface="Times New Roman" panose="02020603050405020304" pitchFamily="18" charset="0"/>
              </a:rPr>
              <a:t>。</a:t>
            </a:r>
            <a:endParaRPr lang="zh-CN" altLang="en-US" sz="2800" b="1" dirty="0"/>
          </a:p>
        </p:txBody>
      </p:sp>
    </p:spTree>
    <p:extLst>
      <p:ext uri="{BB962C8B-B14F-4D97-AF65-F5344CB8AC3E}">
        <p14:creationId xmlns:p14="http://schemas.microsoft.com/office/powerpoint/2010/main" val="11353439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575176" y="762794"/>
            <a:ext cx="6629399" cy="5205255"/>
            <a:chOff x="4543029" y="1321619"/>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543029" y="1321619"/>
              <a:ext cx="6629399" cy="5205255"/>
              <a:chOff x="4543029" y="1321619"/>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543029" y="1321619"/>
                <a:ext cx="6629399" cy="5205255"/>
                <a:chOff x="4543029" y="1252677"/>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543029" y="1252677"/>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865966" y="5281893"/>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TextBox 1">
                  <a:extLst>
                    <a:ext uri="{FF2B5EF4-FFF2-40B4-BE49-F238E27FC236}">
                      <a16:creationId xmlns:a16="http://schemas.microsoft.com/office/drawing/2014/main" id="{CC1830B4-B7AE-4F4E-B2A2-7EA3C57296F9}"/>
                    </a:ext>
                  </a:extLst>
                </p:cNvPr>
                <p:cNvSpPr txBox="1"/>
                <p:nvPr/>
              </p:nvSpPr>
              <p:spPr>
                <a:xfrm>
                  <a:off x="6954055" y="2671643"/>
                  <a:ext cx="215443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格的定义和性质</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49641" y="3265020"/>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子格与格同态</a:t>
                  </a:r>
                </a:p>
              </p:txBody>
            </p:sp>
            <p:sp>
              <p:nvSpPr>
                <p:cNvPr id="108" name="Freeform 3">
                  <a:extLst>
                    <a:ext uri="{FF2B5EF4-FFF2-40B4-BE49-F238E27FC236}">
                      <a16:creationId xmlns:a16="http://schemas.microsoft.com/office/drawing/2014/main" id="{B90F0CC1-39D6-4CF7-88A9-B6AE46CF38C8}"/>
                    </a:ext>
                  </a:extLst>
                </p:cNvPr>
                <p:cNvSpPr/>
                <p:nvPr/>
              </p:nvSpPr>
              <p:spPr>
                <a:xfrm>
                  <a:off x="6698793" y="1740018"/>
                  <a:ext cx="45719" cy="4303249"/>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10" name="Freeform 3">
                  <a:extLst>
                    <a:ext uri="{FF2B5EF4-FFF2-40B4-BE49-F238E27FC236}">
                      <a16:creationId xmlns:a16="http://schemas.microsoft.com/office/drawing/2014/main" id="{4422CB3B-D0D5-4FEA-B0A8-30267AF052B1}"/>
                    </a:ext>
                  </a:extLst>
                </p:cNvPr>
                <p:cNvSpPr/>
                <p:nvPr/>
              </p:nvSpPr>
              <p:spPr>
                <a:xfrm>
                  <a:off x="6650495" y="2123063"/>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24104" y="332026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24104" y="379212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82518" y="3778915"/>
                  <a:ext cx="923330"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特殊格</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870609" y="4886187"/>
                  <a:ext cx="276998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格与布尔代数的应用</a:t>
                  </a:r>
                </a:p>
              </p:txBody>
            </p:sp>
            <p:sp>
              <p:nvSpPr>
                <p:cNvPr id="116" name="Freeform 3">
                  <a:extLst>
                    <a:ext uri="{FF2B5EF4-FFF2-40B4-BE49-F238E27FC236}">
                      <a16:creationId xmlns:a16="http://schemas.microsoft.com/office/drawing/2014/main" id="{74C8B829-18F9-4783-B4D6-E9A724B05A1B}"/>
                    </a:ext>
                  </a:extLst>
                </p:cNvPr>
                <p:cNvSpPr/>
                <p:nvPr/>
              </p:nvSpPr>
              <p:spPr>
                <a:xfrm>
                  <a:off x="6632575" y="4370731"/>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2575" y="4928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876646" y="2669024"/>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851892" y="3265019"/>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821174" y="3775870"/>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885928" y="4293662"/>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34524" y="2008516"/>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47502" y="5444665"/>
                  <a:ext cx="61555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62768" y="547201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841681" y="4861636"/>
                  <a:ext cx="740587"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10.5</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54055" y="4407251"/>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布尔代数</a:t>
                </a:r>
              </a:p>
            </p:txBody>
          </p:sp>
          <p:sp>
            <p:nvSpPr>
              <p:cNvPr id="50" name="TextBox 1">
                <a:extLst>
                  <a:ext uri="{FF2B5EF4-FFF2-40B4-BE49-F238E27FC236}">
                    <a16:creationId xmlns:a16="http://schemas.microsoft.com/office/drawing/2014/main" id="{159A0760-2207-4EDB-B452-50B7B83350F3}"/>
                  </a:ext>
                </a:extLst>
              </p:cNvPr>
              <p:cNvSpPr txBox="1"/>
              <p:nvPr/>
            </p:nvSpPr>
            <p:spPr>
              <a:xfrm>
                <a:off x="5885927" y="5498552"/>
                <a:ext cx="740587"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10.6</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2575" y="283137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74B836"/>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
        <p:nvSpPr>
          <p:cNvPr id="54" name="TextBox 1">
            <a:extLst>
              <a:ext uri="{FF2B5EF4-FFF2-40B4-BE49-F238E27FC236}">
                <a16:creationId xmlns:a16="http://schemas.microsoft.com/office/drawing/2014/main" id="{C509EFC9-30FF-4E14-86C4-EDDE9B6CEA07}"/>
              </a:ext>
            </a:extLst>
          </p:cNvPr>
          <p:cNvSpPr txBox="1"/>
          <p:nvPr/>
        </p:nvSpPr>
        <p:spPr>
          <a:xfrm>
            <a:off x="6890805" y="1542208"/>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Tree>
    <p:extLst>
      <p:ext uri="{BB962C8B-B14F-4D97-AF65-F5344CB8AC3E}">
        <p14:creationId xmlns:p14="http://schemas.microsoft.com/office/powerpoint/2010/main" val="4141884310"/>
      </p:ext>
    </p:extLst>
  </p:cSld>
  <p:clrMapOvr>
    <a:masterClrMapping/>
  </p:clrMapOvr>
  <p:transition spd="slow">
    <p:push di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63C4C8-084A-49BE-8892-7E87AF6ECAC7}"/>
              </a:ext>
            </a:extLst>
          </p:cNvPr>
          <p:cNvSpPr>
            <a:spLocks noGrp="1"/>
          </p:cNvSpPr>
          <p:nvPr>
            <p:ph type="title"/>
          </p:nvPr>
        </p:nvSpPr>
        <p:spPr/>
        <p:txBody>
          <a:bodyPr/>
          <a:lstStyle/>
          <a:p>
            <a:r>
              <a:rPr lang="zh-CN" altLang="en-US" dirty="0"/>
              <a:t>作业</a:t>
            </a:r>
          </a:p>
        </p:txBody>
      </p:sp>
      <p:sp>
        <p:nvSpPr>
          <p:cNvPr id="3" name="内容占位符 2">
            <a:extLst>
              <a:ext uri="{FF2B5EF4-FFF2-40B4-BE49-F238E27FC236}">
                <a16:creationId xmlns:a16="http://schemas.microsoft.com/office/drawing/2014/main" id="{E2808205-7807-4680-A9F4-B6E8D83137EE}"/>
              </a:ext>
            </a:extLst>
          </p:cNvPr>
          <p:cNvSpPr>
            <a:spLocks noGrp="1"/>
          </p:cNvSpPr>
          <p:nvPr>
            <p:ph idx="1"/>
          </p:nvPr>
        </p:nvSpPr>
        <p:spPr>
          <a:xfrm>
            <a:off x="1450975" y="1067594"/>
            <a:ext cx="6403657" cy="5363369"/>
          </a:xfrm>
        </p:spPr>
        <p:txBody>
          <a:bodyPr>
            <a:normAutofit lnSpcReduction="10000"/>
          </a:bodyPr>
          <a:lstStyle/>
          <a:p>
            <a:r>
              <a:rPr lang="en-US" altLang="zh-CN" dirty="0"/>
              <a:t>1. </a:t>
            </a:r>
            <a:r>
              <a:rPr lang="zh-CN" altLang="en-US" dirty="0"/>
              <a:t>（</a:t>
            </a:r>
            <a:r>
              <a:rPr lang="en-US" altLang="zh-CN" dirty="0"/>
              <a:t>2</a:t>
            </a:r>
            <a:r>
              <a:rPr lang="zh-CN" altLang="en-US" dirty="0"/>
              <a:t>）（</a:t>
            </a:r>
            <a:r>
              <a:rPr lang="en-US" altLang="zh-CN" dirty="0"/>
              <a:t>4</a:t>
            </a:r>
            <a:r>
              <a:rPr lang="zh-CN" altLang="en-US" dirty="0"/>
              <a:t>）（</a:t>
            </a:r>
            <a:r>
              <a:rPr lang="en-US" altLang="zh-CN" dirty="0"/>
              <a:t>6</a:t>
            </a:r>
            <a:r>
              <a:rPr lang="zh-CN" altLang="en-US" dirty="0"/>
              <a:t>）</a:t>
            </a:r>
            <a:endParaRPr lang="en-US" altLang="zh-CN" dirty="0"/>
          </a:p>
          <a:p>
            <a:r>
              <a:rPr lang="en-US" altLang="zh-CN" dirty="0"/>
              <a:t>2.</a:t>
            </a:r>
            <a:r>
              <a:rPr lang="zh-CN" altLang="en-US" dirty="0"/>
              <a:t>（</a:t>
            </a:r>
            <a:r>
              <a:rPr lang="en-US" altLang="zh-CN" dirty="0"/>
              <a:t>1</a:t>
            </a:r>
            <a:r>
              <a:rPr lang="zh-CN" altLang="en-US" dirty="0"/>
              <a:t>）（</a:t>
            </a:r>
            <a:r>
              <a:rPr lang="en-US" altLang="zh-CN" dirty="0"/>
              <a:t>3</a:t>
            </a:r>
            <a:r>
              <a:rPr lang="zh-CN" altLang="en-US" dirty="0"/>
              <a:t>）（</a:t>
            </a:r>
            <a:r>
              <a:rPr lang="en-US" altLang="zh-CN" dirty="0"/>
              <a:t>5</a:t>
            </a:r>
            <a:r>
              <a:rPr lang="zh-CN" altLang="en-US" dirty="0"/>
              <a:t>）</a:t>
            </a:r>
            <a:endParaRPr lang="en-US" altLang="zh-CN" dirty="0"/>
          </a:p>
          <a:p>
            <a:r>
              <a:rPr lang="en-US" altLang="zh-CN" dirty="0"/>
              <a:t>3.</a:t>
            </a:r>
          </a:p>
          <a:p>
            <a:r>
              <a:rPr lang="en-US" altLang="zh-CN" dirty="0"/>
              <a:t>5.  </a:t>
            </a:r>
            <a:r>
              <a:rPr lang="zh-CN" altLang="en-US" dirty="0"/>
              <a:t>表（</a:t>
            </a:r>
            <a:r>
              <a:rPr lang="en-US" altLang="zh-CN" dirty="0"/>
              <a:t>b</a:t>
            </a:r>
            <a:r>
              <a:rPr lang="zh-CN" altLang="en-US" dirty="0"/>
              <a:t>）</a:t>
            </a:r>
            <a:endParaRPr lang="en-US" altLang="zh-CN" dirty="0"/>
          </a:p>
          <a:p>
            <a:r>
              <a:rPr lang="en-US" altLang="zh-CN" dirty="0"/>
              <a:t>6.</a:t>
            </a:r>
            <a:r>
              <a:rPr lang="zh-CN" altLang="en-US" dirty="0"/>
              <a:t>（</a:t>
            </a:r>
            <a:r>
              <a:rPr lang="en-US" altLang="zh-CN" dirty="0"/>
              <a:t>2</a:t>
            </a:r>
            <a:r>
              <a:rPr lang="zh-CN" altLang="en-US" dirty="0"/>
              <a:t>）（</a:t>
            </a:r>
            <a:r>
              <a:rPr lang="en-US" altLang="zh-CN" dirty="0"/>
              <a:t>3</a:t>
            </a:r>
            <a:r>
              <a:rPr lang="zh-CN" altLang="en-US" dirty="0"/>
              <a:t>）</a:t>
            </a:r>
            <a:endParaRPr lang="en-US" altLang="zh-CN" dirty="0"/>
          </a:p>
          <a:p>
            <a:r>
              <a:rPr lang="en-US" altLang="zh-CN" dirty="0"/>
              <a:t>7.</a:t>
            </a:r>
          </a:p>
          <a:p>
            <a:r>
              <a:rPr lang="en-US" altLang="zh-CN" dirty="0"/>
              <a:t>10.</a:t>
            </a:r>
            <a:r>
              <a:rPr lang="zh-CN" altLang="en-US" dirty="0"/>
              <a:t>（</a:t>
            </a:r>
            <a:r>
              <a:rPr lang="en-US" altLang="zh-CN" dirty="0"/>
              <a:t>1</a:t>
            </a:r>
            <a:r>
              <a:rPr lang="zh-CN" altLang="en-US" dirty="0"/>
              <a:t>）（</a:t>
            </a:r>
            <a:r>
              <a:rPr lang="en-US" altLang="zh-CN" dirty="0"/>
              <a:t>3</a:t>
            </a:r>
            <a:r>
              <a:rPr lang="zh-CN" altLang="en-US" dirty="0"/>
              <a:t>）</a:t>
            </a:r>
            <a:endParaRPr lang="en-US" altLang="zh-CN" dirty="0"/>
          </a:p>
          <a:p>
            <a:r>
              <a:rPr lang="en-US" altLang="zh-CN" dirty="0"/>
              <a:t>11.</a:t>
            </a:r>
          </a:p>
          <a:p>
            <a:r>
              <a:rPr lang="en-US" altLang="zh-CN" dirty="0"/>
              <a:t>13.</a:t>
            </a:r>
          </a:p>
          <a:p>
            <a:r>
              <a:rPr lang="en-US" altLang="zh-CN" dirty="0"/>
              <a:t>15.</a:t>
            </a:r>
          </a:p>
          <a:p>
            <a:r>
              <a:rPr lang="en-US" altLang="zh-CN" dirty="0"/>
              <a:t>17.</a:t>
            </a:r>
          </a:p>
          <a:p>
            <a:endParaRPr lang="zh-CN" altLang="en-US" dirty="0"/>
          </a:p>
        </p:txBody>
      </p:sp>
    </p:spTree>
    <p:extLst>
      <p:ext uri="{BB962C8B-B14F-4D97-AF65-F5344CB8AC3E}">
        <p14:creationId xmlns:p14="http://schemas.microsoft.com/office/powerpoint/2010/main" val="14664400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6" name="矩形 5"/>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7" name="矩形 6"/>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4" name="椭圆 13"/>
          <p:cNvSpPr/>
          <p:nvPr/>
        </p:nvSpPr>
        <p:spPr>
          <a:xfrm>
            <a:off x="10095121" y="2480346"/>
            <a:ext cx="203200" cy="203200"/>
          </a:xfrm>
          <a:prstGeom prst="ellipse">
            <a:avLst/>
          </a:prstGeom>
          <a:solidFill>
            <a:srgbClr val="3E5CC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0095121" y="2727996"/>
            <a:ext cx="203200" cy="203200"/>
          </a:xfrm>
          <a:prstGeom prst="ellipse">
            <a:avLst/>
          </a:pr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0095121" y="2975646"/>
            <a:ext cx="203200" cy="203200"/>
          </a:xfrm>
          <a:prstGeom prst="ellipse">
            <a:avLst/>
          </a:prstGeom>
          <a:solidFill>
            <a:srgbClr val="F08E3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2611437" y="2134394"/>
            <a:ext cx="7006442" cy="1938992"/>
          </a:xfrm>
          <a:prstGeom prst="rect">
            <a:avLst/>
          </a:prstGeom>
          <a:noFill/>
        </p:spPr>
        <p:txBody>
          <a:bodyPr wrap="square" rtlCol="0">
            <a:spAutoFit/>
          </a:bodyPr>
          <a:lstStyle/>
          <a:p>
            <a:r>
              <a:rPr lang="en-US" altLang="zh-CN" sz="12000" b="1" dirty="0">
                <a:solidFill>
                  <a:schemeClr val="bg1"/>
                </a:solidFill>
                <a:latin typeface="微软雅黑" panose="020B0503020204020204" pitchFamily="34" charset="-122"/>
                <a:ea typeface="微软雅黑" panose="020B0503020204020204" pitchFamily="34" charset="-122"/>
              </a:rPr>
              <a:t>THANKS</a:t>
            </a:r>
            <a:endParaRPr lang="zh-CN" altLang="en-US" sz="1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53906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7.3|18.3|58.3"/>
</p:tagLst>
</file>

<file path=ppt/tags/tag2.xml><?xml version="1.0" encoding="utf-8"?>
<p:tagLst xmlns:a="http://schemas.openxmlformats.org/drawingml/2006/main" xmlns:r="http://schemas.openxmlformats.org/officeDocument/2006/relationships" xmlns:p="http://schemas.openxmlformats.org/presentationml/2006/main">
  <p:tag name="TIMING" val="|2|18.5"/>
</p:tagLst>
</file>

<file path=ppt/tags/tag3.xml><?xml version="1.0" encoding="utf-8"?>
<p:tagLst xmlns:a="http://schemas.openxmlformats.org/drawingml/2006/main" xmlns:r="http://schemas.openxmlformats.org/officeDocument/2006/relationships" xmlns:p="http://schemas.openxmlformats.org/presentationml/2006/main">
  <p:tag name="TIMING" val="|20|4.6"/>
</p:tagLst>
</file>

<file path=ppt/tags/tag4.xml><?xml version="1.0" encoding="utf-8"?>
<p:tagLst xmlns:a="http://schemas.openxmlformats.org/drawingml/2006/main" xmlns:r="http://schemas.openxmlformats.org/officeDocument/2006/relationships" xmlns:p="http://schemas.openxmlformats.org/presentationml/2006/main">
  <p:tag name="TIMING" val="|5.3|149.4"/>
</p:tagLst>
</file>

<file path=ppt/tags/tag5.xml><?xml version="1.0" encoding="utf-8"?>
<p:tagLst xmlns:a="http://schemas.openxmlformats.org/drawingml/2006/main" xmlns:r="http://schemas.openxmlformats.org/officeDocument/2006/relationships" xmlns:p="http://schemas.openxmlformats.org/presentationml/2006/main">
  <p:tag name="TIMING" val="|13.1|59|159.5|1|265.8"/>
</p:tagLst>
</file>

<file path=ppt/tags/tag6.xml><?xml version="1.0" encoding="utf-8"?>
<p:tagLst xmlns:a="http://schemas.openxmlformats.org/drawingml/2006/main" xmlns:r="http://schemas.openxmlformats.org/officeDocument/2006/relationships" xmlns:p="http://schemas.openxmlformats.org/presentationml/2006/main">
  <p:tag name="TIMING" val="|34.3|239.3|26.4|52.3"/>
</p:tagLst>
</file>

<file path=ppt/tags/tag7.xml><?xml version="1.0" encoding="utf-8"?>
<p:tagLst xmlns:a="http://schemas.openxmlformats.org/drawingml/2006/main" xmlns:r="http://schemas.openxmlformats.org/officeDocument/2006/relationships" xmlns:p="http://schemas.openxmlformats.org/presentationml/2006/main">
  <p:tag name="TIMING" val="|10.1|35.8|18.8|29.1"/>
</p:tagLst>
</file>

<file path=ppt/tags/tag8.xml><?xml version="1.0" encoding="utf-8"?>
<p:tagLst xmlns:a="http://schemas.openxmlformats.org/drawingml/2006/main" xmlns:r="http://schemas.openxmlformats.org/officeDocument/2006/relationships" xmlns:p="http://schemas.openxmlformats.org/presentationml/2006/main">
  <p:tag name="TIMING" val="|133.9"/>
</p:tagLst>
</file>

<file path=ppt/tags/tag9.xml><?xml version="1.0" encoding="utf-8"?>
<p:tagLst xmlns:a="http://schemas.openxmlformats.org/drawingml/2006/main" xmlns:r="http://schemas.openxmlformats.org/officeDocument/2006/relationships" xmlns:p="http://schemas.openxmlformats.org/presentationml/2006/main">
  <p:tag name="TIMING" val="|34.5|41.4|36.7"/>
</p:tagLst>
</file>

<file path=ppt/tags/tag10.xml><?xml version="1.0" encoding="utf-8"?>
<p:tagLst xmlns:a="http://schemas.openxmlformats.org/drawingml/2006/main" xmlns:r="http://schemas.openxmlformats.org/officeDocument/2006/relationships" xmlns:p="http://schemas.openxmlformats.org/presentationml/2006/main">
  <p:tag name="TIMING" val="|52.6"/>
</p:tagLst>
</file>

<file path=ppt/tags/tag11.xml><?xml version="1.0" encoding="utf-8"?>
<p:tagLst xmlns:a="http://schemas.openxmlformats.org/drawingml/2006/main" xmlns:r="http://schemas.openxmlformats.org/officeDocument/2006/relationships" xmlns:p="http://schemas.openxmlformats.org/presentationml/2006/main">
  <p:tag name="TIMING" val="|62.3|110.9|229.2|40.6|50.3|31.9|56.5|21"/>
</p:tagLst>
</file>

<file path=ppt/tags/tag12.xml><?xml version="1.0" encoding="utf-8"?>
<p:tagLst xmlns:a="http://schemas.openxmlformats.org/drawingml/2006/main" xmlns:r="http://schemas.openxmlformats.org/officeDocument/2006/relationships" xmlns:p="http://schemas.openxmlformats.org/presentationml/2006/main">
  <p:tag name="TIMING" val="|1.4|0.9|127.4"/>
</p:tagLst>
</file>

<file path=ppt/tags/tag13.xml><?xml version="1.0" encoding="utf-8"?>
<p:tagLst xmlns:a="http://schemas.openxmlformats.org/drawingml/2006/main" xmlns:r="http://schemas.openxmlformats.org/officeDocument/2006/relationships" xmlns:p="http://schemas.openxmlformats.org/presentationml/2006/main">
  <p:tag name="TIMING" val="|1|0.6|1.7|12.4|29.4|18.3|14|31.4|8.7"/>
</p:tagLst>
</file>

<file path=ppt/tags/tag14.xml><?xml version="1.0" encoding="utf-8"?>
<p:tagLst xmlns:a="http://schemas.openxmlformats.org/drawingml/2006/main" xmlns:r="http://schemas.openxmlformats.org/officeDocument/2006/relationships" xmlns:p="http://schemas.openxmlformats.org/presentationml/2006/main">
  <p:tag name="TIMING" val="|59.9|43.7"/>
</p:tagLst>
</file>

<file path=ppt/tags/tag15.xml><?xml version="1.0" encoding="utf-8"?>
<p:tagLst xmlns:a="http://schemas.openxmlformats.org/drawingml/2006/main" xmlns:r="http://schemas.openxmlformats.org/officeDocument/2006/relationships" xmlns:p="http://schemas.openxmlformats.org/presentationml/2006/main">
  <p:tag name="TIMING" val="|218|35.5|18.2|6.9|27.5|25.4"/>
</p:tagLst>
</file>

<file path=ppt/tags/tag16.xml><?xml version="1.0" encoding="utf-8"?>
<p:tagLst xmlns:a="http://schemas.openxmlformats.org/drawingml/2006/main" xmlns:r="http://schemas.openxmlformats.org/officeDocument/2006/relationships" xmlns:p="http://schemas.openxmlformats.org/presentationml/2006/main">
  <p:tag name="TIMING" val="|1.4|278.3|39.7|17.5|8.3|29.3|7.6"/>
</p:tagLst>
</file>

<file path=ppt/tags/tag17.xml><?xml version="1.0" encoding="utf-8"?>
<p:tagLst xmlns:a="http://schemas.openxmlformats.org/drawingml/2006/main" xmlns:r="http://schemas.openxmlformats.org/officeDocument/2006/relationships" xmlns:p="http://schemas.openxmlformats.org/presentationml/2006/main">
  <p:tag name="TIMING" val="|0.5|226.9|62.6|5.3|12.5|8.5|38|14.2|4.7"/>
</p:tagLst>
</file>

<file path=ppt/tags/tag18.xml><?xml version="1.0" encoding="utf-8"?>
<p:tagLst xmlns:a="http://schemas.openxmlformats.org/drawingml/2006/main" xmlns:r="http://schemas.openxmlformats.org/officeDocument/2006/relationships" xmlns:p="http://schemas.openxmlformats.org/presentationml/2006/main">
  <p:tag name="TIMING" val="|1.2|76.8"/>
</p:tagLst>
</file>

<file path=ppt/tags/tag19.xml><?xml version="1.0" encoding="utf-8"?>
<p:tagLst xmlns:a="http://schemas.openxmlformats.org/drawingml/2006/main" xmlns:r="http://schemas.openxmlformats.org/officeDocument/2006/relationships" xmlns:p="http://schemas.openxmlformats.org/presentationml/2006/main">
  <p:tag name="TIMING" val="|93.5|36.8"/>
</p:tagLst>
</file>

<file path=ppt/tags/tag20.xml><?xml version="1.0" encoding="utf-8"?>
<p:tagLst xmlns:a="http://schemas.openxmlformats.org/drawingml/2006/main" xmlns:r="http://schemas.openxmlformats.org/officeDocument/2006/relationships" xmlns:p="http://schemas.openxmlformats.org/presentationml/2006/main">
  <p:tag name="TIMING" val="|11.3|176.6|1.7|236.2|2.5"/>
</p:tagLst>
</file>

<file path=ppt/tags/tag21.xml><?xml version="1.0" encoding="utf-8"?>
<p:tagLst xmlns:a="http://schemas.openxmlformats.org/drawingml/2006/main" xmlns:r="http://schemas.openxmlformats.org/officeDocument/2006/relationships" xmlns:p="http://schemas.openxmlformats.org/presentationml/2006/main">
  <p:tag name="TIMING" val="|47.1"/>
</p:tagLst>
</file>

<file path=ppt/tags/tag22.xml><?xml version="1.0" encoding="utf-8"?>
<p:tagLst xmlns:a="http://schemas.openxmlformats.org/drawingml/2006/main" xmlns:r="http://schemas.openxmlformats.org/officeDocument/2006/relationships" xmlns:p="http://schemas.openxmlformats.org/presentationml/2006/main">
  <p:tag name="TIMING" val="|35.3|0.8|184.1|8.2|32.8|21.9|39.7"/>
</p:tagLst>
</file>

<file path=ppt/tags/tag23.xml><?xml version="1.0" encoding="utf-8"?>
<p:tagLst xmlns:a="http://schemas.openxmlformats.org/drawingml/2006/main" xmlns:r="http://schemas.openxmlformats.org/officeDocument/2006/relationships" xmlns:p="http://schemas.openxmlformats.org/presentationml/2006/main">
  <p:tag name="TIMING" val="|35|15.9|2.1|6.6|7.9|46"/>
</p:tagLst>
</file>

<file path=ppt/tags/tag24.xml><?xml version="1.0" encoding="utf-8"?>
<p:tagLst xmlns:a="http://schemas.openxmlformats.org/drawingml/2006/main" xmlns:r="http://schemas.openxmlformats.org/officeDocument/2006/relationships" xmlns:p="http://schemas.openxmlformats.org/presentationml/2006/main">
  <p:tag name="TIMING" val="|107.7|59.6|46.2"/>
</p:tagLst>
</file>

<file path=ppt/tags/tag25.xml><?xml version="1.0" encoding="utf-8"?>
<p:tagLst xmlns:a="http://schemas.openxmlformats.org/drawingml/2006/main" xmlns:r="http://schemas.openxmlformats.org/officeDocument/2006/relationships" xmlns:p="http://schemas.openxmlformats.org/presentationml/2006/main">
  <p:tag name="TIMING" val="|56.2|57.2|12.3|36|73.2"/>
</p:tagLst>
</file>

<file path=ppt/tags/tag26.xml><?xml version="1.0" encoding="utf-8"?>
<p:tagLst xmlns:a="http://schemas.openxmlformats.org/drawingml/2006/main" xmlns:r="http://schemas.openxmlformats.org/officeDocument/2006/relationships" xmlns:p="http://schemas.openxmlformats.org/presentationml/2006/main">
  <p:tag name="TIMING" val="|165|83.8|1.7"/>
</p:tagLst>
</file>

<file path=ppt/tags/tag27.xml><?xml version="1.0" encoding="utf-8"?>
<p:tagLst xmlns:a="http://schemas.openxmlformats.org/drawingml/2006/main" xmlns:r="http://schemas.openxmlformats.org/officeDocument/2006/relationships" xmlns:p="http://schemas.openxmlformats.org/presentationml/2006/main">
  <p:tag name="TIMING" val="|14.8|32.2|13.4|29.6"/>
</p:tagLst>
</file>

<file path=ppt/tags/tag28.xml><?xml version="1.0" encoding="utf-8"?>
<p:tagLst xmlns:a="http://schemas.openxmlformats.org/drawingml/2006/main" xmlns:r="http://schemas.openxmlformats.org/officeDocument/2006/relationships" xmlns:p="http://schemas.openxmlformats.org/presentationml/2006/main">
  <p:tag name="TIMING" val="|100.3|0.6|46.5"/>
</p:tagLst>
</file>

<file path=ppt/tags/tag29.xml><?xml version="1.0" encoding="utf-8"?>
<p:tagLst xmlns:a="http://schemas.openxmlformats.org/drawingml/2006/main" xmlns:r="http://schemas.openxmlformats.org/officeDocument/2006/relationships" xmlns:p="http://schemas.openxmlformats.org/presentationml/2006/main">
  <p:tag name="TIMING" val="|48|50.9|60|9.1|85.2|30.5|1.8"/>
</p:tagLst>
</file>

<file path=ppt/tags/tag30.xml><?xml version="1.0" encoding="utf-8"?>
<p:tagLst xmlns:a="http://schemas.openxmlformats.org/drawingml/2006/main" xmlns:r="http://schemas.openxmlformats.org/officeDocument/2006/relationships" xmlns:p="http://schemas.openxmlformats.org/presentationml/2006/main">
  <p:tag name="TIMING" val="|0.5|1.6|22.9|18|60.3"/>
</p:tagLst>
</file>

<file path=ppt/tags/tag31.xml><?xml version="1.0" encoding="utf-8"?>
<p:tagLst xmlns:a="http://schemas.openxmlformats.org/drawingml/2006/main" xmlns:r="http://schemas.openxmlformats.org/officeDocument/2006/relationships" xmlns:p="http://schemas.openxmlformats.org/presentationml/2006/main">
  <p:tag name="TIMING" val="|74.8|5.8|4.1|34.9|30|1.7|10|21.7"/>
</p:tagLst>
</file>

<file path=ppt/tags/tag32.xml><?xml version="1.0" encoding="utf-8"?>
<p:tagLst xmlns:a="http://schemas.openxmlformats.org/drawingml/2006/main" xmlns:r="http://schemas.openxmlformats.org/officeDocument/2006/relationships" xmlns:p="http://schemas.openxmlformats.org/presentationml/2006/main">
  <p:tag name="TIMING" val="|38.8"/>
</p:tagLst>
</file>

<file path=ppt/tags/tag33.xml><?xml version="1.0" encoding="utf-8"?>
<p:tagLst xmlns:a="http://schemas.openxmlformats.org/drawingml/2006/main" xmlns:r="http://schemas.openxmlformats.org/officeDocument/2006/relationships" xmlns:p="http://schemas.openxmlformats.org/presentationml/2006/main">
  <p:tag name="TIMING" val="|64.2|26.5|29.3|28.9|13.9"/>
</p:tagLst>
</file>

<file path=ppt/tags/tag34.xml><?xml version="1.0" encoding="utf-8"?>
<p:tagLst xmlns:a="http://schemas.openxmlformats.org/drawingml/2006/main" xmlns:r="http://schemas.openxmlformats.org/officeDocument/2006/relationships" xmlns:p="http://schemas.openxmlformats.org/presentationml/2006/main">
  <p:tag name="TIMING" val="|1.9|1.7|31.6|25.4|48"/>
</p:tagLst>
</file>

<file path=ppt/tags/tag35.xml><?xml version="1.0" encoding="utf-8"?>
<p:tagLst xmlns:a="http://schemas.openxmlformats.org/drawingml/2006/main" xmlns:r="http://schemas.openxmlformats.org/officeDocument/2006/relationships" xmlns:p="http://schemas.openxmlformats.org/presentationml/2006/main">
  <p:tag name="TIMING" val="|51.6|4.3|0.7|109"/>
</p:tagLst>
</file>

<file path=ppt/tags/tag36.xml><?xml version="1.0" encoding="utf-8"?>
<p:tagLst xmlns:a="http://schemas.openxmlformats.org/drawingml/2006/main" xmlns:r="http://schemas.openxmlformats.org/officeDocument/2006/relationships" xmlns:p="http://schemas.openxmlformats.org/presentationml/2006/main">
  <p:tag name="TIMING" val="|32.9|22.1|34.9|24.1"/>
</p:tagLst>
</file>

<file path=ppt/tags/tag37.xml><?xml version="1.0" encoding="utf-8"?>
<p:tagLst xmlns:a="http://schemas.openxmlformats.org/drawingml/2006/main" xmlns:r="http://schemas.openxmlformats.org/officeDocument/2006/relationships" xmlns:p="http://schemas.openxmlformats.org/presentationml/2006/main">
  <p:tag name="TIMING" val="|44.8"/>
</p:tagLst>
</file>

<file path=ppt/tags/tag38.xml><?xml version="1.0" encoding="utf-8"?>
<p:tagLst xmlns:a="http://schemas.openxmlformats.org/drawingml/2006/main" xmlns:r="http://schemas.openxmlformats.org/officeDocument/2006/relationships" xmlns:p="http://schemas.openxmlformats.org/presentationml/2006/main">
  <p:tag name="TIMING" val="|29.8|0.8|22|11.7"/>
</p:tagLst>
</file>

<file path=ppt/tags/tag39.xml><?xml version="1.0" encoding="utf-8"?>
<p:tagLst xmlns:a="http://schemas.openxmlformats.org/drawingml/2006/main" xmlns:r="http://schemas.openxmlformats.org/officeDocument/2006/relationships" xmlns:p="http://schemas.openxmlformats.org/presentationml/2006/main">
  <p:tag name="TIMING" val="|5|2.6|15.7|15.8|100.9"/>
</p:tagLst>
</file>

<file path=ppt/tags/tag40.xml><?xml version="1.0" encoding="utf-8"?>
<p:tagLst xmlns:a="http://schemas.openxmlformats.org/drawingml/2006/main" xmlns:r="http://schemas.openxmlformats.org/officeDocument/2006/relationships" xmlns:p="http://schemas.openxmlformats.org/presentationml/2006/main">
  <p:tag name="TIMING" val="|9.3|0.7|48.5|60.8|83.6|26.5|9.9|16.9"/>
</p:tagLst>
</file>

<file path=ppt/tags/tag41.xml><?xml version="1.0" encoding="utf-8"?>
<p:tagLst xmlns:a="http://schemas.openxmlformats.org/drawingml/2006/main" xmlns:r="http://schemas.openxmlformats.org/officeDocument/2006/relationships" xmlns:p="http://schemas.openxmlformats.org/presentationml/2006/main">
  <p:tag name="TIMING" val="|126.5|110.9|0.5|23.7"/>
</p:tagLst>
</file>

<file path=ppt/tags/tag42.xml><?xml version="1.0" encoding="utf-8"?>
<p:tagLst xmlns:a="http://schemas.openxmlformats.org/drawingml/2006/main" xmlns:r="http://schemas.openxmlformats.org/officeDocument/2006/relationships" xmlns:p="http://schemas.openxmlformats.org/presentationml/2006/main">
  <p:tag name="TIMING" val="|26.5|7.2|138|16.3|26.9|33.8|7.1|40.2|20.8|19|45.4|5.7|13.4"/>
</p:tagLst>
</file>

<file path=ppt/tags/tag43.xml><?xml version="1.0" encoding="utf-8"?>
<p:tagLst xmlns:a="http://schemas.openxmlformats.org/drawingml/2006/main" xmlns:r="http://schemas.openxmlformats.org/officeDocument/2006/relationships" xmlns:p="http://schemas.openxmlformats.org/presentationml/2006/main">
  <p:tag name="TIMING" val="|34.6|0.7|18.1|26.1|56.7"/>
</p:tagLst>
</file>

<file path=ppt/tags/tag44.xml><?xml version="1.0" encoding="utf-8"?>
<p:tagLst xmlns:a="http://schemas.openxmlformats.org/drawingml/2006/main" xmlns:r="http://schemas.openxmlformats.org/officeDocument/2006/relationships" xmlns:p="http://schemas.openxmlformats.org/presentationml/2006/main">
  <p:tag name="TIMING" val="|57.5|2.1|1.4|45.6|104.9|82|53.9|6.7|51.7|16.7"/>
</p:tagLst>
</file>

<file path=ppt/tags/tag45.xml><?xml version="1.0" encoding="utf-8"?>
<p:tagLst xmlns:a="http://schemas.openxmlformats.org/drawingml/2006/main" xmlns:r="http://schemas.openxmlformats.org/officeDocument/2006/relationships" xmlns:p="http://schemas.openxmlformats.org/presentationml/2006/main">
  <p:tag name="TIMING" val="|24.9"/>
</p:tagLst>
</file>

<file path=ppt/tags/tag46.xml><?xml version="1.0" encoding="utf-8"?>
<p:tagLst xmlns:a="http://schemas.openxmlformats.org/drawingml/2006/main" xmlns:r="http://schemas.openxmlformats.org/officeDocument/2006/relationships" xmlns:p="http://schemas.openxmlformats.org/presentationml/2006/main">
  <p:tag name="TIMING" val="|1.8|8.5|27.5|4.3|12.4|14.1"/>
</p:tagLst>
</file>

<file path=ppt/tags/tag47.xml><?xml version="1.0" encoding="utf-8"?>
<p:tagLst xmlns:a="http://schemas.openxmlformats.org/drawingml/2006/main" xmlns:r="http://schemas.openxmlformats.org/officeDocument/2006/relationships" xmlns:p="http://schemas.openxmlformats.org/presentationml/2006/main">
  <p:tag name="TIMING" val="|1.3|6.6|2.4|1|1.3|1.1"/>
</p:tagLst>
</file>

<file path=ppt/tags/tag48.xml><?xml version="1.0" encoding="utf-8"?>
<p:tagLst xmlns:a="http://schemas.openxmlformats.org/drawingml/2006/main" xmlns:r="http://schemas.openxmlformats.org/officeDocument/2006/relationships" xmlns:p="http://schemas.openxmlformats.org/presentationml/2006/main">
  <p:tag name="TIMING" val="|58.9"/>
</p:tagLst>
</file>

<file path=ppt/tags/tag49.xml><?xml version="1.0" encoding="utf-8"?>
<p:tagLst xmlns:a="http://schemas.openxmlformats.org/drawingml/2006/main" xmlns:r="http://schemas.openxmlformats.org/officeDocument/2006/relationships" xmlns:p="http://schemas.openxmlformats.org/presentationml/2006/main">
  <p:tag name="TIMING" val="|4.4|45.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33785</TotalTime>
  <Words>9575</Words>
  <Application>Microsoft Office PowerPoint</Application>
  <PresentationFormat>自定义</PresentationFormat>
  <Paragraphs>1098</Paragraphs>
  <Slides>73</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73</vt:i4>
      </vt:variant>
    </vt:vector>
  </HeadingPairs>
  <TitlesOfParts>
    <vt:vector size="84" baseType="lpstr">
      <vt:lpstr>Arial Unicode MS</vt:lpstr>
      <vt:lpstr>Microsoft YaHei UI</vt:lpstr>
      <vt:lpstr>等线</vt:lpstr>
      <vt:lpstr>华文行楷</vt:lpstr>
      <vt:lpstr>楷体</vt:lpstr>
      <vt:lpstr>微软雅黑</vt:lpstr>
      <vt:lpstr>Arial</vt:lpstr>
      <vt:lpstr>Cambria Math</vt:lpstr>
      <vt:lpstr>Times New Roman</vt:lpstr>
      <vt:lpstr>Wingdings</vt:lpstr>
      <vt:lpstr>Office Theme</vt:lpstr>
      <vt:lpstr>PowerPoint 演示文稿</vt:lpstr>
      <vt:lpstr>PowerPoint 演示文稿</vt:lpstr>
      <vt:lpstr>本章导读</vt:lpstr>
      <vt:lpstr>历史人物</vt:lpstr>
      <vt:lpstr>PowerPoint 演示文稿</vt:lpstr>
      <vt:lpstr>PowerPoint 演示文稿</vt:lpstr>
      <vt:lpstr>引言</vt:lpstr>
      <vt:lpstr>格的定义</vt:lpstr>
      <vt:lpstr>格的判定</vt:lpstr>
      <vt:lpstr>格的判定</vt:lpstr>
      <vt:lpstr>格的判定</vt:lpstr>
      <vt:lpstr>格的判定</vt:lpstr>
      <vt:lpstr>格的判定</vt:lpstr>
      <vt:lpstr>格的运算性质</vt:lpstr>
      <vt:lpstr>格的运算性质</vt:lpstr>
      <vt:lpstr>格的运算性质</vt:lpstr>
      <vt:lpstr>格的运算性质</vt:lpstr>
      <vt:lpstr>代数格的定义</vt:lpstr>
      <vt:lpstr>代数格偏序格</vt:lpstr>
      <vt:lpstr>代数格偏序格</vt:lpstr>
      <vt:lpstr>代数格偏序格</vt:lpstr>
      <vt:lpstr>代数格偏序格</vt:lpstr>
      <vt:lpstr>对偶格</vt:lpstr>
      <vt:lpstr>格的性质</vt:lpstr>
      <vt:lpstr>PowerPoint 演示文稿</vt:lpstr>
      <vt:lpstr>格的性质</vt:lpstr>
      <vt:lpstr>格的性质</vt:lpstr>
      <vt:lpstr>格的性质</vt:lpstr>
      <vt:lpstr>PowerPoint 演示文稿</vt:lpstr>
      <vt:lpstr>子格的定义</vt:lpstr>
      <vt:lpstr>子格的判定</vt:lpstr>
      <vt:lpstr>子格的判定</vt:lpstr>
      <vt:lpstr>理想的定义和判定</vt:lpstr>
      <vt:lpstr>格同态</vt:lpstr>
      <vt:lpstr>格同态</vt:lpstr>
      <vt:lpstr>PowerPoint 演示文稿</vt:lpstr>
      <vt:lpstr>特殊格</vt:lpstr>
      <vt:lpstr>分配格</vt:lpstr>
      <vt:lpstr>分配格</vt:lpstr>
      <vt:lpstr>分配格</vt:lpstr>
      <vt:lpstr>分配格</vt:lpstr>
      <vt:lpstr>分配格的判定</vt:lpstr>
      <vt:lpstr>分配格的判定</vt:lpstr>
      <vt:lpstr>分配格的判定</vt:lpstr>
      <vt:lpstr>模格</vt:lpstr>
      <vt:lpstr>模格的判定</vt:lpstr>
      <vt:lpstr>模格的判定</vt:lpstr>
      <vt:lpstr>分配格和模格的判定</vt:lpstr>
      <vt:lpstr>特殊格</vt:lpstr>
      <vt:lpstr>有界格</vt:lpstr>
      <vt:lpstr>有界格</vt:lpstr>
      <vt:lpstr>补元和有补格</vt:lpstr>
      <vt:lpstr>补元和有补格</vt:lpstr>
      <vt:lpstr>补元的求解</vt:lpstr>
      <vt:lpstr>补元和有补格</vt:lpstr>
      <vt:lpstr>有补分配格</vt:lpstr>
      <vt:lpstr>PowerPoint 演示文稿</vt:lpstr>
      <vt:lpstr>布尔代数</vt:lpstr>
      <vt:lpstr>布尔代数</vt:lpstr>
      <vt:lpstr>布尔代数</vt:lpstr>
      <vt:lpstr>最简单的布尔代数</vt:lpstr>
      <vt:lpstr>典型布尔代数</vt:lpstr>
      <vt:lpstr>PowerPoint 演示文稿</vt:lpstr>
      <vt:lpstr>10.5.1 格与树形图结构</vt:lpstr>
      <vt:lpstr>10.5.2 布尔函数及其表示</vt:lpstr>
      <vt:lpstr>布尔函数</vt:lpstr>
      <vt:lpstr>布尔函数表示：真值表</vt:lpstr>
      <vt:lpstr>布尔函数：小项表示</vt:lpstr>
      <vt:lpstr>布尔函数：多项式表示</vt:lpstr>
      <vt:lpstr>布尔函数的代数标准型</vt:lpstr>
      <vt:lpstr>PowerPoint 演示文稿</vt:lpstr>
      <vt:lpstr>作业</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A</cp:lastModifiedBy>
  <cp:revision>938</cp:revision>
  <cp:lastPrinted>2022-01-15T12:13:29Z</cp:lastPrinted>
  <dcterms:created xsi:type="dcterms:W3CDTF">2006-08-16T00:00:00Z</dcterms:created>
  <dcterms:modified xsi:type="dcterms:W3CDTF">2026-03-04T05:39:21Z</dcterms:modified>
</cp:coreProperties>
</file>