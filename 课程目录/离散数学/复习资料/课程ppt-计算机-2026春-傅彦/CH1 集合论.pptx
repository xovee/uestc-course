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1" r:id="rId2"/>
  </p:sldMasterIdLst>
  <p:notesMasterIdLst>
    <p:notesMasterId r:id="rId63"/>
  </p:notesMasterIdLst>
  <p:sldIdLst>
    <p:sldId id="256" r:id="rId3"/>
    <p:sldId id="476" r:id="rId4"/>
    <p:sldId id="459" r:id="rId5"/>
    <p:sldId id="465" r:id="rId6"/>
    <p:sldId id="467" r:id="rId7"/>
    <p:sldId id="474" r:id="rId8"/>
    <p:sldId id="396" r:id="rId9"/>
    <p:sldId id="397" r:id="rId10"/>
    <p:sldId id="398" r:id="rId11"/>
    <p:sldId id="399" r:id="rId12"/>
    <p:sldId id="401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1" r:id="rId22"/>
    <p:sldId id="450" r:id="rId23"/>
    <p:sldId id="412" r:id="rId24"/>
    <p:sldId id="451" r:id="rId25"/>
    <p:sldId id="477" r:id="rId26"/>
    <p:sldId id="413" r:id="rId27"/>
    <p:sldId id="414" r:id="rId28"/>
    <p:sldId id="415" r:id="rId29"/>
    <p:sldId id="416" r:id="rId30"/>
    <p:sldId id="417" r:id="rId31"/>
    <p:sldId id="418" r:id="rId32"/>
    <p:sldId id="452" r:id="rId33"/>
    <p:sldId id="419" r:id="rId34"/>
    <p:sldId id="478" r:id="rId35"/>
    <p:sldId id="420" r:id="rId36"/>
    <p:sldId id="421" r:id="rId37"/>
    <p:sldId id="422" r:id="rId38"/>
    <p:sldId id="424" r:id="rId39"/>
    <p:sldId id="425" r:id="rId40"/>
    <p:sldId id="426" r:id="rId41"/>
    <p:sldId id="483" r:id="rId42"/>
    <p:sldId id="479" r:id="rId43"/>
    <p:sldId id="427" r:id="rId44"/>
    <p:sldId id="428" r:id="rId45"/>
    <p:sldId id="429" r:id="rId46"/>
    <p:sldId id="430" r:id="rId47"/>
    <p:sldId id="455" r:id="rId48"/>
    <p:sldId id="432" r:id="rId49"/>
    <p:sldId id="433" r:id="rId50"/>
    <p:sldId id="434" r:id="rId51"/>
    <p:sldId id="435" r:id="rId52"/>
    <p:sldId id="456" r:id="rId53"/>
    <p:sldId id="437" r:id="rId54"/>
    <p:sldId id="438" r:id="rId55"/>
    <p:sldId id="480" r:id="rId56"/>
    <p:sldId id="439" r:id="rId57"/>
    <p:sldId id="440" r:id="rId58"/>
    <p:sldId id="441" r:id="rId59"/>
    <p:sldId id="481" r:id="rId60"/>
    <p:sldId id="442" r:id="rId61"/>
    <p:sldId id="268" r:id="rId62"/>
  </p:sldIdLst>
  <p:sldSz cx="12198350" cy="6859588"/>
  <p:notesSz cx="6858000" cy="9144000"/>
  <p:defaultTextStyle>
    <a:defPPr>
      <a:defRPr lang="en-US"/>
    </a:defPPr>
    <a:lvl1pPr marL="0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813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627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40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253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067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80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694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507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81">
          <p15:clr>
            <a:srgbClr val="A4A3A4"/>
          </p15:clr>
        </p15:guide>
        <p15:guide id="4" pos="38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74B836"/>
    <a:srgbClr val="1157AB"/>
    <a:srgbClr val="FF9933"/>
    <a:srgbClr val="FFFF00"/>
    <a:srgbClr val="1A8ABC"/>
    <a:srgbClr val="FFFFCC"/>
    <a:srgbClr val="358DA5"/>
    <a:srgbClr val="7CC43A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31" autoAdjust="0"/>
    <p:restoredTop sz="84554" autoAdjust="0"/>
  </p:normalViewPr>
  <p:slideViewPr>
    <p:cSldViewPr>
      <p:cViewPr varScale="1">
        <p:scale>
          <a:sx n="98" d="100"/>
          <a:sy n="98" d="100"/>
        </p:scale>
        <p:origin x="101" y="130"/>
      </p:cViewPr>
      <p:guideLst>
        <p:guide orient="horz" pos="2160"/>
        <p:guide pos="2880"/>
        <p:guide orient="horz" pos="2881"/>
        <p:guide pos="3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5202F-7878-4E07-BECC-B3FF5D4B8C96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9A62E-562E-489C-A724-CD843F364A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059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9A62E-562E-489C-A724-CD843F364A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881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39A62E-562E-489C-A724-CD843F364A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12196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264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r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E12841-2CDE-4203-A2F4-AE0FE6ECC20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12196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29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39A62E-562E-489C-A724-CD843F364A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12196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249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9A62E-562E-489C-A724-CD843F364A0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474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D51EFD0C-51C7-4A55-BEA1-90AAF6817BC1}" type="slidenum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/>
              <a:t>7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934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9AED6941-1733-4C5F-8193-339305F28957}" type="slidenum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/>
              <a:t>8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0851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9A62E-562E-489C-A724-CD843F364A0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027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84E0A148-5276-44BB-8422-C7F77348A13C}" type="slidenum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/>
              <a:t>10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2046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2D08389B-E6CB-45F1-9BF0-151F64B749E3}" type="slidenum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/>
              <a:t>17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4790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4B332C38-3C95-4120-9E4E-EB1243DEB81D}" type="slidenum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/>
              <a:t>20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7410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AD029098-5D24-468B-BCD5-23AD97FD6DD0}" type="slidenum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/>
              <a:t>22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4554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AD029098-5D24-468B-BCD5-23AD97FD6DD0}" type="slidenum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/>
              <a:t>23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8138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9A62E-562E-489C-A724-CD843F364A0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99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9A62E-562E-489C-A724-CD843F364A0E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841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086C2BD7-4B54-441A-9B86-B2194E7E39EA}" type="slidenum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/>
              <a:t>34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7224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9A62E-562E-489C-A724-CD843F364A0E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378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9A62E-562E-489C-A724-CD843F364A0E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7513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9A62E-562E-489C-A724-CD843F364A0E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9679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3240BF75-7008-414B-AB6D-301396E49F69}" type="slidenum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/>
              <a:t>57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9234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9A62E-562E-489C-A724-CD843F364A0E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122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E535CC77-9C4D-4DA3-AFBE-AFA1D426D25C}" type="slidenum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/>
              <a:t>59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184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876" y="2841225"/>
            <a:ext cx="10368598" cy="1960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753" y="5182800"/>
            <a:ext cx="8538845" cy="2337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9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5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3051" y="8535194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一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52424"/>
            <a:ext cx="5334000" cy="42941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43795"/>
            <a:ext cx="10978515" cy="5029200"/>
          </a:xfrm>
          <a:prstGeom prst="rect">
            <a:avLst/>
          </a:prstGeom>
        </p:spPr>
        <p:txBody>
          <a:bodyPr/>
          <a:lstStyle>
            <a:lvl1pPr marL="457360" indent="-457360">
              <a:lnSpc>
                <a:spcPct val="120000"/>
              </a:lnSpc>
              <a:buSzPct val="80000"/>
              <a:buFont typeface="Wingdings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两级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62744"/>
            <a:ext cx="6581775" cy="4000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600994"/>
            <a:ext cx="10978515" cy="4572000"/>
          </a:xfrm>
          <a:prstGeom prst="rect">
            <a:avLst/>
          </a:prstGeom>
        </p:spPr>
        <p:txBody>
          <a:bodyPr/>
          <a:lstStyle>
            <a:lvl1pPr marL="457360" indent="-457360">
              <a:lnSpc>
                <a:spcPct val="120000"/>
              </a:lnSpc>
              <a:buSzPct val="80000"/>
              <a:buFont typeface="Wingdings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41375" y="984137"/>
            <a:ext cx="10747058" cy="4644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SzPct val="80000"/>
              <a:buFont typeface="Wingdings" pitchFamily="2" charset="2"/>
              <a:buNone/>
              <a:defRPr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080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/>
          <p:cNvSpPr/>
          <p:nvPr userDrawn="1"/>
        </p:nvSpPr>
        <p:spPr>
          <a:xfrm>
            <a:off x="-73026" y="0"/>
            <a:ext cx="12271375" cy="6859588"/>
          </a:xfrm>
          <a:custGeom>
            <a:avLst/>
            <a:gdLst>
              <a:gd name="connsiteX0" fmla="*/ 0 w 9144000"/>
              <a:gd name="connsiteY0" fmla="*/ 5143500 h 5143500"/>
              <a:gd name="connsiteX1" fmla="*/ 9144000 w 9144000"/>
              <a:gd name="connsiteY1" fmla="*/ 5143500 h 5143500"/>
              <a:gd name="connsiteX2" fmla="*/ 9144000 w 9144000"/>
              <a:gd name="connsiteY2" fmla="*/ 0 h 5143500"/>
              <a:gd name="connsiteX3" fmla="*/ 0 w 9144000"/>
              <a:gd name="connsiteY3" fmla="*/ 0 h 5143500"/>
              <a:gd name="connsiteX4" fmla="*/ 0 w 9144000"/>
              <a:gd name="connsiteY4" fmla="*/ 5143500 h 5143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rgbClr val="ECECF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7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8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8" y="2047291"/>
            <a:ext cx="5389723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813" indent="0">
              <a:buNone/>
              <a:defRPr sz="2700" b="1"/>
            </a:lvl2pPr>
            <a:lvl3pPr marL="1219627" indent="0">
              <a:buNone/>
              <a:defRPr sz="2400" b="1"/>
            </a:lvl3pPr>
            <a:lvl4pPr marL="1829440" indent="0">
              <a:buNone/>
              <a:defRPr sz="2100" b="1"/>
            </a:lvl4pPr>
            <a:lvl5pPr marL="2439253" indent="0">
              <a:buNone/>
              <a:defRPr sz="2100" b="1"/>
            </a:lvl5pPr>
            <a:lvl6pPr marL="3049067" indent="0">
              <a:buNone/>
              <a:defRPr sz="2100" b="1"/>
            </a:lvl6pPr>
            <a:lvl7pPr marL="3658880" indent="0">
              <a:buNone/>
              <a:defRPr sz="2100" b="1"/>
            </a:lvl7pPr>
            <a:lvl8pPr marL="4268694" indent="0">
              <a:buNone/>
              <a:defRPr sz="2100" b="1"/>
            </a:lvl8pPr>
            <a:lvl9pPr marL="487850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918" y="2900505"/>
            <a:ext cx="5389723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593" y="2047291"/>
            <a:ext cx="5391840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813" indent="0">
              <a:buNone/>
              <a:defRPr sz="2700" b="1"/>
            </a:lvl2pPr>
            <a:lvl3pPr marL="1219627" indent="0">
              <a:buNone/>
              <a:defRPr sz="2400" b="1"/>
            </a:lvl3pPr>
            <a:lvl4pPr marL="1829440" indent="0">
              <a:buNone/>
              <a:defRPr sz="2100" b="1"/>
            </a:lvl4pPr>
            <a:lvl5pPr marL="2439253" indent="0">
              <a:buNone/>
              <a:defRPr sz="2100" b="1"/>
            </a:lvl5pPr>
            <a:lvl6pPr marL="3049067" indent="0">
              <a:buNone/>
              <a:defRPr sz="2100" b="1"/>
            </a:lvl6pPr>
            <a:lvl7pPr marL="3658880" indent="0">
              <a:buNone/>
              <a:defRPr sz="2100" b="1"/>
            </a:lvl7pPr>
            <a:lvl8pPr marL="4268694" indent="0">
              <a:buNone/>
              <a:defRPr sz="2100" b="1"/>
            </a:lvl8pPr>
            <a:lvl9pPr marL="487850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593" y="2900505"/>
            <a:ext cx="5391840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4151"/>
            <a:ext cx="4013173" cy="1549759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216" y="364152"/>
            <a:ext cx="6819216" cy="7805958"/>
          </a:xfrm>
          <a:prstGeom prst="rect">
            <a:avLst/>
          </a:prstGeo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918" y="1913910"/>
            <a:ext cx="4013173" cy="6256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813" indent="0">
              <a:buNone/>
              <a:defRPr sz="1600"/>
            </a:lvl2pPr>
            <a:lvl3pPr marL="1219627" indent="0">
              <a:buNone/>
              <a:defRPr sz="1300"/>
            </a:lvl3pPr>
            <a:lvl4pPr marL="1829440" indent="0">
              <a:buNone/>
              <a:defRPr sz="1200"/>
            </a:lvl4pPr>
            <a:lvl5pPr marL="2439253" indent="0">
              <a:buNone/>
              <a:defRPr sz="1200"/>
            </a:lvl5pPr>
            <a:lvl6pPr marL="3049067" indent="0">
              <a:buNone/>
              <a:defRPr sz="1200"/>
            </a:lvl6pPr>
            <a:lvl7pPr marL="3658880" indent="0">
              <a:buNone/>
              <a:defRPr sz="1200"/>
            </a:lvl7pPr>
            <a:lvl8pPr marL="4268694" indent="0">
              <a:buNone/>
              <a:defRPr sz="1200"/>
            </a:lvl8pPr>
            <a:lvl9pPr marL="487850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62" y="6402282"/>
            <a:ext cx="7319010" cy="755826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962" y="817223"/>
            <a:ext cx="7319010" cy="548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/>
            </a:lvl1pPr>
            <a:lvl2pPr marL="609813" indent="0">
              <a:buNone/>
              <a:defRPr sz="3700"/>
            </a:lvl2pPr>
            <a:lvl3pPr marL="1219627" indent="0">
              <a:buNone/>
              <a:defRPr sz="3200"/>
            </a:lvl3pPr>
            <a:lvl4pPr marL="1829440" indent="0">
              <a:buNone/>
              <a:defRPr sz="2700"/>
            </a:lvl4pPr>
            <a:lvl5pPr marL="2439253" indent="0">
              <a:buNone/>
              <a:defRPr sz="2700"/>
            </a:lvl5pPr>
            <a:lvl6pPr marL="3049067" indent="0">
              <a:buNone/>
              <a:defRPr sz="2700"/>
            </a:lvl6pPr>
            <a:lvl7pPr marL="3658880" indent="0">
              <a:buNone/>
              <a:defRPr sz="2700"/>
            </a:lvl7pPr>
            <a:lvl8pPr marL="4268694" indent="0">
              <a:buNone/>
              <a:defRPr sz="2700"/>
            </a:lvl8pPr>
            <a:lvl9pPr marL="4878507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962" y="7158108"/>
            <a:ext cx="7319010" cy="10733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813" indent="0">
              <a:buNone/>
              <a:defRPr sz="1600"/>
            </a:lvl2pPr>
            <a:lvl3pPr marL="1219627" indent="0">
              <a:buNone/>
              <a:defRPr sz="1300"/>
            </a:lvl3pPr>
            <a:lvl4pPr marL="1829440" indent="0">
              <a:buNone/>
              <a:defRPr sz="1200"/>
            </a:lvl4pPr>
            <a:lvl5pPr marL="2439253" indent="0">
              <a:buNone/>
              <a:defRPr sz="1200"/>
            </a:lvl5pPr>
            <a:lvl6pPr marL="3049067" indent="0">
              <a:buNone/>
              <a:defRPr sz="1200"/>
            </a:lvl6pPr>
            <a:lvl7pPr marL="3658880" indent="0">
              <a:buNone/>
              <a:defRPr sz="1200"/>
            </a:lvl7pPr>
            <a:lvl8pPr marL="4268694" indent="0">
              <a:buNone/>
              <a:defRPr sz="1200"/>
            </a:lvl8pPr>
            <a:lvl9pPr marL="487850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2134095"/>
            <a:ext cx="10978515" cy="603601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3804" y="366269"/>
            <a:ext cx="2744629" cy="780384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366269"/>
            <a:ext cx="8030580" cy="780384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876" y="2841225"/>
            <a:ext cx="10368598" cy="1960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753" y="5182800"/>
            <a:ext cx="8538845" cy="2337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9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5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3051" y="8535194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57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一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52424"/>
            <a:ext cx="5334000" cy="42941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43795"/>
            <a:ext cx="10978515" cy="5029200"/>
          </a:xfrm>
          <a:prstGeom prst="rect">
            <a:avLst/>
          </a:prstGeom>
        </p:spPr>
        <p:txBody>
          <a:bodyPr/>
          <a:lstStyle>
            <a:lvl1pPr marL="457360" indent="-457360">
              <a:lnSpc>
                <a:spcPct val="120000"/>
              </a:lnSpc>
              <a:buSzPct val="80000"/>
              <a:buFont typeface="Wingdings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003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两级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62744"/>
            <a:ext cx="6581775" cy="4000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600994"/>
            <a:ext cx="10978515" cy="4572000"/>
          </a:xfrm>
          <a:prstGeom prst="rect">
            <a:avLst/>
          </a:prstGeom>
        </p:spPr>
        <p:txBody>
          <a:bodyPr/>
          <a:lstStyle>
            <a:lvl1pPr marL="457360" indent="-457360">
              <a:lnSpc>
                <a:spcPct val="120000"/>
              </a:lnSpc>
              <a:buSzPct val="80000"/>
              <a:buFont typeface="Wingdings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41375" y="984137"/>
            <a:ext cx="10747058" cy="4644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SzPct val="80000"/>
              <a:buFont typeface="Wingdings" pitchFamily="2" charset="2"/>
              <a:buNone/>
              <a:defRPr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599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/>
          <p:cNvSpPr/>
          <p:nvPr userDrawn="1"/>
        </p:nvSpPr>
        <p:spPr>
          <a:xfrm>
            <a:off x="-73026" y="0"/>
            <a:ext cx="12271375" cy="6859588"/>
          </a:xfrm>
          <a:custGeom>
            <a:avLst/>
            <a:gdLst>
              <a:gd name="connsiteX0" fmla="*/ 0 w 9144000"/>
              <a:gd name="connsiteY0" fmla="*/ 5143500 h 5143500"/>
              <a:gd name="connsiteX1" fmla="*/ 9144000 w 9144000"/>
              <a:gd name="connsiteY1" fmla="*/ 5143500 h 5143500"/>
              <a:gd name="connsiteX2" fmla="*/ 9144000 w 9144000"/>
              <a:gd name="connsiteY2" fmla="*/ 0 h 5143500"/>
              <a:gd name="connsiteX3" fmla="*/ 0 w 9144000"/>
              <a:gd name="connsiteY3" fmla="*/ 0 h 5143500"/>
              <a:gd name="connsiteX4" fmla="*/ 0 w 9144000"/>
              <a:gd name="connsiteY4" fmla="*/ 5143500 h 5143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rgbClr val="ECECF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162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7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8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808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8" y="2047291"/>
            <a:ext cx="5389723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813" indent="0">
              <a:buNone/>
              <a:defRPr sz="2700" b="1"/>
            </a:lvl2pPr>
            <a:lvl3pPr marL="1219627" indent="0">
              <a:buNone/>
              <a:defRPr sz="2400" b="1"/>
            </a:lvl3pPr>
            <a:lvl4pPr marL="1829440" indent="0">
              <a:buNone/>
              <a:defRPr sz="2100" b="1"/>
            </a:lvl4pPr>
            <a:lvl5pPr marL="2439253" indent="0">
              <a:buNone/>
              <a:defRPr sz="2100" b="1"/>
            </a:lvl5pPr>
            <a:lvl6pPr marL="3049067" indent="0">
              <a:buNone/>
              <a:defRPr sz="2100" b="1"/>
            </a:lvl6pPr>
            <a:lvl7pPr marL="3658880" indent="0">
              <a:buNone/>
              <a:defRPr sz="2100" b="1"/>
            </a:lvl7pPr>
            <a:lvl8pPr marL="4268694" indent="0">
              <a:buNone/>
              <a:defRPr sz="2100" b="1"/>
            </a:lvl8pPr>
            <a:lvl9pPr marL="487850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918" y="2900505"/>
            <a:ext cx="5389723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593" y="2047291"/>
            <a:ext cx="5391840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813" indent="0">
              <a:buNone/>
              <a:defRPr sz="2700" b="1"/>
            </a:lvl2pPr>
            <a:lvl3pPr marL="1219627" indent="0">
              <a:buNone/>
              <a:defRPr sz="2400" b="1"/>
            </a:lvl3pPr>
            <a:lvl4pPr marL="1829440" indent="0">
              <a:buNone/>
              <a:defRPr sz="2100" b="1"/>
            </a:lvl4pPr>
            <a:lvl5pPr marL="2439253" indent="0">
              <a:buNone/>
              <a:defRPr sz="2100" b="1"/>
            </a:lvl5pPr>
            <a:lvl6pPr marL="3049067" indent="0">
              <a:buNone/>
              <a:defRPr sz="2100" b="1"/>
            </a:lvl6pPr>
            <a:lvl7pPr marL="3658880" indent="0">
              <a:buNone/>
              <a:defRPr sz="2100" b="1"/>
            </a:lvl7pPr>
            <a:lvl8pPr marL="4268694" indent="0">
              <a:buNone/>
              <a:defRPr sz="2100" b="1"/>
            </a:lvl8pPr>
            <a:lvl9pPr marL="487850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593" y="2900505"/>
            <a:ext cx="5391840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5090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25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4151"/>
            <a:ext cx="4013173" cy="1549759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216" y="364152"/>
            <a:ext cx="6819216" cy="7805958"/>
          </a:xfrm>
          <a:prstGeom prst="rect">
            <a:avLst/>
          </a:prstGeo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918" y="1913910"/>
            <a:ext cx="4013173" cy="6256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813" indent="0">
              <a:buNone/>
              <a:defRPr sz="1600"/>
            </a:lvl2pPr>
            <a:lvl3pPr marL="1219627" indent="0">
              <a:buNone/>
              <a:defRPr sz="1300"/>
            </a:lvl3pPr>
            <a:lvl4pPr marL="1829440" indent="0">
              <a:buNone/>
              <a:defRPr sz="1200"/>
            </a:lvl4pPr>
            <a:lvl5pPr marL="2439253" indent="0">
              <a:buNone/>
              <a:defRPr sz="1200"/>
            </a:lvl5pPr>
            <a:lvl6pPr marL="3049067" indent="0">
              <a:buNone/>
              <a:defRPr sz="1200"/>
            </a:lvl6pPr>
            <a:lvl7pPr marL="3658880" indent="0">
              <a:buNone/>
              <a:defRPr sz="1200"/>
            </a:lvl7pPr>
            <a:lvl8pPr marL="4268694" indent="0">
              <a:buNone/>
              <a:defRPr sz="1200"/>
            </a:lvl8pPr>
            <a:lvl9pPr marL="487850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644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62" y="6402282"/>
            <a:ext cx="7319010" cy="755826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962" y="817223"/>
            <a:ext cx="7319010" cy="548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/>
            </a:lvl1pPr>
            <a:lvl2pPr marL="609813" indent="0">
              <a:buNone/>
              <a:defRPr sz="3700"/>
            </a:lvl2pPr>
            <a:lvl3pPr marL="1219627" indent="0">
              <a:buNone/>
              <a:defRPr sz="3200"/>
            </a:lvl3pPr>
            <a:lvl4pPr marL="1829440" indent="0">
              <a:buNone/>
              <a:defRPr sz="2700"/>
            </a:lvl4pPr>
            <a:lvl5pPr marL="2439253" indent="0">
              <a:buNone/>
              <a:defRPr sz="2700"/>
            </a:lvl5pPr>
            <a:lvl6pPr marL="3049067" indent="0">
              <a:buNone/>
              <a:defRPr sz="2700"/>
            </a:lvl6pPr>
            <a:lvl7pPr marL="3658880" indent="0">
              <a:buNone/>
              <a:defRPr sz="2700"/>
            </a:lvl7pPr>
            <a:lvl8pPr marL="4268694" indent="0">
              <a:buNone/>
              <a:defRPr sz="2700"/>
            </a:lvl8pPr>
            <a:lvl9pPr marL="4878507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962" y="7158108"/>
            <a:ext cx="7319010" cy="10733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813" indent="0">
              <a:buNone/>
              <a:defRPr sz="1600"/>
            </a:lvl2pPr>
            <a:lvl3pPr marL="1219627" indent="0">
              <a:buNone/>
              <a:defRPr sz="1300"/>
            </a:lvl3pPr>
            <a:lvl4pPr marL="1829440" indent="0">
              <a:buNone/>
              <a:defRPr sz="1200"/>
            </a:lvl4pPr>
            <a:lvl5pPr marL="2439253" indent="0">
              <a:buNone/>
              <a:defRPr sz="1200"/>
            </a:lvl5pPr>
            <a:lvl6pPr marL="3049067" indent="0">
              <a:buNone/>
              <a:defRPr sz="1200"/>
            </a:lvl6pPr>
            <a:lvl7pPr marL="3658880" indent="0">
              <a:buNone/>
              <a:defRPr sz="1200"/>
            </a:lvl7pPr>
            <a:lvl8pPr marL="4268694" indent="0">
              <a:buNone/>
              <a:defRPr sz="1200"/>
            </a:lvl8pPr>
            <a:lvl9pPr marL="487850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3306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2134095"/>
            <a:ext cx="10978515" cy="603601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1525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3804" y="366269"/>
            <a:ext cx="2744629" cy="780384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366269"/>
            <a:ext cx="8030580" cy="780384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7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770" y="8477096"/>
            <a:ext cx="3862811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151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609521" y="1143794"/>
            <a:ext cx="10971372" cy="500036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0" y="332656"/>
            <a:ext cx="12198350" cy="432048"/>
          </a:xfrm>
          <a:prstGeom prst="rect">
            <a:avLst/>
          </a:prstGeom>
          <a:solidFill>
            <a:srgbClr val="3A418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0" y="764704"/>
            <a:ext cx="12198350" cy="7200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11280775" y="330107"/>
            <a:ext cx="485233" cy="48523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15"/>
          <p:cNvSpPr txBox="1"/>
          <p:nvPr userDrawn="1"/>
        </p:nvSpPr>
        <p:spPr>
          <a:xfrm>
            <a:off x="11283362" y="442092"/>
            <a:ext cx="4833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7927975" y="332656"/>
            <a:ext cx="2819400" cy="43204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章   集合论</a:t>
            </a: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0" name="等腰三角形 39">
            <a:hlinkClick r:id="" action="ppaction://hlinkshowjump?jump=previousslide"/>
          </p:cNvPr>
          <p:cNvSpPr/>
          <p:nvPr userDrawn="1"/>
        </p:nvSpPr>
        <p:spPr>
          <a:xfrm rot="5400000" flipH="1">
            <a:off x="3854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1" name="等腰三角形 40">
            <a:hlinkClick r:id="" action="ppaction://hlinkshowjump?jump=previousslide"/>
          </p:cNvPr>
          <p:cNvSpPr/>
          <p:nvPr userDrawn="1"/>
        </p:nvSpPr>
        <p:spPr>
          <a:xfrm rot="5400000" flipH="1">
            <a:off x="5251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2" name="等腰三角形 41">
            <a:hlinkClick r:id="" action="ppaction://hlinkshowjump?jump=previousslide"/>
          </p:cNvPr>
          <p:cNvSpPr/>
          <p:nvPr userDrawn="1"/>
        </p:nvSpPr>
        <p:spPr>
          <a:xfrm rot="5400000" flipH="1">
            <a:off x="65846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627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+mn-ea"/>
          <a:ea typeface="+mn-ea"/>
          <a:cs typeface="+mj-cs"/>
        </a:defRPr>
      </a:lvl1pPr>
    </p:titleStyle>
    <p:bodyStyle>
      <a:lvl1pPr marL="457360" indent="-457360" algn="l" defTabSz="1219627" rtl="0" eaLnBrk="1" latinLnBrk="0" hangingPunct="1">
        <a:lnSpc>
          <a:spcPct val="150000"/>
        </a:lnSpc>
        <a:spcBef>
          <a:spcPts val="0"/>
        </a:spcBef>
        <a:buSzPct val="80000"/>
        <a:buFont typeface="Wingdings" pitchFamily="2" charset="2"/>
        <a:buChar char="l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990947" indent="-381133" algn="l" defTabSz="1219627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524533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347" indent="-304907" algn="l" defTabSz="1219627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160" indent="-304907" algn="l" defTabSz="1219627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973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787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600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414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813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627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40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253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067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80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694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507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770" y="8477096"/>
            <a:ext cx="3862811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151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609521" y="1143794"/>
            <a:ext cx="10971372" cy="500036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0" y="332656"/>
            <a:ext cx="12198350" cy="432048"/>
          </a:xfrm>
          <a:prstGeom prst="rect">
            <a:avLst/>
          </a:prstGeom>
          <a:solidFill>
            <a:srgbClr val="3A418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0" y="764704"/>
            <a:ext cx="12198350" cy="7200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11280775" y="330107"/>
            <a:ext cx="485233" cy="48523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15"/>
          <p:cNvSpPr txBox="1"/>
          <p:nvPr userDrawn="1"/>
        </p:nvSpPr>
        <p:spPr>
          <a:xfrm>
            <a:off x="11283362" y="442092"/>
            <a:ext cx="4833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7927975" y="332656"/>
            <a:ext cx="2819400" cy="43204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本章导读</a:t>
            </a: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0" name="等腰三角形 39">
            <a:hlinkClick r:id="" action="ppaction://hlinkshowjump?jump=previousslide"/>
          </p:cNvPr>
          <p:cNvSpPr/>
          <p:nvPr userDrawn="1"/>
        </p:nvSpPr>
        <p:spPr>
          <a:xfrm rot="5400000" flipH="1">
            <a:off x="3854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1" name="等腰三角形 40">
            <a:hlinkClick r:id="" action="ppaction://hlinkshowjump?jump=previousslide"/>
          </p:cNvPr>
          <p:cNvSpPr/>
          <p:nvPr userDrawn="1"/>
        </p:nvSpPr>
        <p:spPr>
          <a:xfrm rot="5400000" flipH="1">
            <a:off x="5251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2" name="等腰三角形 41">
            <a:hlinkClick r:id="" action="ppaction://hlinkshowjump?jump=previousslide"/>
          </p:cNvPr>
          <p:cNvSpPr/>
          <p:nvPr userDrawn="1"/>
        </p:nvSpPr>
        <p:spPr>
          <a:xfrm rot="5400000" flipH="1">
            <a:off x="65846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135670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1219627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+mn-ea"/>
          <a:ea typeface="+mn-ea"/>
          <a:cs typeface="+mj-cs"/>
        </a:defRPr>
      </a:lvl1pPr>
    </p:titleStyle>
    <p:bodyStyle>
      <a:lvl1pPr marL="457360" indent="-457360" algn="l" defTabSz="1219627" rtl="0" eaLnBrk="1" latinLnBrk="0" hangingPunct="1">
        <a:lnSpc>
          <a:spcPct val="150000"/>
        </a:lnSpc>
        <a:spcBef>
          <a:spcPts val="0"/>
        </a:spcBef>
        <a:buSzPct val="80000"/>
        <a:buFont typeface="Wingdings" pitchFamily="2" charset="2"/>
        <a:buChar char="l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990947" indent="-381133" algn="l" defTabSz="1219627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524533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347" indent="-304907" algn="l" defTabSz="1219627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160" indent="-304907" algn="l" defTabSz="1219627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973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787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600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414" indent="-304907" algn="l" defTabSz="121962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813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627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40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253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067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80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694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507" algn="l" defTabSz="121962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emf"/><Relationship Id="rId5" Type="http://schemas.openxmlformats.org/officeDocument/2006/relationships/image" Target="../media/image4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18.png"/><Relationship Id="rId9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3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6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19.bin"/><Relationship Id="rId3" Type="http://schemas.openxmlformats.org/officeDocument/2006/relationships/image" Target="../media/image15.wmf"/><Relationship Id="rId21" Type="http://schemas.openxmlformats.org/officeDocument/2006/relationships/image" Target="../media/image24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22.wmf"/><Relationship Id="rId25" Type="http://schemas.openxmlformats.org/officeDocument/2006/relationships/image" Target="../media/image26.wmf"/><Relationship Id="rId2" Type="http://schemas.openxmlformats.org/officeDocument/2006/relationships/oleObject" Target="../embeddings/oleObject7.bin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9.emf"/><Relationship Id="rId24" Type="http://schemas.openxmlformats.org/officeDocument/2006/relationships/oleObject" Target="../embeddings/oleObject18.bin"/><Relationship Id="rId5" Type="http://schemas.openxmlformats.org/officeDocument/2006/relationships/image" Target="../media/image16.wmf"/><Relationship Id="rId15" Type="http://schemas.openxmlformats.org/officeDocument/2006/relationships/image" Target="../media/image21.emf"/><Relationship Id="rId23" Type="http://schemas.openxmlformats.org/officeDocument/2006/relationships/image" Target="../media/image25.emf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23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2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32.emf"/><Relationship Id="rId3" Type="http://schemas.openxmlformats.org/officeDocument/2006/relationships/image" Target="../media/image48.png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31.emf"/><Relationship Id="rId5" Type="http://schemas.openxmlformats.org/officeDocument/2006/relationships/image" Target="../media/image28.wmf"/><Relationship Id="rId15" Type="http://schemas.openxmlformats.org/officeDocument/2006/relationships/image" Target="../media/image33.e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2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0.wmf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54.png"/><Relationship Id="rId5" Type="http://schemas.openxmlformats.org/officeDocument/2006/relationships/image" Target="../media/image29.wmf"/><Relationship Id="rId10" Type="http://schemas.openxmlformats.org/officeDocument/2006/relationships/image" Target="../media/image53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5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" y="0"/>
            <a:ext cx="12198350" cy="68595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322796" y="1109298"/>
            <a:ext cx="4560279" cy="95415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  <a:latin typeface="+mn-ea"/>
              </a:rPr>
              <a:t>《</a:t>
            </a:r>
            <a:r>
              <a:rPr lang="zh-CN" altLang="en-US" sz="5400" dirty="0">
                <a:solidFill>
                  <a:schemeClr val="bg1"/>
                </a:solidFill>
                <a:latin typeface="+mn-ea"/>
              </a:rPr>
              <a:t>离散数学</a:t>
            </a:r>
            <a:r>
              <a:rPr lang="en-US" altLang="zh-CN" sz="5400" dirty="0">
                <a:solidFill>
                  <a:schemeClr val="bg1"/>
                </a:solidFill>
                <a:latin typeface="+mn-ea"/>
              </a:rPr>
              <a:t>》</a:t>
            </a:r>
            <a:endParaRPr lang="zh-CN" altLang="en-US" sz="5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27375" y="2435421"/>
            <a:ext cx="2076056" cy="861817"/>
          </a:xfrm>
          <a:prstGeom prst="rect">
            <a:avLst/>
          </a:prstGeom>
          <a:solidFill>
            <a:srgbClr val="28A7E1"/>
          </a:solidFill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+mn-ea"/>
              </a:rPr>
              <a:t>第一章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2575" y="2583648"/>
            <a:ext cx="1946669" cy="615596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+mn-ea"/>
              </a:rPr>
              <a:t>集合论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4975" y="3609601"/>
            <a:ext cx="5746509" cy="1231149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</a:rPr>
              <a:t>电子科技大学  计算机科学与工程学院</a:t>
            </a:r>
            <a:endParaRPr lang="en-US" altLang="zh-CN" dirty="0">
              <a:solidFill>
                <a:schemeClr val="bg1"/>
              </a:solidFill>
              <a:latin typeface="+mn-ea"/>
            </a:endParaRPr>
          </a:p>
          <a:p>
            <a:endParaRPr lang="en-US" altLang="zh-CN" dirty="0">
              <a:solidFill>
                <a:schemeClr val="bg1"/>
              </a:solidFill>
              <a:latin typeface="+mn-ea"/>
            </a:endParaRPr>
          </a:p>
          <a:p>
            <a:r>
              <a:rPr lang="en-US" altLang="zh-CN" dirty="0">
                <a:solidFill>
                  <a:srgbClr val="00B0F0"/>
                </a:solidFill>
                <a:latin typeface="+mn-ea"/>
              </a:rPr>
              <a:t>                          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傅    彦</a:t>
            </a:r>
            <a:r>
              <a:rPr lang="zh-CN" altLang="en-US" dirty="0">
                <a:solidFill>
                  <a:srgbClr val="00B0F0"/>
                </a:solidFill>
                <a:latin typeface="+mn-ea"/>
              </a:rPr>
              <a:t>    </a:t>
            </a:r>
          </a:p>
        </p:txBody>
      </p:sp>
      <p:sp>
        <p:nvSpPr>
          <p:cNvPr id="22" name="矩形 21"/>
          <p:cNvSpPr/>
          <p:nvPr/>
        </p:nvSpPr>
        <p:spPr>
          <a:xfrm>
            <a:off x="2258147" y="2210312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258147" y="4801394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556375" y="1420581"/>
            <a:ext cx="3200400" cy="492485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Discrete Mathematics</a:t>
            </a:r>
            <a:endParaRPr lang="zh-CN" altLang="en-US" sz="18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47487" y="2728361"/>
            <a:ext cx="45719" cy="3217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26BFA4BB-BA3B-3C12-0E37-6546EC87427D}"/>
              </a:ext>
            </a:extLst>
          </p:cNvPr>
          <p:cNvSpPr/>
          <p:nvPr/>
        </p:nvSpPr>
        <p:spPr>
          <a:xfrm>
            <a:off x="4422775" y="610394"/>
            <a:ext cx="6629399" cy="5205255"/>
          </a:xfrm>
          <a:custGeom>
            <a:avLst/>
            <a:gdLst>
              <a:gd name="connsiteX0" fmla="*/ 0 w 7560564"/>
              <a:gd name="connsiteY0" fmla="*/ 282448 h 3275076"/>
              <a:gd name="connsiteX1" fmla="*/ 282473 w 7560564"/>
              <a:gd name="connsiteY1" fmla="*/ 0 h 3275076"/>
              <a:gd name="connsiteX2" fmla="*/ 7278116 w 7560564"/>
              <a:gd name="connsiteY2" fmla="*/ 0 h 3275076"/>
              <a:gd name="connsiteX3" fmla="*/ 7560563 w 7560564"/>
              <a:gd name="connsiteY3" fmla="*/ 282448 h 3275076"/>
              <a:gd name="connsiteX4" fmla="*/ 7560563 w 7560564"/>
              <a:gd name="connsiteY4" fmla="*/ 2992602 h 3275076"/>
              <a:gd name="connsiteX5" fmla="*/ 7278116 w 7560564"/>
              <a:gd name="connsiteY5" fmla="*/ 3275075 h 3275076"/>
              <a:gd name="connsiteX6" fmla="*/ 282473 w 7560564"/>
              <a:gd name="connsiteY6" fmla="*/ 3275075 h 3275076"/>
              <a:gd name="connsiteX7" fmla="*/ 0 w 7560564"/>
              <a:gd name="connsiteY7" fmla="*/ 2992602 h 3275076"/>
              <a:gd name="connsiteX8" fmla="*/ 0 w 7560564"/>
              <a:gd name="connsiteY8" fmla="*/ 282448 h 327507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7560564" h="3275076">
                <a:moveTo>
                  <a:pt x="0" y="282448"/>
                </a:moveTo>
                <a:cubicBezTo>
                  <a:pt x="0" y="126492"/>
                  <a:pt x="126466" y="0"/>
                  <a:pt x="282473" y="0"/>
                </a:cubicBezTo>
                <a:lnTo>
                  <a:pt x="7278116" y="0"/>
                </a:lnTo>
                <a:cubicBezTo>
                  <a:pt x="7434071" y="0"/>
                  <a:pt x="7560563" y="126492"/>
                  <a:pt x="7560563" y="282448"/>
                </a:cubicBezTo>
                <a:lnTo>
                  <a:pt x="7560563" y="2992602"/>
                </a:lnTo>
                <a:cubicBezTo>
                  <a:pt x="7560563" y="3148609"/>
                  <a:pt x="7434071" y="3275075"/>
                  <a:pt x="7278116" y="3275075"/>
                </a:cubicBezTo>
                <a:lnTo>
                  <a:pt x="282473" y="3275075"/>
                </a:lnTo>
                <a:cubicBezTo>
                  <a:pt x="126466" y="3275075"/>
                  <a:pt x="0" y="3148609"/>
                  <a:pt x="0" y="2992602"/>
                </a:cubicBezTo>
                <a:lnTo>
                  <a:pt x="0" y="282448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5757541" y="1294125"/>
            <a:ext cx="4913633" cy="48292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"/>
          <p:cNvSpPr txBox="1"/>
          <p:nvPr/>
        </p:nvSpPr>
        <p:spPr>
          <a:xfrm>
            <a:off x="7013575" y="1404605"/>
            <a:ext cx="2769989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本章导读及学习要求</a:t>
            </a:r>
          </a:p>
        </p:txBody>
      </p:sp>
      <p:sp>
        <p:nvSpPr>
          <p:cNvPr id="47" name="TextBox 1"/>
          <p:cNvSpPr txBox="1"/>
          <p:nvPr/>
        </p:nvSpPr>
        <p:spPr>
          <a:xfrm>
            <a:off x="7013575" y="2169919"/>
            <a:ext cx="215443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集合的基本概念</a:t>
            </a:r>
          </a:p>
        </p:txBody>
      </p:sp>
      <p:sp>
        <p:nvSpPr>
          <p:cNvPr id="48" name="TextBox 1"/>
          <p:cNvSpPr txBox="1"/>
          <p:nvPr/>
        </p:nvSpPr>
        <p:spPr>
          <a:xfrm>
            <a:off x="7013575" y="2748914"/>
            <a:ext cx="123110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特殊集合</a:t>
            </a:r>
          </a:p>
        </p:txBody>
      </p:sp>
      <p:sp>
        <p:nvSpPr>
          <p:cNvPr id="51" name="Freeform 3"/>
          <p:cNvSpPr/>
          <p:nvPr/>
        </p:nvSpPr>
        <p:spPr>
          <a:xfrm>
            <a:off x="6698357" y="1036117"/>
            <a:ext cx="45719" cy="4250998"/>
          </a:xfrm>
          <a:custGeom>
            <a:avLst/>
            <a:gdLst>
              <a:gd name="connsiteX0" fmla="*/ 6350 w 21844"/>
              <a:gd name="connsiteY0" fmla="*/ 6350 h 879855"/>
              <a:gd name="connsiteX1" fmla="*/ 6350 w 21844"/>
              <a:gd name="connsiteY1" fmla="*/ 873506 h 8798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879855">
                <a:moveTo>
                  <a:pt x="6350" y="6350"/>
                </a:moveTo>
                <a:lnTo>
                  <a:pt x="6350" y="873506"/>
                </a:lnTo>
              </a:path>
            </a:pathLst>
          </a:custGeom>
          <a:ln w="12700">
            <a:solidFill>
              <a:srgbClr val="A4B3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2" name="Freeform 3"/>
          <p:cNvSpPr/>
          <p:nvPr/>
        </p:nvSpPr>
        <p:spPr>
          <a:xfrm>
            <a:off x="6632575" y="144565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3" name="Freeform 3"/>
          <p:cNvSpPr/>
          <p:nvPr/>
        </p:nvSpPr>
        <p:spPr>
          <a:xfrm>
            <a:off x="6632575" y="221488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74B83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4" name="Freeform 3"/>
          <p:cNvSpPr/>
          <p:nvPr/>
        </p:nvSpPr>
        <p:spPr>
          <a:xfrm>
            <a:off x="6632575" y="2811507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1"/>
          <p:cNvSpPr txBox="1"/>
          <p:nvPr/>
        </p:nvSpPr>
        <p:spPr>
          <a:xfrm>
            <a:off x="545294" y="2704702"/>
            <a:ext cx="1846659" cy="835956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6936"/>
              </a:lnSpc>
            </a:pPr>
            <a:r>
              <a:rPr lang="zh-CN" altLang="en-US" sz="3600" b="1" dirty="0">
                <a:solidFill>
                  <a:srgbClr val="4197DF"/>
                </a:solidFill>
                <a:latin typeface="Microsoft YaHei UI" pitchFamily="18" charset="0"/>
                <a:cs typeface="Microsoft YaHei UI" pitchFamily="18" charset="0"/>
              </a:rPr>
              <a:t>内容导航</a:t>
            </a:r>
            <a:endParaRPr lang="en-US" altLang="zh-CN" sz="3600" b="1" dirty="0">
              <a:solidFill>
                <a:srgbClr val="4197DF"/>
              </a:solidFill>
              <a:latin typeface="Microsoft YaHei UI" pitchFamily="18" charset="0"/>
              <a:cs typeface="Microsoft YaHei UI" pitchFamily="18" charset="0"/>
            </a:endParaRPr>
          </a:p>
        </p:txBody>
      </p:sp>
      <p:sp>
        <p:nvSpPr>
          <p:cNvPr id="57" name="TextBox 1"/>
          <p:cNvSpPr txBox="1"/>
          <p:nvPr/>
        </p:nvSpPr>
        <p:spPr>
          <a:xfrm>
            <a:off x="545293" y="3518639"/>
            <a:ext cx="1846659" cy="272596"/>
          </a:xfrm>
          <a:prstGeom prst="rect">
            <a:avLst/>
          </a:prstGeom>
          <a:noFill/>
        </p:spPr>
        <p:txBody>
          <a:bodyPr wrap="square" lIns="0" tIns="0" rIns="0" bIns="60981" rtlCol="0">
            <a:spAutoFit/>
          </a:bodyPr>
          <a:lstStyle/>
          <a:p>
            <a:pPr algn="dist">
              <a:lnSpc>
                <a:spcPts val="1601"/>
              </a:lnSpc>
            </a:pPr>
            <a:r>
              <a:rPr lang="en-US" altLang="zh-CN" sz="1900" b="1" dirty="0">
                <a:solidFill>
                  <a:srgbClr val="4197DF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9" name="矩形 58"/>
          <p:cNvSpPr/>
          <p:nvPr/>
        </p:nvSpPr>
        <p:spPr>
          <a:xfrm>
            <a:off x="518434" y="2201849"/>
            <a:ext cx="1873520" cy="702656"/>
          </a:xfrm>
          <a:prstGeom prst="rect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/>
          <p:cNvCxnSpPr/>
          <p:nvPr/>
        </p:nvCxnSpPr>
        <p:spPr>
          <a:xfrm>
            <a:off x="536575" y="7699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536575" y="2484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536575" y="405607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536575" y="577057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536575" y="71993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536575" y="89138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36575" y="10485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536575" y="1219994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536575" y="1404371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36575" y="154724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36575" y="171869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36575" y="1875858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36575" y="2047308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2000250" y="6254294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/>
        </p:nvSpPr>
        <p:spPr>
          <a:xfrm>
            <a:off x="2381250" y="5840443"/>
            <a:ext cx="674915" cy="101325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/>
        </p:nvSpPr>
        <p:spPr>
          <a:xfrm>
            <a:off x="3146878" y="6329700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>
            <a:off x="95250" y="5621722"/>
            <a:ext cx="1066800" cy="123197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等腰三角形 36"/>
          <p:cNvSpPr/>
          <p:nvPr/>
        </p:nvSpPr>
        <p:spPr>
          <a:xfrm>
            <a:off x="876300" y="6254294"/>
            <a:ext cx="381000" cy="513301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1"/>
          <p:cNvSpPr txBox="1"/>
          <p:nvPr/>
        </p:nvSpPr>
        <p:spPr>
          <a:xfrm>
            <a:off x="7013575" y="3328534"/>
            <a:ext cx="153888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集合的运算</a:t>
            </a:r>
          </a:p>
        </p:txBody>
      </p:sp>
      <p:sp>
        <p:nvSpPr>
          <p:cNvPr id="39" name="TextBox 1"/>
          <p:cNvSpPr txBox="1"/>
          <p:nvPr/>
        </p:nvSpPr>
        <p:spPr>
          <a:xfrm>
            <a:off x="7030855" y="3897744"/>
            <a:ext cx="923330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无限集</a:t>
            </a:r>
          </a:p>
        </p:txBody>
      </p:sp>
      <p:sp>
        <p:nvSpPr>
          <p:cNvPr id="40" name="Freeform 3"/>
          <p:cNvSpPr/>
          <p:nvPr/>
        </p:nvSpPr>
        <p:spPr>
          <a:xfrm>
            <a:off x="6632575" y="3388308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 3"/>
          <p:cNvSpPr/>
          <p:nvPr/>
        </p:nvSpPr>
        <p:spPr>
          <a:xfrm>
            <a:off x="6632575" y="3948385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2" name="TextBox 1"/>
          <p:cNvSpPr txBox="1"/>
          <p:nvPr/>
        </p:nvSpPr>
        <p:spPr>
          <a:xfrm>
            <a:off x="6048108" y="2176789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1.1</a:t>
            </a:r>
          </a:p>
        </p:txBody>
      </p:sp>
      <p:sp>
        <p:nvSpPr>
          <p:cNvPr id="43" name="TextBox 1"/>
          <p:cNvSpPr txBox="1"/>
          <p:nvPr/>
        </p:nvSpPr>
        <p:spPr>
          <a:xfrm>
            <a:off x="6048108" y="2750579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1.2</a:t>
            </a:r>
          </a:p>
        </p:txBody>
      </p:sp>
      <p:sp>
        <p:nvSpPr>
          <p:cNvPr id="44" name="TextBox 1"/>
          <p:cNvSpPr txBox="1"/>
          <p:nvPr/>
        </p:nvSpPr>
        <p:spPr>
          <a:xfrm>
            <a:off x="6048108" y="3337508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1.3</a:t>
            </a:r>
          </a:p>
        </p:txBody>
      </p:sp>
      <p:sp>
        <p:nvSpPr>
          <p:cNvPr id="45" name="TextBox 1"/>
          <p:cNvSpPr txBox="1"/>
          <p:nvPr/>
        </p:nvSpPr>
        <p:spPr>
          <a:xfrm>
            <a:off x="6048108" y="3918607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1.4</a:t>
            </a:r>
          </a:p>
        </p:txBody>
      </p:sp>
      <p:sp>
        <p:nvSpPr>
          <p:cNvPr id="77" name="等腰三角形 76"/>
          <p:cNvSpPr/>
          <p:nvPr/>
        </p:nvSpPr>
        <p:spPr>
          <a:xfrm>
            <a:off x="6190430" y="1367953"/>
            <a:ext cx="304800" cy="26709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TextBox 1"/>
          <p:cNvSpPr txBox="1"/>
          <p:nvPr/>
        </p:nvSpPr>
        <p:spPr>
          <a:xfrm>
            <a:off x="7011024" y="4466163"/>
            <a:ext cx="246221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与集合相关的应用</a:t>
            </a:r>
          </a:p>
        </p:txBody>
      </p:sp>
      <p:sp>
        <p:nvSpPr>
          <p:cNvPr id="81" name="Freeform 3"/>
          <p:cNvSpPr/>
          <p:nvPr/>
        </p:nvSpPr>
        <p:spPr>
          <a:xfrm>
            <a:off x="6642724" y="450930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"/>
          <p:cNvSpPr txBox="1"/>
          <p:nvPr/>
        </p:nvSpPr>
        <p:spPr>
          <a:xfrm>
            <a:off x="6058257" y="4479531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1.5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FDA7A11-E754-4EA2-E528-360794ADB1F7}"/>
              </a:ext>
            </a:extLst>
          </p:cNvPr>
          <p:cNvSpPr txBox="1"/>
          <p:nvPr/>
        </p:nvSpPr>
        <p:spPr>
          <a:xfrm>
            <a:off x="6998534" y="5008303"/>
            <a:ext cx="61555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作业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CB95781C-5009-FE00-0312-E8DEAD218C6B}"/>
              </a:ext>
            </a:extLst>
          </p:cNvPr>
          <p:cNvSpPr/>
          <p:nvPr/>
        </p:nvSpPr>
        <p:spPr>
          <a:xfrm>
            <a:off x="6630234" y="505144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BFCB515F-250D-6EFF-F900-24F3C122B1B4}"/>
              </a:ext>
            </a:extLst>
          </p:cNvPr>
          <p:cNvSpPr txBox="1"/>
          <p:nvPr/>
        </p:nvSpPr>
        <p:spPr>
          <a:xfrm>
            <a:off x="6045767" y="5021671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1.6</a:t>
            </a:r>
          </a:p>
        </p:txBody>
      </p:sp>
    </p:spTree>
    <p:extLst>
      <p:ext uri="{BB962C8B-B14F-4D97-AF65-F5344CB8AC3E}">
        <p14:creationId xmlns:p14="http://schemas.microsoft.com/office/powerpoint/2010/main" val="87713941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决策 3">
            <a:extLst>
              <a:ext uri="{FF2B5EF4-FFF2-40B4-BE49-F238E27FC236}">
                <a16:creationId xmlns:a16="http://schemas.microsoft.com/office/drawing/2014/main" id="{0B4EF44B-D78B-476F-8FEE-77B49F915973}"/>
              </a:ext>
            </a:extLst>
          </p:cNvPr>
          <p:cNvSpPr/>
          <p:nvPr/>
        </p:nvSpPr>
        <p:spPr>
          <a:xfrm>
            <a:off x="1207905" y="4344194"/>
            <a:ext cx="4876800" cy="17526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集合论</a:t>
            </a:r>
          </a:p>
        </p:txBody>
      </p:sp>
      <p:pic>
        <p:nvPicPr>
          <p:cNvPr id="16386" name="Picture 2" descr="https://gimg2.baidu.com/image_search/src=http%3A%2F%2Fp2.itc.cn%2Fq_70%2Fimages03%2F20200619%2Fb10cdc3151354d8b9a3bc0dbf846a307.jpeg&amp;refer=http%3A%2F%2Fp2.itc.cn&amp;app=2002&amp;size=f9999,10000&amp;q=a80&amp;n=0&amp;g=0n&amp;fmt=jpeg?sec=1635560542&amp;t=f2245d94c561e60454a1d4589be45db2">
            <a:extLst>
              <a:ext uri="{FF2B5EF4-FFF2-40B4-BE49-F238E27FC236}">
                <a16:creationId xmlns:a16="http://schemas.microsoft.com/office/drawing/2014/main" id="{FC1A5ED3-DF94-4779-BCFE-A4F80C9DA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75" y="1296194"/>
            <a:ext cx="6096000" cy="44958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E84B912-0F26-4616-AF43-BFB321CE3DF6}"/>
              </a:ext>
            </a:extLst>
          </p:cNvPr>
          <p:cNvSpPr txBox="1"/>
          <p:nvPr/>
        </p:nvSpPr>
        <p:spPr>
          <a:xfrm>
            <a:off x="3417705" y="2125711"/>
            <a:ext cx="838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数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学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大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厦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C30D6-43BE-4CD0-83AB-C255F903845E}"/>
              </a:ext>
            </a:extLst>
          </p:cNvPr>
          <p:cNvSpPr/>
          <p:nvPr/>
        </p:nvSpPr>
        <p:spPr>
          <a:xfrm>
            <a:off x="6383094" y="2125711"/>
            <a:ext cx="549922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121962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集合论的起源可以追溯到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16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世纪末期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CE261E-74B6-4CAD-AD68-12B9EEBE563E}"/>
              </a:ext>
            </a:extLst>
          </p:cNvPr>
          <p:cNvSpPr/>
          <p:nvPr/>
        </p:nvSpPr>
        <p:spPr>
          <a:xfrm>
            <a:off x="6383093" y="3105110"/>
            <a:ext cx="57358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1879-1884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康托尔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发表了一些列关于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集合论研究的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文章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奠定了集合论的深厚基础。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4E7700E-D435-4F7B-B878-2F31ED5F3C6A}"/>
              </a:ext>
            </a:extLst>
          </p:cNvPr>
          <p:cNvSpPr txBox="1">
            <a:spLocks noChangeArrowheads="1"/>
          </p:cNvSpPr>
          <p:nvPr/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数学大厦的基石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—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集合论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512082F-6B45-48F1-9952-43AF105EB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094" y="4483942"/>
            <a:ext cx="5234327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1219627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集合论是所有科技领域不可缺少的数学工具和表达语言，计算机科学及其应用研究也不例外。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394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31775" y="1680102"/>
            <a:ext cx="71506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假设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：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任何一个性质都可以用来建构集合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74122" y="2431850"/>
            <a:ext cx="6154641" cy="52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例如：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所有不包括自身的集合组成的集合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A</a:t>
            </a:r>
            <a:r>
              <a:rPr kumimoji="0" lang="zh-CN" altLang="en-US" sz="2801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178" name="矩形 16"/>
          <p:cNvSpPr>
            <a:spLocks noChangeArrowheads="1"/>
          </p:cNvSpPr>
          <p:nvPr/>
        </p:nvSpPr>
        <p:spPr bwMode="auto">
          <a:xfrm>
            <a:off x="6350920" y="2462691"/>
            <a:ext cx="3591756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A={B|B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是集合且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Symbol" panose="05050102010706020507" pitchFamily="18" charset="2"/>
              </a:rPr>
              <a:t>B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}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矩形 16"/>
          <p:cNvSpPr>
            <a:spLocks noChangeArrowheads="1"/>
          </p:cNvSpPr>
          <p:nvPr/>
        </p:nvSpPr>
        <p:spPr bwMode="auto">
          <a:xfrm>
            <a:off x="3858126" y="3704400"/>
            <a:ext cx="1352863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A∈A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微软雅黑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8" name="右箭头 7"/>
          <p:cNvSpPr/>
          <p:nvPr/>
        </p:nvSpPr>
        <p:spPr bwMode="auto">
          <a:xfrm>
            <a:off x="5499789" y="3725756"/>
            <a:ext cx="604978" cy="356544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6240040" y="3690052"/>
            <a:ext cx="1174456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  <a:sym typeface="Symbol" panose="05050102010706020507" pitchFamily="18" charset="2"/>
              </a:rPr>
              <a:t>A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微软雅黑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9" name="左箭头 8"/>
          <p:cNvSpPr>
            <a:spLocks noChangeArrowheads="1"/>
          </p:cNvSpPr>
          <p:nvPr/>
        </p:nvSpPr>
        <p:spPr bwMode="auto">
          <a:xfrm>
            <a:off x="5344382" y="3736903"/>
            <a:ext cx="580817" cy="345397"/>
          </a:xfrm>
          <a:prstGeom prst="leftArrow">
            <a:avLst>
              <a:gd name="adj1" fmla="val 50000"/>
              <a:gd name="adj2" fmla="val 50026"/>
            </a:avLst>
          </a:prstGeom>
          <a:solidFill>
            <a:srgbClr val="FFFF66">
              <a:alpha val="89803"/>
            </a:srgbClr>
          </a:solidFill>
          <a:ln w="12700" algn="ctr">
            <a:solidFill>
              <a:srgbClr val="003300"/>
            </a:solidFill>
            <a:round/>
            <a:headEnd/>
            <a:tailEnd/>
          </a:ln>
          <a:effectLst>
            <a:outerShdw kx="-3284103" algn="br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3201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>
          <a:xfrm>
            <a:off x="513425" y="361066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康托尔的集合论</a:t>
            </a:r>
          </a:p>
        </p:txBody>
      </p:sp>
      <p:sp>
        <p:nvSpPr>
          <p:cNvPr id="15" name="爆炸形: 8 pt  14">
            <a:extLst>
              <a:ext uri="{FF2B5EF4-FFF2-40B4-BE49-F238E27FC236}">
                <a16:creationId xmlns:a16="http://schemas.microsoft.com/office/drawing/2014/main" id="{6895A013-EEBB-4E83-9B7B-A43C4C012155}"/>
              </a:ext>
            </a:extLst>
          </p:cNvPr>
          <p:cNvSpPr/>
          <p:nvPr/>
        </p:nvSpPr>
        <p:spPr>
          <a:xfrm>
            <a:off x="6393567" y="4065732"/>
            <a:ext cx="4572000" cy="2167565"/>
          </a:xfrm>
          <a:prstGeom prst="irregularSeal1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罗素悖论</a:t>
            </a:r>
          </a:p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612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178" grpId="0" animBg="1"/>
      <p:bldP spid="13" grpId="0" animBg="1"/>
      <p:bldP spid="8" grpId="0" animBg="1"/>
      <p:bldP spid="17" grpId="0" animBg="1"/>
      <p:bldP spid="9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28" name="Group 47"/>
          <p:cNvGrpSpPr>
            <a:grpSpLocks/>
          </p:cNvGrpSpPr>
          <p:nvPr/>
        </p:nvGrpSpPr>
        <p:grpSpPr bwMode="auto">
          <a:xfrm>
            <a:off x="1062407" y="2163741"/>
            <a:ext cx="1301142" cy="1016737"/>
            <a:chOff x="0" y="5"/>
            <a:chExt cx="668" cy="647"/>
          </a:xfrm>
          <a:solidFill>
            <a:srgbClr val="00B0F0"/>
          </a:solidFill>
        </p:grpSpPr>
        <p:sp>
          <p:nvSpPr>
            <p:cNvPr id="12331" name="Oval 47"/>
            <p:cNvSpPr>
              <a:spLocks noChangeArrowheads="1"/>
            </p:cNvSpPr>
            <p:nvPr/>
          </p:nvSpPr>
          <p:spPr bwMode="auto">
            <a:xfrm>
              <a:off x="0" y="73"/>
              <a:ext cx="668" cy="52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121962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3201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2332" name="Oval 48"/>
            <p:cNvSpPr>
              <a:spLocks noChangeArrowheads="1"/>
            </p:cNvSpPr>
            <p:nvPr/>
          </p:nvSpPr>
          <p:spPr bwMode="auto">
            <a:xfrm>
              <a:off x="7" y="5"/>
              <a:ext cx="646" cy="64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121962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3201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2333" name="Oval 49"/>
            <p:cNvSpPr>
              <a:spLocks noChangeArrowheads="1"/>
            </p:cNvSpPr>
            <p:nvPr/>
          </p:nvSpPr>
          <p:spPr bwMode="auto">
            <a:xfrm>
              <a:off x="15" y="9"/>
              <a:ext cx="631" cy="63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121962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3201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2334" name="Oval 50"/>
            <p:cNvSpPr>
              <a:spLocks noChangeArrowheads="1"/>
            </p:cNvSpPr>
            <p:nvPr/>
          </p:nvSpPr>
          <p:spPr bwMode="auto">
            <a:xfrm>
              <a:off x="22" y="15"/>
              <a:ext cx="600" cy="58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121962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3201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2335" name="Oval 51"/>
            <p:cNvSpPr>
              <a:spLocks noChangeArrowheads="1"/>
            </p:cNvSpPr>
            <p:nvPr/>
          </p:nvSpPr>
          <p:spPr bwMode="auto">
            <a:xfrm>
              <a:off x="57" y="31"/>
              <a:ext cx="533" cy="4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121962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3201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2329" name="Text Box 52"/>
          <p:cNvSpPr txBox="1">
            <a:spLocks noChangeArrowheads="1"/>
          </p:cNvSpPr>
          <p:nvPr/>
        </p:nvSpPr>
        <p:spPr bwMode="auto">
          <a:xfrm>
            <a:off x="1198023" y="2394543"/>
            <a:ext cx="983161" cy="523220"/>
          </a:xfrm>
          <a:prstGeom prst="rect">
            <a:avLst/>
          </a:prstGeom>
          <a:solidFill>
            <a:srgbClr val="74B836"/>
          </a:solidFill>
          <a:ln>
            <a:noFill/>
          </a:ln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重点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2330" name="Text Box 53"/>
          <p:cNvSpPr txBox="1">
            <a:spLocks noChangeArrowheads="1"/>
          </p:cNvSpPr>
          <p:nvPr/>
        </p:nvSpPr>
        <p:spPr bwMode="auto">
          <a:xfrm>
            <a:off x="2358922" y="1476084"/>
            <a:ext cx="7489865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1219627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集合的概念及集合间关系的证明</a:t>
            </a:r>
          </a:p>
          <a:p>
            <a:pPr marL="0" marR="0" lvl="0" indent="0" algn="l" defTabSz="1219627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集合的表示方法：列举法、描述法和文氏图</a:t>
            </a:r>
          </a:p>
          <a:p>
            <a:pPr marL="0" marR="0" lvl="0" indent="0" algn="l" defTabSz="1219627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集合运算及定律</a:t>
            </a:r>
          </a:p>
          <a:p>
            <a:pPr marL="0" marR="0" lvl="0" indent="0" algn="l" defTabSz="1219627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幂集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P(A)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的计算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82" name="Group 47"/>
          <p:cNvGrpSpPr>
            <a:grpSpLocks/>
          </p:cNvGrpSpPr>
          <p:nvPr/>
        </p:nvGrpSpPr>
        <p:grpSpPr bwMode="auto">
          <a:xfrm>
            <a:off x="1071678" y="4535027"/>
            <a:ext cx="1301142" cy="1016737"/>
            <a:chOff x="0" y="5"/>
            <a:chExt cx="668" cy="647"/>
          </a:xfrm>
          <a:solidFill>
            <a:srgbClr val="00B0F0"/>
          </a:solidFill>
        </p:grpSpPr>
        <p:sp>
          <p:nvSpPr>
            <p:cNvPr id="83" name="Oval 47"/>
            <p:cNvSpPr>
              <a:spLocks noChangeArrowheads="1"/>
            </p:cNvSpPr>
            <p:nvPr/>
          </p:nvSpPr>
          <p:spPr bwMode="auto">
            <a:xfrm>
              <a:off x="0" y="73"/>
              <a:ext cx="668" cy="52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121962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3201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4" name="Oval 48"/>
            <p:cNvSpPr>
              <a:spLocks noChangeArrowheads="1"/>
            </p:cNvSpPr>
            <p:nvPr/>
          </p:nvSpPr>
          <p:spPr bwMode="auto">
            <a:xfrm>
              <a:off x="7" y="5"/>
              <a:ext cx="646" cy="64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121962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3201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5" name="Oval 49"/>
            <p:cNvSpPr>
              <a:spLocks noChangeArrowheads="1"/>
            </p:cNvSpPr>
            <p:nvPr/>
          </p:nvSpPr>
          <p:spPr bwMode="auto">
            <a:xfrm>
              <a:off x="15" y="9"/>
              <a:ext cx="631" cy="63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121962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3201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6" name="Oval 50"/>
            <p:cNvSpPr>
              <a:spLocks noChangeArrowheads="1"/>
            </p:cNvSpPr>
            <p:nvPr/>
          </p:nvSpPr>
          <p:spPr bwMode="auto">
            <a:xfrm>
              <a:off x="22" y="15"/>
              <a:ext cx="600" cy="58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121962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3201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7" name="Oval 51"/>
            <p:cNvSpPr>
              <a:spLocks noChangeArrowheads="1"/>
            </p:cNvSpPr>
            <p:nvPr/>
          </p:nvSpPr>
          <p:spPr bwMode="auto">
            <a:xfrm>
              <a:off x="57" y="31"/>
              <a:ext cx="533" cy="4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121962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3201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88" name="Text Box 52"/>
          <p:cNvSpPr txBox="1">
            <a:spLocks noChangeArrowheads="1"/>
          </p:cNvSpPr>
          <p:nvPr/>
        </p:nvSpPr>
        <p:spPr bwMode="auto">
          <a:xfrm>
            <a:off x="1216413" y="4776362"/>
            <a:ext cx="983161" cy="523220"/>
          </a:xfrm>
          <a:prstGeom prst="rect">
            <a:avLst/>
          </a:prstGeom>
          <a:solidFill>
            <a:srgbClr val="74B836"/>
          </a:solidFill>
          <a:ln>
            <a:noFill/>
          </a:ln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121962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Times New Roman" panose="02020603050405020304" pitchFamily="18" charset="0"/>
              </a:rPr>
              <a:t>难点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89" name="Text Box 53"/>
          <p:cNvSpPr txBox="1">
            <a:spLocks noChangeArrowheads="1"/>
          </p:cNvSpPr>
          <p:nvPr/>
        </p:nvSpPr>
        <p:spPr bwMode="auto">
          <a:xfrm>
            <a:off x="2368193" y="4267994"/>
            <a:ext cx="7480594" cy="16825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1219627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从集合与元素两个角度去分析集合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1219627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集合与集合关系的证明</a:t>
            </a:r>
          </a:p>
          <a:p>
            <a:pPr marL="0" marR="0" lvl="0" indent="0" algn="l" defTabSz="1219627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无限集基数的理解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2" name="Rectangle 2"/>
          <p:cNvSpPr txBox="1">
            <a:spLocks noChangeArrowheads="1"/>
          </p:cNvSpPr>
          <p:nvPr/>
        </p:nvSpPr>
        <p:spPr>
          <a:xfrm>
            <a:off x="536575" y="354849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62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学习要求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3490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730544A9-DF22-E62B-93D1-DE59DD112D54}"/>
              </a:ext>
            </a:extLst>
          </p:cNvPr>
          <p:cNvSpPr/>
          <p:nvPr/>
        </p:nvSpPr>
        <p:spPr>
          <a:xfrm>
            <a:off x="4422775" y="586739"/>
            <a:ext cx="6629399" cy="5205255"/>
          </a:xfrm>
          <a:custGeom>
            <a:avLst/>
            <a:gdLst>
              <a:gd name="connsiteX0" fmla="*/ 0 w 7560564"/>
              <a:gd name="connsiteY0" fmla="*/ 282448 h 3275076"/>
              <a:gd name="connsiteX1" fmla="*/ 282473 w 7560564"/>
              <a:gd name="connsiteY1" fmla="*/ 0 h 3275076"/>
              <a:gd name="connsiteX2" fmla="*/ 7278116 w 7560564"/>
              <a:gd name="connsiteY2" fmla="*/ 0 h 3275076"/>
              <a:gd name="connsiteX3" fmla="*/ 7560563 w 7560564"/>
              <a:gd name="connsiteY3" fmla="*/ 282448 h 3275076"/>
              <a:gd name="connsiteX4" fmla="*/ 7560563 w 7560564"/>
              <a:gd name="connsiteY4" fmla="*/ 2992602 h 3275076"/>
              <a:gd name="connsiteX5" fmla="*/ 7278116 w 7560564"/>
              <a:gd name="connsiteY5" fmla="*/ 3275075 h 3275076"/>
              <a:gd name="connsiteX6" fmla="*/ 282473 w 7560564"/>
              <a:gd name="connsiteY6" fmla="*/ 3275075 h 3275076"/>
              <a:gd name="connsiteX7" fmla="*/ 0 w 7560564"/>
              <a:gd name="connsiteY7" fmla="*/ 2992602 h 3275076"/>
              <a:gd name="connsiteX8" fmla="*/ 0 w 7560564"/>
              <a:gd name="connsiteY8" fmla="*/ 282448 h 327507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7560564" h="3275076">
                <a:moveTo>
                  <a:pt x="0" y="282448"/>
                </a:moveTo>
                <a:cubicBezTo>
                  <a:pt x="0" y="126492"/>
                  <a:pt x="126466" y="0"/>
                  <a:pt x="282473" y="0"/>
                </a:cubicBezTo>
                <a:lnTo>
                  <a:pt x="7278116" y="0"/>
                </a:lnTo>
                <a:cubicBezTo>
                  <a:pt x="7434071" y="0"/>
                  <a:pt x="7560563" y="126492"/>
                  <a:pt x="7560563" y="282448"/>
                </a:cubicBezTo>
                <a:lnTo>
                  <a:pt x="7560563" y="2992602"/>
                </a:lnTo>
                <a:cubicBezTo>
                  <a:pt x="7560563" y="3148609"/>
                  <a:pt x="7434071" y="3275075"/>
                  <a:pt x="7278116" y="3275075"/>
                </a:cubicBezTo>
                <a:lnTo>
                  <a:pt x="282473" y="3275075"/>
                </a:lnTo>
                <a:cubicBezTo>
                  <a:pt x="126466" y="3275075"/>
                  <a:pt x="0" y="3148609"/>
                  <a:pt x="0" y="2992602"/>
                </a:cubicBezTo>
                <a:lnTo>
                  <a:pt x="0" y="282448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5757541" y="1968656"/>
            <a:ext cx="4913633" cy="48292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"/>
          <p:cNvSpPr txBox="1"/>
          <p:nvPr/>
        </p:nvSpPr>
        <p:spPr>
          <a:xfrm>
            <a:off x="6997968" y="1312161"/>
            <a:ext cx="2769989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本章导读及学习要求</a:t>
            </a:r>
          </a:p>
        </p:txBody>
      </p:sp>
      <p:sp>
        <p:nvSpPr>
          <p:cNvPr id="47" name="TextBox 1"/>
          <p:cNvSpPr txBox="1"/>
          <p:nvPr/>
        </p:nvSpPr>
        <p:spPr>
          <a:xfrm>
            <a:off x="7013575" y="2070064"/>
            <a:ext cx="215443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集合的基本概念</a:t>
            </a:r>
          </a:p>
        </p:txBody>
      </p:sp>
      <p:sp>
        <p:nvSpPr>
          <p:cNvPr id="48" name="TextBox 1"/>
          <p:cNvSpPr txBox="1"/>
          <p:nvPr/>
        </p:nvSpPr>
        <p:spPr>
          <a:xfrm>
            <a:off x="7013575" y="2649059"/>
            <a:ext cx="123110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特殊集合</a:t>
            </a:r>
          </a:p>
        </p:txBody>
      </p:sp>
      <p:sp>
        <p:nvSpPr>
          <p:cNvPr id="51" name="Freeform 3"/>
          <p:cNvSpPr/>
          <p:nvPr/>
        </p:nvSpPr>
        <p:spPr>
          <a:xfrm>
            <a:off x="6698357" y="1190058"/>
            <a:ext cx="45719" cy="3997202"/>
          </a:xfrm>
          <a:custGeom>
            <a:avLst/>
            <a:gdLst>
              <a:gd name="connsiteX0" fmla="*/ 6350 w 21844"/>
              <a:gd name="connsiteY0" fmla="*/ 6350 h 879855"/>
              <a:gd name="connsiteX1" fmla="*/ 6350 w 21844"/>
              <a:gd name="connsiteY1" fmla="*/ 873506 h 8798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879855">
                <a:moveTo>
                  <a:pt x="6350" y="6350"/>
                </a:moveTo>
                <a:lnTo>
                  <a:pt x="6350" y="873506"/>
                </a:lnTo>
              </a:path>
            </a:pathLst>
          </a:custGeom>
          <a:ln w="12700">
            <a:solidFill>
              <a:srgbClr val="A4B3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2" name="Freeform 3"/>
          <p:cNvSpPr/>
          <p:nvPr/>
        </p:nvSpPr>
        <p:spPr>
          <a:xfrm>
            <a:off x="6642724" y="1382496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00B05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3" name="Freeform 3"/>
          <p:cNvSpPr/>
          <p:nvPr/>
        </p:nvSpPr>
        <p:spPr>
          <a:xfrm>
            <a:off x="6632575" y="2115034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4" name="Freeform 3"/>
          <p:cNvSpPr/>
          <p:nvPr/>
        </p:nvSpPr>
        <p:spPr>
          <a:xfrm>
            <a:off x="6632575" y="2711652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1"/>
          <p:cNvSpPr txBox="1"/>
          <p:nvPr/>
        </p:nvSpPr>
        <p:spPr>
          <a:xfrm>
            <a:off x="545294" y="2704702"/>
            <a:ext cx="1846659" cy="835956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6936"/>
              </a:lnSpc>
            </a:pPr>
            <a:r>
              <a:rPr lang="zh-CN" altLang="en-US" sz="3600" b="1" dirty="0">
                <a:solidFill>
                  <a:srgbClr val="4197DF"/>
                </a:solidFill>
                <a:latin typeface="Microsoft YaHei UI" pitchFamily="18" charset="0"/>
                <a:cs typeface="Microsoft YaHei UI" pitchFamily="18" charset="0"/>
              </a:rPr>
              <a:t>内容导航</a:t>
            </a:r>
            <a:endParaRPr lang="en-US" altLang="zh-CN" sz="3600" b="1" dirty="0">
              <a:solidFill>
                <a:srgbClr val="4197DF"/>
              </a:solidFill>
              <a:latin typeface="Microsoft YaHei UI" pitchFamily="18" charset="0"/>
              <a:cs typeface="Microsoft YaHei UI" pitchFamily="18" charset="0"/>
            </a:endParaRPr>
          </a:p>
        </p:txBody>
      </p:sp>
      <p:sp>
        <p:nvSpPr>
          <p:cNvPr id="57" name="TextBox 1"/>
          <p:cNvSpPr txBox="1"/>
          <p:nvPr/>
        </p:nvSpPr>
        <p:spPr>
          <a:xfrm>
            <a:off x="545293" y="3518639"/>
            <a:ext cx="1846659" cy="272596"/>
          </a:xfrm>
          <a:prstGeom prst="rect">
            <a:avLst/>
          </a:prstGeom>
          <a:noFill/>
        </p:spPr>
        <p:txBody>
          <a:bodyPr wrap="square" lIns="0" tIns="0" rIns="0" bIns="60981" rtlCol="0">
            <a:spAutoFit/>
          </a:bodyPr>
          <a:lstStyle/>
          <a:p>
            <a:pPr algn="dist">
              <a:lnSpc>
                <a:spcPts val="1601"/>
              </a:lnSpc>
            </a:pPr>
            <a:r>
              <a:rPr lang="en-US" altLang="zh-CN" sz="1900" b="1" dirty="0">
                <a:solidFill>
                  <a:srgbClr val="4197DF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9" name="矩形 58"/>
          <p:cNvSpPr/>
          <p:nvPr/>
        </p:nvSpPr>
        <p:spPr>
          <a:xfrm>
            <a:off x="518434" y="2201849"/>
            <a:ext cx="1873520" cy="702656"/>
          </a:xfrm>
          <a:prstGeom prst="rect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/>
          <p:cNvCxnSpPr/>
          <p:nvPr/>
        </p:nvCxnSpPr>
        <p:spPr>
          <a:xfrm>
            <a:off x="536575" y="7699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536575" y="2484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536575" y="405607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536575" y="577057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536575" y="71993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536575" y="89138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36575" y="10485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536575" y="1219994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536575" y="1404371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36575" y="154724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36575" y="171869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36575" y="1875858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36575" y="2047308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2000250" y="6254294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/>
        </p:nvSpPr>
        <p:spPr>
          <a:xfrm>
            <a:off x="2381250" y="5840443"/>
            <a:ext cx="674915" cy="101325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/>
        </p:nvSpPr>
        <p:spPr>
          <a:xfrm>
            <a:off x="3146878" y="6329700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>
            <a:off x="95250" y="5621722"/>
            <a:ext cx="1066800" cy="123197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等腰三角形 36"/>
          <p:cNvSpPr/>
          <p:nvPr/>
        </p:nvSpPr>
        <p:spPr>
          <a:xfrm>
            <a:off x="876300" y="6254294"/>
            <a:ext cx="381000" cy="513301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1"/>
          <p:cNvSpPr txBox="1"/>
          <p:nvPr/>
        </p:nvSpPr>
        <p:spPr>
          <a:xfrm>
            <a:off x="7013575" y="3228679"/>
            <a:ext cx="153888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集合的运算</a:t>
            </a:r>
          </a:p>
        </p:txBody>
      </p:sp>
      <p:sp>
        <p:nvSpPr>
          <p:cNvPr id="39" name="TextBox 1"/>
          <p:cNvSpPr txBox="1"/>
          <p:nvPr/>
        </p:nvSpPr>
        <p:spPr>
          <a:xfrm>
            <a:off x="7030855" y="3797889"/>
            <a:ext cx="923330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无限集</a:t>
            </a:r>
          </a:p>
        </p:txBody>
      </p:sp>
      <p:sp>
        <p:nvSpPr>
          <p:cNvPr id="40" name="Freeform 3"/>
          <p:cNvSpPr/>
          <p:nvPr/>
        </p:nvSpPr>
        <p:spPr>
          <a:xfrm>
            <a:off x="6632575" y="3288453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 3"/>
          <p:cNvSpPr/>
          <p:nvPr/>
        </p:nvSpPr>
        <p:spPr>
          <a:xfrm>
            <a:off x="6632575" y="3848530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2" name="TextBox 1"/>
          <p:cNvSpPr txBox="1"/>
          <p:nvPr/>
        </p:nvSpPr>
        <p:spPr>
          <a:xfrm>
            <a:off x="6048108" y="2076934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solidFill>
                  <a:schemeClr val="bg1"/>
                </a:solidFill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1.1</a:t>
            </a:r>
          </a:p>
        </p:txBody>
      </p:sp>
      <p:sp>
        <p:nvSpPr>
          <p:cNvPr id="43" name="TextBox 1"/>
          <p:cNvSpPr txBox="1"/>
          <p:nvPr/>
        </p:nvSpPr>
        <p:spPr>
          <a:xfrm>
            <a:off x="6048108" y="2650724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1.2</a:t>
            </a:r>
          </a:p>
        </p:txBody>
      </p:sp>
      <p:sp>
        <p:nvSpPr>
          <p:cNvPr id="44" name="TextBox 1"/>
          <p:cNvSpPr txBox="1"/>
          <p:nvPr/>
        </p:nvSpPr>
        <p:spPr>
          <a:xfrm>
            <a:off x="6048108" y="3237653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1.3</a:t>
            </a:r>
          </a:p>
        </p:txBody>
      </p:sp>
      <p:sp>
        <p:nvSpPr>
          <p:cNvPr id="45" name="TextBox 1"/>
          <p:cNvSpPr txBox="1"/>
          <p:nvPr/>
        </p:nvSpPr>
        <p:spPr>
          <a:xfrm>
            <a:off x="6048108" y="3818752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1.4</a:t>
            </a:r>
          </a:p>
        </p:txBody>
      </p:sp>
      <p:sp>
        <p:nvSpPr>
          <p:cNvPr id="77" name="等腰三角形 76"/>
          <p:cNvSpPr/>
          <p:nvPr/>
        </p:nvSpPr>
        <p:spPr>
          <a:xfrm>
            <a:off x="6058257" y="1298054"/>
            <a:ext cx="304800" cy="267093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TextBox 1"/>
          <p:cNvSpPr txBox="1"/>
          <p:nvPr/>
        </p:nvSpPr>
        <p:spPr>
          <a:xfrm>
            <a:off x="7011024" y="4366308"/>
            <a:ext cx="246221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与集合相关的应用</a:t>
            </a:r>
          </a:p>
        </p:txBody>
      </p:sp>
      <p:sp>
        <p:nvSpPr>
          <p:cNvPr id="81" name="Freeform 3"/>
          <p:cNvSpPr/>
          <p:nvPr/>
        </p:nvSpPr>
        <p:spPr>
          <a:xfrm>
            <a:off x="6642724" y="4409454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"/>
          <p:cNvSpPr txBox="1"/>
          <p:nvPr/>
        </p:nvSpPr>
        <p:spPr>
          <a:xfrm>
            <a:off x="6058257" y="4379676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1.5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FDA7A11-E754-4EA2-E528-360794ADB1F7}"/>
              </a:ext>
            </a:extLst>
          </p:cNvPr>
          <p:cNvSpPr txBox="1"/>
          <p:nvPr/>
        </p:nvSpPr>
        <p:spPr>
          <a:xfrm>
            <a:off x="6998534" y="4908448"/>
            <a:ext cx="61555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作业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CB95781C-5009-FE00-0312-E8DEAD218C6B}"/>
              </a:ext>
            </a:extLst>
          </p:cNvPr>
          <p:cNvSpPr/>
          <p:nvPr/>
        </p:nvSpPr>
        <p:spPr>
          <a:xfrm>
            <a:off x="6630234" y="4951594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BFCB515F-250D-6EFF-F900-24F3C122B1B4}"/>
              </a:ext>
            </a:extLst>
          </p:cNvPr>
          <p:cNvSpPr txBox="1"/>
          <p:nvPr/>
        </p:nvSpPr>
        <p:spPr>
          <a:xfrm>
            <a:off x="6045767" y="4921816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1.6</a:t>
            </a:r>
          </a:p>
        </p:txBody>
      </p:sp>
    </p:spTree>
    <p:extLst>
      <p:ext uri="{BB962C8B-B14F-4D97-AF65-F5344CB8AC3E}">
        <p14:creationId xmlns:p14="http://schemas.microsoft.com/office/powerpoint/2010/main" val="243012474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1.1  </a:t>
            </a:r>
            <a:r>
              <a:rPr lang="zh-CN" altLang="en-US" dirty="0"/>
              <a:t>集合的基本概念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315093" y="1027936"/>
            <a:ext cx="100584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集合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Set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）</a:t>
            </a:r>
            <a:r>
              <a:rPr lang="zh-CN" altLang="en-US" sz="2400" dirty="0">
                <a:latin typeface="+mn-ea"/>
                <a:ea typeface="+mn-ea"/>
              </a:rPr>
              <a:t>由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指定范围</a:t>
            </a:r>
            <a:r>
              <a:rPr lang="zh-CN" altLang="en-US" sz="2400" dirty="0">
                <a:latin typeface="+mn-ea"/>
                <a:ea typeface="+mn-ea"/>
              </a:rPr>
              <a:t>内的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某些特定对象</a:t>
            </a:r>
            <a:r>
              <a:rPr lang="zh-CN" altLang="en-US" sz="2400" dirty="0">
                <a:latin typeface="+mn-ea"/>
                <a:ea typeface="+mn-ea"/>
              </a:rPr>
              <a:t>聚集在一起构成。</a:t>
            </a:r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1619223" y="3194921"/>
            <a:ext cx="8133243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指定范围内的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每一个对象</a:t>
            </a:r>
            <a:r>
              <a:rPr lang="zh-CN" altLang="en-US" sz="2400" dirty="0">
                <a:latin typeface="+mn-ea"/>
                <a:ea typeface="+mn-ea"/>
              </a:rPr>
              <a:t>称为这个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集合的元素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Element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zh-CN" altLang="en-US" sz="24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3725683" y="2016439"/>
            <a:ext cx="5455189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u="sng" dirty="0">
                <a:solidFill>
                  <a:srgbClr val="080010"/>
                </a:solidFill>
                <a:latin typeface="+mn-ea"/>
                <a:ea typeface="+mn-ea"/>
              </a:rPr>
              <a:t>C</a:t>
            </a:r>
            <a:r>
              <a:rPr lang="zh-CN" altLang="zh-CN" sz="2400" u="sng" dirty="0">
                <a:solidFill>
                  <a:srgbClr val="080010"/>
                </a:solidFill>
                <a:latin typeface="+mn-ea"/>
                <a:ea typeface="+mn-ea"/>
              </a:rPr>
              <a:t>语言</a:t>
            </a:r>
            <a:r>
              <a:rPr lang="zh-CN" altLang="zh-CN" sz="2400" i="1" u="sng" dirty="0">
                <a:solidFill>
                  <a:srgbClr val="080010"/>
                </a:solidFill>
                <a:latin typeface="+mn-ea"/>
                <a:ea typeface="+mn-ea"/>
              </a:rPr>
              <a:t>所有</a:t>
            </a:r>
            <a:r>
              <a:rPr lang="zh-CN" altLang="en-US" sz="2400" i="1" u="sng" dirty="0">
                <a:solidFill>
                  <a:srgbClr val="080010"/>
                </a:solidFill>
                <a:latin typeface="+mn-ea"/>
                <a:ea typeface="+mn-ea"/>
              </a:rPr>
              <a:t>标识符</a:t>
            </a:r>
            <a:r>
              <a:rPr lang="zh-CN" altLang="en-US" sz="2400" dirty="0">
                <a:solidFill>
                  <a:srgbClr val="080010"/>
                </a:solidFill>
                <a:latin typeface="+mn-ea"/>
                <a:ea typeface="+mn-ea"/>
              </a:rPr>
              <a:t>的聚集</a:t>
            </a:r>
          </a:p>
        </p:txBody>
      </p:sp>
      <p:sp>
        <p:nvSpPr>
          <p:cNvPr id="11272" name="AutoShape 7"/>
          <p:cNvSpPr>
            <a:spLocks noChangeArrowheads="1"/>
          </p:cNvSpPr>
          <p:nvPr/>
        </p:nvSpPr>
        <p:spPr bwMode="auto">
          <a:xfrm>
            <a:off x="1315093" y="1634491"/>
            <a:ext cx="1440195" cy="1368742"/>
          </a:xfrm>
          <a:prstGeom prst="cloudCallout">
            <a:avLst>
              <a:gd name="adj1" fmla="val 140397"/>
              <a:gd name="adj2" fmla="val -8925"/>
            </a:avLst>
          </a:prstGeom>
          <a:solidFill>
            <a:srgbClr val="1157A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指定范围</a:t>
            </a:r>
          </a:p>
        </p:txBody>
      </p:sp>
      <p:sp>
        <p:nvSpPr>
          <p:cNvPr id="11273" name="AutoShape 8"/>
          <p:cNvSpPr>
            <a:spLocks noChangeArrowheads="1"/>
          </p:cNvSpPr>
          <p:nvPr/>
        </p:nvSpPr>
        <p:spPr bwMode="auto">
          <a:xfrm>
            <a:off x="8232775" y="1661452"/>
            <a:ext cx="1519691" cy="1224246"/>
          </a:xfrm>
          <a:prstGeom prst="cloudCallout">
            <a:avLst>
              <a:gd name="adj1" fmla="val -207443"/>
              <a:gd name="adj2" fmla="val 6557"/>
            </a:avLst>
          </a:prstGeom>
          <a:solidFill>
            <a:srgbClr val="1157A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特定对象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735208" y="2035599"/>
            <a:ext cx="10070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u="sng" dirty="0">
                <a:solidFill>
                  <a:srgbClr val="990033"/>
                </a:solidFill>
                <a:latin typeface="+mn-ea"/>
                <a:ea typeface="+mn-ea"/>
              </a:rPr>
              <a:t>C</a:t>
            </a:r>
            <a:r>
              <a:rPr lang="zh-CN" altLang="zh-CN" sz="2400" u="sng" dirty="0">
                <a:solidFill>
                  <a:srgbClr val="990033"/>
                </a:solidFill>
                <a:latin typeface="+mn-ea"/>
                <a:ea typeface="+mn-ea"/>
              </a:rPr>
              <a:t>语言</a:t>
            </a:r>
            <a:endParaRPr lang="zh-CN" altLang="en-US" sz="2400" u="sng" dirty="0">
              <a:solidFill>
                <a:srgbClr val="990033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518342" y="2043033"/>
            <a:ext cx="17315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1" u="sng" dirty="0">
                <a:solidFill>
                  <a:srgbClr val="0000CC"/>
                </a:solidFill>
                <a:latin typeface="+mn-ea"/>
                <a:ea typeface="+mn-ea"/>
              </a:rPr>
              <a:t>所有标识符</a:t>
            </a:r>
            <a:endParaRPr lang="zh-CN" altLang="en-US" sz="2400" b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500494" y="4570222"/>
            <a:ext cx="9137007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例如：元素</a:t>
            </a:r>
            <a:r>
              <a:rPr lang="en-US" altLang="zh-CN" sz="2400" dirty="0" err="1">
                <a:latin typeface="+mn-ea"/>
                <a:ea typeface="+mn-ea"/>
              </a:rPr>
              <a:t>abc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a1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属于</a:t>
            </a:r>
            <a:r>
              <a:rPr lang="zh-CN" altLang="en-US" sz="2400" dirty="0">
                <a:latin typeface="+mn-ea"/>
                <a:ea typeface="+mn-ea"/>
              </a:rPr>
              <a:t>这个集合，元素</a:t>
            </a:r>
            <a:r>
              <a:rPr lang="en-US" altLang="zh-CN" sz="2400" dirty="0">
                <a:latin typeface="+mn-ea"/>
                <a:ea typeface="+mn-ea"/>
              </a:rPr>
              <a:t>3abc</a:t>
            </a:r>
            <a:r>
              <a:rPr lang="zh-CN" altLang="en-US" sz="2400" dirty="0">
                <a:latin typeface="+mn-ea"/>
                <a:ea typeface="+mn-ea"/>
              </a:rPr>
              <a:t>就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不属于</a:t>
            </a:r>
            <a:r>
              <a:rPr lang="zh-CN" altLang="en-US" sz="2400" dirty="0">
                <a:latin typeface="+mn-ea"/>
                <a:ea typeface="+mn-ea"/>
              </a:rPr>
              <a:t>这个集合。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619222" y="3822129"/>
            <a:ext cx="7912344" cy="496611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元素与集合之间是隶属关系，用∈和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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来表示。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19220" y="5268290"/>
            <a:ext cx="9204355" cy="1421928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zh-CN" b="1" kern="100" dirty="0">
                <a:solidFill>
                  <a:srgbClr val="000000"/>
                </a:solidFill>
                <a:latin typeface="+mn-ea"/>
              </a:rPr>
              <a:t>集合</a:t>
            </a:r>
            <a:r>
              <a:rPr lang="en-US" altLang="zh-CN" b="1" kern="100" dirty="0">
                <a:solidFill>
                  <a:srgbClr val="000000"/>
                </a:solidFill>
                <a:latin typeface="+mn-ea"/>
              </a:rPr>
              <a:t>A</a:t>
            </a:r>
            <a:r>
              <a:rPr lang="zh-CN" altLang="en-US" b="1" kern="100" dirty="0">
                <a:solidFill>
                  <a:srgbClr val="000000"/>
                </a:solidFill>
                <a:latin typeface="+mn-ea"/>
              </a:rPr>
              <a:t>中</a:t>
            </a:r>
            <a:r>
              <a:rPr lang="zh-CN" altLang="zh-CN" b="1" kern="100" dirty="0">
                <a:solidFill>
                  <a:srgbClr val="000000"/>
                </a:solidFill>
                <a:latin typeface="+mn-ea"/>
              </a:rPr>
              <a:t>的元素个数称为集合的</a:t>
            </a:r>
            <a:r>
              <a:rPr lang="zh-CN" altLang="zh-CN" b="1" kern="100" dirty="0">
                <a:solidFill>
                  <a:srgbClr val="C00000"/>
                </a:solidFill>
                <a:latin typeface="+mn-ea"/>
              </a:rPr>
              <a:t>基数</a:t>
            </a:r>
            <a:r>
              <a:rPr lang="en-US" altLang="zh-CN" b="1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(Base Number)</a:t>
            </a:r>
            <a:r>
              <a:rPr lang="zh-CN" altLang="zh-CN" b="1" kern="100" dirty="0">
                <a:solidFill>
                  <a:srgbClr val="000000"/>
                </a:solidFill>
                <a:latin typeface="+mn-ea"/>
              </a:rPr>
              <a:t>，记为</a:t>
            </a:r>
            <a:r>
              <a:rPr lang="en-US" altLang="zh-CN" b="1" kern="100" dirty="0">
                <a:solidFill>
                  <a:srgbClr val="000000"/>
                </a:solidFill>
                <a:latin typeface="+mn-ea"/>
              </a:rPr>
              <a:t>|A|</a:t>
            </a:r>
            <a:r>
              <a:rPr lang="zh-CN" altLang="zh-CN" b="1" kern="100" dirty="0">
                <a:solidFill>
                  <a:srgbClr val="000000"/>
                </a:solidFill>
                <a:latin typeface="+mn-ea"/>
              </a:rPr>
              <a:t>。</a:t>
            </a:r>
            <a:endParaRPr lang="en-US" altLang="zh-CN" b="1" kern="100" dirty="0">
              <a:solidFill>
                <a:srgbClr val="000000"/>
              </a:solidFill>
              <a:latin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zh-CN" b="1" kern="100" dirty="0">
                <a:solidFill>
                  <a:srgbClr val="000000"/>
                </a:solidFill>
                <a:latin typeface="+mn-ea"/>
              </a:rPr>
              <a:t>如果</a:t>
            </a:r>
            <a:r>
              <a:rPr lang="en-US" altLang="zh-CN" b="1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|A|</a:t>
            </a:r>
            <a:r>
              <a:rPr lang="zh-CN" altLang="zh-CN" b="1" kern="100" dirty="0">
                <a:solidFill>
                  <a:srgbClr val="000000"/>
                </a:solidFill>
                <a:latin typeface="+mn-ea"/>
              </a:rPr>
              <a:t>是有限的，则</a:t>
            </a:r>
            <a:r>
              <a:rPr lang="en-US" altLang="zh-CN" b="1" kern="100" dirty="0">
                <a:solidFill>
                  <a:srgbClr val="000000"/>
                </a:solidFill>
                <a:latin typeface="+mn-ea"/>
              </a:rPr>
              <a:t>A</a:t>
            </a:r>
            <a:r>
              <a:rPr lang="zh-CN" altLang="en-US" b="1" kern="100" dirty="0">
                <a:solidFill>
                  <a:srgbClr val="000000"/>
                </a:solidFill>
                <a:latin typeface="+mn-ea"/>
              </a:rPr>
              <a:t>是</a:t>
            </a:r>
            <a:r>
              <a:rPr lang="zh-CN" altLang="zh-CN" b="1" kern="100" dirty="0">
                <a:solidFill>
                  <a:srgbClr val="C00000"/>
                </a:solidFill>
                <a:latin typeface="+mn-ea"/>
              </a:rPr>
              <a:t>有限集</a:t>
            </a:r>
            <a:r>
              <a:rPr lang="en-US" altLang="zh-CN" b="1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(Finite Set)</a:t>
            </a:r>
            <a:r>
              <a:rPr lang="zh-CN" altLang="zh-CN" b="1" kern="100" dirty="0">
                <a:solidFill>
                  <a:srgbClr val="000000"/>
                </a:solidFill>
                <a:latin typeface="+mn-ea"/>
              </a:rPr>
              <a:t>；</a:t>
            </a:r>
            <a:endParaRPr lang="en-US" altLang="zh-CN" b="1" kern="100" dirty="0">
              <a:solidFill>
                <a:srgbClr val="000000"/>
              </a:solidFill>
              <a:latin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zh-CN" b="1" kern="100" dirty="0">
                <a:solidFill>
                  <a:srgbClr val="000000"/>
                </a:solidFill>
                <a:latin typeface="+mn-ea"/>
              </a:rPr>
              <a:t>如果</a:t>
            </a:r>
            <a:r>
              <a:rPr lang="en-US" altLang="zh-CN" b="1" kern="100" dirty="0">
                <a:solidFill>
                  <a:srgbClr val="000000"/>
                </a:solidFill>
                <a:latin typeface="+mn-ea"/>
              </a:rPr>
              <a:t>|A|</a:t>
            </a:r>
            <a:r>
              <a:rPr lang="zh-CN" altLang="zh-CN" b="1" kern="100" dirty="0">
                <a:solidFill>
                  <a:srgbClr val="000000"/>
                </a:solidFill>
                <a:latin typeface="+mn-ea"/>
              </a:rPr>
              <a:t>是是无限的，则</a:t>
            </a:r>
            <a:r>
              <a:rPr lang="en-US" altLang="zh-CN" b="1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</a:t>
            </a:r>
            <a:r>
              <a:rPr lang="zh-CN" altLang="en-US" b="1" kern="100" dirty="0">
                <a:solidFill>
                  <a:srgbClr val="000000"/>
                </a:solidFill>
                <a:latin typeface="+mn-ea"/>
              </a:rPr>
              <a:t>是</a:t>
            </a:r>
            <a:r>
              <a:rPr lang="zh-CN" altLang="zh-CN" b="1" kern="100" dirty="0">
                <a:solidFill>
                  <a:srgbClr val="C00000"/>
                </a:solidFill>
                <a:latin typeface="+mn-ea"/>
              </a:rPr>
              <a:t>无限集</a:t>
            </a:r>
            <a:r>
              <a:rPr lang="en-US" altLang="zh-CN" b="1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(Infinite Set)</a:t>
            </a:r>
            <a:r>
              <a:rPr lang="zh-CN" altLang="zh-CN" b="1" kern="100" dirty="0">
                <a:solidFill>
                  <a:srgbClr val="000000"/>
                </a:solidFill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40074823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utoUpdateAnimBg="0"/>
      <p:bldP spid="11270" grpId="0" autoUpdateAnimBg="0"/>
      <p:bldP spid="11271" grpId="0" autoUpdateAnimBg="0"/>
      <p:bldP spid="11272" grpId="0" animBg="1" autoUpdateAnimBg="0"/>
      <p:bldP spid="11273" grpId="0" animBg="1" autoUpdateAnimBg="0"/>
      <p:bldP spid="2" grpId="0"/>
      <p:bldP spid="3" grpId="0"/>
      <p:bldP spid="4" grpId="0"/>
      <p:bldP spid="14" grpId="0" animBg="1" autoUpdateAnimBg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1.1  </a:t>
            </a:r>
            <a:r>
              <a:rPr lang="zh-CN" altLang="zh-CN" dirty="0"/>
              <a:t>集合的基本概念</a:t>
            </a:r>
            <a:endParaRPr lang="zh-CN" altLang="en-US" dirty="0"/>
          </a:p>
        </p:txBody>
      </p:sp>
      <p:sp>
        <p:nvSpPr>
          <p:cNvPr id="15364" name="Rectangle 6"/>
          <p:cNvSpPr>
            <a:spLocks noChangeArrowheads="1"/>
          </p:cNvSpPr>
          <p:nvPr/>
        </p:nvSpPr>
        <p:spPr bwMode="auto">
          <a:xfrm>
            <a:off x="1704677" y="1237896"/>
            <a:ext cx="5257429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u="sng" dirty="0">
                <a:solidFill>
                  <a:srgbClr val="080010"/>
                </a:solidFill>
                <a:latin typeface="+mn-ea"/>
                <a:ea typeface="+mn-ea"/>
              </a:rPr>
              <a:t>C</a:t>
            </a:r>
            <a:r>
              <a:rPr lang="zh-CN" altLang="zh-CN" sz="2400" u="sng" dirty="0">
                <a:solidFill>
                  <a:srgbClr val="080010"/>
                </a:solidFill>
                <a:latin typeface="+mn-ea"/>
                <a:ea typeface="+mn-ea"/>
              </a:rPr>
              <a:t>语言中</a:t>
            </a:r>
            <a:r>
              <a:rPr lang="zh-CN" altLang="zh-CN" sz="2400" i="1" u="sng" dirty="0">
                <a:solidFill>
                  <a:srgbClr val="080010"/>
                </a:solidFill>
                <a:latin typeface="+mn-ea"/>
                <a:ea typeface="+mn-ea"/>
              </a:rPr>
              <a:t>所有</a:t>
            </a:r>
            <a:r>
              <a:rPr lang="zh-CN" altLang="en-US" sz="2400" i="1" u="sng" dirty="0">
                <a:solidFill>
                  <a:srgbClr val="080010"/>
                </a:solidFill>
                <a:latin typeface="+mn-ea"/>
                <a:ea typeface="+mn-ea"/>
              </a:rPr>
              <a:t>标识符</a:t>
            </a:r>
            <a:r>
              <a:rPr lang="zh-CN" altLang="en-US" sz="2400" dirty="0">
                <a:solidFill>
                  <a:srgbClr val="080010"/>
                </a:solidFill>
                <a:latin typeface="+mn-ea"/>
                <a:ea typeface="+mn-ea"/>
              </a:rPr>
              <a:t>的聚集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268013" y="1225194"/>
            <a:ext cx="7574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u="sng" dirty="0">
                <a:solidFill>
                  <a:srgbClr val="C00000"/>
                </a:solidFill>
                <a:latin typeface="+mn-ea"/>
                <a:ea typeface="+mn-ea"/>
              </a:rPr>
              <a:t>A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：</a:t>
            </a:r>
            <a:endParaRPr lang="en-US" altLang="zh-CN" sz="2400" u="sng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621428" y="1232601"/>
            <a:ext cx="3150329" cy="49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+mn-ea"/>
                <a:ea typeface="+mn-ea"/>
              </a:rPr>
              <a:t>abc</a:t>
            </a:r>
            <a:r>
              <a:rPr lang="zh-CN" altLang="en-US" sz="2400" dirty="0">
                <a:latin typeface="+mn-ea"/>
                <a:ea typeface="+mn-ea"/>
              </a:rPr>
              <a:t>∈</a:t>
            </a:r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zh-CN" altLang="en-US" sz="2400" dirty="0">
                <a:latin typeface="+mn-ea"/>
                <a:ea typeface="+mn-ea"/>
              </a:rPr>
              <a:t>， </a:t>
            </a:r>
            <a:r>
              <a:rPr lang="en-US" altLang="zh-CN" sz="2400" dirty="0">
                <a:latin typeface="+mn-ea"/>
                <a:ea typeface="+mn-ea"/>
              </a:rPr>
              <a:t>3abc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A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279129" y="1949261"/>
            <a:ext cx="4682621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三个数的聚集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641975" y="1919033"/>
            <a:ext cx="2232542" cy="49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∈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zh-CN" altLang="en-US" sz="2400" dirty="0">
                <a:latin typeface="+mn-ea"/>
                <a:ea typeface="+mn-ea"/>
              </a:rPr>
              <a:t>， 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B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8723938" y="1249270"/>
            <a:ext cx="2232543" cy="497957"/>
          </a:xfrm>
          <a:prstGeom prst="rect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|A|=?,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有限集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8723938" y="1973726"/>
            <a:ext cx="2232543" cy="497957"/>
          </a:xfrm>
          <a:prstGeom prst="rect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|B|=3,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有限集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325049" y="4572794"/>
            <a:ext cx="10360330" cy="1569660"/>
          </a:xfrm>
          <a:prstGeom prst="rect">
            <a:avLst/>
          </a:prstGeom>
          <a:solidFill>
            <a:srgbClr val="1157AB"/>
          </a:solidFill>
          <a:ln>
            <a:noFill/>
          </a:ln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常用固定的集合符号：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zh-CN" altLang="zh-CN" sz="2400" dirty="0">
                <a:solidFill>
                  <a:schemeClr val="bg1"/>
                </a:solidFill>
                <a:latin typeface="+mn-ea"/>
                <a:ea typeface="+mn-ea"/>
              </a:rPr>
              <a:t>自然数集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）            </a:t>
            </a:r>
            <a:r>
              <a:rPr lang="zh-CN" altLang="zh-CN" sz="2400" dirty="0">
                <a:solidFill>
                  <a:schemeClr val="bg1"/>
                </a:solidFill>
                <a:latin typeface="+mn-ea"/>
                <a:ea typeface="+mn-ea"/>
              </a:rPr>
              <a:t>有理数集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Q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）</a:t>
            </a:r>
            <a:endParaRPr lang="zh-CN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zh-CN" sz="2400" dirty="0">
                <a:solidFill>
                  <a:schemeClr val="bg1"/>
                </a:solidFill>
                <a:latin typeface="+mn-ea"/>
                <a:ea typeface="+mn-ea"/>
              </a:rPr>
              <a:t>整数集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Z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）              </a:t>
            </a:r>
            <a:r>
              <a:rPr lang="zh-CN" altLang="en-US" sz="2400" dirty="0">
                <a:solidFill>
                  <a:srgbClr val="FFFF00"/>
                </a:solidFill>
                <a:latin typeface="+mn-ea"/>
                <a:ea typeface="+mn-ea"/>
              </a:rPr>
              <a:t>正</a:t>
            </a:r>
            <a:r>
              <a:rPr lang="zh-CN" altLang="zh-CN" sz="2400" dirty="0">
                <a:solidFill>
                  <a:srgbClr val="FFFF00"/>
                </a:solidFill>
                <a:latin typeface="+mn-ea"/>
                <a:ea typeface="+mn-ea"/>
              </a:rPr>
              <a:t>整数集</a:t>
            </a:r>
            <a:r>
              <a:rPr lang="zh-CN" altLang="en-US" sz="2400" dirty="0">
                <a:solidFill>
                  <a:srgbClr val="FFFF00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rgbClr val="FFFF00"/>
                </a:solidFill>
                <a:latin typeface="+mn-ea"/>
                <a:ea typeface="+mn-ea"/>
              </a:rPr>
              <a:t>Z</a:t>
            </a:r>
            <a:r>
              <a:rPr lang="en-US" altLang="zh-CN" sz="2400" baseline="30000" dirty="0">
                <a:solidFill>
                  <a:srgbClr val="FFFF00"/>
                </a:solidFill>
                <a:latin typeface="+mn-ea"/>
                <a:ea typeface="+mn-ea"/>
              </a:rPr>
              <a:t>+</a:t>
            </a:r>
            <a:r>
              <a:rPr lang="zh-CN" altLang="en-US" sz="2400" dirty="0">
                <a:solidFill>
                  <a:srgbClr val="FFFF00"/>
                </a:solidFill>
                <a:latin typeface="+mn-ea"/>
                <a:ea typeface="+mn-ea"/>
              </a:rPr>
              <a:t>）</a:t>
            </a:r>
            <a:endParaRPr lang="en-US" altLang="zh-CN" sz="2400" dirty="0">
              <a:solidFill>
                <a:srgbClr val="FFFF00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zh-CN" sz="2400" dirty="0">
                <a:solidFill>
                  <a:schemeClr val="bg1"/>
                </a:solidFill>
                <a:latin typeface="+mn-ea"/>
                <a:ea typeface="+mn-ea"/>
              </a:rPr>
              <a:t>实数集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R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）              </a:t>
            </a:r>
            <a:r>
              <a:rPr lang="zh-CN" altLang="zh-CN" sz="2400" dirty="0">
                <a:solidFill>
                  <a:schemeClr val="bg1"/>
                </a:solidFill>
                <a:latin typeface="+mn-ea"/>
                <a:ea typeface="+mn-ea"/>
              </a:rPr>
              <a:t>复数集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C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）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……</a:t>
            </a:r>
            <a:endParaRPr lang="zh-CN" altLang="zh-CN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1325049" y="3033689"/>
            <a:ext cx="10360330" cy="1089529"/>
          </a:xfrm>
          <a:prstGeom prst="rect">
            <a:avLst/>
          </a:prstGeom>
          <a:solidFill>
            <a:srgbClr val="74B836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marL="342900" indent="-3429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 通常用带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不带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标号的</a:t>
            </a:r>
            <a:r>
              <a:rPr lang="zh-CN" altLang="en-US" sz="2400" kern="0" dirty="0">
                <a:solidFill>
                  <a:srgbClr val="FFFF00"/>
                </a:solidFill>
                <a:latin typeface="+mn-ea"/>
                <a:cs typeface="Times New Roman" panose="02020603050405020304" pitchFamily="18" charset="0"/>
              </a:rPr>
              <a:t>大写字母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A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B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... A</a:t>
            </a:r>
            <a:r>
              <a:rPr lang="en-US" altLang="zh-CN" sz="2400" kern="0" baseline="-250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B</a:t>
            </a:r>
            <a:r>
              <a:rPr lang="en-US" altLang="zh-CN" sz="2400" kern="0" baseline="-250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1 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...X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Y...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表示集合；</a:t>
            </a:r>
          </a:p>
          <a:p>
            <a:pPr marL="0" indent="0" eaLnBrk="1" fontAlgn="ctr" hangingPunct="1">
              <a:lnSpc>
                <a:spcPct val="130000"/>
              </a:lnSpc>
              <a:buNone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 通常用带（不带）标号的</a:t>
            </a:r>
            <a:r>
              <a:rPr lang="zh-CN" altLang="en-US" sz="2400" kern="0" dirty="0">
                <a:solidFill>
                  <a:srgbClr val="FFFF00"/>
                </a:solidFill>
                <a:latin typeface="+mn-ea"/>
                <a:cs typeface="Times New Roman" panose="02020603050405020304" pitchFamily="18" charset="0"/>
              </a:rPr>
              <a:t>小写字母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a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b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...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sz="2400" kern="0" baseline="-250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、 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b</a:t>
            </a:r>
            <a:r>
              <a:rPr lang="en-US" altLang="zh-CN" sz="2400" kern="0" baseline="-250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...x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y...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表示元素。</a:t>
            </a:r>
          </a:p>
        </p:txBody>
      </p:sp>
    </p:spTree>
    <p:extLst>
      <p:ext uri="{BB962C8B-B14F-4D97-AF65-F5344CB8AC3E}">
        <p14:creationId xmlns:p14="http://schemas.microsoft.com/office/powerpoint/2010/main" val="1482176689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 build="p" autoUpdateAnimBg="0"/>
      <p:bldP spid="11" grpId="0" build="p" autoUpdateAnimBg="0"/>
      <p:bldP spid="14" grpId="0" build="p" autoUpdateAnimBg="0"/>
      <p:bldP spid="15" grpId="0" animBg="1"/>
      <p:bldP spid="17" grpId="0" animBg="1"/>
      <p:bldP spid="16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1.1.1 </a:t>
            </a:r>
            <a:r>
              <a:rPr lang="zh-CN" altLang="en-US" dirty="0"/>
              <a:t>集合的表示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6175" y="1372394"/>
            <a:ext cx="10515600" cy="457464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/>
              <a:t>  </a:t>
            </a:r>
            <a:r>
              <a:rPr lang="zh-CN" altLang="en-US" sz="2400" b="1" dirty="0">
                <a:solidFill>
                  <a:schemeClr val="tx1"/>
                </a:solidFill>
              </a:rPr>
              <a:t>集合是由它所包含的元素完全确定的，为了表示一个集合，通常有：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00CC"/>
                </a:solidFill>
                <a:latin typeface="+mn-ea"/>
              </a:rPr>
              <a:t> 列举法（显式法）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00CC"/>
                </a:solidFill>
                <a:latin typeface="+mn-ea"/>
              </a:rPr>
              <a:t> 描述法（隐式法）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00CC"/>
                </a:solidFill>
                <a:latin typeface="+mn-ea"/>
              </a:rPr>
              <a:t> 归纳法 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00CC"/>
                </a:solidFill>
                <a:latin typeface="+mn-ea"/>
              </a:rPr>
              <a:t> 递归指定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00CC"/>
                </a:solidFill>
                <a:latin typeface="+mn-ea"/>
              </a:rPr>
              <a:t> 文氏图</a:t>
            </a:r>
          </a:p>
        </p:txBody>
      </p:sp>
    </p:spTree>
    <p:extLst>
      <p:ext uri="{BB962C8B-B14F-4D97-AF65-F5344CB8AC3E}">
        <p14:creationId xmlns:p14="http://schemas.microsoft.com/office/powerpoint/2010/main" val="2441756774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、列举法（显式法）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46151" y="1053068"/>
            <a:ext cx="11220450" cy="639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－－列出集合中全部元素或部分元素</a:t>
            </a:r>
            <a:r>
              <a:rPr lang="zh-CN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且能看出其它元素规律的方法叫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列举法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946151" y="1722172"/>
            <a:ext cx="9217025" cy="4979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zh-CN" altLang="en-US" sz="2400" b="1" dirty="0">
                <a:solidFill>
                  <a:srgbClr val="9900CC"/>
                </a:solidFill>
                <a:latin typeface="+mn-ea"/>
                <a:ea typeface="+mn-ea"/>
                <a:cs typeface="Times New Roman" panose="02020603050405020304" pitchFamily="18" charset="0"/>
              </a:rPr>
              <a:t>例如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{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 = {0, 1, 4, …, n</a:t>
            </a:r>
            <a:r>
              <a:rPr lang="en-US" sz="2400" b="1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, …}</a:t>
            </a:r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946151" y="2330651"/>
            <a:ext cx="69135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适用场景：</a:t>
            </a:r>
          </a:p>
          <a:p>
            <a:pPr lvl="1" algn="l" eaLnBrk="1" hangingPunct="1"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一个集合仅含有限个元素</a:t>
            </a:r>
          </a:p>
          <a:p>
            <a:pPr lvl="1" algn="l" eaLnBrk="1" hangingPunct="1"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一个集合的元素之间有明显规律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46151" y="3862211"/>
            <a:ext cx="11201400" cy="2713169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457360" indent="-457360" algn="l" defTabSz="1219627" rtl="0" eaLnBrk="1" latinLnBrk="0" hangingPunct="1">
              <a:spcBef>
                <a:spcPct val="20000"/>
              </a:spcBef>
              <a:buSzPct val="80000"/>
              <a:buFont typeface="Wingdings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947" indent="-381133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优缺点：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是一种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显式表示法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，具有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直观性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；</a:t>
            </a:r>
            <a:r>
              <a:rPr lang="zh-CN" altLang="en-US" sz="2400" b="1" dirty="0">
                <a:solidFill>
                  <a:srgbClr val="0000CC"/>
                </a:solidFill>
                <a:latin typeface="+mn-ea"/>
              </a:rPr>
              <a:t>（优点）</a:t>
            </a:r>
            <a:endParaRPr lang="en-US" altLang="zh-CN" sz="2400" b="1" dirty="0">
              <a:solidFill>
                <a:srgbClr val="0000CC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u"/>
            </a:pP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对某些集合，列出其所有的元素是不可能的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；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（缺点）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u"/>
            </a:pP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从计算机的角度看，显示法是一种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静态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表示方法，如果同时将所有的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元素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都输入到计算机中，将占据大量的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内存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。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（缺点）</a:t>
            </a:r>
          </a:p>
        </p:txBody>
      </p:sp>
    </p:spTree>
    <p:extLst>
      <p:ext uri="{BB962C8B-B14F-4D97-AF65-F5344CB8AC3E}">
        <p14:creationId xmlns:p14="http://schemas.microsoft.com/office/powerpoint/2010/main" val="1721901485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 autoUpdateAnimBg="0"/>
      <p:bldP spid="15365" grpId="0" autoUpdateAnimBg="0"/>
      <p:bldP spid="15366" grpId="0" autoUpdateAnimBg="0"/>
      <p:bldP spid="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</a:t>
            </a:r>
            <a:r>
              <a:rPr lang="zh-CN" altLang="en-US"/>
              <a:t>、描述法（隐式法）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941" y="1072914"/>
            <a:ext cx="11269834" cy="187685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通过刻画集合中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元素所具备的某种特性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来表示集合的方法称为</a:t>
            </a:r>
            <a:r>
              <a:rPr lang="zh-CN" altLang="en-US" sz="2400" b="1" dirty="0">
                <a:solidFill>
                  <a:srgbClr val="C00000"/>
                </a:solidFill>
                <a:cs typeface="Times New Roman" panose="02020603050405020304" pitchFamily="18" charset="0"/>
              </a:rPr>
              <a:t>描述法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（隐式法）</a:t>
            </a:r>
            <a:r>
              <a:rPr lang="zh-CN" altLang="en-US" sz="2400" b="1" dirty="0"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一般表示方法：</a:t>
            </a:r>
            <a:endParaRPr lang="en-US" altLang="zh-CN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                                                    A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{</a:t>
            </a:r>
            <a:r>
              <a:rPr lang="en-US" altLang="zh-CN" sz="24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x|</a:t>
            </a:r>
            <a:r>
              <a:rPr lang="en-US" altLang="zh-CN" sz="2400" b="1" u="sng" dirty="0" err="1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(x)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7413" name="AutoShape 4"/>
          <p:cNvSpPr>
            <a:spLocks noChangeArrowheads="1"/>
          </p:cNvSpPr>
          <p:nvPr/>
        </p:nvSpPr>
        <p:spPr bwMode="auto">
          <a:xfrm>
            <a:off x="3355975" y="1723939"/>
            <a:ext cx="1727600" cy="574808"/>
          </a:xfrm>
          <a:prstGeom prst="cloudCallout">
            <a:avLst>
              <a:gd name="adj1" fmla="val 83100"/>
              <a:gd name="adj2" fmla="val 23915"/>
            </a:avLst>
          </a:prstGeom>
          <a:solidFill>
            <a:srgbClr val="99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代表元</a:t>
            </a:r>
          </a:p>
        </p:txBody>
      </p:sp>
      <p:sp>
        <p:nvSpPr>
          <p:cNvPr id="17414" name="AutoShape 5"/>
          <p:cNvSpPr>
            <a:spLocks noChangeArrowheads="1"/>
          </p:cNvSpPr>
          <p:nvPr/>
        </p:nvSpPr>
        <p:spPr bwMode="auto">
          <a:xfrm>
            <a:off x="8080833" y="1577612"/>
            <a:ext cx="2437941" cy="1090182"/>
          </a:xfrm>
          <a:prstGeom prst="cloudCallout">
            <a:avLst>
              <a:gd name="adj1" fmla="val -131533"/>
              <a:gd name="adj2" fmla="val -1430"/>
            </a:avLst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所具有的性质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76275" y="2592212"/>
            <a:ext cx="10591800" cy="1125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dirty="0">
                <a:solidFill>
                  <a:srgbClr val="9900CC"/>
                </a:solidFill>
                <a:latin typeface="+mn-ea"/>
                <a:cs typeface="Times New Roman" panose="02020603050405020304" pitchFamily="18" charset="0"/>
              </a:rPr>
              <a:t>例如：</a:t>
            </a:r>
            <a:r>
              <a:rPr lang="zh-CN" altLang="en-US" sz="2400" dirty="0">
                <a:solidFill>
                  <a:srgbClr val="080010"/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0" dirty="0">
                <a:solidFill>
                  <a:srgbClr val="080010"/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solidFill>
                  <a:srgbClr val="080010"/>
                </a:solidFill>
                <a:latin typeface="+mn-ea"/>
                <a:cs typeface="Times New Roman" panose="02020603050405020304" pitchFamily="18" charset="0"/>
              </a:rPr>
              <a:t>）</a:t>
            </a:r>
            <a:r>
              <a:rPr lang="en-US" altLang="zh-CN" sz="2400" kern="0" dirty="0">
                <a:latin typeface="+mn-ea"/>
                <a:cs typeface="Times New Roman" panose="02020603050405020304" pitchFamily="18" charset="0"/>
              </a:rPr>
              <a:t>A = {</a:t>
            </a:r>
            <a:r>
              <a:rPr lang="en-US" altLang="zh-CN" sz="2400" kern="0" dirty="0" err="1">
                <a:latin typeface="+mn-ea"/>
                <a:cs typeface="Times New Roman" panose="02020603050405020304" pitchFamily="18" charset="0"/>
              </a:rPr>
              <a:t>x|x</a:t>
            </a:r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是“</a:t>
            </a:r>
            <a:r>
              <a:rPr lang="en-US" altLang="zh-CN" sz="2400" kern="0" dirty="0">
                <a:latin typeface="+mn-ea"/>
                <a:cs typeface="Times New Roman" panose="02020603050405020304" pitchFamily="18" charset="0"/>
              </a:rPr>
              <a:t>discrete mathematics”</a:t>
            </a:r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中的所有字母</a:t>
            </a:r>
            <a:r>
              <a:rPr lang="en-US" altLang="zh-CN" sz="2400" kern="0" dirty="0">
                <a:latin typeface="+mn-ea"/>
                <a:cs typeface="Times New Roman" panose="02020603050405020304" pitchFamily="18" charset="0"/>
              </a:rPr>
              <a:t>}</a:t>
            </a:r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；</a:t>
            </a:r>
            <a:endParaRPr lang="en-US" altLang="zh-CN" sz="2400" kern="0" dirty="0">
              <a:latin typeface="+mn-ea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            （</a:t>
            </a:r>
            <a:r>
              <a:rPr lang="en-US" altLang="zh-CN" sz="2400" kern="0" dirty="0"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M={x|1</a:t>
            </a:r>
            <a:r>
              <a:rPr lang="en-US" altLang="zh-CN" sz="2400" dirty="0"/>
              <a:t>≤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/>
              <a:t>≤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12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被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整除，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∈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Z}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。</a:t>
            </a:r>
            <a:endParaRPr lang="zh-CN" altLang="en-US" sz="2400" kern="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54050" y="3784718"/>
            <a:ext cx="846038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适用场景：</a:t>
            </a:r>
          </a:p>
          <a:p>
            <a:pPr lvl="1" algn="l"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 一个集合含有很多或无穷多个元素；</a:t>
            </a:r>
          </a:p>
          <a:p>
            <a:pPr lvl="1" algn="l"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 一个集合的元素之间有容易刻画的共同特征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11028" y="5302267"/>
            <a:ext cx="1139365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  <a:latin typeface="+mn-ea"/>
              </a:rPr>
              <a:t>优缺点：</a:t>
            </a:r>
            <a:endParaRPr lang="en-US" altLang="zh-CN" sz="2400" dirty="0">
              <a:solidFill>
                <a:srgbClr val="C00000"/>
              </a:solidFill>
              <a:latin typeface="+mn-ea"/>
            </a:endParaRPr>
          </a:p>
          <a:p>
            <a:pPr eaLnBrk="1" hangingPunct="1">
              <a:buClrTx/>
              <a:buFont typeface="Wingdings" panose="05000000000000000000" pitchFamily="2" charset="2"/>
              <a:buChar char="u"/>
              <a:defRPr/>
            </a:pPr>
            <a:r>
              <a:rPr lang="zh-CN" altLang="en-US" sz="2400" kern="0" dirty="0">
                <a:latin typeface="+mn-ea"/>
              </a:rPr>
              <a:t>不要求列出集合中全部元素，而只要给出该集合中元素的特性；</a:t>
            </a:r>
            <a:r>
              <a:rPr lang="zh-CN" altLang="en-US" sz="2400" kern="0" dirty="0">
                <a:solidFill>
                  <a:srgbClr val="0000FF"/>
                </a:solidFill>
                <a:latin typeface="+mn-ea"/>
              </a:rPr>
              <a:t>（优点）</a:t>
            </a:r>
            <a:endParaRPr lang="en-US" altLang="zh-CN" sz="2400" kern="0" dirty="0">
              <a:solidFill>
                <a:srgbClr val="0000FF"/>
              </a:solidFill>
              <a:latin typeface="+mn-ea"/>
            </a:endParaRPr>
          </a:p>
          <a:p>
            <a:pPr eaLnBrk="1" hangingPunct="1">
              <a:buClrTx/>
              <a:buFont typeface="Wingdings" panose="05000000000000000000" pitchFamily="2" charset="2"/>
              <a:buChar char="u"/>
              <a:defRPr/>
            </a:pPr>
            <a:r>
              <a:rPr lang="zh-CN" altLang="en-US" sz="2400" kern="0" dirty="0">
                <a:latin typeface="+mn-ea"/>
              </a:rPr>
              <a:t>有时候元素的特性不易发现。</a:t>
            </a:r>
            <a:r>
              <a:rPr lang="zh-CN" altLang="en-US" sz="2400" kern="0" dirty="0">
                <a:solidFill>
                  <a:srgbClr val="0000FF"/>
                </a:solidFill>
                <a:latin typeface="+mn-ea"/>
              </a:rPr>
              <a:t>（缺点）</a:t>
            </a:r>
          </a:p>
        </p:txBody>
      </p:sp>
    </p:spTree>
    <p:extLst>
      <p:ext uri="{BB962C8B-B14F-4D97-AF65-F5344CB8AC3E}">
        <p14:creationId xmlns:p14="http://schemas.microsoft.com/office/powerpoint/2010/main" val="2950031148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 autoUpdateAnimBg="0"/>
      <p:bldP spid="17414" grpId="0" animBg="1" autoUpdateAnimBg="0"/>
      <p:bldP spid="7" grpId="0" build="p" autoUpdateAnimBg="0" advAuto="0"/>
      <p:bldP spid="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</a:t>
            </a:r>
            <a:r>
              <a:rPr lang="zh-CN" altLang="en-US"/>
              <a:t>、归纳法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7575" y="1068389"/>
            <a:ext cx="8681383" cy="2514600"/>
          </a:xfrm>
          <a:noFill/>
        </p:spPr>
        <p:txBody>
          <a:bodyPr vert="horz" lIns="0" tIns="0" rIns="0" bIns="0" rtlCol="0"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归纳法</a:t>
            </a:r>
            <a:r>
              <a:rPr lang="zh-CN" altLang="en-US" dirty="0"/>
              <a:t>是通过归纳定义集合，主要由三部分组成：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第一部分：</a:t>
            </a:r>
            <a:r>
              <a:rPr lang="zh-CN" altLang="en-US" dirty="0">
                <a:solidFill>
                  <a:srgbClr val="FF0000"/>
                </a:solidFill>
              </a:rPr>
              <a:t>基础。</a:t>
            </a:r>
            <a:r>
              <a:rPr lang="zh-CN" altLang="en-US" dirty="0"/>
              <a:t>指出某些最基本的元素属于某集合；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第二部分：</a:t>
            </a:r>
            <a:r>
              <a:rPr lang="zh-CN" altLang="en-US" dirty="0">
                <a:solidFill>
                  <a:srgbClr val="FF0000"/>
                </a:solidFill>
              </a:rPr>
              <a:t>归纳。</a:t>
            </a:r>
            <a:r>
              <a:rPr lang="zh-CN" altLang="en-US" dirty="0"/>
              <a:t>指出由基本元素造出新元素的方法；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第三部分：</a:t>
            </a:r>
            <a:r>
              <a:rPr lang="zh-CN" altLang="en-US" dirty="0">
                <a:solidFill>
                  <a:srgbClr val="FF0000"/>
                </a:solidFill>
              </a:rPr>
              <a:t>极小性。</a:t>
            </a:r>
            <a:r>
              <a:rPr lang="zh-CN" altLang="en-US" dirty="0"/>
              <a:t>指出该集合的界限。</a:t>
            </a:r>
          </a:p>
        </p:txBody>
      </p:sp>
      <p:sp>
        <p:nvSpPr>
          <p:cNvPr id="19461" name="AutoShape 4"/>
          <p:cNvSpPr>
            <a:spLocks noChangeArrowheads="1"/>
          </p:cNvSpPr>
          <p:nvPr/>
        </p:nvSpPr>
        <p:spPr bwMode="auto">
          <a:xfrm>
            <a:off x="820828" y="3582989"/>
            <a:ext cx="10515600" cy="2312289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765E00"/>
              </a:gs>
              <a:gs pos="50000">
                <a:srgbClr val="FFCC00"/>
              </a:gs>
              <a:gs pos="100000">
                <a:srgbClr val="765E00"/>
              </a:gs>
            </a:gsLst>
            <a:lin ang="5400000" scaled="1"/>
          </a:gradFill>
          <a:ln w="12700">
            <a:solidFill>
              <a:srgbClr val="003300"/>
            </a:solidFill>
            <a:round/>
            <a:headEnd/>
            <a:tailEnd/>
          </a:ln>
        </p:spPr>
        <p:txBody>
          <a:bodyPr anchor="ctr"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注意：第一部分</a:t>
            </a:r>
            <a:r>
              <a:rPr lang="zh-CN" altLang="en-US" sz="2400" dirty="0">
                <a:latin typeface="+mn-ea"/>
                <a:ea typeface="+mn-ea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第二部分</a:t>
            </a:r>
            <a:r>
              <a:rPr lang="zh-CN" altLang="en-US" sz="2400" dirty="0">
                <a:latin typeface="+mn-ea"/>
                <a:ea typeface="+mn-ea"/>
              </a:rPr>
              <a:t>指出一个集合</a:t>
            </a:r>
            <a:r>
              <a:rPr lang="zh-CN" altLang="en-US" sz="2400" dirty="0">
                <a:solidFill>
                  <a:srgbClr val="333399"/>
                </a:solidFill>
                <a:latin typeface="+mn-ea"/>
                <a:ea typeface="+mn-ea"/>
              </a:rPr>
              <a:t>至少包括的元素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第三部分</a:t>
            </a:r>
            <a:r>
              <a:rPr lang="zh-CN" altLang="en-US" sz="2400" dirty="0">
                <a:latin typeface="+mn-ea"/>
                <a:ea typeface="+mn-ea"/>
              </a:rPr>
              <a:t>指出一个集合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至多要包含的元素</a:t>
            </a:r>
            <a:endParaRPr lang="zh-CN" altLang="en-US" sz="2400" dirty="0">
              <a:solidFill>
                <a:schemeClr val="tx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787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 autoUpdateAnimBg="0" advAuto="0"/>
      <p:bldP spid="19461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例如</a:t>
            </a:r>
            <a:endParaRPr lang="en-US" altLang="zh-CN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88817" y="1067594"/>
            <a:ext cx="9906000" cy="4025244"/>
          </a:xfrm>
        </p:spPr>
        <p:txBody>
          <a:bodyPr/>
          <a:lstStyle/>
          <a:p>
            <a:pPr marL="685937" indent="-685937">
              <a:buNone/>
            </a:pPr>
            <a:r>
              <a:rPr lang="zh-CN" altLang="en-US" dirty="0">
                <a:solidFill>
                  <a:srgbClr val="0000FF"/>
                </a:solidFill>
              </a:rPr>
              <a:t>集合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按如下方式定义：</a:t>
            </a:r>
          </a:p>
          <a:p>
            <a:pPr marL="685937" indent="-685937"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都是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中的元素；</a:t>
            </a:r>
          </a:p>
          <a:p>
            <a:pPr marL="685937" indent="-685937"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）如果</a:t>
            </a:r>
            <a:r>
              <a:rPr lang="en-US" altLang="zh-CN" dirty="0">
                <a:solidFill>
                  <a:schemeClr val="tx1"/>
                </a:solidFill>
              </a:rPr>
              <a:t>a, b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中的元素，则</a:t>
            </a:r>
            <a:r>
              <a:rPr lang="en-US" altLang="zh-CN" dirty="0">
                <a:solidFill>
                  <a:schemeClr val="tx1"/>
                </a:solidFill>
              </a:rPr>
              <a:t>ab, </a:t>
            </a:r>
            <a:r>
              <a:rPr lang="en-US" altLang="zh-CN" dirty="0" err="1">
                <a:solidFill>
                  <a:schemeClr val="tx1"/>
                </a:solidFill>
              </a:rPr>
              <a:t>ba</a:t>
            </a:r>
            <a:r>
              <a:rPr lang="zh-CN" altLang="en-US" dirty="0">
                <a:solidFill>
                  <a:schemeClr val="tx1"/>
                </a:solidFill>
              </a:rPr>
              <a:t>也是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中的元素；</a:t>
            </a:r>
          </a:p>
          <a:p>
            <a:pPr marL="685937" indent="-685937"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）有限次使用</a:t>
            </a:r>
            <a:r>
              <a:rPr lang="en-US" altLang="zh-CN" dirty="0">
                <a:solidFill>
                  <a:schemeClr val="tx1"/>
                </a:solidFill>
              </a:rPr>
              <a:t>(1)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(2)</a:t>
            </a:r>
            <a:r>
              <a:rPr lang="zh-CN" altLang="en-US" dirty="0">
                <a:solidFill>
                  <a:schemeClr val="tx1"/>
                </a:solidFill>
              </a:rPr>
              <a:t>后所得到的字符串都是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中的元素。</a:t>
            </a:r>
          </a:p>
          <a:p>
            <a:pPr marL="685937" indent="-685937">
              <a:buNone/>
            </a:pPr>
            <a:r>
              <a:rPr lang="zh-CN" altLang="en-US" dirty="0">
                <a:solidFill>
                  <a:schemeClr val="tx1"/>
                </a:solidFill>
              </a:rPr>
              <a:t>试指出其定义方式，并举出集合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中的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个元素。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91992" y="4344194"/>
            <a:ext cx="8210862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685937" indent="-685937" eaLnBrk="1" hangingPunct="1">
              <a:buNone/>
              <a:defRPr/>
            </a:pPr>
            <a:r>
              <a:rPr lang="zh-CN" altLang="en-US" sz="2400" kern="0" dirty="0">
                <a:solidFill>
                  <a:srgbClr val="C00000"/>
                </a:solidFill>
                <a:latin typeface="+mn-ea"/>
              </a:rPr>
              <a:t>显然，</a:t>
            </a:r>
            <a:r>
              <a:rPr lang="en-US" altLang="zh-CN" sz="2400" kern="0" dirty="0">
                <a:solidFill>
                  <a:srgbClr val="C00000"/>
                </a:solidFill>
                <a:latin typeface="+mn-ea"/>
              </a:rPr>
              <a:t>0</a:t>
            </a:r>
            <a:r>
              <a:rPr lang="zh-CN" altLang="en-US" sz="2400" kern="0" dirty="0">
                <a:solidFill>
                  <a:srgbClr val="C00000"/>
                </a:solidFill>
                <a:latin typeface="+mn-ea"/>
              </a:rPr>
              <a:t>，</a:t>
            </a:r>
            <a:r>
              <a:rPr lang="en-US" altLang="zh-CN" sz="2400" kern="0" dirty="0">
                <a:solidFill>
                  <a:srgbClr val="C00000"/>
                </a:solidFill>
                <a:latin typeface="+mn-ea"/>
              </a:rPr>
              <a:t>1</a:t>
            </a:r>
            <a:r>
              <a:rPr lang="zh-CN" altLang="en-US" sz="2400" kern="0" dirty="0">
                <a:solidFill>
                  <a:srgbClr val="C00000"/>
                </a:solidFill>
                <a:latin typeface="+mn-ea"/>
              </a:rPr>
              <a:t>，</a:t>
            </a:r>
            <a:r>
              <a:rPr lang="en-US" altLang="zh-CN" sz="2400" kern="0" dirty="0">
                <a:solidFill>
                  <a:srgbClr val="C00000"/>
                </a:solidFill>
                <a:latin typeface="+mn-ea"/>
              </a:rPr>
              <a:t>00</a:t>
            </a:r>
            <a:r>
              <a:rPr lang="zh-CN" altLang="en-US" sz="2400" kern="0" dirty="0">
                <a:solidFill>
                  <a:srgbClr val="C00000"/>
                </a:solidFill>
                <a:latin typeface="+mn-ea"/>
              </a:rPr>
              <a:t>，</a:t>
            </a:r>
            <a:r>
              <a:rPr lang="en-US" altLang="zh-CN" sz="2400" kern="0" dirty="0">
                <a:solidFill>
                  <a:srgbClr val="C00000"/>
                </a:solidFill>
                <a:latin typeface="+mn-ea"/>
              </a:rPr>
              <a:t>101</a:t>
            </a:r>
            <a:r>
              <a:rPr lang="zh-CN" altLang="en-US" sz="2400" kern="0" dirty="0">
                <a:solidFill>
                  <a:srgbClr val="C00000"/>
                </a:solidFill>
                <a:latin typeface="+mn-ea"/>
              </a:rPr>
              <a:t>等都是</a:t>
            </a:r>
            <a:r>
              <a:rPr lang="en-US" altLang="zh-CN" sz="2400" kern="0" dirty="0">
                <a:solidFill>
                  <a:srgbClr val="C00000"/>
                </a:solidFill>
                <a:latin typeface="+mn-ea"/>
              </a:rPr>
              <a:t>A</a:t>
            </a:r>
            <a:r>
              <a:rPr lang="zh-CN" altLang="en-US" sz="2400" kern="0" dirty="0">
                <a:solidFill>
                  <a:srgbClr val="C00000"/>
                </a:solidFill>
                <a:latin typeface="+mn-ea"/>
              </a:rPr>
              <a:t>中的元素。</a:t>
            </a:r>
          </a:p>
        </p:txBody>
      </p:sp>
    </p:spTree>
    <p:extLst>
      <p:ext uri="{BB962C8B-B14F-4D97-AF65-F5344CB8AC3E}">
        <p14:creationId xmlns:p14="http://schemas.microsoft.com/office/powerpoint/2010/main" val="248662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、递归指定集合法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3308" y="1077192"/>
            <a:ext cx="9525000" cy="1001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递归指定集合法是通过</a:t>
            </a:r>
            <a:r>
              <a:rPr lang="zh-CN" altLang="en-US" dirty="0">
                <a:solidFill>
                  <a:srgbClr val="FF0000"/>
                </a:solidFill>
              </a:rPr>
              <a:t>计算规则</a:t>
            </a:r>
            <a:r>
              <a:rPr lang="zh-CN" altLang="en-US" dirty="0"/>
              <a:t>定义集合中的元素的方法。</a:t>
            </a: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823308" y="1905794"/>
            <a:ext cx="95250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indent="-324000" algn="l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solidFill>
                  <a:srgbClr val="9900CC"/>
                </a:solidFill>
                <a:latin typeface="+mn-ea"/>
                <a:ea typeface="+mn-ea"/>
                <a:cs typeface="Times New Roman" panose="02020603050405020304" pitchFamily="18" charset="0"/>
              </a:rPr>
              <a:t>例如：</a:t>
            </a:r>
            <a:r>
              <a:rPr lang="en-US" altLang="zh-CN" sz="2400" dirty="0">
                <a:solidFill>
                  <a:srgbClr val="9900CC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设 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+mn-ea"/>
                <a:ea typeface="+mn-ea"/>
                <a:cs typeface="Times New Roman" panose="02020603050405020304" pitchFamily="18" charset="0"/>
              </a:rPr>
              <a:t>0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</a:p>
          <a:p>
            <a:pPr indent="-324000" algn="l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         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+mn-ea"/>
                <a:ea typeface="+mn-ea"/>
                <a:cs typeface="Times New Roman" panose="02020603050405020304" pitchFamily="18" charset="0"/>
              </a:rPr>
              <a:t>i+1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3a</a:t>
            </a:r>
            <a:r>
              <a:rPr lang="en-US" altLang="zh-CN" sz="2400" baseline="-25000" dirty="0">
                <a:latin typeface="+mn-ea"/>
                <a:ea typeface="+mn-ea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0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sz="24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indent="-324000" algn="l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    定义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{a</a:t>
            </a:r>
            <a:r>
              <a:rPr lang="en-US" altLang="zh-CN" sz="2400" baseline="-25000" dirty="0"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...}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{</a:t>
            </a:r>
            <a:r>
              <a:rPr lang="en-US" altLang="zh-CN" sz="2400" dirty="0" err="1"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err="1">
                <a:latin typeface="+mn-ea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baseline="-2500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| k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0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29702" name="矩形 1"/>
          <p:cNvSpPr>
            <a:spLocks noChangeArrowheads="1"/>
          </p:cNvSpPr>
          <p:nvPr/>
        </p:nvSpPr>
        <p:spPr bwMode="auto">
          <a:xfrm>
            <a:off x="839183" y="3923599"/>
            <a:ext cx="9067800" cy="1130246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则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就是用递归指定集合法定义的，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根据给定的计算规则，集合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S = {3</a:t>
            </a:r>
            <a:r>
              <a:rPr lang="en-US" altLang="zh-CN" sz="2400" baseline="300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, 3</a:t>
            </a:r>
            <a:r>
              <a:rPr lang="en-US" altLang="zh-CN" sz="2400" baseline="300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, 3</a:t>
            </a:r>
            <a:r>
              <a:rPr lang="en-US" altLang="zh-CN" sz="2400" baseline="300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, …, 3</a:t>
            </a:r>
            <a:r>
              <a:rPr lang="en-US" altLang="zh-CN" sz="2400" baseline="300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, …}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784785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 autoUpdateAnimBg="0" advAuto="0"/>
      <p:bldP spid="21509" grpId="0" build="p" autoUpdateAnimBg="0" advAuto="0"/>
      <p:bldP spid="2970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</a:t>
            </a:r>
            <a:r>
              <a:rPr lang="zh-CN" altLang="en-US"/>
              <a:t>、文氏图解法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1775" y="1372394"/>
            <a:ext cx="11125200" cy="1259337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dirty="0"/>
              <a:t>    </a:t>
            </a:r>
            <a:r>
              <a:rPr lang="zh-CN" altLang="en-US" dirty="0">
                <a:solidFill>
                  <a:srgbClr val="FF0000"/>
                </a:solidFill>
              </a:rPr>
              <a:t>文氏图解法</a:t>
            </a:r>
            <a:r>
              <a:rPr lang="zh-CN" altLang="en-US" dirty="0"/>
              <a:t>是一种利用平面上点的集合作成的对集合的图解。一般用平面上的</a:t>
            </a:r>
            <a:r>
              <a:rPr lang="zh-CN" altLang="en-US" dirty="0">
                <a:solidFill>
                  <a:srgbClr val="0000FF"/>
                </a:solidFill>
              </a:rPr>
              <a:t>圆形或方形</a:t>
            </a:r>
            <a:r>
              <a:rPr lang="zh-CN" altLang="en-US" dirty="0">
                <a:solidFill>
                  <a:schemeClr val="tx1"/>
                </a:solidFill>
              </a:rPr>
              <a:t>表示一个集合。 </a:t>
            </a:r>
          </a:p>
        </p:txBody>
      </p:sp>
      <p:sp>
        <p:nvSpPr>
          <p:cNvPr id="22533" name="Rectangle 4" descr="深色上对角线"/>
          <p:cNvSpPr>
            <a:spLocks noChangeArrowheads="1"/>
          </p:cNvSpPr>
          <p:nvPr/>
        </p:nvSpPr>
        <p:spPr bwMode="auto">
          <a:xfrm>
            <a:off x="2528132" y="3045636"/>
            <a:ext cx="2046761" cy="182446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1">
                <a:solidFill>
                  <a:srgbClr val="FF0000"/>
                </a:solidFill>
                <a:latin typeface="+mn-ea"/>
                <a:ea typeface="+mn-ea"/>
              </a:rPr>
              <a:t>A</a:t>
            </a:r>
          </a:p>
        </p:txBody>
      </p:sp>
      <p:sp>
        <p:nvSpPr>
          <p:cNvPr id="22534" name="Oval 5" descr="深色上对角线"/>
          <p:cNvSpPr>
            <a:spLocks noChangeArrowheads="1"/>
          </p:cNvSpPr>
          <p:nvPr/>
        </p:nvSpPr>
        <p:spPr bwMode="auto">
          <a:xfrm>
            <a:off x="5794375" y="2972594"/>
            <a:ext cx="2064228" cy="1945138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1">
                <a:solidFill>
                  <a:srgbClr val="FF0000"/>
                </a:solidFill>
                <a:latin typeface="+mn-ea"/>
                <a:ea typeface="+mn-ea"/>
              </a:rPr>
              <a:t>A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460375" y="5284001"/>
            <a:ext cx="10515600" cy="1251304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765E00"/>
              </a:gs>
              <a:gs pos="50000">
                <a:srgbClr val="FFCC00"/>
              </a:gs>
              <a:gs pos="100000">
                <a:srgbClr val="765E00"/>
              </a:gs>
            </a:gsLst>
            <a:lin ang="5400000" scaled="1"/>
          </a:gradFill>
          <a:ln w="12700">
            <a:solidFill>
              <a:srgbClr val="003300"/>
            </a:solidFill>
            <a:round/>
            <a:headEnd/>
            <a:tailEnd/>
          </a:ln>
        </p:spPr>
        <p:txBody>
          <a:bodyPr anchor="ctr"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注意：</a:t>
            </a:r>
            <a:r>
              <a:rPr lang="zh-CN" altLang="en-US" sz="2400" dirty="0">
                <a:latin typeface="+mn-ea"/>
                <a:ea typeface="+mn-ea"/>
              </a:rPr>
              <a:t>对任意给定的集合，可以根据具体要求选择恰当的表示方法。 </a:t>
            </a:r>
          </a:p>
        </p:txBody>
      </p:sp>
    </p:spTree>
    <p:extLst>
      <p:ext uri="{BB962C8B-B14F-4D97-AF65-F5344CB8AC3E}">
        <p14:creationId xmlns:p14="http://schemas.microsoft.com/office/powerpoint/2010/main" val="33285019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 autoUpdateAnimBg="0"/>
      <p:bldP spid="22533" grpId="0" animBg="1" autoUpdateAnimBg="0"/>
      <p:bldP spid="22534" grpId="0" animBg="1" autoUpdateAnimBg="0"/>
      <p:bldP spid="9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1.1.2 </a:t>
            </a:r>
            <a:r>
              <a:rPr lang="zh-CN" altLang="en-US" dirty="0"/>
              <a:t>集合与集合的关系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6175" y="2134394"/>
            <a:ext cx="10744199" cy="2918112"/>
          </a:xfrm>
        </p:spPr>
        <p:txBody>
          <a:bodyPr vert="horz" lIns="0" tIns="0" rIns="0" bIns="0" rtlCol="0"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00"/>
                </a:solidFill>
              </a:rPr>
              <a:t>互异性－</a:t>
            </a:r>
            <a:r>
              <a:rPr lang="zh-CN" altLang="en-US" dirty="0"/>
              <a:t>集合中的元素都是不同的，凡是相同的元素，均视为同一个元素；</a:t>
            </a:r>
          </a:p>
          <a:p>
            <a:pPr marL="0" indent="0" algn="ctr">
              <a:buNone/>
            </a:pPr>
            <a:r>
              <a:rPr lang="en-US" altLang="zh-CN" dirty="0">
                <a:solidFill>
                  <a:srgbClr val="0000CC"/>
                </a:solidFill>
              </a:rPr>
              <a:t>{1,1,2}={1,2}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00"/>
                </a:solidFill>
              </a:rPr>
              <a:t>确定性－</a:t>
            </a:r>
            <a:r>
              <a:rPr lang="zh-CN" altLang="en-US" dirty="0"/>
              <a:t>能够明确加以</a:t>
            </a:r>
            <a:r>
              <a:rPr lang="zh-CN" altLang="en-US" dirty="0">
                <a:latin typeface="宋体" panose="02010600030101010101" pitchFamily="2" charset="-122"/>
              </a:rPr>
              <a:t>“</a:t>
            </a:r>
            <a:r>
              <a:rPr lang="zh-CN" altLang="en-US" dirty="0"/>
              <a:t>区分的</a:t>
            </a:r>
            <a:r>
              <a:rPr lang="zh-CN" altLang="en-US" dirty="0">
                <a:latin typeface="宋体" panose="02010600030101010101" pitchFamily="2" charset="-122"/>
              </a:rPr>
              <a:t>”</a:t>
            </a:r>
            <a:r>
              <a:rPr lang="zh-CN" altLang="en-US" dirty="0"/>
              <a:t>对象；</a:t>
            </a:r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00"/>
                </a:solidFill>
              </a:rPr>
              <a:t>无序性－</a:t>
            </a:r>
            <a:r>
              <a:rPr lang="zh-CN" altLang="en-US" dirty="0"/>
              <a:t>集合中的元素是没有顺序的。</a:t>
            </a:r>
          </a:p>
          <a:p>
            <a:pPr marL="0" indent="0" algn="ctr">
              <a:buNone/>
            </a:pP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{2,1}={1,2}</a:t>
            </a:r>
            <a:endParaRPr lang="zh-CN" altLang="en-US" dirty="0">
              <a:solidFill>
                <a:srgbClr val="0000CC"/>
              </a:solidFill>
            </a:endParaRPr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776117" y="1289579"/>
            <a:ext cx="6553129" cy="4247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集合的三大特征</a:t>
            </a:r>
          </a:p>
        </p:txBody>
      </p:sp>
    </p:spTree>
    <p:extLst>
      <p:ext uri="{BB962C8B-B14F-4D97-AF65-F5344CB8AC3E}">
        <p14:creationId xmlns:p14="http://schemas.microsoft.com/office/powerpoint/2010/main" val="2868513094"/>
      </p:ext>
    </p:extLst>
  </p:cSld>
  <p:clrMapOvr>
    <a:masterClrMapping/>
  </p:clrMapOvr>
  <p:transition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</a:t>
            </a:r>
            <a:r>
              <a:rPr lang="zh-CN" altLang="en-US"/>
              <a:t>集合相等</a:t>
            </a:r>
            <a:endParaRPr lang="en-US" altLang="zh-CN"/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699039" y="1172172"/>
            <a:ext cx="11419936" cy="1532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1.1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设集合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{x|(x-1)(x-2)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x∈R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2400" dirty="0" err="1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x|x∈Z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＜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＜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3}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，试判断它</a:t>
            </a:r>
            <a:endParaRPr lang="en-US" altLang="zh-CN" sz="2400" dirty="0">
              <a:latin typeface="+mn-ea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 eaLnBrk="1" hangingPunct="1"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们是否是相同集合。</a:t>
            </a:r>
            <a:endParaRPr lang="en-US" altLang="zh-CN" sz="2400" dirty="0">
              <a:latin typeface="+mn-ea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 eaLnBrk="1" hangingPunct="1"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解</a:t>
            </a:r>
            <a:r>
              <a:rPr lang="en-US" altLang="zh-CN" sz="2400" dirty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因为集合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{1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2}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{1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2}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，所以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是相同的集合。</a:t>
            </a: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670463" y="3029405"/>
            <a:ext cx="10555458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zh-CN" sz="2400" dirty="0">
                <a:latin typeface="+mn-ea"/>
                <a:ea typeface="+mn-ea"/>
              </a:rPr>
              <a:t>把</a:t>
            </a:r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zh-CN" altLang="en-US" sz="2400" dirty="0">
                <a:latin typeface="+mn-ea"/>
                <a:ea typeface="+mn-ea"/>
              </a:rPr>
              <a:t>和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zh-CN" altLang="zh-CN" sz="2400" dirty="0">
                <a:latin typeface="+mn-ea"/>
                <a:ea typeface="+mn-ea"/>
              </a:rPr>
              <a:t>这种元素</a:t>
            </a:r>
            <a:r>
              <a:rPr lang="zh-CN" altLang="en-US" sz="2400" dirty="0">
                <a:latin typeface="+mn-ea"/>
                <a:ea typeface="+mn-ea"/>
              </a:rPr>
              <a:t>完全</a:t>
            </a:r>
            <a:r>
              <a:rPr lang="zh-CN" altLang="zh-CN" sz="2400" dirty="0">
                <a:latin typeface="+mn-ea"/>
                <a:ea typeface="+mn-ea"/>
              </a:rPr>
              <a:t>相同的两个集合称为</a:t>
            </a:r>
            <a:r>
              <a:rPr lang="zh-CN" altLang="zh-CN" sz="2400" dirty="0">
                <a:solidFill>
                  <a:srgbClr val="C00000"/>
                </a:solidFill>
                <a:latin typeface="+mn-ea"/>
                <a:ea typeface="+mn-ea"/>
              </a:rPr>
              <a:t>相等的集合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，</a:t>
            </a:r>
            <a:r>
              <a:rPr lang="zh-CN" altLang="en-US" sz="2400" dirty="0">
                <a:solidFill>
                  <a:srgbClr val="0033CC"/>
                </a:solidFill>
                <a:latin typeface="+mn-ea"/>
                <a:ea typeface="+mn-ea"/>
              </a:rPr>
              <a:t>记为</a:t>
            </a: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A=B</a:t>
            </a:r>
            <a:r>
              <a:rPr lang="zh-CN" altLang="en-US" sz="2400" dirty="0">
                <a:solidFill>
                  <a:srgbClr val="0033CC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04692" y="3886994"/>
            <a:ext cx="10287000" cy="1052596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None/>
              <a:defRPr/>
            </a:pPr>
            <a:r>
              <a:rPr lang="zh-CN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定理</a:t>
            </a:r>
            <a:r>
              <a:rPr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1.1</a:t>
            </a:r>
            <a:r>
              <a:rPr lang="zh-CN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（外延性原理）</a:t>
            </a:r>
            <a:endParaRPr lang="en-US" altLang="zh-CN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  <a:p>
            <a:pPr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当且仅当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与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具有相同的元素，否则，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A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itchFamily="18" charset="2"/>
              </a:rPr>
              <a:t>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B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136775" y="5649165"/>
            <a:ext cx="875625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rgbClr val="080010"/>
                </a:solidFill>
                <a:latin typeface="+mn-ea"/>
                <a:ea typeface="+mn-ea"/>
              </a:rPr>
              <a:t>在例</a:t>
            </a:r>
            <a:r>
              <a:rPr lang="en-US" altLang="zh-CN" sz="2400" dirty="0">
                <a:solidFill>
                  <a:srgbClr val="080010"/>
                </a:solidFill>
                <a:latin typeface="+mn-ea"/>
                <a:ea typeface="+mn-ea"/>
              </a:rPr>
              <a:t>1.1</a:t>
            </a:r>
            <a:r>
              <a:rPr lang="zh-CN" altLang="en-US" sz="2400" dirty="0">
                <a:solidFill>
                  <a:srgbClr val="080010"/>
                </a:solidFill>
                <a:latin typeface="+mn-ea"/>
                <a:ea typeface="+mn-ea"/>
              </a:rPr>
              <a:t>中，可以看出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中的每个元素都是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中的元素，</a:t>
            </a:r>
            <a:r>
              <a:rPr lang="zh-CN" altLang="en-US" sz="2400" dirty="0">
                <a:solidFill>
                  <a:srgbClr val="002060"/>
                </a:solidFill>
                <a:latin typeface="+mn-ea"/>
                <a:ea typeface="+mn-ea"/>
              </a:rPr>
              <a:t>此时称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是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的子集。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2B8C456-6C8A-4CF5-95CB-C1003E8CDD96}"/>
              </a:ext>
            </a:extLst>
          </p:cNvPr>
          <p:cNvGrpSpPr/>
          <p:nvPr/>
        </p:nvGrpSpPr>
        <p:grpSpPr>
          <a:xfrm>
            <a:off x="231775" y="5440607"/>
            <a:ext cx="1676400" cy="1248114"/>
            <a:chOff x="231775" y="5440607"/>
            <a:chExt cx="1676400" cy="1248114"/>
          </a:xfrm>
        </p:grpSpPr>
        <p:sp>
          <p:nvSpPr>
            <p:cNvPr id="2" name="椭圆 1"/>
            <p:cNvSpPr/>
            <p:nvPr/>
          </p:nvSpPr>
          <p:spPr>
            <a:xfrm>
              <a:off x="231775" y="5440607"/>
              <a:ext cx="1676400" cy="12481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n-ea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60375" y="5569364"/>
              <a:ext cx="1143000" cy="9906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002060"/>
                  </a:solidFill>
                  <a:latin typeface="+mn-ea"/>
                </a:rPr>
                <a:t>引出</a:t>
              </a:r>
              <a:endParaRPr lang="en-US" altLang="zh-CN" b="1" dirty="0">
                <a:solidFill>
                  <a:srgbClr val="002060"/>
                </a:solidFill>
                <a:latin typeface="+mn-ea"/>
              </a:endParaRPr>
            </a:p>
            <a:p>
              <a:pPr algn="ctr"/>
              <a:r>
                <a:rPr lang="zh-CN" altLang="en-US" b="1" dirty="0">
                  <a:solidFill>
                    <a:srgbClr val="002060"/>
                  </a:solidFill>
                  <a:latin typeface="+mn-ea"/>
                </a:rPr>
                <a:t>新定义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738216"/>
      </p:ext>
    </p:extLst>
  </p:cSld>
  <p:clrMapOvr>
    <a:masterClrMapping/>
  </p:clrMapOvr>
  <p:transition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utoUpdateAnimBg="0"/>
      <p:bldP spid="8" grpId="0" animBg="1" autoUpdateAnimBg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9" name="Text Box 5"/>
          <p:cNvSpPr txBox="1">
            <a:spLocks noChangeArrowheads="1"/>
          </p:cNvSpPr>
          <p:nvPr/>
        </p:nvSpPr>
        <p:spPr bwMode="auto">
          <a:xfrm>
            <a:off x="897028" y="3810744"/>
            <a:ext cx="10363200" cy="1212346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txBody>
          <a:bodyPr anchor="ctr"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1.1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的数学语言描述为：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对任意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，如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，则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cs typeface="Times New Roman" panose="02020603050405020304" pitchFamily="18" charset="0"/>
              </a:rPr>
              <a:t>3</a:t>
            </a:r>
            <a:r>
              <a:rPr lang="zh-CN" altLang="en-US" dirty="0">
                <a:cs typeface="Times New Roman" panose="02020603050405020304" pitchFamily="18" charset="0"/>
              </a:rPr>
              <a:t>、包含关系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9" name="Rectangle 4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772942" y="1219994"/>
                <a:ext cx="10965033" cy="244770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spcBef>
                    <a:spcPct val="10000"/>
                  </a:spcBef>
                  <a:buNone/>
                </a:pPr>
                <a:r>
                  <a:rPr lang="zh-CN" altLang="en-US" dirty="0">
                    <a:solidFill>
                      <a:srgbClr val="C00000"/>
                    </a:solidFill>
                    <a:cs typeface="Times New Roman" panose="02020603050405020304" pitchFamily="18" charset="0"/>
                  </a:rPr>
                  <a:t>定义</a:t>
                </a:r>
                <a:r>
                  <a:rPr lang="en-US" altLang="zh-CN" dirty="0">
                    <a:solidFill>
                      <a:srgbClr val="C00000"/>
                    </a:solidFill>
                    <a:cs typeface="Times New Roman" panose="02020603050405020304" pitchFamily="18" charset="0"/>
                  </a:rPr>
                  <a:t>1.1 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设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A,B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是任意两个集合，如果</a:t>
                </a:r>
                <a:r>
                  <a:rPr lang="en-US" altLang="zh-CN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zh-CN" altLang="en-US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中的每个元素都是</a:t>
                </a:r>
                <a:r>
                  <a:rPr lang="en-US" altLang="zh-CN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中的元素，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则称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B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是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             A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的子集合，简称</a:t>
                </a:r>
                <a:r>
                  <a:rPr lang="zh-CN" altLang="en-US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子集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(Subset)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，这时也称</a:t>
                </a:r>
                <a:r>
                  <a:rPr lang="en-US" altLang="zh-CN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包含</a:t>
                </a:r>
                <a:r>
                  <a:rPr lang="en-US" altLang="zh-CN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，或</a:t>
                </a:r>
                <a:r>
                  <a:rPr lang="en-US" altLang="zh-CN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zh-CN" altLang="en-US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被</a:t>
                </a:r>
                <a:r>
                  <a:rPr lang="en-US" altLang="zh-CN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包含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，记作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             </a:t>
                </a:r>
                <a:r>
                  <a:rPr lang="en-US" altLang="zh-CN" dirty="0">
                    <a:solidFill>
                      <a:srgbClr val="C00000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en-US" altLang="zh-CN" sz="2600" dirty="0">
                    <a:solidFill>
                      <a:srgbClr val="FF33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</a:t>
                </a:r>
                <a:r>
                  <a:rPr lang="en-US" altLang="zh-CN" dirty="0">
                    <a:solidFill>
                      <a:srgbClr val="FF33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 或</a:t>
                </a:r>
                <a:r>
                  <a:rPr lang="en-US" altLang="zh-CN" dirty="0">
                    <a:solidFill>
                      <a:srgbClr val="C0000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dirty="0">
                    <a:solidFill>
                      <a:srgbClr val="FF33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en-US" altLang="zh-CN" dirty="0">
                    <a:solidFill>
                      <a:srgbClr val="FF33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，称“</a:t>
                </a:r>
                <a:r>
                  <a:rPr lang="zh-CN" altLang="en-US" sz="2600" dirty="0">
                    <a:solidFill>
                      <a:srgbClr val="FF33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”或“</a:t>
                </a:r>
                <a:r>
                  <a:rPr lang="zh-CN" altLang="en-US" sz="2600" dirty="0">
                    <a:solidFill>
                      <a:srgbClr val="FF33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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”为</a:t>
                </a:r>
                <a:r>
                  <a:rPr lang="zh-CN" altLang="en-US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包含关系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(Inclusion Relation)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>
                  <a:spcBef>
                    <a:spcPct val="10000"/>
                  </a:spcBef>
                  <a:buNone/>
                </a:pPr>
                <a:r>
                  <a:rPr lang="zh-CN" altLang="en-US" dirty="0">
                    <a:cs typeface="Times New Roman" panose="02020603050405020304" pitchFamily="18" charset="0"/>
                  </a:rPr>
                  <a:t>             如果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B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不被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所包含，则记作</a:t>
                </a:r>
                <a:r>
                  <a:rPr lang="en-US" altLang="zh-CN" dirty="0">
                    <a:solidFill>
                      <a:srgbClr val="C00000"/>
                    </a:solidFill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600" dirty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⊈</m:t>
                    </m:r>
                  </m:oMath>
                </a14:m>
                <a:r>
                  <a:rPr lang="en-US" altLang="zh-CN" dirty="0">
                    <a:solidFill>
                      <a:srgbClr val="FF33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 。</a:t>
                </a:r>
              </a:p>
            </p:txBody>
          </p:sp>
        </mc:Choice>
        <mc:Fallback xmlns="">
          <p:sp>
            <p:nvSpPr>
              <p:cNvPr id="28679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772942" y="1219994"/>
                <a:ext cx="10965033" cy="2447701"/>
              </a:xfrm>
              <a:blipFill>
                <a:blip r:embed="rId2"/>
                <a:stretch>
                  <a:fillRect l="-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81" name="Text Box 6"/>
          <p:cNvSpPr txBox="1">
            <a:spLocks noChangeArrowheads="1"/>
          </p:cNvSpPr>
          <p:nvPr/>
        </p:nvSpPr>
        <p:spPr bwMode="auto">
          <a:xfrm>
            <a:off x="897028" y="5505796"/>
            <a:ext cx="6481675" cy="461665"/>
          </a:xfrm>
          <a:prstGeom prst="rect">
            <a:avLst/>
          </a:prstGeom>
          <a:solidFill>
            <a:srgbClr val="99CC00">
              <a:alpha val="89999"/>
            </a:srgb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显然，</a:t>
            </a:r>
            <a:r>
              <a:rPr lang="zh-CN" altLang="en-US" sz="2400" b="1" i="1" u="sng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对任意集合</a:t>
            </a:r>
            <a:r>
              <a:rPr lang="en-US" sz="2400" b="1" i="1" u="sng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b="1" i="1" u="sng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，都有</a:t>
            </a:r>
            <a:r>
              <a:rPr lang="en-US" sz="2400" b="1" i="1" u="sng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sz="2400" b="1" i="1" u="sng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A</a:t>
            </a:r>
            <a:r>
              <a:rPr lang="zh-CN" altLang="en-US" sz="2400" b="1" i="1" u="sng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5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9" grpId="0" animBg="1"/>
      <p:bldP spid="28681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温故知新</a:t>
            </a:r>
            <a:endParaRPr lang="en-US" altLang="zh-CN" dirty="0"/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708115" y="4344194"/>
            <a:ext cx="10588625" cy="1032982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txBody>
          <a:bodyPr wrap="square" lIns="36008" tIns="36008" rIns="36008" bIns="36008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FF00"/>
                </a:solidFill>
                <a:latin typeface="+mn-ea"/>
                <a:ea typeface="+mn-ea"/>
              </a:rPr>
              <a:t>定理</a:t>
            </a:r>
            <a:r>
              <a:rPr lang="en-US" altLang="zh-CN" sz="2400" dirty="0">
                <a:solidFill>
                  <a:srgbClr val="FFFF00"/>
                </a:solidFill>
                <a:latin typeface="+mn-ea"/>
                <a:ea typeface="+mn-ea"/>
              </a:rPr>
              <a:t>1.2 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设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是任意两个集合，则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 A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B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A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 A=B </a:t>
            </a:r>
          </a:p>
        </p:txBody>
      </p:sp>
      <p:sp>
        <p:nvSpPr>
          <p:cNvPr id="31749" name="Rectangle 3"/>
          <p:cNvSpPr>
            <a:spLocks noChangeArrowheads="1"/>
          </p:cNvSpPr>
          <p:nvPr/>
        </p:nvSpPr>
        <p:spPr bwMode="auto">
          <a:xfrm>
            <a:off x="536575" y="2441325"/>
            <a:ext cx="7134225" cy="531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buClrTx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80010"/>
                </a:solidFill>
                <a:latin typeface="+mn-ea"/>
                <a:ea typeface="+mn-ea"/>
              </a:rPr>
              <a:t>又根据定义</a:t>
            </a:r>
            <a:r>
              <a:rPr lang="en-US" altLang="zh-CN" sz="2400" dirty="0">
                <a:solidFill>
                  <a:srgbClr val="080010"/>
                </a:solidFill>
                <a:latin typeface="+mn-ea"/>
                <a:ea typeface="+mn-ea"/>
              </a:rPr>
              <a:t>1.1</a:t>
            </a:r>
            <a:r>
              <a:rPr lang="zh-CN" altLang="en-US" sz="2400" dirty="0">
                <a:solidFill>
                  <a:srgbClr val="080010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是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A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的子集，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也是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的子集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  <a:endParaRPr lang="en-US" altLang="zh-CN" sz="2400" dirty="0"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6575" y="1677194"/>
            <a:ext cx="1039265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buClrTx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1.1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中，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{1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2}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{1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2}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，即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A=B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36574" y="3203325"/>
            <a:ext cx="713422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buClrTx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80010"/>
                </a:solidFill>
                <a:latin typeface="+mn-ea"/>
                <a:ea typeface="+mn-ea"/>
              </a:rPr>
              <a:t>于是，可得</a:t>
            </a:r>
            <a:endParaRPr lang="en-US" altLang="zh-CN" sz="2400" dirty="0"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26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 </a:t>
            </a:r>
            <a:r>
              <a:rPr lang="zh-CN" altLang="en-US" dirty="0"/>
              <a:t>真包含关系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4" name="Rectangle 3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772942" y="1156274"/>
                <a:ext cx="11117433" cy="171300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1.2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  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设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A,B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是任意两个集合，如果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并且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A≠B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，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则称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是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真子集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(Proper Subset)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，记作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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，称“</a:t>
                </a:r>
                <a:r>
                  <a:rPr lang="zh-CN" altLang="en-US" sz="2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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”为</a:t>
                </a:r>
                <a:r>
                  <a:rPr lang="zh-CN" altLang="en-US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真包含关系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(Properly Inclusion Relation)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不是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的真子集，则记作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zh-CN" altLang="en-US" sz="3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⊄</m:t>
                    </m:r>
                  </m:oMath>
                </a14:m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zh-CN" altLang="en-US" sz="26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2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772942" y="1156274"/>
                <a:ext cx="11117433" cy="1713003"/>
              </a:xfrm>
              <a:blipFill>
                <a:blip r:embed="rId3"/>
                <a:stretch>
                  <a:fillRect l="-439" b="-1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917575" y="3347402"/>
            <a:ext cx="9982200" cy="142192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定义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1.2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的数学语言描述为：</a:t>
            </a:r>
          </a:p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     B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A</a:t>
            </a:r>
            <a:r>
              <a:rPr lang="en-US" altLang="zh-CN" sz="2400" dirty="0">
                <a:solidFill>
                  <a:schemeClr val="accent1"/>
                </a:solidFill>
                <a:latin typeface="+mn-ea"/>
                <a:ea typeface="+mn-ea"/>
                <a:sym typeface="Symbol" panose="05050102010706020507" pitchFamily="18" charset="2"/>
              </a:rPr>
              <a:t>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对任意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x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，如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，则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，并且</a:t>
            </a:r>
          </a:p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           存在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y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，但是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</a:rPr>
              <a:t>y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B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8489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latin typeface="+mn-ea"/>
                <a:ea typeface="+mn-ea"/>
              </a:rPr>
              <a:t>解题小贴士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72942" y="1524794"/>
            <a:ext cx="6481675" cy="461665"/>
          </a:xfrm>
          <a:prstGeom prst="rect">
            <a:avLst/>
          </a:prstGeom>
          <a:solidFill>
            <a:srgbClr val="99CC00">
              <a:alpha val="89999"/>
            </a:srgb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集合与集合关系的判定与证明方法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897027" y="2362994"/>
            <a:ext cx="10536147" cy="2209800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txBody>
          <a:bodyPr anchor="ctr"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对任意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，如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，则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buClr>
                <a:srgbClr val="00FF00"/>
              </a:buClr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对任意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，如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，则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，并且存在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y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，但是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B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buClr>
                <a:srgbClr val="00FF00"/>
              </a:buClr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A=B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6175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cs typeface="Times New Roman" panose="02020603050405020304" pitchFamily="18" charset="0"/>
              </a:rPr>
              <a:t>1.2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22375" y="1184549"/>
            <a:ext cx="8229600" cy="50646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cs typeface="Times New Roman" panose="02020603050405020304" pitchFamily="18" charset="0"/>
              </a:rPr>
              <a:t>1.2  </a:t>
            </a:r>
            <a:r>
              <a:rPr lang="zh-CN" altLang="en-US" dirty="0"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cs typeface="Times New Roman" panose="02020603050405020304" pitchFamily="18" charset="0"/>
              </a:rPr>
              <a:t>A={1}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cs typeface="Times New Roman" panose="02020603050405020304" pitchFamily="18" charset="0"/>
              </a:rPr>
              <a:t>B ={1,{1}}</a:t>
            </a:r>
            <a:r>
              <a:rPr lang="zh-CN" altLang="en-US" dirty="0">
                <a:cs typeface="Times New Roman" panose="02020603050405020304" pitchFamily="18" charset="0"/>
              </a:rPr>
              <a:t>，试问</a:t>
            </a:r>
            <a:r>
              <a:rPr lang="zh-CN" altLang="zh-CN" dirty="0">
                <a:cs typeface="Times New Roman" panose="02020603050405020304" pitchFamily="18" charset="0"/>
              </a:rPr>
              <a:t>下述结论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∈B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AB</a:t>
            </a:r>
          </a:p>
          <a:p>
            <a:pPr marL="0" indent="0"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是否同时成立？</a:t>
            </a:r>
          </a:p>
          <a:p>
            <a:pPr marL="0" indent="0"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    （</a:t>
            </a:r>
            <a:r>
              <a:rPr lang="en-US" altLang="zh-CN" dirty="0">
                <a:cs typeface="Times New Roman" panose="02020603050405020304" pitchFamily="18" charset="0"/>
              </a:rPr>
              <a:t>1</a:t>
            </a:r>
            <a:r>
              <a:rPr lang="zh-CN" altLang="en-US" dirty="0">
                <a:cs typeface="Times New Roman" panose="02020603050405020304" pitchFamily="18" charset="0"/>
              </a:rPr>
              <a:t>）把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zh-CN" altLang="en-US" dirty="0">
                <a:cs typeface="Times New Roman" panose="02020603050405020304" pitchFamily="18" charset="0"/>
              </a:rPr>
              <a:t>看作元素，有</a:t>
            </a:r>
            <a:r>
              <a:rPr lang="en-US" altLang="zh-CN" dirty="0">
                <a:cs typeface="Times New Roman" panose="02020603050405020304" pitchFamily="18" charset="0"/>
              </a:rPr>
              <a:t> A ={1}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∈B</a:t>
            </a:r>
          </a:p>
          <a:p>
            <a:pPr marL="0" indent="0"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       即 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∈B</a:t>
            </a:r>
            <a:r>
              <a:rPr lang="zh-CN" altLang="en-US" dirty="0">
                <a:cs typeface="Times New Roman" panose="02020603050405020304" pitchFamily="18" charset="0"/>
              </a:rPr>
              <a:t>成立；</a:t>
            </a:r>
          </a:p>
          <a:p>
            <a:pPr marL="0" indent="0"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cs typeface="Times New Roman" panose="02020603050405020304" pitchFamily="18" charset="0"/>
              </a:rPr>
              <a:t>2)</a:t>
            </a:r>
            <a:r>
              <a:rPr lang="zh-CN" altLang="en-US" dirty="0">
                <a:cs typeface="Times New Roman" panose="02020603050405020304" pitchFamily="18" charset="0"/>
              </a:rPr>
              <a:t>）把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zh-CN" altLang="en-US" dirty="0">
                <a:cs typeface="Times New Roman" panose="02020603050405020304" pitchFamily="18" charset="0"/>
              </a:rPr>
              <a:t>看作集合，有</a:t>
            </a:r>
            <a:r>
              <a:rPr lang="en-US" altLang="zh-CN" dirty="0">
                <a:cs typeface="Times New Roman" panose="02020603050405020304" pitchFamily="18" charset="0"/>
              </a:rPr>
              <a:t>1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zh-CN" altLang="en-US" dirty="0"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cs typeface="Times New Roman" panose="02020603050405020304" pitchFamily="18" charset="0"/>
              </a:rPr>
              <a:t>1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∈B</a:t>
            </a:r>
          </a:p>
          <a:p>
            <a:pPr marL="0" indent="0"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       即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AB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成立。</a:t>
            </a:r>
            <a:endParaRPr lang="en-US" altLang="zh-CN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由（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）和（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）可知，</a:t>
            </a:r>
            <a:r>
              <a:rPr lang="en-US" altLang="zh-CN" dirty="0">
                <a:solidFill>
                  <a:srgbClr val="080010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8001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∈B</a:t>
            </a:r>
            <a:r>
              <a:rPr lang="zh-CN" altLang="en-US" dirty="0">
                <a:solidFill>
                  <a:srgbClr val="08001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dirty="0">
                <a:solidFill>
                  <a:srgbClr val="08001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AB</a:t>
            </a:r>
            <a:r>
              <a:rPr lang="zh-CN" altLang="en-US" dirty="0">
                <a:solidFill>
                  <a:srgbClr val="08001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同时成立。</a:t>
            </a:r>
          </a:p>
        </p:txBody>
      </p:sp>
      <p:sp>
        <p:nvSpPr>
          <p:cNvPr id="32773" name="Text Box 4"/>
          <p:cNvSpPr txBox="1">
            <a:spLocks noChangeArrowheads="1"/>
          </p:cNvSpPr>
          <p:nvPr/>
        </p:nvSpPr>
        <p:spPr bwMode="auto">
          <a:xfrm>
            <a:off x="1235075" y="2972594"/>
            <a:ext cx="1251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1815319757"/>
      </p:ext>
    </p:extLst>
  </p:cSld>
  <p:clrMapOvr>
    <a:masterClrMapping/>
  </p:clrMapOvr>
  <p:transition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cs typeface="Times New Roman" panose="02020603050405020304" pitchFamily="18" charset="0"/>
              </a:rPr>
              <a:t>1.3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17549" y="1146449"/>
            <a:ext cx="8229601" cy="27024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1.3  </a:t>
            </a:r>
            <a:r>
              <a:rPr lang="zh-CN" altLang="en-US" dirty="0"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C</a:t>
            </a:r>
            <a:r>
              <a:rPr lang="en-US" altLang="zh-CN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cs typeface="Times New Roman" panose="02020603050405020304" pitchFamily="18" charset="0"/>
              </a:rPr>
              <a:t>，试证明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C </a:t>
            </a:r>
            <a:r>
              <a:rPr lang="zh-CN" altLang="en-US" dirty="0">
                <a:cs typeface="Times New Roman" panose="02020603050405020304" pitchFamily="18" charset="0"/>
              </a:rPr>
              <a:t>。</a:t>
            </a:r>
          </a:p>
          <a:p>
            <a:pPr marL="0" indent="0"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           对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en-US" dirty="0">
                <a:cs typeface="Times New Roman" panose="02020603050405020304" pitchFamily="18" charset="0"/>
              </a:rPr>
              <a:t>，如果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zh-CN" dirty="0"/>
              <a:t>∈</a:t>
            </a:r>
            <a:r>
              <a:rPr lang="en-US" altLang="zh-CN" dirty="0"/>
              <a:t>A</a:t>
            </a:r>
            <a:r>
              <a:rPr lang="zh-CN" altLang="en-US" dirty="0">
                <a:cs typeface="Times New Roman" panose="02020603050405020304" pitchFamily="18" charset="0"/>
              </a:rPr>
              <a:t> ，则根据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dirty="0">
                <a:cs typeface="Times New Roman" panose="02020603050405020304" pitchFamily="18" charset="0"/>
              </a:rPr>
              <a:t> ，有 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zh-CN" dirty="0"/>
              <a:t>∈</a:t>
            </a:r>
            <a:r>
              <a:rPr lang="en-US" altLang="zh-CN" dirty="0"/>
              <a:t>B</a:t>
            </a:r>
            <a:r>
              <a:rPr lang="zh-CN" altLang="en-US" dirty="0">
                <a:cs typeface="Times New Roman" panose="02020603050405020304" pitchFamily="18" charset="0"/>
              </a:rPr>
              <a:t>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      </a:t>
            </a:r>
            <a:r>
              <a:rPr lang="zh-CN" altLang="en-US" dirty="0">
                <a:cs typeface="Times New Roman" panose="02020603050405020304" pitchFamily="18" charset="0"/>
              </a:rPr>
              <a:t>又根据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C</a:t>
            </a:r>
            <a:r>
              <a:rPr lang="zh-CN" altLang="en-US" dirty="0">
                <a:cs typeface="Times New Roman" panose="02020603050405020304" pitchFamily="18" charset="0"/>
              </a:rPr>
              <a:t>，有 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zh-CN" dirty="0"/>
              <a:t>∈</a:t>
            </a:r>
            <a:r>
              <a:rPr lang="en-US" altLang="zh-CN" dirty="0"/>
              <a:t>C</a:t>
            </a:r>
            <a:r>
              <a:rPr lang="zh-CN" altLang="en-US" dirty="0">
                <a:cs typeface="Times New Roman" panose="02020603050405020304" pitchFamily="18" charset="0"/>
              </a:rPr>
              <a:t>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      </a:t>
            </a:r>
            <a:r>
              <a:rPr lang="zh-CN" altLang="en-US" dirty="0">
                <a:cs typeface="Times New Roman" panose="02020603050405020304" pitchFamily="18" charset="0"/>
              </a:rPr>
              <a:t>从而有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C </a:t>
            </a:r>
            <a:r>
              <a:rPr lang="zh-CN" altLang="en-US" dirty="0"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2773" name="Text Box 4"/>
          <p:cNvSpPr txBox="1">
            <a:spLocks noChangeArrowheads="1"/>
          </p:cNvSpPr>
          <p:nvPr/>
        </p:nvSpPr>
        <p:spPr bwMode="auto">
          <a:xfrm>
            <a:off x="713468" y="1791494"/>
            <a:ext cx="1251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3333FF"/>
                </a:solidFill>
                <a:latin typeface="+mn-ea"/>
                <a:ea typeface="+mn-ea"/>
              </a:rPr>
              <a:t>证明</a:t>
            </a:r>
          </a:p>
        </p:txBody>
      </p:sp>
    </p:spTree>
    <p:extLst>
      <p:ext uri="{BB962C8B-B14F-4D97-AF65-F5344CB8AC3E}">
        <p14:creationId xmlns:p14="http://schemas.microsoft.com/office/powerpoint/2010/main" val="1050578399"/>
      </p:ext>
    </p:extLst>
  </p:cSld>
  <p:clrMapOvr>
    <a:masterClrMapping/>
  </p:clrMapOvr>
  <p:transition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3"/>
          <p:cNvSpPr/>
          <p:nvPr/>
        </p:nvSpPr>
        <p:spPr>
          <a:xfrm>
            <a:off x="4422775" y="586739"/>
            <a:ext cx="6629399" cy="5205255"/>
          </a:xfrm>
          <a:custGeom>
            <a:avLst/>
            <a:gdLst>
              <a:gd name="connsiteX0" fmla="*/ 0 w 7560564"/>
              <a:gd name="connsiteY0" fmla="*/ 282448 h 3275076"/>
              <a:gd name="connsiteX1" fmla="*/ 282473 w 7560564"/>
              <a:gd name="connsiteY1" fmla="*/ 0 h 3275076"/>
              <a:gd name="connsiteX2" fmla="*/ 7278116 w 7560564"/>
              <a:gd name="connsiteY2" fmla="*/ 0 h 3275076"/>
              <a:gd name="connsiteX3" fmla="*/ 7560563 w 7560564"/>
              <a:gd name="connsiteY3" fmla="*/ 282448 h 3275076"/>
              <a:gd name="connsiteX4" fmla="*/ 7560563 w 7560564"/>
              <a:gd name="connsiteY4" fmla="*/ 2992602 h 3275076"/>
              <a:gd name="connsiteX5" fmla="*/ 7278116 w 7560564"/>
              <a:gd name="connsiteY5" fmla="*/ 3275075 h 3275076"/>
              <a:gd name="connsiteX6" fmla="*/ 282473 w 7560564"/>
              <a:gd name="connsiteY6" fmla="*/ 3275075 h 3275076"/>
              <a:gd name="connsiteX7" fmla="*/ 0 w 7560564"/>
              <a:gd name="connsiteY7" fmla="*/ 2992602 h 3275076"/>
              <a:gd name="connsiteX8" fmla="*/ 0 w 7560564"/>
              <a:gd name="connsiteY8" fmla="*/ 282448 h 327507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7560564" h="3275076">
                <a:moveTo>
                  <a:pt x="0" y="282448"/>
                </a:moveTo>
                <a:cubicBezTo>
                  <a:pt x="0" y="126492"/>
                  <a:pt x="126466" y="0"/>
                  <a:pt x="282473" y="0"/>
                </a:cubicBezTo>
                <a:lnTo>
                  <a:pt x="7278116" y="0"/>
                </a:lnTo>
                <a:cubicBezTo>
                  <a:pt x="7434071" y="0"/>
                  <a:pt x="7560563" y="126492"/>
                  <a:pt x="7560563" y="282448"/>
                </a:cubicBezTo>
                <a:lnTo>
                  <a:pt x="7560563" y="2992602"/>
                </a:lnTo>
                <a:cubicBezTo>
                  <a:pt x="7560563" y="3148609"/>
                  <a:pt x="7434071" y="3275075"/>
                  <a:pt x="7278116" y="3275075"/>
                </a:cubicBezTo>
                <a:lnTo>
                  <a:pt x="282473" y="3275075"/>
                </a:lnTo>
                <a:cubicBezTo>
                  <a:pt x="126466" y="3275075"/>
                  <a:pt x="0" y="3148609"/>
                  <a:pt x="0" y="2992602"/>
                </a:cubicBezTo>
                <a:lnTo>
                  <a:pt x="0" y="282448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5757541" y="2553266"/>
            <a:ext cx="4913633" cy="48292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"/>
          <p:cNvSpPr txBox="1"/>
          <p:nvPr/>
        </p:nvSpPr>
        <p:spPr>
          <a:xfrm>
            <a:off x="6922446" y="1448448"/>
            <a:ext cx="2769989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本章导读及学习要求</a:t>
            </a:r>
          </a:p>
        </p:txBody>
      </p:sp>
      <p:sp>
        <p:nvSpPr>
          <p:cNvPr id="47" name="TextBox 1"/>
          <p:cNvSpPr txBox="1"/>
          <p:nvPr/>
        </p:nvSpPr>
        <p:spPr>
          <a:xfrm>
            <a:off x="7013575" y="2070064"/>
            <a:ext cx="215443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集合的基本概念</a:t>
            </a:r>
          </a:p>
        </p:txBody>
      </p:sp>
      <p:sp>
        <p:nvSpPr>
          <p:cNvPr id="48" name="TextBox 1"/>
          <p:cNvSpPr txBox="1"/>
          <p:nvPr/>
        </p:nvSpPr>
        <p:spPr>
          <a:xfrm>
            <a:off x="7013575" y="2649059"/>
            <a:ext cx="123110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特殊集合</a:t>
            </a:r>
          </a:p>
        </p:txBody>
      </p:sp>
      <p:sp>
        <p:nvSpPr>
          <p:cNvPr id="51" name="Freeform 3"/>
          <p:cNvSpPr/>
          <p:nvPr/>
        </p:nvSpPr>
        <p:spPr>
          <a:xfrm>
            <a:off x="6698357" y="1078534"/>
            <a:ext cx="45719" cy="4108726"/>
          </a:xfrm>
          <a:custGeom>
            <a:avLst/>
            <a:gdLst>
              <a:gd name="connsiteX0" fmla="*/ 6350 w 21844"/>
              <a:gd name="connsiteY0" fmla="*/ 6350 h 879855"/>
              <a:gd name="connsiteX1" fmla="*/ 6350 w 21844"/>
              <a:gd name="connsiteY1" fmla="*/ 873506 h 8798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879855">
                <a:moveTo>
                  <a:pt x="6350" y="6350"/>
                </a:moveTo>
                <a:lnTo>
                  <a:pt x="6350" y="873506"/>
                </a:lnTo>
              </a:path>
            </a:pathLst>
          </a:custGeom>
          <a:ln w="12700">
            <a:solidFill>
              <a:srgbClr val="A4B3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2" name="Freeform 3"/>
          <p:cNvSpPr/>
          <p:nvPr/>
        </p:nvSpPr>
        <p:spPr>
          <a:xfrm>
            <a:off x="6653406" y="1521338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00B05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3" name="Freeform 3"/>
          <p:cNvSpPr/>
          <p:nvPr/>
        </p:nvSpPr>
        <p:spPr>
          <a:xfrm>
            <a:off x="6632575" y="2115034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74B83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4" name="Freeform 3"/>
          <p:cNvSpPr/>
          <p:nvPr/>
        </p:nvSpPr>
        <p:spPr>
          <a:xfrm>
            <a:off x="6632575" y="2711652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1"/>
          <p:cNvSpPr txBox="1"/>
          <p:nvPr/>
        </p:nvSpPr>
        <p:spPr>
          <a:xfrm>
            <a:off x="545294" y="2704702"/>
            <a:ext cx="1846659" cy="835956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6936"/>
              </a:lnSpc>
            </a:pPr>
            <a:r>
              <a:rPr lang="zh-CN" altLang="en-US" sz="3600" b="1" dirty="0">
                <a:solidFill>
                  <a:srgbClr val="4197DF"/>
                </a:solidFill>
                <a:latin typeface="Microsoft YaHei UI" pitchFamily="18" charset="0"/>
                <a:cs typeface="Microsoft YaHei UI" pitchFamily="18" charset="0"/>
              </a:rPr>
              <a:t>内容导航</a:t>
            </a:r>
            <a:endParaRPr lang="en-US" altLang="zh-CN" sz="3600" b="1" dirty="0">
              <a:solidFill>
                <a:srgbClr val="4197DF"/>
              </a:solidFill>
              <a:latin typeface="Microsoft YaHei UI" pitchFamily="18" charset="0"/>
              <a:cs typeface="Microsoft YaHei UI" pitchFamily="18" charset="0"/>
            </a:endParaRPr>
          </a:p>
        </p:txBody>
      </p:sp>
      <p:sp>
        <p:nvSpPr>
          <p:cNvPr id="57" name="TextBox 1"/>
          <p:cNvSpPr txBox="1"/>
          <p:nvPr/>
        </p:nvSpPr>
        <p:spPr>
          <a:xfrm>
            <a:off x="545293" y="3518639"/>
            <a:ext cx="1846659" cy="272596"/>
          </a:xfrm>
          <a:prstGeom prst="rect">
            <a:avLst/>
          </a:prstGeom>
          <a:noFill/>
        </p:spPr>
        <p:txBody>
          <a:bodyPr wrap="square" lIns="0" tIns="0" rIns="0" bIns="60981" rtlCol="0">
            <a:spAutoFit/>
          </a:bodyPr>
          <a:lstStyle/>
          <a:p>
            <a:pPr algn="dist">
              <a:lnSpc>
                <a:spcPts val="1601"/>
              </a:lnSpc>
            </a:pPr>
            <a:r>
              <a:rPr lang="en-US" altLang="zh-CN" sz="1900" b="1" dirty="0">
                <a:solidFill>
                  <a:srgbClr val="4197DF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9" name="矩形 58"/>
          <p:cNvSpPr/>
          <p:nvPr/>
        </p:nvSpPr>
        <p:spPr>
          <a:xfrm>
            <a:off x="518434" y="2201849"/>
            <a:ext cx="1873520" cy="702656"/>
          </a:xfrm>
          <a:prstGeom prst="rect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/>
          <p:cNvCxnSpPr/>
          <p:nvPr/>
        </p:nvCxnSpPr>
        <p:spPr>
          <a:xfrm>
            <a:off x="536575" y="7699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536575" y="2484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536575" y="405607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536575" y="577057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536575" y="71993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536575" y="89138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36575" y="10485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536575" y="1219994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536575" y="1404371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36575" y="154724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36575" y="171869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36575" y="1875858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36575" y="2047308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2000250" y="6254294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/>
        </p:nvSpPr>
        <p:spPr>
          <a:xfrm>
            <a:off x="2381250" y="5840443"/>
            <a:ext cx="674915" cy="101325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/>
        </p:nvSpPr>
        <p:spPr>
          <a:xfrm>
            <a:off x="3146878" y="6329700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>
            <a:off x="95250" y="5621722"/>
            <a:ext cx="1066800" cy="123197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等腰三角形 36"/>
          <p:cNvSpPr/>
          <p:nvPr/>
        </p:nvSpPr>
        <p:spPr>
          <a:xfrm>
            <a:off x="876300" y="6254294"/>
            <a:ext cx="381000" cy="513301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1"/>
          <p:cNvSpPr txBox="1"/>
          <p:nvPr/>
        </p:nvSpPr>
        <p:spPr>
          <a:xfrm>
            <a:off x="7013575" y="3228679"/>
            <a:ext cx="153888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集合的运算</a:t>
            </a:r>
          </a:p>
        </p:txBody>
      </p:sp>
      <p:sp>
        <p:nvSpPr>
          <p:cNvPr id="39" name="TextBox 1"/>
          <p:cNvSpPr txBox="1"/>
          <p:nvPr/>
        </p:nvSpPr>
        <p:spPr>
          <a:xfrm>
            <a:off x="7030855" y="3797889"/>
            <a:ext cx="923330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无限集</a:t>
            </a:r>
          </a:p>
        </p:txBody>
      </p:sp>
      <p:sp>
        <p:nvSpPr>
          <p:cNvPr id="40" name="Freeform 3"/>
          <p:cNvSpPr/>
          <p:nvPr/>
        </p:nvSpPr>
        <p:spPr>
          <a:xfrm>
            <a:off x="6632575" y="3288453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 3"/>
          <p:cNvSpPr/>
          <p:nvPr/>
        </p:nvSpPr>
        <p:spPr>
          <a:xfrm>
            <a:off x="6632575" y="3848530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3" name="TextBox 1"/>
          <p:cNvSpPr txBox="1"/>
          <p:nvPr/>
        </p:nvSpPr>
        <p:spPr>
          <a:xfrm>
            <a:off x="6048108" y="2650724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solidFill>
                  <a:schemeClr val="bg1"/>
                </a:solidFill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1.2</a:t>
            </a:r>
          </a:p>
        </p:txBody>
      </p:sp>
      <p:sp>
        <p:nvSpPr>
          <p:cNvPr id="44" name="TextBox 1"/>
          <p:cNvSpPr txBox="1"/>
          <p:nvPr/>
        </p:nvSpPr>
        <p:spPr>
          <a:xfrm>
            <a:off x="6048108" y="3237653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1.3</a:t>
            </a:r>
          </a:p>
        </p:txBody>
      </p:sp>
      <p:sp>
        <p:nvSpPr>
          <p:cNvPr id="45" name="TextBox 1"/>
          <p:cNvSpPr txBox="1"/>
          <p:nvPr/>
        </p:nvSpPr>
        <p:spPr>
          <a:xfrm>
            <a:off x="6048108" y="3818752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1.4</a:t>
            </a:r>
          </a:p>
        </p:txBody>
      </p:sp>
      <p:sp>
        <p:nvSpPr>
          <p:cNvPr id="77" name="等腰三角形 76"/>
          <p:cNvSpPr/>
          <p:nvPr/>
        </p:nvSpPr>
        <p:spPr>
          <a:xfrm>
            <a:off x="6136004" y="1406318"/>
            <a:ext cx="304800" cy="267093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TextBox 1"/>
          <p:cNvSpPr txBox="1"/>
          <p:nvPr/>
        </p:nvSpPr>
        <p:spPr>
          <a:xfrm>
            <a:off x="7011024" y="4366308"/>
            <a:ext cx="246221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与集合相关的应用</a:t>
            </a:r>
          </a:p>
        </p:txBody>
      </p:sp>
      <p:sp>
        <p:nvSpPr>
          <p:cNvPr id="81" name="Freeform 3"/>
          <p:cNvSpPr/>
          <p:nvPr/>
        </p:nvSpPr>
        <p:spPr>
          <a:xfrm>
            <a:off x="6642724" y="4409454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"/>
          <p:cNvSpPr txBox="1"/>
          <p:nvPr/>
        </p:nvSpPr>
        <p:spPr>
          <a:xfrm>
            <a:off x="6058257" y="4379676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1.5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FDA7A11-E754-4EA2-E528-360794ADB1F7}"/>
              </a:ext>
            </a:extLst>
          </p:cNvPr>
          <p:cNvSpPr txBox="1"/>
          <p:nvPr/>
        </p:nvSpPr>
        <p:spPr>
          <a:xfrm>
            <a:off x="6998534" y="4908448"/>
            <a:ext cx="61555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作业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CB95781C-5009-FE00-0312-E8DEAD218C6B}"/>
              </a:ext>
            </a:extLst>
          </p:cNvPr>
          <p:cNvSpPr/>
          <p:nvPr/>
        </p:nvSpPr>
        <p:spPr>
          <a:xfrm>
            <a:off x="6630234" y="4951594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BFCB515F-250D-6EFF-F900-24F3C122B1B4}"/>
              </a:ext>
            </a:extLst>
          </p:cNvPr>
          <p:cNvSpPr txBox="1"/>
          <p:nvPr/>
        </p:nvSpPr>
        <p:spPr>
          <a:xfrm>
            <a:off x="6045767" y="4921816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1.6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C39B184-F55B-BD3B-6C19-C0299FFF9AFC}"/>
              </a:ext>
            </a:extLst>
          </p:cNvPr>
          <p:cNvSpPr txBox="1"/>
          <p:nvPr/>
        </p:nvSpPr>
        <p:spPr>
          <a:xfrm>
            <a:off x="6036808" y="2044750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1914144473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1.2 </a:t>
            </a:r>
            <a:r>
              <a:rPr lang="zh-CN" altLang="en-US" dirty="0"/>
              <a:t>几个特殊集合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00073" y="1102068"/>
            <a:ext cx="9923502" cy="3012583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1. 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空集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1.3  </a:t>
            </a:r>
            <a:r>
              <a:rPr lang="zh-CN" altLang="en-US" dirty="0">
                <a:cs typeface="Times New Roman" panose="02020603050405020304" pitchFamily="18" charset="0"/>
              </a:rPr>
              <a:t>不含任何元素的集合叫做</a:t>
            </a: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空集</a:t>
            </a:r>
            <a:r>
              <a:rPr lang="en-US" altLang="zh-CN" dirty="0">
                <a:cs typeface="Times New Roman" panose="02020603050405020304" pitchFamily="18" charset="0"/>
              </a:rPr>
              <a:t>(Empty Set)</a:t>
            </a:r>
            <a:r>
              <a:rPr lang="zh-CN" altLang="en-US" dirty="0">
                <a:cs typeface="Times New Roman" panose="02020603050405020304" pitchFamily="18" charset="0"/>
              </a:rPr>
              <a:t>，记作</a:t>
            </a:r>
            <a:r>
              <a:rPr lang="en-US" altLang="zh-CN" i="1" dirty="0">
                <a:sym typeface="Symbol" panose="05050102010706020507" pitchFamily="18" charset="2"/>
              </a:rPr>
              <a:t> </a:t>
            </a:r>
            <a:r>
              <a:rPr lang="zh-CN" altLang="en-US" dirty="0">
                <a:cs typeface="Times New Roman" panose="02020603050405020304" pitchFamily="18" charset="0"/>
              </a:rPr>
              <a:t>。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              空集可以符号化为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 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= {</a:t>
            </a:r>
            <a:r>
              <a:rPr lang="en-US" altLang="zh-CN" dirty="0" err="1">
                <a:solidFill>
                  <a:srgbClr val="0000FF"/>
                </a:solidFill>
                <a:cs typeface="Times New Roman" panose="02020603050405020304" pitchFamily="18" charset="0"/>
              </a:rPr>
              <a:t>x|x≠x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}</a:t>
            </a:r>
            <a:endParaRPr lang="zh-CN" altLang="en-US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            空集是客观存在的。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900073" y="4114651"/>
            <a:ext cx="8696645" cy="113505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例如</a:t>
            </a:r>
            <a:r>
              <a:rPr lang="en-US" b="1" dirty="0">
                <a:solidFill>
                  <a:srgbClr val="0000CC"/>
                </a:solidFill>
                <a:latin typeface="+mn-ea"/>
              </a:rPr>
              <a:t> </a:t>
            </a:r>
            <a:r>
              <a:rPr lang="en-US" b="1" dirty="0">
                <a:latin typeface="+mn-ea"/>
              </a:rPr>
              <a:t>  </a:t>
            </a:r>
            <a:r>
              <a:rPr lang="zh-CN" altLang="en-US" b="1" dirty="0">
                <a:latin typeface="+mn-ea"/>
              </a:rPr>
              <a:t>设</a:t>
            </a:r>
            <a:r>
              <a:rPr lang="en-US" b="1" dirty="0">
                <a:latin typeface="+mn-ea"/>
              </a:rPr>
              <a:t>A = {x|(</a:t>
            </a:r>
            <a:r>
              <a:rPr lang="en-US" b="1" dirty="0" err="1">
                <a:latin typeface="+mn-ea"/>
              </a:rPr>
              <a:t>x∈R</a:t>
            </a:r>
            <a:r>
              <a:rPr lang="en-US" b="1" dirty="0">
                <a:latin typeface="+mn-ea"/>
              </a:rPr>
              <a:t>)</a:t>
            </a:r>
            <a:r>
              <a:rPr lang="zh-CN" altLang="en-US" b="1" dirty="0">
                <a:latin typeface="+mn-ea"/>
              </a:rPr>
              <a:t>且</a:t>
            </a:r>
            <a:r>
              <a:rPr lang="en-US" b="1" dirty="0">
                <a:latin typeface="+mn-ea"/>
              </a:rPr>
              <a:t>(x</a:t>
            </a:r>
            <a:r>
              <a:rPr lang="en-US" b="1" baseline="30000" dirty="0">
                <a:latin typeface="+mn-ea"/>
              </a:rPr>
              <a:t>2</a:t>
            </a:r>
            <a:r>
              <a:rPr lang="en-US" b="1" dirty="0">
                <a:latin typeface="+mn-ea"/>
              </a:rPr>
              <a:t>&lt;0)}</a:t>
            </a:r>
            <a:r>
              <a:rPr lang="zh-CN" altLang="en-US" b="1" dirty="0">
                <a:latin typeface="+mn-ea"/>
              </a:rPr>
              <a:t>，试列举集合</a:t>
            </a:r>
            <a:r>
              <a:rPr lang="en-US" b="1" dirty="0">
                <a:latin typeface="+mn-ea"/>
              </a:rPr>
              <a:t>A</a:t>
            </a:r>
            <a:r>
              <a:rPr lang="zh-CN" altLang="en-US" b="1" dirty="0">
                <a:latin typeface="+mn-ea"/>
              </a:rPr>
              <a:t>中的所有元素。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解</a:t>
            </a:r>
            <a:r>
              <a:rPr lang="zh-CN" altLang="en-US" b="1" dirty="0">
                <a:latin typeface="+mn-ea"/>
              </a:rPr>
              <a:t>  </a:t>
            </a:r>
            <a:r>
              <a:rPr lang="en-US" b="1" dirty="0">
                <a:latin typeface="+mn-ea"/>
              </a:rPr>
              <a:t>A =</a:t>
            </a:r>
            <a:r>
              <a:rPr lang="en-US" altLang="zh-CN" i="1" dirty="0"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+mn-ea"/>
                <a:sym typeface="Symbol" panose="05050102010706020507" pitchFamily="18" charset="2"/>
              </a:rPr>
              <a:t></a:t>
            </a:r>
            <a:r>
              <a:rPr lang="en-US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65872448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3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 autoUpdateAnimBg="0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8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729651" y="3376281"/>
                <a:ext cx="10855924" cy="1977134"/>
              </a:xfrm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证明 （</a:t>
                </a:r>
                <a:r>
                  <a:rPr lang="en-US" altLang="zh-CN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1</a:t>
                </a:r>
                <a:r>
                  <a:rPr lang="zh-CN" altLang="en-US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）</a:t>
                </a:r>
                <a:r>
                  <a:rPr lang="zh-CN" altLang="en-US" dirty="0"/>
                  <a:t>假设存在一个集合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，有</a:t>
                </a:r>
                <a:r>
                  <a:rPr lang="en-US" altLang="zh-CN" i="1" dirty="0">
                    <a:sym typeface="Symbol" panose="05050102010706020507" pitchFamily="18" charset="2"/>
                  </a:rPr>
                  <a:t></a:t>
                </a:r>
                <a:r>
                  <a:rPr lang="en-US" altLang="zh-CN" dirty="0">
                    <a:solidFill>
                      <a:srgbClr val="C0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⊈</m:t>
                    </m:r>
                  </m:oMath>
                </a14:m>
                <a:r>
                  <a:rPr lang="en-US" altLang="zh-CN" dirty="0"/>
                  <a:t>A</a:t>
                </a:r>
                <a:r>
                  <a:rPr lang="zh-CN" altLang="en-US" dirty="0"/>
                  <a:t> ，则根据子集的定义知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存在元素</a:t>
                </a:r>
                <a:r>
                  <a:rPr lang="en-US" altLang="zh-CN" dirty="0"/>
                  <a:t>x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>
                    <a:sym typeface="Symbol" panose="05050102010706020507" pitchFamily="18" charset="2"/>
                  </a:rPr>
                  <a:t> </a:t>
                </a:r>
                <a:r>
                  <a:rPr lang="zh-CN" altLang="en-US" dirty="0"/>
                  <a:t>，但</a:t>
                </a:r>
                <a:r>
                  <a:rPr lang="en-US" altLang="zh-CN" dirty="0" err="1"/>
                  <a:t>x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A</a:t>
                </a:r>
                <a:r>
                  <a:rPr lang="zh-CN" altLang="en-US" dirty="0"/>
                  <a:t>。这与空集不含任何元素矛盾，从而结论成立。 </a:t>
                </a:r>
              </a:p>
            </p:txBody>
          </p:sp>
        </mc:Choice>
        <mc:Fallback xmlns="">
          <p:sp>
            <p:nvSpPr>
              <p:cNvPr id="3481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729651" y="3376281"/>
                <a:ext cx="10855924" cy="1977134"/>
              </a:xfrm>
              <a:blipFill>
                <a:blip r:embed="rId2"/>
                <a:stretch>
                  <a:fillRect l="-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定理</a:t>
            </a:r>
            <a:r>
              <a:rPr lang="en-US" altLang="zh-CN">
                <a:sym typeface="Symbol" panose="05050102010706020507" pitchFamily="18" charset="2"/>
              </a:rPr>
              <a:t>1.3 </a:t>
            </a:r>
            <a:r>
              <a:rPr lang="zh-CN" altLang="en-US">
                <a:sym typeface="Symbol" panose="05050102010706020507" pitchFamily="18" charset="2"/>
              </a:rPr>
              <a:t>（</a:t>
            </a:r>
            <a:r>
              <a:rPr lang="en-US" altLang="zh-CN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）的证明</a:t>
            </a:r>
          </a:p>
        </p:txBody>
      </p:sp>
      <p:sp>
        <p:nvSpPr>
          <p:cNvPr id="37892" name="Rectangle 5"/>
          <p:cNvSpPr>
            <a:spLocks noChangeArrowheads="1"/>
          </p:cNvSpPr>
          <p:nvPr/>
        </p:nvSpPr>
        <p:spPr bwMode="auto">
          <a:xfrm>
            <a:off x="729651" y="2491055"/>
            <a:ext cx="11117433" cy="581057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分析  </a:t>
            </a:r>
            <a:r>
              <a:rPr lang="zh-CN" altLang="en-US" sz="2400" dirty="0">
                <a:latin typeface="+mn-ea"/>
                <a:ea typeface="+mn-ea"/>
              </a:rPr>
              <a:t>采用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反证法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37893" name="Rectangle 7"/>
          <p:cNvSpPr>
            <a:spLocks noChangeArrowheads="1"/>
          </p:cNvSpPr>
          <p:nvPr/>
        </p:nvSpPr>
        <p:spPr bwMode="auto">
          <a:xfrm>
            <a:off x="1526117" y="3042002"/>
            <a:ext cx="184774" cy="585039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320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7895" name="Rectangle 9"/>
          <p:cNvSpPr>
            <a:spLocks noChangeArrowheads="1"/>
          </p:cNvSpPr>
          <p:nvPr/>
        </p:nvSpPr>
        <p:spPr bwMode="auto">
          <a:xfrm>
            <a:off x="1526117" y="-292519"/>
            <a:ext cx="184774" cy="585039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320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771635" y="1230759"/>
            <a:ext cx="10132709" cy="1052596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定理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1.3  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）空集是一切集合的子集；</a:t>
            </a:r>
          </a:p>
          <a:p>
            <a:pPr algn="l" eaLnBrk="1" hangingPunct="1"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          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）空集是绝对唯一的。</a:t>
            </a:r>
          </a:p>
        </p:txBody>
      </p:sp>
    </p:spTree>
    <p:extLst>
      <p:ext uri="{BB962C8B-B14F-4D97-AF65-F5344CB8AC3E}">
        <p14:creationId xmlns:p14="http://schemas.microsoft.com/office/powerpoint/2010/main" val="31798382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 autoUpdateAnimBg="0"/>
      <p:bldP spid="37892" grpId="0"/>
      <p:bldP spid="10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定理</a:t>
            </a:r>
            <a:r>
              <a:rPr lang="en-US" altLang="zh-CN">
                <a:sym typeface="Symbol" panose="05050102010706020507" pitchFamily="18" charset="2"/>
              </a:rPr>
              <a:t>1.3 </a:t>
            </a:r>
            <a:r>
              <a:rPr lang="zh-CN" altLang="en-US">
                <a:sym typeface="Symbol" panose="05050102010706020507" pitchFamily="18" charset="2"/>
              </a:rPr>
              <a:t>（</a:t>
            </a:r>
            <a:r>
              <a:rPr lang="en-US" altLang="zh-CN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）的证明</a:t>
            </a:r>
          </a:p>
        </p:txBody>
      </p:sp>
      <p:sp>
        <p:nvSpPr>
          <p:cNvPr id="35844" name="Rectangle 3"/>
          <p:cNvSpPr>
            <a:spLocks noChangeArrowheads="1"/>
          </p:cNvSpPr>
          <p:nvPr/>
        </p:nvSpPr>
        <p:spPr bwMode="auto">
          <a:xfrm>
            <a:off x="536575" y="1118120"/>
            <a:ext cx="10896600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67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分析 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对“惟一性”的证明通常采用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反证法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即假设“不惟一”，得出矛盾，从而说明结论正确。</a:t>
            </a:r>
          </a:p>
        </p:txBody>
      </p:sp>
      <p:sp>
        <p:nvSpPr>
          <p:cNvPr id="35845" name="Rectangle 6"/>
          <p:cNvSpPr>
            <a:spLocks noChangeArrowheads="1"/>
          </p:cNvSpPr>
          <p:nvPr/>
        </p:nvSpPr>
        <p:spPr bwMode="auto">
          <a:xfrm>
            <a:off x="805242" y="3185760"/>
            <a:ext cx="7921870" cy="1133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根据定理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1.3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，有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 </a:t>
            </a:r>
            <a:r>
              <a:rPr lang="en-US" altLang="zh-CN" sz="2400" baseline="-25000" dirty="0">
                <a:latin typeface="+mn-ea"/>
                <a:ea typeface="+mn-ea"/>
              </a:rPr>
              <a:t>1 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 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， </a:t>
            </a: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 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</a:t>
            </a:r>
            <a:r>
              <a:rPr lang="zh-CN" altLang="en-US" sz="2400" dirty="0">
                <a:latin typeface="+mn-ea"/>
                <a:ea typeface="+mn-ea"/>
              </a:rPr>
              <a:t> </a:t>
            </a: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 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</a:p>
        </p:txBody>
      </p:sp>
      <p:sp>
        <p:nvSpPr>
          <p:cNvPr id="35846" name="Rectangle 7"/>
          <p:cNvSpPr>
            <a:spLocks noChangeArrowheads="1"/>
          </p:cNvSpPr>
          <p:nvPr/>
        </p:nvSpPr>
        <p:spPr bwMode="auto">
          <a:xfrm>
            <a:off x="839646" y="4617976"/>
            <a:ext cx="57929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根据定理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1.2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， 有</a:t>
            </a: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 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  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5849" name="Rectangle 10"/>
          <p:cNvSpPr>
            <a:spLocks noChangeArrowheads="1"/>
          </p:cNvSpPr>
          <p:nvPr/>
        </p:nvSpPr>
        <p:spPr bwMode="auto">
          <a:xfrm>
            <a:off x="993775" y="5311528"/>
            <a:ext cx="5084853" cy="461665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67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sz="2400" i="1" dirty="0">
                <a:solidFill>
                  <a:schemeClr val="bg1"/>
                </a:solidFill>
                <a:latin typeface="+mn-ea"/>
                <a:sym typeface="Symbol" panose="05050102010706020507" pitchFamily="18" charset="2"/>
              </a:rPr>
              <a:t> </a:t>
            </a:r>
            <a:r>
              <a:rPr lang="en-US" altLang="zh-CN" sz="2400" baseline="-300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≠</a:t>
            </a:r>
            <a:r>
              <a:rPr lang="en-US" altLang="zh-CN" sz="2400" i="1" dirty="0">
                <a:solidFill>
                  <a:schemeClr val="bg1"/>
                </a:solidFill>
                <a:latin typeface="+mn-ea"/>
                <a:sym typeface="Symbol" panose="05050102010706020507" pitchFamily="18" charset="2"/>
              </a:rPr>
              <a:t>  </a:t>
            </a:r>
            <a:r>
              <a:rPr lang="en-US" altLang="zh-CN" sz="2400" baseline="-300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矛盾，从而结论成立。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603375" y="2426976"/>
                <a:ext cx="554029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b="1" dirty="0">
                    <a:latin typeface="+mn-ea"/>
                    <a:cs typeface="Times New Roman" panose="02020603050405020304" pitchFamily="18" charset="0"/>
                  </a:rPr>
                  <a:t>假设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1" i="1" dirty="0">
                        <a:latin typeface="+mn-ea"/>
                        <a:sym typeface="Symbol" panose="05050102010706020507" pitchFamily="18" charset="2"/>
                      </a:rPr>
                      <m:t></m:t>
                    </m:r>
                  </m:oMath>
                </a14:m>
                <a:r>
                  <a:rPr lang="en-US" altLang="zh-CN" b="1" baseline="-25000" dirty="0">
                    <a:latin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+mn-ea"/>
                    <a:cs typeface="Times New Roman" panose="02020603050405020304" pitchFamily="18" charset="0"/>
                  </a:rPr>
                  <a:t>和</a:t>
                </a:r>
                <a:r>
                  <a:rPr lang="en-US" altLang="zh-CN" b="1" i="1" dirty="0">
                    <a:latin typeface="+mn-ea"/>
                    <a:sym typeface="Symbol" panose="05050102010706020507" pitchFamily="18" charset="2"/>
                  </a:rPr>
                  <a:t> </a:t>
                </a:r>
                <a:r>
                  <a:rPr lang="en-US" altLang="zh-CN" b="1" baseline="-25000" dirty="0">
                    <a:latin typeface="+mn-ea"/>
                  </a:rPr>
                  <a:t>2</a:t>
                </a:r>
                <a:r>
                  <a:rPr lang="zh-CN" altLang="en-US" b="1" dirty="0">
                    <a:latin typeface="+mn-ea"/>
                    <a:cs typeface="Times New Roman" panose="02020603050405020304" pitchFamily="18" charset="0"/>
                  </a:rPr>
                  <a:t>是两个空集，且</a:t>
                </a:r>
                <a:r>
                  <a:rPr lang="en-US" altLang="zh-CN" b="1" i="1" dirty="0">
                    <a:latin typeface="+mn-ea"/>
                    <a:sym typeface="Symbol" panose="05050102010706020507" pitchFamily="18" charset="2"/>
                  </a:rPr>
                  <a:t></a:t>
                </a:r>
                <a:r>
                  <a:rPr lang="en-US" altLang="zh-CN" i="1" dirty="0">
                    <a:latin typeface="+mn-ea"/>
                    <a:sym typeface="Symbol" panose="05050102010706020507" pitchFamily="18" charset="2"/>
                  </a:rPr>
                  <a:t> </a:t>
                </a:r>
                <a:r>
                  <a:rPr lang="en-US" altLang="zh-CN" b="1" baseline="-25000" dirty="0">
                    <a:latin typeface="+mn-ea"/>
                  </a:rPr>
                  <a:t>1 </a:t>
                </a:r>
                <a:r>
                  <a:rPr lang="zh-CN" altLang="en-US" b="1" dirty="0">
                    <a:latin typeface="+mn-ea"/>
                    <a:cs typeface="Times New Roman" panose="02020603050405020304" pitchFamily="18" charset="0"/>
                  </a:rPr>
                  <a:t>≠</a:t>
                </a:r>
                <a:r>
                  <a:rPr lang="en-US" altLang="zh-CN" i="1" dirty="0">
                    <a:latin typeface="+mn-ea"/>
                    <a:sym typeface="Symbol" panose="05050102010706020507" pitchFamily="18" charset="2"/>
                  </a:rPr>
                  <a:t> </a:t>
                </a:r>
                <a:r>
                  <a:rPr lang="en-US" altLang="zh-CN" b="1" i="1" dirty="0">
                    <a:latin typeface="+mn-ea"/>
                    <a:sym typeface="Symbol" panose="05050102010706020507" pitchFamily="18" charset="2"/>
                  </a:rPr>
                  <a:t></a:t>
                </a:r>
                <a:r>
                  <a:rPr lang="en-US" altLang="zh-CN" i="1" dirty="0">
                    <a:latin typeface="+mn-ea"/>
                    <a:sym typeface="Symbol" panose="05050102010706020507" pitchFamily="18" charset="2"/>
                  </a:rPr>
                  <a:t> </a:t>
                </a:r>
                <a:r>
                  <a:rPr lang="en-US" altLang="zh-CN" b="1" baseline="-25000" dirty="0">
                    <a:latin typeface="+mn-ea"/>
                  </a:rPr>
                  <a:t>2</a:t>
                </a:r>
                <a:r>
                  <a:rPr lang="zh-CN" altLang="en-US" b="1" dirty="0">
                    <a:latin typeface="+mn-ea"/>
                    <a:cs typeface="Times New Roman" panose="02020603050405020304" pitchFamily="18" charset="0"/>
                  </a:rPr>
                  <a:t>，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375" y="2426976"/>
                <a:ext cx="5540299" cy="461665"/>
              </a:xfrm>
              <a:prstGeom prst="rect">
                <a:avLst/>
              </a:prstGeom>
              <a:blipFill>
                <a:blip r:embed="rId2"/>
                <a:stretch>
                  <a:fillRect l="-1650" t="-11842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805242" y="2426975"/>
            <a:ext cx="1251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证明</a:t>
            </a:r>
          </a:p>
        </p:txBody>
      </p:sp>
    </p:spTree>
    <p:extLst>
      <p:ext uri="{BB962C8B-B14F-4D97-AF65-F5344CB8AC3E}">
        <p14:creationId xmlns:p14="http://schemas.microsoft.com/office/powerpoint/2010/main" val="24790321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 autoUpdateAnimBg="0"/>
      <p:bldP spid="35846" grpId="0" autoUpdateAnimBg="0"/>
      <p:bldP spid="35849" grpId="0" animBg="1" autoUpdateAnimBg="0"/>
      <p:bldP spid="1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917575" y="1171548"/>
            <a:ext cx="10515600" cy="2246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定义</a:t>
            </a:r>
            <a:r>
              <a:rPr lang="en-US" altLang="zh-CN" dirty="0">
                <a:solidFill>
                  <a:srgbClr val="FF0000"/>
                </a:solidFill>
              </a:rPr>
              <a:t>1.4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>在一个</a:t>
            </a:r>
            <a:r>
              <a:rPr lang="zh-CN" altLang="en-US" dirty="0">
                <a:solidFill>
                  <a:srgbClr val="0000FF"/>
                </a:solidFill>
              </a:rPr>
              <a:t>相对固定的范围</a:t>
            </a:r>
            <a:r>
              <a:rPr lang="zh-CN" altLang="en-US" dirty="0"/>
              <a:t>内，</a:t>
            </a:r>
            <a:r>
              <a:rPr lang="zh-CN" altLang="en-US" dirty="0">
                <a:solidFill>
                  <a:srgbClr val="0000FF"/>
                </a:solidFill>
              </a:rPr>
              <a:t>包含此范围内所有元素的集合</a:t>
            </a:r>
            <a:r>
              <a:rPr lang="zh-CN" altLang="en-US" dirty="0"/>
              <a:t>，称为</a:t>
            </a:r>
            <a:r>
              <a:rPr lang="zh-CN" altLang="en-US" dirty="0">
                <a:solidFill>
                  <a:srgbClr val="FF0000"/>
                </a:solidFill>
              </a:rPr>
              <a:t>全集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00"/>
                </a:solidFill>
              </a:rPr>
              <a:t>论集</a:t>
            </a:r>
            <a:r>
              <a:rPr lang="en-US" altLang="zh-CN" dirty="0"/>
              <a:t>(Universal Set)</a:t>
            </a:r>
            <a:r>
              <a:rPr lang="zh-CN" altLang="en-US" dirty="0"/>
              <a:t>，用</a:t>
            </a:r>
            <a:r>
              <a:rPr lang="en-US" altLang="zh-CN" dirty="0"/>
              <a:t>U</a:t>
            </a:r>
            <a:r>
              <a:rPr lang="zh-CN" altLang="en-US" dirty="0"/>
              <a:t>或</a:t>
            </a:r>
            <a:r>
              <a:rPr lang="en-US" altLang="zh-CN" dirty="0"/>
              <a:t>E</a:t>
            </a:r>
            <a:r>
              <a:rPr lang="zh-CN" altLang="en-US" dirty="0"/>
              <a:t>表示。 </a:t>
            </a:r>
          </a:p>
          <a:p>
            <a:pPr marL="0" indent="0">
              <a:buNone/>
            </a:pPr>
            <a:r>
              <a:rPr lang="zh-CN" altLang="en-US" dirty="0"/>
              <a:t>用文氏图描述如右图所示。</a:t>
            </a:r>
            <a:endParaRPr lang="en-US" altLang="zh-CN" dirty="0"/>
          </a:p>
        </p:txBody>
      </p:sp>
      <p:sp>
        <p:nvSpPr>
          <p:cNvPr id="36868" name="Rectangle 3" descr="深色上对角线"/>
          <p:cNvSpPr>
            <a:spLocks noChangeArrowheads="1"/>
          </p:cNvSpPr>
          <p:nvPr/>
        </p:nvSpPr>
        <p:spPr bwMode="auto">
          <a:xfrm>
            <a:off x="9375775" y="1978185"/>
            <a:ext cx="1656146" cy="1440196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>
                <a:solidFill>
                  <a:srgbClr val="FF0000"/>
                </a:solidFill>
                <a:latin typeface="+mn-ea"/>
                <a:ea typeface="+mn-ea"/>
              </a:rPr>
              <a:t>U</a:t>
            </a:r>
          </a:p>
        </p:txBody>
      </p:sp>
      <p:sp>
        <p:nvSpPr>
          <p:cNvPr id="3994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cs typeface="Times New Roman" panose="02020603050405020304" pitchFamily="18" charset="0"/>
              </a:rPr>
              <a:t>2</a:t>
            </a:r>
            <a:r>
              <a:rPr lang="zh-CN" altLang="en-US">
                <a:cs typeface="Times New Roman" panose="02020603050405020304" pitchFamily="18" charset="0"/>
              </a:rPr>
              <a:t>、全集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133065" y="3414352"/>
            <a:ext cx="6049775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注意：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全集是相对唯一的。</a:t>
            </a:r>
            <a:endParaRPr lang="en-US" altLang="zh-CN" sz="24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09175" y="4346430"/>
            <a:ext cx="8137821" cy="11350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indent="266753" algn="just"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000000"/>
                </a:solidFill>
                <a:latin typeface="+mn-ea"/>
              </a:rPr>
              <a:t>例如，在实数范围，</a:t>
            </a:r>
            <a:r>
              <a:rPr lang="zh-CN" altLang="en-US" b="1" dirty="0">
                <a:solidFill>
                  <a:srgbClr val="000000"/>
                </a:solidFill>
                <a:latin typeface="+mn-ea"/>
              </a:rPr>
              <a:t>实数集就是惟一的</a:t>
            </a:r>
            <a:r>
              <a:rPr lang="zh-CN" altLang="zh-CN" b="1" dirty="0">
                <a:solidFill>
                  <a:srgbClr val="000000"/>
                </a:solidFill>
                <a:latin typeface="+mn-ea"/>
              </a:rPr>
              <a:t>全集</a:t>
            </a:r>
            <a:r>
              <a:rPr lang="zh-CN" altLang="en-US" b="1" dirty="0">
                <a:solidFill>
                  <a:srgbClr val="000000"/>
                </a:solidFill>
                <a:latin typeface="+mn-ea"/>
              </a:rPr>
              <a:t>；</a:t>
            </a:r>
            <a:endParaRPr lang="en-US" altLang="zh-CN" b="1" dirty="0">
              <a:solidFill>
                <a:srgbClr val="000000"/>
              </a:solidFill>
              <a:latin typeface="+mn-ea"/>
            </a:endParaRPr>
          </a:p>
          <a:p>
            <a:pPr indent="266753" algn="just">
              <a:lnSpc>
                <a:spcPct val="150000"/>
              </a:lnSpc>
              <a:defRPr/>
            </a:pPr>
            <a:r>
              <a:rPr lang="en-US" altLang="zh-CN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lang="zh-CN" altLang="zh-CN" b="1" dirty="0">
                <a:solidFill>
                  <a:srgbClr val="000000"/>
                </a:solidFill>
                <a:latin typeface="+mn-ea"/>
              </a:rPr>
              <a:t>在复数范围，</a:t>
            </a:r>
            <a:r>
              <a:rPr lang="zh-CN" altLang="en-US" b="1" dirty="0">
                <a:solidFill>
                  <a:srgbClr val="000000"/>
                </a:solidFill>
                <a:latin typeface="+mn-ea"/>
              </a:rPr>
              <a:t>复数集就是惟一的</a:t>
            </a:r>
            <a:r>
              <a:rPr lang="zh-CN" altLang="zh-CN" b="1" dirty="0">
                <a:solidFill>
                  <a:srgbClr val="000000"/>
                </a:solidFill>
                <a:latin typeface="+mn-ea"/>
              </a:rPr>
              <a:t>全集。</a:t>
            </a:r>
          </a:p>
        </p:txBody>
      </p:sp>
    </p:spTree>
    <p:extLst>
      <p:ext uri="{BB962C8B-B14F-4D97-AF65-F5344CB8AC3E}">
        <p14:creationId xmlns:p14="http://schemas.microsoft.com/office/powerpoint/2010/main" val="68527102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nimBg="1" autoUpdateAnimBg="0"/>
      <p:bldP spid="6" grpId="0" autoUpdateAnimBg="0"/>
      <p:bldP spid="6" grpId="1" autoUpdateAnimBg="0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</a:t>
            </a:r>
            <a:r>
              <a:rPr lang="zh-CN" altLang="en-US"/>
              <a:t>、幂集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942" y="1197253"/>
            <a:ext cx="11193633" cy="34536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定义</a:t>
            </a:r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1.5  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为任意集合，把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u="sng" dirty="0">
                <a:cs typeface="Times New Roman" panose="02020603050405020304" pitchFamily="18" charset="0"/>
                <a:sym typeface="Symbol" panose="05050102010706020507" pitchFamily="18" charset="2"/>
              </a:rPr>
              <a:t>所有不同子集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构成的集合叫做</a:t>
            </a:r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的幂集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(Power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Set)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，记为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P(A)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cs typeface="Times New Roman" panose="02020603050405020304" pitchFamily="18" charset="0"/>
              </a:rPr>
              <a:t>。</a:t>
            </a:r>
            <a:endParaRPr lang="zh-CN" altLang="en-US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其符号化表示为 </a:t>
            </a:r>
            <a:endParaRPr lang="en-US" altLang="zh-CN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              P(A)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{x|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一切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xA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zh-CN" altLang="zh-CN" dirty="0">
                <a:cs typeface="Times New Roman" panose="02020603050405020304" pitchFamily="18" charset="0"/>
              </a:rPr>
              <a:t>称所有元素都是集合的集合为</a:t>
            </a:r>
            <a:r>
              <a:rPr lang="zh-CN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集族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(Family of Set)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cs typeface="Times New Roman" panose="02020603050405020304" pitchFamily="18" charset="0"/>
              </a:rPr>
              <a:t>显然，</a:t>
            </a:r>
            <a:r>
              <a:rPr lang="zh-CN" altLang="en-US" u="sng" dirty="0">
                <a:cs typeface="Times New Roman" panose="02020603050405020304" pitchFamily="18" charset="0"/>
              </a:rPr>
              <a:t>幂集是</a:t>
            </a:r>
            <a:r>
              <a:rPr lang="zh-CN" altLang="en-US" u="sng" dirty="0">
                <a:cs typeface="Times New Roman" panose="02020603050405020304" pitchFamily="18" charset="0"/>
                <a:sym typeface="Symbol" panose="05050102010706020507" pitchFamily="18" charset="2"/>
              </a:rPr>
              <a:t>集族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803011" y="4674071"/>
            <a:ext cx="10934964" cy="115845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801" dirty="0">
                <a:latin typeface="+mn-ea"/>
                <a:ea typeface="+mn-ea"/>
              </a:rPr>
              <a:t>    对集族的研究在数学、知识库和表处理语言以及人工智能等方面</a:t>
            </a:r>
            <a:endParaRPr lang="en-US" altLang="zh-CN" sz="2801" dirty="0">
              <a:latin typeface="+mn-ea"/>
              <a:ea typeface="+mn-ea"/>
            </a:endParaRP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801" dirty="0">
                <a:latin typeface="+mn-ea"/>
                <a:ea typeface="+mn-ea"/>
              </a:rPr>
              <a:t>都有十分重要的意义。 </a:t>
            </a:r>
          </a:p>
        </p:txBody>
      </p:sp>
    </p:spTree>
    <p:extLst>
      <p:ext uri="{BB962C8B-B14F-4D97-AF65-F5344CB8AC3E}">
        <p14:creationId xmlns:p14="http://schemas.microsoft.com/office/powerpoint/2010/main" val="1185529128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幂集的计算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942" y="1696260"/>
            <a:ext cx="11125200" cy="142873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dirty="0">
                <a:solidFill>
                  <a:srgbClr val="C00000"/>
                </a:solidFill>
              </a:rPr>
              <a:t>规定</a:t>
            </a:r>
            <a:r>
              <a:rPr lang="zh-CN" altLang="en-US" dirty="0">
                <a:solidFill>
                  <a:schemeClr val="tx1"/>
                </a:solidFill>
              </a:rPr>
              <a:t> 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）含有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个元素的集合为</a:t>
            </a:r>
            <a:r>
              <a:rPr lang="en-US" altLang="zh-CN" dirty="0">
                <a:solidFill>
                  <a:srgbClr val="3333FF"/>
                </a:solidFill>
              </a:rPr>
              <a:t>n</a:t>
            </a:r>
            <a:r>
              <a:rPr lang="zh-CN" altLang="en-US" dirty="0">
                <a:solidFill>
                  <a:srgbClr val="3333FF"/>
                </a:solidFill>
              </a:rPr>
              <a:t>元集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dirty="0">
                <a:solidFill>
                  <a:schemeClr val="tx1"/>
                </a:solidFill>
              </a:rPr>
              <a:t>     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）若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为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元集，则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的含有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zh-CN" altLang="en-US" dirty="0">
                <a:solidFill>
                  <a:schemeClr val="tx1"/>
                </a:solidFill>
              </a:rPr>
              <a:t>个</a:t>
            </a:r>
            <a:r>
              <a:rPr lang="en-US" altLang="zh-CN" dirty="0">
                <a:solidFill>
                  <a:schemeClr val="tx1"/>
                </a:solidFill>
              </a:rPr>
              <a:t>(0≤m≤n)</a:t>
            </a:r>
            <a:r>
              <a:rPr lang="zh-CN" altLang="en-US" dirty="0">
                <a:solidFill>
                  <a:schemeClr val="tx1"/>
                </a:solidFill>
              </a:rPr>
              <a:t>元素的子集为它的</a:t>
            </a:r>
            <a:r>
              <a:rPr lang="en-US" altLang="zh-CN" dirty="0">
                <a:solidFill>
                  <a:srgbClr val="3333FF"/>
                </a:solidFill>
              </a:rPr>
              <a:t>m</a:t>
            </a:r>
            <a:r>
              <a:rPr lang="zh-CN" altLang="en-US" dirty="0">
                <a:solidFill>
                  <a:srgbClr val="3333FF"/>
                </a:solidFill>
              </a:rPr>
              <a:t>元子集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72942" y="3124994"/>
            <a:ext cx="10515600" cy="1688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just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2400" kern="0" dirty="0">
                <a:solidFill>
                  <a:srgbClr val="FF0000"/>
                </a:solidFill>
                <a:latin typeface="+mn-ea"/>
              </a:rPr>
              <a:t>元集</a:t>
            </a: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A</a:t>
            </a:r>
            <a:r>
              <a:rPr lang="zh-CN" altLang="en-US" sz="2400" kern="0" dirty="0">
                <a:solidFill>
                  <a:srgbClr val="FF0000"/>
                </a:solidFill>
                <a:latin typeface="+mn-ea"/>
              </a:rPr>
              <a:t>的幂集的计算方法：</a:t>
            </a:r>
            <a:endParaRPr lang="en-US" altLang="zh-CN" sz="2400" kern="0" dirty="0">
              <a:solidFill>
                <a:srgbClr val="FF0000"/>
              </a:solidFill>
              <a:latin typeface="+mn-ea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kern="0" dirty="0">
                <a:solidFill>
                  <a:srgbClr val="080010"/>
                </a:solidFill>
                <a:latin typeface="+mn-ea"/>
              </a:rPr>
              <a:t>（</a:t>
            </a:r>
            <a:r>
              <a:rPr lang="en-US" altLang="zh-CN" sz="2400" kern="0" dirty="0">
                <a:solidFill>
                  <a:srgbClr val="080010"/>
                </a:solidFill>
                <a:latin typeface="+mn-ea"/>
              </a:rPr>
              <a:t>1</a:t>
            </a:r>
            <a:r>
              <a:rPr lang="zh-CN" altLang="en-US" sz="2400" kern="0" dirty="0">
                <a:solidFill>
                  <a:srgbClr val="080010"/>
                </a:solidFill>
                <a:latin typeface="+mn-ea"/>
              </a:rPr>
              <a:t>）对</a:t>
            </a:r>
            <a:r>
              <a:rPr lang="en-US" altLang="zh-CN" sz="2400" kern="0" dirty="0">
                <a:solidFill>
                  <a:srgbClr val="080010"/>
                </a:solidFill>
                <a:latin typeface="+mn-ea"/>
              </a:rPr>
              <a:t>m=0</a:t>
            </a:r>
            <a:r>
              <a:rPr lang="zh-CN" altLang="en-US" sz="2400" kern="0" dirty="0">
                <a:solidFill>
                  <a:srgbClr val="080010"/>
                </a:solidFill>
                <a:latin typeface="+mn-ea"/>
              </a:rPr>
              <a:t>，</a:t>
            </a:r>
            <a:r>
              <a:rPr lang="en-US" altLang="zh-CN" sz="2400" kern="0" dirty="0">
                <a:solidFill>
                  <a:srgbClr val="080010"/>
                </a:solidFill>
                <a:latin typeface="+mn-ea"/>
              </a:rPr>
              <a:t>1</a:t>
            </a:r>
            <a:r>
              <a:rPr lang="zh-CN" altLang="en-US" sz="2400" kern="0" dirty="0">
                <a:solidFill>
                  <a:srgbClr val="080010"/>
                </a:solidFill>
                <a:latin typeface="+mn-ea"/>
              </a:rPr>
              <a:t>，</a:t>
            </a:r>
            <a:r>
              <a:rPr lang="en-US" altLang="zh-CN" sz="2400" kern="0" dirty="0">
                <a:solidFill>
                  <a:srgbClr val="080010"/>
                </a:solidFill>
                <a:latin typeface="+mn-ea"/>
              </a:rPr>
              <a:t>2</a:t>
            </a:r>
            <a:r>
              <a:rPr lang="zh-CN" altLang="en-US" sz="2400" kern="0" dirty="0">
                <a:solidFill>
                  <a:srgbClr val="080010"/>
                </a:solidFill>
                <a:latin typeface="+mn-ea"/>
              </a:rPr>
              <a:t>，</a:t>
            </a:r>
            <a:r>
              <a:rPr lang="en-US" altLang="zh-CN" sz="2400" kern="0" dirty="0">
                <a:solidFill>
                  <a:srgbClr val="080010"/>
                </a:solidFill>
                <a:latin typeface="+mn-ea"/>
              </a:rPr>
              <a:t>…</a:t>
            </a:r>
            <a:r>
              <a:rPr lang="zh-CN" altLang="en-US" sz="2400" kern="0" dirty="0">
                <a:solidFill>
                  <a:srgbClr val="080010"/>
                </a:solidFill>
                <a:latin typeface="+mn-ea"/>
              </a:rPr>
              <a:t>，</a:t>
            </a:r>
            <a:r>
              <a:rPr lang="en-US" altLang="zh-CN" sz="2400" kern="0" dirty="0">
                <a:solidFill>
                  <a:srgbClr val="080010"/>
                </a:solidFill>
                <a:latin typeface="+mn-ea"/>
              </a:rPr>
              <a:t>n</a:t>
            </a:r>
            <a:r>
              <a:rPr lang="zh-CN" altLang="en-US" sz="2400" kern="0" dirty="0">
                <a:solidFill>
                  <a:srgbClr val="080010"/>
                </a:solidFill>
                <a:latin typeface="+mn-ea"/>
              </a:rPr>
              <a:t>，依次计算</a:t>
            </a:r>
            <a:r>
              <a:rPr lang="en-US" altLang="zh-CN" sz="2400" kern="0" dirty="0">
                <a:solidFill>
                  <a:srgbClr val="080010"/>
                </a:solidFill>
                <a:latin typeface="+mn-ea"/>
              </a:rPr>
              <a:t>A</a:t>
            </a:r>
            <a:r>
              <a:rPr lang="zh-CN" altLang="en-US" sz="2400" kern="0" dirty="0">
                <a:solidFill>
                  <a:srgbClr val="080010"/>
                </a:solidFill>
                <a:latin typeface="+mn-ea"/>
              </a:rPr>
              <a:t>的</a:t>
            </a:r>
            <a:r>
              <a:rPr lang="en-US" altLang="zh-CN" sz="2400" kern="0" dirty="0">
                <a:solidFill>
                  <a:srgbClr val="080010"/>
                </a:solidFill>
                <a:latin typeface="+mn-ea"/>
              </a:rPr>
              <a:t>m</a:t>
            </a:r>
            <a:r>
              <a:rPr lang="zh-CN" altLang="en-US" sz="2400" kern="0" dirty="0">
                <a:solidFill>
                  <a:srgbClr val="080010"/>
                </a:solidFill>
                <a:latin typeface="+mn-ea"/>
              </a:rPr>
              <a:t>元子集；</a:t>
            </a:r>
            <a:endParaRPr lang="en-US" altLang="zh-CN" sz="2400" kern="0" dirty="0">
              <a:solidFill>
                <a:srgbClr val="080010"/>
              </a:solidFill>
              <a:latin typeface="+mn-ea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kern="0" dirty="0">
                <a:latin typeface="+mn-ea"/>
              </a:rPr>
              <a:t>（</a:t>
            </a:r>
            <a:r>
              <a:rPr lang="en-US" altLang="zh-CN" sz="2400" kern="0" dirty="0">
                <a:latin typeface="+mn-ea"/>
              </a:rPr>
              <a:t>2</a:t>
            </a:r>
            <a:r>
              <a:rPr lang="zh-CN" altLang="en-US" sz="2400" kern="0" dirty="0">
                <a:latin typeface="+mn-ea"/>
              </a:rPr>
              <a:t>）以求出的所有的</a:t>
            </a:r>
            <a:r>
              <a:rPr lang="en-US" altLang="zh-CN" sz="2400" kern="0" dirty="0">
                <a:latin typeface="+mn-ea"/>
              </a:rPr>
              <a:t>m</a:t>
            </a:r>
            <a:r>
              <a:rPr lang="zh-CN" altLang="en-US" sz="2400" kern="0" dirty="0">
                <a:latin typeface="+mn-ea"/>
              </a:rPr>
              <a:t>元子集为元素构成的集合即为</a:t>
            </a:r>
            <a:r>
              <a:rPr lang="en-US" altLang="zh-CN" sz="2400" kern="0" dirty="0">
                <a:latin typeface="+mn-ea"/>
              </a:rPr>
              <a:t>A</a:t>
            </a:r>
            <a:r>
              <a:rPr lang="zh-CN" altLang="en-US" sz="2400" kern="0" dirty="0">
                <a:latin typeface="+mn-ea"/>
              </a:rPr>
              <a:t>的幂集。</a:t>
            </a:r>
          </a:p>
        </p:txBody>
      </p:sp>
    </p:spTree>
    <p:extLst>
      <p:ext uri="{BB962C8B-B14F-4D97-AF65-F5344CB8AC3E}">
        <p14:creationId xmlns:p14="http://schemas.microsoft.com/office/powerpoint/2010/main" val="51695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latin typeface="+mn-ea"/>
                <a:ea typeface="+mn-ea"/>
              </a:rPr>
              <a:t>解题小贴士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72942" y="1524794"/>
            <a:ext cx="6481675" cy="461665"/>
          </a:xfrm>
          <a:prstGeom prst="rect">
            <a:avLst/>
          </a:prstGeom>
          <a:solidFill>
            <a:srgbClr val="99CC00">
              <a:alpha val="89999"/>
            </a:srgb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P(A)</a:t>
            </a:r>
            <a:r>
              <a:rPr lang="zh-CN" altLang="en-US" sz="2400" b="1" dirty="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的计算方法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897027" y="2362994"/>
            <a:ext cx="10536147" cy="2209800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txBody>
          <a:bodyPr anchor="ctr"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）确定集合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的基数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|A|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）计算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元子集，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元子集，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|A|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元子集；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）以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元子集，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元子集，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|A|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元子集为元素构成的集合即为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P(A)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4743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91523" y="1664518"/>
            <a:ext cx="8860301" cy="49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buClrTx/>
              <a:buNone/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P({</a:t>
            </a:r>
            <a:r>
              <a:rPr lang="en-US" altLang="zh-CN" sz="2400" dirty="0" err="1">
                <a:latin typeface="+mn-ea"/>
                <a:ea typeface="+mn-ea"/>
              </a:rPr>
              <a:t>a,b,c</a:t>
            </a:r>
            <a:r>
              <a:rPr lang="en-US" altLang="zh-CN" sz="2400" dirty="0">
                <a:latin typeface="+mn-ea"/>
                <a:ea typeface="+mn-ea"/>
              </a:rPr>
              <a:t>})       </a:t>
            </a:r>
            <a:r>
              <a:rPr lang="zh-CN" altLang="el-GR" sz="2400" dirty="0">
                <a:latin typeface="+mn-ea"/>
                <a:ea typeface="+mn-ea"/>
              </a:rPr>
              <a:t>（</a:t>
            </a:r>
            <a:r>
              <a:rPr lang="el-GR" altLang="zh-CN" sz="2400" dirty="0">
                <a:latin typeface="+mn-ea"/>
                <a:ea typeface="+mn-ea"/>
              </a:rPr>
              <a:t>2</a:t>
            </a:r>
            <a:r>
              <a:rPr lang="zh-CN" altLang="el-GR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P(</a:t>
            </a: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</a:t>
            </a:r>
            <a:r>
              <a:rPr lang="el-GR" altLang="zh-CN" sz="2400" dirty="0">
                <a:latin typeface="+mn-ea"/>
                <a:ea typeface="+mn-ea"/>
              </a:rPr>
              <a:t>) </a:t>
            </a:r>
            <a:r>
              <a:rPr lang="en-US" altLang="zh-CN" sz="2400" dirty="0">
                <a:latin typeface="+mn-ea"/>
                <a:ea typeface="+mn-ea"/>
              </a:rPr>
              <a:t>       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P({a,{</a:t>
            </a:r>
            <a:r>
              <a:rPr lang="en-US" altLang="zh-CN" sz="2400" dirty="0" err="1">
                <a:latin typeface="+mn-ea"/>
                <a:ea typeface="+mn-ea"/>
              </a:rPr>
              <a:t>b,c</a:t>
            </a:r>
            <a:r>
              <a:rPr lang="en-US" altLang="zh-CN" sz="2400" dirty="0">
                <a:latin typeface="+mn-ea"/>
                <a:ea typeface="+mn-ea"/>
              </a:rPr>
              <a:t>}})</a:t>
            </a:r>
          </a:p>
        </p:txBody>
      </p:sp>
      <p:sp>
        <p:nvSpPr>
          <p:cNvPr id="3" name="矩形 2"/>
          <p:cNvSpPr/>
          <p:nvPr/>
        </p:nvSpPr>
        <p:spPr>
          <a:xfrm>
            <a:off x="780982" y="1014116"/>
            <a:ext cx="6194272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1.3 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计算</a:t>
            </a:r>
            <a:r>
              <a:rPr lang="zh-CN" altLang="en-US" b="1" dirty="0">
                <a:latin typeface="+mn-ea"/>
                <a:cs typeface="+mj-cs"/>
              </a:rPr>
              <a:t>下列幂集</a:t>
            </a:r>
          </a:p>
        </p:txBody>
      </p:sp>
      <p:sp>
        <p:nvSpPr>
          <p:cNvPr id="43012" name="矩形 4"/>
          <p:cNvSpPr>
            <a:spLocks noChangeArrowheads="1"/>
          </p:cNvSpPr>
          <p:nvPr/>
        </p:nvSpPr>
        <p:spPr bwMode="auto">
          <a:xfrm>
            <a:off x="767150" y="2431216"/>
            <a:ext cx="11047025" cy="1954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801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解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P({a, b, c})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latin typeface="+mn-ea"/>
                <a:sym typeface="Symbol" panose="05050102010706020507" pitchFamily="18" charset="2"/>
              </a:rPr>
              <a:t></a:t>
            </a:r>
            <a:r>
              <a:rPr lang="el-GR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, {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a}, {b}, {c}, {</a:t>
            </a:r>
            <a:r>
              <a:rPr lang="en-US" altLang="zh-CN" sz="2801" dirty="0" err="1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a,b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}, {</a:t>
            </a:r>
            <a:r>
              <a:rPr lang="en-US" altLang="zh-CN" sz="2801" dirty="0" err="1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a,c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},  {</a:t>
            </a:r>
            <a:r>
              <a:rPr lang="en-US" altLang="zh-CN" sz="2801" dirty="0" err="1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b,c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},  {</a:t>
            </a:r>
            <a:r>
              <a:rPr lang="en-US" altLang="zh-CN" sz="2801" dirty="0" err="1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a,b,c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}}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l-GR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l-GR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l-GR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P(</a:t>
            </a:r>
            <a:r>
              <a:rPr lang="en-US" altLang="zh-CN" i="1" dirty="0">
                <a:latin typeface="+mn-ea"/>
                <a:sym typeface="Symbol" panose="05050102010706020507" pitchFamily="18" charset="2"/>
              </a:rPr>
              <a:t></a:t>
            </a:r>
            <a:r>
              <a:rPr lang="el-GR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l-GR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l-GR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latin typeface="+mn-ea"/>
                <a:sym typeface="Symbol" panose="05050102010706020507" pitchFamily="18" charset="2"/>
              </a:rPr>
              <a:t></a:t>
            </a:r>
            <a:r>
              <a:rPr lang="el-GR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;</a:t>
            </a:r>
            <a:endParaRPr lang="zh-CN" altLang="el-GR" sz="2801" dirty="0">
              <a:solidFill>
                <a:srgbClr val="08001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    （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P({a, {b, c}})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latin typeface="+mn-ea"/>
                <a:sym typeface="Symbol" panose="05050102010706020507" pitchFamily="18" charset="2"/>
              </a:rPr>
              <a:t></a:t>
            </a:r>
            <a:r>
              <a:rPr lang="el-GR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, {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a}, {{b, c}}, {a, {b, c}}}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99397" y="4877594"/>
            <a:ext cx="10812635" cy="1229959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结论：若集合Ａ是ｎ元集，则Ａ共有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2</a:t>
            </a:r>
            <a:r>
              <a:rPr lang="en-US" altLang="zh-CN" sz="2400" baseline="30000" dirty="0">
                <a:solidFill>
                  <a:schemeClr val="bg1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个子集，即：</a:t>
            </a:r>
          </a:p>
          <a:p>
            <a:pPr lvl="1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(A)|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＝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2</a:t>
            </a:r>
            <a:r>
              <a:rPr lang="en-US" altLang="zh-CN" sz="2400" baseline="30000" dirty="0">
                <a:solidFill>
                  <a:schemeClr val="bg1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+mn-ea"/>
                <a:ea typeface="+mn-ea"/>
              </a:rPr>
              <a:t>例</a:t>
            </a:r>
            <a:r>
              <a:rPr lang="en-US" altLang="zh-CN" b="1" dirty="0">
                <a:latin typeface="+mn-ea"/>
                <a:ea typeface="+mn-ea"/>
              </a:rPr>
              <a:t>1.3</a:t>
            </a:r>
            <a:endParaRPr lang="zh-CN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65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3"/>
          <p:cNvSpPr/>
          <p:nvPr/>
        </p:nvSpPr>
        <p:spPr>
          <a:xfrm>
            <a:off x="4651376" y="534194"/>
            <a:ext cx="6629399" cy="5205255"/>
          </a:xfrm>
          <a:custGeom>
            <a:avLst/>
            <a:gdLst>
              <a:gd name="connsiteX0" fmla="*/ 0 w 7560564"/>
              <a:gd name="connsiteY0" fmla="*/ 282448 h 3275076"/>
              <a:gd name="connsiteX1" fmla="*/ 282473 w 7560564"/>
              <a:gd name="connsiteY1" fmla="*/ 0 h 3275076"/>
              <a:gd name="connsiteX2" fmla="*/ 7278116 w 7560564"/>
              <a:gd name="connsiteY2" fmla="*/ 0 h 3275076"/>
              <a:gd name="connsiteX3" fmla="*/ 7560563 w 7560564"/>
              <a:gd name="connsiteY3" fmla="*/ 282448 h 3275076"/>
              <a:gd name="connsiteX4" fmla="*/ 7560563 w 7560564"/>
              <a:gd name="connsiteY4" fmla="*/ 2992602 h 3275076"/>
              <a:gd name="connsiteX5" fmla="*/ 7278116 w 7560564"/>
              <a:gd name="connsiteY5" fmla="*/ 3275075 h 3275076"/>
              <a:gd name="connsiteX6" fmla="*/ 282473 w 7560564"/>
              <a:gd name="connsiteY6" fmla="*/ 3275075 h 3275076"/>
              <a:gd name="connsiteX7" fmla="*/ 0 w 7560564"/>
              <a:gd name="connsiteY7" fmla="*/ 2992602 h 3275076"/>
              <a:gd name="connsiteX8" fmla="*/ 0 w 7560564"/>
              <a:gd name="connsiteY8" fmla="*/ 282448 h 327507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7560564" h="3275076">
                <a:moveTo>
                  <a:pt x="0" y="282448"/>
                </a:moveTo>
                <a:cubicBezTo>
                  <a:pt x="0" y="126492"/>
                  <a:pt x="126466" y="0"/>
                  <a:pt x="282473" y="0"/>
                </a:cubicBezTo>
                <a:lnTo>
                  <a:pt x="7278116" y="0"/>
                </a:lnTo>
                <a:cubicBezTo>
                  <a:pt x="7434071" y="0"/>
                  <a:pt x="7560563" y="126492"/>
                  <a:pt x="7560563" y="282448"/>
                </a:cubicBezTo>
                <a:lnTo>
                  <a:pt x="7560563" y="2992602"/>
                </a:lnTo>
                <a:cubicBezTo>
                  <a:pt x="7560563" y="3148609"/>
                  <a:pt x="7434071" y="3275075"/>
                  <a:pt x="7278116" y="3275075"/>
                </a:cubicBezTo>
                <a:lnTo>
                  <a:pt x="282473" y="3275075"/>
                </a:lnTo>
                <a:cubicBezTo>
                  <a:pt x="126466" y="3275075"/>
                  <a:pt x="0" y="3148609"/>
                  <a:pt x="0" y="2992602"/>
                </a:cubicBezTo>
                <a:lnTo>
                  <a:pt x="0" y="282448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57541" y="3031704"/>
            <a:ext cx="4913633" cy="48292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"/>
          <p:cNvSpPr txBox="1"/>
          <p:nvPr/>
        </p:nvSpPr>
        <p:spPr>
          <a:xfrm>
            <a:off x="7013575" y="1307841"/>
            <a:ext cx="2769989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本章导读及学习要求</a:t>
            </a:r>
          </a:p>
        </p:txBody>
      </p:sp>
      <p:sp>
        <p:nvSpPr>
          <p:cNvPr id="47" name="TextBox 1"/>
          <p:cNvSpPr txBox="1"/>
          <p:nvPr/>
        </p:nvSpPr>
        <p:spPr>
          <a:xfrm>
            <a:off x="7013575" y="1993864"/>
            <a:ext cx="215443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集合的基本概念</a:t>
            </a:r>
          </a:p>
        </p:txBody>
      </p:sp>
      <p:sp>
        <p:nvSpPr>
          <p:cNvPr id="48" name="TextBox 1"/>
          <p:cNvSpPr txBox="1"/>
          <p:nvPr/>
        </p:nvSpPr>
        <p:spPr>
          <a:xfrm>
            <a:off x="7013575" y="2572859"/>
            <a:ext cx="123110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特殊集合</a:t>
            </a:r>
          </a:p>
        </p:txBody>
      </p:sp>
      <p:sp>
        <p:nvSpPr>
          <p:cNvPr id="51" name="Freeform 3"/>
          <p:cNvSpPr/>
          <p:nvPr/>
        </p:nvSpPr>
        <p:spPr>
          <a:xfrm>
            <a:off x="6698357" y="1002334"/>
            <a:ext cx="45719" cy="4108726"/>
          </a:xfrm>
          <a:custGeom>
            <a:avLst/>
            <a:gdLst>
              <a:gd name="connsiteX0" fmla="*/ 6350 w 21844"/>
              <a:gd name="connsiteY0" fmla="*/ 6350 h 879855"/>
              <a:gd name="connsiteX1" fmla="*/ 6350 w 21844"/>
              <a:gd name="connsiteY1" fmla="*/ 873506 h 8798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879855">
                <a:moveTo>
                  <a:pt x="6350" y="6350"/>
                </a:moveTo>
                <a:lnTo>
                  <a:pt x="6350" y="873506"/>
                </a:lnTo>
              </a:path>
            </a:pathLst>
          </a:custGeom>
          <a:ln w="12700">
            <a:solidFill>
              <a:srgbClr val="A4B3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2" name="Freeform 3"/>
          <p:cNvSpPr/>
          <p:nvPr/>
        </p:nvSpPr>
        <p:spPr>
          <a:xfrm>
            <a:off x="6632575" y="1368713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00B05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3" name="Freeform 3"/>
          <p:cNvSpPr/>
          <p:nvPr/>
        </p:nvSpPr>
        <p:spPr>
          <a:xfrm>
            <a:off x="6632575" y="2038834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74B83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4" name="Freeform 3"/>
          <p:cNvSpPr/>
          <p:nvPr/>
        </p:nvSpPr>
        <p:spPr>
          <a:xfrm>
            <a:off x="6632575" y="2635452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1"/>
          <p:cNvSpPr txBox="1"/>
          <p:nvPr/>
        </p:nvSpPr>
        <p:spPr>
          <a:xfrm>
            <a:off x="545294" y="2704702"/>
            <a:ext cx="1846659" cy="835956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6936"/>
              </a:lnSpc>
            </a:pPr>
            <a:r>
              <a:rPr lang="zh-CN" altLang="en-US" sz="3600" b="1" dirty="0">
                <a:solidFill>
                  <a:srgbClr val="4197DF"/>
                </a:solidFill>
                <a:latin typeface="Microsoft YaHei UI" pitchFamily="18" charset="0"/>
                <a:cs typeface="Microsoft YaHei UI" pitchFamily="18" charset="0"/>
              </a:rPr>
              <a:t>内容导航</a:t>
            </a:r>
            <a:endParaRPr lang="en-US" altLang="zh-CN" sz="3600" b="1" dirty="0">
              <a:solidFill>
                <a:srgbClr val="4197DF"/>
              </a:solidFill>
              <a:latin typeface="Microsoft YaHei UI" pitchFamily="18" charset="0"/>
              <a:cs typeface="Microsoft YaHei UI" pitchFamily="18" charset="0"/>
            </a:endParaRPr>
          </a:p>
        </p:txBody>
      </p:sp>
      <p:sp>
        <p:nvSpPr>
          <p:cNvPr id="57" name="TextBox 1"/>
          <p:cNvSpPr txBox="1"/>
          <p:nvPr/>
        </p:nvSpPr>
        <p:spPr>
          <a:xfrm>
            <a:off x="545293" y="3518639"/>
            <a:ext cx="1846659" cy="272596"/>
          </a:xfrm>
          <a:prstGeom prst="rect">
            <a:avLst/>
          </a:prstGeom>
          <a:noFill/>
        </p:spPr>
        <p:txBody>
          <a:bodyPr wrap="square" lIns="0" tIns="0" rIns="0" bIns="60981" rtlCol="0">
            <a:spAutoFit/>
          </a:bodyPr>
          <a:lstStyle/>
          <a:p>
            <a:pPr algn="dist">
              <a:lnSpc>
                <a:spcPts val="1601"/>
              </a:lnSpc>
            </a:pPr>
            <a:r>
              <a:rPr lang="en-US" altLang="zh-CN" sz="1900" b="1" dirty="0">
                <a:solidFill>
                  <a:srgbClr val="4197DF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9" name="矩形 58"/>
          <p:cNvSpPr/>
          <p:nvPr/>
        </p:nvSpPr>
        <p:spPr>
          <a:xfrm>
            <a:off x="518434" y="2201849"/>
            <a:ext cx="1873520" cy="702656"/>
          </a:xfrm>
          <a:prstGeom prst="rect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/>
          <p:cNvCxnSpPr/>
          <p:nvPr/>
        </p:nvCxnSpPr>
        <p:spPr>
          <a:xfrm>
            <a:off x="536575" y="7699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536575" y="2484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536575" y="405607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536575" y="577057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536575" y="71993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536575" y="89138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36575" y="10485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536575" y="1219994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536575" y="1404371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36575" y="154724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36575" y="171869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36575" y="1875858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36575" y="2047308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2000250" y="6254294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/>
        </p:nvSpPr>
        <p:spPr>
          <a:xfrm>
            <a:off x="2381250" y="5840443"/>
            <a:ext cx="674915" cy="101325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/>
        </p:nvSpPr>
        <p:spPr>
          <a:xfrm>
            <a:off x="3146878" y="6329700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>
            <a:off x="95250" y="5621722"/>
            <a:ext cx="1066800" cy="123197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等腰三角形 36"/>
          <p:cNvSpPr/>
          <p:nvPr/>
        </p:nvSpPr>
        <p:spPr>
          <a:xfrm>
            <a:off x="876300" y="6254294"/>
            <a:ext cx="381000" cy="513301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1"/>
          <p:cNvSpPr txBox="1"/>
          <p:nvPr/>
        </p:nvSpPr>
        <p:spPr>
          <a:xfrm>
            <a:off x="7013575" y="3152479"/>
            <a:ext cx="153888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集合的运算</a:t>
            </a:r>
          </a:p>
        </p:txBody>
      </p:sp>
      <p:sp>
        <p:nvSpPr>
          <p:cNvPr id="39" name="TextBox 1"/>
          <p:cNvSpPr txBox="1"/>
          <p:nvPr/>
        </p:nvSpPr>
        <p:spPr>
          <a:xfrm>
            <a:off x="7030855" y="3721689"/>
            <a:ext cx="923330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无限集</a:t>
            </a:r>
          </a:p>
        </p:txBody>
      </p:sp>
      <p:sp>
        <p:nvSpPr>
          <p:cNvPr id="40" name="Freeform 3"/>
          <p:cNvSpPr/>
          <p:nvPr/>
        </p:nvSpPr>
        <p:spPr>
          <a:xfrm>
            <a:off x="6632575" y="3212253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 3"/>
          <p:cNvSpPr/>
          <p:nvPr/>
        </p:nvSpPr>
        <p:spPr>
          <a:xfrm>
            <a:off x="6632575" y="3772330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4" name="TextBox 1"/>
          <p:cNvSpPr txBox="1"/>
          <p:nvPr/>
        </p:nvSpPr>
        <p:spPr>
          <a:xfrm>
            <a:off x="6048108" y="3161453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solidFill>
                  <a:schemeClr val="bg1"/>
                </a:solidFill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1.3</a:t>
            </a:r>
          </a:p>
        </p:txBody>
      </p:sp>
      <p:sp>
        <p:nvSpPr>
          <p:cNvPr id="45" name="TextBox 1"/>
          <p:cNvSpPr txBox="1"/>
          <p:nvPr/>
        </p:nvSpPr>
        <p:spPr>
          <a:xfrm>
            <a:off x="6048108" y="3742552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1.4</a:t>
            </a:r>
          </a:p>
        </p:txBody>
      </p:sp>
      <p:sp>
        <p:nvSpPr>
          <p:cNvPr id="77" name="等腰三角形 76"/>
          <p:cNvSpPr/>
          <p:nvPr/>
        </p:nvSpPr>
        <p:spPr>
          <a:xfrm>
            <a:off x="6205548" y="1267794"/>
            <a:ext cx="304800" cy="267093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TextBox 1"/>
          <p:cNvSpPr txBox="1"/>
          <p:nvPr/>
        </p:nvSpPr>
        <p:spPr>
          <a:xfrm>
            <a:off x="7011024" y="4290108"/>
            <a:ext cx="246221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与集合相关的应用</a:t>
            </a:r>
          </a:p>
        </p:txBody>
      </p:sp>
      <p:sp>
        <p:nvSpPr>
          <p:cNvPr id="81" name="Freeform 3"/>
          <p:cNvSpPr/>
          <p:nvPr/>
        </p:nvSpPr>
        <p:spPr>
          <a:xfrm>
            <a:off x="6642724" y="4333254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"/>
          <p:cNvSpPr txBox="1"/>
          <p:nvPr/>
        </p:nvSpPr>
        <p:spPr>
          <a:xfrm>
            <a:off x="6058257" y="4303476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1.5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FDA7A11-E754-4EA2-E528-360794ADB1F7}"/>
              </a:ext>
            </a:extLst>
          </p:cNvPr>
          <p:cNvSpPr txBox="1"/>
          <p:nvPr/>
        </p:nvSpPr>
        <p:spPr>
          <a:xfrm>
            <a:off x="6998534" y="4832248"/>
            <a:ext cx="61555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作业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CB95781C-5009-FE00-0312-E8DEAD218C6B}"/>
              </a:ext>
            </a:extLst>
          </p:cNvPr>
          <p:cNvSpPr/>
          <p:nvPr/>
        </p:nvSpPr>
        <p:spPr>
          <a:xfrm>
            <a:off x="6630234" y="4875394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BFCB515F-250D-6EFF-F900-24F3C122B1B4}"/>
              </a:ext>
            </a:extLst>
          </p:cNvPr>
          <p:cNvSpPr txBox="1"/>
          <p:nvPr/>
        </p:nvSpPr>
        <p:spPr>
          <a:xfrm>
            <a:off x="6045767" y="4845616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1.6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F05879DC-625A-14F1-66A7-A97BEE1C3605}"/>
              </a:ext>
            </a:extLst>
          </p:cNvPr>
          <p:cNvSpPr txBox="1"/>
          <p:nvPr/>
        </p:nvSpPr>
        <p:spPr>
          <a:xfrm>
            <a:off x="6009758" y="2544832"/>
            <a:ext cx="742183" cy="369353"/>
          </a:xfrm>
          <a:prstGeom prst="rect">
            <a:avLst/>
          </a:prstGeom>
          <a:noFill/>
        </p:spPr>
        <p:txBody>
          <a:bodyPr wrap="squar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1.2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4E3C77B0-C37E-B87D-B6D0-4476B11235EC}"/>
              </a:ext>
            </a:extLst>
          </p:cNvPr>
          <p:cNvSpPr txBox="1"/>
          <p:nvPr/>
        </p:nvSpPr>
        <p:spPr>
          <a:xfrm>
            <a:off x="6009758" y="2002692"/>
            <a:ext cx="553850" cy="369353"/>
          </a:xfrm>
          <a:prstGeom prst="rect">
            <a:avLst/>
          </a:prstGeom>
          <a:noFill/>
        </p:spPr>
        <p:txBody>
          <a:bodyPr wrap="squar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1657237589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87830" y="249428"/>
            <a:ext cx="8066367" cy="635147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altLang="zh-CN" dirty="0"/>
              <a:t> </a:t>
            </a:r>
            <a:r>
              <a:rPr lang="zh-CN" altLang="en-US" dirty="0"/>
              <a:t>集合的运算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6" name="Rectangle 3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069975" y="996859"/>
                <a:ext cx="10972800" cy="376769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spcBef>
                    <a:spcPct val="0"/>
                  </a:spcBef>
                  <a:buNone/>
                </a:pPr>
                <a:r>
                  <a:rPr lang="zh-CN" alt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1.6  </a:t>
                </a:r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是全集，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的两个子集，则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，</a:t>
                </a: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en-US" altLang="zh-CN" dirty="0">
                    <a:solidFill>
                      <a:schemeClr val="tx1"/>
                    </a:solidFill>
                  </a:rPr>
                  <a:t>(1)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并集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(Union Set)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        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A</a:t>
                </a:r>
                <a:r>
                  <a:rPr lang="en-US" altLang="zh-CN" dirty="0"/>
                  <a:t>∪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B={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x|x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A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或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xB</a:t>
                </a: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}</a:t>
                </a: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(2)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交集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(Intersection Set)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A</a:t>
                </a:r>
                <a:r>
                  <a:rPr lang="en-US" altLang="zh-CN" dirty="0"/>
                  <a:t>∩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B={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x|x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A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且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xB</a:t>
                </a: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}</a:t>
                </a: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(3)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差集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(Subtraction Set) 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A</a:t>
                </a:r>
                <a:r>
                  <a:rPr lang="en-US" altLang="zh-CN" dirty="0">
                    <a:sym typeface="Symbol" panose="05050102010706020507" pitchFamily="18" charset="2"/>
                  </a:rPr>
                  <a:t>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B={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x|x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A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且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xB</a:t>
                </a: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}</a:t>
                </a: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(4)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补集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(Complement Set)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b="1" i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𝐁</m:t>
                        </m:r>
                      </m:e>
                    </m:acc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=</a:t>
                </a: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U</a:t>
                </a:r>
                <a:r>
                  <a:rPr lang="en-US" altLang="zh-CN" dirty="0">
                    <a:sym typeface="Symbol" panose="05050102010706020507" pitchFamily="18" charset="2"/>
                  </a:rPr>
                  <a:t>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B={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x|x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U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且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xB</a:t>
                </a: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}  (B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′,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～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B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,B</a:t>
                </a:r>
                <a:r>
                  <a:rPr lang="en-US" altLang="zh-CN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</a:t>
                </a: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)</a:t>
                </a: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(5)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对称差集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Sysmmetric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Difference Set)</a:t>
                </a:r>
                <a:r>
                  <a:rPr lang="zh-CN" alt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endParaRPr lang="en-US" altLang="zh-CN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30000"/>
                  </a:lnSpc>
                  <a:spcBef>
                    <a:spcPct val="0"/>
                  </a:spcBef>
                  <a:buNone/>
                </a:pPr>
                <a:r>
                  <a:rPr lang="en-US" altLang="zh-CN" dirty="0">
                    <a:solidFill>
                      <a:schemeClr val="tx1"/>
                    </a:solidFill>
                  </a:rPr>
                  <a:t>                           A</a:t>
                </a:r>
                <a:r>
                  <a:rPr lang="en-US" altLang="zh-CN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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B={x|(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x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A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)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且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x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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B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)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或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x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B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)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且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x</a:t>
                </a:r>
                <a:r>
                  <a:rPr lang="en-US" altLang="zh-CN" dirty="0" err="1">
                    <a:solidFill>
                      <a:schemeClr val="tx1"/>
                    </a:solidFill>
                    <a:sym typeface="Symbol" panose="05050102010706020507" pitchFamily="18" charset="2"/>
                  </a:rPr>
                  <a:t>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A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)}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03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069975" y="996859"/>
                <a:ext cx="10972800" cy="3767696"/>
              </a:xfrm>
              <a:blipFill>
                <a:blip r:embed="rId4"/>
                <a:stretch>
                  <a:fillRect l="-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661810" y="4764555"/>
            <a:ext cx="1549759" cy="2030883"/>
            <a:chOff x="0" y="0"/>
            <a:chExt cx="976" cy="1279"/>
          </a:xfrm>
        </p:grpSpPr>
        <p:grpSp>
          <p:nvGrpSpPr>
            <p:cNvPr id="44066" name="Group 7"/>
            <p:cNvGrpSpPr>
              <a:grpSpLocks/>
            </p:cNvGrpSpPr>
            <p:nvPr/>
          </p:nvGrpSpPr>
          <p:grpSpPr bwMode="auto">
            <a:xfrm>
              <a:off x="0" y="0"/>
              <a:ext cx="976" cy="968"/>
              <a:chOff x="0" y="0"/>
              <a:chExt cx="976" cy="968"/>
            </a:xfrm>
          </p:grpSpPr>
          <p:sp>
            <p:nvSpPr>
              <p:cNvPr id="44068" name="Text Box 7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976" cy="968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1">
                    <a:latin typeface="Times New Roman" panose="02020603050405020304" pitchFamily="18" charset="0"/>
                    <a:ea typeface="楷体_GB2312" pitchFamily="1" charset="-122"/>
                  </a:rPr>
                  <a:t>U</a:t>
                </a:r>
              </a:p>
              <a:p>
                <a:pPr algn="l">
                  <a:lnSpc>
                    <a:spcPct val="100000"/>
                  </a:lnSpc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endParaRPr lang="en-US" altLang="zh-CN" sz="2801" u="sng">
                  <a:latin typeface="Times New Roman" panose="02020603050405020304" pitchFamily="18" charset="0"/>
                  <a:ea typeface="楷体_GB2312" pitchFamily="1" charset="-122"/>
                </a:endParaRPr>
              </a:p>
              <a:p>
                <a:pPr algn="l">
                  <a:lnSpc>
                    <a:spcPct val="100000"/>
                  </a:lnSpc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2801" u="sng"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44069" name="Oval 8" descr="浅色上对角线"/>
              <p:cNvSpPr>
                <a:spLocks noChangeArrowheads="1"/>
              </p:cNvSpPr>
              <p:nvPr/>
            </p:nvSpPr>
            <p:spPr bwMode="auto">
              <a:xfrm>
                <a:off x="139" y="330"/>
                <a:ext cx="380" cy="373"/>
              </a:xfrm>
              <a:prstGeom prst="ellips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1">
                    <a:latin typeface="Times New Roman" panose="02020603050405020304" pitchFamily="18" charset="0"/>
                    <a:ea typeface="楷体_GB2312" pitchFamily="1" charset="-122"/>
                  </a:rPr>
                  <a:t>A</a:t>
                </a:r>
              </a:p>
            </p:txBody>
          </p:sp>
          <p:sp>
            <p:nvSpPr>
              <p:cNvPr id="44070" name="Oval 9" descr="浅色下对角线"/>
              <p:cNvSpPr>
                <a:spLocks noChangeArrowheads="1"/>
              </p:cNvSpPr>
              <p:nvPr/>
            </p:nvSpPr>
            <p:spPr bwMode="auto">
              <a:xfrm>
                <a:off x="418" y="330"/>
                <a:ext cx="380" cy="402"/>
              </a:xfrm>
              <a:prstGeom prst="ellipse">
                <a:avLst/>
              </a:prstGeom>
              <a:blipFill dpi="0" rotWithShape="0">
                <a:blip r:embed="rId6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1">
                    <a:latin typeface="Times New Roman" panose="02020603050405020304" pitchFamily="18" charset="0"/>
                    <a:ea typeface="楷体_GB2312" pitchFamily="1" charset="-122"/>
                  </a:rPr>
                  <a:t>B</a:t>
                </a:r>
              </a:p>
            </p:txBody>
          </p:sp>
          <p:sp>
            <p:nvSpPr>
              <p:cNvPr id="44071" name="Line 10"/>
              <p:cNvSpPr>
                <a:spLocks noChangeShapeType="1"/>
              </p:cNvSpPr>
              <p:nvPr/>
            </p:nvSpPr>
            <p:spPr bwMode="auto">
              <a:xfrm>
                <a:off x="823" y="38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72" name="Oval 11" descr="浅色竖线"/>
              <p:cNvSpPr>
                <a:spLocks noChangeArrowheads="1"/>
              </p:cNvSpPr>
              <p:nvPr/>
            </p:nvSpPr>
            <p:spPr bwMode="auto">
              <a:xfrm>
                <a:off x="418" y="366"/>
                <a:ext cx="61" cy="290"/>
              </a:xfrm>
              <a:prstGeom prst="ellips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3201" b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4067" name="Rectangle 12"/>
            <p:cNvSpPr>
              <a:spLocks noChangeArrowheads="1"/>
            </p:cNvSpPr>
            <p:nvPr/>
          </p:nvSpPr>
          <p:spPr bwMode="auto">
            <a:xfrm>
              <a:off x="179" y="952"/>
              <a:ext cx="6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801">
                  <a:latin typeface="Times New Roman" panose="02020603050405020304" pitchFamily="18" charset="0"/>
                </a:rPr>
                <a:t>并集</a:t>
              </a:r>
            </a:p>
          </p:txBody>
        </p:sp>
      </p:grpSp>
      <p:grpSp>
        <p:nvGrpSpPr>
          <p:cNvPr id="8" name="Group 14"/>
          <p:cNvGrpSpPr>
            <a:grpSpLocks/>
          </p:cNvGrpSpPr>
          <p:nvPr/>
        </p:nvGrpSpPr>
        <p:grpSpPr bwMode="auto">
          <a:xfrm>
            <a:off x="5055083" y="4766144"/>
            <a:ext cx="1544995" cy="2029295"/>
            <a:chOff x="0" y="0"/>
            <a:chExt cx="973" cy="1278"/>
          </a:xfrm>
        </p:grpSpPr>
        <p:sp>
          <p:nvSpPr>
            <p:cNvPr id="44061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973" cy="967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801">
                  <a:latin typeface="Times New Roman" panose="02020603050405020304" pitchFamily="18" charset="0"/>
                  <a:ea typeface="楷体_GB2312" pitchFamily="1" charset="-122"/>
                </a:rPr>
                <a:t>U</a:t>
              </a:r>
            </a:p>
            <a:p>
              <a:pPr algn="l">
                <a:lnSpc>
                  <a:spcPct val="100000"/>
                </a:lnSpc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endParaRPr lang="en-US" altLang="zh-CN" sz="2801">
                <a:latin typeface="Times New Roman" panose="02020603050405020304" pitchFamily="18" charset="0"/>
                <a:ea typeface="楷体_GB2312" pitchFamily="1" charset="-122"/>
              </a:endParaRPr>
            </a:p>
            <a:p>
              <a:pPr algn="l">
                <a:lnSpc>
                  <a:spcPct val="100000"/>
                </a:lnSpc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endParaRPr lang="zh-CN" altLang="en-US" sz="2801"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44062" name="Oval 15" descr="宽上对角线"/>
            <p:cNvSpPr>
              <a:spLocks noChangeArrowheads="1"/>
            </p:cNvSpPr>
            <p:nvPr/>
          </p:nvSpPr>
          <p:spPr bwMode="auto">
            <a:xfrm>
              <a:off x="166" y="185"/>
              <a:ext cx="405" cy="462"/>
            </a:xfrm>
            <a:prstGeom prst="ellipse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80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A</a:t>
              </a:r>
            </a:p>
          </p:txBody>
        </p:sp>
        <p:sp>
          <p:nvSpPr>
            <p:cNvPr id="44063" name="Oval 16"/>
            <p:cNvSpPr>
              <a:spLocks noChangeArrowheads="1"/>
            </p:cNvSpPr>
            <p:nvPr/>
          </p:nvSpPr>
          <p:spPr bwMode="auto">
            <a:xfrm>
              <a:off x="403" y="202"/>
              <a:ext cx="382" cy="45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801" dirty="0">
                  <a:latin typeface="Times New Roman" panose="02020603050405020304" pitchFamily="18" charset="0"/>
                  <a:ea typeface="楷体_GB2312" pitchFamily="1" charset="-122"/>
                </a:rPr>
                <a:t>B</a:t>
              </a:r>
            </a:p>
          </p:txBody>
        </p:sp>
        <p:sp>
          <p:nvSpPr>
            <p:cNvPr id="44064" name="Line 17"/>
            <p:cNvSpPr>
              <a:spLocks noChangeShapeType="1"/>
            </p:cNvSpPr>
            <p:nvPr/>
          </p:nvSpPr>
          <p:spPr bwMode="auto">
            <a:xfrm flipV="1">
              <a:off x="211" y="422"/>
              <a:ext cx="0" cy="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5" name="Rectangle 18"/>
            <p:cNvSpPr>
              <a:spLocks noChangeArrowheads="1"/>
            </p:cNvSpPr>
            <p:nvPr/>
          </p:nvSpPr>
          <p:spPr bwMode="auto">
            <a:xfrm>
              <a:off x="80" y="990"/>
              <a:ext cx="6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/>
                <a:t>差集</a:t>
              </a:r>
            </a:p>
          </p:txBody>
        </p:sp>
      </p:grpSp>
      <p:grpSp>
        <p:nvGrpSpPr>
          <p:cNvPr id="9" name="Group 20"/>
          <p:cNvGrpSpPr>
            <a:grpSpLocks/>
          </p:cNvGrpSpPr>
          <p:nvPr/>
        </p:nvGrpSpPr>
        <p:grpSpPr bwMode="auto">
          <a:xfrm>
            <a:off x="8551567" y="4770630"/>
            <a:ext cx="1571989" cy="1945138"/>
            <a:chOff x="0" y="0"/>
            <a:chExt cx="990" cy="1225"/>
          </a:xfrm>
        </p:grpSpPr>
        <p:grpSp>
          <p:nvGrpSpPr>
            <p:cNvPr id="44054" name="Group 21"/>
            <p:cNvGrpSpPr>
              <a:grpSpLocks/>
            </p:cNvGrpSpPr>
            <p:nvPr/>
          </p:nvGrpSpPr>
          <p:grpSpPr bwMode="auto">
            <a:xfrm>
              <a:off x="17" y="0"/>
              <a:ext cx="973" cy="967"/>
              <a:chOff x="0" y="0"/>
              <a:chExt cx="1488" cy="1104"/>
            </a:xfrm>
          </p:grpSpPr>
          <p:sp>
            <p:nvSpPr>
              <p:cNvPr id="44056" name="Rectangle 2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488" cy="1104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2801"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44057" name="Oval 22"/>
              <p:cNvSpPr>
                <a:spLocks noChangeArrowheads="1"/>
              </p:cNvSpPr>
              <p:nvPr/>
            </p:nvSpPr>
            <p:spPr bwMode="auto">
              <a:xfrm>
                <a:off x="240" y="287"/>
                <a:ext cx="528" cy="499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1">
                    <a:latin typeface="Times New Roman" panose="02020603050405020304" pitchFamily="18" charset="0"/>
                    <a:ea typeface="楷体_GB2312" pitchFamily="1" charset="-122"/>
                  </a:rPr>
                  <a:t>A</a:t>
                </a:r>
              </a:p>
            </p:txBody>
          </p:sp>
          <p:sp>
            <p:nvSpPr>
              <p:cNvPr id="44058" name="Oval 23"/>
              <p:cNvSpPr>
                <a:spLocks noChangeArrowheads="1"/>
              </p:cNvSpPr>
              <p:nvPr/>
            </p:nvSpPr>
            <p:spPr bwMode="auto">
              <a:xfrm>
                <a:off x="624" y="287"/>
                <a:ext cx="528" cy="52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1">
                    <a:latin typeface="Times New Roman" panose="02020603050405020304" pitchFamily="18" charset="0"/>
                    <a:ea typeface="楷体_GB2312" pitchFamily="1" charset="-122"/>
                  </a:rPr>
                  <a:t>B</a:t>
                </a:r>
              </a:p>
            </p:txBody>
          </p:sp>
          <p:sp>
            <p:nvSpPr>
              <p:cNvPr id="44059" name="Oval 24"/>
              <p:cNvSpPr>
                <a:spLocks noChangeArrowheads="1"/>
              </p:cNvSpPr>
              <p:nvPr/>
            </p:nvSpPr>
            <p:spPr bwMode="auto">
              <a:xfrm>
                <a:off x="624" y="357"/>
                <a:ext cx="160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2801"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44060" name="Text Box 25"/>
              <p:cNvSpPr txBox="1">
                <a:spLocks noChangeArrowheads="1"/>
              </p:cNvSpPr>
              <p:nvPr/>
            </p:nvSpPr>
            <p:spPr bwMode="auto">
              <a:xfrm>
                <a:off x="96" y="37"/>
                <a:ext cx="240" cy="3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1">
                    <a:latin typeface="Times New Roman" panose="02020603050405020304" pitchFamily="18" charset="0"/>
                    <a:ea typeface="楷体_GB2312" pitchFamily="1" charset="-122"/>
                  </a:rPr>
                  <a:t>U</a:t>
                </a:r>
              </a:p>
            </p:txBody>
          </p:sp>
        </p:grpSp>
        <p:sp>
          <p:nvSpPr>
            <p:cNvPr id="44055" name="Rectangle 26"/>
            <p:cNvSpPr>
              <a:spLocks noChangeArrowheads="1"/>
            </p:cNvSpPr>
            <p:nvPr/>
          </p:nvSpPr>
          <p:spPr bwMode="auto">
            <a:xfrm>
              <a:off x="0" y="937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 dirty="0"/>
                <a:t>对称差集</a:t>
              </a:r>
            </a:p>
          </p:txBody>
        </p:sp>
      </p:grpSp>
      <p:grpSp>
        <p:nvGrpSpPr>
          <p:cNvPr id="11" name="Group 28"/>
          <p:cNvGrpSpPr>
            <a:grpSpLocks/>
          </p:cNvGrpSpPr>
          <p:nvPr/>
        </p:nvGrpSpPr>
        <p:grpSpPr bwMode="auto">
          <a:xfrm>
            <a:off x="3360828" y="4769320"/>
            <a:ext cx="1544996" cy="2026118"/>
            <a:chOff x="0" y="-36"/>
            <a:chExt cx="973" cy="1276"/>
          </a:xfrm>
        </p:grpSpPr>
        <p:grpSp>
          <p:nvGrpSpPr>
            <p:cNvPr id="44047" name="Group 29"/>
            <p:cNvGrpSpPr>
              <a:grpSpLocks/>
            </p:cNvGrpSpPr>
            <p:nvPr/>
          </p:nvGrpSpPr>
          <p:grpSpPr bwMode="auto">
            <a:xfrm>
              <a:off x="0" y="-36"/>
              <a:ext cx="973" cy="967"/>
              <a:chOff x="0" y="-36"/>
              <a:chExt cx="973" cy="967"/>
            </a:xfrm>
          </p:grpSpPr>
          <p:sp>
            <p:nvSpPr>
              <p:cNvPr id="44049" name="Text Box 29"/>
              <p:cNvSpPr txBox="1">
                <a:spLocks noChangeArrowheads="1"/>
              </p:cNvSpPr>
              <p:nvPr/>
            </p:nvSpPr>
            <p:spPr bwMode="auto">
              <a:xfrm>
                <a:off x="0" y="-36"/>
                <a:ext cx="973" cy="96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1">
                    <a:latin typeface="Times New Roman" panose="02020603050405020304" pitchFamily="18" charset="0"/>
                    <a:ea typeface="楷体_GB2312" pitchFamily="1" charset="-122"/>
                  </a:rPr>
                  <a:t>U</a:t>
                </a:r>
              </a:p>
              <a:p>
                <a:pPr algn="l">
                  <a:lnSpc>
                    <a:spcPct val="100000"/>
                  </a:lnSpc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endParaRPr lang="en-US" altLang="zh-CN" sz="2801">
                  <a:latin typeface="Times New Roman" panose="02020603050405020304" pitchFamily="18" charset="0"/>
                  <a:ea typeface="楷体_GB2312" pitchFamily="1" charset="-122"/>
                </a:endParaRPr>
              </a:p>
              <a:p>
                <a:pPr algn="l">
                  <a:lnSpc>
                    <a:spcPct val="100000"/>
                  </a:lnSpc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2801"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44050" name="Oval 30"/>
              <p:cNvSpPr>
                <a:spLocks noChangeArrowheads="1"/>
              </p:cNvSpPr>
              <p:nvPr/>
            </p:nvSpPr>
            <p:spPr bwMode="auto">
              <a:xfrm>
                <a:off x="162" y="242"/>
                <a:ext cx="400" cy="49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1">
                    <a:latin typeface="Times New Roman" panose="02020603050405020304" pitchFamily="18" charset="0"/>
                    <a:ea typeface="楷体_GB2312" pitchFamily="1" charset="-122"/>
                  </a:rPr>
                  <a:t>A</a:t>
                </a:r>
              </a:p>
            </p:txBody>
          </p:sp>
          <p:sp>
            <p:nvSpPr>
              <p:cNvPr id="44051" name="Oval 31"/>
              <p:cNvSpPr>
                <a:spLocks noChangeArrowheads="1"/>
              </p:cNvSpPr>
              <p:nvPr/>
            </p:nvSpPr>
            <p:spPr bwMode="auto">
              <a:xfrm>
                <a:off x="429" y="242"/>
                <a:ext cx="453" cy="49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02020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801">
                    <a:latin typeface="Times New Roman" panose="02020603050405020304" pitchFamily="18" charset="0"/>
                    <a:ea typeface="楷体_GB2312" pitchFamily="1" charset="-122"/>
                  </a:rPr>
                  <a:t>B</a:t>
                </a:r>
              </a:p>
            </p:txBody>
          </p:sp>
          <p:sp>
            <p:nvSpPr>
              <p:cNvPr id="44052" name="Line 32"/>
              <p:cNvSpPr>
                <a:spLocks noChangeShapeType="1"/>
              </p:cNvSpPr>
              <p:nvPr/>
            </p:nvSpPr>
            <p:spPr bwMode="auto">
              <a:xfrm flipV="1">
                <a:off x="510" y="343"/>
                <a:ext cx="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3" name="Oval 33" descr="宽上对角线"/>
              <p:cNvSpPr>
                <a:spLocks noChangeArrowheads="1"/>
              </p:cNvSpPr>
              <p:nvPr/>
            </p:nvSpPr>
            <p:spPr bwMode="auto">
              <a:xfrm>
                <a:off x="429" y="307"/>
                <a:ext cx="106" cy="360"/>
              </a:xfrm>
              <a:prstGeom prst="ellipse">
                <a:avLst/>
              </a:prstGeom>
              <a:blipFill dpi="0" rotWithShape="0">
                <a:blip r:embed="rId9"/>
                <a:srcRect/>
                <a:tile tx="0" ty="0" sx="100000" sy="100000" flip="none" algn="tl"/>
              </a:blipFill>
              <a:ln w="9525">
                <a:solidFill>
                  <a:srgbClr val="7E7E7E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•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–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algn="just">
                  <a:lnSpc>
                    <a:spcPct val="12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algn="just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»"/>
                  <a:defRPr sz="2800" b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3201" b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4048" name="Rectangle 34"/>
            <p:cNvSpPr>
              <a:spLocks noChangeArrowheads="1"/>
            </p:cNvSpPr>
            <p:nvPr/>
          </p:nvSpPr>
          <p:spPr bwMode="auto">
            <a:xfrm>
              <a:off x="43" y="952"/>
              <a:ext cx="7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/>
                <a:t>交集</a:t>
              </a:r>
            </a:p>
          </p:txBody>
        </p:sp>
      </p:grpSp>
      <p:grpSp>
        <p:nvGrpSpPr>
          <p:cNvPr id="13" name="Group 36"/>
          <p:cNvGrpSpPr>
            <a:grpSpLocks/>
          </p:cNvGrpSpPr>
          <p:nvPr/>
        </p:nvGrpSpPr>
        <p:grpSpPr bwMode="auto">
          <a:xfrm>
            <a:off x="6749337" y="4764555"/>
            <a:ext cx="1652971" cy="2030883"/>
            <a:chOff x="0" y="-26"/>
            <a:chExt cx="1041" cy="1279"/>
          </a:xfrm>
        </p:grpSpPr>
        <p:sp>
          <p:nvSpPr>
            <p:cNvPr id="44043" name="Rectangle 36"/>
            <p:cNvSpPr>
              <a:spLocks noChangeArrowheads="1"/>
            </p:cNvSpPr>
            <p:nvPr/>
          </p:nvSpPr>
          <p:spPr bwMode="auto">
            <a:xfrm>
              <a:off x="266" y="965"/>
              <a:ext cx="6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/>
                <a:t>补集</a:t>
              </a:r>
            </a:p>
          </p:txBody>
        </p:sp>
        <p:sp>
          <p:nvSpPr>
            <p:cNvPr id="44044" name="Rectangle 38"/>
            <p:cNvSpPr>
              <a:spLocks noChangeArrowheads="1"/>
            </p:cNvSpPr>
            <p:nvPr/>
          </p:nvSpPr>
          <p:spPr bwMode="auto">
            <a:xfrm>
              <a:off x="0" y="-26"/>
              <a:ext cx="1041" cy="967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801">
                  <a:latin typeface="Times New Roman" panose="02020603050405020304" pitchFamily="18" charset="0"/>
                  <a:ea typeface="楷体_GB2312" pitchFamily="1" charset="-122"/>
                </a:rPr>
                <a:t>U</a:t>
              </a:r>
            </a:p>
          </p:txBody>
        </p:sp>
        <p:sp>
          <p:nvSpPr>
            <p:cNvPr id="44045" name="Oval 39"/>
            <p:cNvSpPr>
              <a:spLocks noChangeArrowheads="1"/>
            </p:cNvSpPr>
            <p:nvPr/>
          </p:nvSpPr>
          <p:spPr bwMode="auto">
            <a:xfrm>
              <a:off x="264" y="304"/>
              <a:ext cx="521" cy="547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•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–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»"/>
                <a:defRPr sz="28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801" dirty="0">
                  <a:latin typeface="Times New Roman" panose="02020603050405020304" pitchFamily="18" charset="0"/>
                  <a:ea typeface="楷体_GB2312" pitchFamily="1" charset="-122"/>
                </a:rPr>
                <a:t>A</a:t>
              </a:r>
            </a:p>
          </p:txBody>
        </p:sp>
        <p:graphicFrame>
          <p:nvGraphicFramePr>
            <p:cNvPr id="44046" name="Object 40"/>
            <p:cNvGraphicFramePr>
              <a:graphicFrameLocks/>
            </p:cNvGraphicFramePr>
            <p:nvPr/>
          </p:nvGraphicFramePr>
          <p:xfrm>
            <a:off x="800" y="78"/>
            <a:ext cx="189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1565" imgH="107769" progId="Equation.DSMT4">
                    <p:embed/>
                  </p:oleObj>
                </mc:Choice>
                <mc:Fallback>
                  <p:oleObj r:id="rId10" imgW="31565" imgH="107769" progId="Equation.DSMT4">
                    <p:embed/>
                    <p:pic>
                      <p:nvPicPr>
                        <p:cNvPr id="44046" name="Object 4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" y="78"/>
                          <a:ext cx="189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60"/>
          <p:cNvSpPr>
            <a:spLocks noChangeArrowheads="1"/>
          </p:cNvSpPr>
          <p:nvPr/>
        </p:nvSpPr>
        <p:spPr bwMode="auto">
          <a:xfrm>
            <a:off x="0" y="0"/>
            <a:ext cx="12198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8065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推广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82715" y="1062496"/>
            <a:ext cx="3887100" cy="6049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 </a:t>
            </a:r>
            <a:r>
              <a:rPr lang="en-US" altLang="zh-CN" dirty="0"/>
              <a:t>A</a:t>
            </a:r>
            <a:r>
              <a:rPr lang="en-US" altLang="zh-CN" baseline="-30000" dirty="0"/>
              <a:t>1</a:t>
            </a:r>
            <a:r>
              <a:rPr lang="en-US" altLang="zh-CN" dirty="0"/>
              <a:t>∪A</a:t>
            </a:r>
            <a:r>
              <a:rPr lang="en-US" altLang="zh-CN" baseline="-30000" dirty="0"/>
              <a:t>2</a:t>
            </a:r>
            <a:r>
              <a:rPr lang="en-US" altLang="zh-CN" dirty="0"/>
              <a:t>∪A</a:t>
            </a:r>
            <a:r>
              <a:rPr lang="en-US" altLang="zh-CN" baseline="-30000" dirty="0"/>
              <a:t>3</a:t>
            </a:r>
            <a:r>
              <a:rPr lang="en-US" altLang="zh-CN" dirty="0"/>
              <a:t>∪……∪A</a:t>
            </a:r>
            <a:r>
              <a:rPr lang="en-US" altLang="zh-CN" baseline="-30000" dirty="0"/>
              <a:t>n</a:t>
            </a: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030510" y="1915480"/>
            <a:ext cx="5421465" cy="47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>
                <a:srgbClr val="00FF00"/>
              </a:buClr>
              <a:buNone/>
            </a:pPr>
            <a:r>
              <a:rPr lang="en-US" altLang="zh-CN" sz="2400" dirty="0">
                <a:latin typeface="+mn-ea"/>
                <a:sym typeface="Symbol" panose="05050102010706020507" pitchFamily="18" charset="2"/>
              </a:rPr>
              <a:t>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{x|(x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或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(x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或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……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或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400" baseline="-30000" dirty="0" err="1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)}</a:t>
            </a:r>
          </a:p>
        </p:txBody>
      </p:sp>
      <p:sp>
        <p:nvSpPr>
          <p:cNvPr id="45066" name="Rectangle 9"/>
          <p:cNvSpPr>
            <a:spLocks noChangeArrowheads="1"/>
          </p:cNvSpPr>
          <p:nvPr/>
        </p:nvSpPr>
        <p:spPr bwMode="auto">
          <a:xfrm>
            <a:off x="4054005" y="2693578"/>
            <a:ext cx="4268188" cy="474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>
                <a:srgbClr val="00FF00"/>
              </a:buClr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 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∩A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∩A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∩……∩A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</a:p>
        </p:txBody>
      </p:sp>
      <p:sp>
        <p:nvSpPr>
          <p:cNvPr id="45067" name="Rectangle 10"/>
          <p:cNvSpPr>
            <a:spLocks noChangeArrowheads="1"/>
          </p:cNvSpPr>
          <p:nvPr/>
        </p:nvSpPr>
        <p:spPr bwMode="auto">
          <a:xfrm>
            <a:off x="4030510" y="3348784"/>
            <a:ext cx="6859588" cy="4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{x|(x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且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(x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且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……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且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400" baseline="-30000" dirty="0" err="1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)}</a:t>
            </a:r>
          </a:p>
        </p:txBody>
      </p:sp>
      <p:sp>
        <p:nvSpPr>
          <p:cNvPr id="45068" name="Rectangle 11"/>
          <p:cNvSpPr>
            <a:spLocks noChangeArrowheads="1"/>
          </p:cNvSpPr>
          <p:nvPr/>
        </p:nvSpPr>
        <p:spPr bwMode="auto">
          <a:xfrm>
            <a:off x="1073741" y="4042845"/>
            <a:ext cx="7850417" cy="515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当</a:t>
            </a:r>
            <a:r>
              <a:rPr lang="en-US" altLang="zh-CN" sz="2400" dirty="0">
                <a:solidFill>
                  <a:srgbClr val="0000FF"/>
                </a:solidFill>
              </a:rPr>
              <a:t>n</a:t>
            </a:r>
            <a:r>
              <a:rPr lang="zh-CN" altLang="en-US" sz="2400" dirty="0">
                <a:solidFill>
                  <a:srgbClr val="0000FF"/>
                </a:solidFill>
              </a:rPr>
              <a:t>无限增大时，可以记为：</a:t>
            </a:r>
          </a:p>
        </p:txBody>
      </p:sp>
      <p:sp>
        <p:nvSpPr>
          <p:cNvPr id="45069" name="Rectangle 12"/>
          <p:cNvSpPr>
            <a:spLocks noChangeArrowheads="1"/>
          </p:cNvSpPr>
          <p:nvPr/>
        </p:nvSpPr>
        <p:spPr bwMode="auto">
          <a:xfrm>
            <a:off x="3621607" y="4708352"/>
            <a:ext cx="3201141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>
                <a:srgbClr val="00FF00"/>
              </a:buClr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 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∪A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∪A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∪…</a:t>
            </a:r>
          </a:p>
        </p:txBody>
      </p:sp>
      <p:sp>
        <p:nvSpPr>
          <p:cNvPr id="45070" name="Rectangle 13"/>
          <p:cNvSpPr>
            <a:spLocks noChangeArrowheads="1"/>
          </p:cNvSpPr>
          <p:nvPr/>
        </p:nvSpPr>
        <p:spPr bwMode="auto">
          <a:xfrm>
            <a:off x="3621607" y="5642257"/>
            <a:ext cx="3582229" cy="4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>
                <a:srgbClr val="00FF00"/>
              </a:buClr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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∩A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∩A</a:t>
            </a:r>
            <a:r>
              <a:rPr lang="en-US" altLang="zh-CN" sz="2400" baseline="-30000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∩…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28F2697-C3DF-4976-82A7-EDEE918269D7}"/>
                  </a:ext>
                </a:extLst>
              </p:cNvPr>
              <p:cNvSpPr txBox="1"/>
              <p:nvPr/>
            </p:nvSpPr>
            <p:spPr>
              <a:xfrm>
                <a:off x="1222375" y="981680"/>
                <a:ext cx="3201141" cy="8809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zh-CN" alt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zh-CN" alt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∈{1,2,⋯,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28F2697-C3DF-4976-82A7-EDEE91826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375" y="981680"/>
                <a:ext cx="3201141" cy="8809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1B069DE-A097-4A82-959C-FE1697E73BEF}"/>
                  </a:ext>
                </a:extLst>
              </p:cNvPr>
              <p:cNvSpPr txBox="1"/>
              <p:nvPr/>
            </p:nvSpPr>
            <p:spPr>
              <a:xfrm>
                <a:off x="1726583" y="2510050"/>
                <a:ext cx="2280432" cy="8853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ctrlPr>
                            <a:rPr lang="zh-CN" alt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⋂"/>
                              <m:supHide m:val="on"/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∈{1,2,⋯,</m:t>
                              </m:r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1B069DE-A097-4A82-959C-FE1697E73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583" y="2510050"/>
                <a:ext cx="2280432" cy="8853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A6490D8-6CE3-42BA-897A-426F056EAF9C}"/>
                  </a:ext>
                </a:extLst>
              </p:cNvPr>
              <p:cNvSpPr txBox="1"/>
              <p:nvPr/>
            </p:nvSpPr>
            <p:spPr>
              <a:xfrm>
                <a:off x="1422354" y="4592483"/>
                <a:ext cx="2505656" cy="8814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zh-CN" alt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zh-CN" alt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A6490D8-6CE3-42BA-897A-426F056EA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354" y="4592483"/>
                <a:ext cx="2505656" cy="881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159727B-1603-497A-94FF-E38544919754}"/>
                  </a:ext>
                </a:extLst>
              </p:cNvPr>
              <p:cNvSpPr txBox="1"/>
              <p:nvPr/>
            </p:nvSpPr>
            <p:spPr>
              <a:xfrm>
                <a:off x="1848366" y="5451637"/>
                <a:ext cx="1773241" cy="8525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ctrlPr>
                            <a:rPr lang="zh-CN" alt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⋂"/>
                              <m:supHide m:val="on"/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159727B-1603-497A-94FF-E38544919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66" y="5451637"/>
                <a:ext cx="1773241" cy="8525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388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 autoUpdateAnimBg="0" advAuto="0"/>
      <p:bldP spid="45065" grpId="0" autoUpdateAnimBg="0"/>
      <p:bldP spid="45066" grpId="0" autoUpdateAnimBg="0"/>
      <p:bldP spid="45067" grpId="0" autoUpdateAnimBg="0"/>
      <p:bldP spid="45068" grpId="0" autoUpdateAnimBg="0"/>
      <p:bldP spid="45069" grpId="0" autoUpdateAnimBg="0"/>
      <p:bldP spid="45070" grpId="0" autoUpdateAnimBg="0"/>
      <p:bldP spid="2" grpId="0"/>
      <p:bldP spid="4" grpId="0"/>
      <p:bldP spid="17" grpId="0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just"/>
            <a:r>
              <a:rPr lang="zh-CN" altLang="en-US" dirty="0"/>
              <a:t>定理</a:t>
            </a:r>
            <a:r>
              <a:rPr lang="en-US" altLang="zh-CN" dirty="0"/>
              <a:t>1.4  </a:t>
            </a:r>
            <a:r>
              <a:rPr lang="zh-CN" altLang="en-US" dirty="0"/>
              <a:t>设</a:t>
            </a:r>
            <a:r>
              <a:rPr lang="en-US" altLang="zh-CN" dirty="0"/>
              <a:t>U</a:t>
            </a:r>
            <a:r>
              <a:rPr lang="zh-CN" altLang="en-US" dirty="0"/>
              <a:t>是相对于</a:t>
            </a:r>
            <a:r>
              <a:rPr lang="en-US" altLang="zh-CN" dirty="0"/>
              <a:t>A</a:t>
            </a:r>
            <a:r>
              <a:rPr lang="zh-CN" altLang="en-US" dirty="0"/>
              <a:t>的全集。</a:t>
            </a:r>
            <a:endParaRPr lang="en-US" alt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46175" y="984214"/>
            <a:ext cx="10177553" cy="38862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990947" indent="-381133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91" indent="-45729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幂    等   律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Ａ∪Ａ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Ａ；                                  Ａ∩Ａ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Ａ； </a:t>
            </a:r>
          </a:p>
          <a:p>
            <a:pPr marL="457291" indent="-45729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交    换   律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Ａ∪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B=B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∪Ａ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;                            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Ａ∩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B=B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∩Ａ</a:t>
            </a:r>
          </a:p>
          <a:p>
            <a:pPr marL="457291" indent="-457291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结    合   律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Ａ∪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(B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∪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C)=(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Ａ∪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B)∪C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；    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∩(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∩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)=(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∩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)∩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457291" indent="-45729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分    配   律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Ａ∩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(B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∪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C)=(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Ａ∩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B)∪(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Ａ∩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C);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Ａ∪(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∩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)=(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∪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)∩(Ａ∪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;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57291" indent="-45729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同    一   律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Ａ∪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Φ=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Ａ；	Ａ∩Ｕ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；    </a:t>
            </a:r>
          </a:p>
          <a:p>
            <a:pPr marL="457291" indent="-45729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零　       律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Ａ∪Ｕ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Ｕ；	Ａ∩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Φ=Φ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457291" indent="-45729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吸    收   律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:  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A∩(A∪B)=A;	A∪(A∩B)=A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； 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135903" y="4735763"/>
            <a:ext cx="8991600" cy="2351631"/>
          </a:xfrm>
          <a:prstGeom prst="rect">
            <a:avLst/>
          </a:prstGeom>
          <a:noFill/>
        </p:spPr>
        <p:txBody>
          <a:bodyPr vert="horz" lIns="121917" tIns="60958" rIns="121917" bIns="60958" rtlCol="0">
            <a:norm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990947" indent="-381133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91" indent="-457291">
              <a:lnSpc>
                <a:spcPct val="130000"/>
              </a:lnSpc>
              <a:buNone/>
              <a:tabLst>
                <a:tab pos="4750750" algn="l"/>
              </a:tabLst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</a:rPr>
              <a:t>双重否定律：         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</a:p>
          <a:p>
            <a:pPr marL="457291" indent="-457291">
              <a:lnSpc>
                <a:spcPct val="130000"/>
              </a:lnSpc>
              <a:buNone/>
              <a:tabLst>
                <a:tab pos="4750750" algn="l"/>
              </a:tabLst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</a:rPr>
              <a:t>德 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</a:rPr>
              <a:t>· </a:t>
            </a: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</a:rPr>
              <a:t>摩根律：                                         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;</a:t>
            </a:r>
            <a:endParaRPr lang="zh-CN" altLang="en-US" dirty="0">
              <a:solidFill>
                <a:srgbClr val="3333FF"/>
              </a:solidFill>
              <a:latin typeface="+mn-ea"/>
              <a:ea typeface="+mn-ea"/>
            </a:endParaRPr>
          </a:p>
          <a:p>
            <a:pPr marL="457291" indent="-457291">
              <a:lnSpc>
                <a:spcPct val="130000"/>
              </a:lnSpc>
              <a:buNone/>
              <a:tabLst>
                <a:tab pos="4750750" algn="l"/>
              </a:tabLst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</a:rPr>
              <a:t>矛    盾   律：</a:t>
            </a:r>
            <a:r>
              <a:rPr lang="en-US" altLang="zh-CN" dirty="0"/>
              <a:t> A∩</a:t>
            </a:r>
            <a:r>
              <a:rPr lang="zh-CN" altLang="en-US" dirty="0"/>
              <a:t>　＝</a:t>
            </a:r>
            <a:r>
              <a:rPr lang="en-US" altLang="zh-CN" dirty="0"/>
              <a:t>Φ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</a:p>
          <a:p>
            <a:pPr marL="457291" indent="-457291">
              <a:lnSpc>
                <a:spcPct val="130000"/>
              </a:lnSpc>
              <a:buNone/>
              <a:tabLst>
                <a:tab pos="4750750" algn="l"/>
              </a:tabLst>
            </a:pP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</a:rPr>
              <a:t>排    中   律：   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∪A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U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6725E37-0E49-4C25-B4BE-BC2C65091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771712"/>
              </p:ext>
            </p:extLst>
          </p:nvPr>
        </p:nvGraphicFramePr>
        <p:xfrm>
          <a:off x="3203575" y="4740070"/>
          <a:ext cx="719584" cy="518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300" imgH="228600" progId="Equation.DSMT4">
                  <p:embed/>
                </p:oleObj>
              </mc:Choice>
              <mc:Fallback>
                <p:oleObj name="Equation" r:id="rId2" imgW="368300" imgH="228600" progId="Equation.DSMT4">
                  <p:embed/>
                  <p:pic>
                    <p:nvPicPr>
                      <p:cNvPr id="1453061" name="Object 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740070"/>
                        <a:ext cx="719584" cy="518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06DA814-9DD3-4C18-AEC4-4583F16E30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063300"/>
              </p:ext>
            </p:extLst>
          </p:nvPr>
        </p:nvGraphicFramePr>
        <p:xfrm>
          <a:off x="2974975" y="5287938"/>
          <a:ext cx="364482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900" imgH="241300" progId="Equation.DSMT4">
                  <p:embed/>
                </p:oleObj>
              </mc:Choice>
              <mc:Fallback>
                <p:oleObj name="Equation" r:id="rId4" imgW="1739900" imgH="241300" progId="Equation.DSMT4">
                  <p:embed/>
                  <p:pic>
                    <p:nvPicPr>
                      <p:cNvPr id="14530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5287938"/>
                        <a:ext cx="3644826" cy="504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38EC9F9-25B4-4816-ADB1-5A0E64A4D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969971"/>
              </p:ext>
            </p:extLst>
          </p:nvPr>
        </p:nvGraphicFramePr>
        <p:xfrm>
          <a:off x="3736975" y="5791994"/>
          <a:ext cx="292032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100" imgH="203200" progId="Equation.3">
                  <p:embed/>
                </p:oleObj>
              </mc:Choice>
              <mc:Fallback>
                <p:oleObj name="Equation" r:id="rId6" imgW="165100" imgH="203200" progId="Equation.3">
                  <p:embed/>
                  <p:pic>
                    <p:nvPicPr>
                      <p:cNvPr id="14530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975" y="5791994"/>
                        <a:ext cx="292032" cy="360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68480643-8956-4A16-A231-68E2C8095B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658754"/>
              </p:ext>
            </p:extLst>
          </p:nvPr>
        </p:nvGraphicFramePr>
        <p:xfrm>
          <a:off x="3057559" y="6209518"/>
          <a:ext cx="292032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100" imgH="203200" progId="Equation.3">
                  <p:embed/>
                </p:oleObj>
              </mc:Choice>
              <mc:Fallback>
                <p:oleObj name="Equation" r:id="rId6" imgW="165100" imgH="203200" progId="Equation.3">
                  <p:embed/>
                  <p:pic>
                    <p:nvPicPr>
                      <p:cNvPr id="14530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59" y="6209518"/>
                        <a:ext cx="292032" cy="360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87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11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3"/>
          <p:cNvSpPr>
            <a:spLocks noChangeArrowheads="1"/>
          </p:cNvSpPr>
          <p:nvPr/>
        </p:nvSpPr>
        <p:spPr bwMode="auto">
          <a:xfrm>
            <a:off x="1146175" y="1513084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00000"/>
              </a:lnSpc>
              <a:buClr>
                <a:srgbClr val="00FF00"/>
              </a:buClr>
              <a:buNone/>
            </a:pPr>
            <a:r>
              <a:rPr lang="zh-CN" altLang="en-US" sz="2400" dirty="0">
                <a:solidFill>
                  <a:srgbClr val="3333FF"/>
                </a:solidFill>
                <a:latin typeface="+mn-ea"/>
                <a:ea typeface="+mn-ea"/>
              </a:rPr>
              <a:t>德 </a:t>
            </a:r>
            <a:r>
              <a:rPr lang="en-US" altLang="zh-CN" sz="2400" dirty="0">
                <a:solidFill>
                  <a:srgbClr val="3333FF"/>
                </a:solidFill>
                <a:latin typeface="+mn-ea"/>
                <a:ea typeface="+mn-ea"/>
              </a:rPr>
              <a:t>· </a:t>
            </a:r>
            <a:r>
              <a:rPr lang="zh-CN" altLang="en-US" sz="2400" dirty="0">
                <a:solidFill>
                  <a:srgbClr val="3333FF"/>
                </a:solidFill>
                <a:latin typeface="+mn-ea"/>
                <a:ea typeface="+mn-ea"/>
              </a:rPr>
              <a:t>摩根律：</a:t>
            </a:r>
          </a:p>
        </p:txBody>
      </p:sp>
      <p:sp>
        <p:nvSpPr>
          <p:cNvPr id="48135" name="Rectangle 6"/>
          <p:cNvSpPr>
            <a:spLocks noChangeArrowheads="1"/>
          </p:cNvSpPr>
          <p:nvPr/>
        </p:nvSpPr>
        <p:spPr bwMode="auto">
          <a:xfrm>
            <a:off x="1146175" y="2725039"/>
            <a:ext cx="8139409" cy="244503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CC"/>
                </a:solidFill>
                <a:latin typeface="+mn-ea"/>
                <a:ea typeface="+mn-ea"/>
              </a:rPr>
              <a:t>分析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990033"/>
                </a:solidFill>
                <a:latin typeface="+mn-ea"/>
                <a:ea typeface="+mn-ea"/>
              </a:rPr>
              <a:t>定理</a:t>
            </a:r>
            <a:r>
              <a:rPr lang="en-US" altLang="zh-CN" sz="2400" dirty="0">
                <a:solidFill>
                  <a:srgbClr val="990033"/>
                </a:solidFill>
                <a:latin typeface="+mn-ea"/>
                <a:ea typeface="+mn-ea"/>
              </a:rPr>
              <a:t>1.2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 </a:t>
            </a:r>
            <a:r>
              <a:rPr lang="zh-CN" altLang="en-US" sz="2400" dirty="0">
                <a:latin typeface="+mn-ea"/>
                <a:ea typeface="+mn-ea"/>
              </a:rPr>
              <a:t>设</a:t>
            </a:r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zh-CN" altLang="en-US" sz="2400" dirty="0">
                <a:latin typeface="+mn-ea"/>
                <a:ea typeface="+mn-ea"/>
              </a:rPr>
              <a:t>是任意两个集合，则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A=B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zh-CN" altLang="en-US" b="1" dirty="0">
                <a:latin typeface="+mn-ea"/>
                <a:ea typeface="+mn-ea"/>
              </a:rPr>
              <a:t>选取证明</a:t>
            </a:r>
            <a:endParaRPr lang="en-US" altLang="zh-CN" b="1" dirty="0">
              <a:latin typeface="+mn-ea"/>
              <a:ea typeface="+mn-ea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F0EF2D45-62D9-4C42-87DC-23E6FC5E18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7904" y="1446213"/>
          <a:ext cx="1854696" cy="1072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165" imgH="469900" progId="Equation.DSMT4">
                  <p:embed/>
                </p:oleObj>
              </mc:Choice>
              <mc:Fallback>
                <p:oleObj name="Equation" r:id="rId2" imgW="812165" imgH="469900" progId="Equation.DSMT4">
                  <p:embed/>
                  <p:pic>
                    <p:nvPicPr>
                      <p:cNvPr id="14540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446213"/>
                        <a:ext cx="1854696" cy="10723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E98694FD-DB6D-4CE2-9035-5A4718E188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997447"/>
              </p:ext>
            </p:extLst>
          </p:nvPr>
        </p:nvGraphicFramePr>
        <p:xfrm>
          <a:off x="3689961" y="5428010"/>
          <a:ext cx="2561614" cy="1125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700" imgH="508000" progId="Equation.DSMT4">
                  <p:embed/>
                </p:oleObj>
              </mc:Choice>
              <mc:Fallback>
                <p:oleObj name="Equation" r:id="rId4" imgW="1155700" imgH="508000" progId="Equation.DSMT4">
                  <p:embed/>
                  <p:pic>
                    <p:nvPicPr>
                      <p:cNvPr id="14540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961" y="5428010"/>
                        <a:ext cx="2561614" cy="1125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867E672-1D26-4F4D-A1DA-006EE3532774}"/>
              </a:ext>
            </a:extLst>
          </p:cNvPr>
          <p:cNvSpPr/>
          <p:nvPr/>
        </p:nvSpPr>
        <p:spPr>
          <a:xfrm>
            <a:off x="1374775" y="4609583"/>
            <a:ext cx="7696200" cy="496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</a:pPr>
            <a:r>
              <a:rPr lang="en-US" altLang="zh-CN" b="1" dirty="0">
                <a:solidFill>
                  <a:srgbClr val="0000FF"/>
                </a:solidFill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</a:t>
            </a:r>
            <a:r>
              <a:rPr lang="en-US" altLang="zh-CN" b="1" dirty="0">
                <a:solidFill>
                  <a:srgbClr val="0000FF"/>
                </a:solidFill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</a:t>
            </a:r>
            <a:r>
              <a:rPr lang="zh-CN" altLang="en-US" b="1" dirty="0">
                <a:solidFill>
                  <a:srgbClr val="0000FF"/>
                </a:solidFill>
              </a:rPr>
              <a:t>对任意</a:t>
            </a:r>
            <a:r>
              <a:rPr lang="en-US" altLang="zh-CN" b="1" dirty="0">
                <a:solidFill>
                  <a:srgbClr val="0000FF"/>
                </a:solidFill>
              </a:rPr>
              <a:t>x</a:t>
            </a:r>
            <a:r>
              <a:rPr lang="zh-CN" altLang="en-US" b="1" dirty="0">
                <a:solidFill>
                  <a:srgbClr val="0000FF"/>
                </a:solidFill>
              </a:rPr>
              <a:t>，如</a:t>
            </a:r>
            <a:r>
              <a:rPr lang="en-US" altLang="zh-CN" b="1" dirty="0" err="1">
                <a:solidFill>
                  <a:srgbClr val="0000FF"/>
                </a:solidFill>
              </a:rPr>
              <a:t>x</a:t>
            </a:r>
            <a:r>
              <a:rPr lang="en-US" altLang="zh-CN" b="1" dirty="0" err="1">
                <a:solidFill>
                  <a:srgbClr val="0000FF"/>
                </a:solidFill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FF"/>
                </a:solidFill>
              </a:rPr>
              <a:t>B</a:t>
            </a:r>
            <a:r>
              <a:rPr lang="zh-CN" altLang="en-US" b="1" dirty="0">
                <a:solidFill>
                  <a:srgbClr val="0000FF"/>
                </a:solidFill>
              </a:rPr>
              <a:t>，则</a:t>
            </a:r>
            <a:r>
              <a:rPr lang="en-US" altLang="zh-CN" b="1" dirty="0" err="1">
                <a:solidFill>
                  <a:srgbClr val="0000FF"/>
                </a:solidFill>
              </a:rPr>
              <a:t>x</a:t>
            </a:r>
            <a:r>
              <a:rPr lang="en-US" altLang="zh-CN" b="1" dirty="0" err="1">
                <a:solidFill>
                  <a:srgbClr val="0000FF"/>
                </a:solidFill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FF"/>
                </a:solidFill>
              </a:rPr>
              <a:t>A</a:t>
            </a:r>
            <a:r>
              <a:rPr lang="en-US" altLang="zh-CN" b="1" dirty="0">
                <a:solidFill>
                  <a:srgbClr val="0000FF"/>
                </a:solidFill>
              </a:rPr>
              <a:t>(</a:t>
            </a:r>
            <a:r>
              <a:rPr lang="zh-CN" altLang="en-US" b="1" dirty="0">
                <a:solidFill>
                  <a:srgbClr val="0000FF"/>
                </a:solidFill>
              </a:rPr>
              <a:t>按定义证明方法）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301667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 build="p" autoUpdateAnimBg="0"/>
      <p:bldP spid="48135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证明（</a:t>
            </a:r>
            <a:r>
              <a:rPr lang="en-US" altLang="zh-CN" dirty="0"/>
              <a:t>a</a:t>
            </a:r>
            <a:r>
              <a:rPr lang="zh-CN" altLang="en-US" dirty="0"/>
              <a:t>）：</a:t>
            </a:r>
          </a:p>
        </p:txBody>
      </p:sp>
      <p:sp>
        <p:nvSpPr>
          <p:cNvPr id="49158" name="Rectangle 5"/>
          <p:cNvSpPr>
            <a:spLocks noChangeArrowheads="1"/>
          </p:cNvSpPr>
          <p:nvPr/>
        </p:nvSpPr>
        <p:spPr bwMode="auto">
          <a:xfrm>
            <a:off x="2065992" y="1357628"/>
            <a:ext cx="654201" cy="47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90000"/>
              </a:lnSpc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801">
                <a:solidFill>
                  <a:srgbClr val="800080"/>
                </a:solidFill>
                <a:latin typeface="+mn-ea"/>
                <a:ea typeface="+mn-ea"/>
                <a:sym typeface="Symbol" panose="05050102010706020507" pitchFamily="18" charset="2"/>
              </a:rPr>
              <a:t>①</a:t>
            </a:r>
          </a:p>
        </p:txBody>
      </p:sp>
      <p:sp>
        <p:nvSpPr>
          <p:cNvPr id="49159" name="Rectangle 6"/>
          <p:cNvSpPr>
            <a:spLocks noChangeArrowheads="1"/>
          </p:cNvSpPr>
          <p:nvPr/>
        </p:nvSpPr>
        <p:spPr bwMode="auto">
          <a:xfrm>
            <a:off x="6237320" y="1357628"/>
            <a:ext cx="654201" cy="47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90000"/>
              </a:lnSpc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801">
                <a:solidFill>
                  <a:srgbClr val="800080"/>
                </a:solidFill>
                <a:latin typeface="+mn-ea"/>
                <a:ea typeface="+mn-ea"/>
                <a:sym typeface="Symbol" panose="05050102010706020507" pitchFamily="18" charset="2"/>
              </a:rPr>
              <a:t>②</a:t>
            </a:r>
          </a:p>
        </p:txBody>
      </p:sp>
      <p:graphicFrame>
        <p:nvGraphicFramePr>
          <p:cNvPr id="49163" name="Object 11"/>
          <p:cNvGraphicFramePr>
            <a:graphicFrameLocks noChangeAspect="1"/>
          </p:cNvGraphicFramePr>
          <p:nvPr/>
        </p:nvGraphicFramePr>
        <p:xfrm>
          <a:off x="2785296" y="2086458"/>
          <a:ext cx="1903853" cy="443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61339" imgH="177646" progId="Equation.DSMT4">
                  <p:embed/>
                </p:oleObj>
              </mc:Choice>
              <mc:Fallback>
                <p:oleObj r:id="rId2" imgW="761339" imgH="177646" progId="Equation.DSMT4">
                  <p:embed/>
                  <p:pic>
                    <p:nvPicPr>
                      <p:cNvPr id="491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5296" y="2086458"/>
                        <a:ext cx="1903853" cy="443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4" name="Object 12"/>
          <p:cNvGraphicFramePr>
            <a:graphicFrameLocks noChangeAspect="1"/>
          </p:cNvGraphicFramePr>
          <p:nvPr/>
        </p:nvGraphicFramePr>
        <p:xfrm>
          <a:off x="2785296" y="2767654"/>
          <a:ext cx="2570757" cy="508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28254" imgH="203112" progId="Equation.DSMT4">
                  <p:embed/>
                </p:oleObj>
              </mc:Choice>
              <mc:Fallback>
                <p:oleObj r:id="rId4" imgW="1028254" imgH="203112" progId="Equation.DSMT4">
                  <p:embed/>
                  <p:pic>
                    <p:nvPicPr>
                      <p:cNvPr id="491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5296" y="2767654"/>
                        <a:ext cx="2570757" cy="508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7" name="Object 15"/>
          <p:cNvGraphicFramePr>
            <a:graphicFrameLocks noChangeAspect="1"/>
          </p:cNvGraphicFramePr>
          <p:nvPr/>
        </p:nvGraphicFramePr>
        <p:xfrm>
          <a:off x="6820067" y="2767654"/>
          <a:ext cx="2570758" cy="508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28254" imgH="203112" progId="Equation.DSMT4">
                  <p:embed/>
                </p:oleObj>
              </mc:Choice>
              <mc:Fallback>
                <p:oleObj r:id="rId6" imgW="1028254" imgH="203112" progId="Equation.DSMT4">
                  <p:embed/>
                  <p:pic>
                    <p:nvPicPr>
                      <p:cNvPr id="4916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0067" y="2767654"/>
                        <a:ext cx="2570758" cy="508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190600"/>
              </p:ext>
            </p:extLst>
          </p:nvPr>
        </p:nvGraphicFramePr>
        <p:xfrm>
          <a:off x="6862321" y="3609223"/>
          <a:ext cx="1903854" cy="443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61339" imgH="177646" progId="Equation.DSMT4">
                  <p:embed/>
                </p:oleObj>
              </mc:Choice>
              <mc:Fallback>
                <p:oleObj r:id="rId8" imgW="761339" imgH="177646" progId="Equation.DSMT4">
                  <p:embed/>
                  <p:pic>
                    <p:nvPicPr>
                      <p:cNvPr id="4916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321" y="3609223"/>
                        <a:ext cx="1903854" cy="443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6" name="Line 19"/>
          <p:cNvSpPr>
            <a:spLocks noChangeShapeType="1"/>
          </p:cNvSpPr>
          <p:nvPr/>
        </p:nvSpPr>
        <p:spPr bwMode="auto">
          <a:xfrm>
            <a:off x="5883225" y="1197252"/>
            <a:ext cx="0" cy="4681033"/>
          </a:xfrm>
          <a:prstGeom prst="line">
            <a:avLst/>
          </a:prstGeom>
          <a:noFill/>
          <a:ln w="76200" cmpd="dbl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b="1">
              <a:latin typeface="+mn-ea"/>
            </a:endParaRPr>
          </a:p>
        </p:txBody>
      </p:sp>
      <p:graphicFrame>
        <p:nvGraphicFramePr>
          <p:cNvPr id="19" name="Object 8">
            <a:extLst>
              <a:ext uri="{FF2B5EF4-FFF2-40B4-BE49-F238E27FC236}">
                <a16:creationId xmlns:a16="http://schemas.microsoft.com/office/drawing/2014/main" id="{8BC63F3A-0F71-4133-B484-12C84C34B7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053095"/>
              </p:ext>
            </p:extLst>
          </p:nvPr>
        </p:nvGraphicFramePr>
        <p:xfrm>
          <a:off x="2737084" y="1331895"/>
          <a:ext cx="1714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66700" progId="Equation.DSMT4">
                  <p:embed/>
                </p:oleObj>
              </mc:Choice>
              <mc:Fallback>
                <p:oleObj name="Equation" r:id="rId10" imgW="914400" imgH="266700" progId="Equation.DSMT4">
                  <p:embed/>
                  <p:pic>
                    <p:nvPicPr>
                      <p:cNvPr id="14551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7084" y="1331895"/>
                        <a:ext cx="1714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C1F5A2B6-FC97-4756-B64C-B076DBD862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143780"/>
              </p:ext>
            </p:extLst>
          </p:nvPr>
        </p:nvGraphicFramePr>
        <p:xfrm>
          <a:off x="2767013" y="3513138"/>
          <a:ext cx="25701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28065" imgH="241300" progId="Equation.DSMT4">
                  <p:embed/>
                </p:oleObj>
              </mc:Choice>
              <mc:Fallback>
                <p:oleObj name="Equation" r:id="rId12" imgW="1028065" imgH="241300" progId="Equation.DSMT4">
                  <p:embed/>
                  <p:pic>
                    <p:nvPicPr>
                      <p:cNvPr id="14551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3513138"/>
                        <a:ext cx="2570162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3336438A-93C9-405B-8105-9A34E682BB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343767"/>
              </p:ext>
            </p:extLst>
          </p:nvPr>
        </p:nvGraphicFramePr>
        <p:xfrm>
          <a:off x="2747963" y="4354513"/>
          <a:ext cx="190341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16000" imgH="292100" progId="Equation.DSMT4">
                  <p:embed/>
                </p:oleObj>
              </mc:Choice>
              <mc:Fallback>
                <p:oleObj name="Equation" r:id="rId14" imgW="1016000" imgH="292100" progId="Equation.DSMT4">
                  <p:embed/>
                  <p:pic>
                    <p:nvPicPr>
                      <p:cNvPr id="1455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4354513"/>
                        <a:ext cx="1903412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7">
            <a:extLst>
              <a:ext uri="{FF2B5EF4-FFF2-40B4-BE49-F238E27FC236}">
                <a16:creationId xmlns:a16="http://schemas.microsoft.com/office/drawing/2014/main" id="{DDD5DE70-555D-429A-AA9F-21D40E130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185633"/>
              </p:ext>
            </p:extLst>
          </p:nvPr>
        </p:nvGraphicFramePr>
        <p:xfrm>
          <a:off x="2767013" y="5130800"/>
          <a:ext cx="25701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8700" imgH="228600" progId="Equation.DSMT4">
                  <p:embed/>
                </p:oleObj>
              </mc:Choice>
              <mc:Fallback>
                <p:oleObj name="Equation" r:id="rId16" imgW="1028700" imgH="228600" progId="Equation.DSMT4">
                  <p:embed/>
                  <p:pic>
                    <p:nvPicPr>
                      <p:cNvPr id="14551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5130800"/>
                        <a:ext cx="25701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>
            <a:extLst>
              <a:ext uri="{FF2B5EF4-FFF2-40B4-BE49-F238E27FC236}">
                <a16:creationId xmlns:a16="http://schemas.microsoft.com/office/drawing/2014/main" id="{0A418FE3-FC90-4CB5-B099-7ED1DBC1A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370298"/>
              </p:ext>
            </p:extLst>
          </p:nvPr>
        </p:nvGraphicFramePr>
        <p:xfrm>
          <a:off x="6823075" y="1341438"/>
          <a:ext cx="1714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14400" imgH="266700" progId="Equation.DSMT4">
                  <p:embed/>
                </p:oleObj>
              </mc:Choice>
              <mc:Fallback>
                <p:oleObj name="Equation" r:id="rId18" imgW="914400" imgH="266700" progId="Equation.DSMT4">
                  <p:embed/>
                  <p:pic>
                    <p:nvPicPr>
                      <p:cNvPr id="14551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3075" y="1341438"/>
                        <a:ext cx="1714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3">
            <a:extLst>
              <a:ext uri="{FF2B5EF4-FFF2-40B4-BE49-F238E27FC236}">
                <a16:creationId xmlns:a16="http://schemas.microsoft.com/office/drawing/2014/main" id="{683958FE-F65C-41DA-BD8C-7D4C2B82F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374857"/>
              </p:ext>
            </p:extLst>
          </p:nvPr>
        </p:nvGraphicFramePr>
        <p:xfrm>
          <a:off x="6826097" y="2072898"/>
          <a:ext cx="2625878" cy="616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28065" imgH="241300" progId="Equation.DSMT4">
                  <p:embed/>
                </p:oleObj>
              </mc:Choice>
              <mc:Fallback>
                <p:oleObj name="Equation" r:id="rId20" imgW="1028065" imgH="241300" progId="Equation.DSMT4">
                  <p:embed/>
                  <p:pic>
                    <p:nvPicPr>
                      <p:cNvPr id="14551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097" y="2072898"/>
                        <a:ext cx="2625878" cy="616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6">
            <a:extLst>
              <a:ext uri="{FF2B5EF4-FFF2-40B4-BE49-F238E27FC236}">
                <a16:creationId xmlns:a16="http://schemas.microsoft.com/office/drawing/2014/main" id="{9F8B01E7-FD74-447B-9C9E-E215CC8453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392215"/>
              </p:ext>
            </p:extLst>
          </p:nvPr>
        </p:nvGraphicFramePr>
        <p:xfrm>
          <a:off x="6861175" y="4354513"/>
          <a:ext cx="190341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16000" imgH="292100" progId="Equation.DSMT4">
                  <p:embed/>
                </p:oleObj>
              </mc:Choice>
              <mc:Fallback>
                <p:oleObj name="Equation" r:id="rId22" imgW="1016000" imgH="292100" progId="Equation.DSMT4">
                  <p:embed/>
                  <p:pic>
                    <p:nvPicPr>
                      <p:cNvPr id="14551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1175" y="4354513"/>
                        <a:ext cx="190341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7">
            <a:extLst>
              <a:ext uri="{FF2B5EF4-FFF2-40B4-BE49-F238E27FC236}">
                <a16:creationId xmlns:a16="http://schemas.microsoft.com/office/drawing/2014/main" id="{0EA34C31-CD49-453D-B69A-C5C8766C1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163628"/>
              </p:ext>
            </p:extLst>
          </p:nvPr>
        </p:nvGraphicFramePr>
        <p:xfrm>
          <a:off x="6881812" y="5130800"/>
          <a:ext cx="25701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28700" imgH="228600" progId="Equation.DSMT4">
                  <p:embed/>
                </p:oleObj>
              </mc:Choice>
              <mc:Fallback>
                <p:oleObj name="Equation" r:id="rId24" imgW="1028700" imgH="228600" progId="Equation.DSMT4">
                  <p:embed/>
                  <p:pic>
                    <p:nvPicPr>
                      <p:cNvPr id="145512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1812" y="5130800"/>
                        <a:ext cx="25701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">
            <a:extLst>
              <a:ext uri="{FF2B5EF4-FFF2-40B4-BE49-F238E27FC236}">
                <a16:creationId xmlns:a16="http://schemas.microsoft.com/office/drawing/2014/main" id="{9A97A727-6B4D-41F1-8A5E-CB214CBE3B9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313907" y="5862638"/>
            <a:ext cx="4537868" cy="5159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spAutoFit/>
          </a:bodyPr>
          <a:lstStyle>
            <a:lvl1pPr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由①、②知，</a:t>
            </a:r>
          </a:p>
        </p:txBody>
      </p:sp>
      <p:graphicFrame>
        <p:nvGraphicFramePr>
          <p:cNvPr id="32" name="Object 18">
            <a:extLst>
              <a:ext uri="{FF2B5EF4-FFF2-40B4-BE49-F238E27FC236}">
                <a16:creationId xmlns:a16="http://schemas.microsoft.com/office/drawing/2014/main" id="{14B2FF57-43DC-4A65-A1A3-414310B126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198043"/>
              </p:ext>
            </p:extLst>
          </p:nvPr>
        </p:nvGraphicFramePr>
        <p:xfrm>
          <a:off x="5718175" y="5856731"/>
          <a:ext cx="2030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12165" imgH="203200" progId="Equation.DSMT4">
                  <p:embed/>
                </p:oleObj>
              </mc:Choice>
              <mc:Fallback>
                <p:oleObj name="Equation" r:id="rId26" imgW="812165" imgH="203200" progId="Equation.DSMT4">
                  <p:embed/>
                  <p:pic>
                    <p:nvPicPr>
                      <p:cNvPr id="145512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8175" y="5856731"/>
                        <a:ext cx="2030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936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 autoUpdateAnimBg="0"/>
      <p:bldP spid="49159" grpId="0" autoUpdateAnimBg="0"/>
      <p:bldP spid="31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70363" y="213668"/>
            <a:ext cx="8066367" cy="708189"/>
          </a:xfrm>
        </p:spPr>
        <p:txBody>
          <a:bodyPr/>
          <a:lstStyle/>
          <a:p>
            <a:pPr eaLnBrk="1" hangingPunct="1"/>
            <a:r>
              <a:rPr lang="zh-CN" altLang="en-US" dirty="0"/>
              <a:t>证明（</a:t>
            </a:r>
            <a:r>
              <a:rPr lang="en-US" altLang="zh-CN" dirty="0"/>
              <a:t>b</a:t>
            </a:r>
            <a:r>
              <a:rPr lang="zh-CN" altLang="en-US" dirty="0"/>
              <a:t>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0" name="Rectangle 3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2137446" y="1352863"/>
                <a:ext cx="9371929" cy="576397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0"/>
                  </a:spcBef>
                  <a:buClr>
                    <a:schemeClr val="accent1"/>
                  </a:buClr>
                  <a:buSzPct val="75000"/>
                  <a:buNone/>
                </a:pPr>
                <a:r>
                  <a:rPr lang="zh-CN" altLang="en-US" dirty="0"/>
                  <a:t>在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p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zh-CN" altLang="en-US" dirty="0"/>
                  <a:t> 中，用   和   分别取代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，则有  </a:t>
                </a:r>
              </a:p>
            </p:txBody>
          </p:sp>
        </mc:Choice>
        <mc:Fallback xmlns="">
          <p:sp>
            <p:nvSpPr>
              <p:cNvPr id="5018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2137446" y="1352863"/>
                <a:ext cx="9371929" cy="576397"/>
              </a:xfrm>
              <a:blipFill>
                <a:blip r:embed="rId3"/>
                <a:stretch>
                  <a:fillRect l="-716" b="-18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A123543A-A279-4D72-9554-E33C6C3105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28306"/>
              </p:ext>
            </p:extLst>
          </p:nvPr>
        </p:nvGraphicFramePr>
        <p:xfrm>
          <a:off x="2863665" y="1352863"/>
          <a:ext cx="2112576" cy="528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165" imgH="203200" progId="Equation.DSMT4">
                  <p:embed/>
                </p:oleObj>
              </mc:Choice>
              <mc:Fallback>
                <p:oleObj name="Equation" r:id="rId4" imgW="812165" imgH="203200" progId="Equation.DSMT4">
                  <p:embed/>
                  <p:pic>
                    <p:nvPicPr>
                      <p:cNvPr id="1456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665" y="1352863"/>
                        <a:ext cx="2112576" cy="528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349AE72D-ACB2-426F-811A-B6C8DEA11B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988493"/>
              </p:ext>
            </p:extLst>
          </p:nvPr>
        </p:nvGraphicFramePr>
        <p:xfrm>
          <a:off x="5998679" y="1379812"/>
          <a:ext cx="2968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7000" imgH="203200" progId="Equation.DSMT4">
                  <p:embed/>
                </p:oleObj>
              </mc:Choice>
              <mc:Fallback>
                <p:oleObj name="Equation" r:id="rId6" imgW="127000" imgH="203200" progId="Equation.DSMT4">
                  <p:embed/>
                  <p:pic>
                    <p:nvPicPr>
                      <p:cNvPr id="14561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8679" y="1379812"/>
                        <a:ext cx="2968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270D473F-814F-4DFE-B715-34F0260525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638944"/>
              </p:ext>
            </p:extLst>
          </p:nvPr>
        </p:nvGraphicFramePr>
        <p:xfrm>
          <a:off x="6631975" y="1379809"/>
          <a:ext cx="2968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7000" imgH="203200" progId="Equation.DSMT4">
                  <p:embed/>
                </p:oleObj>
              </mc:Choice>
              <mc:Fallback>
                <p:oleObj name="Equation" r:id="rId8" imgW="127000" imgH="203200" progId="Equation.DSMT4">
                  <p:embed/>
                  <p:pic>
                    <p:nvPicPr>
                      <p:cNvPr id="14561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1975" y="1379809"/>
                        <a:ext cx="2968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D5434CFA-0458-42D5-B42E-6FE4C440A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2498725"/>
          <a:ext cx="3138487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400" imgH="304800" progId="Equation.DSMT4">
                  <p:embed/>
                </p:oleObj>
              </mc:Choice>
              <mc:Fallback>
                <p:oleObj name="Equation" r:id="rId10" imgW="1676400" imgH="304800" progId="Equation.DSMT4">
                  <p:embed/>
                  <p:pic>
                    <p:nvPicPr>
                      <p:cNvPr id="14561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498725"/>
                        <a:ext cx="3138487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C6BBCD7B-4379-4891-A1F5-AEFE633E31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960014"/>
              </p:ext>
            </p:extLst>
          </p:nvPr>
        </p:nvGraphicFramePr>
        <p:xfrm>
          <a:off x="2822575" y="3549515"/>
          <a:ext cx="2473325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20800" imgH="368300" progId="Equation.DSMT4">
                  <p:embed/>
                </p:oleObj>
              </mc:Choice>
              <mc:Fallback>
                <p:oleObj name="Equation" r:id="rId12" imgW="1320800" imgH="368300" progId="Equation.DSMT4">
                  <p:embed/>
                  <p:pic>
                    <p:nvPicPr>
                      <p:cNvPr id="14561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3549515"/>
                        <a:ext cx="2473325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>
            <a:extLst>
              <a:ext uri="{FF2B5EF4-FFF2-40B4-BE49-F238E27FC236}">
                <a16:creationId xmlns:a16="http://schemas.microsoft.com/office/drawing/2014/main" id="{3F6C6CAD-6923-4C30-908A-15A4713DAD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614644"/>
              </p:ext>
            </p:extLst>
          </p:nvPr>
        </p:nvGraphicFramePr>
        <p:xfrm>
          <a:off x="2862268" y="4877594"/>
          <a:ext cx="24733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20800" imgH="292100" progId="Equation.DSMT4">
                  <p:embed/>
                </p:oleObj>
              </mc:Choice>
              <mc:Fallback>
                <p:oleObj name="Equation" r:id="rId14" imgW="1320800" imgH="292100" progId="Equation.DSMT4">
                  <p:embed/>
                  <p:pic>
                    <p:nvPicPr>
                      <p:cNvPr id="14561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8" y="4877594"/>
                        <a:ext cx="24733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350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16378" y="3965143"/>
            <a:ext cx="73755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1.5</a:t>
            </a:r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用成员表法证明吸收律</a:t>
            </a:r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A∪(A∩B)=A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。</a:t>
            </a:r>
            <a:endParaRPr lang="zh-CN" altLang="en-US" b="1" dirty="0">
              <a:latin typeface="+mn-ea"/>
              <a:cs typeface="+mj-cs"/>
            </a:endParaRPr>
          </a:p>
        </p:txBody>
      </p:sp>
      <p:sp>
        <p:nvSpPr>
          <p:cNvPr id="43012" name="矩形 4"/>
          <p:cNvSpPr>
            <a:spLocks noChangeArrowheads="1"/>
          </p:cNvSpPr>
          <p:nvPr/>
        </p:nvSpPr>
        <p:spPr bwMode="auto">
          <a:xfrm>
            <a:off x="516378" y="4525730"/>
            <a:ext cx="6690688" cy="1955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801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解  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集合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组合的成员表如表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1.1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所示。</a:t>
            </a:r>
            <a:endParaRPr lang="en-US" altLang="zh-CN" sz="2801" dirty="0">
              <a:solidFill>
                <a:srgbClr val="08001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显然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A∪(A∩B)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两列对应的值完全</a:t>
            </a:r>
            <a:endParaRPr lang="en-US" altLang="zh-CN" sz="2801" dirty="0">
              <a:solidFill>
                <a:srgbClr val="08001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sz="280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相同，等式成立，即吸收律成立。</a:t>
            </a:r>
            <a:endParaRPr lang="en-US" altLang="zh-CN" sz="2801" dirty="0">
              <a:solidFill>
                <a:srgbClr val="08001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+mn-ea"/>
                <a:ea typeface="+mn-ea"/>
              </a:rPr>
              <a:t>例</a:t>
            </a:r>
            <a:r>
              <a:rPr lang="en-US" altLang="zh-CN" b="1" dirty="0">
                <a:latin typeface="+mn-ea"/>
                <a:ea typeface="+mn-ea"/>
              </a:rPr>
              <a:t>1.5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82B52C-F473-35B2-59A5-9BF75743BDC6}"/>
              </a:ext>
            </a:extLst>
          </p:cNvPr>
          <p:cNvSpPr txBox="1"/>
          <p:nvPr/>
        </p:nvSpPr>
        <p:spPr>
          <a:xfrm>
            <a:off x="9832975" y="3965142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表</a:t>
            </a:r>
            <a:r>
              <a:rPr lang="en-US" altLang="zh-CN" b="1" dirty="0">
                <a:solidFill>
                  <a:srgbClr val="080010"/>
                </a:solidFill>
                <a:latin typeface="+mn-ea"/>
                <a:ea typeface="+mn-ea"/>
                <a:cs typeface="Times New Roman" panose="02020603050405020304" pitchFamily="18" charset="0"/>
              </a:rPr>
              <a:t>1.1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9A5A2A5-89EE-F8B0-E18F-E35134062B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4712417"/>
                  </p:ext>
                </p:extLst>
              </p:nvPr>
            </p:nvGraphicFramePr>
            <p:xfrm>
              <a:off x="8232775" y="4572794"/>
              <a:ext cx="3657600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67218">
                      <a:extLst>
                        <a:ext uri="{9D8B030D-6E8A-4147-A177-3AD203B41FA5}">
                          <a16:colId xmlns:a16="http://schemas.microsoft.com/office/drawing/2014/main" val="4293329278"/>
                        </a:ext>
                      </a:extLst>
                    </a:gridCol>
                    <a:gridCol w="1091558">
                      <a:extLst>
                        <a:ext uri="{9D8B030D-6E8A-4147-A177-3AD203B41FA5}">
                          <a16:colId xmlns:a16="http://schemas.microsoft.com/office/drawing/2014/main" val="1324857213"/>
                        </a:ext>
                      </a:extLst>
                    </a:gridCol>
                    <a:gridCol w="1598824">
                      <a:extLst>
                        <a:ext uri="{9D8B030D-6E8A-4147-A177-3AD203B41FA5}">
                          <a16:colId xmlns:a16="http://schemas.microsoft.com/office/drawing/2014/main" val="4011203226"/>
                        </a:ext>
                      </a:extLst>
                    </a:gridCol>
                  </a:tblGrid>
                  <a:tr h="36258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 dirty="0">
                              <a:effectLst/>
                            </a:rPr>
                            <a:t> A   B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 A</a:t>
                          </a:r>
                          <a14:m>
                            <m:oMath xmlns:m="http://schemas.openxmlformats.org/officeDocument/2006/math">
                              <m:r>
                                <a:rPr lang="zh-CN" sz="2400" kern="100">
                                  <a:effectLst/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</m:oMath>
                          </a14:m>
                          <a:r>
                            <a:rPr lang="en-US" sz="2400" kern="100">
                              <a:effectLst/>
                            </a:rPr>
                            <a:t>B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 dirty="0">
                              <a:effectLst/>
                            </a:rPr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zh-CN" sz="2400" kern="100">
                                  <a:effectLst/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</m:oMath>
                          </a14:m>
                          <a:r>
                            <a:rPr lang="en-US" sz="2400" kern="100" dirty="0">
                              <a:effectLst/>
                            </a:rPr>
                            <a:t>(A</a:t>
                          </a:r>
                          <a14:m>
                            <m:oMath xmlns:m="http://schemas.openxmlformats.org/officeDocument/2006/math">
                              <m:r>
                                <a:rPr lang="zh-CN" sz="2400" kern="100">
                                  <a:effectLst/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</m:oMath>
                          </a14:m>
                          <a:r>
                            <a:rPr lang="en-US" sz="2400" kern="100" dirty="0">
                              <a:effectLst/>
                            </a:rPr>
                            <a:t>B)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extLst>
                      <a:ext uri="{0D108BD9-81ED-4DB2-BD59-A6C34878D82A}">
                        <a16:rowId xmlns:a16="http://schemas.microsoft.com/office/drawing/2014/main" val="783205246"/>
                      </a:ext>
                    </a:extLst>
                  </a:tr>
                  <a:tr h="35332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0   0 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 dirty="0">
                              <a:effectLst/>
                            </a:rPr>
                            <a:t>   0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0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extLst>
                      <a:ext uri="{0D108BD9-81ED-4DB2-BD59-A6C34878D82A}">
                        <a16:rowId xmlns:a16="http://schemas.microsoft.com/office/drawing/2014/main" val="1416442014"/>
                      </a:ext>
                    </a:extLst>
                  </a:tr>
                  <a:tr h="35332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0   1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  0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0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extLst>
                      <a:ext uri="{0D108BD9-81ED-4DB2-BD59-A6C34878D82A}">
                        <a16:rowId xmlns:a16="http://schemas.microsoft.com/office/drawing/2014/main" val="258896265"/>
                      </a:ext>
                    </a:extLst>
                  </a:tr>
                  <a:tr h="35332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1   0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  0   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1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extLst>
                      <a:ext uri="{0D108BD9-81ED-4DB2-BD59-A6C34878D82A}">
                        <a16:rowId xmlns:a16="http://schemas.microsoft.com/office/drawing/2014/main" val="3589716379"/>
                      </a:ext>
                    </a:extLst>
                  </a:tr>
                  <a:tr h="35332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1   1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  1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 dirty="0">
                              <a:effectLst/>
                            </a:rPr>
                            <a:t>1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extLst>
                      <a:ext uri="{0D108BD9-81ED-4DB2-BD59-A6C34878D82A}">
                        <a16:rowId xmlns:a16="http://schemas.microsoft.com/office/drawing/2014/main" val="40251108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9A5A2A5-89EE-F8B0-E18F-E35134062B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4712417"/>
                  </p:ext>
                </p:extLst>
              </p:nvPr>
            </p:nvGraphicFramePr>
            <p:xfrm>
              <a:off x="8232775" y="4572794"/>
              <a:ext cx="3657600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67218">
                      <a:extLst>
                        <a:ext uri="{9D8B030D-6E8A-4147-A177-3AD203B41FA5}">
                          <a16:colId xmlns:a16="http://schemas.microsoft.com/office/drawing/2014/main" val="4293329278"/>
                        </a:ext>
                      </a:extLst>
                    </a:gridCol>
                    <a:gridCol w="1091558">
                      <a:extLst>
                        <a:ext uri="{9D8B030D-6E8A-4147-A177-3AD203B41FA5}">
                          <a16:colId xmlns:a16="http://schemas.microsoft.com/office/drawing/2014/main" val="1324857213"/>
                        </a:ext>
                      </a:extLst>
                    </a:gridCol>
                    <a:gridCol w="1598824">
                      <a:extLst>
                        <a:ext uri="{9D8B030D-6E8A-4147-A177-3AD203B41FA5}">
                          <a16:colId xmlns:a16="http://schemas.microsoft.com/office/drawing/2014/main" val="401120322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 dirty="0">
                              <a:effectLst/>
                            </a:rPr>
                            <a:t> A   B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" marR="17780" marT="0" marB="0">
                        <a:blipFill>
                          <a:blip r:embed="rId3"/>
                          <a:stretch>
                            <a:fillRect l="-89385" t="-26667" r="-149162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" marR="17780" marT="0" marB="0">
                        <a:blipFill>
                          <a:blip r:embed="rId3"/>
                          <a:stretch>
                            <a:fillRect l="-128897" t="-26667" r="-1521" b="-4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32052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0   0 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 dirty="0">
                              <a:effectLst/>
                            </a:rPr>
                            <a:t>   0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0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extLst>
                      <a:ext uri="{0D108BD9-81ED-4DB2-BD59-A6C34878D82A}">
                        <a16:rowId xmlns:a16="http://schemas.microsoft.com/office/drawing/2014/main" val="141644201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0   1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  0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0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extLst>
                      <a:ext uri="{0D108BD9-81ED-4DB2-BD59-A6C34878D82A}">
                        <a16:rowId xmlns:a16="http://schemas.microsoft.com/office/drawing/2014/main" val="2588962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1   0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  0   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1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extLst>
                      <a:ext uri="{0D108BD9-81ED-4DB2-BD59-A6C34878D82A}">
                        <a16:rowId xmlns:a16="http://schemas.microsoft.com/office/drawing/2014/main" val="35897163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1   1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>
                              <a:effectLst/>
                            </a:rPr>
                            <a:t>   1</a:t>
                          </a:r>
                          <a:endParaRPr lang="en-US" sz="2400" kern="10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tabLst>
                              <a:tab pos="5490845" algn="l"/>
                            </a:tabLst>
                          </a:pPr>
                          <a:r>
                            <a:rPr lang="en-US" sz="2400" kern="100" dirty="0">
                              <a:effectLst/>
                            </a:rPr>
                            <a:t>1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7780" marR="17780" marT="0" marB="0"/>
                    </a:tc>
                    <a:extLst>
                      <a:ext uri="{0D108BD9-81ED-4DB2-BD59-A6C34878D82A}">
                        <a16:rowId xmlns:a16="http://schemas.microsoft.com/office/drawing/2014/main" val="402511089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964D972-C03A-DDA7-380E-47101EC17E98}"/>
                  </a:ext>
                </a:extLst>
              </p:cNvPr>
              <p:cNvSpPr txBox="1"/>
              <p:nvPr/>
            </p:nvSpPr>
            <p:spPr>
              <a:xfrm>
                <a:off x="498475" y="812070"/>
                <a:ext cx="11201400" cy="2797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b="1" kern="100" dirty="0">
                    <a:solidFill>
                      <a:srgbClr val="C00000"/>
                    </a:solidFill>
                    <a:effectLst/>
                    <a:latin typeface="+mn-ea"/>
                    <a:cs typeface="宋体" panose="02010600030101010101" pitchFamily="2" charset="-122"/>
                  </a:rPr>
                  <a:t>成员表法 </a:t>
                </a:r>
                <a:endParaRPr lang="en-US" altLang="zh-CN" b="1" kern="100" dirty="0">
                  <a:solidFill>
                    <a:srgbClr val="C00000"/>
                  </a:solidFill>
                  <a:effectLst/>
                  <a:latin typeface="+mn-ea"/>
                  <a:cs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b="1" kern="100" dirty="0">
                    <a:effectLst/>
                    <a:latin typeface="+mn-ea"/>
                    <a:cs typeface="宋体" panose="02010600030101010101" pitchFamily="2" charset="-122"/>
                  </a:rPr>
                  <a:t>列出待证明定律中所有成员的所有可能的“</a:t>
                </a:r>
                <a:r>
                  <a:rPr lang="en-US" b="1" kern="100" dirty="0">
                    <a:effectLst/>
                    <a:latin typeface="+mn-ea"/>
                    <a:cs typeface="宋体" panose="02010600030101010101" pitchFamily="2" charset="-122"/>
                  </a:rPr>
                  <a:t>0</a:t>
                </a:r>
                <a:r>
                  <a:rPr lang="zh-CN" b="1" kern="100" dirty="0">
                    <a:effectLst/>
                    <a:latin typeface="+mn-ea"/>
                    <a:cs typeface="宋体" panose="02010600030101010101" pitchFamily="2" charset="-122"/>
                  </a:rPr>
                  <a:t>”“</a:t>
                </a:r>
                <a:r>
                  <a:rPr lang="en-US" b="1" kern="100" dirty="0">
                    <a:effectLst/>
                    <a:latin typeface="+mn-ea"/>
                    <a:cs typeface="宋体" panose="02010600030101010101" pitchFamily="2" charset="-122"/>
                  </a:rPr>
                  <a:t>1</a:t>
                </a:r>
                <a:r>
                  <a:rPr lang="zh-CN" b="1" kern="100" dirty="0">
                    <a:effectLst/>
                    <a:latin typeface="+mn-ea"/>
                    <a:cs typeface="宋体" panose="02010600030101010101" pitchFamily="2" charset="-122"/>
                  </a:rPr>
                  <a:t>”组合，按照下面的规则计算：</a:t>
                </a:r>
                <a:endParaRPr lang="en-US" b="1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 kern="100" smtClean="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𝐀</m:t>
                    </m:r>
                    <m:r>
                      <a:rPr lang="en-US" b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∩</m:t>
                    </m:r>
                    <m:r>
                      <a:rPr lang="en-US" b="1" i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𝐁</m:t>
                    </m:r>
                    <m:r>
                      <a:rPr lang="en-US" b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=</m:t>
                    </m:r>
                    <m:r>
                      <a:rPr lang="en-US" b="1" i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𝟏</m:t>
                    </m:r>
                    <m:r>
                      <a:rPr lang="en-US" b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⇔</m:t>
                    </m:r>
                    <m:r>
                      <a:rPr lang="en-US" b="1" i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𝐀</m:t>
                    </m:r>
                  </m:oMath>
                </a14:m>
                <a:r>
                  <a:rPr lang="en-US" b="1" kern="100" dirty="0">
                    <a:solidFill>
                      <a:srgbClr val="3333FF"/>
                    </a:solidFill>
                    <a:effectLst/>
                    <a:latin typeface="+mn-ea"/>
                    <a:cs typeface="宋体" panose="02010600030101010101" pitchFamily="2" charset="-122"/>
                  </a:rPr>
                  <a:t>=1</a:t>
                </a:r>
                <a:r>
                  <a:rPr lang="zh-CN" b="1" kern="100" dirty="0">
                    <a:solidFill>
                      <a:srgbClr val="3333FF"/>
                    </a:solidFill>
                    <a:effectLst/>
                    <a:latin typeface="+mn-ea"/>
                    <a:cs typeface="宋体" panose="02010600030101010101" pitchFamily="2" charset="-122"/>
                  </a:rPr>
                  <a:t>且</a:t>
                </a:r>
                <a:r>
                  <a:rPr lang="en-US" b="1" kern="100" dirty="0">
                    <a:solidFill>
                      <a:srgbClr val="3333FF"/>
                    </a:solidFill>
                    <a:effectLst/>
                    <a:latin typeface="+mn-ea"/>
                    <a:cs typeface="宋体" panose="02010600030101010101" pitchFamily="2" charset="-122"/>
                  </a:rPr>
                  <a:t>B=1</a:t>
                </a:r>
                <a:r>
                  <a:rPr lang="zh-CN" b="1" kern="100" dirty="0">
                    <a:solidFill>
                      <a:srgbClr val="3333FF"/>
                    </a:solidFill>
                    <a:effectLst/>
                    <a:latin typeface="+mn-ea"/>
                    <a:cs typeface="宋体" panose="02010600030101010101" pitchFamily="2" charset="-122"/>
                  </a:rPr>
                  <a:t>；</a:t>
                </a:r>
                <a14:m>
                  <m:oMath xmlns:m="http://schemas.openxmlformats.org/officeDocument/2006/math">
                    <m:r>
                      <a:rPr lang="en-US" b="1" i="1" kern="100" smtClean="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𝐀</m:t>
                    </m:r>
                    <m:r>
                      <a:rPr lang="en-US" b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∪</m:t>
                    </m:r>
                    <m:r>
                      <a:rPr lang="en-US" b="1" i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𝐁</m:t>
                    </m:r>
                    <m:r>
                      <a:rPr lang="en-US" b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=</m:t>
                    </m:r>
                    <m:r>
                      <a:rPr lang="en-US" b="1" i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𝟎</m:t>
                    </m:r>
                    <m:r>
                      <a:rPr lang="en-US" b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⇔</m:t>
                    </m:r>
                    <m:r>
                      <a:rPr lang="en-US" b="1" i="1" kern="100">
                        <a:solidFill>
                          <a:srgbClr val="3333FF"/>
                        </a:solidFill>
                        <a:effectLst/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𝐀</m:t>
                    </m:r>
                  </m:oMath>
                </a14:m>
                <a:r>
                  <a:rPr lang="en-US" b="1" kern="100" dirty="0">
                    <a:solidFill>
                      <a:srgbClr val="3333FF"/>
                    </a:solidFill>
                    <a:effectLst/>
                    <a:latin typeface="+mn-ea"/>
                    <a:cs typeface="宋体" panose="02010600030101010101" pitchFamily="2" charset="-122"/>
                  </a:rPr>
                  <a:t>=0</a:t>
                </a:r>
                <a:r>
                  <a:rPr lang="zh-CN" b="1" kern="100" dirty="0">
                    <a:solidFill>
                      <a:srgbClr val="3333FF"/>
                    </a:solidFill>
                    <a:effectLst/>
                    <a:latin typeface="+mn-ea"/>
                    <a:cs typeface="宋体" panose="02010600030101010101" pitchFamily="2" charset="-122"/>
                  </a:rPr>
                  <a:t>且</a:t>
                </a:r>
                <a:r>
                  <a:rPr lang="en-US" b="1" kern="100" dirty="0">
                    <a:solidFill>
                      <a:srgbClr val="3333FF"/>
                    </a:solidFill>
                    <a:effectLst/>
                    <a:latin typeface="+mn-ea"/>
                    <a:cs typeface="宋体" panose="02010600030101010101" pitchFamily="2" charset="-122"/>
                  </a:rPr>
                  <a:t>B=0</a:t>
                </a:r>
                <a:endParaRPr lang="en-US" b="1" kern="100" dirty="0">
                  <a:solidFill>
                    <a:srgbClr val="3333FF"/>
                  </a:solidFill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b="1" kern="100" dirty="0">
                    <a:effectLst/>
                    <a:latin typeface="+mn-ea"/>
                    <a:cs typeface="宋体" panose="02010600030101010101" pitchFamily="2" charset="-122"/>
                  </a:rPr>
                  <a:t>对任意给定的“</a:t>
                </a:r>
                <a:r>
                  <a:rPr lang="en-US" b="1" kern="100" dirty="0">
                    <a:effectLst/>
                    <a:latin typeface="+mn-ea"/>
                    <a:cs typeface="宋体" panose="02010600030101010101" pitchFamily="2" charset="-122"/>
                  </a:rPr>
                  <a:t>0</a:t>
                </a:r>
                <a:r>
                  <a:rPr lang="zh-CN" b="1" kern="100" dirty="0">
                    <a:effectLst/>
                    <a:latin typeface="+mn-ea"/>
                    <a:cs typeface="宋体" panose="02010600030101010101" pitchFamily="2" charset="-122"/>
                  </a:rPr>
                  <a:t>”“</a:t>
                </a:r>
                <a:r>
                  <a:rPr lang="en-US" b="1" kern="100" dirty="0">
                    <a:effectLst/>
                    <a:latin typeface="+mn-ea"/>
                    <a:cs typeface="宋体" panose="02010600030101010101" pitchFamily="2" charset="-122"/>
                  </a:rPr>
                  <a:t>1</a:t>
                </a:r>
                <a:r>
                  <a:rPr lang="zh-CN" b="1" kern="100" dirty="0">
                    <a:effectLst/>
                    <a:latin typeface="+mn-ea"/>
                    <a:cs typeface="宋体" panose="02010600030101010101" pitchFamily="2" charset="-122"/>
                  </a:rPr>
                  <a:t>”组合，待证定律成立当且仅当待证定律</a:t>
                </a:r>
                <a:r>
                  <a:rPr lang="zh-CN" b="1" kern="100" dirty="0">
                    <a:solidFill>
                      <a:srgbClr val="3333FF"/>
                    </a:solidFill>
                    <a:effectLst/>
                    <a:latin typeface="+mn-ea"/>
                    <a:cs typeface="宋体" panose="02010600030101010101" pitchFamily="2" charset="-122"/>
                  </a:rPr>
                  <a:t>左边与右边具有相同的值</a:t>
                </a:r>
                <a:r>
                  <a:rPr lang="zh-CN" b="1" kern="100" dirty="0">
                    <a:effectLst/>
                    <a:latin typeface="+mn-ea"/>
                    <a:cs typeface="宋体" panose="02010600030101010101" pitchFamily="2" charset="-122"/>
                  </a:rPr>
                  <a:t>。</a:t>
                </a:r>
                <a:endParaRPr lang="en-US" b="1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964D972-C03A-DDA7-380E-47101EC17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75" y="812070"/>
                <a:ext cx="11201400" cy="2797048"/>
              </a:xfrm>
              <a:prstGeom prst="rect">
                <a:avLst/>
              </a:prstGeom>
              <a:blipFill>
                <a:blip r:embed="rId4"/>
                <a:stretch>
                  <a:fillRect l="-871" r="-3593" b="-4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196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3"/>
          <p:cNvSpPr/>
          <p:nvPr/>
        </p:nvSpPr>
        <p:spPr>
          <a:xfrm>
            <a:off x="4468316" y="557080"/>
            <a:ext cx="6629399" cy="5205255"/>
          </a:xfrm>
          <a:custGeom>
            <a:avLst/>
            <a:gdLst>
              <a:gd name="connsiteX0" fmla="*/ 0 w 7560564"/>
              <a:gd name="connsiteY0" fmla="*/ 282448 h 3275076"/>
              <a:gd name="connsiteX1" fmla="*/ 282473 w 7560564"/>
              <a:gd name="connsiteY1" fmla="*/ 0 h 3275076"/>
              <a:gd name="connsiteX2" fmla="*/ 7278116 w 7560564"/>
              <a:gd name="connsiteY2" fmla="*/ 0 h 3275076"/>
              <a:gd name="connsiteX3" fmla="*/ 7560563 w 7560564"/>
              <a:gd name="connsiteY3" fmla="*/ 282448 h 3275076"/>
              <a:gd name="connsiteX4" fmla="*/ 7560563 w 7560564"/>
              <a:gd name="connsiteY4" fmla="*/ 2992602 h 3275076"/>
              <a:gd name="connsiteX5" fmla="*/ 7278116 w 7560564"/>
              <a:gd name="connsiteY5" fmla="*/ 3275075 h 3275076"/>
              <a:gd name="connsiteX6" fmla="*/ 282473 w 7560564"/>
              <a:gd name="connsiteY6" fmla="*/ 3275075 h 3275076"/>
              <a:gd name="connsiteX7" fmla="*/ 0 w 7560564"/>
              <a:gd name="connsiteY7" fmla="*/ 2992602 h 3275076"/>
              <a:gd name="connsiteX8" fmla="*/ 0 w 7560564"/>
              <a:gd name="connsiteY8" fmla="*/ 282448 h 327507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7560564" h="3275076">
                <a:moveTo>
                  <a:pt x="0" y="282448"/>
                </a:moveTo>
                <a:cubicBezTo>
                  <a:pt x="0" y="126492"/>
                  <a:pt x="126466" y="0"/>
                  <a:pt x="282473" y="0"/>
                </a:cubicBezTo>
                <a:lnTo>
                  <a:pt x="7278116" y="0"/>
                </a:lnTo>
                <a:cubicBezTo>
                  <a:pt x="7434071" y="0"/>
                  <a:pt x="7560563" y="126492"/>
                  <a:pt x="7560563" y="282448"/>
                </a:cubicBezTo>
                <a:lnTo>
                  <a:pt x="7560563" y="2992602"/>
                </a:lnTo>
                <a:cubicBezTo>
                  <a:pt x="7560563" y="3148609"/>
                  <a:pt x="7434071" y="3275075"/>
                  <a:pt x="7278116" y="3275075"/>
                </a:cubicBezTo>
                <a:lnTo>
                  <a:pt x="282473" y="3275075"/>
                </a:lnTo>
                <a:cubicBezTo>
                  <a:pt x="126466" y="3275075"/>
                  <a:pt x="0" y="3148609"/>
                  <a:pt x="0" y="2992602"/>
                </a:cubicBezTo>
                <a:lnTo>
                  <a:pt x="0" y="282448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5757541" y="3548788"/>
            <a:ext cx="4913633" cy="48292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"/>
          <p:cNvSpPr txBox="1"/>
          <p:nvPr/>
        </p:nvSpPr>
        <p:spPr>
          <a:xfrm>
            <a:off x="7013575" y="1331496"/>
            <a:ext cx="2769989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本章导读及学习要求</a:t>
            </a:r>
          </a:p>
        </p:txBody>
      </p:sp>
      <p:sp>
        <p:nvSpPr>
          <p:cNvPr id="47" name="TextBox 1"/>
          <p:cNvSpPr txBox="1"/>
          <p:nvPr/>
        </p:nvSpPr>
        <p:spPr>
          <a:xfrm>
            <a:off x="7013575" y="1941319"/>
            <a:ext cx="215443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集合的基本概念</a:t>
            </a:r>
          </a:p>
        </p:txBody>
      </p:sp>
      <p:sp>
        <p:nvSpPr>
          <p:cNvPr id="48" name="TextBox 1"/>
          <p:cNvSpPr txBox="1"/>
          <p:nvPr/>
        </p:nvSpPr>
        <p:spPr>
          <a:xfrm>
            <a:off x="7013575" y="2520314"/>
            <a:ext cx="123110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特殊集合</a:t>
            </a:r>
          </a:p>
        </p:txBody>
      </p:sp>
      <p:sp>
        <p:nvSpPr>
          <p:cNvPr id="51" name="Freeform 3"/>
          <p:cNvSpPr/>
          <p:nvPr/>
        </p:nvSpPr>
        <p:spPr>
          <a:xfrm>
            <a:off x="6698357" y="904149"/>
            <a:ext cx="45719" cy="4154365"/>
          </a:xfrm>
          <a:custGeom>
            <a:avLst/>
            <a:gdLst>
              <a:gd name="connsiteX0" fmla="*/ 6350 w 21844"/>
              <a:gd name="connsiteY0" fmla="*/ 6350 h 879855"/>
              <a:gd name="connsiteX1" fmla="*/ 6350 w 21844"/>
              <a:gd name="connsiteY1" fmla="*/ 873506 h 8798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879855">
                <a:moveTo>
                  <a:pt x="6350" y="6350"/>
                </a:moveTo>
                <a:lnTo>
                  <a:pt x="6350" y="873506"/>
                </a:lnTo>
              </a:path>
            </a:pathLst>
          </a:custGeom>
          <a:ln w="12700">
            <a:solidFill>
              <a:srgbClr val="A4B3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2" name="Freeform 3"/>
          <p:cNvSpPr/>
          <p:nvPr/>
        </p:nvSpPr>
        <p:spPr>
          <a:xfrm>
            <a:off x="6672920" y="1389671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00B05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3" name="Freeform 3"/>
          <p:cNvSpPr/>
          <p:nvPr/>
        </p:nvSpPr>
        <p:spPr>
          <a:xfrm>
            <a:off x="6632575" y="198628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74B83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4" name="Freeform 3"/>
          <p:cNvSpPr/>
          <p:nvPr/>
        </p:nvSpPr>
        <p:spPr>
          <a:xfrm>
            <a:off x="6632575" y="2582907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1"/>
          <p:cNvSpPr txBox="1"/>
          <p:nvPr/>
        </p:nvSpPr>
        <p:spPr>
          <a:xfrm>
            <a:off x="545294" y="2704702"/>
            <a:ext cx="1846659" cy="835956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6936"/>
              </a:lnSpc>
            </a:pPr>
            <a:r>
              <a:rPr lang="zh-CN" altLang="en-US" sz="3600" b="1" dirty="0">
                <a:solidFill>
                  <a:srgbClr val="4197DF"/>
                </a:solidFill>
                <a:latin typeface="Microsoft YaHei UI" pitchFamily="18" charset="0"/>
                <a:cs typeface="Microsoft YaHei UI" pitchFamily="18" charset="0"/>
              </a:rPr>
              <a:t>内容导航</a:t>
            </a:r>
            <a:endParaRPr lang="en-US" altLang="zh-CN" sz="3600" b="1" dirty="0">
              <a:solidFill>
                <a:srgbClr val="4197DF"/>
              </a:solidFill>
              <a:latin typeface="Microsoft YaHei UI" pitchFamily="18" charset="0"/>
              <a:cs typeface="Microsoft YaHei UI" pitchFamily="18" charset="0"/>
            </a:endParaRPr>
          </a:p>
        </p:txBody>
      </p:sp>
      <p:sp>
        <p:nvSpPr>
          <p:cNvPr id="57" name="TextBox 1"/>
          <p:cNvSpPr txBox="1"/>
          <p:nvPr/>
        </p:nvSpPr>
        <p:spPr>
          <a:xfrm>
            <a:off x="545293" y="3518639"/>
            <a:ext cx="1846659" cy="272596"/>
          </a:xfrm>
          <a:prstGeom prst="rect">
            <a:avLst/>
          </a:prstGeom>
          <a:noFill/>
        </p:spPr>
        <p:txBody>
          <a:bodyPr wrap="square" lIns="0" tIns="0" rIns="0" bIns="60981" rtlCol="0">
            <a:spAutoFit/>
          </a:bodyPr>
          <a:lstStyle/>
          <a:p>
            <a:pPr algn="dist">
              <a:lnSpc>
                <a:spcPts val="1601"/>
              </a:lnSpc>
            </a:pPr>
            <a:r>
              <a:rPr lang="en-US" altLang="zh-CN" sz="1900" b="1" dirty="0">
                <a:solidFill>
                  <a:srgbClr val="4197DF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9" name="矩形 58"/>
          <p:cNvSpPr/>
          <p:nvPr/>
        </p:nvSpPr>
        <p:spPr>
          <a:xfrm>
            <a:off x="518434" y="2201849"/>
            <a:ext cx="1873520" cy="702656"/>
          </a:xfrm>
          <a:prstGeom prst="rect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/>
          <p:cNvCxnSpPr/>
          <p:nvPr/>
        </p:nvCxnSpPr>
        <p:spPr>
          <a:xfrm>
            <a:off x="536575" y="7699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536575" y="2484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536575" y="405607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536575" y="577057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536575" y="71993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536575" y="89138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36575" y="10485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536575" y="1219994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536575" y="1404371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36575" y="154724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36575" y="171869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36575" y="1875858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36575" y="2047308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2000250" y="6254294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/>
        </p:nvSpPr>
        <p:spPr>
          <a:xfrm>
            <a:off x="2381250" y="5840443"/>
            <a:ext cx="674915" cy="101325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/>
        </p:nvSpPr>
        <p:spPr>
          <a:xfrm>
            <a:off x="3146878" y="6329700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>
            <a:off x="95250" y="5621722"/>
            <a:ext cx="1066800" cy="123197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等腰三角形 36"/>
          <p:cNvSpPr/>
          <p:nvPr/>
        </p:nvSpPr>
        <p:spPr>
          <a:xfrm>
            <a:off x="876300" y="6254294"/>
            <a:ext cx="381000" cy="513301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1"/>
          <p:cNvSpPr txBox="1"/>
          <p:nvPr/>
        </p:nvSpPr>
        <p:spPr>
          <a:xfrm>
            <a:off x="7013575" y="3099934"/>
            <a:ext cx="153888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集合的运算</a:t>
            </a:r>
          </a:p>
        </p:txBody>
      </p:sp>
      <p:sp>
        <p:nvSpPr>
          <p:cNvPr id="39" name="TextBox 1"/>
          <p:cNvSpPr txBox="1"/>
          <p:nvPr/>
        </p:nvSpPr>
        <p:spPr>
          <a:xfrm>
            <a:off x="7030855" y="3669144"/>
            <a:ext cx="923330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无限集</a:t>
            </a:r>
          </a:p>
        </p:txBody>
      </p:sp>
      <p:sp>
        <p:nvSpPr>
          <p:cNvPr id="40" name="Freeform 3"/>
          <p:cNvSpPr/>
          <p:nvPr/>
        </p:nvSpPr>
        <p:spPr>
          <a:xfrm>
            <a:off x="6632575" y="3159708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 3"/>
          <p:cNvSpPr/>
          <p:nvPr/>
        </p:nvSpPr>
        <p:spPr>
          <a:xfrm>
            <a:off x="6632575" y="3719785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1"/>
          <p:cNvSpPr txBox="1"/>
          <p:nvPr/>
        </p:nvSpPr>
        <p:spPr>
          <a:xfrm>
            <a:off x="6048108" y="3690007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solidFill>
                  <a:schemeClr val="bg1"/>
                </a:solidFill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1.4</a:t>
            </a:r>
          </a:p>
        </p:txBody>
      </p:sp>
      <p:sp>
        <p:nvSpPr>
          <p:cNvPr id="77" name="等腰三角形 76"/>
          <p:cNvSpPr/>
          <p:nvPr/>
        </p:nvSpPr>
        <p:spPr>
          <a:xfrm>
            <a:off x="6143397" y="1253757"/>
            <a:ext cx="304800" cy="267093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TextBox 1"/>
          <p:cNvSpPr txBox="1"/>
          <p:nvPr/>
        </p:nvSpPr>
        <p:spPr>
          <a:xfrm>
            <a:off x="7011024" y="4237563"/>
            <a:ext cx="246221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与集合相关的应用</a:t>
            </a:r>
          </a:p>
        </p:txBody>
      </p:sp>
      <p:sp>
        <p:nvSpPr>
          <p:cNvPr id="81" name="Freeform 3"/>
          <p:cNvSpPr/>
          <p:nvPr/>
        </p:nvSpPr>
        <p:spPr>
          <a:xfrm>
            <a:off x="6642724" y="428070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"/>
          <p:cNvSpPr txBox="1"/>
          <p:nvPr/>
        </p:nvSpPr>
        <p:spPr>
          <a:xfrm>
            <a:off x="6058257" y="4250931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1.5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FDA7A11-E754-4EA2-E528-360794ADB1F7}"/>
              </a:ext>
            </a:extLst>
          </p:cNvPr>
          <p:cNvSpPr txBox="1"/>
          <p:nvPr/>
        </p:nvSpPr>
        <p:spPr>
          <a:xfrm>
            <a:off x="6998534" y="4779703"/>
            <a:ext cx="61555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作业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CB95781C-5009-FE00-0312-E8DEAD218C6B}"/>
              </a:ext>
            </a:extLst>
          </p:cNvPr>
          <p:cNvSpPr/>
          <p:nvPr/>
        </p:nvSpPr>
        <p:spPr>
          <a:xfrm>
            <a:off x="6630234" y="482284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BFCB515F-250D-6EFF-F900-24F3C122B1B4}"/>
              </a:ext>
            </a:extLst>
          </p:cNvPr>
          <p:cNvSpPr txBox="1"/>
          <p:nvPr/>
        </p:nvSpPr>
        <p:spPr>
          <a:xfrm>
            <a:off x="6045767" y="4793071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1.6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1E9FDE8-B852-8B85-D672-09AFC2D30F46}"/>
              </a:ext>
            </a:extLst>
          </p:cNvPr>
          <p:cNvSpPr txBox="1"/>
          <p:nvPr/>
        </p:nvSpPr>
        <p:spPr>
          <a:xfrm>
            <a:off x="5983319" y="2535152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1.2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D5B3CAF9-D3E3-CEE7-F8C1-C5C6FCEC3446}"/>
              </a:ext>
            </a:extLst>
          </p:cNvPr>
          <p:cNvSpPr txBox="1"/>
          <p:nvPr/>
        </p:nvSpPr>
        <p:spPr>
          <a:xfrm>
            <a:off x="5973378" y="1910089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1.1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D2F9AFD5-ADFC-558B-3547-196C45B7CDA1}"/>
              </a:ext>
            </a:extLst>
          </p:cNvPr>
          <p:cNvSpPr txBox="1"/>
          <p:nvPr/>
        </p:nvSpPr>
        <p:spPr>
          <a:xfrm>
            <a:off x="5995559" y="3093041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1.3</a:t>
            </a:r>
          </a:p>
        </p:txBody>
      </p:sp>
    </p:spTree>
    <p:extLst>
      <p:ext uri="{BB962C8B-B14F-4D97-AF65-F5344CB8AC3E}">
        <p14:creationId xmlns:p14="http://schemas.microsoft.com/office/powerpoint/2010/main" val="411283742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1.4  </a:t>
            </a:r>
            <a:r>
              <a:rPr lang="zh-CN" altLang="en-US" dirty="0"/>
              <a:t>无限集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604118" y="2548528"/>
            <a:ext cx="1440196" cy="628796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质  变</a:t>
            </a:r>
          </a:p>
        </p:txBody>
      </p:sp>
      <p:sp>
        <p:nvSpPr>
          <p:cNvPr id="51205" name="Line 4"/>
          <p:cNvSpPr>
            <a:spLocks noChangeShapeType="1"/>
          </p:cNvSpPr>
          <p:nvPr/>
        </p:nvSpPr>
        <p:spPr bwMode="auto">
          <a:xfrm>
            <a:off x="5032128" y="1795879"/>
            <a:ext cx="137191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b="1">
              <a:latin typeface="+mn-ea"/>
            </a:endParaRPr>
          </a:p>
        </p:txBody>
      </p:sp>
      <p:sp>
        <p:nvSpPr>
          <p:cNvPr id="51206" name="Line 5"/>
          <p:cNvSpPr>
            <a:spLocks noChangeShapeType="1"/>
          </p:cNvSpPr>
          <p:nvPr/>
        </p:nvSpPr>
        <p:spPr bwMode="auto">
          <a:xfrm>
            <a:off x="5032128" y="2862926"/>
            <a:ext cx="137191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b="1">
              <a:latin typeface="+mn-ea"/>
            </a:endParaRPr>
          </a:p>
        </p:txBody>
      </p:sp>
      <p:sp>
        <p:nvSpPr>
          <p:cNvPr id="51207" name="Rectangle 6"/>
          <p:cNvSpPr>
            <a:spLocks noChangeArrowheads="1"/>
          </p:cNvSpPr>
          <p:nvPr/>
        </p:nvSpPr>
        <p:spPr bwMode="auto">
          <a:xfrm>
            <a:off x="917575" y="3591757"/>
            <a:ext cx="10744199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    无限集合无法用确切的个数来描述，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因此，无限集合有许多有限集合所没有的一些特征，而有限集合的一些特征也不能任意推广到无限集合中去，即使有的能推广，也要做某些意义上的修改。</a:t>
            </a:r>
          </a:p>
        </p:txBody>
      </p:sp>
      <p:sp>
        <p:nvSpPr>
          <p:cNvPr id="51208" name="Rectangle 7"/>
          <p:cNvSpPr>
            <a:spLocks noChangeArrowheads="1"/>
          </p:cNvSpPr>
          <p:nvPr/>
        </p:nvSpPr>
        <p:spPr bwMode="auto">
          <a:xfrm>
            <a:off x="3355340" y="1457663"/>
            <a:ext cx="1107996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有限集</a:t>
            </a:r>
          </a:p>
        </p:txBody>
      </p:sp>
      <p:sp>
        <p:nvSpPr>
          <p:cNvPr id="51209" name="Rectangle 8"/>
          <p:cNvSpPr>
            <a:spLocks noChangeArrowheads="1"/>
          </p:cNvSpPr>
          <p:nvPr/>
        </p:nvSpPr>
        <p:spPr bwMode="auto">
          <a:xfrm>
            <a:off x="6604117" y="1457663"/>
            <a:ext cx="1583104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无限集</a:t>
            </a:r>
          </a:p>
        </p:txBody>
      </p:sp>
      <p:sp>
        <p:nvSpPr>
          <p:cNvPr id="51210" name="Rectangle 9"/>
          <p:cNvSpPr>
            <a:spLocks noChangeArrowheads="1"/>
          </p:cNvSpPr>
          <p:nvPr/>
        </p:nvSpPr>
        <p:spPr bwMode="auto">
          <a:xfrm>
            <a:off x="3355340" y="2524710"/>
            <a:ext cx="2019767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量  变</a:t>
            </a:r>
          </a:p>
        </p:txBody>
      </p:sp>
    </p:spTree>
    <p:extLst>
      <p:ext uri="{BB962C8B-B14F-4D97-AF65-F5344CB8AC3E}">
        <p14:creationId xmlns:p14="http://schemas.microsoft.com/office/powerpoint/2010/main" val="1326919002"/>
      </p:ext>
    </p:extLst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build="p" autoUpdateAnimBg="0"/>
      <p:bldP spid="51207" grpId="0" autoUpdateAnimBg="0"/>
      <p:bldP spid="51208" grpId="0" autoUpdateAnimBg="0"/>
      <p:bldP spid="51209" grpId="0" autoUpdateAnimBg="0"/>
      <p:bldP spid="51210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2775" y="1197252"/>
            <a:ext cx="10972800" cy="475248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问题 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集合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A={1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…}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与集合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B={1</a:t>
            </a:r>
            <a:r>
              <a:rPr lang="en-US" altLang="zh-CN" baseline="320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aseline="320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baseline="320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…}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哪个集合的元素更多？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引入 </a:t>
            </a:r>
            <a:r>
              <a:rPr lang="zh-CN" altLang="en-US" dirty="0">
                <a:solidFill>
                  <a:srgbClr val="CC00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自然数集合</a:t>
            </a:r>
          </a:p>
          <a:p>
            <a:pPr marL="0" indent="0">
              <a:buNone/>
            </a:pP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二十世纪初，集合成为数学的基本概念之后，由冯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诺依曼（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Von Neumann </a:t>
            </a:r>
            <a:r>
              <a:rPr lang="en-US" altLang="zh-CN" sz="2000" dirty="0">
                <a:sym typeface="Symbol" panose="05050102010706020507" pitchFamily="18" charset="2"/>
              </a:rPr>
              <a:t>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）用集合的方式来定义自然数取得了成功，提出了用序列</a:t>
            </a:r>
            <a:r>
              <a:rPr lang="en-US" altLang="zh-CN" i="1" dirty="0">
                <a:sym typeface="Symbol" panose="05050102010706020507" pitchFamily="18" charset="2"/>
              </a:rPr>
              <a:t>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{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}}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{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}, {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{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}}}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······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来定义自然数。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+mn-ea"/>
                <a:ea typeface="+mn-ea"/>
              </a:rPr>
              <a:t>1.4.1  </a:t>
            </a:r>
            <a:r>
              <a:rPr lang="zh-CN" altLang="en-US" b="1" dirty="0">
                <a:latin typeface="+mn-ea"/>
                <a:ea typeface="+mn-ea"/>
              </a:rPr>
              <a:t>可数集</a:t>
            </a:r>
          </a:p>
        </p:txBody>
      </p:sp>
    </p:spTree>
    <p:extLst>
      <p:ext uri="{BB962C8B-B14F-4D97-AF65-F5344CB8AC3E}">
        <p14:creationId xmlns:p14="http://schemas.microsoft.com/office/powerpoint/2010/main" val="3607599130"/>
      </p:ext>
    </p:extLst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自然数</a:t>
            </a:r>
            <a:r>
              <a:rPr lang="en-US" altLang="zh-CN"/>
              <a:t>N</a:t>
            </a:r>
            <a:r>
              <a:rPr lang="zh-CN" altLang="en-US"/>
              <a:t>的定义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22375" y="1067594"/>
            <a:ext cx="9372600" cy="5216145"/>
          </a:xfrm>
        </p:spPr>
        <p:txBody>
          <a:bodyPr>
            <a:normAutofit lnSpcReduction="10000"/>
          </a:bodyPr>
          <a:lstStyle/>
          <a:p>
            <a:pPr marL="609722" indent="-609722">
              <a:spcBef>
                <a:spcPct val="1500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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 marL="609722" indent="-609722">
              <a:spcBef>
                <a:spcPct val="1500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若</a:t>
            </a:r>
            <a:r>
              <a:rPr lang="en-US" altLang="zh-CN" dirty="0" err="1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nN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′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n{n}N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marL="609722" indent="-609722">
              <a:spcBef>
                <a:spcPct val="15000"/>
              </a:spcBef>
              <a:buNone/>
            </a:pPr>
            <a:r>
              <a:rPr lang="zh-CN" altLang="en-US" dirty="0">
                <a:solidFill>
                  <a:srgbClr val="7030A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也即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0: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i="1" dirty="0">
                <a:sym typeface="Symbol" panose="05050102010706020507" pitchFamily="18" charset="2"/>
              </a:rPr>
              <a:t> 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 marL="609722" indent="-609722">
              <a:spcBef>
                <a:spcPct val="15000"/>
              </a:spcBef>
              <a:buClr>
                <a:srgbClr val="FF9900"/>
              </a:buClr>
              <a:buNone/>
            </a:pP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  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1: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{0}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 marL="609722" indent="-609722">
              <a:spcBef>
                <a:spcPct val="15000"/>
              </a:spcBef>
              <a:buClr>
                <a:srgbClr val="FF9900"/>
              </a:buClr>
              <a:buNone/>
            </a:pP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  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2: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,{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}}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{0,1}</a:t>
            </a:r>
          </a:p>
          <a:p>
            <a:pPr marL="609722" indent="-609722">
              <a:spcBef>
                <a:spcPct val="15000"/>
              </a:spcBef>
              <a:buClr>
                <a:srgbClr val="FF9900"/>
              </a:buClr>
              <a:buNone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    ...</a:t>
            </a:r>
          </a:p>
          <a:p>
            <a:pPr marL="609722" indent="-609722">
              <a:spcBef>
                <a:spcPct val="15000"/>
              </a:spcBef>
              <a:buClr>
                <a:srgbClr val="FF9900"/>
              </a:buClr>
              <a:buNone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   n: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{0,1,2,3,...n-1}</a:t>
            </a:r>
          </a:p>
          <a:p>
            <a:pPr marL="609722" indent="-609722">
              <a:spcBef>
                <a:spcPct val="15000"/>
              </a:spcBef>
              <a:buClr>
                <a:srgbClr val="FF9900"/>
              </a:buClr>
              <a:buNone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      ...</a:t>
            </a:r>
          </a:p>
          <a:p>
            <a:pPr marL="609722" indent="-609722">
              <a:spcBef>
                <a:spcPct val="15000"/>
              </a:spcBef>
              <a:buNone/>
            </a:pP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故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{0,1,2,3,...,n,...}</a:t>
            </a:r>
            <a:endParaRPr lang="zh-CN" altLang="en-US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73878008"/>
      </p:ext>
    </p:extLst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3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3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3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build="p" autoUpdateAnimBg="0" advAuto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</a:t>
            </a:r>
            <a:r>
              <a:rPr lang="zh-CN" altLang="en-US" dirty="0"/>
              <a:t>可数集的定义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942" y="1448594"/>
            <a:ext cx="11107647" cy="240344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dirty="0">
                <a:solidFill>
                  <a:srgbClr val="C00000"/>
                </a:solidFill>
              </a:rPr>
              <a:t>定义</a:t>
            </a:r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1.7</a:t>
            </a:r>
            <a:r>
              <a:rPr lang="en-US" altLang="zh-CN" dirty="0">
                <a:solidFill>
                  <a:srgbClr val="C00000"/>
                </a:solidFill>
              </a:rPr>
              <a:t>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是两个集合，若在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之间存在</a:t>
            </a:r>
            <a:r>
              <a:rPr lang="en-US" altLang="zh-CN" dirty="0">
                <a:solidFill>
                  <a:srgbClr val="0000FF"/>
                </a:solidFill>
              </a:rPr>
              <a:t>1-1</a:t>
            </a:r>
            <a:r>
              <a:rPr lang="zh-CN" altLang="en-US" dirty="0">
                <a:solidFill>
                  <a:srgbClr val="0000FF"/>
                </a:solidFill>
              </a:rPr>
              <a:t>对应</a:t>
            </a:r>
            <a:r>
              <a:rPr lang="zh-CN" altLang="en-US" dirty="0"/>
              <a:t>关系：</a:t>
            </a:r>
          </a:p>
          <a:p>
            <a:pPr marL="0" indent="0" algn="ctr">
              <a:buNone/>
              <a:defRPr/>
            </a:pPr>
            <a:r>
              <a:rPr lang="el-GR" altLang="en-US" dirty="0"/>
              <a:t>ψ</a:t>
            </a:r>
            <a:r>
              <a:rPr lang="zh-CN" altLang="en-US" dirty="0"/>
              <a:t>：</a:t>
            </a:r>
            <a:r>
              <a:rPr lang="en-US" altLang="zh-CN" dirty="0"/>
              <a:t>A→B</a:t>
            </a:r>
            <a:endParaRPr lang="el-GR" altLang="en-US" dirty="0"/>
          </a:p>
          <a:p>
            <a:pPr marL="0" indent="0">
              <a:buNone/>
              <a:defRPr/>
            </a:pPr>
            <a:r>
              <a:rPr lang="zh-CN" altLang="en-US" dirty="0"/>
              <a:t>则称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>
                <a:solidFill>
                  <a:srgbClr val="3333FF"/>
                </a:solidFill>
              </a:rPr>
              <a:t>等势</a:t>
            </a:r>
            <a:r>
              <a:rPr lang="en-US" altLang="zh-CN" dirty="0"/>
              <a:t>(Equipotent)</a:t>
            </a:r>
            <a:r>
              <a:rPr lang="zh-CN" altLang="en-US" dirty="0"/>
              <a:t>，记为：</a:t>
            </a:r>
            <a:r>
              <a:rPr lang="en-US" altLang="zh-CN" dirty="0">
                <a:solidFill>
                  <a:srgbClr val="FF3300"/>
                </a:solidFill>
              </a:rPr>
              <a:t>A</a:t>
            </a:r>
            <a:r>
              <a:rPr lang="en-US" altLang="zh-CN" dirty="0">
                <a:solidFill>
                  <a:srgbClr val="FF3300"/>
                </a:solidFill>
                <a:sym typeface="Symbol" panose="05050102010706020507" pitchFamily="18" charset="2"/>
              </a:rPr>
              <a:t></a:t>
            </a:r>
            <a:r>
              <a:rPr lang="en-US" altLang="zh-CN" dirty="0">
                <a:solidFill>
                  <a:srgbClr val="FF3300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1880069" y="4110315"/>
            <a:ext cx="5670275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320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20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801" dirty="0">
                <a:solidFill>
                  <a:srgbClr val="C00000"/>
                </a:solidFill>
                <a:latin typeface="+mn-ea"/>
                <a:ea typeface="+mn-ea"/>
              </a:rPr>
              <a:t>注意</a:t>
            </a:r>
            <a:r>
              <a:rPr lang="zh-CN" altLang="en-US" sz="2801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lang="zh-CN" altLang="en-US" sz="2801" dirty="0">
                <a:solidFill>
                  <a:srgbClr val="0000CC"/>
                </a:solidFill>
                <a:latin typeface="+mn-ea"/>
                <a:ea typeface="+mn-ea"/>
              </a:rPr>
              <a:t>若</a:t>
            </a: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</a:rPr>
              <a:t>A</a:t>
            </a:r>
            <a:r>
              <a:rPr lang="zh-CN" altLang="en-US" sz="2801" dirty="0">
                <a:solidFill>
                  <a:srgbClr val="0000CC"/>
                </a:solidFill>
                <a:latin typeface="+mn-ea"/>
                <a:ea typeface="+mn-ea"/>
              </a:rPr>
              <a:t>＝</a:t>
            </a: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</a:rPr>
              <a:t>B</a:t>
            </a:r>
            <a:r>
              <a:rPr lang="zh-CN" altLang="en-US" sz="2801" dirty="0">
                <a:solidFill>
                  <a:srgbClr val="0000CC"/>
                </a:solidFill>
                <a:latin typeface="+mn-ea"/>
                <a:ea typeface="+mn-ea"/>
              </a:rPr>
              <a:t>，则 </a:t>
            </a: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</a:rPr>
              <a:t>A</a:t>
            </a: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  <a:sym typeface="Symbol" panose="05050102010706020507" pitchFamily="18" charset="2"/>
              </a:rPr>
              <a:t></a:t>
            </a: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</a:rPr>
              <a:t>B</a:t>
            </a:r>
            <a:r>
              <a:rPr lang="zh-CN" altLang="en-US" sz="2801" dirty="0">
                <a:solidFill>
                  <a:srgbClr val="0000CC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54278" name="Rectangle 5"/>
          <p:cNvSpPr>
            <a:spLocks noChangeArrowheads="1"/>
          </p:cNvSpPr>
          <p:nvPr/>
        </p:nvSpPr>
        <p:spPr bwMode="auto">
          <a:xfrm>
            <a:off x="3158302" y="4953472"/>
            <a:ext cx="431106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3201" dirty="0">
                <a:solidFill>
                  <a:srgbClr val="0000CC"/>
                </a:solidFill>
                <a:latin typeface="+mn-ea"/>
                <a:ea typeface="+mn-ea"/>
              </a:rPr>
              <a:t> </a:t>
            </a:r>
            <a:r>
              <a:rPr lang="zh-CN" altLang="en-US" sz="2801" dirty="0">
                <a:solidFill>
                  <a:srgbClr val="0000CC"/>
                </a:solidFill>
                <a:latin typeface="+mn-ea"/>
                <a:ea typeface="+mn-ea"/>
              </a:rPr>
              <a:t>若</a:t>
            </a: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</a:rPr>
              <a:t>A</a:t>
            </a: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  <a:sym typeface="Symbol" panose="05050102010706020507" pitchFamily="18" charset="2"/>
              </a:rPr>
              <a:t></a:t>
            </a: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</a:rPr>
              <a:t>B</a:t>
            </a:r>
            <a:r>
              <a:rPr lang="zh-CN" altLang="en-US" sz="2801" dirty="0">
                <a:solidFill>
                  <a:srgbClr val="0000CC"/>
                </a:solidFill>
                <a:latin typeface="+mn-ea"/>
                <a:ea typeface="+mn-ea"/>
              </a:rPr>
              <a:t>，则 </a:t>
            </a: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</a:rPr>
              <a:t>A</a:t>
            </a:r>
            <a:r>
              <a:rPr lang="zh-CN" altLang="en-US" sz="2801" dirty="0">
                <a:solidFill>
                  <a:srgbClr val="0000CC"/>
                </a:solidFill>
                <a:latin typeface="+mn-ea"/>
                <a:ea typeface="+mn-ea"/>
              </a:rPr>
              <a:t>＝</a:t>
            </a: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</a:rPr>
              <a:t>B   </a:t>
            </a:r>
          </a:p>
        </p:txBody>
      </p:sp>
      <p:sp>
        <p:nvSpPr>
          <p:cNvPr id="54279" name="Text Box 6"/>
          <p:cNvSpPr txBox="1">
            <a:spLocks noChangeArrowheads="1"/>
          </p:cNvSpPr>
          <p:nvPr/>
        </p:nvSpPr>
        <p:spPr bwMode="auto">
          <a:xfrm>
            <a:off x="6767525" y="5039217"/>
            <a:ext cx="1792703" cy="565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1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801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×</a:t>
            </a:r>
            <a:r>
              <a:rPr lang="zh-CN" altLang="en-US" sz="2801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54280" name="Text Box 7"/>
          <p:cNvSpPr txBox="1">
            <a:spLocks noChangeArrowheads="1"/>
          </p:cNvSpPr>
          <p:nvPr/>
        </p:nvSpPr>
        <p:spPr bwMode="auto">
          <a:xfrm>
            <a:off x="6708775" y="4196060"/>
            <a:ext cx="1792702" cy="63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1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zh-CN" altLang="en-US" sz="3201">
                <a:solidFill>
                  <a:srgbClr val="FF0000"/>
                </a:solidFill>
                <a:latin typeface="+mn-ea"/>
                <a:ea typeface="+mn-ea"/>
              </a:rPr>
              <a:t>√</a:t>
            </a:r>
            <a:r>
              <a:rPr lang="zh-CN" altLang="en-US" sz="2801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511994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build="p" autoUpdateAnimBg="0" advAuto="0"/>
      <p:bldP spid="54277" grpId="0" autoUpdateAnimBg="0"/>
      <p:bldP spid="54278" grpId="0" autoUpdateAnimBg="0"/>
      <p:bldP spid="54279" grpId="0" autoUpdateAnimBg="0"/>
      <p:bldP spid="54280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latin typeface="+mn-ea"/>
                <a:ea typeface="+mn-ea"/>
              </a:rPr>
              <a:t>解题小贴士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71635" y="4111923"/>
            <a:ext cx="6481675" cy="461665"/>
          </a:xfrm>
          <a:prstGeom prst="rect">
            <a:avLst/>
          </a:prstGeom>
          <a:solidFill>
            <a:srgbClr val="99CC00">
              <a:alpha val="89999"/>
            </a:srgb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3200">
                <a:solidFill>
                  <a:srgbClr val="FF0000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给定集合是可数集的证明方法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74810" y="4572794"/>
            <a:ext cx="8524765" cy="1219200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txBody>
          <a:bodyPr anchor="ctr"/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找到一个使给定集合与自然数集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一一对应的关系即可。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771635" y="1314324"/>
            <a:ext cx="10515600" cy="1246687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990947" indent="-381133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zh-CN" altLang="en-US">
                <a:solidFill>
                  <a:srgbClr val="C00000"/>
                </a:solidFill>
                <a:latin typeface="+mn-ea"/>
                <a:ea typeface="+mn-ea"/>
              </a:rPr>
              <a:t>定义</a:t>
            </a:r>
            <a:r>
              <a:rPr lang="en-US" altLang="zh-CN">
                <a:solidFill>
                  <a:srgbClr val="C00000"/>
                </a:solidFill>
                <a:latin typeface="+mn-ea"/>
                <a:ea typeface="+mn-ea"/>
              </a:rPr>
              <a:t>1.8  </a:t>
            </a:r>
            <a:r>
              <a:rPr lang="zh-CN" altLang="en-US">
                <a:solidFill>
                  <a:schemeClr val="tx1"/>
                </a:solidFill>
                <a:latin typeface="+mn-ea"/>
                <a:ea typeface="+mn-ea"/>
              </a:rPr>
              <a:t>凡是</a:t>
            </a:r>
            <a:r>
              <a:rPr lang="zh-CN" altLang="en-US">
                <a:solidFill>
                  <a:srgbClr val="3333FF"/>
                </a:solidFill>
                <a:latin typeface="+mn-ea"/>
                <a:ea typeface="+mn-ea"/>
              </a:rPr>
              <a:t>与自然数集等势</a:t>
            </a:r>
            <a:r>
              <a:rPr lang="zh-CN" altLang="en-US">
                <a:solidFill>
                  <a:schemeClr val="tx1"/>
                </a:solidFill>
                <a:latin typeface="+mn-ea"/>
                <a:ea typeface="+mn-ea"/>
              </a:rPr>
              <a:t>的集合，均称为</a:t>
            </a:r>
            <a:r>
              <a:rPr lang="zh-CN" altLang="en-US">
                <a:solidFill>
                  <a:srgbClr val="C00000"/>
                </a:solidFill>
                <a:latin typeface="+mn-ea"/>
                <a:ea typeface="+mn-ea"/>
              </a:rPr>
              <a:t>可数集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>
                <a:solidFill>
                  <a:schemeClr val="tx1"/>
                </a:solidFill>
                <a:latin typeface="+mn-ea"/>
                <a:ea typeface="+mn-ea"/>
              </a:rPr>
              <a:t>可列集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t>)(Countable Set )</a:t>
            </a:r>
            <a:r>
              <a:rPr lang="zh-CN" altLang="en-US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r>
              <a:rPr lang="zh-CN" altLang="en-US">
                <a:solidFill>
                  <a:srgbClr val="C00000"/>
                </a:solidFill>
                <a:latin typeface="+mn-ea"/>
                <a:ea typeface="+mn-ea"/>
              </a:rPr>
              <a:t>可数集的基数记为</a:t>
            </a:r>
            <a:r>
              <a:rPr lang="he-IL" altLang="en-US">
                <a:solidFill>
                  <a:srgbClr val="C00000"/>
                </a:solidFill>
                <a:latin typeface="+mn-ea"/>
                <a:ea typeface="+mn-ea"/>
                <a:cs typeface="Times New Roman (Hebrew)" charset="-79"/>
                <a:sym typeface="Symbol" panose="05050102010706020507" pitchFamily="18" charset="2"/>
              </a:rPr>
              <a:t>א</a:t>
            </a:r>
            <a:r>
              <a:rPr lang="en-US" altLang="zh-CN" baseline="-25000">
                <a:solidFill>
                  <a:srgbClr val="C00000"/>
                </a:solidFill>
                <a:latin typeface="+mn-ea"/>
                <a:ea typeface="+mn-ea"/>
                <a:cs typeface="Times New Roman (Hebrew)" charset="-79"/>
                <a:sym typeface="Symbol" panose="05050102010706020507" pitchFamily="18" charset="2"/>
              </a:rPr>
              <a:t>0</a:t>
            </a:r>
            <a:r>
              <a:rPr lang="zh-CN" altLang="en-US">
                <a:solidFill>
                  <a:srgbClr val="C00000"/>
                </a:solidFill>
                <a:latin typeface="+mn-ea"/>
                <a:ea typeface="+mn-ea"/>
                <a:cs typeface="Times New Roman (Hebrew)" charset="-79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  <a:cs typeface="Times New Roman (Hebrew)" charset="-79"/>
                <a:sym typeface="Symbol" panose="05050102010706020507" pitchFamily="18" charset="2"/>
              </a:rPr>
              <a:t>(</a:t>
            </a:r>
            <a:r>
              <a:rPr lang="zh-CN" altLang="en-US">
                <a:solidFill>
                  <a:schemeClr val="tx1"/>
                </a:solidFill>
                <a:latin typeface="+mn-ea"/>
                <a:ea typeface="+mn-ea"/>
                <a:cs typeface="Times New Roman (Hebrew)" charset="-79"/>
                <a:sym typeface="Symbol" panose="05050102010706020507" pitchFamily="18" charset="2"/>
              </a:rPr>
              <a:t>读作阿列夫零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  <a:cs typeface="Times New Roman (Hebrew)" charset="-79"/>
                <a:sym typeface="Symbol" panose="05050102010706020507" pitchFamily="18" charset="2"/>
              </a:rPr>
              <a:t>) </a:t>
            </a:r>
            <a:r>
              <a:rPr lang="zh-CN" altLang="en-US">
                <a:solidFill>
                  <a:schemeClr val="tx1"/>
                </a:solidFill>
                <a:latin typeface="+mn-ea"/>
                <a:ea typeface="+mn-ea"/>
                <a:cs typeface="Times New Roman (Hebrew)" charset="-79"/>
                <a:sym typeface="Symbol" panose="05050102010706020507" pitchFamily="18" charset="2"/>
              </a:rPr>
              <a:t>。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  <a:cs typeface="Times New Roman (Hebrew)" charset="-79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3086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  <p:bldP spid="7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1.6</a:t>
            </a:r>
            <a:endParaRPr lang="zh-CN" altLang="en-US" dirty="0"/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20969" y="3501704"/>
            <a:ext cx="7863120" cy="3010014"/>
          </a:xfrm>
          <a:noFill/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 在</a:t>
            </a:r>
            <a:r>
              <a:rPr lang="en-US" altLang="zh-CN" dirty="0">
                <a:solidFill>
                  <a:schemeClr val="tx1"/>
                </a:solidFill>
              </a:rPr>
              <a:t>E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之间建立</a:t>
            </a:r>
            <a:r>
              <a:rPr lang="en-US" altLang="zh-CN" dirty="0">
                <a:solidFill>
                  <a:schemeClr val="tx1"/>
                </a:solidFill>
              </a:rPr>
              <a:t>1-1</a:t>
            </a:r>
            <a:r>
              <a:rPr lang="zh-CN" altLang="en-US" dirty="0">
                <a:solidFill>
                  <a:schemeClr val="tx1"/>
                </a:solidFill>
              </a:rPr>
              <a:t>对应的关系 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N→E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如下：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CC"/>
                </a:solidFill>
              </a:rPr>
              <a:t>	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N     0  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1   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3    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...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   n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CC"/>
                </a:solidFill>
              </a:rPr>
              <a:t>...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CC"/>
                </a:solidFill>
                <a:sym typeface="Symbol" panose="05050102010706020507" pitchFamily="18" charset="2"/>
              </a:rPr>
              <a:t>              </a:t>
            </a:r>
            <a:r>
              <a:rPr lang="en-US" altLang="zh-CN" dirty="0">
                <a:solidFill>
                  <a:srgbClr val="0000CC"/>
                </a:solidFill>
                <a:sym typeface="Symbol" panose="05050102010706020507" pitchFamily="18" charset="2"/>
              </a:rPr>
              <a:t>f</a:t>
            </a:r>
            <a:r>
              <a:rPr lang="zh-CN" altLang="en-US" dirty="0">
                <a:solidFill>
                  <a:srgbClr val="0000CC"/>
                </a:solidFill>
                <a:sym typeface="Symbol" panose="05050102010706020507" pitchFamily="18" charset="2"/>
              </a:rPr>
              <a:t>       ↓   ↓    ↓    ↓      ↓ ...</a:t>
            </a:r>
            <a:r>
              <a:rPr lang="en-US" altLang="zh-CN" dirty="0">
                <a:solidFill>
                  <a:srgbClr val="0000CC"/>
                </a:solidFill>
                <a:sym typeface="Symbol" panose="05050102010706020507" pitchFamily="18" charset="2"/>
              </a:rPr>
              <a:t>     </a:t>
            </a:r>
            <a:r>
              <a:rPr lang="zh-CN" altLang="en-US" dirty="0">
                <a:solidFill>
                  <a:srgbClr val="0000CC"/>
                </a:solidFill>
                <a:sym typeface="Symbol" panose="05050102010706020507" pitchFamily="18" charset="2"/>
              </a:rPr>
              <a:t>↓</a:t>
            </a:r>
            <a:r>
              <a:rPr lang="en-US" altLang="zh-CN" dirty="0">
                <a:solidFill>
                  <a:srgbClr val="0000CC"/>
                </a:solidFill>
                <a:sym typeface="Symbol" panose="05050102010706020507" pitchFamily="18" charset="2"/>
              </a:rPr>
              <a:t>  ...</a:t>
            </a:r>
            <a:r>
              <a:rPr lang="zh-CN" altLang="en-US" dirty="0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endParaRPr lang="zh-CN" altLang="en-US" dirty="0">
              <a:solidFill>
                <a:srgbClr val="0000CC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	E</a:t>
            </a:r>
            <a:r>
              <a:rPr lang="en-US" altLang="zh-CN" baseline="30000" dirty="0">
                <a:solidFill>
                  <a:srgbClr val="0000CC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6   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8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...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2n+2 </a:t>
            </a:r>
            <a:r>
              <a:rPr lang="en-US" altLang="zh-CN" dirty="0">
                <a:solidFill>
                  <a:srgbClr val="0000CC"/>
                </a:solidFill>
              </a:rPr>
              <a:t>...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C00000"/>
                </a:solidFill>
              </a:rPr>
              <a:t>      所以，</a:t>
            </a:r>
            <a:r>
              <a:rPr lang="en-US" altLang="zh-CN" dirty="0">
                <a:solidFill>
                  <a:srgbClr val="C00000"/>
                </a:solidFill>
              </a:rPr>
              <a:t>E</a:t>
            </a:r>
            <a:r>
              <a:rPr lang="en-US" altLang="zh-CN" baseline="30000" dirty="0">
                <a:solidFill>
                  <a:srgbClr val="C00000"/>
                </a:solidFill>
              </a:rPr>
              <a:t>+</a:t>
            </a:r>
            <a:r>
              <a:rPr lang="zh-CN" altLang="en-US" dirty="0">
                <a:solidFill>
                  <a:srgbClr val="C00000"/>
                </a:solidFill>
              </a:rPr>
              <a:t>是可数集。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17575" y="991394"/>
            <a:ext cx="7707509" cy="2510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8" tIns="36008" rIns="36008" bIns="36008">
            <a:spAutoFit/>
          </a:bodyPr>
          <a:lstStyle>
            <a:lvl1pPr marL="685800" indent="-6858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1.6  </a:t>
            </a:r>
            <a:r>
              <a:rPr lang="zh-CN" altLang="zh-CN" sz="2400" dirty="0">
                <a:latin typeface="+mn-ea"/>
                <a:ea typeface="+mn-ea"/>
              </a:rPr>
              <a:t>试证明</a:t>
            </a:r>
            <a:r>
              <a:rPr lang="zh-CN" altLang="en-US" sz="2400" dirty="0">
                <a:latin typeface="+mn-ea"/>
                <a:ea typeface="+mn-ea"/>
              </a:rPr>
              <a:t>下列集合都是可数集：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+mn-ea"/>
                <a:ea typeface="+mn-ea"/>
              </a:rPr>
              <a:t>   （</a:t>
            </a:r>
            <a:r>
              <a:rPr lang="en-US" altLang="zh-CN" sz="2400" dirty="0">
                <a:latin typeface="+mn-ea"/>
                <a:ea typeface="+mn-ea"/>
              </a:rPr>
              <a:t>1)E</a:t>
            </a:r>
            <a:r>
              <a:rPr lang="en-US" altLang="zh-CN" sz="2400" baseline="30000" dirty="0">
                <a:latin typeface="+mn-ea"/>
                <a:ea typeface="+mn-ea"/>
              </a:rPr>
              <a:t>+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</a:t>
            </a:r>
            <a:r>
              <a:rPr lang="en-US" altLang="zh-CN" sz="2400" dirty="0" err="1">
                <a:latin typeface="+mn-ea"/>
                <a:ea typeface="+mn-ea"/>
              </a:rPr>
              <a:t>x|x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N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是正偶数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};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  <a:ea typeface="+mn-ea"/>
              </a:rPr>
              <a:t>   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2)P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</a:t>
            </a:r>
            <a:r>
              <a:rPr lang="en-US" altLang="zh-CN" sz="2400" dirty="0" err="1">
                <a:latin typeface="+mn-ea"/>
                <a:ea typeface="+mn-ea"/>
              </a:rPr>
              <a:t>x|x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N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是素数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};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  <a:ea typeface="+mn-ea"/>
              </a:rPr>
              <a:t>   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3)</a:t>
            </a:r>
            <a:r>
              <a:rPr lang="zh-CN" altLang="en-US" sz="2400" dirty="0">
                <a:latin typeface="+mn-ea"/>
                <a:ea typeface="+mn-ea"/>
              </a:rPr>
              <a:t>有理数集合</a:t>
            </a:r>
            <a:r>
              <a:rPr lang="en-US" altLang="zh-CN" sz="2400" dirty="0">
                <a:latin typeface="+mn-ea"/>
                <a:ea typeface="+mn-ea"/>
              </a:rPr>
              <a:t>Q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7575" y="363716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ea"/>
              </a:rPr>
              <a:t>证明</a:t>
            </a:r>
          </a:p>
        </p:txBody>
      </p:sp>
    </p:spTree>
    <p:extLst>
      <p:ext uri="{BB962C8B-B14F-4D97-AF65-F5344CB8AC3E}">
        <p14:creationId xmlns:p14="http://schemas.microsoft.com/office/powerpoint/2010/main" val="10953696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build="p" autoUpdateAnimBg="0" advAuto="0"/>
      <p:bldP spid="5" grpId="0" build="p" autoUpdateAnimBg="0"/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1.6</a:t>
            </a:r>
            <a:r>
              <a:rPr lang="zh-CN" altLang="en-US" dirty="0"/>
              <a:t>（续）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9975" y="1143794"/>
            <a:ext cx="7393111" cy="364256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）在</a:t>
            </a:r>
            <a:r>
              <a:rPr lang="en-US" altLang="zh-CN" dirty="0"/>
              <a:t>P</a:t>
            </a:r>
            <a:r>
              <a:rPr lang="zh-CN" altLang="en-US" dirty="0"/>
              <a:t>与</a:t>
            </a:r>
            <a:r>
              <a:rPr lang="en-US" altLang="zh-CN" dirty="0"/>
              <a:t>N</a:t>
            </a:r>
            <a:r>
              <a:rPr lang="zh-CN" altLang="en-US" dirty="0"/>
              <a:t>之间建立</a:t>
            </a:r>
            <a:r>
              <a:rPr lang="en-US" altLang="zh-CN" dirty="0"/>
              <a:t>1-1</a:t>
            </a:r>
            <a:r>
              <a:rPr lang="zh-CN" altLang="en-US" dirty="0"/>
              <a:t>对应的关系</a:t>
            </a:r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/>
              <a:t>N→P</a:t>
            </a:r>
            <a:r>
              <a:rPr lang="zh-CN" altLang="en-US" dirty="0"/>
              <a:t>如下：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CC"/>
                </a:solidFill>
              </a:rPr>
              <a:t>	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N     0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2  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3 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...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ｆ     ↓   ↓    ↓   ↓    ↓   ...</a:t>
            </a:r>
            <a:endParaRPr lang="zh-CN" altLang="en-US" dirty="0">
              <a:solidFill>
                <a:srgbClr val="0000CC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	P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3  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5  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7</a:t>
            </a:r>
            <a:r>
              <a:rPr lang="zh-CN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0000CC"/>
                </a:solidFill>
                <a:cs typeface="Times New Roman" panose="02020603050405020304" pitchFamily="18" charset="0"/>
              </a:rPr>
              <a:t>11  ...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C00000"/>
                </a:solidFill>
              </a:rPr>
              <a:t>所以，</a:t>
            </a:r>
            <a:r>
              <a:rPr lang="en-US" altLang="zh-CN" dirty="0">
                <a:solidFill>
                  <a:srgbClr val="C00000"/>
                </a:solidFill>
              </a:rPr>
              <a:t>P</a:t>
            </a:r>
            <a:r>
              <a:rPr lang="zh-CN" altLang="en-US" dirty="0">
                <a:solidFill>
                  <a:srgbClr val="C00000"/>
                </a:solidFill>
              </a:rPr>
              <a:t>是可数集。</a:t>
            </a:r>
          </a:p>
        </p:txBody>
      </p:sp>
    </p:spTree>
    <p:extLst>
      <p:ext uri="{BB962C8B-B14F-4D97-AF65-F5344CB8AC3E}">
        <p14:creationId xmlns:p14="http://schemas.microsoft.com/office/powerpoint/2010/main" val="113451357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0374" y="1655752"/>
            <a:ext cx="11737975" cy="39109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…  -3/1</a:t>
            </a:r>
            <a:r>
              <a:rPr lang="en-US" altLang="zh-CN" baseline="30000" dirty="0">
                <a:cs typeface="Times New Roman" panose="02020603050405020304" pitchFamily="18" charset="0"/>
              </a:rPr>
              <a:t>[18]       </a:t>
            </a:r>
            <a:r>
              <a:rPr lang="en-US" altLang="zh-CN" dirty="0">
                <a:cs typeface="Times New Roman" panose="02020603050405020304" pitchFamily="18" charset="0"/>
              </a:rPr>
              <a:t>-2/1</a:t>
            </a:r>
            <a:r>
              <a:rPr lang="en-US" altLang="zh-CN" baseline="30000" dirty="0">
                <a:cs typeface="Times New Roman" panose="02020603050405020304" pitchFamily="18" charset="0"/>
              </a:rPr>
              <a:t>[5]         </a:t>
            </a:r>
            <a:r>
              <a:rPr lang="en-US" altLang="zh-CN" dirty="0">
                <a:cs typeface="Times New Roman" panose="02020603050405020304" pitchFamily="18" charset="0"/>
              </a:rPr>
              <a:t>-1/1</a:t>
            </a:r>
            <a:r>
              <a:rPr lang="en-US" altLang="zh-CN" baseline="30000" dirty="0">
                <a:cs typeface="Times New Roman" panose="02020603050405020304" pitchFamily="18" charset="0"/>
              </a:rPr>
              <a:t>[4]       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0/1</a:t>
            </a:r>
            <a:r>
              <a:rPr lang="en-US" altLang="zh-CN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[0]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dirty="0">
                <a:cs typeface="Times New Roman" panose="02020603050405020304" pitchFamily="18" charset="0"/>
              </a:rPr>
              <a:t>1/1</a:t>
            </a:r>
            <a:r>
              <a:rPr lang="en-US" altLang="zh-CN" baseline="30000" dirty="0">
                <a:cs typeface="Times New Roman" panose="02020603050405020304" pitchFamily="18" charset="0"/>
              </a:rPr>
              <a:t>[1]    </a:t>
            </a:r>
            <a:r>
              <a:rPr lang="en-US" altLang="zh-CN" dirty="0">
                <a:cs typeface="Times New Roman" panose="02020603050405020304" pitchFamily="18" charset="0"/>
              </a:rPr>
              <a:t>   2/1</a:t>
            </a:r>
            <a:r>
              <a:rPr lang="en-US" altLang="zh-CN" baseline="30000" dirty="0">
                <a:cs typeface="Times New Roman" panose="02020603050405020304" pitchFamily="18" charset="0"/>
              </a:rPr>
              <a:t>[10]</a:t>
            </a:r>
            <a:r>
              <a:rPr lang="en-US" altLang="zh-CN" dirty="0">
                <a:cs typeface="Times New Roman" panose="02020603050405020304" pitchFamily="18" charset="0"/>
              </a:rPr>
              <a:t>      - 3/1</a:t>
            </a:r>
            <a:r>
              <a:rPr lang="en-US" altLang="zh-CN" baseline="30000" dirty="0">
                <a:cs typeface="Times New Roman" panose="02020603050405020304" pitchFamily="18" charset="0"/>
              </a:rPr>
              <a:t>[11]</a:t>
            </a:r>
            <a:r>
              <a:rPr lang="en-US" altLang="zh-CN" dirty="0">
                <a:cs typeface="Times New Roman" panose="02020603050405020304" pitchFamily="18" charset="0"/>
              </a:rPr>
              <a:t>…</a:t>
            </a:r>
          </a:p>
          <a:p>
            <a:pPr marL="0" indent="0">
              <a:buNone/>
            </a:pP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endParaRPr lang="en-US" altLang="zh-CN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…-3/2</a:t>
            </a:r>
            <a:r>
              <a:rPr lang="en-US" altLang="zh-CN" baseline="30000" dirty="0">
                <a:cs typeface="Times New Roman" panose="02020603050405020304" pitchFamily="18" charset="0"/>
              </a:rPr>
              <a:t>[17]            </a:t>
            </a:r>
            <a:r>
              <a:rPr lang="en-US" altLang="zh-CN" dirty="0">
                <a:cs typeface="Times New Roman" panose="02020603050405020304" pitchFamily="18" charset="0"/>
              </a:rPr>
              <a:t>-2/2        -1/2</a:t>
            </a:r>
            <a:r>
              <a:rPr lang="en-US" altLang="zh-CN" baseline="30000" dirty="0">
                <a:cs typeface="Times New Roman" panose="02020603050405020304" pitchFamily="18" charset="0"/>
              </a:rPr>
              <a:t>[3]    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dirty="0">
                <a:cs typeface="Times New Roman" panose="02020603050405020304" pitchFamily="18" charset="0"/>
              </a:rPr>
              <a:t>0/2       1/2</a:t>
            </a:r>
            <a:r>
              <a:rPr lang="en-US" altLang="zh-CN" baseline="30000" dirty="0">
                <a:cs typeface="Times New Roman" panose="02020603050405020304" pitchFamily="18" charset="0"/>
              </a:rPr>
              <a:t>[2]</a:t>
            </a:r>
            <a:r>
              <a:rPr lang="en-US" altLang="zh-CN" dirty="0">
                <a:cs typeface="Times New Roman" panose="02020603050405020304" pitchFamily="18" charset="0"/>
              </a:rPr>
              <a:t>       2/2       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dirty="0">
                <a:cs typeface="Times New Roman" panose="02020603050405020304" pitchFamily="18" charset="0"/>
              </a:rPr>
              <a:t>3/2</a:t>
            </a:r>
            <a:r>
              <a:rPr lang="en-US" altLang="zh-CN" baseline="30000" dirty="0">
                <a:cs typeface="Times New Roman" panose="02020603050405020304" pitchFamily="18" charset="0"/>
              </a:rPr>
              <a:t>[12]</a:t>
            </a:r>
            <a:r>
              <a:rPr lang="en-US" altLang="zh-CN" dirty="0">
                <a:cs typeface="Times New Roman" panose="02020603050405020304" pitchFamily="18" charset="0"/>
              </a:rPr>
              <a:t>…</a:t>
            </a:r>
          </a:p>
          <a:p>
            <a:pPr marL="0" indent="0">
              <a:buNone/>
            </a:pPr>
            <a:endParaRPr lang="en-US" altLang="zh-CN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… -3/3        -2/3</a:t>
            </a:r>
            <a:r>
              <a:rPr lang="en-US" altLang="zh-CN" baseline="30000" dirty="0">
                <a:cs typeface="Times New Roman" panose="02020603050405020304" pitchFamily="18" charset="0"/>
              </a:rPr>
              <a:t>[6]            </a:t>
            </a:r>
            <a:r>
              <a:rPr lang="en-US" altLang="zh-CN" dirty="0">
                <a:cs typeface="Times New Roman" panose="02020603050405020304" pitchFamily="18" charset="0"/>
              </a:rPr>
              <a:t>-1/3</a:t>
            </a:r>
            <a:r>
              <a:rPr lang="en-US" altLang="zh-CN" baseline="30000" dirty="0">
                <a:cs typeface="Times New Roman" panose="02020603050405020304" pitchFamily="18" charset="0"/>
              </a:rPr>
              <a:t>[7]            </a:t>
            </a:r>
            <a:r>
              <a:rPr lang="en-US" altLang="zh-CN" dirty="0">
                <a:cs typeface="Times New Roman" panose="02020603050405020304" pitchFamily="18" charset="0"/>
              </a:rPr>
              <a:t>0/3        1/3</a:t>
            </a:r>
            <a:r>
              <a:rPr lang="en-US" altLang="zh-CN" baseline="30000" dirty="0">
                <a:cs typeface="Times New Roman" panose="02020603050405020304" pitchFamily="18" charset="0"/>
              </a:rPr>
              <a:t>[8]</a:t>
            </a:r>
            <a:r>
              <a:rPr lang="en-US" altLang="zh-CN" dirty="0">
                <a:cs typeface="Times New Roman" panose="02020603050405020304" pitchFamily="18" charset="0"/>
              </a:rPr>
              <a:t>      2/3</a:t>
            </a:r>
            <a:r>
              <a:rPr lang="en-US" altLang="zh-CN" baseline="30000" dirty="0">
                <a:cs typeface="Times New Roman" panose="02020603050405020304" pitchFamily="18" charset="0"/>
              </a:rPr>
              <a:t>[9]</a:t>
            </a:r>
            <a:r>
              <a:rPr lang="en-US" altLang="zh-CN" dirty="0">
                <a:cs typeface="Times New Roman" panose="02020603050405020304" pitchFamily="18" charset="0"/>
              </a:rPr>
              <a:t>          3/3…</a:t>
            </a:r>
          </a:p>
          <a:p>
            <a:pPr marL="0" indent="0"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… -3/4</a:t>
            </a:r>
            <a:r>
              <a:rPr lang="en-US" altLang="zh-CN" baseline="30000" dirty="0">
                <a:cs typeface="Times New Roman" panose="02020603050405020304" pitchFamily="18" charset="0"/>
              </a:rPr>
              <a:t>[16]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dirty="0">
                <a:cs typeface="Times New Roman" panose="02020603050405020304" pitchFamily="18" charset="0"/>
              </a:rPr>
              <a:t>-2/4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dirty="0">
                <a:cs typeface="Times New Roman" panose="02020603050405020304" pitchFamily="18" charset="0"/>
              </a:rPr>
              <a:t>-1/4</a:t>
            </a:r>
            <a:r>
              <a:rPr lang="en-US" altLang="zh-CN" baseline="30000" dirty="0">
                <a:cs typeface="Times New Roman" panose="02020603050405020304" pitchFamily="18" charset="0"/>
              </a:rPr>
              <a:t>[15]         </a:t>
            </a:r>
            <a:r>
              <a:rPr lang="en-US" altLang="zh-CN" dirty="0">
                <a:cs typeface="Times New Roman" panose="02020603050405020304" pitchFamily="18" charset="0"/>
              </a:rPr>
              <a:t>0/4</a:t>
            </a:r>
            <a:r>
              <a:rPr lang="en-US" altLang="zh-CN" baseline="30000" dirty="0">
                <a:cs typeface="Times New Roman" panose="02020603050405020304" pitchFamily="18" charset="0"/>
              </a:rPr>
              <a:t>           </a:t>
            </a:r>
            <a:r>
              <a:rPr lang="en-US" altLang="zh-CN" dirty="0">
                <a:cs typeface="Times New Roman" panose="02020603050405020304" pitchFamily="18" charset="0"/>
              </a:rPr>
              <a:t>1/4</a:t>
            </a:r>
            <a:r>
              <a:rPr lang="en-US" altLang="zh-CN" baseline="30000" dirty="0">
                <a:cs typeface="Times New Roman" panose="02020603050405020304" pitchFamily="18" charset="0"/>
              </a:rPr>
              <a:t>[14]    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dirty="0">
                <a:cs typeface="Times New Roman" panose="02020603050405020304" pitchFamily="18" charset="0"/>
              </a:rPr>
              <a:t>2/4           3/4</a:t>
            </a:r>
            <a:r>
              <a:rPr lang="en-US" altLang="zh-CN" baseline="30000" dirty="0">
                <a:cs typeface="Times New Roman" panose="02020603050405020304" pitchFamily="18" charset="0"/>
              </a:rPr>
              <a:t>[13]</a:t>
            </a:r>
            <a:r>
              <a:rPr lang="en-US" altLang="zh-CN" dirty="0">
                <a:cs typeface="Times New Roman" panose="02020603050405020304" pitchFamily="18" charset="0"/>
              </a:rPr>
              <a:t>…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所以，有理数集合必是可数集。</a:t>
            </a:r>
          </a:p>
        </p:txBody>
      </p:sp>
      <p:sp>
        <p:nvSpPr>
          <p:cNvPr id="58373" name="Rectangle 4"/>
          <p:cNvSpPr>
            <a:spLocks noChangeArrowheads="1"/>
          </p:cNvSpPr>
          <p:nvPr/>
        </p:nvSpPr>
        <p:spPr bwMode="auto">
          <a:xfrm>
            <a:off x="6703142" y="1717388"/>
            <a:ext cx="535112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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74" name="Rectangle 5"/>
          <p:cNvSpPr>
            <a:spLocks noChangeArrowheads="1"/>
          </p:cNvSpPr>
          <p:nvPr/>
        </p:nvSpPr>
        <p:spPr bwMode="auto">
          <a:xfrm>
            <a:off x="8842304" y="2278811"/>
            <a:ext cx="398554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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75" name="Rectangle 6"/>
          <p:cNvSpPr>
            <a:spLocks noChangeArrowheads="1"/>
          </p:cNvSpPr>
          <p:nvPr/>
        </p:nvSpPr>
        <p:spPr bwMode="auto">
          <a:xfrm>
            <a:off x="8742011" y="3444102"/>
            <a:ext cx="508473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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76" name="Rectangle 7"/>
          <p:cNvSpPr>
            <a:spLocks noChangeArrowheads="1"/>
          </p:cNvSpPr>
          <p:nvPr/>
        </p:nvSpPr>
        <p:spPr bwMode="auto">
          <a:xfrm>
            <a:off x="7439018" y="2291217"/>
            <a:ext cx="398554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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77" name="Rectangle 8"/>
          <p:cNvSpPr>
            <a:spLocks noChangeArrowheads="1"/>
          </p:cNvSpPr>
          <p:nvPr/>
        </p:nvSpPr>
        <p:spPr bwMode="auto">
          <a:xfrm>
            <a:off x="4841799" y="2278638"/>
            <a:ext cx="398555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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78" name="Rectangle 9"/>
          <p:cNvSpPr>
            <a:spLocks noChangeArrowheads="1"/>
          </p:cNvSpPr>
          <p:nvPr/>
        </p:nvSpPr>
        <p:spPr bwMode="auto">
          <a:xfrm>
            <a:off x="3215020" y="3416177"/>
            <a:ext cx="398554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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79" name="Rectangle 10"/>
          <p:cNvSpPr>
            <a:spLocks noChangeArrowheads="1"/>
          </p:cNvSpPr>
          <p:nvPr/>
        </p:nvSpPr>
        <p:spPr bwMode="auto">
          <a:xfrm>
            <a:off x="3259892" y="2236621"/>
            <a:ext cx="398554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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80" name="Rectangle 11"/>
          <p:cNvSpPr>
            <a:spLocks noChangeArrowheads="1"/>
          </p:cNvSpPr>
          <p:nvPr/>
        </p:nvSpPr>
        <p:spPr bwMode="auto">
          <a:xfrm>
            <a:off x="6757177" y="5011152"/>
            <a:ext cx="535112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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81" name="Rectangle 12"/>
          <p:cNvSpPr>
            <a:spLocks noChangeArrowheads="1"/>
          </p:cNvSpPr>
          <p:nvPr/>
        </p:nvSpPr>
        <p:spPr bwMode="auto">
          <a:xfrm>
            <a:off x="2451766" y="5026772"/>
            <a:ext cx="535112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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82" name="Rectangle 13"/>
          <p:cNvSpPr>
            <a:spLocks noChangeArrowheads="1"/>
          </p:cNvSpPr>
          <p:nvPr/>
        </p:nvSpPr>
        <p:spPr bwMode="auto">
          <a:xfrm>
            <a:off x="1677985" y="2181027"/>
            <a:ext cx="398555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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83" name="Rectangle 14"/>
          <p:cNvSpPr>
            <a:spLocks noChangeArrowheads="1"/>
          </p:cNvSpPr>
          <p:nvPr/>
        </p:nvSpPr>
        <p:spPr bwMode="auto">
          <a:xfrm>
            <a:off x="10520365" y="3444102"/>
            <a:ext cx="427022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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84" name="Rectangle 15"/>
          <p:cNvSpPr>
            <a:spLocks noChangeArrowheads="1"/>
          </p:cNvSpPr>
          <p:nvPr/>
        </p:nvSpPr>
        <p:spPr bwMode="auto">
          <a:xfrm>
            <a:off x="10563702" y="4607106"/>
            <a:ext cx="398555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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85" name="Rectangle 16"/>
          <p:cNvSpPr>
            <a:spLocks noChangeArrowheads="1"/>
          </p:cNvSpPr>
          <p:nvPr/>
        </p:nvSpPr>
        <p:spPr bwMode="auto">
          <a:xfrm>
            <a:off x="1614488" y="3311527"/>
            <a:ext cx="398555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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86" name="Rectangle 17"/>
          <p:cNvSpPr>
            <a:spLocks noChangeArrowheads="1"/>
          </p:cNvSpPr>
          <p:nvPr/>
        </p:nvSpPr>
        <p:spPr bwMode="auto">
          <a:xfrm>
            <a:off x="1627182" y="4607106"/>
            <a:ext cx="398555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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87" name="Rectangle 18"/>
          <p:cNvSpPr>
            <a:spLocks noChangeArrowheads="1"/>
          </p:cNvSpPr>
          <p:nvPr/>
        </p:nvSpPr>
        <p:spPr bwMode="auto">
          <a:xfrm>
            <a:off x="3837493" y="3935410"/>
            <a:ext cx="535112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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88" name="Rectangle 19"/>
          <p:cNvSpPr>
            <a:spLocks noChangeArrowheads="1"/>
          </p:cNvSpPr>
          <p:nvPr/>
        </p:nvSpPr>
        <p:spPr bwMode="auto">
          <a:xfrm>
            <a:off x="9522042" y="1794625"/>
            <a:ext cx="541463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CC"/>
                </a:solidFill>
                <a:latin typeface="+mn-ea"/>
                <a:ea typeface="+mn-ea"/>
                <a:sym typeface="Symbol" panose="05050102010706020507" pitchFamily="18" charset="2"/>
              </a:rPr>
              <a:t>→</a:t>
            </a:r>
            <a:endParaRPr lang="zh-CN" altLang="en-US" sz="2801" dirty="0">
              <a:solidFill>
                <a:srgbClr val="0000CC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89" name="Rectangle 20"/>
          <p:cNvSpPr>
            <a:spLocks noChangeArrowheads="1"/>
          </p:cNvSpPr>
          <p:nvPr/>
        </p:nvSpPr>
        <p:spPr bwMode="auto">
          <a:xfrm>
            <a:off x="5634158" y="5002128"/>
            <a:ext cx="535112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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90" name="Rectangle 21"/>
          <p:cNvSpPr>
            <a:spLocks noChangeArrowheads="1"/>
          </p:cNvSpPr>
          <p:nvPr/>
        </p:nvSpPr>
        <p:spPr bwMode="auto">
          <a:xfrm>
            <a:off x="6517755" y="3909184"/>
            <a:ext cx="646331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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91" name="Rectangle 22"/>
          <p:cNvSpPr>
            <a:spLocks noChangeArrowheads="1"/>
          </p:cNvSpPr>
          <p:nvPr/>
        </p:nvSpPr>
        <p:spPr bwMode="auto">
          <a:xfrm>
            <a:off x="5310993" y="3909184"/>
            <a:ext cx="646331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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92" name="Rectangle 23"/>
          <p:cNvSpPr>
            <a:spLocks noChangeArrowheads="1"/>
          </p:cNvSpPr>
          <p:nvPr/>
        </p:nvSpPr>
        <p:spPr bwMode="auto">
          <a:xfrm>
            <a:off x="8206899" y="3929800"/>
            <a:ext cx="535112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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93" name="Rectangle 24"/>
          <p:cNvSpPr>
            <a:spLocks noChangeArrowheads="1"/>
          </p:cNvSpPr>
          <p:nvPr/>
        </p:nvSpPr>
        <p:spPr bwMode="auto">
          <a:xfrm>
            <a:off x="5470064" y="2880193"/>
            <a:ext cx="535112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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94" name="Rectangle 25"/>
          <p:cNvSpPr>
            <a:spLocks noChangeArrowheads="1"/>
          </p:cNvSpPr>
          <p:nvPr/>
        </p:nvSpPr>
        <p:spPr bwMode="auto">
          <a:xfrm>
            <a:off x="9629066" y="5023840"/>
            <a:ext cx="535112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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95" name="Rectangle 26"/>
          <p:cNvSpPr>
            <a:spLocks noChangeArrowheads="1"/>
          </p:cNvSpPr>
          <p:nvPr/>
        </p:nvSpPr>
        <p:spPr bwMode="auto">
          <a:xfrm>
            <a:off x="6676406" y="2845322"/>
            <a:ext cx="535112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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96" name="Rectangle 27"/>
          <p:cNvSpPr>
            <a:spLocks noChangeArrowheads="1"/>
          </p:cNvSpPr>
          <p:nvPr/>
        </p:nvSpPr>
        <p:spPr bwMode="auto">
          <a:xfrm>
            <a:off x="8327512" y="5020176"/>
            <a:ext cx="535112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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97" name="Rectangle 28"/>
          <p:cNvSpPr>
            <a:spLocks noChangeArrowheads="1"/>
          </p:cNvSpPr>
          <p:nvPr/>
        </p:nvSpPr>
        <p:spPr bwMode="auto">
          <a:xfrm>
            <a:off x="3874008" y="4999700"/>
            <a:ext cx="535112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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98" name="Rectangle 29"/>
          <p:cNvSpPr>
            <a:spLocks noChangeArrowheads="1"/>
          </p:cNvSpPr>
          <p:nvPr/>
        </p:nvSpPr>
        <p:spPr bwMode="auto">
          <a:xfrm>
            <a:off x="3905999" y="1741053"/>
            <a:ext cx="646331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 </a:t>
            </a:r>
            <a:endParaRPr lang="zh-CN" altLang="en-US" sz="280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8399" name="Rectangle 30"/>
          <p:cNvSpPr>
            <a:spLocks noChangeArrowheads="1"/>
          </p:cNvSpPr>
          <p:nvPr/>
        </p:nvSpPr>
        <p:spPr bwMode="auto">
          <a:xfrm>
            <a:off x="10520365" y="2278638"/>
            <a:ext cx="401072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</a:t>
            </a: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>
          <a:xfrm>
            <a:off x="671557" y="1148827"/>
            <a:ext cx="7627478" cy="426096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）在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Q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与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之间建立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1-1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对应的关系如下：</a:t>
            </a:r>
          </a:p>
        </p:txBody>
      </p:sp>
      <p:sp>
        <p:nvSpPr>
          <p:cNvPr id="33" name="Rectangle 2"/>
          <p:cNvSpPr txBox="1">
            <a:spLocks noChangeArrowheads="1"/>
          </p:cNvSpPr>
          <p:nvPr/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+mn-ea"/>
                <a:ea typeface="+mn-ea"/>
              </a:rPr>
              <a:t>例</a:t>
            </a:r>
            <a:r>
              <a:rPr lang="en-US" altLang="zh-CN" b="1" dirty="0">
                <a:latin typeface="+mn-ea"/>
                <a:ea typeface="+mn-ea"/>
              </a:rPr>
              <a:t>1.6</a:t>
            </a:r>
            <a:r>
              <a:rPr lang="zh-CN" altLang="en-US" b="1" dirty="0">
                <a:latin typeface="+mn-ea"/>
                <a:ea typeface="+mn-ea"/>
              </a:rPr>
              <a:t>（续）</a:t>
            </a:r>
          </a:p>
        </p:txBody>
      </p:sp>
    </p:spTree>
    <p:extLst>
      <p:ext uri="{BB962C8B-B14F-4D97-AF65-F5344CB8AC3E}">
        <p14:creationId xmlns:p14="http://schemas.microsoft.com/office/powerpoint/2010/main" val="333390251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8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8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8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8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8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8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8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8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8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8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8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8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8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8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8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9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5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5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8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8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8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8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8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8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8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8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8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8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8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8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8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 autoUpdateAnimBg="0"/>
      <p:bldP spid="58374" grpId="0" autoUpdateAnimBg="0"/>
      <p:bldP spid="58375" grpId="0" autoUpdateAnimBg="0"/>
      <p:bldP spid="58376" grpId="0" autoUpdateAnimBg="0"/>
      <p:bldP spid="58377" grpId="0" autoUpdateAnimBg="0"/>
      <p:bldP spid="58378" grpId="0" autoUpdateAnimBg="0"/>
      <p:bldP spid="58379" grpId="0" autoUpdateAnimBg="0"/>
      <p:bldP spid="58380" grpId="0" autoUpdateAnimBg="0"/>
      <p:bldP spid="58381" grpId="0" autoUpdateAnimBg="0"/>
      <p:bldP spid="58382" grpId="0" autoUpdateAnimBg="0"/>
      <p:bldP spid="58383" grpId="0" autoUpdateAnimBg="0"/>
      <p:bldP spid="58384" grpId="0" autoUpdateAnimBg="0"/>
      <p:bldP spid="58385" grpId="0" autoUpdateAnimBg="0"/>
      <p:bldP spid="58386" grpId="0" autoUpdateAnimBg="0"/>
      <p:bldP spid="58387" grpId="0" autoUpdateAnimBg="0"/>
      <p:bldP spid="58388" grpId="0" autoUpdateAnimBg="0"/>
      <p:bldP spid="58389" grpId="0" autoUpdateAnimBg="0"/>
      <p:bldP spid="58390" grpId="0" autoUpdateAnimBg="0"/>
      <p:bldP spid="58391" grpId="0" autoUpdateAnimBg="0"/>
      <p:bldP spid="58392" grpId="0" autoUpdateAnimBg="0"/>
      <p:bldP spid="58393" grpId="0" autoUpdateAnimBg="0"/>
      <p:bldP spid="58394" grpId="0" autoUpdateAnimBg="0"/>
      <p:bldP spid="58395" grpId="0" autoUpdateAnimBg="0"/>
      <p:bldP spid="58396" grpId="0" autoUpdateAnimBg="0"/>
      <p:bldP spid="58397" grpId="0" autoUpdateAnimBg="0"/>
      <p:bldP spid="58398" grpId="0" autoUpdateAnimBg="0"/>
      <p:bldP spid="58399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定理</a:t>
            </a:r>
            <a:r>
              <a:rPr lang="en-US" altLang="zh-CN"/>
              <a:t>1.5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93775" y="1524794"/>
            <a:ext cx="9220200" cy="2315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定理</a:t>
            </a:r>
            <a:r>
              <a:rPr lang="en-US" altLang="zh-CN" dirty="0">
                <a:solidFill>
                  <a:srgbClr val="C00000"/>
                </a:solidFill>
              </a:rPr>
              <a:t>1.5  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）两个有限集等势当且仅当它们有相同的元素个数。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）有限集不和其任何真子集等势。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）可数集可以和其可数的真子集等势。</a:t>
            </a:r>
          </a:p>
        </p:txBody>
      </p:sp>
    </p:spTree>
    <p:extLst>
      <p:ext uri="{BB962C8B-B14F-4D97-AF65-F5344CB8AC3E}">
        <p14:creationId xmlns:p14="http://schemas.microsoft.com/office/powerpoint/2010/main" val="127681110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build="p" autoUpdateAnimBg="0" advAuto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1.4.2 </a:t>
            </a:r>
            <a:r>
              <a:rPr lang="zh-CN" altLang="en-US" dirty="0"/>
              <a:t>不可数集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80995" y="915194"/>
            <a:ext cx="7621764" cy="685800"/>
          </a:xfrm>
        </p:spPr>
        <p:txBody>
          <a:bodyPr>
            <a:normAutofit/>
          </a:bodyPr>
          <a:lstStyle/>
          <a:p>
            <a:pPr marL="609722" indent="-609722">
              <a:buNone/>
              <a:defRPr/>
            </a:pPr>
            <a:r>
              <a:rPr lang="zh-CN" altLang="en-US" dirty="0">
                <a:solidFill>
                  <a:srgbClr val="C00000"/>
                </a:solidFill>
              </a:rPr>
              <a:t>问题：</a:t>
            </a:r>
            <a:r>
              <a:rPr lang="zh-CN" altLang="zh-CN" dirty="0">
                <a:solidFill>
                  <a:schemeClr val="tx1"/>
                </a:solidFill>
              </a:rPr>
              <a:t>在无限集中，是否只有可数集呢</a:t>
            </a:r>
            <a:r>
              <a:rPr lang="zh-CN" altLang="en-US" dirty="0">
                <a:solidFill>
                  <a:schemeClr val="tx1"/>
                </a:solidFill>
              </a:rPr>
              <a:t>？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80995" y="1512950"/>
            <a:ext cx="7621764" cy="6858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990947" indent="-381133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zh-CN" dirty="0">
                <a:solidFill>
                  <a:srgbClr val="3333FF"/>
                </a:solidFill>
                <a:latin typeface="+mn-ea"/>
                <a:ea typeface="+mn-ea"/>
              </a:rPr>
              <a:t>例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</a:rPr>
              <a:t>1.7  </a:t>
            </a:r>
            <a:r>
              <a:rPr lang="zh-CN" altLang="zh-CN" dirty="0">
                <a:solidFill>
                  <a:schemeClr val="tx1"/>
                </a:solidFill>
                <a:latin typeface="+mn-ea"/>
                <a:ea typeface="+mn-ea"/>
              </a:rPr>
              <a:t>证明开区间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(0,1)</a:t>
            </a:r>
            <a:r>
              <a:rPr lang="zh-CN" altLang="zh-CN" dirty="0">
                <a:solidFill>
                  <a:schemeClr val="tx1"/>
                </a:solidFill>
                <a:latin typeface="+mn-ea"/>
                <a:ea typeface="+mn-ea"/>
              </a:rPr>
              <a:t>不是可数集。</a:t>
            </a:r>
          </a:p>
        </p:txBody>
      </p:sp>
      <p:sp>
        <p:nvSpPr>
          <p:cNvPr id="2" name="矩形 1"/>
          <p:cNvSpPr/>
          <p:nvPr/>
        </p:nvSpPr>
        <p:spPr>
          <a:xfrm>
            <a:off x="819069" y="2198750"/>
            <a:ext cx="11223705" cy="315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7970"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证明</a:t>
            </a:r>
            <a:r>
              <a:rPr lang="en-US" altLang="zh-CN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  </a:t>
            </a:r>
            <a:r>
              <a:rPr lang="zh-CN" altLang="en-US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反证法，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假设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(0,1)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是可数集，则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(0,1)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可以写成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{x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,x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2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,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…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,</a:t>
            </a:r>
            <a:r>
              <a:rPr lang="en-US" altLang="zh-CN" b="1" kern="100" dirty="0" err="1">
                <a:latin typeface="+mn-ea"/>
                <a:cs typeface="Times New Roman" panose="02020603050405020304" pitchFamily="18" charset="0"/>
              </a:rPr>
              <a:t>x</a:t>
            </a:r>
            <a:r>
              <a:rPr lang="en-US" altLang="zh-CN" b="1" kern="100" baseline="-25000" dirty="0" err="1">
                <a:latin typeface="+mn-ea"/>
                <a:cs typeface="Times New Roman" panose="02020603050405020304" pitchFamily="18" charset="0"/>
              </a:rPr>
              <a:t>n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,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…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}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，</a:t>
            </a:r>
            <a:endParaRPr lang="en-US" altLang="zh-CN" b="1" kern="100" dirty="0">
              <a:latin typeface="+mn-ea"/>
              <a:cs typeface="Times New Roman" panose="02020603050405020304" pitchFamily="18" charset="0"/>
            </a:endParaRPr>
          </a:p>
          <a:p>
            <a:pPr indent="267970"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把每个</a:t>
            </a:r>
            <a:r>
              <a:rPr lang="en-US" altLang="zh-CN" b="1" kern="100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x</a:t>
            </a:r>
            <a:r>
              <a:rPr lang="en-US" altLang="zh-CN" b="1" kern="100" baseline="-25000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i</a:t>
            </a:r>
            <a:r>
              <a:rPr lang="zh-CN" altLang="zh-CN" b="1" kern="100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按如下方式写成小数形式。</a:t>
            </a:r>
          </a:p>
          <a:p>
            <a:pPr indent="266700" algn="ctr">
              <a:lnSpc>
                <a:spcPct val="120000"/>
              </a:lnSpc>
              <a:spcAft>
                <a:spcPts val="0"/>
              </a:spcAft>
            </a:pP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=0.a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11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12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13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14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…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        x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2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=0.a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21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22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23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24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…</a:t>
            </a:r>
            <a:endParaRPr lang="en-US" altLang="zh-CN" b="1" kern="100" dirty="0">
              <a:latin typeface="+mn-ea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</a:pP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                        x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3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=0.a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31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32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33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34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…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                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……</a:t>
            </a:r>
            <a:endParaRPr lang="en-US" altLang="zh-CN" b="1" kern="100" dirty="0">
              <a:latin typeface="+mn-ea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</a:pP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                        </a:t>
            </a:r>
            <a:r>
              <a:rPr lang="en-US" altLang="zh-CN" b="1" kern="100" dirty="0" err="1">
                <a:latin typeface="+mn-ea"/>
                <a:cs typeface="Times New Roman" panose="02020603050405020304" pitchFamily="18" charset="0"/>
              </a:rPr>
              <a:t>x</a:t>
            </a:r>
            <a:r>
              <a:rPr lang="en-US" altLang="zh-CN" b="1" kern="100" baseline="-25000" dirty="0" err="1">
                <a:latin typeface="+mn-ea"/>
                <a:cs typeface="Times New Roman" panose="02020603050405020304" pitchFamily="18" charset="0"/>
              </a:rPr>
              <a:t>n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=0.a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n1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n2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n3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n4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…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                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……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其中</a:t>
            </a:r>
            <a:r>
              <a:rPr lang="en-US" altLang="zh-CN" b="1" kern="100" dirty="0" err="1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 err="1">
                <a:latin typeface="+mn-ea"/>
                <a:cs typeface="Times New Roman" panose="02020603050405020304" pitchFamily="18" charset="0"/>
              </a:rPr>
              <a:t>ij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∈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{0,1,…,9}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。令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x=0.a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2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3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…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n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…，其中若</a:t>
            </a:r>
            <a:r>
              <a:rPr lang="en-US" altLang="zh-CN" b="1" kern="100" dirty="0" err="1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 err="1">
                <a:latin typeface="+mn-ea"/>
                <a:cs typeface="Times New Roman" panose="02020603050405020304" pitchFamily="18" charset="0"/>
              </a:rPr>
              <a:t>nn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=1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，则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n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=2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，否则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a</a:t>
            </a:r>
            <a:r>
              <a:rPr lang="en-US" altLang="zh-CN" b="1" kern="100" baseline="-25000" dirty="0">
                <a:latin typeface="+mn-ea"/>
                <a:cs typeface="Times New Roman" panose="02020603050405020304" pitchFamily="18" charset="0"/>
              </a:rPr>
              <a:t>n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=1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。显然</a:t>
            </a:r>
            <a:r>
              <a:rPr lang="en-US" altLang="zh-CN" b="1" kern="100" dirty="0" err="1">
                <a:latin typeface="+mn-ea"/>
                <a:cs typeface="Times New Roman" panose="02020603050405020304" pitchFamily="18" charset="0"/>
              </a:rPr>
              <a:t>x≠x</a:t>
            </a:r>
            <a:r>
              <a:rPr lang="en-US" altLang="zh-CN" b="1" kern="100" baseline="-25000" dirty="0" err="1"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b="1" kern="100" dirty="0" err="1"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=1,2,…n,…)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，即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N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中没有元素和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x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对应，矛盾。</a:t>
            </a:r>
            <a:r>
              <a:rPr lang="zh-CN" altLang="zh-CN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从而</a:t>
            </a:r>
            <a:r>
              <a:rPr lang="en-US" altLang="zh-CN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(0,1)</a:t>
            </a:r>
            <a:r>
              <a:rPr lang="zh-CN" altLang="zh-CN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不是可数集</a:t>
            </a: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819069" y="5563394"/>
            <a:ext cx="11163735" cy="1181100"/>
          </a:xfrm>
          <a:prstGeom prst="rect">
            <a:avLst/>
          </a:prstGeom>
          <a:solidFill>
            <a:srgbClr val="74B836"/>
          </a:solidFill>
        </p:spPr>
        <p:txBody>
          <a:bodyPr vert="horz" lIns="121917" tIns="60958" rIns="121917" bIns="60958" rtlCol="0">
            <a:norm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990947" indent="-381133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722" indent="-609722"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定义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1.9  </a:t>
            </a: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</a:rPr>
              <a:t>称开区间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</a:rPr>
              <a:t>(0,1)</a:t>
            </a: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</a:rPr>
              <a:t>为不可数集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(Uncountable Set)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，其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基数记为</a:t>
            </a:r>
            <a:r>
              <a:rPr lang="he-IL" altLang="en-US" dirty="0">
                <a:solidFill>
                  <a:schemeClr val="tx1"/>
                </a:solidFill>
                <a:latin typeface="+mn-ea"/>
                <a:ea typeface="+mn-ea"/>
                <a:cs typeface="Times New Roman (Hebrew)" charset="-79"/>
                <a:sym typeface="Symbol" panose="05050102010706020507" pitchFamily="18" charset="2"/>
              </a:rPr>
              <a:t>א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读作阿列夫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</a:rPr>
              <a:t>凡是与开区间</a:t>
            </a:r>
            <a:r>
              <a:rPr lang="en-US" altLang="zh-CN" dirty="0">
                <a:solidFill>
                  <a:srgbClr val="3333FF"/>
                </a:solidFill>
                <a:latin typeface="+mn-ea"/>
                <a:ea typeface="+mn-ea"/>
              </a:rPr>
              <a:t>(0,1)</a:t>
            </a:r>
            <a:r>
              <a:rPr lang="zh-CN" altLang="en-US" dirty="0">
                <a:solidFill>
                  <a:srgbClr val="3333FF"/>
                </a:solidFill>
                <a:latin typeface="+mn-ea"/>
                <a:ea typeface="+mn-ea"/>
              </a:rPr>
              <a:t>等势的集合都是不可数集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36436556"/>
      </p:ext>
    </p:extLst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build="p" autoUpdateAnimBg="0" advAuto="0"/>
      <p:bldP spid="4" grpId="0" build="p" autoUpdateAnimBg="0" advAuto="0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1.8</a:t>
            </a:r>
            <a:endParaRPr lang="zh-CN" altLang="en-US" dirty="0">
              <a:sym typeface="Wingdings" panose="05000000000000000000" pitchFamily="2" charset="2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942" y="833108"/>
            <a:ext cx="9677400" cy="1825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1.8 </a:t>
            </a:r>
            <a:r>
              <a:rPr lang="en-US" altLang="zh-CN" dirty="0">
                <a:solidFill>
                  <a:schemeClr val="tx1"/>
                </a:solidFill>
              </a:rPr>
              <a:t>(1)</a:t>
            </a:r>
            <a:r>
              <a:rPr lang="zh-CN" altLang="en-US" dirty="0">
                <a:solidFill>
                  <a:schemeClr val="tx1"/>
                </a:solidFill>
              </a:rPr>
              <a:t>闭区间</a:t>
            </a:r>
            <a:r>
              <a:rPr lang="en-US" altLang="zh-CN" dirty="0">
                <a:solidFill>
                  <a:schemeClr val="tx1"/>
                </a:solidFill>
              </a:rPr>
              <a:t>[0,1] </a:t>
            </a:r>
            <a:r>
              <a:rPr lang="zh-CN" altLang="en-US" dirty="0">
                <a:solidFill>
                  <a:schemeClr val="tx1"/>
                </a:solidFill>
              </a:rPr>
              <a:t>是不可数集；  </a:t>
            </a:r>
            <a:r>
              <a:rPr lang="en-US" altLang="zh-CN" dirty="0">
                <a:solidFill>
                  <a:schemeClr val="tx1"/>
                </a:solidFill>
              </a:rPr>
              <a:t>(2)</a:t>
            </a:r>
            <a:r>
              <a:rPr lang="zh-CN" altLang="en-US" dirty="0">
                <a:solidFill>
                  <a:schemeClr val="tx1"/>
                </a:solidFill>
              </a:rPr>
              <a:t>实数集合</a:t>
            </a:r>
            <a:r>
              <a:rPr lang="en-US" altLang="zh-CN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是不可数集。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解</a:t>
            </a:r>
            <a:r>
              <a:rPr lang="zh-CN" altLang="en-US" dirty="0">
                <a:solidFill>
                  <a:schemeClr val="tx1"/>
                </a:solidFill>
              </a:rPr>
              <a:t> 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r>
              <a:rPr lang="zh-CN" altLang="en-US" dirty="0"/>
              <a:t>在开区间</a:t>
            </a:r>
            <a:r>
              <a:rPr lang="en-US" altLang="zh-CN" dirty="0"/>
              <a:t>(0, 1)</a:t>
            </a:r>
            <a:r>
              <a:rPr lang="zh-CN" altLang="en-US" dirty="0"/>
              <a:t>和闭区间</a:t>
            </a:r>
            <a:r>
              <a:rPr lang="en-US" altLang="zh-CN" dirty="0"/>
              <a:t>[0, 1]</a:t>
            </a:r>
            <a:r>
              <a:rPr lang="zh-CN" altLang="en-US" dirty="0"/>
              <a:t>之间建立</a:t>
            </a:r>
            <a:r>
              <a:rPr lang="zh-CN" altLang="en-US" dirty="0">
                <a:solidFill>
                  <a:schemeClr val="tx1"/>
                </a:solidFill>
              </a:rPr>
              <a:t>如下对应关系：</a:t>
            </a:r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1526117" y="-292519"/>
            <a:ext cx="184774" cy="585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3201" b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801101" y="5466634"/>
            <a:ext cx="10329916" cy="1030120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457360" indent="-457360" algn="l" defTabSz="1219627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l"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990947" indent="-381133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53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34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16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3973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787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600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414" indent="-304907" algn="l" defTabSz="121962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则上述对应是一一对应的关系。 所以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[0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1]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与（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）一定是等势的，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即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[0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1]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是不可数集。</a:t>
            </a: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579EB9CC-6FB3-4D3A-B45E-32941A859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439250"/>
              </p:ext>
            </p:extLst>
          </p:nvPr>
        </p:nvGraphicFramePr>
        <p:xfrm>
          <a:off x="2060575" y="2112416"/>
          <a:ext cx="5718175" cy="332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1333440" progId="Equation.DSMT4">
                  <p:embed/>
                </p:oleObj>
              </mc:Choice>
              <mc:Fallback>
                <p:oleObj name="Equation" r:id="rId2" imgW="1752480" imgH="1333440" progId="Equation.DSMT4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2112416"/>
                        <a:ext cx="5718175" cy="332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897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1.8(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7575" y="1270562"/>
            <a:ext cx="10668000" cy="4666742"/>
          </a:xfrm>
        </p:spPr>
        <p:txBody>
          <a:bodyPr/>
          <a:lstStyle/>
          <a:p>
            <a:pPr marL="0" indent="0">
              <a:spcBef>
                <a:spcPct val="50000"/>
              </a:spcBef>
              <a:buNone/>
              <a:defRPr/>
            </a:pPr>
            <a:r>
              <a:rPr lang="zh-CN" altLang="en-US" dirty="0">
                <a:solidFill>
                  <a:srgbClr val="800080"/>
                </a:solidFill>
              </a:rPr>
              <a:t>（</a:t>
            </a:r>
            <a:r>
              <a:rPr lang="en-US" altLang="zh-CN" dirty="0">
                <a:solidFill>
                  <a:srgbClr val="800080"/>
                </a:solidFill>
              </a:rPr>
              <a:t>2</a:t>
            </a:r>
            <a:r>
              <a:rPr lang="zh-CN" altLang="en-US" dirty="0">
                <a:solidFill>
                  <a:srgbClr val="800080"/>
                </a:solidFill>
              </a:rPr>
              <a:t>）</a:t>
            </a:r>
            <a:r>
              <a:rPr lang="zh-CN" altLang="en-US" dirty="0">
                <a:solidFill>
                  <a:schemeClr val="tx1"/>
                </a:solidFill>
              </a:rPr>
              <a:t>在</a:t>
            </a:r>
            <a:r>
              <a:rPr lang="zh-CN" altLang="en-US" dirty="0"/>
              <a:t>开区间</a:t>
            </a:r>
            <a:r>
              <a:rPr lang="en-US" altLang="zh-CN" dirty="0"/>
              <a:t>(0,1)</a:t>
            </a:r>
            <a:r>
              <a:rPr lang="zh-CN" altLang="en-US" dirty="0"/>
              <a:t>和实数集</a:t>
            </a:r>
            <a:r>
              <a:rPr lang="en-US" altLang="zh-CN" dirty="0"/>
              <a:t>R</a:t>
            </a:r>
            <a:r>
              <a:rPr lang="zh-CN" altLang="en-US" dirty="0">
                <a:solidFill>
                  <a:schemeClr val="tx1"/>
                </a:solidFill>
              </a:rPr>
              <a:t>之间建立如下对应关系：</a:t>
            </a:r>
          </a:p>
          <a:p>
            <a:pPr marL="0" indent="0">
              <a:buNone/>
              <a:defRPr/>
            </a:pP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zh-CN" altLang="en-US" dirty="0">
                <a:solidFill>
                  <a:schemeClr val="tx1"/>
                </a:solidFill>
              </a:rPr>
              <a:t>显然此对应关系是</a:t>
            </a:r>
            <a:r>
              <a:rPr lang="zh-CN" altLang="en-US" dirty="0">
                <a:solidFill>
                  <a:srgbClr val="3333FF"/>
                </a:solidFill>
              </a:rPr>
              <a:t>一一对应</a:t>
            </a:r>
            <a:r>
              <a:rPr lang="zh-CN" altLang="en-US" dirty="0">
                <a:solidFill>
                  <a:schemeClr val="tx1"/>
                </a:solidFill>
              </a:rPr>
              <a:t>关系，即（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）与</a:t>
            </a:r>
            <a:r>
              <a:rPr lang="en-US" altLang="zh-CN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之间是等势的，所以</a:t>
            </a:r>
            <a:r>
              <a:rPr lang="en-US" altLang="zh-CN" dirty="0">
                <a:solidFill>
                  <a:srgbClr val="3333FF"/>
                </a:solidFill>
              </a:rPr>
              <a:t>R</a:t>
            </a:r>
            <a:r>
              <a:rPr lang="zh-CN" altLang="en-US" dirty="0">
                <a:solidFill>
                  <a:srgbClr val="3333FF"/>
                </a:solidFill>
              </a:rPr>
              <a:t>是一个不可数集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64517" name="Rectangle 4"/>
          <p:cNvSpPr>
            <a:spLocks noChangeArrowheads="1"/>
          </p:cNvSpPr>
          <p:nvPr/>
        </p:nvSpPr>
        <p:spPr bwMode="auto">
          <a:xfrm>
            <a:off x="1526117" y="2941967"/>
            <a:ext cx="184774" cy="585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3201" b="0">
              <a:solidFill>
                <a:srgbClr val="FF0000"/>
              </a:solidFill>
            </a:endParaRPr>
          </a:p>
        </p:txBody>
      </p:sp>
      <p:graphicFrame>
        <p:nvGraphicFramePr>
          <p:cNvPr id="62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652094"/>
              </p:ext>
            </p:extLst>
          </p:nvPr>
        </p:nvGraphicFramePr>
        <p:xfrm>
          <a:off x="3127375" y="1729259"/>
          <a:ext cx="3344862" cy="1212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393480" progId="Equation.DSMT4">
                  <p:embed/>
                </p:oleObj>
              </mc:Choice>
              <mc:Fallback>
                <p:oleObj name="Equation" r:id="rId2" imgW="1295280" imgH="393480" progId="Equation.DSMT4">
                  <p:embed/>
                  <p:pic>
                    <p:nvPicPr>
                      <p:cNvPr id="624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1729259"/>
                        <a:ext cx="3344862" cy="1212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68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3"/>
          <p:cNvSpPr/>
          <p:nvPr/>
        </p:nvSpPr>
        <p:spPr>
          <a:xfrm>
            <a:off x="4422775" y="686594"/>
            <a:ext cx="6629399" cy="5205255"/>
          </a:xfrm>
          <a:custGeom>
            <a:avLst/>
            <a:gdLst>
              <a:gd name="connsiteX0" fmla="*/ 0 w 7560564"/>
              <a:gd name="connsiteY0" fmla="*/ 282448 h 3275076"/>
              <a:gd name="connsiteX1" fmla="*/ 282473 w 7560564"/>
              <a:gd name="connsiteY1" fmla="*/ 0 h 3275076"/>
              <a:gd name="connsiteX2" fmla="*/ 7278116 w 7560564"/>
              <a:gd name="connsiteY2" fmla="*/ 0 h 3275076"/>
              <a:gd name="connsiteX3" fmla="*/ 7560563 w 7560564"/>
              <a:gd name="connsiteY3" fmla="*/ 282448 h 3275076"/>
              <a:gd name="connsiteX4" fmla="*/ 7560563 w 7560564"/>
              <a:gd name="connsiteY4" fmla="*/ 2992602 h 3275076"/>
              <a:gd name="connsiteX5" fmla="*/ 7278116 w 7560564"/>
              <a:gd name="connsiteY5" fmla="*/ 3275075 h 3275076"/>
              <a:gd name="connsiteX6" fmla="*/ 282473 w 7560564"/>
              <a:gd name="connsiteY6" fmla="*/ 3275075 h 3275076"/>
              <a:gd name="connsiteX7" fmla="*/ 0 w 7560564"/>
              <a:gd name="connsiteY7" fmla="*/ 2992602 h 3275076"/>
              <a:gd name="connsiteX8" fmla="*/ 0 w 7560564"/>
              <a:gd name="connsiteY8" fmla="*/ 282448 h 327507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7560564" h="3275076">
                <a:moveTo>
                  <a:pt x="0" y="282448"/>
                </a:moveTo>
                <a:cubicBezTo>
                  <a:pt x="0" y="126492"/>
                  <a:pt x="126466" y="0"/>
                  <a:pt x="282473" y="0"/>
                </a:cubicBezTo>
                <a:lnTo>
                  <a:pt x="7278116" y="0"/>
                </a:lnTo>
                <a:cubicBezTo>
                  <a:pt x="7434071" y="0"/>
                  <a:pt x="7560563" y="126492"/>
                  <a:pt x="7560563" y="282448"/>
                </a:cubicBezTo>
                <a:lnTo>
                  <a:pt x="7560563" y="2992602"/>
                </a:lnTo>
                <a:cubicBezTo>
                  <a:pt x="7560563" y="3148609"/>
                  <a:pt x="7434071" y="3275075"/>
                  <a:pt x="7278116" y="3275075"/>
                </a:cubicBezTo>
                <a:lnTo>
                  <a:pt x="282473" y="3275075"/>
                </a:lnTo>
                <a:cubicBezTo>
                  <a:pt x="126466" y="3275075"/>
                  <a:pt x="0" y="3148609"/>
                  <a:pt x="0" y="2992602"/>
                </a:cubicBezTo>
                <a:lnTo>
                  <a:pt x="0" y="282448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57541" y="4217097"/>
            <a:ext cx="4913633" cy="48292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TextBox 1"/>
          <p:cNvSpPr txBox="1"/>
          <p:nvPr/>
        </p:nvSpPr>
        <p:spPr>
          <a:xfrm>
            <a:off x="7013575" y="1483896"/>
            <a:ext cx="2769989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本章导读及学习要求</a:t>
            </a:r>
          </a:p>
        </p:txBody>
      </p:sp>
      <p:sp>
        <p:nvSpPr>
          <p:cNvPr id="47" name="TextBox 1"/>
          <p:cNvSpPr txBox="1"/>
          <p:nvPr/>
        </p:nvSpPr>
        <p:spPr>
          <a:xfrm>
            <a:off x="7013575" y="2017519"/>
            <a:ext cx="215443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集合的基本概念</a:t>
            </a:r>
          </a:p>
        </p:txBody>
      </p:sp>
      <p:sp>
        <p:nvSpPr>
          <p:cNvPr id="48" name="TextBox 1"/>
          <p:cNvSpPr txBox="1"/>
          <p:nvPr/>
        </p:nvSpPr>
        <p:spPr>
          <a:xfrm>
            <a:off x="7013575" y="2596514"/>
            <a:ext cx="123110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特殊集合</a:t>
            </a:r>
          </a:p>
        </p:txBody>
      </p:sp>
      <p:sp>
        <p:nvSpPr>
          <p:cNvPr id="51" name="Freeform 3"/>
          <p:cNvSpPr/>
          <p:nvPr/>
        </p:nvSpPr>
        <p:spPr>
          <a:xfrm>
            <a:off x="6699904" y="1165800"/>
            <a:ext cx="45719" cy="4268847"/>
          </a:xfrm>
          <a:custGeom>
            <a:avLst/>
            <a:gdLst>
              <a:gd name="connsiteX0" fmla="*/ 6350 w 21844"/>
              <a:gd name="connsiteY0" fmla="*/ 6350 h 879855"/>
              <a:gd name="connsiteX1" fmla="*/ 6350 w 21844"/>
              <a:gd name="connsiteY1" fmla="*/ 873506 h 8798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879855">
                <a:moveTo>
                  <a:pt x="6350" y="6350"/>
                </a:moveTo>
                <a:lnTo>
                  <a:pt x="6350" y="873506"/>
                </a:lnTo>
              </a:path>
            </a:pathLst>
          </a:custGeom>
          <a:ln w="12700">
            <a:solidFill>
              <a:srgbClr val="A4B3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2" name="Freeform 3"/>
          <p:cNvSpPr/>
          <p:nvPr/>
        </p:nvSpPr>
        <p:spPr>
          <a:xfrm>
            <a:off x="6632575" y="1524950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00B05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3" name="Freeform 3"/>
          <p:cNvSpPr/>
          <p:nvPr/>
        </p:nvSpPr>
        <p:spPr>
          <a:xfrm>
            <a:off x="6632575" y="206248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74B83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4" name="Freeform 3"/>
          <p:cNvSpPr/>
          <p:nvPr/>
        </p:nvSpPr>
        <p:spPr>
          <a:xfrm>
            <a:off x="6632575" y="2659107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1"/>
          <p:cNvSpPr txBox="1"/>
          <p:nvPr/>
        </p:nvSpPr>
        <p:spPr>
          <a:xfrm>
            <a:off x="545294" y="2704702"/>
            <a:ext cx="1846659" cy="835956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6936"/>
              </a:lnSpc>
            </a:pPr>
            <a:r>
              <a:rPr lang="zh-CN" altLang="en-US" sz="3600" b="1" dirty="0">
                <a:solidFill>
                  <a:srgbClr val="4197DF"/>
                </a:solidFill>
                <a:latin typeface="Microsoft YaHei UI" pitchFamily="18" charset="0"/>
                <a:cs typeface="Microsoft YaHei UI" pitchFamily="18" charset="0"/>
              </a:rPr>
              <a:t>内容导航</a:t>
            </a:r>
            <a:endParaRPr lang="en-US" altLang="zh-CN" sz="3600" b="1" dirty="0">
              <a:solidFill>
                <a:srgbClr val="4197DF"/>
              </a:solidFill>
              <a:latin typeface="Microsoft YaHei UI" pitchFamily="18" charset="0"/>
              <a:cs typeface="Microsoft YaHei UI" pitchFamily="18" charset="0"/>
            </a:endParaRPr>
          </a:p>
        </p:txBody>
      </p:sp>
      <p:sp>
        <p:nvSpPr>
          <p:cNvPr id="57" name="TextBox 1"/>
          <p:cNvSpPr txBox="1"/>
          <p:nvPr/>
        </p:nvSpPr>
        <p:spPr>
          <a:xfrm>
            <a:off x="545293" y="3518639"/>
            <a:ext cx="1846659" cy="272596"/>
          </a:xfrm>
          <a:prstGeom prst="rect">
            <a:avLst/>
          </a:prstGeom>
          <a:noFill/>
        </p:spPr>
        <p:txBody>
          <a:bodyPr wrap="square" lIns="0" tIns="0" rIns="0" bIns="60981" rtlCol="0">
            <a:spAutoFit/>
          </a:bodyPr>
          <a:lstStyle/>
          <a:p>
            <a:pPr algn="dist">
              <a:lnSpc>
                <a:spcPts val="1601"/>
              </a:lnSpc>
            </a:pPr>
            <a:r>
              <a:rPr lang="en-US" altLang="zh-CN" sz="1900" b="1" dirty="0">
                <a:solidFill>
                  <a:srgbClr val="4197DF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9" name="矩形 58"/>
          <p:cNvSpPr/>
          <p:nvPr/>
        </p:nvSpPr>
        <p:spPr>
          <a:xfrm>
            <a:off x="518434" y="2201849"/>
            <a:ext cx="1873520" cy="702656"/>
          </a:xfrm>
          <a:prstGeom prst="rect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/>
          <p:cNvCxnSpPr/>
          <p:nvPr/>
        </p:nvCxnSpPr>
        <p:spPr>
          <a:xfrm>
            <a:off x="536575" y="7699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536575" y="2484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536575" y="405607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536575" y="577057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536575" y="71993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536575" y="89138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36575" y="10485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536575" y="1219994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536575" y="1404371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36575" y="154724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36575" y="171869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36575" y="1875858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36575" y="2047308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2000250" y="6254294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/>
        </p:nvSpPr>
        <p:spPr>
          <a:xfrm>
            <a:off x="2381250" y="5840443"/>
            <a:ext cx="674915" cy="101325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/>
        </p:nvSpPr>
        <p:spPr>
          <a:xfrm>
            <a:off x="3146878" y="6329700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>
            <a:off x="95250" y="5621722"/>
            <a:ext cx="1066800" cy="123197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等腰三角形 36"/>
          <p:cNvSpPr/>
          <p:nvPr/>
        </p:nvSpPr>
        <p:spPr>
          <a:xfrm>
            <a:off x="876300" y="6254294"/>
            <a:ext cx="381000" cy="513301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1"/>
          <p:cNvSpPr txBox="1"/>
          <p:nvPr/>
        </p:nvSpPr>
        <p:spPr>
          <a:xfrm>
            <a:off x="7013575" y="3176134"/>
            <a:ext cx="153888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集合的运算</a:t>
            </a:r>
          </a:p>
        </p:txBody>
      </p:sp>
      <p:sp>
        <p:nvSpPr>
          <p:cNvPr id="39" name="TextBox 1"/>
          <p:cNvSpPr txBox="1"/>
          <p:nvPr/>
        </p:nvSpPr>
        <p:spPr>
          <a:xfrm>
            <a:off x="7030855" y="3745344"/>
            <a:ext cx="923330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无限集</a:t>
            </a:r>
          </a:p>
        </p:txBody>
      </p:sp>
      <p:sp>
        <p:nvSpPr>
          <p:cNvPr id="40" name="Freeform 3"/>
          <p:cNvSpPr/>
          <p:nvPr/>
        </p:nvSpPr>
        <p:spPr>
          <a:xfrm>
            <a:off x="6632575" y="3235908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 3"/>
          <p:cNvSpPr/>
          <p:nvPr/>
        </p:nvSpPr>
        <p:spPr>
          <a:xfrm>
            <a:off x="6632575" y="3795985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74B83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2" name="TextBox 1"/>
          <p:cNvSpPr txBox="1"/>
          <p:nvPr/>
        </p:nvSpPr>
        <p:spPr>
          <a:xfrm>
            <a:off x="6048108" y="2024389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1.1</a:t>
            </a:r>
          </a:p>
        </p:txBody>
      </p:sp>
      <p:sp>
        <p:nvSpPr>
          <p:cNvPr id="43" name="TextBox 1"/>
          <p:cNvSpPr txBox="1"/>
          <p:nvPr/>
        </p:nvSpPr>
        <p:spPr>
          <a:xfrm>
            <a:off x="6048108" y="2598179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1.2</a:t>
            </a:r>
          </a:p>
        </p:txBody>
      </p:sp>
      <p:sp>
        <p:nvSpPr>
          <p:cNvPr id="44" name="TextBox 1"/>
          <p:cNvSpPr txBox="1"/>
          <p:nvPr/>
        </p:nvSpPr>
        <p:spPr>
          <a:xfrm>
            <a:off x="6048108" y="3185108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1.3</a:t>
            </a:r>
          </a:p>
        </p:txBody>
      </p:sp>
      <p:sp>
        <p:nvSpPr>
          <p:cNvPr id="45" name="TextBox 1"/>
          <p:cNvSpPr txBox="1"/>
          <p:nvPr/>
        </p:nvSpPr>
        <p:spPr>
          <a:xfrm>
            <a:off x="6048108" y="3766207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1.4</a:t>
            </a:r>
          </a:p>
        </p:txBody>
      </p:sp>
      <p:sp>
        <p:nvSpPr>
          <p:cNvPr id="77" name="等腰三角形 76"/>
          <p:cNvSpPr/>
          <p:nvPr/>
        </p:nvSpPr>
        <p:spPr>
          <a:xfrm>
            <a:off x="6190430" y="1447244"/>
            <a:ext cx="304800" cy="267093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TextBox 1"/>
          <p:cNvSpPr txBox="1"/>
          <p:nvPr/>
        </p:nvSpPr>
        <p:spPr>
          <a:xfrm>
            <a:off x="7011024" y="4313763"/>
            <a:ext cx="246221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与集合相关的应用</a:t>
            </a:r>
          </a:p>
        </p:txBody>
      </p:sp>
      <p:sp>
        <p:nvSpPr>
          <p:cNvPr id="81" name="Freeform 3"/>
          <p:cNvSpPr/>
          <p:nvPr/>
        </p:nvSpPr>
        <p:spPr>
          <a:xfrm>
            <a:off x="6642724" y="435690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"/>
          <p:cNvSpPr txBox="1"/>
          <p:nvPr/>
        </p:nvSpPr>
        <p:spPr>
          <a:xfrm>
            <a:off x="6058257" y="4327131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solidFill>
                  <a:schemeClr val="bg1"/>
                </a:solidFill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1.5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FDA7A11-E754-4EA2-E528-360794ADB1F7}"/>
              </a:ext>
            </a:extLst>
          </p:cNvPr>
          <p:cNvSpPr txBox="1"/>
          <p:nvPr/>
        </p:nvSpPr>
        <p:spPr>
          <a:xfrm>
            <a:off x="6998534" y="4855903"/>
            <a:ext cx="61555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作业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CB95781C-5009-FE00-0312-E8DEAD218C6B}"/>
              </a:ext>
            </a:extLst>
          </p:cNvPr>
          <p:cNvSpPr/>
          <p:nvPr/>
        </p:nvSpPr>
        <p:spPr>
          <a:xfrm>
            <a:off x="6630234" y="489904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BFCB515F-250D-6EFF-F900-24F3C122B1B4}"/>
              </a:ext>
            </a:extLst>
          </p:cNvPr>
          <p:cNvSpPr txBox="1"/>
          <p:nvPr/>
        </p:nvSpPr>
        <p:spPr>
          <a:xfrm>
            <a:off x="6045767" y="4869271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1.6</a:t>
            </a:r>
          </a:p>
        </p:txBody>
      </p:sp>
    </p:spTree>
    <p:extLst>
      <p:ext uri="{BB962C8B-B14F-4D97-AF65-F5344CB8AC3E}">
        <p14:creationId xmlns:p14="http://schemas.microsoft.com/office/powerpoint/2010/main" val="3054696439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93775" y="918899"/>
            <a:ext cx="10439400" cy="2764478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altLang="zh-CN" dirty="0">
                <a:solidFill>
                  <a:srgbClr val="C00000"/>
                </a:solidFill>
              </a:rPr>
              <a:t>1.5.1 </a:t>
            </a:r>
            <a:r>
              <a:rPr lang="zh-CN" altLang="zh-CN" dirty="0">
                <a:solidFill>
                  <a:srgbClr val="C00000"/>
                </a:solidFill>
              </a:rPr>
              <a:t>集合</a:t>
            </a:r>
            <a:r>
              <a:rPr lang="zh-CN" altLang="en-US" dirty="0">
                <a:solidFill>
                  <a:srgbClr val="C00000"/>
                </a:solidFill>
              </a:rPr>
              <a:t>的</a:t>
            </a:r>
            <a:r>
              <a:rPr lang="zh-CN" altLang="zh-CN" dirty="0">
                <a:solidFill>
                  <a:srgbClr val="C00000"/>
                </a:solidFill>
              </a:rPr>
              <a:t>计算机中表示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dirty="0">
                <a:solidFill>
                  <a:schemeClr val="tx1"/>
                </a:solidFill>
              </a:rPr>
              <a:t>假设全集</a:t>
            </a:r>
            <a:r>
              <a:rPr lang="en-US" altLang="zh-CN" dirty="0">
                <a:solidFill>
                  <a:schemeClr val="tx1"/>
                </a:solidFill>
              </a:rPr>
              <a:t>U</a:t>
            </a:r>
            <a:r>
              <a:rPr lang="zh-CN" altLang="zh-CN" dirty="0">
                <a:solidFill>
                  <a:schemeClr val="tx1"/>
                </a:solidFill>
              </a:rPr>
              <a:t>含有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zh-CN" dirty="0">
                <a:solidFill>
                  <a:schemeClr val="tx1"/>
                </a:solidFill>
              </a:rPr>
              <a:t>个元素，且任意给定这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zh-CN" dirty="0">
                <a:solidFill>
                  <a:schemeClr val="tx1"/>
                </a:solidFill>
              </a:rPr>
              <a:t>个元素在</a:t>
            </a:r>
            <a:r>
              <a:rPr lang="en-US" altLang="zh-CN" dirty="0">
                <a:solidFill>
                  <a:schemeClr val="tx1"/>
                </a:solidFill>
              </a:rPr>
              <a:t>U</a:t>
            </a:r>
            <a:r>
              <a:rPr lang="zh-CN" altLang="zh-CN" dirty="0">
                <a:solidFill>
                  <a:schemeClr val="tx1"/>
                </a:solidFill>
              </a:rPr>
              <a:t>中的顺序，不妨设</a:t>
            </a:r>
            <a:r>
              <a:rPr lang="en-US" altLang="zh-CN" dirty="0">
                <a:solidFill>
                  <a:schemeClr val="tx1"/>
                </a:solidFill>
              </a:rPr>
              <a:t>U={a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,a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,…,a</a:t>
            </a:r>
            <a:r>
              <a:rPr lang="en-US" altLang="zh-CN" baseline="-25000" dirty="0">
                <a:solidFill>
                  <a:schemeClr val="tx1"/>
                </a:solidFill>
              </a:rPr>
              <a:t>n</a:t>
            </a:r>
            <a:r>
              <a:rPr lang="en-US" altLang="zh-CN" dirty="0">
                <a:solidFill>
                  <a:schemeClr val="tx1"/>
                </a:solidFill>
              </a:rPr>
              <a:t>}</a:t>
            </a:r>
            <a:r>
              <a:rPr lang="zh-CN" altLang="zh-CN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zh-CN" dirty="0">
                <a:solidFill>
                  <a:schemeClr val="tx1"/>
                </a:solidFill>
              </a:rPr>
              <a:t>是</a:t>
            </a:r>
            <a:r>
              <a:rPr lang="en-US" altLang="zh-CN" dirty="0">
                <a:solidFill>
                  <a:schemeClr val="tx1"/>
                </a:solidFill>
              </a:rPr>
              <a:t>U</a:t>
            </a:r>
            <a:r>
              <a:rPr lang="zh-CN" altLang="zh-CN" dirty="0">
                <a:solidFill>
                  <a:schemeClr val="tx1"/>
                </a:solidFill>
              </a:rPr>
              <a:t>的一个子集且对应长度为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zh-CN" dirty="0">
                <a:solidFill>
                  <a:schemeClr val="tx1"/>
                </a:solidFill>
              </a:rPr>
              <a:t>的比特串</a:t>
            </a:r>
            <a:r>
              <a:rPr lang="en-US" altLang="zh-CN" dirty="0">
                <a:solidFill>
                  <a:schemeClr val="tx1"/>
                </a:solidFill>
              </a:rPr>
              <a:t>B=b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…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lang="en-US" altLang="zh-CN" baseline="-25000" dirty="0" err="1">
                <a:solidFill>
                  <a:schemeClr val="tx1"/>
                </a:solidFill>
              </a:rPr>
              <a:t>n</a:t>
            </a:r>
            <a:r>
              <a:rPr lang="zh-CN" altLang="zh-CN" dirty="0">
                <a:solidFill>
                  <a:schemeClr val="tx1"/>
                </a:solidFill>
              </a:rPr>
              <a:t>，其中，</a:t>
            </a:r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3252129" y="3865312"/>
            <a:ext cx="27239866" cy="585039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»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320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+mn-ea"/>
                <a:ea typeface="+mn-ea"/>
              </a:rPr>
              <a:t>1.5 </a:t>
            </a:r>
            <a:r>
              <a:rPr lang="zh-CN" altLang="zh-CN" b="1" dirty="0">
                <a:latin typeface="+mn-ea"/>
                <a:ea typeface="+mn-ea"/>
              </a:rPr>
              <a:t>与集合相关的应用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6175" y="4953794"/>
            <a:ext cx="8534400" cy="461665"/>
          </a:xfrm>
          <a:prstGeom prst="rect">
            <a:avLst/>
          </a:prstGeom>
          <a:solidFill>
            <a:srgbClr val="3333FF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</a:rPr>
              <a:t>于是，</a:t>
            </a:r>
            <a:r>
              <a:rPr lang="zh-CN" altLang="zh-CN" b="1" dirty="0">
                <a:solidFill>
                  <a:schemeClr val="bg1"/>
                </a:solidFill>
                <a:latin typeface="+mn-ea"/>
              </a:rPr>
              <a:t>一个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n</a:t>
            </a:r>
            <a:r>
              <a:rPr lang="zh-CN" altLang="zh-CN" b="1" dirty="0">
                <a:solidFill>
                  <a:schemeClr val="bg1"/>
                </a:solidFill>
                <a:latin typeface="+mn-ea"/>
              </a:rPr>
              <a:t>元集就与一个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n</a:t>
            </a:r>
            <a:r>
              <a:rPr lang="zh-CN" altLang="zh-CN" b="1" dirty="0">
                <a:solidFill>
                  <a:schemeClr val="bg1"/>
                </a:solidFill>
                <a:latin typeface="+mn-ea"/>
              </a:rPr>
              <a:t>位的比特串建立了一一对应关系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5174E0-3944-4DAB-8856-734F971DBDF7}"/>
                  </a:ext>
                </a:extLst>
              </p:cNvPr>
              <p:cNvSpPr txBox="1"/>
              <p:nvPr/>
            </p:nvSpPr>
            <p:spPr>
              <a:xfrm>
                <a:off x="4194175" y="3501442"/>
                <a:ext cx="2233945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+mn-ea"/>
                    <a:sym typeface="Symbol" panose="05050102010706020507" pitchFamily="18" charset="2"/>
                  </a:rPr>
                  <a:t> 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∉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5174E0-3944-4DAB-8856-734F971DB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175" y="3501442"/>
                <a:ext cx="2233945" cy="8238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14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build="p" autoUpdateAnimBg="0"/>
      <p:bldP spid="2" grpId="0" animBg="1"/>
      <p:bldP spid="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3775" y="229394"/>
            <a:ext cx="8066367" cy="708189"/>
          </a:xfrm>
        </p:spPr>
        <p:txBody>
          <a:bodyPr/>
          <a:lstStyle/>
          <a:p>
            <a:r>
              <a:rPr lang="en-US" altLang="zh-CN" dirty="0"/>
              <a:t>1.5.1 </a:t>
            </a:r>
            <a:r>
              <a:rPr lang="zh-CN" altLang="en-US" dirty="0"/>
              <a:t>集合的计算机中表示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60855" y="974472"/>
            <a:ext cx="11081920" cy="5614699"/>
          </a:xfrm>
        </p:spPr>
        <p:txBody>
          <a:bodyPr>
            <a:normAutofit/>
          </a:bodyPr>
          <a:lstStyle/>
          <a:p>
            <a:pPr marL="0" indent="0">
              <a:spcBef>
                <a:spcPct val="70000"/>
              </a:spcBef>
              <a:buNone/>
            </a:pP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1.8  </a:t>
            </a:r>
            <a:r>
              <a:rPr lang="zh-CN" altLang="en-US" dirty="0">
                <a:solidFill>
                  <a:schemeClr val="tx1"/>
                </a:solidFill>
              </a:rPr>
              <a:t>令</a:t>
            </a:r>
            <a:r>
              <a:rPr lang="en-US" altLang="zh-CN" dirty="0">
                <a:solidFill>
                  <a:schemeClr val="tx1"/>
                </a:solidFill>
              </a:rPr>
              <a:t>U={1, 2, 3, 4, 5, 6, 7, 8, 9, 10}</a:t>
            </a:r>
            <a:r>
              <a:rPr lang="zh-CN" altLang="en-US" dirty="0">
                <a:solidFill>
                  <a:schemeClr val="tx1"/>
                </a:solidFill>
              </a:rPr>
              <a:t>，定义</a:t>
            </a:r>
            <a:r>
              <a:rPr lang="en-US" altLang="zh-CN" dirty="0">
                <a:solidFill>
                  <a:schemeClr val="tx1"/>
                </a:solidFill>
              </a:rPr>
              <a:t>U</a:t>
            </a:r>
            <a:r>
              <a:rPr lang="zh-CN" altLang="en-US" dirty="0">
                <a:solidFill>
                  <a:schemeClr val="tx1"/>
                </a:solidFill>
              </a:rPr>
              <a:t>为递增的序列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dirty="0">
                <a:solidFill>
                  <a:schemeClr val="tx1"/>
                </a:solidFill>
              </a:rPr>
              <a:t>即</a:t>
            </a:r>
            <a:r>
              <a:rPr lang="en-US" altLang="zh-CN" dirty="0" err="1">
                <a:solidFill>
                  <a:schemeClr val="tx1"/>
                </a:solidFill>
              </a:rPr>
              <a:t>a</a:t>
            </a:r>
            <a:r>
              <a:rPr lang="en-US" altLang="zh-CN" baseline="-25000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。试完成下面的问题：</a:t>
            </a:r>
            <a:endParaRPr lang="en-US" altLang="zh-CN" dirty="0">
              <a:solidFill>
                <a:schemeClr val="tx1"/>
              </a:solidFill>
            </a:endParaRPr>
          </a:p>
          <a:p>
            <a:pPr marL="457200" indent="-457200">
              <a:spcBef>
                <a:spcPct val="0"/>
              </a:spcBef>
              <a:buAutoNum type="arabicParenBoth"/>
            </a:pPr>
            <a:r>
              <a:rPr lang="zh-CN" altLang="en-US" dirty="0">
                <a:solidFill>
                  <a:schemeClr val="tx1"/>
                </a:solidFill>
              </a:rPr>
              <a:t>试表示集合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={1, 3, 5, 7, 9}, A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={2, 4, 6, 8, 10}, A</a:t>
            </a:r>
            <a:r>
              <a:rPr lang="en-US" altLang="zh-CN" baseline="-25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={1, 2, 3, 4, 5}</a:t>
            </a:r>
            <a:r>
              <a:rPr lang="zh-CN" altLang="en-US" dirty="0">
                <a:solidFill>
                  <a:schemeClr val="tx1"/>
                </a:solidFill>
              </a:rPr>
              <a:t>对应   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>
                <a:solidFill>
                  <a:schemeClr val="tx1"/>
                </a:solidFill>
              </a:rPr>
              <a:t>的比特串</a:t>
            </a:r>
            <a:r>
              <a:rPr lang="zh-CN" altLang="en-US" dirty="0"/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(2) </a:t>
            </a:r>
            <a:r>
              <a:rPr lang="zh-CN" altLang="en-US" dirty="0">
                <a:solidFill>
                  <a:schemeClr val="tx1"/>
                </a:solidFill>
              </a:rPr>
              <a:t>计算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∪A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∩A</a:t>
            </a:r>
            <a:r>
              <a:rPr lang="en-US" altLang="zh-CN" baseline="-25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CN" altLang="en-US" dirty="0">
                <a:solidFill>
                  <a:srgbClr val="C00000"/>
                </a:solidFill>
              </a:rPr>
              <a:t>解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en-US" altLang="zh-CN" dirty="0">
                <a:solidFill>
                  <a:schemeClr val="tx1"/>
                </a:solidFill>
              </a:rPr>
              <a:t>(1)B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=1010101010, B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=0101010101, B</a:t>
            </a:r>
            <a:r>
              <a:rPr lang="en-US" altLang="zh-CN" baseline="-25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=1111100000.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(2) </a:t>
            </a:r>
            <a:r>
              <a:rPr lang="zh-CN" altLang="en-US" dirty="0">
                <a:solidFill>
                  <a:schemeClr val="tx1"/>
                </a:solidFill>
              </a:rPr>
              <a:t>因为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∨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=1010101010</a:t>
            </a:r>
            <a:r>
              <a:rPr lang="zh-CN" altLang="zh-CN" dirty="0">
                <a:solidFill>
                  <a:schemeClr val="tx1"/>
                </a:solidFill>
              </a:rPr>
              <a:t>∨</a:t>
            </a:r>
            <a:r>
              <a:rPr lang="en-US" altLang="zh-CN" dirty="0">
                <a:solidFill>
                  <a:schemeClr val="tx1"/>
                </a:solidFill>
              </a:rPr>
              <a:t>0101010101=1111111111</a:t>
            </a:r>
            <a:endParaRPr lang="zh-CN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B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∧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en-US" altLang="zh-CN" baseline="-25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=1010101010</a:t>
            </a:r>
            <a:r>
              <a:rPr lang="zh-CN" altLang="zh-CN" dirty="0">
                <a:solidFill>
                  <a:schemeClr val="tx1"/>
                </a:solidFill>
              </a:rPr>
              <a:t>∧</a:t>
            </a:r>
            <a:r>
              <a:rPr lang="en-US" altLang="zh-CN" dirty="0">
                <a:solidFill>
                  <a:schemeClr val="tx1"/>
                </a:solidFill>
              </a:rPr>
              <a:t>1111100000 =1010100000</a:t>
            </a:r>
            <a:endParaRPr lang="zh-CN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从而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zh-CN" dirty="0">
                <a:solidFill>
                  <a:schemeClr val="tx1"/>
                </a:solidFill>
              </a:rPr>
              <a:t>得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∪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={1, 2, 3, 4, 5, 6, 7, 8, 9, 10}=U ,  A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∩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={1, 3, 5}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zh-CN" dirty="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02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84918" y="958430"/>
            <a:ext cx="10134600" cy="876024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1.10 </a:t>
            </a:r>
            <a:r>
              <a:rPr lang="zh-CN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求从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1000</a:t>
            </a:r>
            <a:r>
              <a:rPr lang="zh-CN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的整数中不能被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中任何一个整除的整数个数。</a:t>
            </a:r>
            <a:endParaRPr lang="zh-CN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67590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973" y="3399972"/>
            <a:ext cx="2631097" cy="1710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993775" y="229394"/>
            <a:ext cx="8066367" cy="708189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1219627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+mn-ea"/>
                <a:ea typeface="+mn-ea"/>
              </a:rPr>
              <a:t>1.5.2  </a:t>
            </a:r>
            <a:r>
              <a:rPr lang="zh-CN" altLang="en-US" b="1" dirty="0">
                <a:latin typeface="+mn-ea"/>
                <a:ea typeface="+mn-ea"/>
              </a:rPr>
              <a:t>计数问题</a:t>
            </a:r>
          </a:p>
        </p:txBody>
      </p:sp>
      <p:sp>
        <p:nvSpPr>
          <p:cNvPr id="12" name="矩形 11"/>
          <p:cNvSpPr/>
          <p:nvPr/>
        </p:nvSpPr>
        <p:spPr>
          <a:xfrm>
            <a:off x="993775" y="1958084"/>
            <a:ext cx="10363200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解</a:t>
            </a:r>
            <a:r>
              <a:rPr lang="zh-CN" altLang="en-US" b="1" dirty="0">
                <a:latin typeface="+mn-ea"/>
              </a:rPr>
              <a:t>  设</a:t>
            </a:r>
            <a:r>
              <a:rPr lang="en-US" altLang="zh-CN" b="1" dirty="0">
                <a:latin typeface="+mn-ea"/>
              </a:rPr>
              <a:t>U</a:t>
            </a:r>
            <a:r>
              <a:rPr lang="zh-CN" altLang="en-US" b="1" dirty="0">
                <a:latin typeface="+mn-ea"/>
              </a:rPr>
              <a:t>为全集，</a:t>
            </a:r>
            <a:r>
              <a:rPr lang="en-US" altLang="zh-CN" b="1" dirty="0">
                <a:latin typeface="+mn-ea"/>
              </a:rPr>
              <a:t>A</a:t>
            </a:r>
            <a:r>
              <a:rPr lang="zh-CN" altLang="en-US" b="1" dirty="0">
                <a:latin typeface="+mn-ea"/>
              </a:rPr>
              <a:t>、</a:t>
            </a:r>
            <a:r>
              <a:rPr lang="en-US" altLang="zh-CN" b="1" dirty="0">
                <a:latin typeface="+mn-ea"/>
              </a:rPr>
              <a:t>B</a:t>
            </a:r>
            <a:r>
              <a:rPr lang="zh-CN" altLang="en-US" b="1" dirty="0">
                <a:latin typeface="+mn-ea"/>
              </a:rPr>
              <a:t>和</a:t>
            </a:r>
            <a:r>
              <a:rPr lang="en-US" altLang="zh-CN" b="1" dirty="0">
                <a:latin typeface="+mn-ea"/>
              </a:rPr>
              <a:t>C</a:t>
            </a:r>
            <a:r>
              <a:rPr lang="zh-CN" altLang="en-US" b="1" dirty="0">
                <a:latin typeface="+mn-ea"/>
              </a:rPr>
              <a:t>分别表示从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到</a:t>
            </a:r>
            <a:r>
              <a:rPr lang="en-US" altLang="zh-CN" b="1" dirty="0">
                <a:latin typeface="+mn-ea"/>
              </a:rPr>
              <a:t>1000</a:t>
            </a:r>
            <a:r>
              <a:rPr lang="zh-CN" altLang="en-US" b="1" dirty="0">
                <a:latin typeface="+mn-ea"/>
              </a:rPr>
              <a:t>的整数中能被</a:t>
            </a:r>
            <a:r>
              <a:rPr lang="en-US" altLang="zh-CN" b="1" dirty="0">
                <a:latin typeface="+mn-ea"/>
              </a:rPr>
              <a:t>5</a:t>
            </a:r>
            <a:r>
              <a:rPr lang="zh-CN" altLang="en-US" b="1" dirty="0">
                <a:latin typeface="+mn-ea"/>
              </a:rPr>
              <a:t>、</a:t>
            </a:r>
            <a:r>
              <a:rPr lang="en-US" altLang="zh-CN" b="1" dirty="0">
                <a:latin typeface="+mn-ea"/>
              </a:rPr>
              <a:t>6</a:t>
            </a:r>
            <a:r>
              <a:rPr lang="zh-CN" altLang="en-US" b="1" dirty="0">
                <a:latin typeface="+mn-ea"/>
              </a:rPr>
              <a:t>和</a:t>
            </a:r>
            <a:r>
              <a:rPr lang="en-US" altLang="zh-CN" b="1" dirty="0">
                <a:latin typeface="+mn-ea"/>
              </a:rPr>
              <a:t>8</a:t>
            </a:r>
            <a:r>
              <a:rPr lang="zh-CN" altLang="en-US" b="1" dirty="0">
                <a:latin typeface="+mn-ea"/>
              </a:rPr>
              <a:t>整除的整数集合，则    、</a:t>
            </a:r>
            <a:r>
              <a:rPr lang="en-US" altLang="zh-CN" b="1" dirty="0">
                <a:latin typeface="+mn-ea"/>
              </a:rPr>
              <a:t>   </a:t>
            </a:r>
            <a:r>
              <a:rPr lang="zh-CN" altLang="en-US" b="1" dirty="0">
                <a:latin typeface="+mn-ea"/>
              </a:rPr>
              <a:t>和    分别表示从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到</a:t>
            </a:r>
            <a:r>
              <a:rPr lang="en-US" altLang="zh-CN" b="1" dirty="0">
                <a:latin typeface="+mn-ea"/>
              </a:rPr>
              <a:t>1000</a:t>
            </a:r>
            <a:r>
              <a:rPr lang="zh-CN" altLang="en-US" b="1" dirty="0">
                <a:latin typeface="+mn-ea"/>
              </a:rPr>
              <a:t>的整数中不能被</a:t>
            </a:r>
            <a:r>
              <a:rPr lang="en-US" altLang="zh-CN" b="1" dirty="0">
                <a:latin typeface="+mn-ea"/>
              </a:rPr>
              <a:t>5</a:t>
            </a:r>
            <a:r>
              <a:rPr lang="zh-CN" altLang="en-US" b="1" dirty="0">
                <a:latin typeface="+mn-ea"/>
              </a:rPr>
              <a:t>、</a:t>
            </a:r>
            <a:r>
              <a:rPr lang="en-US" altLang="zh-CN" b="1" dirty="0">
                <a:latin typeface="+mn-ea"/>
              </a:rPr>
              <a:t>6</a:t>
            </a:r>
            <a:r>
              <a:rPr lang="zh-CN" altLang="en-US" b="1" dirty="0">
                <a:latin typeface="+mn-ea"/>
              </a:rPr>
              <a:t>和</a:t>
            </a:r>
            <a:r>
              <a:rPr lang="en-US" altLang="zh-CN" b="1" dirty="0">
                <a:latin typeface="+mn-ea"/>
              </a:rPr>
              <a:t>8</a:t>
            </a:r>
            <a:r>
              <a:rPr lang="zh-CN" altLang="en-US" b="1" dirty="0">
                <a:latin typeface="+mn-ea"/>
              </a:rPr>
              <a:t>整除的整数集合。根据题意，计算</a:t>
            </a:r>
            <a:r>
              <a:rPr lang="en-US" altLang="zh-CN" b="1" dirty="0">
                <a:latin typeface="+mn-ea"/>
              </a:rPr>
              <a:t>|  </a:t>
            </a:r>
            <a:r>
              <a:rPr lang="zh-CN" altLang="en-US" b="1" dirty="0">
                <a:latin typeface="+mn-ea"/>
              </a:rPr>
              <a:t>∩  ∩   </a:t>
            </a:r>
            <a:r>
              <a:rPr lang="en-US" altLang="zh-CN" b="1" dirty="0">
                <a:latin typeface="+mn-ea"/>
              </a:rPr>
              <a:t>|</a:t>
            </a:r>
            <a:r>
              <a:rPr lang="zh-CN" altLang="en-US" b="1" dirty="0">
                <a:latin typeface="+mn-ea"/>
              </a:rPr>
              <a:t>即可。</a:t>
            </a:r>
          </a:p>
        </p:txBody>
      </p:sp>
      <p:sp>
        <p:nvSpPr>
          <p:cNvPr id="13" name="矩形 12"/>
          <p:cNvSpPr/>
          <p:nvPr/>
        </p:nvSpPr>
        <p:spPr>
          <a:xfrm>
            <a:off x="1106424" y="3899917"/>
            <a:ext cx="5114153" cy="4633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</a:rPr>
              <a:t>根据右图，图中阴影部分即   ∩   ∩   </a:t>
            </a:r>
          </a:p>
        </p:txBody>
      </p:sp>
      <p:sp>
        <p:nvSpPr>
          <p:cNvPr id="14" name="矩形 13"/>
          <p:cNvSpPr/>
          <p:nvPr/>
        </p:nvSpPr>
        <p:spPr>
          <a:xfrm>
            <a:off x="1077822" y="4873399"/>
            <a:ext cx="2749753" cy="46166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</a:rPr>
              <a:t>|   </a:t>
            </a:r>
            <a:r>
              <a:rPr lang="zh-CN" altLang="en-US" b="1" dirty="0">
                <a:latin typeface="+mn-ea"/>
              </a:rPr>
              <a:t>∩   ∩    </a:t>
            </a:r>
            <a:r>
              <a:rPr lang="en-US" altLang="zh-CN" b="1" dirty="0">
                <a:latin typeface="+mn-ea"/>
              </a:rPr>
              <a:t>|=600</a:t>
            </a:r>
            <a:endParaRPr lang="zh-CN" altLang="en-US" b="1" dirty="0"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77822" y="5845172"/>
            <a:ext cx="10279153" cy="830997"/>
          </a:xfrm>
          <a:prstGeom prst="rect">
            <a:avLst/>
          </a:prstGeom>
          <a:solidFill>
            <a:srgbClr val="3333FF"/>
          </a:solidFill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  <a:tabLst>
                <a:tab pos="1714500" algn="l"/>
              </a:tabLst>
            </a:pPr>
            <a:r>
              <a:rPr lang="zh-CN" altLang="zh-CN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容斥原理</a:t>
            </a:r>
            <a:r>
              <a:rPr lang="en-US" altLang="zh-CN" b="1" kern="1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(the Principle of Inclusion-Exclusion)</a:t>
            </a:r>
            <a:r>
              <a:rPr lang="zh-CN" altLang="zh-CN" b="1" kern="1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的基本思想</a:t>
            </a:r>
            <a:r>
              <a:rPr lang="zh-CN" altLang="en-US" b="1" kern="1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：</a:t>
            </a:r>
            <a:r>
              <a:rPr lang="zh-CN" altLang="zh-CN" b="1" kern="100" dirty="0">
                <a:solidFill>
                  <a:srgbClr val="FFFF00"/>
                </a:solidFill>
                <a:latin typeface="+mn-ea"/>
                <a:cs typeface="Times New Roman" panose="02020603050405020304" pitchFamily="18" charset="0"/>
              </a:rPr>
              <a:t>即先包容，后排斥。</a:t>
            </a:r>
            <a:endParaRPr lang="zh-CN" altLang="zh-CN" b="1" kern="100" dirty="0">
              <a:solidFill>
                <a:srgbClr val="FFFF00"/>
              </a:solidFill>
              <a:latin typeface="+mn-ea"/>
              <a:cs typeface="Wingdings" panose="05000000000000000000" pitchFamily="2" charset="2"/>
            </a:endParaRP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A4A769B5-3AD4-44AF-88B6-8422D60F3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330000"/>
              </p:ext>
            </p:extLst>
          </p:nvPr>
        </p:nvGraphicFramePr>
        <p:xfrm>
          <a:off x="2974975" y="2591594"/>
          <a:ext cx="2968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" imgH="203200" progId="Equation.DSMT4">
                  <p:embed/>
                </p:oleObj>
              </mc:Choice>
              <mc:Fallback>
                <p:oleObj name="Equation" r:id="rId4" imgW="127000" imgH="203200" progId="Equation.DSMT4">
                  <p:embed/>
                  <p:pic>
                    <p:nvPicPr>
                      <p:cNvPr id="14561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2591594"/>
                        <a:ext cx="2968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B80D0E0B-BE20-438B-BA7C-C991AE501D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751160"/>
              </p:ext>
            </p:extLst>
          </p:nvPr>
        </p:nvGraphicFramePr>
        <p:xfrm>
          <a:off x="3530712" y="2591593"/>
          <a:ext cx="2968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7000" imgH="203200" progId="Equation.DSMT4">
                  <p:embed/>
                </p:oleObj>
              </mc:Choice>
              <mc:Fallback>
                <p:oleObj name="Equation" r:id="rId6" imgW="127000" imgH="203200" progId="Equation.DSMT4">
                  <p:embed/>
                  <p:pic>
                    <p:nvPicPr>
                      <p:cNvPr id="14561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712" y="2591593"/>
                        <a:ext cx="2968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E93CF4BA-22C8-472D-BCC0-CB2501A721F8}"/>
                  </a:ext>
                </a:extLst>
              </p:cNvPr>
              <p:cNvSpPr txBox="1"/>
              <p:nvPr/>
            </p:nvSpPr>
            <p:spPr bwMode="auto">
              <a:xfrm>
                <a:off x="4194175" y="2591593"/>
                <a:ext cx="405321" cy="5440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</m:ba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E93CF4BA-22C8-472D-BCC0-CB2501A72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4175" y="2591593"/>
                <a:ext cx="405321" cy="5440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2EE49E5B-601C-437C-A83B-0C733FE050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450938"/>
              </p:ext>
            </p:extLst>
          </p:nvPr>
        </p:nvGraphicFramePr>
        <p:xfrm>
          <a:off x="5099241" y="3072657"/>
          <a:ext cx="304800" cy="487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" imgH="203200" progId="Equation.DSMT4">
                  <p:embed/>
                </p:oleObj>
              </mc:Choice>
              <mc:Fallback>
                <p:oleObj name="Equation" r:id="rId4" imgW="127000" imgH="203200" progId="Equation.DSMT4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A4A769B5-3AD4-44AF-88B6-8422D60F31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9241" y="3072657"/>
                        <a:ext cx="304800" cy="487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>
            <a:extLst>
              <a:ext uri="{FF2B5EF4-FFF2-40B4-BE49-F238E27FC236}">
                <a16:creationId xmlns:a16="http://schemas.microsoft.com/office/drawing/2014/main" id="{68496A0A-161B-4503-82AD-7857789BC1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133879"/>
              </p:ext>
            </p:extLst>
          </p:nvPr>
        </p:nvGraphicFramePr>
        <p:xfrm>
          <a:off x="5489575" y="3085348"/>
          <a:ext cx="2968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7000" imgH="203200" progId="Equation.DSMT4">
                  <p:embed/>
                </p:oleObj>
              </mc:Choice>
              <mc:Fallback>
                <p:oleObj name="Equation" r:id="rId6" imgW="127000" imgH="203200" progId="Equation.DSMT4">
                  <p:embed/>
                  <p:pic>
                    <p:nvPicPr>
                      <p:cNvPr id="10" name="Object 7">
                        <a:extLst>
                          <a:ext uri="{FF2B5EF4-FFF2-40B4-BE49-F238E27FC236}">
                            <a16:creationId xmlns:a16="http://schemas.microsoft.com/office/drawing/2014/main" id="{B80D0E0B-BE20-438B-BA7C-C991AE501D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575" y="3085348"/>
                        <a:ext cx="2968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7">
                <a:extLst>
                  <a:ext uri="{FF2B5EF4-FFF2-40B4-BE49-F238E27FC236}">
                    <a16:creationId xmlns:a16="http://schemas.microsoft.com/office/drawing/2014/main" id="{AA531C4C-9A8B-4193-B17A-18556A13ADDA}"/>
                  </a:ext>
                </a:extLst>
              </p:cNvPr>
              <p:cNvSpPr txBox="1"/>
              <p:nvPr/>
            </p:nvSpPr>
            <p:spPr bwMode="auto">
              <a:xfrm>
                <a:off x="5903786" y="3066256"/>
                <a:ext cx="296863" cy="5702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2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</m:ba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Object 7">
                <a:extLst>
                  <a:ext uri="{FF2B5EF4-FFF2-40B4-BE49-F238E27FC236}">
                    <a16:creationId xmlns:a16="http://schemas.microsoft.com/office/drawing/2014/main" id="{AA531C4C-9A8B-4193-B17A-18556A13A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3786" y="3066256"/>
                <a:ext cx="296863" cy="5702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Object 6">
            <a:extLst>
              <a:ext uri="{FF2B5EF4-FFF2-40B4-BE49-F238E27FC236}">
                <a16:creationId xmlns:a16="http://schemas.microsoft.com/office/drawing/2014/main" id="{DB2DDABF-7835-4E5B-BB5F-58733BC7B3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903463"/>
              </p:ext>
            </p:extLst>
          </p:nvPr>
        </p:nvGraphicFramePr>
        <p:xfrm>
          <a:off x="1222375" y="4860401"/>
          <a:ext cx="2968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" imgH="203200" progId="Equation.DSMT4">
                  <p:embed/>
                </p:oleObj>
              </mc:Choice>
              <mc:Fallback>
                <p:oleObj name="Equation" r:id="rId4" imgW="127000" imgH="203200" progId="Equation.DSMT4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A4A769B5-3AD4-44AF-88B6-8422D60F31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4860401"/>
                        <a:ext cx="2968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7">
            <a:extLst>
              <a:ext uri="{FF2B5EF4-FFF2-40B4-BE49-F238E27FC236}">
                <a16:creationId xmlns:a16="http://schemas.microsoft.com/office/drawing/2014/main" id="{5B070CA7-B739-4C3E-9940-821E6C7154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932257"/>
              </p:ext>
            </p:extLst>
          </p:nvPr>
        </p:nvGraphicFramePr>
        <p:xfrm>
          <a:off x="1755775" y="4860400"/>
          <a:ext cx="2968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7000" imgH="203200" progId="Equation.DSMT4">
                  <p:embed/>
                </p:oleObj>
              </mc:Choice>
              <mc:Fallback>
                <p:oleObj name="Equation" r:id="rId6" imgW="127000" imgH="203200" progId="Equation.DSMT4">
                  <p:embed/>
                  <p:pic>
                    <p:nvPicPr>
                      <p:cNvPr id="10" name="Object 7">
                        <a:extLst>
                          <a:ext uri="{FF2B5EF4-FFF2-40B4-BE49-F238E27FC236}">
                            <a16:creationId xmlns:a16="http://schemas.microsoft.com/office/drawing/2014/main" id="{B80D0E0B-BE20-438B-BA7C-C991AE501D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4860400"/>
                        <a:ext cx="2968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7">
                <a:extLst>
                  <a:ext uri="{FF2B5EF4-FFF2-40B4-BE49-F238E27FC236}">
                    <a16:creationId xmlns:a16="http://schemas.microsoft.com/office/drawing/2014/main" id="{BB944F2E-58DB-4F6D-9FB5-75DC2035F0ED}"/>
                  </a:ext>
                </a:extLst>
              </p:cNvPr>
              <p:cNvSpPr txBox="1"/>
              <p:nvPr/>
            </p:nvSpPr>
            <p:spPr bwMode="auto">
              <a:xfrm>
                <a:off x="2204046" y="4828203"/>
                <a:ext cx="405321" cy="5440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2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</m:ba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" name="Object 7">
                <a:extLst>
                  <a:ext uri="{FF2B5EF4-FFF2-40B4-BE49-F238E27FC236}">
                    <a16:creationId xmlns:a16="http://schemas.microsoft.com/office/drawing/2014/main" id="{BB944F2E-58DB-4F6D-9FB5-75DC2035F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4046" y="4828203"/>
                <a:ext cx="405321" cy="5440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Object 6">
            <a:extLst>
              <a:ext uri="{FF2B5EF4-FFF2-40B4-BE49-F238E27FC236}">
                <a16:creationId xmlns:a16="http://schemas.microsoft.com/office/drawing/2014/main" id="{15ED36E6-32D1-4118-8003-456FF25B5E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652879"/>
              </p:ext>
            </p:extLst>
          </p:nvPr>
        </p:nvGraphicFramePr>
        <p:xfrm>
          <a:off x="4829393" y="3882747"/>
          <a:ext cx="2968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" imgH="203200" progId="Equation.DSMT4">
                  <p:embed/>
                </p:oleObj>
              </mc:Choice>
              <mc:Fallback>
                <p:oleObj name="Equation" r:id="rId4" imgW="127000" imgH="203200" progId="Equation.DSMT4">
                  <p:embed/>
                  <p:pic>
                    <p:nvPicPr>
                      <p:cNvPr id="20" name="Object 6">
                        <a:extLst>
                          <a:ext uri="{FF2B5EF4-FFF2-40B4-BE49-F238E27FC236}">
                            <a16:creationId xmlns:a16="http://schemas.microsoft.com/office/drawing/2014/main" id="{DB2DDABF-7835-4E5B-BB5F-58733BC7B3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9393" y="3882747"/>
                        <a:ext cx="2968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7">
            <a:extLst>
              <a:ext uri="{FF2B5EF4-FFF2-40B4-BE49-F238E27FC236}">
                <a16:creationId xmlns:a16="http://schemas.microsoft.com/office/drawing/2014/main" id="{A64D341F-7222-48AA-824B-E428F4107E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065564"/>
              </p:ext>
            </p:extLst>
          </p:nvPr>
        </p:nvGraphicFramePr>
        <p:xfrm>
          <a:off x="5341143" y="3882747"/>
          <a:ext cx="2968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7000" imgH="203200" progId="Equation.DSMT4">
                  <p:embed/>
                </p:oleObj>
              </mc:Choice>
              <mc:Fallback>
                <p:oleObj name="Equation" r:id="rId6" imgW="127000" imgH="203200" progId="Equation.DSMT4">
                  <p:embed/>
                  <p:pic>
                    <p:nvPicPr>
                      <p:cNvPr id="21" name="Object 7">
                        <a:extLst>
                          <a:ext uri="{FF2B5EF4-FFF2-40B4-BE49-F238E27FC236}">
                            <a16:creationId xmlns:a16="http://schemas.microsoft.com/office/drawing/2014/main" id="{5B070CA7-B739-4C3E-9940-821E6C7154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1143" y="3882747"/>
                        <a:ext cx="2968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7">
                <a:extLst>
                  <a:ext uri="{FF2B5EF4-FFF2-40B4-BE49-F238E27FC236}">
                    <a16:creationId xmlns:a16="http://schemas.microsoft.com/office/drawing/2014/main" id="{47970428-B222-4A1F-A294-0E3E20EC9C5D}"/>
                  </a:ext>
                </a:extLst>
              </p:cNvPr>
              <p:cNvSpPr txBox="1"/>
              <p:nvPr/>
            </p:nvSpPr>
            <p:spPr bwMode="auto">
              <a:xfrm>
                <a:off x="5781153" y="3841610"/>
                <a:ext cx="405321" cy="5440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2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</m:ba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" name="Object 7">
                <a:extLst>
                  <a:ext uri="{FF2B5EF4-FFF2-40B4-BE49-F238E27FC236}">
                    <a16:creationId xmlns:a16="http://schemas.microsoft.com/office/drawing/2014/main" id="{47970428-B222-4A1F-A294-0E3E20EC9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1153" y="3841610"/>
                <a:ext cx="405321" cy="54402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28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build="p" autoUpdateAnimBg="0"/>
      <p:bldP spid="12" grpId="0"/>
      <p:bldP spid="13" grpId="0" animBg="1"/>
      <p:bldP spid="14" grpId="0" animBg="1"/>
      <p:bldP spid="1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3"/>
          <p:cNvSpPr/>
          <p:nvPr/>
        </p:nvSpPr>
        <p:spPr>
          <a:xfrm>
            <a:off x="4422775" y="762794"/>
            <a:ext cx="6629399" cy="5205255"/>
          </a:xfrm>
          <a:custGeom>
            <a:avLst/>
            <a:gdLst>
              <a:gd name="connsiteX0" fmla="*/ 0 w 7560564"/>
              <a:gd name="connsiteY0" fmla="*/ 282448 h 3275076"/>
              <a:gd name="connsiteX1" fmla="*/ 282473 w 7560564"/>
              <a:gd name="connsiteY1" fmla="*/ 0 h 3275076"/>
              <a:gd name="connsiteX2" fmla="*/ 7278116 w 7560564"/>
              <a:gd name="connsiteY2" fmla="*/ 0 h 3275076"/>
              <a:gd name="connsiteX3" fmla="*/ 7560563 w 7560564"/>
              <a:gd name="connsiteY3" fmla="*/ 282448 h 3275076"/>
              <a:gd name="connsiteX4" fmla="*/ 7560563 w 7560564"/>
              <a:gd name="connsiteY4" fmla="*/ 2992602 h 3275076"/>
              <a:gd name="connsiteX5" fmla="*/ 7278116 w 7560564"/>
              <a:gd name="connsiteY5" fmla="*/ 3275075 h 3275076"/>
              <a:gd name="connsiteX6" fmla="*/ 282473 w 7560564"/>
              <a:gd name="connsiteY6" fmla="*/ 3275075 h 3275076"/>
              <a:gd name="connsiteX7" fmla="*/ 0 w 7560564"/>
              <a:gd name="connsiteY7" fmla="*/ 2992602 h 3275076"/>
              <a:gd name="connsiteX8" fmla="*/ 0 w 7560564"/>
              <a:gd name="connsiteY8" fmla="*/ 282448 h 327507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7560564" h="3275076">
                <a:moveTo>
                  <a:pt x="0" y="282448"/>
                </a:moveTo>
                <a:cubicBezTo>
                  <a:pt x="0" y="126492"/>
                  <a:pt x="126466" y="0"/>
                  <a:pt x="282473" y="0"/>
                </a:cubicBezTo>
                <a:lnTo>
                  <a:pt x="7278116" y="0"/>
                </a:lnTo>
                <a:cubicBezTo>
                  <a:pt x="7434071" y="0"/>
                  <a:pt x="7560563" y="126492"/>
                  <a:pt x="7560563" y="282448"/>
                </a:cubicBezTo>
                <a:lnTo>
                  <a:pt x="7560563" y="2992602"/>
                </a:lnTo>
                <a:cubicBezTo>
                  <a:pt x="7560563" y="3148609"/>
                  <a:pt x="7434071" y="3275075"/>
                  <a:pt x="7278116" y="3275075"/>
                </a:cubicBezTo>
                <a:lnTo>
                  <a:pt x="282473" y="3275075"/>
                </a:lnTo>
                <a:cubicBezTo>
                  <a:pt x="126466" y="3275075"/>
                  <a:pt x="0" y="3148609"/>
                  <a:pt x="0" y="2992602"/>
                </a:cubicBezTo>
                <a:lnTo>
                  <a:pt x="0" y="282448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57541" y="4947862"/>
            <a:ext cx="4913633" cy="48292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TextBox 1"/>
          <p:cNvSpPr txBox="1"/>
          <p:nvPr/>
        </p:nvSpPr>
        <p:spPr>
          <a:xfrm>
            <a:off x="6980721" y="1575625"/>
            <a:ext cx="2772540" cy="369353"/>
          </a:xfrm>
          <a:prstGeom prst="rect">
            <a:avLst/>
          </a:prstGeom>
          <a:noFill/>
        </p:spPr>
        <p:txBody>
          <a:bodyPr wrap="squar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本章导读及学习要求</a:t>
            </a:r>
          </a:p>
        </p:txBody>
      </p:sp>
      <p:sp>
        <p:nvSpPr>
          <p:cNvPr id="47" name="TextBox 1"/>
          <p:cNvSpPr txBox="1"/>
          <p:nvPr/>
        </p:nvSpPr>
        <p:spPr>
          <a:xfrm>
            <a:off x="7013575" y="2246119"/>
            <a:ext cx="215443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集合的基本概念</a:t>
            </a:r>
          </a:p>
        </p:txBody>
      </p:sp>
      <p:sp>
        <p:nvSpPr>
          <p:cNvPr id="48" name="TextBox 1"/>
          <p:cNvSpPr txBox="1"/>
          <p:nvPr/>
        </p:nvSpPr>
        <p:spPr>
          <a:xfrm>
            <a:off x="7013575" y="2825114"/>
            <a:ext cx="1231106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特殊集合</a:t>
            </a:r>
          </a:p>
        </p:txBody>
      </p:sp>
      <p:sp>
        <p:nvSpPr>
          <p:cNvPr id="51" name="Freeform 3"/>
          <p:cNvSpPr/>
          <p:nvPr/>
        </p:nvSpPr>
        <p:spPr>
          <a:xfrm>
            <a:off x="6698357" y="1208949"/>
            <a:ext cx="45719" cy="4154365"/>
          </a:xfrm>
          <a:custGeom>
            <a:avLst/>
            <a:gdLst>
              <a:gd name="connsiteX0" fmla="*/ 6350 w 21844"/>
              <a:gd name="connsiteY0" fmla="*/ 6350 h 879855"/>
              <a:gd name="connsiteX1" fmla="*/ 6350 w 21844"/>
              <a:gd name="connsiteY1" fmla="*/ 873506 h 8798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844" h="879855">
                <a:moveTo>
                  <a:pt x="6350" y="6350"/>
                </a:moveTo>
                <a:lnTo>
                  <a:pt x="6350" y="873506"/>
                </a:lnTo>
              </a:path>
            </a:pathLst>
          </a:custGeom>
          <a:ln w="12700">
            <a:solidFill>
              <a:srgbClr val="A4B3D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2" name="Freeform 3"/>
          <p:cNvSpPr/>
          <p:nvPr/>
        </p:nvSpPr>
        <p:spPr>
          <a:xfrm>
            <a:off x="6642724" y="1614244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00B05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3" name="Freeform 3"/>
          <p:cNvSpPr/>
          <p:nvPr/>
        </p:nvSpPr>
        <p:spPr>
          <a:xfrm>
            <a:off x="6632575" y="229108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74B83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54" name="Freeform 3"/>
          <p:cNvSpPr/>
          <p:nvPr/>
        </p:nvSpPr>
        <p:spPr>
          <a:xfrm>
            <a:off x="6632575" y="2887707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1"/>
          <p:cNvSpPr txBox="1"/>
          <p:nvPr/>
        </p:nvSpPr>
        <p:spPr>
          <a:xfrm>
            <a:off x="545294" y="2704702"/>
            <a:ext cx="1846659" cy="835956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6936"/>
              </a:lnSpc>
            </a:pPr>
            <a:r>
              <a:rPr lang="zh-CN" altLang="en-US" sz="3600" b="1" dirty="0">
                <a:solidFill>
                  <a:srgbClr val="4197DF"/>
                </a:solidFill>
                <a:latin typeface="Microsoft YaHei UI" pitchFamily="18" charset="0"/>
                <a:cs typeface="Microsoft YaHei UI" pitchFamily="18" charset="0"/>
              </a:rPr>
              <a:t>内容导航</a:t>
            </a:r>
            <a:endParaRPr lang="en-US" altLang="zh-CN" sz="3600" b="1" dirty="0">
              <a:solidFill>
                <a:srgbClr val="4197DF"/>
              </a:solidFill>
              <a:latin typeface="Microsoft YaHei UI" pitchFamily="18" charset="0"/>
              <a:cs typeface="Microsoft YaHei UI" pitchFamily="18" charset="0"/>
            </a:endParaRPr>
          </a:p>
        </p:txBody>
      </p:sp>
      <p:sp>
        <p:nvSpPr>
          <p:cNvPr id="57" name="TextBox 1"/>
          <p:cNvSpPr txBox="1"/>
          <p:nvPr/>
        </p:nvSpPr>
        <p:spPr>
          <a:xfrm>
            <a:off x="545293" y="3518639"/>
            <a:ext cx="1846659" cy="272596"/>
          </a:xfrm>
          <a:prstGeom prst="rect">
            <a:avLst/>
          </a:prstGeom>
          <a:noFill/>
        </p:spPr>
        <p:txBody>
          <a:bodyPr wrap="square" lIns="0" tIns="0" rIns="0" bIns="60981" rtlCol="0">
            <a:spAutoFit/>
          </a:bodyPr>
          <a:lstStyle/>
          <a:p>
            <a:pPr algn="dist">
              <a:lnSpc>
                <a:spcPts val="1601"/>
              </a:lnSpc>
            </a:pPr>
            <a:r>
              <a:rPr lang="en-US" altLang="zh-CN" sz="1900" b="1" dirty="0">
                <a:solidFill>
                  <a:srgbClr val="4197DF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9" name="矩形 58"/>
          <p:cNvSpPr/>
          <p:nvPr/>
        </p:nvSpPr>
        <p:spPr>
          <a:xfrm>
            <a:off x="518434" y="2201849"/>
            <a:ext cx="1873520" cy="702656"/>
          </a:xfrm>
          <a:prstGeom prst="rect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/>
          <p:cNvCxnSpPr/>
          <p:nvPr/>
        </p:nvCxnSpPr>
        <p:spPr>
          <a:xfrm>
            <a:off x="536575" y="7699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536575" y="2484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536575" y="405607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536575" y="577057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536575" y="71993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536575" y="891381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36575" y="1048544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536575" y="1219994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536575" y="1404371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36575" y="154724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36575" y="1718695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36575" y="1875858"/>
            <a:ext cx="18553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36575" y="2047308"/>
            <a:ext cx="185537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等腰三角形 32"/>
          <p:cNvSpPr/>
          <p:nvPr/>
        </p:nvSpPr>
        <p:spPr>
          <a:xfrm>
            <a:off x="2000250" y="6254294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/>
        </p:nvSpPr>
        <p:spPr>
          <a:xfrm>
            <a:off x="2381250" y="5840443"/>
            <a:ext cx="674915" cy="101325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/>
        </p:nvSpPr>
        <p:spPr>
          <a:xfrm>
            <a:off x="3146878" y="6329700"/>
            <a:ext cx="381000" cy="513301"/>
          </a:xfrm>
          <a:prstGeom prst="triangle">
            <a:avLst/>
          </a:prstGeom>
          <a:solidFill>
            <a:srgbClr val="1A8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>
            <a:off x="95250" y="5621722"/>
            <a:ext cx="1066800" cy="123197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等腰三角形 36"/>
          <p:cNvSpPr/>
          <p:nvPr/>
        </p:nvSpPr>
        <p:spPr>
          <a:xfrm>
            <a:off x="876300" y="6254294"/>
            <a:ext cx="381000" cy="513301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1"/>
          <p:cNvSpPr txBox="1"/>
          <p:nvPr/>
        </p:nvSpPr>
        <p:spPr>
          <a:xfrm>
            <a:off x="7013575" y="3404734"/>
            <a:ext cx="153888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集合的运算</a:t>
            </a:r>
          </a:p>
        </p:txBody>
      </p:sp>
      <p:sp>
        <p:nvSpPr>
          <p:cNvPr id="39" name="TextBox 1"/>
          <p:cNvSpPr txBox="1"/>
          <p:nvPr/>
        </p:nvSpPr>
        <p:spPr>
          <a:xfrm>
            <a:off x="7030855" y="3973944"/>
            <a:ext cx="923330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无限集</a:t>
            </a:r>
          </a:p>
        </p:txBody>
      </p:sp>
      <p:sp>
        <p:nvSpPr>
          <p:cNvPr id="40" name="Freeform 3"/>
          <p:cNvSpPr/>
          <p:nvPr/>
        </p:nvSpPr>
        <p:spPr>
          <a:xfrm>
            <a:off x="6632575" y="3464508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 3"/>
          <p:cNvSpPr/>
          <p:nvPr/>
        </p:nvSpPr>
        <p:spPr>
          <a:xfrm>
            <a:off x="6632575" y="4024585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74B83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6153011" y="1541483"/>
            <a:ext cx="304800" cy="267093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TextBox 1"/>
          <p:cNvSpPr txBox="1"/>
          <p:nvPr/>
        </p:nvSpPr>
        <p:spPr>
          <a:xfrm>
            <a:off x="7011024" y="4542363"/>
            <a:ext cx="246221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latin typeface="Microsoft YaHei UI" pitchFamily="18" charset="0"/>
                <a:cs typeface="Microsoft YaHei UI" pitchFamily="18" charset="0"/>
              </a:rPr>
              <a:t>与集合相关的应用</a:t>
            </a:r>
          </a:p>
        </p:txBody>
      </p:sp>
      <p:sp>
        <p:nvSpPr>
          <p:cNvPr id="81" name="Freeform 3"/>
          <p:cNvSpPr/>
          <p:nvPr/>
        </p:nvSpPr>
        <p:spPr>
          <a:xfrm>
            <a:off x="6642724" y="458550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FDA7A11-E754-4EA2-E528-360794ADB1F7}"/>
              </a:ext>
            </a:extLst>
          </p:cNvPr>
          <p:cNvSpPr txBox="1"/>
          <p:nvPr/>
        </p:nvSpPr>
        <p:spPr>
          <a:xfrm>
            <a:off x="6998534" y="5084503"/>
            <a:ext cx="61555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zh-CN" altLang="en-US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作业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CB95781C-5009-FE00-0312-E8DEAD218C6B}"/>
              </a:ext>
            </a:extLst>
          </p:cNvPr>
          <p:cNvSpPr/>
          <p:nvPr/>
        </p:nvSpPr>
        <p:spPr>
          <a:xfrm>
            <a:off x="6630234" y="5127649"/>
            <a:ext cx="142314" cy="142272"/>
          </a:xfrm>
          <a:custGeom>
            <a:avLst/>
            <a:gdLst>
              <a:gd name="connsiteX0" fmla="*/ 0 w 106680"/>
              <a:gd name="connsiteY0" fmla="*/ 53339 h 106679"/>
              <a:gd name="connsiteX1" fmla="*/ 53340 w 106680"/>
              <a:gd name="connsiteY1" fmla="*/ 0 h 106679"/>
              <a:gd name="connsiteX2" fmla="*/ 106679 w 106680"/>
              <a:gd name="connsiteY2" fmla="*/ 53339 h 106679"/>
              <a:gd name="connsiteX3" fmla="*/ 53340 w 106680"/>
              <a:gd name="connsiteY3" fmla="*/ 106679 h 106679"/>
              <a:gd name="connsiteX4" fmla="*/ 0 w 106680"/>
              <a:gd name="connsiteY4" fmla="*/ 53339 h 1066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6680" h="106679">
                <a:moveTo>
                  <a:pt x="0" y="53339"/>
                </a:moveTo>
                <a:cubicBezTo>
                  <a:pt x="0" y="23876"/>
                  <a:pt x="23876" y="0"/>
                  <a:pt x="53340" y="0"/>
                </a:cubicBezTo>
                <a:cubicBezTo>
                  <a:pt x="82803" y="0"/>
                  <a:pt x="106679" y="23876"/>
                  <a:pt x="106679" y="53339"/>
                </a:cubicBezTo>
                <a:cubicBezTo>
                  <a:pt x="106679" y="82804"/>
                  <a:pt x="82803" y="106679"/>
                  <a:pt x="53340" y="106679"/>
                </a:cubicBezTo>
                <a:cubicBezTo>
                  <a:pt x="23876" y="106679"/>
                  <a:pt x="0" y="82804"/>
                  <a:pt x="0" y="53339"/>
                </a:cubicBezTo>
              </a:path>
            </a:pathLst>
          </a:custGeom>
          <a:solidFill>
            <a:schemeClr val="bg1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BFCB515F-250D-6EFF-F900-24F3C122B1B4}"/>
              </a:ext>
            </a:extLst>
          </p:cNvPr>
          <p:cNvSpPr txBox="1"/>
          <p:nvPr/>
        </p:nvSpPr>
        <p:spPr>
          <a:xfrm>
            <a:off x="6045767" y="5097871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solidFill>
                  <a:schemeClr val="bg1"/>
                </a:solidFill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Microsoft YaHei UI" pitchFamily="18" charset="0"/>
                <a:cs typeface="Microsoft YaHei UI" pitchFamily="18" charset="0"/>
              </a:rPr>
              <a:t>1.6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52276462-EDEE-13DF-0476-E8D7878EF97B}"/>
              </a:ext>
            </a:extLst>
          </p:cNvPr>
          <p:cNvSpPr txBox="1"/>
          <p:nvPr/>
        </p:nvSpPr>
        <p:spPr>
          <a:xfrm>
            <a:off x="6048108" y="2256678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1.1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6DCC52C7-193A-6F37-4E24-76BF29CCF73B}"/>
              </a:ext>
            </a:extLst>
          </p:cNvPr>
          <p:cNvSpPr txBox="1"/>
          <p:nvPr/>
        </p:nvSpPr>
        <p:spPr>
          <a:xfrm>
            <a:off x="6048108" y="2830468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1.2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D1DFE3AC-1903-D498-4056-ECFD041340DB}"/>
              </a:ext>
            </a:extLst>
          </p:cNvPr>
          <p:cNvSpPr txBox="1"/>
          <p:nvPr/>
        </p:nvSpPr>
        <p:spPr>
          <a:xfrm>
            <a:off x="6048108" y="3417397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1.3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BFDF589-9803-617A-4366-CE1A2225523C}"/>
              </a:ext>
            </a:extLst>
          </p:cNvPr>
          <p:cNvSpPr txBox="1"/>
          <p:nvPr/>
        </p:nvSpPr>
        <p:spPr>
          <a:xfrm>
            <a:off x="6048108" y="3998496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1.4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2565116C-5B81-EBC3-47A9-D42CF96DCA4F}"/>
              </a:ext>
            </a:extLst>
          </p:cNvPr>
          <p:cNvSpPr txBox="1"/>
          <p:nvPr/>
        </p:nvSpPr>
        <p:spPr>
          <a:xfrm>
            <a:off x="6081142" y="4455696"/>
            <a:ext cx="551433" cy="369353"/>
          </a:xfrm>
          <a:prstGeom prst="rect">
            <a:avLst/>
          </a:prstGeom>
          <a:noFill/>
        </p:spPr>
        <p:txBody>
          <a:bodyPr wrap="none" lIns="0" tIns="0" rIns="0" bIns="60981" rtlCol="0">
            <a:spAutoFit/>
          </a:bodyPr>
          <a:lstStyle/>
          <a:p>
            <a:pPr>
              <a:lnSpc>
                <a:spcPts val="2401"/>
              </a:lnSpc>
            </a:pPr>
            <a:r>
              <a:rPr lang="en-US" altLang="zh-CN" b="1" dirty="0">
                <a:latin typeface="+mj-lt"/>
                <a:cs typeface="Microsoft YaHei UI" pitchFamily="18" charset="0"/>
              </a:rPr>
              <a:t> </a:t>
            </a:r>
            <a:r>
              <a:rPr lang="en-US" altLang="zh-CN" b="1" dirty="0">
                <a:latin typeface="Microsoft YaHei UI" pitchFamily="18" charset="0"/>
                <a:cs typeface="Microsoft YaHei UI" pitchFamily="18" charset="0"/>
              </a:rPr>
              <a:t>1.5</a:t>
            </a:r>
          </a:p>
        </p:txBody>
      </p:sp>
    </p:spTree>
    <p:extLst>
      <p:ext uri="{BB962C8B-B14F-4D97-AF65-F5344CB8AC3E}">
        <p14:creationId xmlns:p14="http://schemas.microsoft.com/office/powerpoint/2010/main" val="3133665354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1.5  </a:t>
            </a:r>
            <a:r>
              <a:rPr lang="zh-CN" altLang="en-US" dirty="0"/>
              <a:t>作业    第</a:t>
            </a:r>
            <a:r>
              <a:rPr lang="en-US" altLang="zh-CN" dirty="0"/>
              <a:t>14-15</a:t>
            </a:r>
            <a:r>
              <a:rPr lang="zh-CN" altLang="en-US" dirty="0"/>
              <a:t>页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65375" y="1067594"/>
            <a:ext cx="7058071" cy="5092291"/>
          </a:xfrm>
        </p:spPr>
        <p:txBody>
          <a:bodyPr>
            <a:normAutofit/>
          </a:bodyPr>
          <a:lstStyle/>
          <a:p>
            <a:pPr marL="0" indent="0"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CC00CC"/>
                </a:solidFill>
              </a:rPr>
              <a:t>1.  </a:t>
            </a:r>
          </a:p>
          <a:p>
            <a:pPr marL="0" indent="0"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CC00CC"/>
                </a:solidFill>
              </a:rPr>
              <a:t>3.</a:t>
            </a: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）（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）  </a:t>
            </a:r>
            <a:r>
              <a:rPr lang="en-US" altLang="zh-CN" dirty="0">
                <a:solidFill>
                  <a:srgbClr val="CC00CC"/>
                </a:solidFill>
              </a:rPr>
              <a:t>4.</a:t>
            </a: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）（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endParaRPr lang="zh-CN" altLang="en-US" dirty="0">
              <a:solidFill>
                <a:srgbClr val="6600CC"/>
              </a:solidFill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CC00CC"/>
                </a:solidFill>
              </a:rPr>
              <a:t>5.   6.   8.</a:t>
            </a: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）（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） </a:t>
            </a:r>
            <a:r>
              <a:rPr lang="en-US" altLang="zh-CN" dirty="0">
                <a:solidFill>
                  <a:srgbClr val="CC00CC"/>
                </a:solidFill>
              </a:rPr>
              <a:t>	</a:t>
            </a:r>
          </a:p>
          <a:p>
            <a:pPr marL="0" indent="0"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CC00CC"/>
                </a:solidFill>
              </a:rPr>
              <a:t>9.</a:t>
            </a: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）（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CC00CC"/>
                </a:solidFill>
              </a:rPr>
              <a:t>11.</a:t>
            </a: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</a:p>
          <a:p>
            <a:pPr marL="0" indent="0"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CC00CC"/>
                </a:solidFill>
              </a:rPr>
              <a:t>14.</a:t>
            </a:r>
            <a:r>
              <a:rPr lang="zh-CN" altLang="en-US" dirty="0">
                <a:solidFill>
                  <a:srgbClr val="0000FF"/>
                </a:solidFill>
              </a:rPr>
              <a:t> （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）（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en-US" dirty="0">
                <a:solidFill>
                  <a:srgbClr val="0000FF"/>
                </a:solidFill>
              </a:rPr>
              <a:t>） </a:t>
            </a:r>
            <a:endParaRPr lang="en-US" altLang="zh-CN" dirty="0">
              <a:solidFill>
                <a:srgbClr val="CC00CC"/>
              </a:solidFill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CC00CC"/>
                </a:solidFill>
              </a:rPr>
              <a:t>16.</a:t>
            </a: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）（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）  </a:t>
            </a:r>
            <a:r>
              <a:rPr lang="en-US" altLang="zh-CN" dirty="0">
                <a:solidFill>
                  <a:srgbClr val="CC00CC"/>
                </a:solidFill>
              </a:rPr>
              <a:t>17.   18</a:t>
            </a: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CC00CC"/>
                </a:solidFill>
              </a:rPr>
              <a:t>19.   20.   21.</a:t>
            </a:r>
            <a:endParaRPr lang="zh-CN" altLang="en-US" dirty="0">
              <a:solidFill>
                <a:srgbClr val="CC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2238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258147" y="2210312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258147" y="4025019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0095121" y="2480346"/>
            <a:ext cx="203200" cy="203200"/>
          </a:xfrm>
          <a:prstGeom prst="ellipse">
            <a:avLst/>
          </a:prstGeom>
          <a:solidFill>
            <a:srgbClr val="3E5CCC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0095121" y="2727996"/>
            <a:ext cx="203200" cy="203200"/>
          </a:xfrm>
          <a:prstGeom prst="ellipse">
            <a:avLst/>
          </a:pr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095121" y="2975646"/>
            <a:ext cx="203200" cy="203200"/>
          </a:xfrm>
          <a:prstGeom prst="ellipse">
            <a:avLst/>
          </a:prstGeom>
          <a:solidFill>
            <a:srgbClr val="F08E3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"/>
          <p:cNvSpPr txBox="1"/>
          <p:nvPr/>
        </p:nvSpPr>
        <p:spPr>
          <a:xfrm>
            <a:off x="2611437" y="2134394"/>
            <a:ext cx="70064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1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0555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5.2|14.9|1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11.6|9.7|3.5|3|3.3|6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4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8115</TotalTime>
  <Words>5314</Words>
  <Application>Microsoft Office PowerPoint</Application>
  <PresentationFormat>自定义</PresentationFormat>
  <Paragraphs>594</Paragraphs>
  <Slides>60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7" baseType="lpstr">
      <vt:lpstr>Arial Unicode MS</vt:lpstr>
      <vt:lpstr>Microsoft YaHei UI</vt:lpstr>
      <vt:lpstr>Monotype Sorts</vt:lpstr>
      <vt:lpstr>等线</vt:lpstr>
      <vt:lpstr>黑体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1_Office Theme</vt:lpstr>
      <vt:lpstr>Equation.DSMT4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1.1  集合的基本概念</vt:lpstr>
      <vt:lpstr>1.1  集合的基本概念</vt:lpstr>
      <vt:lpstr>1.1.1 集合的表示</vt:lpstr>
      <vt:lpstr>1、列举法（显式法）</vt:lpstr>
      <vt:lpstr>2、描述法（隐式法）</vt:lpstr>
      <vt:lpstr>3、归纳法</vt:lpstr>
      <vt:lpstr>例如</vt:lpstr>
      <vt:lpstr>4、递归指定集合法</vt:lpstr>
      <vt:lpstr>5、文氏图解法</vt:lpstr>
      <vt:lpstr>1.1.2 集合与集合的关系</vt:lpstr>
      <vt:lpstr>2.集合相等</vt:lpstr>
      <vt:lpstr>3、包含关系</vt:lpstr>
      <vt:lpstr>温故知新</vt:lpstr>
      <vt:lpstr>4. 真包含关系</vt:lpstr>
      <vt:lpstr>PowerPoint 演示文稿</vt:lpstr>
      <vt:lpstr>例1.2</vt:lpstr>
      <vt:lpstr>例1.3</vt:lpstr>
      <vt:lpstr>PowerPoint 演示文稿</vt:lpstr>
      <vt:lpstr>1.2 几个特殊集合</vt:lpstr>
      <vt:lpstr>定理1.3 （1）的证明</vt:lpstr>
      <vt:lpstr>定理1.3 （2）的证明</vt:lpstr>
      <vt:lpstr>2、全集</vt:lpstr>
      <vt:lpstr>3、幂集</vt:lpstr>
      <vt:lpstr>幂集的计算</vt:lpstr>
      <vt:lpstr>PowerPoint 演示文稿</vt:lpstr>
      <vt:lpstr>PowerPoint 演示文稿</vt:lpstr>
      <vt:lpstr>PowerPoint 演示文稿</vt:lpstr>
      <vt:lpstr>1.3 集合的运算</vt:lpstr>
      <vt:lpstr>推广</vt:lpstr>
      <vt:lpstr>定理1.4  设U是相对于A的全集。</vt:lpstr>
      <vt:lpstr>PowerPoint 演示文稿</vt:lpstr>
      <vt:lpstr>证明（a）：</vt:lpstr>
      <vt:lpstr>证明（b）：</vt:lpstr>
      <vt:lpstr>PowerPoint 演示文稿</vt:lpstr>
      <vt:lpstr>PowerPoint 演示文稿</vt:lpstr>
      <vt:lpstr>1.4  无限集</vt:lpstr>
      <vt:lpstr>PowerPoint 演示文稿</vt:lpstr>
      <vt:lpstr>自然数N的定义</vt:lpstr>
      <vt:lpstr>1.可数集的定义</vt:lpstr>
      <vt:lpstr>PowerPoint 演示文稿</vt:lpstr>
      <vt:lpstr>例1.6</vt:lpstr>
      <vt:lpstr>例1.6（续）</vt:lpstr>
      <vt:lpstr>PowerPoint 演示文稿</vt:lpstr>
      <vt:lpstr>定理1.5</vt:lpstr>
      <vt:lpstr>1.4.2 不可数集</vt:lpstr>
      <vt:lpstr>例1.8</vt:lpstr>
      <vt:lpstr>例1.8(续)</vt:lpstr>
      <vt:lpstr>PowerPoint 演示文稿</vt:lpstr>
      <vt:lpstr>PowerPoint 演示文稿</vt:lpstr>
      <vt:lpstr>1.5.1 集合的计算机中表示</vt:lpstr>
      <vt:lpstr>PowerPoint 演示文稿</vt:lpstr>
      <vt:lpstr>PowerPoint 演示文稿</vt:lpstr>
      <vt:lpstr>1.5  作业    第14-15页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siri</dc:creator>
  <cp:lastModifiedBy>A</cp:lastModifiedBy>
  <cp:revision>325</cp:revision>
  <dcterms:created xsi:type="dcterms:W3CDTF">2006-08-16T00:00:00Z</dcterms:created>
  <dcterms:modified xsi:type="dcterms:W3CDTF">2026-03-02T05:57:00Z</dcterms:modified>
</cp:coreProperties>
</file>