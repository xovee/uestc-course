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</p:sldMasterIdLst>
  <p:notesMasterIdLst>
    <p:notesMasterId r:id="rId25"/>
  </p:notesMasterIdLst>
  <p:handoutMasterIdLst>
    <p:handoutMasterId r:id="rId26"/>
  </p:handoutMasterIdLst>
  <p:sldIdLst>
    <p:sldId id="258" r:id="rId7"/>
    <p:sldId id="1204" r:id="rId8"/>
    <p:sldId id="257" r:id="rId9"/>
    <p:sldId id="1218" r:id="rId10"/>
    <p:sldId id="262" r:id="rId11"/>
    <p:sldId id="1217" r:id="rId12"/>
    <p:sldId id="1205" r:id="rId13"/>
    <p:sldId id="1206" r:id="rId14"/>
    <p:sldId id="1207" r:id="rId15"/>
    <p:sldId id="1208" r:id="rId16"/>
    <p:sldId id="1209" r:id="rId17"/>
    <p:sldId id="1213" r:id="rId18"/>
    <p:sldId id="1210" r:id="rId19"/>
    <p:sldId id="1214" r:id="rId20"/>
    <p:sldId id="1215" r:id="rId21"/>
    <p:sldId id="1211" r:id="rId22"/>
    <p:sldId id="1216" r:id="rId23"/>
    <p:sldId id="261" r:id="rId24"/>
  </p:sldIdLst>
  <p:sldSz cx="12192000" cy="6858000"/>
  <p:notesSz cx="7315200" cy="9601200"/>
  <p:custDataLst>
    <p:tags r:id="rId3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华文琥珀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3300"/>
    <a:srgbClr val="008000"/>
    <a:srgbClr val="FF0000"/>
    <a:srgbClr val="006699"/>
    <a:srgbClr val="009999"/>
    <a:srgbClr val="FF99CC"/>
    <a:srgbClr val="0039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4" autoAdjust="0"/>
    <p:restoredTop sz="89151" autoAdjust="0"/>
  </p:normalViewPr>
  <p:slideViewPr>
    <p:cSldViewPr showGuides="1">
      <p:cViewPr varScale="1">
        <p:scale>
          <a:sx n="40" d="100"/>
          <a:sy n="40" d="100"/>
        </p:scale>
        <p:origin x="656" y="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7197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76"/>
    </p:cViewPr>
  </p:sorterViewPr>
  <p:notesViewPr>
    <p:cSldViewPr>
      <p:cViewPr varScale="1">
        <p:scale>
          <a:sx n="49" d="100"/>
          <a:sy n="49" d="100"/>
        </p:scale>
        <p:origin x="2602" y="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0" Type="http://schemas.openxmlformats.org/officeDocument/2006/relationships/tags" Target="tags/tag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503" tIns="48252" rIns="96503" bIns="48252" numCol="1" anchor="t" anchorCtr="0" compatLnSpc="1"/>
          <a:lstStyle>
            <a:lvl1pPr defTabSz="965200" eaLnBrk="0" hangingPunct="0">
              <a:spcBef>
                <a:spcPct val="0"/>
              </a:spcBef>
              <a:buClrTx/>
              <a:defRPr sz="1200" b="1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503" tIns="48252" rIns="96503" bIns="48252" numCol="1" anchor="t" anchorCtr="0" compatLnSpc="1"/>
          <a:lstStyle>
            <a:lvl1pPr algn="r" defTabSz="965200" eaLnBrk="0" hangingPunct="0">
              <a:spcBef>
                <a:spcPct val="0"/>
              </a:spcBef>
              <a:buClrTx/>
              <a:defRPr sz="1200" b="1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503" tIns="48252" rIns="96503" bIns="48252" numCol="1" anchor="b" anchorCtr="0" compatLnSpc="1"/>
          <a:lstStyle>
            <a:lvl1pPr defTabSz="965200" eaLnBrk="0" hangingPunct="0">
              <a:spcBef>
                <a:spcPct val="0"/>
              </a:spcBef>
              <a:buClrTx/>
              <a:defRPr sz="1200" b="1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6503" tIns="48252" rIns="96503" bIns="48252" numCol="1" anchor="b" anchorCtr="0" compatLnSpc="1"/>
          <a:lstStyle>
            <a:lvl1pPr algn="r" defTabSz="965200" eaLnBrk="0" hangingPunct="0">
              <a:defRPr sz="1200" b="1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F59077C9-FC61-49DD-8838-B47F6B91766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spcBef>
                <a:spcPct val="0"/>
              </a:spcBef>
              <a:buClrTx/>
              <a:defRPr sz="120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spcBef>
                <a:spcPct val="0"/>
              </a:spcBef>
              <a:buClrTx/>
              <a:defRPr sz="120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9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199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spcBef>
                <a:spcPct val="0"/>
              </a:spcBef>
              <a:buClrTx/>
              <a:defRPr sz="1200">
                <a:latin typeface="Times New Roman" panose="02020603050405020304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9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4A0D460B-84CB-4328-BFAA-9B86F812BA8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ChangeArrowheads="1"/>
          </p:cNvSpPr>
          <p:nvPr>
            <p:ph idx="4294967295" hasCustomPrompt="1"/>
          </p:nvPr>
        </p:nvSpPr>
        <p:spPr>
          <a:xfrm>
            <a:off x="880534" y="1162052"/>
            <a:ext cx="10866967" cy="298542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64195" y="50802"/>
            <a:ext cx="11017739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defRPr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en-GB" altLang="zh-CN" dirty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ChangeArrowheads="1"/>
          </p:cNvSpPr>
          <p:nvPr>
            <p:ph idx="4294967295" hasCustomPrompt="1"/>
          </p:nvPr>
        </p:nvSpPr>
        <p:spPr>
          <a:xfrm>
            <a:off x="880534" y="1162052"/>
            <a:ext cx="10866967" cy="298542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64195" y="50802"/>
            <a:ext cx="11017739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altLang="en-US"/>
              <a:t>单击此处编辑母版标题样式</a:t>
            </a:r>
            <a:endParaRPr lang="en-GB" altLang="zh-CN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ChangeArrowheads="1"/>
          </p:cNvSpPr>
          <p:nvPr>
            <p:ph idx="4294967295" hasCustomPrompt="1"/>
          </p:nvPr>
        </p:nvSpPr>
        <p:spPr>
          <a:xfrm>
            <a:off x="880534" y="1162052"/>
            <a:ext cx="10866967" cy="298542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64195" y="50802"/>
            <a:ext cx="11017739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altLang="en-US"/>
              <a:t>单击此处编辑母版标题样式</a:t>
            </a:r>
            <a:endParaRPr lang="en-GB" altLang="zh-CN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ChangeArrowheads="1"/>
          </p:cNvSpPr>
          <p:nvPr>
            <p:ph idx="4294967295" hasCustomPrompt="1"/>
          </p:nvPr>
        </p:nvSpPr>
        <p:spPr>
          <a:xfrm>
            <a:off x="880534" y="1162052"/>
            <a:ext cx="10866967" cy="298542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064195" y="50802"/>
            <a:ext cx="11017739" cy="701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altLang="en-US"/>
              <a:t>单击此处编辑母版标题样式</a:t>
            </a:r>
            <a:endParaRPr lang="en-GB" altLang="zh-CN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1" y="1357314"/>
            <a:ext cx="11049000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t" anchorCtr="0" compatLnSpc="1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GB" altLang="zh-CN"/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rot="16200000">
            <a:off x="6220884" y="-4660900"/>
            <a:ext cx="0" cy="109347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</a:ln>
        </p:spPr>
        <p:txBody>
          <a:bodyPr lIns="91429" tIns="45714" rIns="91429" bIns="45714" anchor="ctr"/>
          <a:lstStyle/>
          <a:p>
            <a:pPr>
              <a:defRPr/>
            </a:pPr>
            <a:endParaRPr lang="zh-CN" altLang="en-US" sz="1600"/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839416" y="60326"/>
            <a:ext cx="10844584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b" anchorCtr="0" compatLnSpc="1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GB" altLang="zh-CN" dirty="0"/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11495618" y="6419850"/>
            <a:ext cx="560916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9" tIns="45714" rIns="91429" bIns="45714"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031" name="Rectangle 20"/>
          <p:cNvSpPr>
            <a:spLocks noChangeArrowheads="1"/>
          </p:cNvSpPr>
          <p:nvPr/>
        </p:nvSpPr>
        <p:spPr bwMode="auto">
          <a:xfrm>
            <a:off x="0" y="6365876"/>
            <a:ext cx="12192000" cy="492125"/>
          </a:xfrm>
          <a:prstGeom prst="rect">
            <a:avLst/>
          </a:prstGeom>
          <a:gradFill rotWithShape="1">
            <a:gsLst>
              <a:gs pos="0">
                <a:srgbClr val="7889FB"/>
              </a:gs>
              <a:gs pos="100000">
                <a:srgbClr val="383F74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91429" tIns="45714" rIns="91429" bIns="45714" anchor="ctr"/>
          <a:lstStyle/>
          <a:p>
            <a:pPr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高级计算机图形学</a:t>
            </a:r>
            <a:endParaRPr lang="zh-CN" altLang="en-US" sz="2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11009805" y="6459132"/>
            <a:ext cx="1066295" cy="338542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zh-CN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2025</a:t>
            </a:r>
            <a:r>
              <a:rPr lang="zh-CN" altLang="en-US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年秋</a:t>
            </a:r>
            <a:endParaRPr lang="zh-CN" altLang="en-US" sz="1600" b="1" i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9" name="Picture 21" descr="uestc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7" y="3483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54330" indent="-3543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  <a:cs typeface="+mn-cs"/>
        </a:defRPr>
      </a:lvl1pPr>
      <a:lvl2pPr marL="898525" indent="-363855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2pPr>
      <a:lvl3pPr marL="1522730" indent="-4432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3pPr>
      <a:lvl4pPr marL="1600200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4pPr>
      <a:lvl5pPr marL="1951355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5pPr>
      <a:lvl6pPr marL="2409825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6pPr>
      <a:lvl7pPr marL="28663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7pPr>
      <a:lvl8pPr marL="33235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8pPr>
      <a:lvl9pPr marL="37807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1" y="1357314"/>
            <a:ext cx="11049000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t" anchorCtr="0" compatLnSpc="1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GB" altLang="zh-CN"/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rot="16200000">
            <a:off x="6220884" y="-4660900"/>
            <a:ext cx="0" cy="109347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</a:ln>
        </p:spPr>
        <p:txBody>
          <a:bodyPr lIns="91429" tIns="45714" rIns="91429" bIns="45714" anchor="ctr"/>
          <a:lstStyle/>
          <a:p>
            <a:pPr>
              <a:defRPr/>
            </a:pPr>
            <a:endParaRPr lang="zh-CN" altLang="en-US" sz="1600"/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839416" y="60326"/>
            <a:ext cx="10844584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b" anchorCtr="0" compatLnSpc="1">
            <a:sp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en-GB" altLang="zh-CN"/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11495618" y="6419850"/>
            <a:ext cx="560916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9" tIns="45714" rIns="91429" bIns="45714"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581218" y="6451600"/>
            <a:ext cx="1069501" cy="338542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zh-CN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2020</a:t>
            </a:r>
            <a:r>
              <a:rPr lang="zh-CN" altLang="en-US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年春</a:t>
            </a:r>
            <a:endParaRPr lang="zh-CN" altLang="en-US" sz="1600" b="1" i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8" name="Picture 21" descr="uestc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7" y="3483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C0000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54330" indent="-3543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  <a:cs typeface="+mn-cs"/>
        </a:defRPr>
      </a:lvl1pPr>
      <a:lvl2pPr marL="898525" indent="-363855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2pPr>
      <a:lvl3pPr marL="1522730" indent="-4432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3pPr>
      <a:lvl4pPr marL="1600200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4pPr>
      <a:lvl5pPr marL="1951355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5pPr>
      <a:lvl6pPr marL="2409825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6pPr>
      <a:lvl7pPr marL="28663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7pPr>
      <a:lvl8pPr marL="33235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8pPr>
      <a:lvl9pPr marL="37807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1" y="1357314"/>
            <a:ext cx="11049000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t" anchorCtr="0" compatLnSpc="1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GB" altLang="zh-CN"/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rot="16200000">
            <a:off x="6220884" y="-4660900"/>
            <a:ext cx="0" cy="109347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</a:ln>
        </p:spPr>
        <p:txBody>
          <a:bodyPr lIns="91429" tIns="45714" rIns="91429" bIns="45714" anchor="ctr"/>
          <a:lstStyle/>
          <a:p>
            <a:pPr>
              <a:defRPr/>
            </a:pPr>
            <a:endParaRPr lang="zh-CN" altLang="en-US" sz="1600"/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53534" y="60326"/>
            <a:ext cx="10930466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b" anchorCtr="0" compatLnSpc="1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GB" altLang="zh-CN" dirty="0"/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11495618" y="6419850"/>
            <a:ext cx="560916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9" tIns="45714" rIns="91429" bIns="45714"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031" name="Rectangle 20"/>
          <p:cNvSpPr>
            <a:spLocks noChangeArrowheads="1"/>
          </p:cNvSpPr>
          <p:nvPr/>
        </p:nvSpPr>
        <p:spPr bwMode="auto">
          <a:xfrm>
            <a:off x="0" y="6365876"/>
            <a:ext cx="12192000" cy="492125"/>
          </a:xfrm>
          <a:prstGeom prst="rect">
            <a:avLst/>
          </a:prstGeom>
          <a:gradFill rotWithShape="1">
            <a:gsLst>
              <a:gs pos="0">
                <a:srgbClr val="7889FB"/>
              </a:gs>
              <a:gs pos="100000">
                <a:srgbClr val="383F74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91429" tIns="45714" rIns="91429" bIns="45714" anchor="ctr"/>
          <a:lstStyle/>
          <a:p>
            <a:pPr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高级计算机图形学</a:t>
            </a:r>
            <a:endParaRPr lang="zh-CN" altLang="en-US" sz="2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9" name="Picture 21" descr="uestc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7" y="3483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 userDrawn="1"/>
        </p:nvSpPr>
        <p:spPr>
          <a:xfrm>
            <a:off x="11009805" y="6459132"/>
            <a:ext cx="1066295" cy="338542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zh-CN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2025</a:t>
            </a:r>
            <a:r>
              <a:rPr lang="zh-CN" altLang="en-US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年秋</a:t>
            </a:r>
            <a:endParaRPr lang="zh-CN" altLang="en-US" sz="1600" b="1" i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54330" indent="-3543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  <a:cs typeface="+mn-cs"/>
        </a:defRPr>
      </a:lvl1pPr>
      <a:lvl2pPr marL="898525" indent="-363855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2pPr>
      <a:lvl3pPr marL="1522730" indent="-4432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3pPr>
      <a:lvl4pPr marL="1600200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4pPr>
      <a:lvl5pPr marL="1951355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5pPr>
      <a:lvl6pPr marL="2409825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6pPr>
      <a:lvl7pPr marL="28663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7pPr>
      <a:lvl8pPr marL="33235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8pPr>
      <a:lvl9pPr marL="37807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0" y="6366414"/>
            <a:ext cx="12192000" cy="492125"/>
          </a:xfrm>
          <a:prstGeom prst="rect">
            <a:avLst/>
          </a:prstGeom>
          <a:gradFill rotWithShape="1">
            <a:gsLst>
              <a:gs pos="0">
                <a:srgbClr val="7889FB"/>
              </a:gs>
              <a:gs pos="100000">
                <a:srgbClr val="383F74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91429" tIns="45714" rIns="91429" bIns="45714" anchor="ctr"/>
          <a:lstStyle/>
          <a:p>
            <a:pPr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电子科技大学</a:t>
            </a:r>
            <a:endParaRPr lang="zh-CN" altLang="en-US" sz="2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3945467" y="6016626"/>
            <a:ext cx="4773084" cy="555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9" tIns="45714" rIns="91429" bIns="45714"/>
          <a:lstStyle/>
          <a:p>
            <a:pPr eaLnBrk="0" hangingPunct="0">
              <a:defRPr/>
            </a:pPr>
            <a:endParaRPr lang="en-US" altLang="zh-CN" sz="1600">
              <a:latin typeface="Times New Roman" panose="02020603050405020304" pitchFamily="18" charset="0"/>
            </a:endParaRPr>
          </a:p>
        </p:txBody>
      </p:sp>
      <p:sp>
        <p:nvSpPr>
          <p:cNvPr id="139266" name="AutoShape 2" descr="http://t11.baidu.com/it/u=975435960,157200472&amp;fm=21&amp;gp=0.jpg"/>
          <p:cNvSpPr>
            <a:spLocks noChangeAspect="1" noChangeArrowheads="1"/>
          </p:cNvSpPr>
          <p:nvPr/>
        </p:nvSpPr>
        <p:spPr bwMode="auto">
          <a:xfrm>
            <a:off x="218017" y="-144463"/>
            <a:ext cx="406400" cy="304801"/>
          </a:xfrm>
          <a:prstGeom prst="rect">
            <a:avLst/>
          </a:prstGeom>
          <a:noFill/>
        </p:spPr>
        <p:txBody>
          <a:bodyPr lIns="91429" tIns="45714" rIns="91429" bIns="45714"/>
          <a:lstStyle/>
          <a:p>
            <a:pPr>
              <a:defRPr/>
            </a:pPr>
            <a:endParaRPr lang="zh-CN" altLang="en-US" sz="1600"/>
          </a:p>
        </p:txBody>
      </p:sp>
      <p:pic>
        <p:nvPicPr>
          <p:cNvPr id="1026" name="Picture 2" descr="http://t13.baidu.com/it/u=1814656950,1493058970&amp;fm=224&amp;app=112&amp;f=JPEG?w=500&amp;h=50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0" t="10689" r="21272" b="9176"/>
          <a:stretch>
            <a:fillRect/>
          </a:stretch>
        </p:blipFill>
        <p:spPr bwMode="auto">
          <a:xfrm>
            <a:off x="5507710" y="152776"/>
            <a:ext cx="1199756" cy="12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5" r="11644"/>
          <a:stretch>
            <a:fillRect/>
          </a:stretch>
        </p:blipFill>
        <p:spPr>
          <a:xfrm>
            <a:off x="2846970" y="152776"/>
            <a:ext cx="2291785" cy="1260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4"/>
          <a:srcRect l="49891" r="-1" b="49796"/>
          <a:stretch>
            <a:fillRect/>
          </a:stretch>
        </p:blipFill>
        <p:spPr>
          <a:xfrm>
            <a:off x="239350" y="152776"/>
            <a:ext cx="2238665" cy="12600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4"/>
          <a:srcRect t="49796" r="49890"/>
          <a:stretch>
            <a:fillRect/>
          </a:stretch>
        </p:blipFill>
        <p:spPr>
          <a:xfrm>
            <a:off x="7076420" y="152776"/>
            <a:ext cx="2238667" cy="1260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4"/>
          <a:srcRect l="49621" t="50192"/>
          <a:stretch>
            <a:fillRect/>
          </a:stretch>
        </p:blipFill>
        <p:spPr>
          <a:xfrm>
            <a:off x="9684043" y="152776"/>
            <a:ext cx="2268608" cy="1260000"/>
          </a:xfrm>
          <a:prstGeom prst="rect">
            <a:avLst/>
          </a:prstGeom>
        </p:spPr>
      </p:pic>
      <p:pic>
        <p:nvPicPr>
          <p:cNvPr id="11" name="图片 10"/>
          <p:cNvPicPr/>
          <p:nvPr userDrawn="1"/>
        </p:nvPicPr>
        <p:blipFill>
          <a:blip r:embed="rId5"/>
          <a:stretch>
            <a:fillRect/>
          </a:stretch>
        </p:blipFill>
        <p:spPr>
          <a:xfrm>
            <a:off x="11678475" y="6365875"/>
            <a:ext cx="493200" cy="493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ransition/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54330" indent="-35433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98525" indent="-363855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rgbClr val="000066"/>
        </a:buClr>
        <a:buSzPct val="70000"/>
        <a:buFont typeface="Wingdings" panose="05000000000000000000" pitchFamily="2" charset="2"/>
        <a:buChar char="u"/>
        <a:defRPr sz="2800">
          <a:solidFill>
            <a:schemeClr val="tx1"/>
          </a:solidFill>
          <a:latin typeface="+mn-lt"/>
          <a:ea typeface="+mn-ea"/>
        </a:defRPr>
      </a:lvl2pPr>
      <a:lvl3pPr marL="1249680" indent="-17018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3pPr>
      <a:lvl4pPr marL="1600200" indent="-17018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4pPr>
      <a:lvl5pPr marL="1951355" indent="-17018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5pPr>
      <a:lvl6pPr marL="2409825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6pPr>
      <a:lvl7pPr marL="28663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7pPr>
      <a:lvl8pPr marL="33235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8pPr>
      <a:lvl9pPr marL="37807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6751" y="1357314"/>
            <a:ext cx="11049000" cy="298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t" anchorCtr="0" compatLnSpc="1">
            <a:sp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GB" altLang="zh-CN"/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rot="16200000">
            <a:off x="6220884" y="-4660900"/>
            <a:ext cx="0" cy="109347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</a:ln>
        </p:spPr>
        <p:txBody>
          <a:bodyPr lIns="91429" tIns="45714" rIns="91429" bIns="45714" anchor="ctr"/>
          <a:lstStyle/>
          <a:p>
            <a:pPr>
              <a:defRPr/>
            </a:pPr>
            <a:endParaRPr lang="zh-CN" altLang="en-US" sz="1600"/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753534" y="60326"/>
            <a:ext cx="10930466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9" tIns="45714" rIns="91429" bIns="45714" numCol="1" anchor="b" anchorCtr="0" compatLnSpc="1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GB" altLang="zh-CN" dirty="0"/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11495618" y="6419850"/>
            <a:ext cx="560916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429" tIns="45714" rIns="91429" bIns="45714"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031" name="Rectangle 20"/>
          <p:cNvSpPr>
            <a:spLocks noChangeArrowheads="1"/>
          </p:cNvSpPr>
          <p:nvPr/>
        </p:nvSpPr>
        <p:spPr bwMode="auto">
          <a:xfrm>
            <a:off x="0" y="6365876"/>
            <a:ext cx="12192000" cy="492125"/>
          </a:xfrm>
          <a:prstGeom prst="rect">
            <a:avLst/>
          </a:prstGeom>
          <a:gradFill rotWithShape="1">
            <a:gsLst>
              <a:gs pos="0">
                <a:srgbClr val="7889FB"/>
              </a:gs>
              <a:gs pos="100000">
                <a:srgbClr val="383F74"/>
              </a:gs>
            </a:gsLst>
            <a:lin ang="0" scaled="1"/>
          </a:gradFill>
          <a:ln w="9525">
            <a:noFill/>
            <a:miter lim="800000"/>
          </a:ln>
        </p:spPr>
        <p:txBody>
          <a:bodyPr wrap="none" lIns="91429" tIns="45714" rIns="91429" bIns="45714" anchor="ctr"/>
          <a:lstStyle/>
          <a:p>
            <a:pPr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高级计算机图形学</a:t>
            </a:r>
            <a:endParaRPr lang="zh-CN" altLang="en-US" sz="2000" b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9" name="Picture 21" descr="uestc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7" y="3483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矩形 10"/>
          <p:cNvSpPr/>
          <p:nvPr userDrawn="1"/>
        </p:nvSpPr>
        <p:spPr>
          <a:xfrm>
            <a:off x="11009805" y="6459132"/>
            <a:ext cx="1066295" cy="338542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>
              <a:defRPr/>
            </a:pPr>
            <a:r>
              <a:rPr lang="en-US" altLang="zh-CN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2024</a:t>
            </a:r>
            <a:r>
              <a:rPr lang="zh-CN" altLang="en-US" sz="1600" b="1" i="1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年秋</a:t>
            </a:r>
            <a:endParaRPr lang="zh-CN" altLang="en-US" sz="1600" b="1" i="1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ransition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C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隶书" panose="02010509060101010101" pitchFamily="49" charset="-122"/>
          <a:ea typeface="隶书" panose="02010509060101010101" pitchFamily="49" charset="-122"/>
        </a:defRPr>
      </a:lvl9pPr>
    </p:titleStyle>
    <p:bodyStyle>
      <a:lvl1pPr marL="354330" indent="-3543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1"/>
        </a:buClr>
        <a:buSzPct val="9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  <a:cs typeface="+mn-cs"/>
        </a:defRPr>
      </a:lvl1pPr>
      <a:lvl2pPr marL="898525" indent="-363855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Ø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2pPr>
      <a:lvl3pPr marL="1522730" indent="-44323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SzPct val="80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3pPr>
      <a:lvl4pPr marL="1600200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4pPr>
      <a:lvl5pPr marL="1951355" indent="-17018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楷体_GB2312" pitchFamily="49" charset="-122"/>
          <a:ea typeface="楷体_GB2312" pitchFamily="49" charset="-122"/>
        </a:defRPr>
      </a:lvl5pPr>
      <a:lvl6pPr marL="2409825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6pPr>
      <a:lvl7pPr marL="28663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7pPr>
      <a:lvl8pPr marL="33235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8pPr>
      <a:lvl9pPr marL="3780790" indent="-1714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11"/>
          <p:cNvSpPr>
            <a:spLocks noGrp="1" noChangeArrowheads="1"/>
          </p:cNvSpPr>
          <p:nvPr>
            <p:ph type="ftr" sz="quarter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9pPr>
          </a:lstStyle>
          <a:p>
            <a:r>
              <a:rPr lang="en-US" altLang="zh-CN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三维图形程序设计</a:t>
            </a:r>
            <a:endParaRPr lang="en-US" altLang="zh-CN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0" y="2060848"/>
            <a:ext cx="12192000" cy="1016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91429" tIns="45714" rIns="91429" bIns="45714"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9pPr>
          </a:lstStyle>
          <a:p>
            <a:pPr algn="ctr">
              <a:defRPr/>
            </a:pPr>
            <a:r>
              <a:rPr lang="zh-CN" altLang="en-US" sz="6000" kern="0" dirty="0">
                <a:solidFill>
                  <a:srgbClr val="C00000"/>
                </a:solidFill>
              </a:rPr>
              <a:t>考试复习</a:t>
            </a:r>
            <a:endParaRPr lang="zh-CN" altLang="en-US" sz="6000" kern="0" dirty="0">
              <a:solidFill>
                <a:srgbClr val="C0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536" y="3711921"/>
            <a:ext cx="3960440" cy="223687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l="4778" r="5290"/>
          <a:stretch>
            <a:fillRect/>
          </a:stretch>
        </p:blipFill>
        <p:spPr>
          <a:xfrm>
            <a:off x="6312024" y="3688369"/>
            <a:ext cx="3960440" cy="2236870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>
                <a:cs typeface="+mj-cs"/>
              </a:rPr>
              <a:t>近期教学安排</a:t>
            </a:r>
            <a:endParaRPr lang="zh-CN" altLang="en-US" dirty="0">
              <a:cs typeface="+mj-cs"/>
            </a:endParaRPr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75420" y="1556792"/>
            <a:ext cx="10441160" cy="168904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（今天）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，星期二（第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节），主楼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A2 411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讲课：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学时），星期五（第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节），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品学楼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C211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日，星期六（第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节），主楼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A2 411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考试说明</a:t>
            </a:r>
            <a:endParaRPr lang="zh-CN" altLang="en-US" dirty="0">
              <a:cs typeface="+mj-cs"/>
            </a:endParaRPr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024063" y="1357313"/>
            <a:ext cx="8464425" cy="1211986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考试时间：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</a:rPr>
              <a:t>2025.10.31</a:t>
            </a:r>
            <a:r>
              <a:rPr lang="zh-CN" altLang="en-US" sz="2400" dirty="0">
                <a:ea typeface="微软雅黑" panose="020B0503020204020204" pitchFamily="34" charset="-122"/>
              </a:rPr>
              <a:t>（星期五）</a:t>
            </a:r>
            <a:r>
              <a:rPr lang="en-US" altLang="zh-CN" sz="2400" dirty="0">
                <a:ea typeface="微软雅黑" panose="020B0503020204020204" pitchFamily="34" charset="-122"/>
              </a:rPr>
              <a:t> 10:20-12:20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考试地点：清水河校区 </a:t>
            </a:r>
            <a:r>
              <a:rPr lang="zh-CN" altLang="en-US" sz="2400" dirty="0">
                <a:solidFill>
                  <a:srgbClr val="FF0000"/>
                </a:solidFill>
                <a:ea typeface="微软雅黑" panose="020B0503020204020204" pitchFamily="34" charset="-122"/>
              </a:rPr>
              <a:t>品学楼</a:t>
            </a:r>
            <a:r>
              <a:rPr lang="en-US" altLang="zh-CN" sz="2400" dirty="0">
                <a:solidFill>
                  <a:srgbClr val="FF0000"/>
                </a:solidFill>
                <a:ea typeface="微软雅黑" panose="020B0503020204020204" pitchFamily="34" charset="-122"/>
              </a:rPr>
              <a:t>A111</a:t>
            </a:r>
            <a:endParaRPr lang="en-US" altLang="zh-CN" sz="2400" dirty="0">
              <a:solidFill>
                <a:srgbClr val="FF0000"/>
              </a:solidFill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91544" y="3429000"/>
            <a:ext cx="8464425" cy="581044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实验报告：</a:t>
            </a:r>
            <a:r>
              <a:rPr lang="en-US" altLang="zh-CN" sz="2400" dirty="0">
                <a:ea typeface="微软雅黑" panose="020B0503020204020204" pitchFamily="34" charset="-122"/>
              </a:rPr>
              <a:t>2025.11.03</a:t>
            </a:r>
            <a:r>
              <a:rPr lang="zh-CN" altLang="en-US" sz="2400" dirty="0">
                <a:ea typeface="微软雅黑" panose="020B0503020204020204" pitchFamily="34" charset="-122"/>
              </a:rPr>
              <a:t>（星期一）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考试说明</a:t>
            </a:r>
            <a:endParaRPr lang="zh-CN" altLang="en-US" dirty="0">
              <a:cs typeface="+mj-cs"/>
            </a:endParaRPr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063552" y="1268761"/>
            <a:ext cx="8286750" cy="3875405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考试形式：闭卷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考试时长：</a:t>
            </a:r>
            <a:r>
              <a:rPr lang="en-US" altLang="zh-CN" sz="2400" dirty="0">
                <a:ea typeface="微软雅黑" panose="020B0503020204020204" pitchFamily="34" charset="-122"/>
              </a:rPr>
              <a:t>120</a:t>
            </a:r>
            <a:r>
              <a:rPr lang="zh-CN" altLang="en-US" sz="2400" dirty="0">
                <a:ea typeface="微软雅黑" panose="020B0503020204020204" pitchFamily="34" charset="-122"/>
              </a:rPr>
              <a:t>分钟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考试题型：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 marL="534670" lvl="1" indent="0">
              <a:lnSpc>
                <a:spcPct val="110000"/>
              </a:lnSpc>
              <a:buNone/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一、填空题</a:t>
            </a:r>
            <a:r>
              <a:rPr lang="en-US" altLang="zh-CN" sz="2400" dirty="0">
                <a:ea typeface="微软雅黑" panose="020B0503020204020204" pitchFamily="34" charset="-122"/>
              </a:rPr>
              <a:t>(10*1)</a:t>
            </a:r>
            <a:endParaRPr lang="zh-CN" altLang="en-US" sz="2400" dirty="0">
              <a:ea typeface="微软雅黑" panose="020B0503020204020204" pitchFamily="34" charset="-122"/>
            </a:endParaRPr>
          </a:p>
          <a:p>
            <a:pPr marL="534670" lvl="1" indent="0">
              <a:lnSpc>
                <a:spcPct val="110000"/>
              </a:lnSpc>
              <a:buNone/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二、单选题</a:t>
            </a:r>
            <a:r>
              <a:rPr lang="en-US" altLang="zh-CN" sz="2400" dirty="0">
                <a:ea typeface="微软雅黑" panose="020B0503020204020204" pitchFamily="34" charset="-122"/>
              </a:rPr>
              <a:t>(5*2)</a:t>
            </a:r>
            <a:endParaRPr lang="zh-CN" altLang="en-US" sz="2400" dirty="0">
              <a:ea typeface="微软雅黑" panose="020B0503020204020204" pitchFamily="34" charset="-122"/>
            </a:endParaRPr>
          </a:p>
          <a:p>
            <a:pPr marL="534670" lvl="1" indent="0">
              <a:lnSpc>
                <a:spcPct val="110000"/>
              </a:lnSpc>
              <a:buNone/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三、判断题</a:t>
            </a:r>
            <a:r>
              <a:rPr lang="en-US" altLang="zh-CN" sz="2400" dirty="0">
                <a:ea typeface="微软雅黑" panose="020B0503020204020204" pitchFamily="34" charset="-122"/>
              </a:rPr>
              <a:t>(20*1)</a:t>
            </a:r>
            <a:endParaRPr lang="zh-CN" altLang="en-US" sz="2400" dirty="0">
              <a:ea typeface="微软雅黑" panose="020B0503020204020204" pitchFamily="34" charset="-122"/>
            </a:endParaRPr>
          </a:p>
          <a:p>
            <a:pPr marL="534670" lvl="1" indent="0">
              <a:lnSpc>
                <a:spcPct val="110000"/>
              </a:lnSpc>
              <a:buNone/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四、问答题</a:t>
            </a:r>
            <a:r>
              <a:rPr lang="en-US" altLang="zh-CN" sz="2400" dirty="0">
                <a:ea typeface="微软雅黑" panose="020B0503020204020204" pitchFamily="34" charset="-122"/>
              </a:rPr>
              <a:t>(6*5)</a:t>
            </a:r>
            <a:endParaRPr lang="zh-CN" altLang="en-US" sz="2400" dirty="0">
              <a:ea typeface="微软雅黑" panose="020B0503020204020204" pitchFamily="34" charset="-122"/>
            </a:endParaRPr>
          </a:p>
          <a:p>
            <a:pPr marL="534670" lvl="1" indent="0">
              <a:lnSpc>
                <a:spcPct val="110000"/>
              </a:lnSpc>
              <a:buNone/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五、编程题</a:t>
            </a:r>
            <a:r>
              <a:rPr lang="en-US" altLang="zh-CN" sz="2400" dirty="0">
                <a:ea typeface="微软雅黑" panose="020B0503020204020204" pitchFamily="34" charset="-122"/>
              </a:rPr>
              <a:t>(10*1+20*1)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81454" y="836712"/>
          <a:ext cx="9829092" cy="5958840"/>
        </p:xfrm>
        <a:graphic>
          <a:graphicData uri="http://schemas.openxmlformats.org/drawingml/2006/table">
            <a:tbl>
              <a:tblPr firstRow="1" firstCol="1" bandRow="1"/>
              <a:tblGrid>
                <a:gridCol w="4100673"/>
                <a:gridCol w="5728419"/>
              </a:tblGrid>
              <a:tr h="142195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讲义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PPT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教材章节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01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绪论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 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3168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02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</a:t>
                      </a: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OpenGL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编程基础</a:t>
                      </a: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3.5 OpenGL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简介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4.2 OpenGL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中指定二维世界坐标系统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4.3 OpenGL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画点函数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4.4 OpenGL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画线函数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4.16 OpenGL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显示窗口重定形函数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图形用户界面和交互输入方法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95362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03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三维图形编程技术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7.9 OpenGL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二维几何变换函数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7.10 OpenGL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几何变换编程示例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8.4 OpenGL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二维观察函数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9.8 OpenGL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几何变换函数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10.10 OpenGL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三维观察函数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16.14.1 OpenGL 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多边形剔除函数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16.14.2 OpenGL 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深度缓存函数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04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颜色模型和颜色应用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19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颜色模型和颜色应用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05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光照模型与面绘制算法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17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光照模型与面绘制算法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06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纹理与纹理映射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18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纹理与表面细节添加方法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07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全局光照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1_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光线追踪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21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全局光照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07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全局光照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2_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辐射度方法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21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全局光照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195"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08</a:t>
                      </a:r>
                      <a:r>
                        <a:rPr lang="zh-CN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可编程着色器</a:t>
                      </a:r>
                      <a:r>
                        <a:rPr lang="en-US" sz="1600" b="1" kern="1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.pptx</a:t>
                      </a:r>
                      <a:endParaRPr lang="zh-CN" sz="1600" b="1" kern="1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第</a:t>
                      </a:r>
                      <a:r>
                        <a:rPr lang="en-US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22</a:t>
                      </a:r>
                      <a:r>
                        <a:rPr lang="zh-CN" sz="1600" b="1" kern="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章 可编程着色器</a:t>
                      </a:r>
                      <a:endParaRPr lang="zh-CN" sz="1600" b="1" kern="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60941" marR="6094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考试内容范围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1 </a:t>
            </a:r>
            <a:r>
              <a:rPr lang="zh-CN" altLang="en-US" dirty="0"/>
              <a:t>章 绪论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024063" y="1357314"/>
            <a:ext cx="8286750" cy="1538229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什么是图形？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图形有哪些分类？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图形与图像的区别是什么？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2 </a:t>
            </a:r>
            <a:r>
              <a:rPr lang="zh-CN" altLang="en-US" dirty="0"/>
              <a:t>章 </a:t>
            </a:r>
            <a:r>
              <a:rPr lang="en-US" altLang="zh-CN" dirty="0"/>
              <a:t>OpenGL</a:t>
            </a:r>
            <a:r>
              <a:rPr lang="zh-CN" altLang="en-US" dirty="0"/>
              <a:t>编程基础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024063" y="1357314"/>
            <a:ext cx="8286750" cy="3098657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什么是图形？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如何理解</a:t>
            </a: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是编程语言吗？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什么是图元？什么是几何图元？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编程的框架结构、事件处理方式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选择与拾取编程方法与步骤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3 </a:t>
            </a:r>
            <a:r>
              <a:rPr lang="zh-CN" altLang="en-US" dirty="0"/>
              <a:t>章 三维图形编程技术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1424" y="980728"/>
            <a:ext cx="10729191" cy="4948394"/>
          </a:xfrm>
        </p:spPr>
        <p:txBody>
          <a:bodyPr/>
          <a:lstStyle/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包含哪些变换？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什么是对象坐标系、世界坐标系、视点坐标系、设备坐标系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模型变换、视图变换、投影变换、视口变换的作用及实现方法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何为三维物体的定位和定向？其原理是什么？</a:t>
            </a: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的实现途径是什么？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什么是正交投影、透视投影？两者有何区别？各自有何优缺点？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 err="1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模型变换的顺序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矩阵堆栈有哪两种操作？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4 </a:t>
            </a:r>
            <a:r>
              <a:rPr lang="zh-CN" altLang="en-US" dirty="0"/>
              <a:t>章 颜色模型和颜色应用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64194" y="1357314"/>
            <a:ext cx="10360397" cy="3098657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什么是颜色模型？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什么是基色、互补色？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</a:t>
            </a:r>
            <a:r>
              <a:rPr lang="en-US" altLang="zh-CN" sz="2400" dirty="0">
                <a:ea typeface="微软雅黑" panose="020B0503020204020204" pitchFamily="34" charset="-122"/>
              </a:rPr>
              <a:t>RGB</a:t>
            </a:r>
            <a:r>
              <a:rPr lang="zh-CN" altLang="en-US" sz="2400" dirty="0">
                <a:ea typeface="微软雅黑" panose="020B0503020204020204" pitchFamily="34" charset="-122"/>
              </a:rPr>
              <a:t>颜色模型、</a:t>
            </a:r>
            <a:r>
              <a:rPr lang="en-US" altLang="zh-CN" sz="2400" dirty="0">
                <a:ea typeface="微软雅黑" panose="020B0503020204020204" pitchFamily="34" charset="-122"/>
              </a:rPr>
              <a:t>CMY</a:t>
            </a:r>
            <a:r>
              <a:rPr lang="zh-CN" altLang="en-US" sz="2400" dirty="0">
                <a:ea typeface="微软雅黑" panose="020B0503020204020204" pitchFamily="34" charset="-122"/>
              </a:rPr>
              <a:t>颜色模型、</a:t>
            </a:r>
            <a:r>
              <a:rPr lang="en-US" altLang="zh-CN" sz="2400" dirty="0">
                <a:ea typeface="微软雅黑" panose="020B0503020204020204" pitchFamily="34" charset="-122"/>
              </a:rPr>
              <a:t>HSV</a:t>
            </a:r>
            <a:r>
              <a:rPr lang="zh-CN" altLang="en-US" sz="2400" dirty="0">
                <a:ea typeface="微软雅黑" panose="020B0503020204020204" pitchFamily="34" charset="-122"/>
              </a:rPr>
              <a:t>颜色模型？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HSV</a:t>
            </a:r>
            <a:r>
              <a:rPr lang="zh-CN" altLang="en-US" sz="2400" dirty="0">
                <a:ea typeface="微软雅黑" panose="020B0503020204020204" pitchFamily="34" charset="-122"/>
              </a:rPr>
              <a:t>颜色模型有什么优点？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中知道光源颜色和物体颜色，如何得到反射颜色？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什么是颜色混合？实现原理如何？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5 </a:t>
            </a:r>
            <a:r>
              <a:rPr lang="zh-CN" altLang="en-US" dirty="0"/>
              <a:t>章 光照模型与面绘制算法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64195" y="980728"/>
            <a:ext cx="10072365" cy="4659084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什么是光照明模型、光照模型、明暗模型、表面绘制？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有哪些因素影响物体表面关照明效果？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</a:t>
            </a:r>
            <a:r>
              <a:rPr lang="en-US" altLang="zh-CN" sz="2400" dirty="0">
                <a:ea typeface="微软雅黑" panose="020B0503020204020204" pitchFamily="34" charset="-122"/>
              </a:rPr>
              <a:t>Lambert</a:t>
            </a:r>
            <a:r>
              <a:rPr lang="zh-CN" altLang="en-US" sz="2400" dirty="0">
                <a:ea typeface="微软雅黑" panose="020B0503020204020204" pitchFamily="34" charset="-122"/>
              </a:rPr>
              <a:t>漫反射模型？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</a:t>
            </a:r>
            <a:r>
              <a:rPr lang="en-US" altLang="zh-CN" sz="2400" dirty="0" err="1">
                <a:ea typeface="微软雅黑" panose="020B0503020204020204" pitchFamily="34" charset="-122"/>
              </a:rPr>
              <a:t>Phong</a:t>
            </a:r>
            <a:r>
              <a:rPr lang="zh-CN" altLang="en-US" sz="2400" dirty="0">
                <a:ea typeface="微软雅黑" panose="020B0503020204020204" pitchFamily="34" charset="-122"/>
              </a:rPr>
              <a:t>光照明模型？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</a:t>
            </a:r>
            <a:r>
              <a:rPr lang="en-US" altLang="zh-CN" sz="2400" dirty="0" err="1">
                <a:ea typeface="微软雅黑" panose="020B0503020204020204" pitchFamily="34" charset="-122"/>
              </a:rPr>
              <a:t>Gouraud</a:t>
            </a:r>
            <a:r>
              <a:rPr lang="en-US" altLang="zh-CN" sz="2400" dirty="0">
                <a:ea typeface="微软雅黑" panose="020B0503020204020204" pitchFamily="34" charset="-122"/>
              </a:rPr>
              <a:t> Shading</a:t>
            </a:r>
            <a:r>
              <a:rPr lang="zh-CN" altLang="en-US" sz="2400" dirty="0">
                <a:ea typeface="微软雅黑" panose="020B0503020204020204" pitchFamily="34" charset="-122"/>
              </a:rPr>
              <a:t>及实现方法？有什么优缺点？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</a:t>
            </a:r>
            <a:r>
              <a:rPr lang="en-US" altLang="zh-CN" sz="2400" dirty="0" err="1">
                <a:ea typeface="微软雅黑" panose="020B0503020204020204" pitchFamily="34" charset="-122"/>
              </a:rPr>
              <a:t>Phong</a:t>
            </a:r>
            <a:r>
              <a:rPr lang="en-US" altLang="zh-CN" sz="2400" dirty="0">
                <a:ea typeface="微软雅黑" panose="020B0503020204020204" pitchFamily="34" charset="-122"/>
              </a:rPr>
              <a:t> Shading</a:t>
            </a:r>
            <a:r>
              <a:rPr lang="zh-CN" altLang="en-US" sz="2400" dirty="0">
                <a:ea typeface="微软雅黑" panose="020B0503020204020204" pitchFamily="34" charset="-122"/>
              </a:rPr>
              <a:t>及实现方法？有什么优缺点？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中光照与材质的表示方式及含义？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中根据光照模型，最终到达人眼的颜色如何确定？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光照中法线向量有什么作用？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64195" y="980728"/>
            <a:ext cx="10216381" cy="4582140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什么是纹理、纹理映射？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纹理分哪几类？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二维纹理映射有哪些实现方法？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什么是纹理走样？有哪些反走样方法？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 err="1">
                <a:ea typeface="微软雅黑" panose="020B0503020204020204" pitchFamily="34" charset="-122"/>
              </a:rPr>
              <a:t>MipMap</a:t>
            </a:r>
            <a:r>
              <a:rPr lang="zh-CN" altLang="en-US" sz="2400" dirty="0">
                <a:ea typeface="微软雅黑" panose="020B0503020204020204" pitchFamily="34" charset="-122"/>
              </a:rPr>
              <a:t>方法主要解决什么问题？描述其实现方法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什么是凹凸映射？描述其实现方法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提供了哪两种纹理映射方式？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纹理映射</a:t>
            </a:r>
            <a:r>
              <a:rPr lang="en-US" altLang="zh-CN" sz="2400" dirty="0" err="1">
                <a:ea typeface="微软雅黑" panose="020B0503020204020204" pitchFamily="34" charset="-122"/>
              </a:rPr>
              <a:t>glTexImage</a:t>
            </a:r>
            <a:r>
              <a:rPr lang="en-US" altLang="zh-CN" sz="2400" dirty="0">
                <a:ea typeface="微软雅黑" panose="020B0503020204020204" pitchFamily="34" charset="-122"/>
              </a:rPr>
              <a:t>*()</a:t>
            </a:r>
            <a:r>
              <a:rPr lang="zh-CN" altLang="en-US" sz="2400" dirty="0">
                <a:ea typeface="微软雅黑" panose="020B0503020204020204" pitchFamily="34" charset="-122"/>
              </a:rPr>
              <a:t>与绘制像素</a:t>
            </a:r>
            <a:r>
              <a:rPr lang="en-US" altLang="zh-CN" sz="2400" dirty="0" err="1">
                <a:ea typeface="微软雅黑" panose="020B0503020204020204" pitchFamily="34" charset="-122"/>
              </a:rPr>
              <a:t>glDrawPixels</a:t>
            </a:r>
            <a:r>
              <a:rPr lang="en-US" altLang="zh-CN" sz="2400" dirty="0">
                <a:ea typeface="微软雅黑" panose="020B0503020204020204" pitchFamily="34" charset="-122"/>
              </a:rPr>
              <a:t>()</a:t>
            </a:r>
            <a:r>
              <a:rPr lang="zh-CN" altLang="en-US" sz="2400" dirty="0">
                <a:ea typeface="微软雅黑" panose="020B0503020204020204" pitchFamily="34" charset="-122"/>
              </a:rPr>
              <a:t>有什么区别？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6 </a:t>
            </a:r>
            <a:r>
              <a:rPr lang="zh-CN" altLang="en-US" dirty="0"/>
              <a:t>章 纹理与表面细节添加方法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83432" y="980728"/>
            <a:ext cx="10585175" cy="2058372"/>
          </a:xfrm>
        </p:spPr>
        <p:txBody>
          <a:bodyPr/>
          <a:lstStyle/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中使用纹理对象有什么优点？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纹理映射有哪两种模式？各解决什么问题？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中重复纹理与箝位纹理有什么区别？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中使用纹理对象实现纹理映射的编程步骤？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6 </a:t>
            </a:r>
            <a:r>
              <a:rPr lang="zh-CN" altLang="en-US" dirty="0"/>
              <a:t>章 纹理与表面细节添加方法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7 </a:t>
            </a:r>
            <a:r>
              <a:rPr lang="zh-CN" altLang="en-US" dirty="0"/>
              <a:t>章 全局光照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64195" y="1052736"/>
            <a:ext cx="10288389" cy="5179226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什么是全局光照明模型？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全局光照明模型有哪些常见的算法？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光线追踪算法原理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光线追踪算法实现描述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什么是二叉光线追踪树？请用图示说明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光线追踪算法中递归过程有哪些终止条件？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在光线追踪算法中如何实现阴影计算？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在光线追踪算法中至少会考虑哪四类光线？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光线追踪算法引起走样的原因是什么？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光线追踪的反走样处理方法有哪些？各自如何处理反走样？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7 </a:t>
            </a:r>
            <a:r>
              <a:rPr lang="zh-CN" altLang="en-US" dirty="0"/>
              <a:t>章 全局光照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9416" y="1099458"/>
            <a:ext cx="10873208" cy="4659084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有哪些常见的光线追踪加速技术？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光线追踪的包围盒加速技术的原理是什么？有哪些常用包围盒？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光线追踪的空间分割加速技术的原理是什么？有哪些典型的空间分割方法？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什么是辐射度？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什么是基本辐射度模型？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描述辐射度算法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辐射度算法中有哪两种表面分割方法？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辐射度算法有什么优缺点？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比较光线追踪与辐射度算法 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7 </a:t>
            </a:r>
            <a:r>
              <a:rPr lang="zh-CN" altLang="en-US" dirty="0"/>
              <a:t>章 全局光照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27448" y="1196752"/>
            <a:ext cx="10369152" cy="2578514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什么是环境映射？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描述环境映射实现方法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光子映射原理是什么？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光子映射能实现哪些特殊光照效果？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描述光子映射实现方法</a:t>
            </a:r>
            <a:endParaRPr lang="en-US" altLang="zh-CN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第 </a:t>
            </a:r>
            <a:r>
              <a:rPr lang="en-US" altLang="zh-CN" dirty="0"/>
              <a:t>8 </a:t>
            </a:r>
            <a:r>
              <a:rPr lang="zh-CN" altLang="en-US" dirty="0"/>
              <a:t>章 可编程着色器</a:t>
            </a:r>
            <a:endParaRPr lang="zh-CN" altLang="en-US" dirty="0"/>
          </a:p>
        </p:txBody>
      </p:sp>
      <p:sp>
        <p:nvSpPr>
          <p:cNvPr id="23859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99456" y="1268760"/>
            <a:ext cx="9865096" cy="3618799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什么是着色器？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描述</a:t>
            </a:r>
            <a:r>
              <a:rPr lang="en-US" altLang="zh-CN" sz="2400" dirty="0">
                <a:ea typeface="微软雅黑" panose="020B0503020204020204" pitchFamily="34" charset="-122"/>
              </a:rPr>
              <a:t>OpenGL</a:t>
            </a:r>
            <a:r>
              <a:rPr lang="zh-CN" altLang="en-US" sz="2400" dirty="0">
                <a:ea typeface="微软雅黑" panose="020B0503020204020204" pitchFamily="34" charset="-122"/>
              </a:rPr>
              <a:t>渲染流程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顶点着色器完成哪些工作？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片元着色器完成哪些工作？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掌握</a:t>
            </a:r>
            <a:r>
              <a:rPr lang="en-US" altLang="zh-CN" sz="2400" dirty="0">
                <a:ea typeface="微软雅黑" panose="020B0503020204020204" pitchFamily="34" charset="-122"/>
              </a:rPr>
              <a:t>GLSL</a:t>
            </a:r>
            <a:r>
              <a:rPr lang="zh-CN" altLang="en-US" sz="2400" dirty="0">
                <a:ea typeface="微软雅黑" panose="020B0503020204020204" pitchFamily="34" charset="-122"/>
              </a:rPr>
              <a:t>语言，能使用</a:t>
            </a:r>
            <a:r>
              <a:rPr lang="en-US" altLang="zh-CN" sz="2400" dirty="0">
                <a:ea typeface="微软雅黑" panose="020B0503020204020204" pitchFamily="34" charset="-122"/>
              </a:rPr>
              <a:t>GLSL</a:t>
            </a:r>
            <a:r>
              <a:rPr lang="zh-CN" altLang="en-US" sz="2400" dirty="0">
                <a:ea typeface="微软雅黑" panose="020B0503020204020204" pitchFamily="34" charset="-122"/>
              </a:rPr>
              <a:t>编写基本的着色器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着色器编程步骤是什么？涉及哪些函数？</a:t>
            </a:r>
            <a:endParaRPr lang="en-US" altLang="zh-CN" sz="2400" dirty="0"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2400" dirty="0">
                <a:ea typeface="微软雅黑" panose="020B0503020204020204" pitchFamily="34" charset="-122"/>
              </a:rPr>
              <a:t>掌握纹理映射着色器编写方法</a:t>
            </a:r>
            <a:endParaRPr lang="zh-CN" altLang="en-US" sz="2400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>
              <a:defRPr/>
            </a:pPr>
            <a:r>
              <a:rPr lang="zh-CN" altLang="en-US" dirty="0"/>
              <a:t>结束语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51" b="38450"/>
          <a:stretch>
            <a:fillRect/>
          </a:stretch>
        </p:blipFill>
        <p:spPr>
          <a:xfrm>
            <a:off x="2639616" y="1340769"/>
            <a:ext cx="6912768" cy="471789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Grp="1" noChangeArrowheads="1"/>
          </p:cNvSpPr>
          <p:nvPr>
            <p:ph type="sldNum" sz="quarter" idx="4294967295"/>
          </p:nvPr>
        </p:nvSpPr>
        <p:spPr>
          <a:xfrm>
            <a:off x="1524000" y="123825"/>
            <a:ext cx="515938" cy="228600"/>
          </a:xfrm>
          <a:prstGeom prst="rect">
            <a:avLst/>
          </a:prstGeom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华文琥珀" panose="02010800040101010101" pitchFamily="2" charset="-122"/>
              </a:defRPr>
            </a:lvl9pPr>
          </a:lstStyle>
          <a:p>
            <a:fld id="{69BB2E31-C2A8-4989-84CC-FBBAB29FC0AF}" type="slidenum">
              <a:rPr lang="en-US" altLang="zh-CN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en-US" altLang="zh-CN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6550" name="Text Box 6"/>
          <p:cNvSpPr txBox="1">
            <a:spLocks noChangeArrowheads="1"/>
          </p:cNvSpPr>
          <p:nvPr/>
        </p:nvSpPr>
        <p:spPr bwMode="auto">
          <a:xfrm>
            <a:off x="3179764" y="2636913"/>
            <a:ext cx="5832475" cy="1006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6000" b="1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Thank You!</a:t>
            </a:r>
            <a:endParaRPr lang="zh-CN" altLang="en-US" sz="6000" b="1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FILETITLE" val="CIS736-Basics-01-Math"/>
  <p:tag name="FOLDERNAME" val="CIS736-Basics-01-Math_270108225806"/>
  <p:tag name="PD" val="1825588"/>
  <p:tag name="WMSI" val="369"/>
  <p:tag name="WMIS" val="46646"/>
  <p:tag name="PREC" val="T"/>
  <p:tag name="NPWI" val="260"/>
</p:tagLst>
</file>

<file path=ppt/theme/theme1.xml><?xml version="1.0" encoding="utf-8"?>
<a:theme xmlns:a="http://schemas.openxmlformats.org/drawingml/2006/main" name="1_020424 Atlas Copco Dymamic Workplaces - Roadmap">
  <a:themeElements>
    <a:clrScheme name="1_020424 Atlas Copco Dymamic Workplaces - Roadmap 12">
      <a:dk1>
        <a:srgbClr val="000000"/>
      </a:dk1>
      <a:lt1>
        <a:srgbClr val="FFFFFF"/>
      </a:lt1>
      <a:dk2>
        <a:srgbClr val="199B9B"/>
      </a:dk2>
      <a:lt2>
        <a:srgbClr val="B2B2B2"/>
      </a:lt2>
      <a:accent1>
        <a:srgbClr val="006699"/>
      </a:accent1>
      <a:accent2>
        <a:srgbClr val="33CCCC"/>
      </a:accent2>
      <a:accent3>
        <a:srgbClr val="FFFFFF"/>
      </a:accent3>
      <a:accent4>
        <a:srgbClr val="000000"/>
      </a:accent4>
      <a:accent5>
        <a:srgbClr val="AAB8CA"/>
      </a:accent5>
      <a:accent6>
        <a:srgbClr val="2DB9B9"/>
      </a:accent6>
      <a:hlink>
        <a:srgbClr val="777777"/>
      </a:hlink>
      <a:folHlink>
        <a:srgbClr val="6699CC"/>
      </a:folHlink>
    </a:clrScheme>
    <a:fontScheme name="1_020424 Atlas Copco Dymamic Workplaces - Roadmap">
      <a:majorFont>
        <a:latin typeface="隶书"/>
        <a:ea typeface="隶书"/>
        <a:cs typeface=""/>
      </a:majorFont>
      <a:minorFont>
        <a:latin typeface="华文楷体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lnDef>
  </a:objectDefaults>
  <a:extraClrSchemeLst>
    <a:extraClrScheme>
      <a:clrScheme name="1_020424 Atlas Copco Dymamic Workplaces - Roadma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20424 Atlas Copco Dymamic Workplaces - Roadma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8">
        <a:dk1>
          <a:srgbClr val="000000"/>
        </a:dk1>
        <a:lt1>
          <a:srgbClr val="FFFFFF"/>
        </a:lt1>
        <a:dk2>
          <a:srgbClr val="199B9B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FF6B07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9">
        <a:dk1>
          <a:srgbClr val="000000"/>
        </a:dk1>
        <a:lt1>
          <a:srgbClr val="FFFFFF"/>
        </a:lt1>
        <a:dk2>
          <a:srgbClr val="33CCCC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0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1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703B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2">
        <a:dk1>
          <a:srgbClr val="000000"/>
        </a:dk1>
        <a:lt1>
          <a:srgbClr val="FFFFFF"/>
        </a:lt1>
        <a:dk2>
          <a:srgbClr val="199B9B"/>
        </a:dk2>
        <a:lt2>
          <a:srgbClr val="B2B2B2"/>
        </a:lt2>
        <a:accent1>
          <a:srgbClr val="006699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2DB9B9"/>
        </a:accent6>
        <a:hlink>
          <a:srgbClr val="777777"/>
        </a:hlink>
        <a:folHlink>
          <a:srgbClr val="66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020424 Atlas Copco Dymamic Workplaces - Roadmap">
  <a:themeElements>
    <a:clrScheme name="1_020424 Atlas Copco Dymamic Workplaces - Roadmap 12">
      <a:dk1>
        <a:srgbClr val="000000"/>
      </a:dk1>
      <a:lt1>
        <a:srgbClr val="FFFFFF"/>
      </a:lt1>
      <a:dk2>
        <a:srgbClr val="199B9B"/>
      </a:dk2>
      <a:lt2>
        <a:srgbClr val="B2B2B2"/>
      </a:lt2>
      <a:accent1>
        <a:srgbClr val="006699"/>
      </a:accent1>
      <a:accent2>
        <a:srgbClr val="33CCCC"/>
      </a:accent2>
      <a:accent3>
        <a:srgbClr val="FFFFFF"/>
      </a:accent3>
      <a:accent4>
        <a:srgbClr val="000000"/>
      </a:accent4>
      <a:accent5>
        <a:srgbClr val="AAB8CA"/>
      </a:accent5>
      <a:accent6>
        <a:srgbClr val="2DB9B9"/>
      </a:accent6>
      <a:hlink>
        <a:srgbClr val="777777"/>
      </a:hlink>
      <a:folHlink>
        <a:srgbClr val="6699CC"/>
      </a:folHlink>
    </a:clrScheme>
    <a:fontScheme name="1_020424 Atlas Copco Dymamic Workplaces - Roadmap">
      <a:majorFont>
        <a:latin typeface="隶书"/>
        <a:ea typeface="隶书"/>
        <a:cs typeface=""/>
      </a:majorFont>
      <a:minorFont>
        <a:latin typeface="华文楷体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lnDef>
  </a:objectDefaults>
  <a:extraClrSchemeLst>
    <a:extraClrScheme>
      <a:clrScheme name="1_020424 Atlas Copco Dymamic Workplaces - Roadma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20424 Atlas Copco Dymamic Workplaces - Roadma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8">
        <a:dk1>
          <a:srgbClr val="000000"/>
        </a:dk1>
        <a:lt1>
          <a:srgbClr val="FFFFFF"/>
        </a:lt1>
        <a:dk2>
          <a:srgbClr val="199B9B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FF6B07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9">
        <a:dk1>
          <a:srgbClr val="000000"/>
        </a:dk1>
        <a:lt1>
          <a:srgbClr val="FFFFFF"/>
        </a:lt1>
        <a:dk2>
          <a:srgbClr val="33CCCC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0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1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703B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2">
        <a:dk1>
          <a:srgbClr val="000000"/>
        </a:dk1>
        <a:lt1>
          <a:srgbClr val="FFFFFF"/>
        </a:lt1>
        <a:dk2>
          <a:srgbClr val="199B9B"/>
        </a:dk2>
        <a:lt2>
          <a:srgbClr val="B2B2B2"/>
        </a:lt2>
        <a:accent1>
          <a:srgbClr val="006699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2DB9B9"/>
        </a:accent6>
        <a:hlink>
          <a:srgbClr val="777777"/>
        </a:hlink>
        <a:folHlink>
          <a:srgbClr val="66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020424 Atlas Copco Dymamic Workplaces - Roadmap">
  <a:themeElements>
    <a:clrScheme name="1_020424 Atlas Copco Dymamic Workplaces - Roadmap 12">
      <a:dk1>
        <a:srgbClr val="000000"/>
      </a:dk1>
      <a:lt1>
        <a:srgbClr val="FFFFFF"/>
      </a:lt1>
      <a:dk2>
        <a:srgbClr val="199B9B"/>
      </a:dk2>
      <a:lt2>
        <a:srgbClr val="B2B2B2"/>
      </a:lt2>
      <a:accent1>
        <a:srgbClr val="006699"/>
      </a:accent1>
      <a:accent2>
        <a:srgbClr val="33CCCC"/>
      </a:accent2>
      <a:accent3>
        <a:srgbClr val="FFFFFF"/>
      </a:accent3>
      <a:accent4>
        <a:srgbClr val="000000"/>
      </a:accent4>
      <a:accent5>
        <a:srgbClr val="AAB8CA"/>
      </a:accent5>
      <a:accent6>
        <a:srgbClr val="2DB9B9"/>
      </a:accent6>
      <a:hlink>
        <a:srgbClr val="777777"/>
      </a:hlink>
      <a:folHlink>
        <a:srgbClr val="6699CC"/>
      </a:folHlink>
    </a:clrScheme>
    <a:fontScheme name="1_020424 Atlas Copco Dymamic Workplaces - Roadmap">
      <a:majorFont>
        <a:latin typeface="隶书"/>
        <a:ea typeface="隶书"/>
        <a:cs typeface=""/>
      </a:majorFont>
      <a:minorFont>
        <a:latin typeface="华文楷体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lnDef>
  </a:objectDefaults>
  <a:extraClrSchemeLst>
    <a:extraClrScheme>
      <a:clrScheme name="1_020424 Atlas Copco Dymamic Workplaces - Roadma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20424 Atlas Copco Dymamic Workplaces - Roadma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8">
        <a:dk1>
          <a:srgbClr val="000000"/>
        </a:dk1>
        <a:lt1>
          <a:srgbClr val="FFFFFF"/>
        </a:lt1>
        <a:dk2>
          <a:srgbClr val="199B9B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FF6B07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9">
        <a:dk1>
          <a:srgbClr val="000000"/>
        </a:dk1>
        <a:lt1>
          <a:srgbClr val="FFFFFF"/>
        </a:lt1>
        <a:dk2>
          <a:srgbClr val="33CCCC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0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1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703B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2">
        <a:dk1>
          <a:srgbClr val="000000"/>
        </a:dk1>
        <a:lt1>
          <a:srgbClr val="FFFFFF"/>
        </a:lt1>
        <a:dk2>
          <a:srgbClr val="199B9B"/>
        </a:dk2>
        <a:lt2>
          <a:srgbClr val="B2B2B2"/>
        </a:lt2>
        <a:accent1>
          <a:srgbClr val="006699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2DB9B9"/>
        </a:accent6>
        <a:hlink>
          <a:srgbClr val="777777"/>
        </a:hlink>
        <a:folHlink>
          <a:srgbClr val="66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020424 Atlas Copco Dymamic Workplaces - Roadmap">
  <a:themeElements>
    <a:clrScheme name="2_020424 Atlas Copco Dymamic Workplaces - Roadmap 12">
      <a:dk1>
        <a:srgbClr val="000000"/>
      </a:dk1>
      <a:lt1>
        <a:srgbClr val="FFFFFF"/>
      </a:lt1>
      <a:dk2>
        <a:srgbClr val="199B9B"/>
      </a:dk2>
      <a:lt2>
        <a:srgbClr val="B2B2B2"/>
      </a:lt2>
      <a:accent1>
        <a:srgbClr val="006699"/>
      </a:accent1>
      <a:accent2>
        <a:srgbClr val="33CCCC"/>
      </a:accent2>
      <a:accent3>
        <a:srgbClr val="FFFFFF"/>
      </a:accent3>
      <a:accent4>
        <a:srgbClr val="000000"/>
      </a:accent4>
      <a:accent5>
        <a:srgbClr val="AAB8CA"/>
      </a:accent5>
      <a:accent6>
        <a:srgbClr val="2DB9B9"/>
      </a:accent6>
      <a:hlink>
        <a:srgbClr val="777777"/>
      </a:hlink>
      <a:folHlink>
        <a:srgbClr val="6699CC"/>
      </a:folHlink>
    </a:clrScheme>
    <a:fontScheme name="2_020424 Atlas Copco Dymamic Workplaces - Roadmap">
      <a:majorFont>
        <a:latin typeface="隶书"/>
        <a:ea typeface="隶书"/>
        <a:cs typeface=""/>
      </a:majorFont>
      <a:minorFont>
        <a:latin typeface="华文楷体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lnDef>
  </a:objectDefaults>
  <a:extraClrSchemeLst>
    <a:extraClrScheme>
      <a:clrScheme name="2_020424 Atlas Copco Dymamic Workplaces - Roadma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020424 Atlas Copco Dymamic Workplaces - Roadma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8">
        <a:dk1>
          <a:srgbClr val="000000"/>
        </a:dk1>
        <a:lt1>
          <a:srgbClr val="FFFFFF"/>
        </a:lt1>
        <a:dk2>
          <a:srgbClr val="199B9B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FF6B07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9">
        <a:dk1>
          <a:srgbClr val="000000"/>
        </a:dk1>
        <a:lt1>
          <a:srgbClr val="FFFFFF"/>
        </a:lt1>
        <a:dk2>
          <a:srgbClr val="33CCCC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10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11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703B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020424 Atlas Copco Dymamic Workplaces - Roadmap 12">
        <a:dk1>
          <a:srgbClr val="000000"/>
        </a:dk1>
        <a:lt1>
          <a:srgbClr val="FFFFFF"/>
        </a:lt1>
        <a:dk2>
          <a:srgbClr val="199B9B"/>
        </a:dk2>
        <a:lt2>
          <a:srgbClr val="B2B2B2"/>
        </a:lt2>
        <a:accent1>
          <a:srgbClr val="006699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2DB9B9"/>
        </a:accent6>
        <a:hlink>
          <a:srgbClr val="777777"/>
        </a:hlink>
        <a:folHlink>
          <a:srgbClr val="66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020424 Atlas Copco Dymamic Workplaces - Roadmap">
  <a:themeElements>
    <a:clrScheme name="1_020424 Atlas Copco Dymamic Workplaces - Roadmap 12">
      <a:dk1>
        <a:srgbClr val="000000"/>
      </a:dk1>
      <a:lt1>
        <a:srgbClr val="FFFFFF"/>
      </a:lt1>
      <a:dk2>
        <a:srgbClr val="199B9B"/>
      </a:dk2>
      <a:lt2>
        <a:srgbClr val="B2B2B2"/>
      </a:lt2>
      <a:accent1>
        <a:srgbClr val="006699"/>
      </a:accent1>
      <a:accent2>
        <a:srgbClr val="33CCCC"/>
      </a:accent2>
      <a:accent3>
        <a:srgbClr val="FFFFFF"/>
      </a:accent3>
      <a:accent4>
        <a:srgbClr val="000000"/>
      </a:accent4>
      <a:accent5>
        <a:srgbClr val="AAB8CA"/>
      </a:accent5>
      <a:accent6>
        <a:srgbClr val="2DB9B9"/>
      </a:accent6>
      <a:hlink>
        <a:srgbClr val="777777"/>
      </a:hlink>
      <a:folHlink>
        <a:srgbClr val="6699CC"/>
      </a:folHlink>
    </a:clrScheme>
    <a:fontScheme name="1_020424 Atlas Copco Dymamic Workplaces - Roadmap">
      <a:majorFont>
        <a:latin typeface="隶书"/>
        <a:ea typeface="隶书"/>
        <a:cs typeface=""/>
      </a:majorFont>
      <a:minorFont>
        <a:latin typeface="华文楷体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non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anose="020B0A04020102020204" pitchFamily="34" charset="0"/>
            <a:ea typeface="华文楷体" panose="02010600040101010101" pitchFamily="2" charset="-122"/>
          </a:defRPr>
        </a:defPPr>
      </a:lstStyle>
    </a:lnDef>
  </a:objectDefaults>
  <a:extraClrSchemeLst>
    <a:extraClrScheme>
      <a:clrScheme name="1_020424 Atlas Copco Dymamic Workplaces - Roadmap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020424 Atlas Copco Dymamic Workplaces - Roadmap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8">
        <a:dk1>
          <a:srgbClr val="000000"/>
        </a:dk1>
        <a:lt1>
          <a:srgbClr val="FFFFFF"/>
        </a:lt1>
        <a:dk2>
          <a:srgbClr val="199B9B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FF6B07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9">
        <a:dk1>
          <a:srgbClr val="000000"/>
        </a:dk1>
        <a:lt1>
          <a:srgbClr val="FFFFFF"/>
        </a:lt1>
        <a:dk2>
          <a:srgbClr val="33CCCC"/>
        </a:dk2>
        <a:lt2>
          <a:srgbClr val="666666"/>
        </a:lt2>
        <a:accent1>
          <a:srgbClr val="6699CC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B8CAE2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0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FF99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1">
        <a:dk1>
          <a:srgbClr val="000000"/>
        </a:dk1>
        <a:lt1>
          <a:srgbClr val="FFFFFF"/>
        </a:lt1>
        <a:dk2>
          <a:srgbClr val="33CCCC"/>
        </a:dk2>
        <a:lt2>
          <a:srgbClr val="6699CC"/>
        </a:lt2>
        <a:accent1>
          <a:srgbClr val="006699"/>
        </a:accent1>
        <a:accent2>
          <a:srgbClr val="99CCFF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8AB9E7"/>
        </a:accent6>
        <a:hlink>
          <a:srgbClr val="199B9B"/>
        </a:hlink>
        <a:folHlink>
          <a:srgbClr val="703BE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020424 Atlas Copco Dymamic Workplaces - Roadmap 12">
        <a:dk1>
          <a:srgbClr val="000000"/>
        </a:dk1>
        <a:lt1>
          <a:srgbClr val="FFFFFF"/>
        </a:lt1>
        <a:dk2>
          <a:srgbClr val="199B9B"/>
        </a:dk2>
        <a:lt2>
          <a:srgbClr val="B2B2B2"/>
        </a:lt2>
        <a:accent1>
          <a:srgbClr val="006699"/>
        </a:accent1>
        <a:accent2>
          <a:srgbClr val="33CCCC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2DB9B9"/>
        </a:accent6>
        <a:hlink>
          <a:srgbClr val="777777"/>
        </a:hlink>
        <a:folHlink>
          <a:srgbClr val="6699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三维图形程序设计-第1章-绪论</Template>
  <TotalTime>0</TotalTime>
  <Words>2175</Words>
  <Application>WPS 演示</Application>
  <PresentationFormat>宽屏</PresentationFormat>
  <Paragraphs>194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宋体</vt:lpstr>
      <vt:lpstr>Wingdings</vt:lpstr>
      <vt:lpstr>华文琥珀</vt:lpstr>
      <vt:lpstr>Arial Black</vt:lpstr>
      <vt:lpstr>华文楷体</vt:lpstr>
      <vt:lpstr>华文新魏</vt:lpstr>
      <vt:lpstr>隶书</vt:lpstr>
      <vt:lpstr>楷体_GB2312</vt:lpstr>
      <vt:lpstr>新宋体</vt:lpstr>
      <vt:lpstr>Times New Roman</vt:lpstr>
      <vt:lpstr>微软雅黑</vt:lpstr>
      <vt:lpstr>Arial Unicode MS</vt:lpstr>
      <vt:lpstr>1_020424 Atlas Copco Dymamic Workplaces - Roadmap</vt:lpstr>
      <vt:lpstr>3_020424 Atlas Copco Dymamic Workplaces - Roadmap</vt:lpstr>
      <vt:lpstr>5_020424 Atlas Copco Dymamic Workplaces - Roadmap</vt:lpstr>
      <vt:lpstr>7_020424 Atlas Copco Dymamic Workplaces - Roadmap</vt:lpstr>
      <vt:lpstr>6_020424 Atlas Copco Dymamic Workplaces - Roadmap</vt:lpstr>
      <vt:lpstr>PowerPoint 演示文稿</vt:lpstr>
      <vt:lpstr>近期教学安排</vt:lpstr>
      <vt:lpstr>考试说明</vt:lpstr>
      <vt:lpstr>考试说明</vt:lpstr>
      <vt:lpstr>考试内容范围</vt:lpstr>
      <vt:lpstr>第 1 章 绪论</vt:lpstr>
      <vt:lpstr>第 2 章 OpenGL编程基础</vt:lpstr>
      <vt:lpstr>第 3 章 三维图形编程技术</vt:lpstr>
      <vt:lpstr>第 4 章 颜色模型和颜色应用</vt:lpstr>
      <vt:lpstr>第 5 章 光照模型与面绘制算法</vt:lpstr>
      <vt:lpstr>第 6 章 纹理与表面细节添加方法</vt:lpstr>
      <vt:lpstr>第 6 章 纹理与表面细节添加方法</vt:lpstr>
      <vt:lpstr>第 7 章 全局光照</vt:lpstr>
      <vt:lpstr>第 7 章 全局光照</vt:lpstr>
      <vt:lpstr>第 7 章 全局光照</vt:lpstr>
      <vt:lpstr>第 8 章 可编程着色器</vt:lpstr>
      <vt:lpstr>结束语</vt:lpstr>
      <vt:lpstr>PowerPoint 演示文稿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Windows 用户</dc:creator>
  <cp:lastModifiedBy>沽如醉</cp:lastModifiedBy>
  <cp:revision>99</cp:revision>
  <dcterms:created xsi:type="dcterms:W3CDTF">2020-02-11T23:05:00Z</dcterms:created>
  <dcterms:modified xsi:type="dcterms:W3CDTF">2025-10-24T04:49:28Z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26B557CA356A49A994AB88F218E19E96_12</vt:lpwstr>
  </property>
  <property fmtid="{D5CDD505-2E9C-101B-9397-08002B2CF9AE}" pid="3" name="KSOProductBuildVer">
    <vt:lpwstr>2052-12.1.0.23125</vt:lpwstr>
  </property>
</Properties>
</file>