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700" r:id="rId3"/>
    <p:sldId id="703" r:id="rId4"/>
    <p:sldId id="705" r:id="rId5"/>
    <p:sldId id="605" r:id="rId6"/>
    <p:sldId id="606" r:id="rId7"/>
    <p:sldId id="607" r:id="rId8"/>
    <p:sldId id="609" r:id="rId9"/>
    <p:sldId id="733" r:id="rId10"/>
    <p:sldId id="887" r:id="rId11"/>
    <p:sldId id="612" r:id="rId12"/>
    <p:sldId id="709" r:id="rId13"/>
    <p:sldId id="749" r:id="rId14"/>
    <p:sldId id="750" r:id="rId15"/>
    <p:sldId id="751" r:id="rId16"/>
    <p:sldId id="707" r:id="rId17"/>
    <p:sldId id="616" r:id="rId19"/>
    <p:sldId id="708" r:id="rId20"/>
    <p:sldId id="619" r:id="rId21"/>
    <p:sldId id="884" r:id="rId22"/>
    <p:sldId id="617" r:id="rId23"/>
    <p:sldId id="714" r:id="rId24"/>
    <p:sldId id="715" r:id="rId25"/>
    <p:sldId id="761" r:id="rId26"/>
    <p:sldId id="717" r:id="rId27"/>
    <p:sldId id="718" r:id="rId28"/>
    <p:sldId id="810" r:id="rId29"/>
    <p:sldId id="885" r:id="rId30"/>
    <p:sldId id="886" r:id="rId31"/>
    <p:sldId id="760" r:id="rId32"/>
    <p:sldId id="752" r:id="rId33"/>
    <p:sldId id="755" r:id="rId34"/>
    <p:sldId id="758" r:id="rId35"/>
    <p:sldId id="759" r:id="rId36"/>
    <p:sldId id="623" r:id="rId37"/>
    <p:sldId id="624" r:id="rId38"/>
    <p:sldId id="625" r:id="rId39"/>
    <p:sldId id="737" r:id="rId40"/>
    <p:sldId id="741" r:id="rId41"/>
    <p:sldId id="811" r:id="rId42"/>
    <p:sldId id="812" r:id="rId43"/>
    <p:sldId id="813" r:id="rId44"/>
    <p:sldId id="814" r:id="rId45"/>
    <p:sldId id="815" r:id="rId46"/>
    <p:sldId id="828" r:id="rId47"/>
    <p:sldId id="829" r:id="rId48"/>
    <p:sldId id="830" r:id="rId49"/>
    <p:sldId id="831" r:id="rId50"/>
    <p:sldId id="833" r:id="rId51"/>
    <p:sldId id="834" r:id="rId52"/>
    <p:sldId id="835" r:id="rId53"/>
    <p:sldId id="836" r:id="rId54"/>
    <p:sldId id="837" r:id="rId55"/>
    <p:sldId id="838" r:id="rId56"/>
    <p:sldId id="412" r:id="rId5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2413"/>
    <p:restoredTop sz="90928"/>
  </p:normalViewPr>
  <p:slideViewPr>
    <p:cSldViewPr showGuides="1">
      <p:cViewPr varScale="1">
        <p:scale>
          <a:sx n="80" d="100"/>
          <a:sy n="80" d="100"/>
        </p:scale>
        <p:origin x="-1554" y="-96"/>
      </p:cViewPr>
      <p:guideLst>
        <p:guide orient="horz" pos="2160"/>
        <p:guide pos="28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Relationship Id="rId3" Type="http://schemas.openxmlformats.org/officeDocument/2006/relationships/image" Target="../media/image33.e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7" Type="http://schemas.openxmlformats.org/officeDocument/2006/relationships/image" Target="../media/image45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5.vml.rels><?xml version="1.0" encoding="UTF-8" standalone="yes"?>
<Relationships xmlns="http://schemas.openxmlformats.org/package/2006/relationships"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7.wmf"/><Relationship Id="rId1" Type="http://schemas.openxmlformats.org/officeDocument/2006/relationships/image" Target="../media/image99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wmf"/><Relationship Id="rId1" Type="http://schemas.openxmlformats.org/officeDocument/2006/relationships/image" Target="../media/image110.wmf"/></Relationships>
</file>

<file path=ppt/drawings/_rels/vmlDrawing3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6.w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/Relationships>
</file>

<file path=ppt/drawings/_rels/vmlDrawing35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8.wmf"/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4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41.wmf"/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4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6.w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45.wmf"/></Relationships>
</file>

<file path=ppt/drawings/_rels/vmlDrawing44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/Relationships>
</file>

<file path=ppt/drawings/_rels/vmlDrawing4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kumimoji="1"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150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15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>
              <a:buFont typeface="Arial" panose="020B0604020202020204" pitchFamily="34" charset="0"/>
            </a:pPr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710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710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1" i="1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915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915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b="1" i="1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sz="12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837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583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246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24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45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45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861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6861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buFontTx/>
              <a:buNone/>
              <a:defRPr kumimoji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ext Box 7"/>
          <p:cNvSpPr txBox="1"/>
          <p:nvPr/>
        </p:nvSpPr>
        <p:spPr>
          <a:xfrm>
            <a:off x="7429500" y="5929313"/>
            <a:ext cx="1143000" cy="34607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lvl="0" algn="ctr">
              <a:spcBef>
                <a:spcPct val="50000"/>
              </a:spcBef>
            </a:pPr>
            <a:fld id="{9A0DB2DC-4C9A-4742-B13C-FB6460FD3503}" type="slidenum"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/76</a:t>
            </a:r>
            <a:endParaRPr lang="en-US" altLang="zh-CN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7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14.bin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5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9.w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6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4.w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33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31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6.wmf"/><Relationship Id="rId11" Type="http://schemas.openxmlformats.org/officeDocument/2006/relationships/oleObject" Target="../embeddings/oleObject34.bin"/><Relationship Id="rId10" Type="http://schemas.openxmlformats.org/officeDocument/2006/relationships/image" Target="../media/image35.wmf"/><Relationship Id="rId1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8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7.wmf"/><Relationship Id="rId1" Type="http://schemas.openxmlformats.org/officeDocument/2006/relationships/oleObject" Target="../embeddings/oleObject3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42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0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39.wmf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45.wmf"/><Relationship Id="rId14" Type="http://schemas.openxmlformats.org/officeDocument/2006/relationships/oleObject" Target="../embeddings/oleObject44.bin"/><Relationship Id="rId13" Type="http://schemas.openxmlformats.org/officeDocument/2006/relationships/image" Target="../media/image44.wmf"/><Relationship Id="rId12" Type="http://schemas.openxmlformats.org/officeDocument/2006/relationships/oleObject" Target="../embeddings/oleObject43.bin"/><Relationship Id="rId11" Type="http://schemas.openxmlformats.org/officeDocument/2006/relationships/oleObject" Target="../embeddings/oleObject42.bin"/><Relationship Id="rId10" Type="http://schemas.openxmlformats.org/officeDocument/2006/relationships/image" Target="../media/image43.wmf"/><Relationship Id="rId1" Type="http://schemas.openxmlformats.org/officeDocument/2006/relationships/oleObject" Target="../embeddings/oleObject37.bin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45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46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9.wmf"/><Relationship Id="rId1" Type="http://schemas.openxmlformats.org/officeDocument/2006/relationships/oleObject" Target="../embeddings/oleObject4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4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2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55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1.wmf"/><Relationship Id="rId7" Type="http://schemas.openxmlformats.org/officeDocument/2006/relationships/oleObject" Target="../embeddings/oleObject60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58.bin"/><Relationship Id="rId2" Type="http://schemas.openxmlformats.org/officeDocument/2006/relationships/image" Target="../media/image58.w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5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5.wmf"/><Relationship Id="rId7" Type="http://schemas.openxmlformats.org/officeDocument/2006/relationships/oleObject" Target="../embeddings/oleObject64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62.bin"/><Relationship Id="rId2" Type="http://schemas.openxmlformats.org/officeDocument/2006/relationships/image" Target="../media/image62.wmf"/><Relationship Id="rId10" Type="http://schemas.openxmlformats.org/officeDocument/2006/relationships/vmlDrawing" Target="../drawings/vmlDrawing19.vml"/><Relationship Id="rId1" Type="http://schemas.openxmlformats.org/officeDocument/2006/relationships/oleObject" Target="../embeddings/oleObject6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68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73.wmf"/><Relationship Id="rId14" Type="http://schemas.openxmlformats.org/officeDocument/2006/relationships/vmlDrawing" Target="../drawings/vmlDrawing2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70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9.w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7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87.wmf"/><Relationship Id="rId1" Type="http://schemas.openxmlformats.org/officeDocument/2006/relationships/oleObject" Target="../embeddings/oleObject82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3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90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8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7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94.wmf"/><Relationship Id="rId12" Type="http://schemas.openxmlformats.org/officeDocument/2006/relationships/vmlDrawing" Target="../drawings/vmlDrawing2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89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97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9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94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3.wmf"/><Relationship Id="rId3" Type="http://schemas.openxmlformats.org/officeDocument/2006/relationships/oleObject" Target="../embeddings/oleObject99.bin"/><Relationship Id="rId2" Type="http://schemas.openxmlformats.org/officeDocument/2006/relationships/image" Target="../media/image102.wmf"/><Relationship Id="rId1" Type="http://schemas.openxmlformats.org/officeDocument/2006/relationships/oleObject" Target="../embeddings/oleObject98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0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7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6.wmf"/><Relationship Id="rId3" Type="http://schemas.openxmlformats.org/officeDocument/2006/relationships/oleObject" Target="../embeddings/oleObject103.bin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02.bin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9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108.wmf"/><Relationship Id="rId1" Type="http://schemas.openxmlformats.org/officeDocument/2006/relationships/oleObject" Target="../embeddings/oleObject105.bin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1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110.wmf"/><Relationship Id="rId1" Type="http://schemas.openxmlformats.org/officeDocument/2006/relationships/oleObject" Target="../embeddings/oleObject107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3.bin"/><Relationship Id="rId8" Type="http://schemas.openxmlformats.org/officeDocument/2006/relationships/image" Target="../media/image115.wmf"/><Relationship Id="rId7" Type="http://schemas.openxmlformats.org/officeDocument/2006/relationships/oleObject" Target="../embeddings/oleObject112.bin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1.bin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10.bin"/><Relationship Id="rId2" Type="http://schemas.openxmlformats.org/officeDocument/2006/relationships/image" Target="../media/image112.wmf"/><Relationship Id="rId13" Type="http://schemas.openxmlformats.org/officeDocument/2006/relationships/notesSlide" Target="../notesSlides/notesSlide2.xml"/><Relationship Id="rId12" Type="http://schemas.openxmlformats.org/officeDocument/2006/relationships/vmlDrawing" Target="../drawings/vmlDrawing3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6.wmf"/><Relationship Id="rId1" Type="http://schemas.openxmlformats.org/officeDocument/2006/relationships/oleObject" Target="../embeddings/oleObject109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vmlDrawing" Target="../drawings/vmlDrawing3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15.bin"/><Relationship Id="rId2" Type="http://schemas.openxmlformats.org/officeDocument/2006/relationships/image" Target="../media/image117.wmf"/><Relationship Id="rId1" Type="http://schemas.openxmlformats.org/officeDocument/2006/relationships/oleObject" Target="../embeddings/oleObject114.bin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1.bin"/><Relationship Id="rId8" Type="http://schemas.openxmlformats.org/officeDocument/2006/relationships/image" Target="../media/image123.wmf"/><Relationship Id="rId7" Type="http://schemas.openxmlformats.org/officeDocument/2006/relationships/oleObject" Target="../embeddings/oleObject120.bin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1.wmf"/><Relationship Id="rId3" Type="http://schemas.openxmlformats.org/officeDocument/2006/relationships/oleObject" Target="../embeddings/oleObject118.bin"/><Relationship Id="rId2" Type="http://schemas.openxmlformats.org/officeDocument/2006/relationships/image" Target="../media/image120.w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4.wmf"/><Relationship Id="rId1" Type="http://schemas.openxmlformats.org/officeDocument/2006/relationships/oleObject" Target="../embeddings/oleObject117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8.wmf"/><Relationship Id="rId7" Type="http://schemas.openxmlformats.org/officeDocument/2006/relationships/oleObject" Target="../embeddings/oleObject125.bin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4.bin"/><Relationship Id="rId4" Type="http://schemas.openxmlformats.org/officeDocument/2006/relationships/image" Target="../media/image126.wmf"/><Relationship Id="rId3" Type="http://schemas.openxmlformats.org/officeDocument/2006/relationships/oleObject" Target="../embeddings/oleObject123.bin"/><Relationship Id="rId2" Type="http://schemas.openxmlformats.org/officeDocument/2006/relationships/image" Target="../media/image125.wmf"/><Relationship Id="rId10" Type="http://schemas.openxmlformats.org/officeDocument/2006/relationships/vmlDrawing" Target="../drawings/vmlDrawing35.vml"/><Relationship Id="rId1" Type="http://schemas.openxmlformats.org/officeDocument/2006/relationships/oleObject" Target="../embeddings/oleObject122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9.wmf"/><Relationship Id="rId1" Type="http://schemas.openxmlformats.org/officeDocument/2006/relationships/oleObject" Target="../embeddings/oleObject126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0.jpe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2.wmf"/><Relationship Id="rId3" Type="http://schemas.openxmlformats.org/officeDocument/2006/relationships/oleObject" Target="../embeddings/oleObject128.bin"/><Relationship Id="rId2" Type="http://schemas.openxmlformats.org/officeDocument/2006/relationships/image" Target="../media/image131.wmf"/><Relationship Id="rId1" Type="http://schemas.openxmlformats.org/officeDocument/2006/relationships/oleObject" Target="../embeddings/oleObject127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30.bin"/><Relationship Id="rId2" Type="http://schemas.openxmlformats.org/officeDocument/2006/relationships/image" Target="../media/image133.wmf"/><Relationship Id="rId1" Type="http://schemas.openxmlformats.org/officeDocument/2006/relationships/oleObject" Target="../embeddings/oleObject129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6.wmf"/><Relationship Id="rId3" Type="http://schemas.openxmlformats.org/officeDocument/2006/relationships/oleObject" Target="../embeddings/oleObject132.bin"/><Relationship Id="rId2" Type="http://schemas.openxmlformats.org/officeDocument/2006/relationships/image" Target="../media/image135.wmf"/><Relationship Id="rId1" Type="http://schemas.openxmlformats.org/officeDocument/2006/relationships/oleObject" Target="../embeddings/oleObject131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7.bin"/><Relationship Id="rId8" Type="http://schemas.openxmlformats.org/officeDocument/2006/relationships/image" Target="../media/image140.wmf"/><Relationship Id="rId7" Type="http://schemas.openxmlformats.org/officeDocument/2006/relationships/oleObject" Target="../embeddings/oleObject136.bin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38.wmf"/><Relationship Id="rId3" Type="http://schemas.openxmlformats.org/officeDocument/2006/relationships/oleObject" Target="../embeddings/oleObject134.bin"/><Relationship Id="rId2" Type="http://schemas.openxmlformats.org/officeDocument/2006/relationships/image" Target="../media/image137.wmf"/><Relationship Id="rId13" Type="http://schemas.openxmlformats.org/officeDocument/2006/relationships/notesSlide" Target="../notesSlides/notesSlide4.xml"/><Relationship Id="rId12" Type="http://schemas.openxmlformats.org/officeDocument/2006/relationships/vmlDrawing" Target="../drawings/vmlDrawing4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41.wmf"/><Relationship Id="rId1" Type="http://schemas.openxmlformats.org/officeDocument/2006/relationships/oleObject" Target="../embeddings/oleObject133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4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43.wmf"/><Relationship Id="rId3" Type="http://schemas.openxmlformats.org/officeDocument/2006/relationships/oleObject" Target="../embeddings/oleObject139.bin"/><Relationship Id="rId2" Type="http://schemas.openxmlformats.org/officeDocument/2006/relationships/image" Target="../media/image142.wmf"/><Relationship Id="rId1" Type="http://schemas.openxmlformats.org/officeDocument/2006/relationships/oleObject" Target="../embeddings/oleObject138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5.bin"/><Relationship Id="rId8" Type="http://schemas.openxmlformats.org/officeDocument/2006/relationships/image" Target="../media/image115.wmf"/><Relationship Id="rId7" Type="http://schemas.openxmlformats.org/officeDocument/2006/relationships/oleObject" Target="../embeddings/oleObject144.bin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42.bin"/><Relationship Id="rId2" Type="http://schemas.openxmlformats.org/officeDocument/2006/relationships/image" Target="../media/image112.wmf"/><Relationship Id="rId13" Type="http://schemas.openxmlformats.org/officeDocument/2006/relationships/notesSlide" Target="../notesSlides/notesSlide6.xml"/><Relationship Id="rId12" Type="http://schemas.openxmlformats.org/officeDocument/2006/relationships/vmlDrawing" Target="../drawings/vmlDrawing4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16.wmf"/><Relationship Id="rId1" Type="http://schemas.openxmlformats.org/officeDocument/2006/relationships/oleObject" Target="../embeddings/oleObject141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vmlDrawing" Target="../drawings/vmlDrawing4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19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18.wmf"/><Relationship Id="rId3" Type="http://schemas.openxmlformats.org/officeDocument/2006/relationships/oleObject" Target="../embeddings/oleObject147.bin"/><Relationship Id="rId2" Type="http://schemas.openxmlformats.org/officeDocument/2006/relationships/image" Target="../media/image145.wmf"/><Relationship Id="rId1" Type="http://schemas.openxmlformats.org/officeDocument/2006/relationships/oleObject" Target="../embeddings/oleObject146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3.bin"/><Relationship Id="rId8" Type="http://schemas.openxmlformats.org/officeDocument/2006/relationships/image" Target="../media/image149.wmf"/><Relationship Id="rId7" Type="http://schemas.openxmlformats.org/officeDocument/2006/relationships/oleObject" Target="../embeddings/oleObject152.bin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47.wmf"/><Relationship Id="rId3" Type="http://schemas.openxmlformats.org/officeDocument/2006/relationships/oleObject" Target="../embeddings/oleObject150.bin"/><Relationship Id="rId2" Type="http://schemas.openxmlformats.org/officeDocument/2006/relationships/image" Target="../media/image146.wmf"/><Relationship Id="rId13" Type="http://schemas.openxmlformats.org/officeDocument/2006/relationships/notesSlide" Target="../notesSlides/notesSlide8.xml"/><Relationship Id="rId12" Type="http://schemas.openxmlformats.org/officeDocument/2006/relationships/vmlDrawing" Target="../drawings/vmlDrawing4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0.wmf"/><Relationship Id="rId1" Type="http://schemas.openxmlformats.org/officeDocument/2006/relationships/oleObject" Target="../embeddings/oleObject149.bin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54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52.w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51.wmf"/><Relationship Id="rId13" Type="http://schemas.openxmlformats.org/officeDocument/2006/relationships/notesSlide" Target="../notesSlides/notesSlide9.xml"/><Relationship Id="rId12" Type="http://schemas.openxmlformats.org/officeDocument/2006/relationships/vmlDrawing" Target="../drawings/vmlDrawing4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5.wmf"/><Relationship Id="rId1" Type="http://schemas.openxmlformats.org/officeDocument/2006/relationships/oleObject" Target="../embeddings/oleObject154.bin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TextBox 11"/>
          <p:cNvSpPr txBox="1"/>
          <p:nvPr/>
        </p:nvSpPr>
        <p:spPr>
          <a:xfrm>
            <a:off x="414338" y="285750"/>
            <a:ext cx="6215062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rgbClr val="7030A0"/>
              </a:buClr>
            </a:pPr>
            <a:r>
              <a:rPr lang="zh-CN" altLang="en-US" sz="3200" b="1" dirty="0">
                <a:solidFill>
                  <a:srgbClr val="92D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插值和拟合的同与异</a:t>
            </a:r>
            <a:endParaRPr lang="zh-CN" altLang="en-US" sz="3200" b="1" dirty="0">
              <a:solidFill>
                <a:srgbClr val="92D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0988" y="2379663"/>
            <a:ext cx="9358312" cy="585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>
                <a:srgbClr val="FF0000"/>
              </a:buClr>
            </a:pP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严格满足插值条件 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vs </a:t>
            </a: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追求最小残差平方和</a:t>
            </a:r>
            <a:endParaRPr lang="zh-CN" altLang="en-US" sz="32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Box 5"/>
          <p:cNvSpPr txBox="1"/>
          <p:nvPr/>
        </p:nvSpPr>
        <p:spPr>
          <a:xfrm>
            <a:off x="331788" y="3641725"/>
            <a:ext cx="9001125" cy="425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ts val="2600"/>
              </a:lnSpc>
              <a:buClr>
                <a:srgbClr val="FF0000"/>
              </a:buClr>
            </a:pP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适定方程组求解  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vs </a:t>
            </a: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不相容方程组求解</a:t>
            </a:r>
            <a:endParaRPr lang="zh-CN" altLang="en-US" sz="32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8300" y="1196975"/>
            <a:ext cx="8964613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>
                <a:srgbClr val="FF0000"/>
              </a:buClr>
              <a:buSzTx/>
            </a:pP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寻找离散数据背后的规律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en-US" altLang="zh-CN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32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3" grpId="0"/>
      <p:bldP spid="25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2700338" y="2492375"/>
          <a:ext cx="3640137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1460500" imgH="431800" progId="Equation.DSMT4">
                  <p:embed/>
                </p:oleObj>
              </mc:Choice>
              <mc:Fallback>
                <p:oleObj name="" r:id="rId1" imgW="1460500" imgH="4318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338" y="2492375"/>
                        <a:ext cx="3640137" cy="1071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/>
        </p:nvGraphicFramePr>
        <p:xfrm>
          <a:off x="2357438" y="476250"/>
          <a:ext cx="44291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1231265" imgH="203200" progId="Equation.DSMT4">
                  <p:embed/>
                </p:oleObj>
              </mc:Choice>
              <mc:Fallback>
                <p:oleObj name="" r:id="rId3" imgW="1231265" imgH="203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7438" y="476250"/>
                        <a:ext cx="4429125" cy="728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4213" y="1557338"/>
            <a:ext cx="23574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最小二乘解：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2582863" y="4876800"/>
          <a:ext cx="41433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1218565" imgH="254000" progId="Equation.DSMT4">
                  <p:embed/>
                </p:oleObj>
              </mc:Choice>
              <mc:Fallback>
                <p:oleObj name="" r:id="rId5" imgW="1218565" imgH="2540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82863" y="4876800"/>
                        <a:ext cx="414337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8313" y="3933825"/>
            <a:ext cx="235743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正规方程：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372485" y="1124268"/>
          <a:ext cx="2286000" cy="194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838200" imgH="711200" progId="Equation.DSMT4">
                  <p:embed/>
                </p:oleObj>
              </mc:Choice>
              <mc:Fallback>
                <p:oleObj name="" r:id="rId1" imgW="838200" imgH="711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372485" y="1124268"/>
                        <a:ext cx="2286000" cy="19415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" name="文本框 3"/>
          <p:cNvSpPr txBox="1"/>
          <p:nvPr/>
        </p:nvSpPr>
        <p:spPr>
          <a:xfrm>
            <a:off x="582613" y="116205"/>
            <a:ext cx="8561387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b="1" u="sng" dirty="0">
                <a:latin typeface="Times New Roman" panose="02020603050405020304" pitchFamily="18" charset="0"/>
                <a:ea typeface="宋体" panose="02010600030101010101" pitchFamily="2" charset="-122"/>
              </a:rPr>
              <a:t>拟合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(1,2),(-1,1)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(1,3)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的一次多项式。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469900" y="3428683"/>
          <a:ext cx="8091488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3251200" imgH="304800" progId="Equation.DSMT4">
                  <p:embed/>
                </p:oleObj>
              </mc:Choice>
              <mc:Fallback>
                <p:oleObj name="" r:id="rId3" imgW="3251200" imgH="304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9900" y="3428683"/>
                        <a:ext cx="8091488" cy="760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文本框 2"/>
          <p:cNvSpPr txBox="1"/>
          <p:nvPr/>
        </p:nvSpPr>
        <p:spPr>
          <a:xfrm>
            <a:off x="3707765" y="6092825"/>
            <a:ext cx="28702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......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562293" y="4652328"/>
          <a:ext cx="7905750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3924300" imgH="342900" progId="Equation.DSMT4">
                  <p:embed/>
                </p:oleObj>
              </mc:Choice>
              <mc:Fallback>
                <p:oleObj name="" r:id="rId5" imgW="3924300" imgH="3429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2293" y="4652328"/>
                        <a:ext cx="7905750" cy="690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Text Box 2"/>
          <p:cNvSpPr txBox="1"/>
          <p:nvPr/>
        </p:nvSpPr>
        <p:spPr>
          <a:xfrm>
            <a:off x="266700" y="312738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460375" y="2209800"/>
          <a:ext cx="733266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946400" imgH="304800" progId="Equation.DSMT4">
                  <p:embed/>
                </p:oleObj>
              </mc:Choice>
              <mc:Fallback>
                <p:oleObj name="" r:id="rId1" imgW="2946400" imgH="3048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0375" y="2209800"/>
                        <a:ext cx="7332663" cy="760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1" name="Group 33"/>
          <p:cNvGrpSpPr/>
          <p:nvPr/>
        </p:nvGrpSpPr>
        <p:grpSpPr>
          <a:xfrm>
            <a:off x="1712913" y="312738"/>
            <a:ext cx="5534025" cy="1000125"/>
            <a:chOff x="1170" y="576"/>
            <a:chExt cx="3486" cy="630"/>
          </a:xfrm>
        </p:grpSpPr>
        <p:sp>
          <p:nvSpPr>
            <p:cNvPr id="7172" name="Rectangle 4"/>
            <p:cNvSpPr/>
            <p:nvPr/>
          </p:nvSpPr>
          <p:spPr>
            <a:xfrm>
              <a:off x="1174" y="576"/>
              <a:ext cx="3482" cy="62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··········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="1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y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·········· 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en-US" altLang="zh-CN" b="1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lang="en-US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3" name="Line 5"/>
            <p:cNvSpPr/>
            <p:nvPr/>
          </p:nvSpPr>
          <p:spPr>
            <a:xfrm>
              <a:off x="1170" y="933"/>
              <a:ext cx="3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017" name="Line 6"/>
            <p:cNvSpPr>
              <a:spLocks noChangeShapeType="1"/>
            </p:cNvSpPr>
            <p:nvPr/>
          </p:nvSpPr>
          <p:spPr bwMode="auto">
            <a:xfrm flipH="1">
              <a:off x="1800" y="576"/>
              <a:ext cx="24" cy="6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scene3d>
              <a:camera prst="orthographicFront">
                <a:rot lat="1200000" lon="4800000" rev="0"/>
              </a:camera>
              <a:lightRig rig="threePt" dir="t"/>
            </a:scene3d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75" name="矩形 9"/>
          <p:cNvSpPr/>
          <p:nvPr/>
        </p:nvSpPr>
        <p:spPr>
          <a:xfrm>
            <a:off x="1492250" y="1520825"/>
            <a:ext cx="210820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求拟合函数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zh-CN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466" name="Object 3"/>
          <p:cNvGraphicFramePr>
            <a:graphicFrameLocks noChangeAspect="1"/>
          </p:cNvGraphicFramePr>
          <p:nvPr/>
        </p:nvGraphicFramePr>
        <p:xfrm>
          <a:off x="3805238" y="1404938"/>
          <a:ext cx="22034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3" imgW="774065" imgH="228600" progId="Equation.DSMT4">
                  <p:embed/>
                </p:oleObj>
              </mc:Choice>
              <mc:Fallback>
                <p:oleObj name="" r:id="rId3" imgW="774065" imgH="2286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5238" y="1404938"/>
                        <a:ext cx="2203450" cy="650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9"/>
          <p:cNvGrpSpPr/>
          <p:nvPr/>
        </p:nvGrpSpPr>
        <p:grpSpPr>
          <a:xfrm>
            <a:off x="1554163" y="2797175"/>
            <a:ext cx="3324225" cy="2244725"/>
            <a:chOff x="210" y="2006"/>
            <a:chExt cx="2094" cy="1414"/>
          </a:xfrm>
        </p:grpSpPr>
        <p:sp>
          <p:nvSpPr>
            <p:cNvPr id="7178" name="AutoShape 20"/>
            <p:cNvSpPr/>
            <p:nvPr/>
          </p:nvSpPr>
          <p:spPr>
            <a:xfrm>
              <a:off x="210" y="2160"/>
              <a:ext cx="144" cy="1152"/>
            </a:xfrm>
            <a:prstGeom prst="leftBrace">
              <a:avLst>
                <a:gd name="adj1" fmla="val 66370"/>
                <a:gd name="adj2" fmla="val 50000"/>
              </a:avLst>
            </a:pr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spcBef>
                  <a:spcPct val="50000"/>
                </a:spcBef>
              </a:pPr>
              <a:endPara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179" name="Text Box 27"/>
            <p:cNvSpPr txBox="1"/>
            <p:nvPr/>
          </p:nvSpPr>
          <p:spPr>
            <a:xfrm>
              <a:off x="1824" y="2496"/>
              <a:ext cx="48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宋体" panose="02010600030101010101" pitchFamily="2" charset="-122"/>
                  <a:sym typeface="Wingdings" panose="05000000000000000000" pitchFamily="2" charset="2"/>
                </a:rPr>
                <a:t></a:t>
              </a:r>
              <a:endPara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180" name="Object 6"/>
            <p:cNvGraphicFramePr>
              <a:graphicFrameLocks noChangeAspect="1"/>
            </p:cNvGraphicFramePr>
            <p:nvPr/>
          </p:nvGraphicFramePr>
          <p:xfrm>
            <a:off x="346" y="2006"/>
            <a:ext cx="1324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5" imgW="850900" imgH="228600" progId="Equation.DSMT4">
                    <p:embed/>
                  </p:oleObj>
                </mc:Choice>
                <mc:Fallback>
                  <p:oleObj name="" r:id="rId5" imgW="850900" imgH="228600" progId="Equation.DSMT4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6" y="2006"/>
                          <a:ext cx="1324" cy="3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1" name="Object 7"/>
            <p:cNvGraphicFramePr>
              <a:graphicFrameLocks noChangeAspect="1"/>
            </p:cNvGraphicFramePr>
            <p:nvPr/>
          </p:nvGraphicFramePr>
          <p:xfrm>
            <a:off x="335" y="2390"/>
            <a:ext cx="1345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7" imgW="862965" imgH="228600" progId="Equation.DSMT4">
                    <p:embed/>
                  </p:oleObj>
                </mc:Choice>
                <mc:Fallback>
                  <p:oleObj name="" r:id="rId7" imgW="862965" imgH="2286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35" y="2390"/>
                          <a:ext cx="1345" cy="3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2" name="Object 8"/>
            <p:cNvGraphicFramePr>
              <a:graphicFrameLocks noChangeAspect="1"/>
            </p:cNvGraphicFramePr>
            <p:nvPr/>
          </p:nvGraphicFramePr>
          <p:xfrm>
            <a:off x="387" y="3063"/>
            <a:ext cx="1443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927100" imgH="228600" progId="Equation.DSMT4">
                    <p:embed/>
                  </p:oleObj>
                </mc:Choice>
                <mc:Fallback>
                  <p:oleObj name="" r:id="rId9" imgW="927100" imgH="2286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7" y="3063"/>
                          <a:ext cx="1443" cy="3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3" name="Object 9"/>
            <p:cNvGraphicFramePr>
              <a:graphicFrameLocks noChangeAspect="1"/>
            </p:cNvGraphicFramePr>
            <p:nvPr/>
          </p:nvGraphicFramePr>
          <p:xfrm>
            <a:off x="432" y="2880"/>
            <a:ext cx="968" cy="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1" imgW="621665" imgH="76200" progId="Equation.3">
                    <p:embed/>
                  </p:oleObj>
                </mc:Choice>
                <mc:Fallback>
                  <p:oleObj name="" r:id="rId11" imgW="621665" imgH="762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32" y="2880"/>
                          <a:ext cx="968" cy="1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5272088" y="3327400"/>
          <a:ext cx="3022600" cy="155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3" imgW="1384300" imgH="711200" progId="Equation.DSMT4">
                  <p:embed/>
                </p:oleObj>
              </mc:Choice>
              <mc:Fallback>
                <p:oleObj name="" r:id="rId13" imgW="1384300" imgH="711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72088" y="3327400"/>
                        <a:ext cx="3022600" cy="1554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/>
        </p:nvGraphicFramePr>
        <p:xfrm>
          <a:off x="1690688" y="5462588"/>
          <a:ext cx="5724525" cy="126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5" imgW="3213100" imgH="711200" progId="Equation.DSMT4">
                  <p:embed/>
                </p:oleObj>
              </mc:Choice>
              <mc:Fallback>
                <p:oleObj name="" r:id="rId15" imgW="3213100" imgH="7112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90688" y="5462588"/>
                        <a:ext cx="5724525" cy="1268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66" name="Object 3"/>
          <p:cNvGraphicFramePr>
            <a:graphicFrameLocks noChangeAspect="1"/>
          </p:cNvGraphicFramePr>
          <p:nvPr/>
        </p:nvGraphicFramePr>
        <p:xfrm>
          <a:off x="1357313" y="714375"/>
          <a:ext cx="66103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2324100" imgH="241300" progId="Equation.DSMT4">
                  <p:embed/>
                </p:oleObj>
              </mc:Choice>
              <mc:Fallback>
                <p:oleObj name="" r:id="rId1" imgW="2324100" imgH="2413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57313" y="714375"/>
                        <a:ext cx="6610350" cy="688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2928938" y="2571750"/>
          <a:ext cx="3454400" cy="153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663700" imgH="736600" progId="Equation.DSMT4">
                  <p:embed/>
                </p:oleObj>
              </mc:Choice>
              <mc:Fallback>
                <p:oleObj name="" r:id="rId3" imgW="1663700" imgH="7366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8938" y="2571750"/>
                        <a:ext cx="3454400" cy="1531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714500" y="4786313"/>
          <a:ext cx="6429375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3543300" imgH="736600" progId="Equation.DSMT4">
                  <p:embed/>
                </p:oleObj>
              </mc:Choice>
              <mc:Fallback>
                <p:oleObj name="" r:id="rId5" imgW="3543300" imgH="736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14500" y="4786313"/>
                        <a:ext cx="6429375" cy="1338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85750" y="4143375"/>
            <a:ext cx="21431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正规方程：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276" name="Object 4"/>
          <p:cNvGraphicFramePr>
            <a:graphicFrameLocks noChangeAspect="1"/>
          </p:cNvGraphicFramePr>
          <p:nvPr/>
        </p:nvGraphicFramePr>
        <p:xfrm>
          <a:off x="928688" y="1643063"/>
          <a:ext cx="70326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3543300" imgH="342900" progId="Equation.DSMT4">
                  <p:embed/>
                </p:oleObj>
              </mc:Choice>
              <mc:Fallback>
                <p:oleObj name="" r:id="rId7" imgW="3543300" imgH="3429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8688" y="1643063"/>
                        <a:ext cx="7032625" cy="682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60" name="Object 2"/>
          <p:cNvGraphicFramePr>
            <a:graphicFrameLocks noChangeAspect="1"/>
          </p:cNvGraphicFramePr>
          <p:nvPr/>
        </p:nvGraphicFramePr>
        <p:xfrm>
          <a:off x="1571625" y="2286000"/>
          <a:ext cx="5380038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2870200" imgH="711200" progId="Equation.DSMT4">
                  <p:embed/>
                </p:oleObj>
              </mc:Choice>
              <mc:Fallback>
                <p:oleObj name="" r:id="rId1" imgW="2870200" imgH="711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71625" y="2286000"/>
                        <a:ext cx="5380038" cy="1333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6" name="Object 3"/>
          <p:cNvGraphicFramePr>
            <a:graphicFrameLocks noChangeAspect="1"/>
          </p:cNvGraphicFramePr>
          <p:nvPr/>
        </p:nvGraphicFramePr>
        <p:xfrm>
          <a:off x="285750" y="285750"/>
          <a:ext cx="84089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3" imgW="3200400" imgH="228600" progId="Equation.DSMT4">
                  <p:embed/>
                </p:oleObj>
              </mc:Choice>
              <mc:Fallback>
                <p:oleObj name="" r:id="rId3" imgW="3200400" imgH="2286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50" y="285750"/>
                        <a:ext cx="8408988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0" y="4786313"/>
          <a:ext cx="8853488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5194300" imgH="711200" progId="Equation.DSMT4">
                  <p:embed/>
                </p:oleObj>
              </mc:Choice>
              <mc:Fallback>
                <p:oleObj name="" r:id="rId5" imgW="5194300" imgH="711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4786313"/>
                        <a:ext cx="8853488" cy="1214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4000500"/>
            <a:ext cx="21431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正规方程：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2299" name="Object 4"/>
          <p:cNvGraphicFramePr>
            <a:graphicFrameLocks noChangeAspect="1"/>
          </p:cNvGraphicFramePr>
          <p:nvPr/>
        </p:nvGraphicFramePr>
        <p:xfrm>
          <a:off x="0" y="1428750"/>
          <a:ext cx="8648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7" imgW="4876800" imgH="342900" progId="Equation.DSMT4">
                  <p:embed/>
                </p:oleObj>
              </mc:Choice>
              <mc:Fallback>
                <p:oleObj name="" r:id="rId7" imgW="4876800" imgH="3429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1428750"/>
                        <a:ext cx="86487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Text Box 2"/>
          <p:cNvSpPr txBox="1"/>
          <p:nvPr/>
        </p:nvSpPr>
        <p:spPr>
          <a:xfrm>
            <a:off x="304800" y="228600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求拟合函数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z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by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439738" y="3368675"/>
          <a:ext cx="8002587" cy="2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4102100" imgH="1155700" progId="Equation.DSMT4">
                  <p:embed/>
                </p:oleObj>
              </mc:Choice>
              <mc:Fallback>
                <p:oleObj name="" r:id="rId1" imgW="4102100" imgH="11557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9738" y="3368675"/>
                        <a:ext cx="8002587" cy="22526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3" name="Group 33"/>
          <p:cNvGrpSpPr/>
          <p:nvPr/>
        </p:nvGrpSpPr>
        <p:grpSpPr>
          <a:xfrm>
            <a:off x="1469390" y="1124268"/>
            <a:ext cx="5534025" cy="1470025"/>
            <a:chOff x="1170" y="576"/>
            <a:chExt cx="3486" cy="680"/>
          </a:xfrm>
        </p:grpSpPr>
        <p:sp>
          <p:nvSpPr>
            <p:cNvPr id="10244" name="Rectangle 4"/>
            <p:cNvSpPr/>
            <p:nvPr/>
          </p:nvSpPr>
          <p:spPr>
            <a:xfrm>
              <a:off x="1174" y="576"/>
              <a:ext cx="3482" cy="68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2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2       2       3       1         2</a:t>
              </a:r>
              <a:endPara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y        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       3      -2      -1       -4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</a:pPr>
              <a:r>
                <a:rPr lang="en-US" altLang="zh-CN" b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z         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 1       0        6       -3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45" name="Line 5"/>
            <p:cNvSpPr/>
            <p:nvPr/>
          </p:nvSpPr>
          <p:spPr>
            <a:xfrm>
              <a:off x="1170" y="808"/>
              <a:ext cx="3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246" name="Line 5"/>
          <p:cNvSpPr/>
          <p:nvPr/>
        </p:nvSpPr>
        <p:spPr>
          <a:xfrm>
            <a:off x="1475740" y="2060258"/>
            <a:ext cx="5486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40" name="文本框 14339"/>
          <p:cNvSpPr txBox="1"/>
          <p:nvPr/>
        </p:nvSpPr>
        <p:spPr>
          <a:xfrm>
            <a:off x="495300" y="239713"/>
            <a:ext cx="8077200" cy="522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已知实验数据如下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4340"/>
          <p:cNvGrpSpPr/>
          <p:nvPr/>
        </p:nvGrpSpPr>
        <p:grpSpPr>
          <a:xfrm>
            <a:off x="2400300" y="1125538"/>
            <a:ext cx="4267200" cy="1169987"/>
            <a:chOff x="0" y="0"/>
            <a:chExt cx="2688" cy="737"/>
          </a:xfrm>
        </p:grpSpPr>
        <p:sp>
          <p:nvSpPr>
            <p:cNvPr id="11267" name="文本框 14341"/>
            <p:cNvSpPr txBox="1"/>
            <p:nvPr/>
          </p:nvSpPr>
          <p:spPr>
            <a:xfrm>
              <a:off x="0" y="0"/>
              <a:ext cx="2688" cy="737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eaLnBrk="0" hangingPunct="0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x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1       2       3        4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0" hangingPunct="0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y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10     30     50      80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8" name="直接连接符 14342"/>
            <p:cNvSpPr/>
            <p:nvPr/>
          </p:nvSpPr>
          <p:spPr>
            <a:xfrm>
              <a:off x="48" y="384"/>
              <a:ext cx="26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4344" name="文本框 14343"/>
          <p:cNvSpPr txBox="1"/>
          <p:nvPr/>
        </p:nvSpPr>
        <p:spPr>
          <a:xfrm>
            <a:off x="466725" y="2695575"/>
            <a:ext cx="815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求二次多项式拟合函数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 =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a + b x</a:t>
            </a:r>
            <a:r>
              <a:rPr lang="en-US" altLang="zh-CN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endParaRPr lang="en-US" altLang="zh-CN" b="1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0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44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nimBg="1" build="p"/>
      <p:bldP spid="14344" grpId="0" animBg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332740"/>
            <a:ext cx="5550535" cy="7861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extBox 12"/>
          <p:cNvSpPr txBox="1"/>
          <p:nvPr/>
        </p:nvSpPr>
        <p:spPr>
          <a:xfrm>
            <a:off x="996950" y="317500"/>
            <a:ext cx="4929188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rgbClr val="7030A0"/>
              </a:buClr>
            </a:pP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多项式插值</a:t>
            </a:r>
            <a:endParaRPr lang="zh-CN" altLang="en-US" sz="32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 Box 2"/>
          <p:cNvSpPr txBox="1"/>
          <p:nvPr/>
        </p:nvSpPr>
        <p:spPr>
          <a:xfrm>
            <a:off x="785813" y="4846638"/>
            <a:ext cx="3286125" cy="954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分段低次多项式插值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分段线性和样条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18088" y="355600"/>
            <a:ext cx="4500562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rgbClr val="7030A0"/>
              </a:buClr>
            </a:pP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Newton-Cotes</a:t>
            </a:r>
            <a:r>
              <a:rPr lang="zh-CN" alt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家族</a:t>
            </a:r>
            <a:endParaRPr lang="zh-CN" altLang="en-US" sz="32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" name="Text Box 2"/>
          <p:cNvSpPr txBox="1"/>
          <p:nvPr/>
        </p:nvSpPr>
        <p:spPr>
          <a:xfrm>
            <a:off x="4721225" y="4846638"/>
            <a:ext cx="3241675" cy="9540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分段低阶数值积分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复合数值积分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10"/>
          <p:cNvGraphicFramePr>
            <a:graphicFrameLocks noChangeAspect="1"/>
          </p:cNvGraphicFramePr>
          <p:nvPr/>
        </p:nvGraphicFramePr>
        <p:xfrm>
          <a:off x="401638" y="1135063"/>
          <a:ext cx="36703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854200" imgH="444500" progId="Equation.DSMT4">
                  <p:embed/>
                </p:oleObj>
              </mc:Choice>
              <mc:Fallback>
                <p:oleObj name="" r:id="rId1" imgW="1854200" imgH="4445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1638" y="1135063"/>
                        <a:ext cx="3670300" cy="879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5072063" y="1228725"/>
          <a:ext cx="358775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2032000" imgH="444500" progId="Equation.DSMT4">
                  <p:embed/>
                </p:oleObj>
              </mc:Choice>
              <mc:Fallback>
                <p:oleObj name="" r:id="rId3" imgW="2032000" imgH="4445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2063" y="1228725"/>
                        <a:ext cx="3587750" cy="785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7550" y="2382838"/>
            <a:ext cx="2628900" cy="2092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5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Text Box 2"/>
          <p:cNvSpPr txBox="1"/>
          <p:nvPr/>
        </p:nvSpPr>
        <p:spPr>
          <a:xfrm>
            <a:off x="0" y="214313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1143000" y="285750"/>
          <a:ext cx="4854575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540000" imgH="1257300" progId="Equation.DSMT4">
                  <p:embed/>
                </p:oleObj>
              </mc:Choice>
              <mc:Fallback>
                <p:oleObj name="" r:id="rId1" imgW="2540000" imgH="12573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43000" y="285750"/>
                        <a:ext cx="4854575" cy="2397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322263" y="3071813"/>
          <a:ext cx="783907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4102100" imgH="330200" progId="Equation.DSMT4">
                  <p:embed/>
                </p:oleObj>
              </mc:Choice>
              <mc:Fallback>
                <p:oleObj name="" r:id="rId3" imgW="4102100" imgH="3302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2263" y="3071813"/>
                        <a:ext cx="7839075" cy="630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357188" y="4103688"/>
          <a:ext cx="691515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5" imgW="3619500" imgH="596900" progId="Equation.DSMT4">
                  <p:embed/>
                </p:oleObj>
              </mc:Choice>
              <mc:Fallback>
                <p:oleObj name="" r:id="rId5" imgW="3619500" imgH="5969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7188" y="4103688"/>
                        <a:ext cx="6915150" cy="1139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83" name="Object 15"/>
          <p:cNvGraphicFramePr>
            <a:graphicFrameLocks noChangeAspect="1"/>
          </p:cNvGraphicFramePr>
          <p:nvPr/>
        </p:nvGraphicFramePr>
        <p:xfrm>
          <a:off x="428625" y="2857500"/>
          <a:ext cx="82010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4013200" imgH="406400" progId="Equation.DSMT4">
                  <p:embed/>
                </p:oleObj>
              </mc:Choice>
              <mc:Fallback>
                <p:oleObj name="" r:id="rId1" imgW="4013200" imgH="4064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8625" y="2857500"/>
                        <a:ext cx="8201025" cy="823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16"/>
          <p:cNvGraphicFramePr>
            <a:graphicFrameLocks noChangeAspect="1"/>
          </p:cNvGraphicFramePr>
          <p:nvPr/>
        </p:nvGraphicFramePr>
        <p:xfrm>
          <a:off x="1143000" y="3957638"/>
          <a:ext cx="5087938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3" imgW="2286000" imgH="406400" progId="Equation.DSMT4">
                  <p:embed/>
                </p:oleObj>
              </mc:Choice>
              <mc:Fallback>
                <p:oleObj name="" r:id="rId3" imgW="2286000" imgH="4064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3957638"/>
                        <a:ext cx="5087938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25"/>
          <p:cNvGraphicFramePr>
            <a:graphicFrameLocks noChangeAspect="1"/>
          </p:cNvGraphicFramePr>
          <p:nvPr/>
        </p:nvGraphicFramePr>
        <p:xfrm>
          <a:off x="785813" y="357188"/>
          <a:ext cx="7358062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3992245" imgH="401320" progId="Equation.DSMT4">
                  <p:embed/>
                </p:oleObj>
              </mc:Choice>
              <mc:Fallback>
                <p:oleObj name="" r:id="rId5" imgW="3992245" imgH="40132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5813" y="357188"/>
                        <a:ext cx="7358062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0" y="1643063"/>
          <a:ext cx="89662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7" imgW="4749800" imgH="431800" progId="Equation.DSMT4">
                  <p:embed/>
                </p:oleObj>
              </mc:Choice>
              <mc:Fallback>
                <p:oleObj name="" r:id="rId7" imgW="4749800" imgH="4318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1643063"/>
                        <a:ext cx="8966200" cy="809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7"/>
          <p:cNvGraphicFramePr>
            <a:graphicFrameLocks noChangeAspect="1"/>
          </p:cNvGraphicFramePr>
          <p:nvPr/>
        </p:nvGraphicFramePr>
        <p:xfrm>
          <a:off x="1928813" y="5929313"/>
          <a:ext cx="266700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9" imgW="1168400" imgH="419100" progId="Equation.DSMT4">
                  <p:embed/>
                </p:oleObj>
              </mc:Choice>
              <mc:Fallback>
                <p:oleObj name="" r:id="rId9" imgW="1168400" imgH="4191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28813" y="5929313"/>
                        <a:ext cx="2667000" cy="915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1928813" y="4929188"/>
          <a:ext cx="36703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1" imgW="1739900" imgH="406400" progId="Equation.DSMT4">
                  <p:embed/>
                </p:oleObj>
              </mc:Choice>
              <mc:Fallback>
                <p:oleObj name="" r:id="rId11" imgW="1739900" imgH="4064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28813" y="4929188"/>
                        <a:ext cx="3670300" cy="85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253038" y="5805488"/>
            <a:ext cx="3924300" cy="400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其它公式的误差余项呢？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Text Box 2"/>
          <p:cNvSpPr txBox="1"/>
          <p:nvPr/>
        </p:nvSpPr>
        <p:spPr>
          <a:xfrm>
            <a:off x="228600" y="71438"/>
            <a:ext cx="84582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Simpson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9946" name="Object 10"/>
          <p:cNvGraphicFramePr>
            <a:graphicFrameLocks noChangeAspect="1"/>
          </p:cNvGraphicFramePr>
          <p:nvPr/>
        </p:nvGraphicFramePr>
        <p:xfrm>
          <a:off x="571500" y="2214563"/>
          <a:ext cx="7707313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454400" imgH="444500" progId="Equation.DSMT4">
                  <p:embed/>
                </p:oleObj>
              </mc:Choice>
              <mc:Fallback>
                <p:oleObj name="" r:id="rId1" imgW="3454400" imgH="4445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1500" y="2214563"/>
                        <a:ext cx="7707313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8" name="Object 12"/>
          <p:cNvGraphicFramePr>
            <a:graphicFrameLocks noChangeAspect="1"/>
          </p:cNvGraphicFramePr>
          <p:nvPr/>
        </p:nvGraphicFramePr>
        <p:xfrm>
          <a:off x="357188" y="3714750"/>
          <a:ext cx="8577262" cy="214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3924300" imgH="990600" progId="Equation.DSMT4">
                  <p:embed/>
                </p:oleObj>
              </mc:Choice>
              <mc:Fallback>
                <p:oleObj name="" r:id="rId3" imgW="3924300" imgH="9906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188" y="3714750"/>
                        <a:ext cx="8577262" cy="214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/>
          <p:nvPr/>
        </p:nvSpPr>
        <p:spPr>
          <a:xfrm>
            <a:off x="685800" y="1071563"/>
            <a:ext cx="84582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记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=(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-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sym typeface="Wingdings" panose="05000000000000000000" pitchFamily="2" charset="2"/>
              </a:rPr>
              <a:t>)/2,     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 i="1" baseline="-30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= a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jh  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j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0, 1, 2 )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9457" name="Object 0"/>
          <p:cNvGraphicFramePr>
            <a:graphicFrameLocks noChangeAspect="1"/>
          </p:cNvGraphicFramePr>
          <p:nvPr/>
        </p:nvGraphicFramePr>
        <p:xfrm>
          <a:off x="515938" y="71438"/>
          <a:ext cx="4456112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1828800" imgH="444500" progId="Equation.DSMT4">
                  <p:embed/>
                </p:oleObj>
              </mc:Choice>
              <mc:Fallback>
                <p:oleObj name="" r:id="rId1" imgW="1828800" imgH="4445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5938" y="71438"/>
                        <a:ext cx="4456112" cy="1081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8" name="Object 1"/>
          <p:cNvGraphicFramePr>
            <a:graphicFrameLocks noChangeAspect="1"/>
          </p:cNvGraphicFramePr>
          <p:nvPr/>
        </p:nvGraphicFramePr>
        <p:xfrm>
          <a:off x="530225" y="1143000"/>
          <a:ext cx="442595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1815465" imgH="444500" progId="Equation.DSMT4">
                  <p:embed/>
                </p:oleObj>
              </mc:Choice>
              <mc:Fallback>
                <p:oleObj name="" r:id="rId3" imgW="1815465" imgH="4445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225" y="1143000"/>
                        <a:ext cx="4425950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2"/>
          <p:cNvGraphicFramePr>
            <a:graphicFrameLocks noChangeAspect="1"/>
          </p:cNvGraphicFramePr>
          <p:nvPr/>
        </p:nvGraphicFramePr>
        <p:xfrm>
          <a:off x="515938" y="2241550"/>
          <a:ext cx="445611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5" imgW="1828800" imgH="444500" progId="Equation.DSMT4">
                  <p:embed/>
                </p:oleObj>
              </mc:Choice>
              <mc:Fallback>
                <p:oleObj name="" r:id="rId5" imgW="1828800" imgH="4445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938" y="2241550"/>
                        <a:ext cx="4456112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1249363" y="4000500"/>
          <a:ext cx="6931025" cy="176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2870200" imgH="736600" progId="Equation.DSMT4">
                  <p:embed/>
                </p:oleObj>
              </mc:Choice>
              <mc:Fallback>
                <p:oleObj name="" r:id="rId7" imgW="2870200" imgH="7366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49363" y="4000500"/>
                        <a:ext cx="6931025" cy="1760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Text Box 10"/>
          <p:cNvSpPr txBox="1"/>
          <p:nvPr/>
        </p:nvSpPr>
        <p:spPr>
          <a:xfrm>
            <a:off x="323850" y="3429000"/>
            <a:ext cx="563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Simpson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积分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4857750" y="71438"/>
          <a:ext cx="16732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9" imgW="685800" imgH="406400" progId="Equation.DSMT4">
                  <p:embed/>
                </p:oleObj>
              </mc:Choice>
              <mc:Fallback>
                <p:oleObj name="" r:id="rId9" imgW="685800" imgH="4064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57750" y="71438"/>
                        <a:ext cx="1673225" cy="989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4899025" y="2297113"/>
          <a:ext cx="1673225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1" imgW="685800" imgH="406400" progId="Equation.3">
                  <p:embed/>
                </p:oleObj>
              </mc:Choice>
              <mc:Fallback>
                <p:oleObj name="" r:id="rId11" imgW="685800" imgH="4064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99025" y="2297113"/>
                        <a:ext cx="1673225" cy="989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4857750" y="1143000"/>
          <a:ext cx="167322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2" imgW="685800" imgH="406400" progId="Equation.3">
                  <p:embed/>
                </p:oleObj>
              </mc:Choice>
              <mc:Fallback>
                <p:oleObj name="" r:id="rId12" imgW="685800" imgH="4064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57750" y="1143000"/>
                        <a:ext cx="1673225" cy="989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786063" y="5643563"/>
          <a:ext cx="385762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4" imgW="1587500" imgH="419100" progId="Equation.DSMT4">
                  <p:embed/>
                </p:oleObj>
              </mc:Choice>
              <mc:Fallback>
                <p:oleObj name="" r:id="rId14" imgW="1587500" imgH="4191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86063" y="5643563"/>
                        <a:ext cx="3857625" cy="1008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0"/>
          <p:cNvSpPr txBox="1"/>
          <p:nvPr/>
        </p:nvSpPr>
        <p:spPr>
          <a:xfrm>
            <a:off x="468313" y="5876925"/>
            <a:ext cx="56388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其余项为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4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4" grpId="0" build="p"/>
      <p:bldP spid="1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ext Box 2"/>
          <p:cNvSpPr txBox="1"/>
          <p:nvPr/>
        </p:nvSpPr>
        <p:spPr>
          <a:xfrm>
            <a:off x="285750" y="1117600"/>
            <a:ext cx="8715375" cy="1016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 机械求积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: 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在区间上适当选取某些节点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然后用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加权平均构造出如下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积分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2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2652713" y="2430463"/>
          <a:ext cx="4222750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548765" imgH="444500" progId="Equation.DSMT4">
                  <p:embed/>
                </p:oleObj>
              </mc:Choice>
              <mc:Fallback>
                <p:oleObj name="" r:id="rId1" imgW="1548765" imgH="4445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52713" y="2430463"/>
                        <a:ext cx="4222750" cy="1214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"/>
          <p:cNvSpPr txBox="1"/>
          <p:nvPr/>
        </p:nvSpPr>
        <p:spPr>
          <a:xfrm>
            <a:off x="428625" y="3916363"/>
            <a:ext cx="8358188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其中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称为插值节点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黑体" panose="02010609060101010101" pitchFamily="49" charset="-122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称为积分系数。设计积分公式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需要提供积分节点及其相应的积分系数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加权系数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087438" y="2346325"/>
          <a:ext cx="5605462" cy="314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1" imgW="2260600" imgH="1270000" progId="Equation.DSMT4">
                  <p:embed/>
                </p:oleObj>
              </mc:Choice>
              <mc:Fallback>
                <p:oleObj name="" r:id="rId1" imgW="2260600" imgH="12700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87438" y="2346325"/>
                        <a:ext cx="5605462" cy="3148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/>
          <p:nvPr/>
        </p:nvSpPr>
        <p:spPr>
          <a:xfrm>
            <a:off x="214313" y="1714500"/>
            <a:ext cx="9358312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SzTx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设计</a:t>
            </a:r>
            <a:r>
              <a:rPr lang="en-US" altLang="zh-CN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阶代数精度的积分公式只需验证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···,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087438" y="727075"/>
          <a:ext cx="6337300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2324100" imgH="330200" progId="Equation.DSMT4">
                  <p:embed/>
                </p:oleObj>
              </mc:Choice>
              <mc:Fallback>
                <p:oleObj name="" r:id="rId3" imgW="2324100" imgH="3302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7438" y="727075"/>
                        <a:ext cx="6337300" cy="903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Box 5"/>
          <p:cNvSpPr txBox="1"/>
          <p:nvPr/>
        </p:nvSpPr>
        <p:spPr>
          <a:xfrm>
            <a:off x="214313" y="71438"/>
            <a:ext cx="2786062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机械积分公式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9750" y="5514975"/>
            <a:ext cx="7786688" cy="1016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>
                <a:srgbClr val="7030A0"/>
              </a:buClr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积分公式对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 ···,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成立可以建立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个方程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则可以确定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个待定系数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32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2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4" name="Text Box 2"/>
          <p:cNvSpPr txBox="1"/>
          <p:nvPr/>
        </p:nvSpPr>
        <p:spPr>
          <a:xfrm>
            <a:off x="354013" y="2063750"/>
            <a:ext cx="8610600" cy="10779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定义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对多项式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)=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1,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···,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积分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公式都精确成立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356" name="Text Box 20"/>
          <p:cNvSpPr txBox="1"/>
          <p:nvPr/>
        </p:nvSpPr>
        <p:spPr>
          <a:xfrm>
            <a:off x="357188" y="4573588"/>
            <a:ext cx="8124825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则称该数值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积分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公式具有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阶的代数精确度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291" name="Object 21"/>
          <p:cNvGraphicFramePr>
            <a:graphicFrameLocks noChangeAspect="1"/>
          </p:cNvGraphicFramePr>
          <p:nvPr/>
        </p:nvGraphicFramePr>
        <p:xfrm>
          <a:off x="2574925" y="3103563"/>
          <a:ext cx="3868738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1548765" imgH="444500" progId="Equation.DSMT4">
                  <p:embed/>
                </p:oleObj>
              </mc:Choice>
              <mc:Fallback>
                <p:oleObj name="" r:id="rId1" imgW="1548765" imgH="4445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74925" y="3103563"/>
                        <a:ext cx="3868738" cy="1117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5"/>
          <p:cNvSpPr txBox="1"/>
          <p:nvPr/>
        </p:nvSpPr>
        <p:spPr>
          <a:xfrm>
            <a:off x="214313" y="479425"/>
            <a:ext cx="8786812" cy="10779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机械积分方法是近似方法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为了保证精度自然希望它能对尽可能多的简单函数是准确的。</a:t>
            </a:r>
            <a:endParaRPr lang="zh-CN" altLang="en-US" sz="32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56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4356" grpId="0" build="p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Text Box 2"/>
          <p:cNvSpPr txBox="1"/>
          <p:nvPr/>
        </p:nvSpPr>
        <p:spPr>
          <a:xfrm>
            <a:off x="104775" y="344488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1031875" y="285750"/>
          <a:ext cx="791368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4140200" imgH="558800" progId="Equation.DSMT4">
                  <p:embed/>
                </p:oleObj>
              </mc:Choice>
              <mc:Fallback>
                <p:oleObj name="" r:id="rId1" imgW="4140200" imgH="5588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1875" y="285750"/>
                        <a:ext cx="7913688" cy="1065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7"/>
          <p:cNvGraphicFramePr>
            <a:graphicFrameLocks noChangeAspect="1"/>
          </p:cNvGraphicFramePr>
          <p:nvPr/>
        </p:nvGraphicFramePr>
        <p:xfrm>
          <a:off x="1503363" y="1677988"/>
          <a:ext cx="5062537" cy="263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3" imgW="1943100" imgH="1016000" progId="Equation.DSMT4">
                  <p:embed/>
                </p:oleObj>
              </mc:Choice>
              <mc:Fallback>
                <p:oleObj name="" r:id="rId3" imgW="1943100" imgH="10160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3363" y="1677988"/>
                        <a:ext cx="5062537" cy="2638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/>
          <p:cNvGraphicFramePr>
            <a:graphicFrameLocks noChangeAspect="1"/>
          </p:cNvGraphicFramePr>
          <p:nvPr/>
        </p:nvGraphicFramePr>
        <p:xfrm>
          <a:off x="1046163" y="4679950"/>
          <a:ext cx="6481762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5" imgW="1473200" imgH="228600" progId="Equation.DSMT4">
                  <p:embed/>
                </p:oleObj>
              </mc:Choice>
              <mc:Fallback>
                <p:oleObj name="" r:id="rId5" imgW="1473200" imgH="2286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6163" y="4679950"/>
                        <a:ext cx="6481762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6" name="文本框 2"/>
          <p:cNvSpPr txBox="1"/>
          <p:nvPr/>
        </p:nvSpPr>
        <p:spPr>
          <a:xfrm>
            <a:off x="900113" y="6021388"/>
            <a:ext cx="6627812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验证对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成立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不成立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代数精度</a:t>
            </a:r>
            <a:r>
              <a:rPr lang="en-US" altLang="zh-CN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Text Box 2"/>
          <p:cNvSpPr txBox="1"/>
          <p:nvPr/>
        </p:nvSpPr>
        <p:spPr>
          <a:xfrm>
            <a:off x="0" y="230188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574675" y="142875"/>
          <a:ext cx="85788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4089400" imgH="546100" progId="Equation.DSMT4">
                  <p:embed/>
                </p:oleObj>
              </mc:Choice>
              <mc:Fallback>
                <p:oleObj name="" r:id="rId1" imgW="4089400" imgH="5461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4675" y="142875"/>
                        <a:ext cx="857885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876300" y="4919663"/>
          <a:ext cx="6288088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3" imgW="2844800" imgH="330200" progId="Equation.DSMT4">
                  <p:embed/>
                </p:oleObj>
              </mc:Choice>
              <mc:Fallback>
                <p:oleObj name="" r:id="rId3" imgW="2844800" imgH="3302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6300" y="4919663"/>
                        <a:ext cx="6288088" cy="72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2868613" y="1563688"/>
          <a:ext cx="2301875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5" imgW="1041400" imgH="1473200" progId="Equation.DSMT4">
                  <p:embed/>
                </p:oleObj>
              </mc:Choice>
              <mc:Fallback>
                <p:oleObj name="" r:id="rId5" imgW="1041400" imgH="147320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68613" y="1563688"/>
                        <a:ext cx="2301875" cy="324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TextBox 5"/>
          <p:cNvSpPr txBox="1"/>
          <p:nvPr/>
        </p:nvSpPr>
        <p:spPr>
          <a:xfrm>
            <a:off x="387350" y="196850"/>
            <a:ext cx="55721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如果积分节点可以自由选择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57875" y="2857500"/>
            <a:ext cx="3143250" cy="2308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>
                <a:srgbClr val="7030A0"/>
              </a:buClr>
              <a:buSzTx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积分公式对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1,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 ···,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="1" i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en-US" altLang="zh-CN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成立可以建立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个方程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则可以确定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个待定系数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32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290513" y="1922463"/>
          <a:ext cx="6226175" cy="39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2870200" imgH="1841500" progId="Equation.DSMT4">
                  <p:embed/>
                </p:oleObj>
              </mc:Choice>
              <mc:Fallback>
                <p:oleObj name="" r:id="rId1" imgW="2870200" imgH="18415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0513" y="1922463"/>
                        <a:ext cx="6226175" cy="3994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1403350" y="839788"/>
          <a:ext cx="63373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2324100" imgH="330200" progId="Equation.DSMT4">
                  <p:embed/>
                </p:oleObj>
              </mc:Choice>
              <mc:Fallback>
                <p:oleObj name="" r:id="rId3" imgW="2324100" imgH="3302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350" y="839788"/>
                        <a:ext cx="6337300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5"/>
          <p:cNvGrpSpPr/>
          <p:nvPr/>
        </p:nvGrpSpPr>
        <p:grpSpPr>
          <a:xfrm>
            <a:off x="642938" y="5357813"/>
            <a:ext cx="7278687" cy="933450"/>
            <a:chOff x="240" y="912"/>
            <a:chExt cx="4585" cy="588"/>
          </a:xfrm>
        </p:grpSpPr>
        <p:graphicFrame>
          <p:nvGraphicFramePr>
            <p:cNvPr id="27650" name="Object 6"/>
            <p:cNvGraphicFramePr>
              <a:graphicFrameLocks noChangeAspect="1"/>
            </p:cNvGraphicFramePr>
            <p:nvPr/>
          </p:nvGraphicFramePr>
          <p:xfrm>
            <a:off x="2064" y="912"/>
            <a:ext cx="2761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1" imgW="1968500" imgH="419100" progId="Equation.DSMT4">
                    <p:embed/>
                  </p:oleObj>
                </mc:Choice>
                <mc:Fallback>
                  <p:oleObj name="" r:id="rId1" imgW="1968500" imgH="419100" progId="Equation.DSMT4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64" y="912"/>
                          <a:ext cx="2761" cy="5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1" name="Text Box 7"/>
            <p:cNvSpPr txBox="1"/>
            <p:nvPr/>
          </p:nvSpPr>
          <p:spPr>
            <a:xfrm>
              <a:off x="240" y="1008"/>
              <a:ext cx="168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两点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Gauss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公式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428625" y="928688"/>
            <a:ext cx="5486400" cy="966787"/>
            <a:chOff x="288" y="1152"/>
            <a:chExt cx="3456" cy="609"/>
          </a:xfrm>
        </p:grpSpPr>
        <p:graphicFrame>
          <p:nvGraphicFramePr>
            <p:cNvPr id="27653" name="Object 9"/>
            <p:cNvGraphicFramePr>
              <a:graphicFrameLocks noChangeAspect="1"/>
            </p:cNvGraphicFramePr>
            <p:nvPr/>
          </p:nvGraphicFramePr>
          <p:xfrm>
            <a:off x="1680" y="1152"/>
            <a:ext cx="2064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3" imgW="1320165" imgH="419100" progId="Equation.DSMT4">
                    <p:embed/>
                  </p:oleObj>
                </mc:Choice>
                <mc:Fallback>
                  <p:oleObj name="" r:id="rId3" imgW="1320165" imgH="419100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680" y="1152"/>
                          <a:ext cx="2064" cy="6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4" name="Text Box 10"/>
            <p:cNvSpPr txBox="1"/>
            <p:nvPr/>
          </p:nvSpPr>
          <p:spPr>
            <a:xfrm>
              <a:off x="288" y="1248"/>
              <a:ext cx="134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357188" y="2344738"/>
            <a:ext cx="7075487" cy="758825"/>
            <a:chOff x="288" y="1720"/>
            <a:chExt cx="4457" cy="478"/>
          </a:xfrm>
        </p:grpSpPr>
        <p:sp>
          <p:nvSpPr>
            <p:cNvPr id="27656" name="Text Box 12"/>
            <p:cNvSpPr txBox="1"/>
            <p:nvPr/>
          </p:nvSpPr>
          <p:spPr>
            <a:xfrm>
              <a:off x="288" y="1824"/>
              <a:ext cx="139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积分公式</a:t>
              </a:r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: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657" name="Object 13"/>
            <p:cNvGraphicFramePr>
              <a:graphicFrameLocks noChangeAspect="1"/>
            </p:cNvGraphicFramePr>
            <p:nvPr/>
          </p:nvGraphicFramePr>
          <p:xfrm>
            <a:off x="1787" y="1720"/>
            <a:ext cx="2958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5" imgW="2044700" imgH="330200" progId="Equation.DSMT4">
                    <p:embed/>
                  </p:oleObj>
                </mc:Choice>
                <mc:Fallback>
                  <p:oleObj name="" r:id="rId5" imgW="2044700" imgH="330200" progId="Equation.DSMT4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87" y="1720"/>
                          <a:ext cx="2958" cy="4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658" name="矩形 18"/>
          <p:cNvSpPr/>
          <p:nvPr/>
        </p:nvSpPr>
        <p:spPr>
          <a:xfrm>
            <a:off x="1000125" y="357188"/>
            <a:ext cx="1843088" cy="9540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两点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Gauss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928688" y="3643313"/>
          <a:ext cx="6897687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7" imgW="3048000" imgH="330200" progId="Equation.DSMT4">
                  <p:embed/>
                </p:oleObj>
              </mc:Choice>
              <mc:Fallback>
                <p:oleObj name="" r:id="rId7" imgW="3048000" imgH="330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8688" y="3643313"/>
                        <a:ext cx="6897687" cy="747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6"/>
          <p:cNvSpPr/>
          <p:nvPr/>
        </p:nvSpPr>
        <p:spPr>
          <a:xfrm>
            <a:off x="428625" y="214313"/>
            <a:ext cx="184308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三点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Gauss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960438" y="2276475"/>
          <a:ext cx="66071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2616200" imgH="330200" progId="Equation.DSMT4">
                  <p:embed/>
                </p:oleObj>
              </mc:Choice>
              <mc:Fallback>
                <p:oleObj name="" r:id="rId1" imgW="2616200" imgH="3302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60438" y="2276475"/>
                        <a:ext cx="6607175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285875" y="857250"/>
          <a:ext cx="149542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660400" imgH="444500" progId="Equation.3">
                  <p:embed/>
                </p:oleObj>
              </mc:Choice>
              <mc:Fallback>
                <p:oleObj name="" r:id="rId3" imgW="660400" imgH="4445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5875" y="857250"/>
                        <a:ext cx="1495425" cy="1004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3286125" y="1143000"/>
          <a:ext cx="9779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431800" imgH="215900" progId="Equation.3">
                  <p:embed/>
                </p:oleObj>
              </mc:Choice>
              <mc:Fallback>
                <p:oleObj name="" r:id="rId5" imgW="431800" imgH="2159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86125" y="1143000"/>
                        <a:ext cx="977900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5000625" y="928688"/>
          <a:ext cx="1293813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571500" imgH="444500" progId="Equation.3">
                  <p:embed/>
                </p:oleObj>
              </mc:Choice>
              <mc:Fallback>
                <p:oleObj name="" r:id="rId7" imgW="571500" imgH="4445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0625" y="928688"/>
                        <a:ext cx="1293813" cy="1004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5513" y="625475"/>
            <a:ext cx="4581525" cy="11620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69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8" y="1995488"/>
            <a:ext cx="7439025" cy="286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Text Box 2"/>
          <p:cNvSpPr txBox="1"/>
          <p:nvPr/>
        </p:nvSpPr>
        <p:spPr>
          <a:xfrm>
            <a:off x="1857375" y="0"/>
            <a:ext cx="4267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复合梯形积分公式</a:t>
            </a:r>
            <a:r>
              <a:rPr lang="zh-CN" altLang="en-US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07" name="Text Box 3"/>
          <p:cNvSpPr txBox="1"/>
          <p:nvPr/>
        </p:nvSpPr>
        <p:spPr>
          <a:xfrm>
            <a:off x="428625" y="785813"/>
            <a:ext cx="9144000" cy="1169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等分积分区间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记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)/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  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jh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j=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···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,n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0" y="2071688"/>
          <a:ext cx="7061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" imgW="2959100" imgH="355600" progId="Equation.DSMT4">
                  <p:embed/>
                </p:oleObj>
              </mc:Choice>
              <mc:Fallback>
                <p:oleObj name="" r:id="rId1" imgW="2959100" imgH="3556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0" y="2071688"/>
                        <a:ext cx="70612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16"/>
          <p:cNvGraphicFramePr>
            <a:graphicFrameLocks noChangeAspect="1"/>
          </p:cNvGraphicFramePr>
          <p:nvPr/>
        </p:nvGraphicFramePr>
        <p:xfrm>
          <a:off x="2143125" y="3643313"/>
          <a:ext cx="45720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1968500" imgH="444500" progId="Equation.DSMT4">
                  <p:embed/>
                </p:oleObj>
              </mc:Choice>
              <mc:Fallback>
                <p:oleObj name="" r:id="rId3" imgW="1968500" imgH="4445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3125" y="3643313"/>
                        <a:ext cx="4572000" cy="1033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214313" y="5572125"/>
          <a:ext cx="8929687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5" imgW="4648200" imgH="457200" progId="Equation.DSMT4">
                  <p:embed/>
                </p:oleObj>
              </mc:Choice>
              <mc:Fallback>
                <p:oleObj name="" r:id="rId5" imgW="4648200" imgH="4572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313" y="5572125"/>
                        <a:ext cx="8929687" cy="877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7"/>
          <p:cNvGraphicFramePr>
            <a:graphicFrameLocks noChangeAspect="1"/>
          </p:cNvGraphicFramePr>
          <p:nvPr/>
        </p:nvGraphicFramePr>
        <p:xfrm>
          <a:off x="500063" y="4714875"/>
          <a:ext cx="49355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7" imgW="2654300" imgH="419100" progId="Equation.DSMT4">
                  <p:embed/>
                </p:oleObj>
              </mc:Choice>
              <mc:Fallback>
                <p:oleObj name="" r:id="rId7" imgW="2654300" imgH="4191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0063" y="4714875"/>
                        <a:ext cx="4935537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1071563" y="2857500"/>
          <a:ext cx="79057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9" imgW="3403600" imgH="406400" progId="Equation.DSMT4">
                  <p:embed/>
                </p:oleObj>
              </mc:Choice>
              <mc:Fallback>
                <p:oleObj name="" r:id="rId9" imgW="3403600" imgH="4064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71563" y="2857500"/>
                        <a:ext cx="7905750" cy="944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4"/>
          <p:cNvSpPr/>
          <p:nvPr/>
        </p:nvSpPr>
        <p:spPr>
          <a:xfrm>
            <a:off x="500063" y="987425"/>
            <a:ext cx="7358062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记 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=(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 – a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)/(2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 , 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32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a+jh   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j =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0,1,···,2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1" i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344" name="Object 2"/>
          <p:cNvGraphicFramePr>
            <a:graphicFrameLocks noChangeAspect="1"/>
          </p:cNvGraphicFramePr>
          <p:nvPr/>
        </p:nvGraphicFramePr>
        <p:xfrm>
          <a:off x="642938" y="3649663"/>
          <a:ext cx="537686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2959100" imgH="444500" progId="Equation.DSMT4">
                  <p:embed/>
                </p:oleObj>
              </mc:Choice>
              <mc:Fallback>
                <p:oleObj name="" r:id="rId1" imgW="2959100" imgH="4445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42938" y="3649663"/>
                        <a:ext cx="5376862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9" name="Text Box 23"/>
          <p:cNvSpPr txBox="1"/>
          <p:nvPr/>
        </p:nvSpPr>
        <p:spPr>
          <a:xfrm>
            <a:off x="285750" y="4778375"/>
            <a:ext cx="3886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复合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Simpson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31748" name="Object 6"/>
          <p:cNvGraphicFramePr>
            <a:graphicFrameLocks noChangeAspect="1"/>
          </p:cNvGraphicFramePr>
          <p:nvPr/>
        </p:nvGraphicFramePr>
        <p:xfrm>
          <a:off x="2676525" y="0"/>
          <a:ext cx="5181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3" imgW="2451100" imgH="406400" progId="Equation.DSMT4">
                  <p:embed/>
                </p:oleObj>
              </mc:Choice>
              <mc:Fallback>
                <p:oleObj name="" r:id="rId3" imgW="2451100" imgH="4064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76525" y="0"/>
                        <a:ext cx="5181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33"/>
          <p:cNvSpPr txBox="1"/>
          <p:nvPr/>
        </p:nvSpPr>
        <p:spPr>
          <a:xfrm>
            <a:off x="228600" y="160338"/>
            <a:ext cx="23622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Simpsion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500063" y="5530850"/>
          <a:ext cx="79692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5" imgW="3937000" imgH="444500" progId="Equation.DSMT4">
                  <p:embed/>
                </p:oleObj>
              </mc:Choice>
              <mc:Fallback>
                <p:oleObj name="" r:id="rId5" imgW="3937000" imgH="4445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063" y="5530850"/>
                        <a:ext cx="796925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7"/>
          <p:cNvGraphicFramePr>
            <a:graphicFrameLocks noChangeAspect="1"/>
          </p:cNvGraphicFramePr>
          <p:nvPr/>
        </p:nvGraphicFramePr>
        <p:xfrm>
          <a:off x="3643313" y="4683125"/>
          <a:ext cx="50292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7" imgW="2705100" imgH="419100" progId="Equation.DSMT4">
                  <p:embed/>
                </p:oleObj>
              </mc:Choice>
              <mc:Fallback>
                <p:oleObj name="" r:id="rId7" imgW="2705100" imgH="4191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43313" y="4683125"/>
                        <a:ext cx="5029200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231775" y="1825625"/>
          <a:ext cx="64214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9" imgW="3022600" imgH="355600" progId="Equation.DSMT4">
                  <p:embed/>
                </p:oleObj>
              </mc:Choice>
              <mc:Fallback>
                <p:oleObj name="" r:id="rId9" imgW="3022600" imgH="3556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1775" y="1825625"/>
                        <a:ext cx="6421438" cy="74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0" name="Object 16"/>
          <p:cNvGraphicFramePr>
            <a:graphicFrameLocks noChangeAspect="1"/>
          </p:cNvGraphicFramePr>
          <p:nvPr/>
        </p:nvGraphicFramePr>
        <p:xfrm>
          <a:off x="-355600" y="2752725"/>
          <a:ext cx="9196388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1" imgW="5003800" imgH="406400" progId="Equation.DSMT4">
                  <p:embed/>
                </p:oleObj>
              </mc:Choice>
              <mc:Fallback>
                <p:oleObj name="" r:id="rId11" imgW="5003800" imgH="4064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-355600" y="2752725"/>
                        <a:ext cx="9196388" cy="747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3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6" name="Text Box 2"/>
          <p:cNvSpPr txBox="1"/>
          <p:nvPr/>
        </p:nvSpPr>
        <p:spPr>
          <a:xfrm>
            <a:off x="0" y="1643063"/>
            <a:ext cx="62484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一阶导数近似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两点中心差分公式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94" name="Object 2"/>
          <p:cNvGraphicFramePr/>
          <p:nvPr/>
        </p:nvGraphicFramePr>
        <p:xfrm>
          <a:off x="1416050" y="12700"/>
          <a:ext cx="63119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3083560" imgH="405765" progId="Equation.DSMT4">
                  <p:embed/>
                </p:oleObj>
              </mc:Choice>
              <mc:Fallback>
                <p:oleObj name="" r:id="rId1" imgW="3083560" imgH="405765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16050" y="12700"/>
                        <a:ext cx="6311900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3"/>
          <p:cNvGraphicFramePr/>
          <p:nvPr/>
        </p:nvGraphicFramePr>
        <p:xfrm>
          <a:off x="1714500" y="2286000"/>
          <a:ext cx="563245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3" imgW="2489200" imgH="419100" progId="Equation.DSMT4">
                  <p:embed/>
                </p:oleObj>
              </mc:Choice>
              <mc:Fallback>
                <p:oleObj name="" r:id="rId3" imgW="2489200" imgH="4191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14500" y="2286000"/>
                        <a:ext cx="5632450" cy="947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/>
          <p:nvPr/>
        </p:nvGraphicFramePr>
        <p:xfrm>
          <a:off x="1416050" y="798513"/>
          <a:ext cx="62547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5" imgW="3108960" imgH="405765" progId="Equation.DSMT4">
                  <p:embed/>
                </p:oleObj>
              </mc:Choice>
              <mc:Fallback>
                <p:oleObj name="" r:id="rId5" imgW="3108960" imgH="405765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6050" y="798513"/>
                        <a:ext cx="6254750" cy="815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"/>
          <p:cNvSpPr txBox="1"/>
          <p:nvPr/>
        </p:nvSpPr>
        <p:spPr>
          <a:xfrm>
            <a:off x="285750" y="5072063"/>
            <a:ext cx="62484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二阶导数近似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Object 5"/>
          <p:cNvGraphicFramePr/>
          <p:nvPr/>
        </p:nvGraphicFramePr>
        <p:xfrm>
          <a:off x="844550" y="3316288"/>
          <a:ext cx="75977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7" imgW="3848100" imgH="419100" progId="Equation.DSMT4">
                  <p:embed/>
                </p:oleObj>
              </mc:Choice>
              <mc:Fallback>
                <p:oleObj name="" r:id="rId7" imgW="3848100" imgH="4191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44550" y="3316288"/>
                        <a:ext cx="7597775" cy="827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/>
          <p:nvPr/>
        </p:nvGraphicFramePr>
        <p:xfrm>
          <a:off x="1143000" y="5786438"/>
          <a:ext cx="671512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9" imgW="3111500" imgH="419100" progId="Equation.DSMT4">
                  <p:embed/>
                </p:oleObj>
              </mc:Choice>
              <mc:Fallback>
                <p:oleObj name="" r:id="rId9" imgW="3111500" imgH="4191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43000" y="5786438"/>
                        <a:ext cx="6715125" cy="9032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7"/>
          <p:cNvGraphicFramePr/>
          <p:nvPr/>
        </p:nvGraphicFramePr>
        <p:xfrm>
          <a:off x="773113" y="4240213"/>
          <a:ext cx="77406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1" imgW="3898900" imgH="419100" progId="Equation.DSMT4">
                  <p:embed/>
                </p:oleObj>
              </mc:Choice>
              <mc:Fallback>
                <p:oleObj name="" r:id="rId11" imgW="3898900" imgH="4191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3113" y="4240213"/>
                        <a:ext cx="7740650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428750" y="2286000"/>
            <a:ext cx="6072188" cy="928688"/>
          </a:xfrm>
          <a:prstGeom prst="rect">
            <a:avLst/>
          </a:prstGeom>
          <a:solidFill>
            <a:schemeClr val="bg1">
              <a:alpha val="0"/>
            </a:schemeClr>
          </a:solidFill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1563" y="5715000"/>
            <a:ext cx="6929437" cy="1000125"/>
          </a:xfrm>
          <a:prstGeom prst="rect">
            <a:avLst/>
          </a:prstGeom>
          <a:solidFill>
            <a:schemeClr val="bg1">
              <a:alpha val="0"/>
            </a:schemeClr>
          </a:solidFill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7" grpId="0"/>
      <p:bldP spid="11" grpId="0" bldLvl="0" animBg="1"/>
      <p:bldP spid="12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675" y="1333500"/>
            <a:ext cx="6216650" cy="3981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0" y="1335088"/>
            <a:ext cx="6680200" cy="1587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34" name="Object 2"/>
          <p:cNvGraphicFramePr>
            <a:graphicFrameLocks noChangeAspect="1"/>
          </p:cNvGraphicFramePr>
          <p:nvPr/>
        </p:nvGraphicFramePr>
        <p:xfrm>
          <a:off x="2538413" y="981075"/>
          <a:ext cx="3328987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" imgW="1296670" imgH="483235" progId="Equation.DSMT4">
                  <p:embed/>
                </p:oleObj>
              </mc:Choice>
              <mc:Fallback>
                <p:oleObj name="" r:id="rId1" imgW="1296670" imgH="483235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8413" y="981075"/>
                        <a:ext cx="3328987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矩形 5"/>
          <p:cNvSpPr/>
          <p:nvPr/>
        </p:nvSpPr>
        <p:spPr>
          <a:xfrm>
            <a:off x="2411413" y="785813"/>
            <a:ext cx="3592512" cy="142875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4932363" y="4445000"/>
          <a:ext cx="390683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3" imgW="1524000" imgH="228600" progId="Equation.DSMT4">
                  <p:embed/>
                </p:oleObj>
              </mc:Choice>
              <mc:Fallback>
                <p:oleObj name="" r:id="rId3" imgW="1524000" imgH="2286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2363" y="4445000"/>
                        <a:ext cx="3906837" cy="496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矩形 16"/>
          <p:cNvSpPr/>
          <p:nvPr/>
        </p:nvSpPr>
        <p:spPr>
          <a:xfrm>
            <a:off x="4929188" y="3644900"/>
            <a:ext cx="3929062" cy="13684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8" name="Object 12"/>
          <p:cNvGraphicFramePr>
            <a:graphicFrameLocks noChangeAspect="1"/>
          </p:cNvGraphicFramePr>
          <p:nvPr/>
        </p:nvGraphicFramePr>
        <p:xfrm>
          <a:off x="1560513" y="4143375"/>
          <a:ext cx="88582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5" imgW="347345" imgH="205740" progId="Equation.DSMT4">
                  <p:embed/>
                </p:oleObj>
              </mc:Choice>
              <mc:Fallback>
                <p:oleObj name="" r:id="rId5" imgW="347345" imgH="20574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0513" y="4143375"/>
                        <a:ext cx="885825" cy="3952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矩形 18"/>
          <p:cNvSpPr/>
          <p:nvPr/>
        </p:nvSpPr>
        <p:spPr>
          <a:xfrm>
            <a:off x="357188" y="3643313"/>
            <a:ext cx="3286125" cy="142875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>
              <a:buFont typeface="Arial" panose="020B0604020202020204" pitchFamily="34" charset="0"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3" name="TextBox 19"/>
          <p:cNvSpPr txBox="1"/>
          <p:nvPr/>
        </p:nvSpPr>
        <p:spPr>
          <a:xfrm>
            <a:off x="2987675" y="2636838"/>
            <a:ext cx="114300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难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4" name="TextBox 20"/>
          <p:cNvSpPr txBox="1"/>
          <p:nvPr/>
        </p:nvSpPr>
        <p:spPr>
          <a:xfrm>
            <a:off x="5076825" y="2565400"/>
            <a:ext cx="114300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易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86" name="TextBox 22"/>
          <p:cNvSpPr txBox="1"/>
          <p:nvPr/>
        </p:nvSpPr>
        <p:spPr>
          <a:xfrm>
            <a:off x="3851275" y="3716338"/>
            <a:ext cx="142875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连续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327650" y="3830638"/>
            <a:ext cx="327660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数值算法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: Euler,R-K,…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下箭头 20"/>
          <p:cNvSpPr/>
          <p:nvPr/>
        </p:nvSpPr>
        <p:spPr>
          <a:xfrm rot="2220000">
            <a:off x="2195513" y="2403475"/>
            <a:ext cx="484187" cy="977900"/>
          </a:xfrm>
          <a:prstGeom prst="downArrow">
            <a:avLst>
              <a:gd name="adj1" fmla="val 50000"/>
              <a:gd name="adj2" fmla="val 49949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下箭头 22"/>
          <p:cNvSpPr/>
          <p:nvPr/>
        </p:nvSpPr>
        <p:spPr>
          <a:xfrm rot="-2220000">
            <a:off x="5808663" y="2471738"/>
            <a:ext cx="452437" cy="912812"/>
          </a:xfrm>
          <a:prstGeom prst="downArrow">
            <a:avLst>
              <a:gd name="adj1" fmla="val 50000"/>
              <a:gd name="adj2" fmla="val 4979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下箭头 23"/>
          <p:cNvSpPr/>
          <p:nvPr/>
        </p:nvSpPr>
        <p:spPr>
          <a:xfrm rot="5400000">
            <a:off x="3952875" y="3900488"/>
            <a:ext cx="484188" cy="977900"/>
          </a:xfrm>
          <a:prstGeom prst="downArrow">
            <a:avLst>
              <a:gd name="adj1" fmla="val 50000"/>
              <a:gd name="adj2" fmla="val 49949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animBg="1"/>
      <p:bldP spid="5131" grpId="0" animBg="1"/>
      <p:bldP spid="5132" grpId="0" animBg="1"/>
      <p:bldP spid="32783" grpId="0"/>
      <p:bldP spid="32784" grpId="0"/>
      <p:bldP spid="32786" grpId="0"/>
      <p:bldP spid="20" grpId="0"/>
      <p:bldP spid="21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90" name="Text Box 6"/>
          <p:cNvSpPr txBox="1"/>
          <p:nvPr/>
        </p:nvSpPr>
        <p:spPr>
          <a:xfrm>
            <a:off x="250825" y="117475"/>
            <a:ext cx="8215313" cy="20113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      方程中含有导数项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′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这是微分方程的本质特征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也是它难以求解的症结所在。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常见解决思路通常为数值微分和数值积分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Arial" panose="020B0604020202020204" pitchFamily="34" charset="0"/>
              </a:rPr>
              <a:t>。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6391" name="Object 3"/>
          <p:cNvGraphicFramePr>
            <a:graphicFrameLocks noChangeAspect="1"/>
          </p:cNvGraphicFramePr>
          <p:nvPr/>
        </p:nvGraphicFramePr>
        <p:xfrm>
          <a:off x="1485900" y="4437063"/>
          <a:ext cx="58801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" imgW="2527300" imgH="406400" progId="Equation.DSMT4">
                  <p:embed/>
                </p:oleObj>
              </mc:Choice>
              <mc:Fallback>
                <p:oleObj name="" r:id="rId1" imgW="2527300" imgH="4064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85900" y="4437063"/>
                        <a:ext cx="588010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4"/>
          <p:cNvGraphicFramePr>
            <a:graphicFrameLocks noChangeAspect="1"/>
          </p:cNvGraphicFramePr>
          <p:nvPr/>
        </p:nvGraphicFramePr>
        <p:xfrm>
          <a:off x="2928938" y="3143250"/>
          <a:ext cx="36020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" imgW="1405255" imgH="229870" progId="Equation.DSMT4">
                  <p:embed/>
                </p:oleObj>
              </mc:Choice>
              <mc:Fallback>
                <p:oleObj name="" r:id="rId3" imgW="1405255" imgH="22987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8938" y="3143250"/>
                        <a:ext cx="3602037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3143250" y="6000750"/>
          <a:ext cx="32496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5" imgW="1405255" imgH="229870" progId="Equation.DSMT4">
                  <p:embed/>
                </p:oleObj>
              </mc:Choice>
              <mc:Fallback>
                <p:oleObj name="" r:id="rId5" imgW="1405255" imgH="22987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3250" y="6000750"/>
                        <a:ext cx="3249613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2"/>
          <p:cNvGraphicFramePr>
            <a:graphicFrameLocks noChangeAspect="1"/>
          </p:cNvGraphicFramePr>
          <p:nvPr/>
        </p:nvGraphicFramePr>
        <p:xfrm>
          <a:off x="3071813" y="1357313"/>
          <a:ext cx="2293937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7" imgW="894080" imgH="485140" progId="Equation.DSMT4">
                  <p:embed/>
                </p:oleObj>
              </mc:Choice>
              <mc:Fallback>
                <p:oleObj name="" r:id="rId7" imgW="894080" imgH="48514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813" y="1357313"/>
                        <a:ext cx="2293937" cy="1058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6"/>
          <p:cNvSpPr txBox="1"/>
          <p:nvPr/>
        </p:nvSpPr>
        <p:spPr>
          <a:xfrm>
            <a:off x="428625" y="2500313"/>
            <a:ext cx="8215313" cy="517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      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代入方程</a:t>
            </a: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" name="Text Box 6"/>
          <p:cNvSpPr txBox="1"/>
          <p:nvPr/>
        </p:nvSpPr>
        <p:spPr>
          <a:xfrm>
            <a:off x="357188" y="3786188"/>
            <a:ext cx="8643937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并用前向差分格式代替其中的导数项</a:t>
            </a: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9" name="Text Box 6"/>
          <p:cNvSpPr txBox="1"/>
          <p:nvPr/>
        </p:nvSpPr>
        <p:spPr>
          <a:xfrm>
            <a:off x="357188" y="5357813"/>
            <a:ext cx="8643937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若用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y(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的近似值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代入上式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并记所得结果为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" name="Text Box 6"/>
          <p:cNvSpPr txBox="1"/>
          <p:nvPr/>
        </p:nvSpPr>
        <p:spPr>
          <a:xfrm>
            <a:off x="928688" y="6000750"/>
            <a:ext cx="8215312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Euler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en-US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charRg st="0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0">
                                            <p:txEl>
                                              <p:charRg st="0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nimBg="1" build="p"/>
      <p:bldP spid="17" grpId="0" animBg="1" build="p"/>
      <p:bldP spid="18" grpId="0" animBg="1" build="p"/>
      <p:bldP spid="19" grpId="0" animBg="1" build="p"/>
      <p:bldP spid="20" grpId="0" animBg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/>
          <p:nvPr/>
        </p:nvSpPr>
        <p:spPr>
          <a:xfrm>
            <a:off x="661988" y="1630363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= f (x, y)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483" name="Object 2"/>
          <p:cNvGraphicFramePr>
            <a:graphicFrameLocks noChangeAspect="1"/>
          </p:cNvGraphicFramePr>
          <p:nvPr/>
        </p:nvGraphicFramePr>
        <p:xfrm>
          <a:off x="755650" y="3429000"/>
          <a:ext cx="7642225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" imgW="3200400" imgH="355600" progId="Equation.DSMT4">
                  <p:embed/>
                </p:oleObj>
              </mc:Choice>
              <mc:Fallback>
                <p:oleObj name="" r:id="rId1" imgW="3200400" imgH="3556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3429000"/>
                        <a:ext cx="7642225" cy="83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4"/>
          <p:cNvGraphicFramePr>
            <a:graphicFrameLocks noChangeAspect="1"/>
          </p:cNvGraphicFramePr>
          <p:nvPr/>
        </p:nvGraphicFramePr>
        <p:xfrm>
          <a:off x="3059113" y="5732463"/>
          <a:ext cx="3963987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3" imgW="1414145" imgH="231140" progId="Equation.DSMT4">
                  <p:embed/>
                </p:oleObj>
              </mc:Choice>
              <mc:Fallback>
                <p:oleObj name="" r:id="rId3" imgW="1414145" imgH="23114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113" y="5732463"/>
                        <a:ext cx="3963987" cy="636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/>
          <p:nvPr/>
        </p:nvSpPr>
        <p:spPr>
          <a:xfrm>
            <a:off x="214313" y="4700588"/>
            <a:ext cx="2971800" cy="1169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左矩形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en-US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20488" name="Object 5"/>
          <p:cNvGraphicFramePr>
            <a:graphicFrameLocks noChangeAspect="1"/>
          </p:cNvGraphicFramePr>
          <p:nvPr/>
        </p:nvGraphicFramePr>
        <p:xfrm>
          <a:off x="3132138" y="4581525"/>
          <a:ext cx="546893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2184400" imgH="355600" progId="Equation.DSMT4">
                  <p:embed/>
                </p:oleObj>
              </mc:Choice>
              <mc:Fallback>
                <p:oleObj name="" r:id="rId5" imgW="2184400" imgH="3556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2138" y="4581525"/>
                        <a:ext cx="5468937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6"/>
          <p:cNvGraphicFramePr>
            <a:graphicFrameLocks noChangeAspect="1"/>
          </p:cNvGraphicFramePr>
          <p:nvPr/>
        </p:nvGraphicFramePr>
        <p:xfrm>
          <a:off x="3643313" y="1571625"/>
          <a:ext cx="46482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7" imgW="2057400" imgH="355600" progId="Equation.DSMT4">
                  <p:embed/>
                </p:oleObj>
              </mc:Choice>
              <mc:Fallback>
                <p:oleObj name="" r:id="rId7" imgW="2057400" imgH="3556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43313" y="1571625"/>
                        <a:ext cx="46482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12"/>
          <p:cNvSpPr txBox="1"/>
          <p:nvPr/>
        </p:nvSpPr>
        <p:spPr>
          <a:xfrm>
            <a:off x="2719388" y="1679575"/>
            <a:ext cx="685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 Box 7"/>
          <p:cNvSpPr txBox="1"/>
          <p:nvPr/>
        </p:nvSpPr>
        <p:spPr>
          <a:xfrm>
            <a:off x="827088" y="5805488"/>
            <a:ext cx="2971800" cy="11699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Euler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en-US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  <a:buFont typeface="Arial" panose="020B0604020202020204" pitchFamily="34" charset="0"/>
            </a:pPr>
            <a:endParaRPr lang="zh-CN" altLang="en-US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" name="Text Box 5"/>
          <p:cNvSpPr txBox="1"/>
          <p:nvPr/>
        </p:nvSpPr>
        <p:spPr>
          <a:xfrm>
            <a:off x="357188" y="214313"/>
            <a:ext cx="8286750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       方程中含有导数项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′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这是微分方程的本质特征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也是微分方程难以求解的症结所在。常见解决思路通常为数值微分和数值积分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187450" y="2420938"/>
          <a:ext cx="721995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9" imgW="2794000" imgH="330200" progId="Equation.DSMT4">
                  <p:embed/>
                </p:oleObj>
              </mc:Choice>
              <mc:Fallback>
                <p:oleObj name="" r:id="rId9" imgW="2794000" imgH="3302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7450" y="2420938"/>
                        <a:ext cx="7219950" cy="855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7" grpId="0" animBg="1"/>
      <p:bldP spid="20492" grpId="0" animBg="1" build="p"/>
      <p:bldP spid="16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ext Box 2"/>
          <p:cNvSpPr txBox="1"/>
          <p:nvPr/>
        </p:nvSpPr>
        <p:spPr>
          <a:xfrm>
            <a:off x="1066800" y="344488"/>
            <a:ext cx="22098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'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= f (x, y)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483" name="Object 2"/>
          <p:cNvGraphicFramePr>
            <a:graphicFrameLocks noChangeAspect="1"/>
          </p:cNvGraphicFramePr>
          <p:nvPr/>
        </p:nvGraphicFramePr>
        <p:xfrm>
          <a:off x="984250" y="1509713"/>
          <a:ext cx="7548563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3162300" imgH="355600" progId="Equation.DSMT4">
                  <p:embed/>
                </p:oleObj>
              </mc:Choice>
              <mc:Fallback>
                <p:oleObj name="" r:id="rId1" imgW="3162300" imgH="3556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84250" y="1509713"/>
                        <a:ext cx="7548563" cy="839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6"/>
          <p:cNvGraphicFramePr>
            <a:graphicFrameLocks noChangeAspect="1"/>
          </p:cNvGraphicFramePr>
          <p:nvPr/>
        </p:nvGraphicFramePr>
        <p:xfrm>
          <a:off x="3884613" y="285750"/>
          <a:ext cx="464820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3" imgW="2057400" imgH="355600" progId="Equation.DSMT4">
                  <p:embed/>
                </p:oleObj>
              </mc:Choice>
              <mc:Fallback>
                <p:oleObj name="" r:id="rId3" imgW="2057400" imgH="3556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84613" y="285750"/>
                        <a:ext cx="4648200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Text Box 12"/>
          <p:cNvSpPr txBox="1"/>
          <p:nvPr/>
        </p:nvSpPr>
        <p:spPr>
          <a:xfrm>
            <a:off x="2949575" y="393700"/>
            <a:ext cx="685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0484" name="Object 3"/>
          <p:cNvGraphicFramePr>
            <a:graphicFrameLocks noChangeAspect="1"/>
          </p:cNvGraphicFramePr>
          <p:nvPr/>
        </p:nvGraphicFramePr>
        <p:xfrm>
          <a:off x="642938" y="3413125"/>
          <a:ext cx="819626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3467100" imgH="406400" progId="Equation.DSMT4">
                  <p:embed/>
                </p:oleObj>
              </mc:Choice>
              <mc:Fallback>
                <p:oleObj name="" r:id="rId5" imgW="3467100" imgH="4064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2938" y="3413125"/>
                        <a:ext cx="8196262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7"/>
          <p:cNvGraphicFramePr>
            <a:graphicFrameLocks noChangeAspect="1"/>
          </p:cNvGraphicFramePr>
          <p:nvPr/>
        </p:nvGraphicFramePr>
        <p:xfrm>
          <a:off x="180975" y="5300663"/>
          <a:ext cx="89630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7" imgW="3352800" imgH="406400" progId="Equation.DSMT4">
                  <p:embed/>
                </p:oleObj>
              </mc:Choice>
              <mc:Fallback>
                <p:oleObj name="" r:id="rId7" imgW="3352800" imgH="4064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0975" y="5300663"/>
                        <a:ext cx="8963025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5"/>
          <p:cNvSpPr txBox="1"/>
          <p:nvPr/>
        </p:nvSpPr>
        <p:spPr>
          <a:xfrm>
            <a:off x="285750" y="2689225"/>
            <a:ext cx="2786063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梯形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积分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公式: </a:t>
            </a:r>
            <a:endParaRPr lang="zh-CN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" name="Text Box 5"/>
          <p:cNvSpPr txBox="1"/>
          <p:nvPr/>
        </p:nvSpPr>
        <p:spPr>
          <a:xfrm>
            <a:off x="323850" y="4652963"/>
            <a:ext cx="2786063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梯形公式</a:t>
            </a:r>
            <a:r>
              <a:rPr lang="zh-CN" altLang="zh-CN" sz="320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2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92" grpId="0" animBg="1" build="p"/>
      <p:bldP spid="16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6" name="Object 2"/>
          <p:cNvGraphicFramePr>
            <a:graphicFrameLocks noChangeAspect="1"/>
          </p:cNvGraphicFramePr>
          <p:nvPr/>
        </p:nvGraphicFramePr>
        <p:xfrm>
          <a:off x="2195513" y="4292600"/>
          <a:ext cx="38100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418590" imgH="229870" progId="Equation.3">
                  <p:embed/>
                </p:oleObj>
              </mc:Choice>
              <mc:Fallback>
                <p:oleObj name="" r:id="rId1" imgW="1418590" imgH="22987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5513" y="4292600"/>
                        <a:ext cx="3810000" cy="619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2124075" y="5229225"/>
          <a:ext cx="6053138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3" imgW="2490470" imgH="406400" progId="Equation.DSMT4">
                  <p:embed/>
                </p:oleObj>
              </mc:Choice>
              <mc:Fallback>
                <p:oleObj name="" r:id="rId3" imgW="2490470" imgH="4064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4075" y="5229225"/>
                        <a:ext cx="6053138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/>
          <p:nvPr/>
        </p:nvSpPr>
        <p:spPr>
          <a:xfrm>
            <a:off x="609600" y="4337050"/>
            <a:ext cx="75533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预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报</a:t>
            </a:r>
            <a:endParaRPr lang="zh-CN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4" name="Text Box 7"/>
          <p:cNvSpPr txBox="1"/>
          <p:nvPr/>
        </p:nvSpPr>
        <p:spPr>
          <a:xfrm>
            <a:off x="1187450" y="3284538"/>
            <a:ext cx="75533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预报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校正方法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改进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Euler公式</a:t>
            </a:r>
            <a:r>
              <a:rPr lang="en-US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zh-CN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" name="Text Box 7"/>
          <p:cNvSpPr txBox="1"/>
          <p:nvPr/>
        </p:nvSpPr>
        <p:spPr>
          <a:xfrm>
            <a:off x="395288" y="1557338"/>
            <a:ext cx="8501062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SzTx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综合使用这两种方法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先用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Euler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公式求得一个初步的近似值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预报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值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;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预报值的精度不高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代入右端的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校正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值。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7"/>
          <p:cNvSpPr txBox="1"/>
          <p:nvPr/>
        </p:nvSpPr>
        <p:spPr>
          <a:xfrm>
            <a:off x="620713" y="5481638"/>
            <a:ext cx="75533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校正</a:t>
            </a:r>
            <a:endParaRPr lang="zh-CN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Text Box 7"/>
          <p:cNvSpPr txBox="1"/>
          <p:nvPr/>
        </p:nvSpPr>
        <p:spPr>
          <a:xfrm>
            <a:off x="0" y="0"/>
            <a:ext cx="75533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zh-CN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梯形公式：</a:t>
            </a:r>
            <a:endParaRPr lang="zh-CN" altLang="zh-CN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188" y="6381750"/>
            <a:ext cx="626427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注意梯形公式和改进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格式区别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971550" y="549275"/>
          <a:ext cx="799306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5" imgW="3286760" imgH="405765" progId="Equation.DSMT4">
                  <p:embed/>
                </p:oleObj>
              </mc:Choice>
              <mc:Fallback>
                <p:oleObj name="" r:id="rId5" imgW="3286760" imgH="405765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1550" y="549275"/>
                        <a:ext cx="7993063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  <p:bldP spid="16" grpId="0"/>
      <p:bldP spid="2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7" name="Text Box 2"/>
          <p:cNvSpPr txBox="1"/>
          <p:nvPr/>
        </p:nvSpPr>
        <p:spPr>
          <a:xfrm>
            <a:off x="2428875" y="4000500"/>
            <a:ext cx="8756650" cy="6318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SzTx/>
            </a:pP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zh-CN" altLang="zh-CN" sz="32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=y</a:t>
            </a:r>
            <a:r>
              <a:rPr lang="zh-CN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sz="32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–</a:t>
            </a:r>
            <a:r>
              <a:rPr lang="zh-CN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y</a:t>
            </a:r>
            <a:r>
              <a:rPr lang="zh-CN" altLang="zh-CN" sz="3200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称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为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局部截断误差</a:t>
            </a:r>
            <a:endParaRPr lang="zh-CN" altLang="zh-CN" b="1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142875" y="3000375"/>
            <a:ext cx="90011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仅考虑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的局部情况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并假定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之前的计算没有误差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2"/>
          <p:cNvSpPr txBox="1"/>
          <p:nvPr/>
        </p:nvSpPr>
        <p:spPr>
          <a:xfrm>
            <a:off x="285750" y="5286375"/>
            <a:ext cx="91440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SzTx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若局部截断误差为</a:t>
            </a:r>
            <a:r>
              <a:rPr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b="1" i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p+</a:t>
            </a:r>
            <a:r>
              <a:rPr lang="zh-CN" altLang="en-US" b="1" baseline="300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则称显式单步法具有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 </a:t>
            </a:r>
            <a:r>
              <a:rPr lang="zh-CN" altLang="en-US" b="1" i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p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阶精度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sym typeface="Arial" panose="020B0604020202020204" pitchFamily="34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9" name="Text Box 2"/>
          <p:cNvSpPr txBox="1"/>
          <p:nvPr/>
        </p:nvSpPr>
        <p:spPr>
          <a:xfrm>
            <a:off x="357188" y="4000500"/>
            <a:ext cx="2143125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lnSpc>
                <a:spcPct val="120000"/>
              </a:lnSpc>
              <a:buSzTx/>
            </a:pP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设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= y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zh-CN" b="1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65" name="矩形 11"/>
          <p:cNvSpPr/>
          <p:nvPr/>
        </p:nvSpPr>
        <p:spPr>
          <a:xfrm>
            <a:off x="214313" y="857250"/>
            <a:ext cx="8715375" cy="1384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方程中含有导数项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′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这是微分方程的本质特征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也是微分方程难以求解的症结所在。常见解决思路通常为数值导数和数值积分。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  <p:bldP spid="11" grpId="0" animBg="1"/>
      <p:bldP spid="13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2" name="Text Box 4"/>
          <p:cNvSpPr txBox="1"/>
          <p:nvPr/>
        </p:nvSpPr>
        <p:spPr>
          <a:xfrm>
            <a:off x="428625" y="214313"/>
            <a:ext cx="8286750" cy="160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SzTx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zh-CN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用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梯形公式和改进的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Euler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求初值问题的数值解。</a:t>
            </a:r>
            <a:endParaRPr lang="zh-CN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SzTx/>
            </a:pP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7413" name="Object 2"/>
          <p:cNvGraphicFramePr>
            <a:graphicFrameLocks noChangeAspect="1"/>
          </p:cNvGraphicFramePr>
          <p:nvPr/>
        </p:nvGraphicFramePr>
        <p:xfrm>
          <a:off x="1928813" y="1285875"/>
          <a:ext cx="4029075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" imgW="1524000" imgH="685800" progId="Equation.DSMT4">
                  <p:embed/>
                </p:oleObj>
              </mc:Choice>
              <mc:Fallback>
                <p:oleObj name="" r:id="rId1" imgW="1524000" imgH="685800" progId="Equation.DSMT4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28813" y="1285875"/>
                        <a:ext cx="4029075" cy="1423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/>
          <p:nvPr/>
        </p:nvSpPr>
        <p:spPr>
          <a:xfrm>
            <a:off x="214313" y="2786063"/>
            <a:ext cx="871537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步长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0.1,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nh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= 0, 1,···,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7"/>
          <p:cNvSpPr txBox="1"/>
          <p:nvPr/>
        </p:nvSpPr>
        <p:spPr>
          <a:xfrm>
            <a:off x="714375" y="3643313"/>
            <a:ext cx="871537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</a:pP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0.1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－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7"/>
          <p:cNvSpPr txBox="1"/>
          <p:nvPr/>
        </p:nvSpPr>
        <p:spPr>
          <a:xfrm>
            <a:off x="714375" y="4797425"/>
            <a:ext cx="8715375" cy="10398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梯形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+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0.05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－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)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0.05(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－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5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38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charRg st="38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charRg st="38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 build="p"/>
      <p:bldP spid="17415" grpId="0" animBg="1" build="p"/>
      <p:bldP spid="7" grpId="0" animBg="1" build="p"/>
      <p:bldP spid="9" grpId="0" animBg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2" name="Text Box 4"/>
          <p:cNvSpPr txBox="1"/>
          <p:nvPr/>
        </p:nvSpPr>
        <p:spPr>
          <a:xfrm>
            <a:off x="428625" y="214313"/>
            <a:ext cx="8286750" cy="160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SzTx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zh-CN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用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梯形公式和改进的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Euler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如下常微分方程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SzTx/>
            </a:pP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7413" name="Object 2"/>
          <p:cNvGraphicFramePr>
            <a:graphicFrameLocks noChangeAspect="1"/>
          </p:cNvGraphicFramePr>
          <p:nvPr/>
        </p:nvGraphicFramePr>
        <p:xfrm>
          <a:off x="2286000" y="1230313"/>
          <a:ext cx="4029075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1" imgW="1524000" imgH="685800" progId="Equation.DSMT4">
                  <p:embed/>
                </p:oleObj>
              </mc:Choice>
              <mc:Fallback>
                <p:oleObj name="" r:id="rId1" imgW="1524000" imgH="685800" progId="Equation.DSMT4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1230313"/>
                        <a:ext cx="4029075" cy="1423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/>
          <p:nvPr/>
        </p:nvSpPr>
        <p:spPr>
          <a:xfrm>
            <a:off x="214313" y="2786063"/>
            <a:ext cx="871537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步长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0.1,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nh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(</a:t>
            </a:r>
            <a:r>
              <a:rPr lang="zh-CN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= 0, 1,···,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zh-CN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1308100" y="4125913"/>
          <a:ext cx="57673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3" imgW="2133600" imgH="241300" progId="Equation.DSMT4">
                  <p:embed/>
                </p:oleObj>
              </mc:Choice>
              <mc:Fallback>
                <p:oleObj name="" r:id="rId3" imgW="2133600" imgH="2413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08100" y="4125913"/>
                        <a:ext cx="5767388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7"/>
          <p:cNvSpPr txBox="1"/>
          <p:nvPr/>
        </p:nvSpPr>
        <p:spPr>
          <a:xfrm>
            <a:off x="323850" y="4256088"/>
            <a:ext cx="75533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zh-CN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</a:t>
            </a:r>
            <a:r>
              <a:rPr lang="zh-CN" altLang="en-US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报</a:t>
            </a:r>
            <a:endParaRPr lang="zh-CN" altLang="zh-CN" sz="3200" b="1" dirty="0">
              <a:solidFill>
                <a:srgbClr val="0070C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 Box 7"/>
          <p:cNvSpPr txBox="1"/>
          <p:nvPr/>
        </p:nvSpPr>
        <p:spPr>
          <a:xfrm>
            <a:off x="947738" y="3429000"/>
            <a:ext cx="7553325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SzTx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报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-校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正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</a:t>
            </a:r>
            <a:r>
              <a:rPr lang="zh-CN" altLang="zh-CN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zh-CN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zh-CN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Object 3"/>
          <p:cNvGraphicFramePr>
            <a:graphicFrameLocks noChangeAspect="1"/>
          </p:cNvGraphicFramePr>
          <p:nvPr/>
        </p:nvGraphicFramePr>
        <p:xfrm>
          <a:off x="1308100" y="5065713"/>
          <a:ext cx="75660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5" imgW="3111500" imgH="228600" progId="Equation.DSMT4">
                  <p:embed/>
                </p:oleObj>
              </mc:Choice>
              <mc:Fallback>
                <p:oleObj name="" r:id="rId5" imgW="3111500" imgH="228600" progId="Equation.DSMT4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08100" y="5065713"/>
                        <a:ext cx="7566025" cy="550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7"/>
          <p:cNvSpPr txBox="1"/>
          <p:nvPr/>
        </p:nvSpPr>
        <p:spPr>
          <a:xfrm>
            <a:off x="214313" y="5072063"/>
            <a:ext cx="75533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校正</a:t>
            </a:r>
            <a:endParaRPr lang="zh-CN" altLang="zh-CN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2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5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nimBg="1" build="p"/>
      <p:bldP spid="17415" grpId="0" animBg="1" build="p"/>
      <p:bldP spid="11" grpId="0"/>
      <p:bldP spid="12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116013" y="4005263"/>
          <a:ext cx="77184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" imgW="3009900" imgH="482600" progId="Equation.DSMT4">
                  <p:embed/>
                </p:oleObj>
              </mc:Choice>
              <mc:Fallback>
                <p:oleObj name="" r:id="rId1" imgW="3009900" imgH="482600" progId="Equation.DSMT4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16013" y="4005263"/>
                        <a:ext cx="7718425" cy="1038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39750" y="3160713"/>
            <a:ext cx="7129463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      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Euler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方法</a:t>
            </a:r>
            <a:endParaRPr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Text Box 4"/>
          <p:cNvSpPr txBox="1"/>
          <p:nvPr/>
        </p:nvSpPr>
        <p:spPr>
          <a:xfrm>
            <a:off x="428625" y="214313"/>
            <a:ext cx="8286750" cy="160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SzTx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zh-CN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用</a:t>
            </a: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Euler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梯形公式和改进的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Euler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求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如下的常微分方程组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lang="zh-CN" altLang="zh-CN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0" hangingPunct="0">
              <a:spcBef>
                <a:spcPct val="50000"/>
              </a:spcBef>
              <a:buSzTx/>
            </a:pP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916238" y="1460500"/>
          <a:ext cx="36258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3" imgW="1371600" imgH="546100" progId="Equation.DSMT4">
                  <p:embed/>
                </p:oleObj>
              </mc:Choice>
              <mc:Fallback>
                <p:oleObj name="" r:id="rId3" imgW="1371600" imgH="546100" progId="Equation.DSMT4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6238" y="1460500"/>
                        <a:ext cx="3625850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矩形 2"/>
          <p:cNvSpPr/>
          <p:nvPr/>
        </p:nvSpPr>
        <p:spPr>
          <a:xfrm>
            <a:off x="0" y="260350"/>
            <a:ext cx="539750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zh-CN" altLang="zh-CN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5058" name="Object 16"/>
          <p:cNvGraphicFramePr/>
          <p:nvPr/>
        </p:nvGraphicFramePr>
        <p:xfrm>
          <a:off x="900113" y="333375"/>
          <a:ext cx="776287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1" imgW="3657600" imgH="457200" progId="Equation.DSMT4">
                  <p:embed/>
                </p:oleObj>
              </mc:Choice>
              <mc:Fallback>
                <p:oleObj name="" r:id="rId1" imgW="3657600" imgH="4572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333375"/>
                        <a:ext cx="7762875" cy="974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6"/>
          <p:cNvGraphicFramePr/>
          <p:nvPr/>
        </p:nvGraphicFramePr>
        <p:xfrm>
          <a:off x="2516188" y="1592263"/>
          <a:ext cx="30734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3" imgW="1447800" imgH="228600" progId="Equation.DSMT4">
                  <p:embed/>
                </p:oleObj>
              </mc:Choice>
              <mc:Fallback>
                <p:oleObj name="" r:id="rId3" imgW="1447800" imgH="2286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6188" y="1592263"/>
                        <a:ext cx="3073400" cy="487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00" name="Text Box 2"/>
          <p:cNvSpPr txBox="1"/>
          <p:nvPr/>
        </p:nvSpPr>
        <p:spPr>
          <a:xfrm>
            <a:off x="125413" y="39688"/>
            <a:ext cx="8610600" cy="5826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684213" y="142875"/>
          <a:ext cx="8328025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3848100" imgH="685800" progId="Equation.DSMT4">
                  <p:embed/>
                </p:oleObj>
              </mc:Choice>
              <mc:Fallback>
                <p:oleObj name="" r:id="rId1" imgW="3848100" imgH="6858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142875"/>
                        <a:ext cx="8328025" cy="1479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88988" y="1857375"/>
          <a:ext cx="72834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3" imgW="3365500" imgH="228600" progId="Equation.DSMT4">
                  <p:embed/>
                </p:oleObj>
              </mc:Choice>
              <mc:Fallback>
                <p:oleObj name="" r:id="rId3" imgW="3365500" imgH="2286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8988" y="1857375"/>
                        <a:ext cx="7283450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28625" y="2571750"/>
          <a:ext cx="7859713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5" imgW="4546600" imgH="812800" progId="Equation.DSMT4">
                  <p:embed/>
                </p:oleObj>
              </mc:Choice>
              <mc:Fallback>
                <p:oleObj name="" r:id="rId5" imgW="4546600" imgH="812800" progId="Equation.DSMT4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625" y="2571750"/>
                        <a:ext cx="7859713" cy="1403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71500" y="4286250"/>
          <a:ext cx="20637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7" imgW="1193800" imgH="228600" progId="Equation.DSMT4">
                  <p:embed/>
                </p:oleObj>
              </mc:Choice>
              <mc:Fallback>
                <p:oleObj name="" r:id="rId7" imgW="1193800" imgH="2286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500" y="4286250"/>
                        <a:ext cx="206375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54000" y="5286375"/>
          <a:ext cx="748823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9" imgW="4330700" imgH="495300" progId="Equation.DSMT4">
                  <p:embed/>
                </p:oleObj>
              </mc:Choice>
              <mc:Fallback>
                <p:oleObj name="" r:id="rId9" imgW="4330700" imgH="4953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4000" y="5286375"/>
                        <a:ext cx="7488238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255588" y="471488"/>
          <a:ext cx="8601075" cy="307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1" imgW="3975100" imgH="1422400" progId="Equation.DSMT4">
                  <p:embed/>
                </p:oleObj>
              </mc:Choice>
              <mc:Fallback>
                <p:oleObj name="" r:id="rId1" imgW="3975100" imgH="14224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88" y="471488"/>
                        <a:ext cx="8601075" cy="3071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143125" y="5648325"/>
          <a:ext cx="37369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3" imgW="1727200" imgH="228600" progId="Equation.DSMT4">
                  <p:embed/>
                </p:oleObj>
              </mc:Choice>
              <mc:Fallback>
                <p:oleObj name="" r:id="rId3" imgW="1727200" imgH="2286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3125" y="5648325"/>
                        <a:ext cx="3736975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330450" y="4505325"/>
          <a:ext cx="30765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5" imgW="1422400" imgH="228600" progId="Equation.DSMT4">
                  <p:embed/>
                </p:oleObj>
              </mc:Choice>
              <mc:Fallback>
                <p:oleObj name="" r:id="rId5" imgW="1422400" imgH="2286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0450" y="4505325"/>
                        <a:ext cx="3076575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Text Box 2"/>
          <p:cNvSpPr txBox="1"/>
          <p:nvPr/>
        </p:nvSpPr>
        <p:spPr>
          <a:xfrm>
            <a:off x="222250" y="214313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00125" y="214313"/>
            <a:ext cx="831215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确定常数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p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c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c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使得如下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RK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公式的具有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阶精度？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22250" y="906463"/>
          <a:ext cx="88153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" imgW="4495800" imgH="228600" progId="Equation.DSMT4">
                  <p:embed/>
                </p:oleObj>
              </mc:Choice>
              <mc:Fallback>
                <p:oleObj name="" r:id="rId1" imgW="4495800" imgH="2286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2250" y="906463"/>
                        <a:ext cx="8815388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/>
        </p:nvGraphicFramePr>
        <p:xfrm>
          <a:off x="285750" y="1570038"/>
          <a:ext cx="831532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3" imgW="4241800" imgH="457200" progId="Equation.DSMT4">
                  <p:embed/>
                </p:oleObj>
              </mc:Choice>
              <mc:Fallback>
                <p:oleObj name="" r:id="rId3" imgW="4241800" imgH="4572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750" y="1570038"/>
                        <a:ext cx="8315325" cy="890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5"/>
          <p:cNvSpPr txBox="1"/>
          <p:nvPr/>
        </p:nvSpPr>
        <p:spPr>
          <a:xfrm>
            <a:off x="285750" y="2767013"/>
            <a:ext cx="814387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是否可以统一如何生成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y′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y′′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)?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20638" y="3621088"/>
          <a:ext cx="902811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5" imgW="5524500" imgH="254000" progId="Equation.DSMT4">
                  <p:embed/>
                </p:oleObj>
              </mc:Choice>
              <mc:Fallback>
                <p:oleObj name="" r:id="rId5" imgW="5524500" imgH="2540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8" y="3621088"/>
                        <a:ext cx="9028112" cy="411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/>
        </p:nvGraphicFramePr>
        <p:xfrm>
          <a:off x="571500" y="4491038"/>
          <a:ext cx="8572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7" imgW="3619500" imgH="241300" progId="Equation.DSMT4">
                  <p:embed/>
                </p:oleObj>
              </mc:Choice>
              <mc:Fallback>
                <p:oleObj name="" r:id="rId7" imgW="3619500" imgH="2413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500" y="4491038"/>
                        <a:ext cx="85725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15888" y="5399088"/>
          <a:ext cx="90281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9" imgW="5524500" imgH="508000" progId="Equation.DSMT4">
                  <p:embed/>
                </p:oleObj>
              </mc:Choice>
              <mc:Fallback>
                <p:oleObj name="" r:id="rId9" imgW="5524500" imgH="5080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5888" y="5399088"/>
                        <a:ext cx="9028112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44" name="Object 12"/>
          <p:cNvGraphicFramePr>
            <a:graphicFrameLocks noChangeAspect="1"/>
          </p:cNvGraphicFramePr>
          <p:nvPr/>
        </p:nvGraphicFramePr>
        <p:xfrm>
          <a:off x="666750" y="1071563"/>
          <a:ext cx="6834188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1" imgW="3721100" imgH="736600" progId="Equation.DSMT4">
                  <p:embed/>
                </p:oleObj>
              </mc:Choice>
              <mc:Fallback>
                <p:oleObj name="" r:id="rId1" imgW="3721100" imgH="7366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6750" y="1071563"/>
                        <a:ext cx="6834188" cy="1352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14313" y="357188"/>
          <a:ext cx="523716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3" imgW="2628900" imgH="254000" progId="Equation.DSMT4">
                  <p:embed/>
                </p:oleObj>
              </mc:Choice>
              <mc:Fallback>
                <p:oleObj name="" r:id="rId3" imgW="2628900" imgH="254000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313" y="357188"/>
                        <a:ext cx="5237162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2555875" y="4797425"/>
          <a:ext cx="324008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5" imgW="1333500" imgH="228600" progId="Equation.DSMT4">
                  <p:embed/>
                </p:oleObj>
              </mc:Choice>
              <mc:Fallback>
                <p:oleObj name="" r:id="rId5" imgW="1333500" imgH="2286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875" y="4797425"/>
                        <a:ext cx="3240088" cy="550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623888" y="2649538"/>
          <a:ext cx="6921500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7" imgW="3530600" imgH="990600" progId="Equation.DSMT4">
                  <p:embed/>
                </p:oleObj>
              </mc:Choice>
              <mc:Fallback>
                <p:oleObj name="" r:id="rId7" imgW="3530600" imgH="9906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3888" y="2649538"/>
                        <a:ext cx="6921500" cy="192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6" name="文本框 18435"/>
          <p:cNvSpPr txBox="1"/>
          <p:nvPr/>
        </p:nvSpPr>
        <p:spPr>
          <a:xfrm>
            <a:off x="381000" y="188913"/>
            <a:ext cx="8229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将积分上限函数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8437" name="对象 18436"/>
          <p:cNvGraphicFramePr>
            <a:graphicFrameLocks noChangeAspect="1"/>
          </p:cNvGraphicFramePr>
          <p:nvPr/>
        </p:nvGraphicFramePr>
        <p:xfrm>
          <a:off x="2336800" y="1084263"/>
          <a:ext cx="4318000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1" imgW="1841500" imgH="330200" progId="Equation.3">
                  <p:embed/>
                </p:oleObj>
              </mc:Choice>
              <mc:Fallback>
                <p:oleObj name="" r:id="rId1" imgW="1841500" imgH="3302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6800" y="1084263"/>
                        <a:ext cx="4318000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文本框 18437"/>
          <p:cNvSpPr txBox="1"/>
          <p:nvPr/>
        </p:nvSpPr>
        <p:spPr>
          <a:xfrm>
            <a:off x="381000" y="2243138"/>
            <a:ext cx="8458200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转化为常微分方程初值问题。并确定一种可求解的二阶方法。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38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 build="p"/>
      <p:bldP spid="18438" grpId="0" animBg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71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836613"/>
            <a:ext cx="5357812" cy="3584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539750" y="4508500"/>
            <a:ext cx="8072438" cy="18161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我记得我的朋友冯诺依曼曾经说过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用四个参数我可以拟合出一头大象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而用五个参数我可以让它的鼻子摆动。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                                                ——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费米</a:t>
            </a:r>
            <a:endParaRPr kumimoji="1" lang="zh-CN" altLang="en-US" sz="28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547813" y="549275"/>
          <a:ext cx="53721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" imgW="2209800" imgH="685800" progId="Equation.DSMT4">
                  <p:embed/>
                </p:oleObj>
              </mc:Choice>
              <mc:Fallback>
                <p:oleObj name="" r:id="rId1" imgW="2209800" imgH="6858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549275"/>
                        <a:ext cx="5372100" cy="165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547813" y="3284538"/>
          <a:ext cx="6665912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3" imgW="2743200" imgH="914400" progId="Equation.DSMT4">
                  <p:embed/>
                </p:oleObj>
              </mc:Choice>
              <mc:Fallback>
                <p:oleObj name="" r:id="rId3" imgW="2743200" imgH="9144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813" y="3284538"/>
                        <a:ext cx="6665912" cy="220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036638" y="3729038"/>
          <a:ext cx="7961312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1" imgW="3276600" imgH="1143000" progId="Equation.DSMT4">
                  <p:embed/>
                </p:oleObj>
              </mc:Choice>
              <mc:Fallback>
                <p:oleObj name="" r:id="rId1" imgW="3276600" imgH="11430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36638" y="3729038"/>
                        <a:ext cx="7961312" cy="2752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8" name="文本框 1"/>
          <p:cNvSpPr txBox="1"/>
          <p:nvPr/>
        </p:nvSpPr>
        <p:spPr>
          <a:xfrm>
            <a:off x="323850" y="188913"/>
            <a:ext cx="8424863" cy="9540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Runge-Kutta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格式思想：设法在区间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[x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n+1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上多预报几个点的斜率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然后加权平均作为平均斜率。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042988" y="1341438"/>
          <a:ext cx="6665912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2743200" imgH="914400" progId="Equation.DSMT4">
                  <p:embed/>
                </p:oleObj>
              </mc:Choice>
              <mc:Fallback>
                <p:oleObj name="" r:id="rId3" imgW="2743200" imgH="9144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2988" y="1341438"/>
                        <a:ext cx="6665912" cy="220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6321" name="对象 1036291"/>
          <p:cNvGraphicFramePr/>
          <p:nvPr/>
        </p:nvGraphicFramePr>
        <p:xfrm>
          <a:off x="990600" y="930275"/>
          <a:ext cx="664845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" imgW="2451735" imgH="482600" progId="Equation.DSMT4">
                  <p:embed/>
                </p:oleObj>
              </mc:Choice>
              <mc:Fallback>
                <p:oleObj name="" r:id="rId1" imgW="2451735" imgH="4826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930275"/>
                        <a:ext cx="6648450" cy="1238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2" name="组合 1036292"/>
          <p:cNvGrpSpPr/>
          <p:nvPr/>
        </p:nvGrpSpPr>
        <p:grpSpPr>
          <a:xfrm>
            <a:off x="428625" y="2447925"/>
            <a:ext cx="6196013" cy="3021013"/>
            <a:chOff x="295" y="2115"/>
            <a:chExt cx="3903" cy="1903"/>
          </a:xfrm>
        </p:grpSpPr>
        <p:graphicFrame>
          <p:nvGraphicFramePr>
            <p:cNvPr id="56323" name="对象 1036293"/>
            <p:cNvGraphicFramePr/>
            <p:nvPr/>
          </p:nvGraphicFramePr>
          <p:xfrm>
            <a:off x="649" y="2432"/>
            <a:ext cx="3549" cy="1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2" name="" r:id="rId3" imgW="2044700" imgH="965200" progId="Equation.DSMT4">
                    <p:embed/>
                  </p:oleObj>
                </mc:Choice>
                <mc:Fallback>
                  <p:oleObj name="" r:id="rId3" imgW="2044700" imgH="965200" progId="Equation.DSMT4">
                    <p:embed/>
                    <p:pic>
                      <p:nvPicPr>
                        <p:cNvPr id="0" name="图片 316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9" y="2432"/>
                          <a:ext cx="3549" cy="15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4" name="矩形 1036294"/>
            <p:cNvSpPr/>
            <p:nvPr/>
          </p:nvSpPr>
          <p:spPr>
            <a:xfrm>
              <a:off x="295" y="2115"/>
              <a:ext cx="9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Font typeface="Arial" panose="020B0604020202020204" pitchFamily="34" charset="0"/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其中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56325" name="TextBox 7"/>
          <p:cNvSpPr txBox="1"/>
          <p:nvPr/>
        </p:nvSpPr>
        <p:spPr>
          <a:xfrm>
            <a:off x="215900" y="5903913"/>
            <a:ext cx="85693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/>
            <a:r>
              <a:rPr lang="en-GB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https://en.wikipedia.org/wiki/Runge%E2%80%93Kutta_methods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Text Box 4"/>
          <p:cNvSpPr txBox="1"/>
          <p:nvPr/>
        </p:nvSpPr>
        <p:spPr>
          <a:xfrm>
            <a:off x="428625" y="214313"/>
            <a:ext cx="814387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四阶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Range-Kutta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</a:rPr>
              <a:t>公式</a:t>
            </a:r>
            <a:endParaRPr lang="zh-CN" altLang="zh-CN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Text Box 2"/>
          <p:cNvSpPr txBox="1"/>
          <p:nvPr/>
        </p:nvSpPr>
        <p:spPr>
          <a:xfrm>
            <a:off x="233363" y="184150"/>
            <a:ext cx="8610600" cy="522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1000125" y="214313"/>
          <a:ext cx="75580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" imgW="3492500" imgH="482600" progId="Equation.DSMT4">
                  <p:embed/>
                </p:oleObj>
              </mc:Choice>
              <mc:Fallback>
                <p:oleObj name="" r:id="rId1" imgW="3492500" imgH="4826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00125" y="214313"/>
                        <a:ext cx="7558088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4"/>
          <p:cNvGraphicFramePr>
            <a:graphicFrameLocks noChangeAspect="1"/>
          </p:cNvGraphicFramePr>
          <p:nvPr/>
        </p:nvGraphicFramePr>
        <p:xfrm>
          <a:off x="500063" y="3830638"/>
          <a:ext cx="6880225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" imgW="3327400" imgH="762000" progId="Equation.DSMT4">
                  <p:embed/>
                </p:oleObj>
              </mc:Choice>
              <mc:Fallback>
                <p:oleObj name="" r:id="rId3" imgW="3327400" imgH="7620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063" y="3830638"/>
                        <a:ext cx="6880225" cy="1543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239713" y="2133600"/>
          <a:ext cx="88328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5" imgW="4013200" imgH="228600" progId="Equation.DSMT4">
                  <p:embed/>
                </p:oleObj>
              </mc:Choice>
              <mc:Fallback>
                <p:oleObj name="" r:id="rId5" imgW="4013200" imgH="2286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713" y="2133600"/>
                        <a:ext cx="883285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5219700" y="1341438"/>
          <a:ext cx="35782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7" imgW="1625600" imgH="228600" progId="Equation.DSMT4">
                  <p:embed/>
                </p:oleObj>
              </mc:Choice>
              <mc:Fallback>
                <p:oleObj name="" r:id="rId7" imgW="1625600" imgH="2286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19700" y="1341438"/>
                        <a:ext cx="357822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5" name="Text Box 9"/>
          <p:cNvSpPr txBox="1"/>
          <p:nvPr/>
        </p:nvSpPr>
        <p:spPr>
          <a:xfrm>
            <a:off x="471488" y="5653088"/>
            <a:ext cx="6980237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32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注意所有的都化成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y(x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),y′(x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), y″(x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  <a:endParaRPr lang="zh-CN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223838" y="3014663"/>
          <a:ext cx="686911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9" imgW="3403600" imgH="241300" progId="Equation.DSMT4">
                  <p:embed/>
                </p:oleObj>
              </mc:Choice>
              <mc:Fallback>
                <p:oleObj name="" r:id="rId9" imgW="3403600" imgH="2413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3838" y="3014663"/>
                        <a:ext cx="6869112" cy="485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323850" y="1382713"/>
            <a:ext cx="4075113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假定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n</a:t>
            </a:r>
            <a:r>
              <a:rPr kumimoji="0" lang="en-US" altLang="zh-CN" sz="2400" b="1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+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之前的计算没有误差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5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Text Box 2"/>
          <p:cNvSpPr txBox="1"/>
          <p:nvPr/>
        </p:nvSpPr>
        <p:spPr>
          <a:xfrm>
            <a:off x="104775" y="147638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1000125" y="285750"/>
          <a:ext cx="7558088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3492500" imgH="482600" progId="Equation.DSMT4">
                  <p:embed/>
                </p:oleObj>
              </mc:Choice>
              <mc:Fallback>
                <p:oleObj name="" r:id="rId1" imgW="3492500" imgH="482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00125" y="285750"/>
                        <a:ext cx="7558088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6"/>
          <p:cNvGraphicFramePr>
            <a:graphicFrameLocks noChangeAspect="1"/>
          </p:cNvGraphicFramePr>
          <p:nvPr/>
        </p:nvGraphicFramePr>
        <p:xfrm>
          <a:off x="1755775" y="1785938"/>
          <a:ext cx="47085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2082800" imgH="355600" progId="Equation.DSMT4">
                  <p:embed/>
                </p:oleObj>
              </mc:Choice>
              <mc:Fallback>
                <p:oleObj name="" r:id="rId3" imgW="2082800" imgH="3556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55775" y="1785938"/>
                        <a:ext cx="4708525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28588" y="2857500"/>
          <a:ext cx="9015412" cy="223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5" imgW="3987800" imgH="990600" progId="Equation.DSMT4">
                  <p:embed/>
                </p:oleObj>
              </mc:Choice>
              <mc:Fallback>
                <p:oleObj name="" r:id="rId5" imgW="3987800" imgH="9906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8588" y="2857500"/>
                        <a:ext cx="9015412" cy="223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00" name="Text Box 2"/>
          <p:cNvSpPr txBox="1"/>
          <p:nvPr/>
        </p:nvSpPr>
        <p:spPr>
          <a:xfrm>
            <a:off x="0" y="28575"/>
            <a:ext cx="8610600" cy="584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684213" y="142875"/>
          <a:ext cx="8328025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1" imgW="3848100" imgH="685800" progId="Equation.DSMT4">
                  <p:embed/>
                </p:oleObj>
              </mc:Choice>
              <mc:Fallback>
                <p:oleObj name="" r:id="rId1" imgW="3848100" imgH="685800" progId="Equation.DSMT4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142875"/>
                        <a:ext cx="8328025" cy="1479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788988" y="1857375"/>
          <a:ext cx="728345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3" imgW="3365500" imgH="228600" progId="Equation.DSMT4">
                  <p:embed/>
                </p:oleObj>
              </mc:Choice>
              <mc:Fallback>
                <p:oleObj name="" r:id="rId3" imgW="3365500" imgH="228600" progId="Equation.DSMT4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8988" y="1857375"/>
                        <a:ext cx="7283450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28625" y="2571750"/>
          <a:ext cx="7859713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5" imgW="4546600" imgH="812800" progId="Equation.DSMT4">
                  <p:embed/>
                </p:oleObj>
              </mc:Choice>
              <mc:Fallback>
                <p:oleObj name="" r:id="rId5" imgW="4546600" imgH="812800" progId="Equation.DSMT4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8625" y="2571750"/>
                        <a:ext cx="7859713" cy="1403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71500" y="4286250"/>
          <a:ext cx="20637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7" imgW="1193800" imgH="228600" progId="Equation.DSMT4">
                  <p:embed/>
                </p:oleObj>
              </mc:Choice>
              <mc:Fallback>
                <p:oleObj name="" r:id="rId7" imgW="1193800" imgH="228600" progId="Equation.DSMT4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1500" y="4286250"/>
                        <a:ext cx="206375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"/>
          <p:cNvGraphicFramePr>
            <a:graphicFrameLocks noChangeAspect="1"/>
          </p:cNvGraphicFramePr>
          <p:nvPr/>
        </p:nvGraphicFramePr>
        <p:xfrm>
          <a:off x="254000" y="5286375"/>
          <a:ext cx="748823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9" imgW="4330700" imgH="495300" progId="Equation.DSMT4">
                  <p:embed/>
                </p:oleObj>
              </mc:Choice>
              <mc:Fallback>
                <p:oleObj name="" r:id="rId9" imgW="4330700" imgH="495300" progId="Equation.DSMT4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4000" y="5286375"/>
                        <a:ext cx="7488238" cy="854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00" name="Text Box 2"/>
          <p:cNvSpPr txBox="1"/>
          <p:nvPr/>
        </p:nvSpPr>
        <p:spPr>
          <a:xfrm>
            <a:off x="0" y="0"/>
            <a:ext cx="86106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-60325" y="774700"/>
          <a:ext cx="9232900" cy="246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1" imgW="4267200" imgH="1143000" progId="Equation.DSMT4">
                  <p:embed/>
                </p:oleObj>
              </mc:Choice>
              <mc:Fallback>
                <p:oleObj name="" r:id="rId1" imgW="4267200" imgH="1143000" progId="Equation.DSMT4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60325" y="774700"/>
                        <a:ext cx="9232900" cy="2465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2143125" y="5648325"/>
          <a:ext cx="37369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3" imgW="1727200" imgH="228600" progId="Equation.DSMT4">
                  <p:embed/>
                </p:oleObj>
              </mc:Choice>
              <mc:Fallback>
                <p:oleObj name="" r:id="rId3" imgW="1727200" imgH="228600" progId="Equation.DSMT4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43125" y="5648325"/>
                        <a:ext cx="3736975" cy="492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2330450" y="4505325"/>
          <a:ext cx="30765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5" imgW="1422400" imgH="228600" progId="Equation.DSMT4">
                  <p:embed/>
                </p:oleObj>
              </mc:Choice>
              <mc:Fallback>
                <p:oleObj name="" r:id="rId5" imgW="1422400" imgH="228600" progId="Equation.DSMT4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30450" y="4505325"/>
                        <a:ext cx="3076575" cy="493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00" name="Text Box 2"/>
          <p:cNvSpPr txBox="1"/>
          <p:nvPr/>
        </p:nvSpPr>
        <p:spPr>
          <a:xfrm>
            <a:off x="209550" y="115888"/>
            <a:ext cx="8610600" cy="13223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763588" y="115888"/>
          <a:ext cx="6897687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" imgW="3187700" imgH="469900" progId="Equation.DSMT4">
                  <p:embed/>
                </p:oleObj>
              </mc:Choice>
              <mc:Fallback>
                <p:oleObj name="" r:id="rId1" imgW="3187700" imgH="469900" progId="Equation.DSMT4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3588" y="115888"/>
                        <a:ext cx="6897687" cy="10144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84138" y="2498725"/>
          <a:ext cx="8977312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3" imgW="4849495" imgH="444500" progId="Equation.DSMT4">
                  <p:embed/>
                </p:oleObj>
              </mc:Choice>
              <mc:Fallback>
                <p:oleObj name="" r:id="rId3" imgW="4849495" imgH="444500" progId="Equation.DSMT4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4138" y="2498725"/>
                        <a:ext cx="8977312" cy="820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209550" y="3660775"/>
          <a:ext cx="8220075" cy="139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5" imgW="3797300" imgH="647700" progId="Equation.DSMT4">
                  <p:embed/>
                </p:oleObj>
              </mc:Choice>
              <mc:Fallback>
                <p:oleObj name="" r:id="rId5" imgW="3797300" imgH="647700" progId="Equation.DSMT4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9550" y="3660775"/>
                        <a:ext cx="8220075" cy="1398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6"/>
          <p:cNvGraphicFramePr>
            <a:graphicFrameLocks noChangeAspect="1"/>
          </p:cNvGraphicFramePr>
          <p:nvPr/>
        </p:nvGraphicFramePr>
        <p:xfrm>
          <a:off x="763588" y="1354138"/>
          <a:ext cx="7205662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7" imgW="3185160" imgH="355600" progId="Equation.DSMT4">
                  <p:embed/>
                </p:oleObj>
              </mc:Choice>
              <mc:Fallback>
                <p:oleObj name="" r:id="rId7" imgW="3185160" imgH="355600" progId="Equation.DSMT4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3588" y="1354138"/>
                        <a:ext cx="7205662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209550" y="5503863"/>
          <a:ext cx="84074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9" imgW="4165600" imgH="228600" progId="Equation.DSMT4">
                  <p:embed/>
                </p:oleObj>
              </mc:Choice>
              <mc:Fallback>
                <p:oleObj name="" r:id="rId9" imgW="4165600" imgH="228600" progId="Equation.DSMT4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9550" y="5503863"/>
                        <a:ext cx="8407400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400" name="Text Box 2"/>
          <p:cNvSpPr txBox="1"/>
          <p:nvPr/>
        </p:nvSpPr>
        <p:spPr>
          <a:xfrm>
            <a:off x="138113" y="115888"/>
            <a:ext cx="8610600" cy="13223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/>
        </p:nvGraphicFramePr>
        <p:xfrm>
          <a:off x="935038" y="330200"/>
          <a:ext cx="7750175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" imgW="3580130" imgH="482600" progId="Equation.DSMT4">
                  <p:embed/>
                </p:oleObj>
              </mc:Choice>
              <mc:Fallback>
                <p:oleObj name="" r:id="rId1" imgW="3580130" imgH="482600" progId="Equation.DSMT4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5038" y="330200"/>
                        <a:ext cx="7750175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76288" y="1776413"/>
          <a:ext cx="704850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3" imgW="4404995" imgH="444500" progId="Equation.DSMT4">
                  <p:embed/>
                </p:oleObj>
              </mc:Choice>
              <mc:Fallback>
                <p:oleObj name="" r:id="rId3" imgW="4404995" imgH="444500" progId="Equation.DSMT4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288" y="1776413"/>
                        <a:ext cx="7048500" cy="709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657350" y="5233988"/>
          <a:ext cx="58293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5" imgW="2689860" imgH="405765" progId="Equation.DSMT4">
                  <p:embed/>
                </p:oleObj>
              </mc:Choice>
              <mc:Fallback>
                <p:oleObj name="" r:id="rId5" imgW="2689860" imgH="405765" progId="Equation.DSMT4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57350" y="5233988"/>
                        <a:ext cx="5829300" cy="877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58800" y="2947988"/>
          <a:ext cx="7483475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7" imgW="5646420" imgH="405765" progId="Equation.DSMT4">
                  <p:embed/>
                </p:oleObj>
              </mc:Choice>
              <mc:Fallback>
                <p:oleObj name="" r:id="rId7" imgW="5646420" imgH="405765" progId="Equation.DSMT4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8800" y="2947988"/>
                        <a:ext cx="7483475" cy="5381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49238" y="4002088"/>
          <a:ext cx="83883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9" imgW="4149090" imgH="355600" progId="Equation.DSMT4">
                  <p:embed/>
                </p:oleObj>
              </mc:Choice>
              <mc:Fallback>
                <p:oleObj name="" r:id="rId9" imgW="4149090" imgH="355600" progId="Equation.DSMT4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9238" y="4002088"/>
                        <a:ext cx="8388350" cy="717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963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642938"/>
            <a:ext cx="8905875" cy="5295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4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2507</Words>
  <Application>WPS 演示</Application>
  <PresentationFormat>全屏显示(4:3)</PresentationFormat>
  <Paragraphs>243</Paragraphs>
  <Slides>54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158</vt:i4>
      </vt:variant>
      <vt:variant>
        <vt:lpstr>幻灯片标题</vt:lpstr>
      </vt:variant>
      <vt:variant>
        <vt:i4>54</vt:i4>
      </vt:variant>
    </vt:vector>
  </HeadingPairs>
  <TitlesOfParts>
    <vt:vector size="222" baseType="lpstr">
      <vt:lpstr>Arial</vt:lpstr>
      <vt:lpstr>宋体</vt:lpstr>
      <vt:lpstr>Wingdings</vt:lpstr>
      <vt:lpstr>Times New Roman</vt:lpstr>
      <vt:lpstr>黑体</vt:lpstr>
      <vt:lpstr>Symbol</vt:lpstr>
      <vt:lpstr>微软雅黑</vt:lpstr>
      <vt:lpstr>Arial Unicode MS</vt:lpstr>
      <vt:lpstr>Calibri</vt:lpstr>
      <vt:lpstr>默认设计模板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zhong</dc:creator>
  <cp:lastModifiedBy>狂奔蜗牛</cp:lastModifiedBy>
  <cp:revision>409</cp:revision>
  <dcterms:created xsi:type="dcterms:W3CDTF">2003-09-17T09:40:00Z</dcterms:created>
  <dcterms:modified xsi:type="dcterms:W3CDTF">2021-12-12T12:53:57Z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D80A00361DBB44B585281B64E948B33F</vt:lpwstr>
  </property>
</Properties>
</file>