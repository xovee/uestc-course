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3" r:id="rId2"/>
    <p:sldId id="264" r:id="rId3"/>
    <p:sldId id="270" r:id="rId4"/>
    <p:sldId id="271" r:id="rId5"/>
    <p:sldId id="265" r:id="rId6"/>
    <p:sldId id="266" r:id="rId7"/>
    <p:sldId id="272" r:id="rId8"/>
    <p:sldId id="269" r:id="rId9"/>
    <p:sldId id="267" r:id="rId10"/>
    <p:sldId id="273" r:id="rId11"/>
    <p:sldId id="26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7" d="100"/>
          <a:sy n="127" d="100"/>
        </p:scale>
        <p:origin x="90"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w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2B06A-74B8-4DA5-85BD-DE3016594E99}" type="datetimeFigureOut">
              <a:rPr lang="zh-CN" altLang="en-US" smtClean="0"/>
              <a:t>2024/6/9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561247-4002-4ACD-9053-22BF0896293E}" type="slidenum">
              <a:rPr lang="zh-CN" altLang="en-US" smtClean="0"/>
              <a:t>‹#›</a:t>
            </a:fld>
            <a:endParaRPr lang="zh-CN" altLang="en-US"/>
          </a:p>
        </p:txBody>
      </p:sp>
    </p:spTree>
    <p:extLst>
      <p:ext uri="{BB962C8B-B14F-4D97-AF65-F5344CB8AC3E}">
        <p14:creationId xmlns:p14="http://schemas.microsoft.com/office/powerpoint/2010/main" val="1020970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1087883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3134037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187465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2895004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3543406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2219349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3406189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3490064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1671201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243243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244987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C3D24E-4FF0-486B-A048-A5E0EA80C888}" type="datetimeFigureOut">
              <a:rPr lang="zh-CN" altLang="en-US" smtClean="0"/>
              <a:t>2024/6/9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87898E-AC0F-4EDB-97DB-9F6F22703035}" type="slidenum">
              <a:rPr lang="zh-CN" altLang="en-US" smtClean="0"/>
              <a:t>‹#›</a:t>
            </a:fld>
            <a:endParaRPr lang="zh-CN" altLang="en-US"/>
          </a:p>
        </p:txBody>
      </p:sp>
    </p:spTree>
    <p:extLst>
      <p:ext uri="{BB962C8B-B14F-4D97-AF65-F5344CB8AC3E}">
        <p14:creationId xmlns:p14="http://schemas.microsoft.com/office/powerpoint/2010/main" val="31172343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emf"/><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emf"/><Relationship Id="rId5" Type="http://schemas.openxmlformats.org/officeDocument/2006/relationships/oleObject" Target="../embeddings/oleObject5.bin"/><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0.pn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oleObject" Target="../embeddings/oleObject7.bin"/><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18.png"/><Relationship Id="rId4" Type="http://schemas.openxmlformats.org/officeDocument/2006/relationships/image" Target="../media/image1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90550" y="364102"/>
            <a:ext cx="4348843" cy="2585323"/>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一、</a:t>
            </a:r>
            <a:r>
              <a:rPr lang="zh-CN" altLang="zh-CN" kern="100" dirty="0" smtClean="0">
                <a:latin typeface="Times New Roman" panose="02020603050405020304" pitchFamily="18" charset="0"/>
                <a:cs typeface="Times New Roman" panose="02020603050405020304" pitchFamily="18" charset="0"/>
              </a:rPr>
              <a:t>概论</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通信系统模型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）信息的概念及其</a:t>
            </a:r>
            <a:r>
              <a:rPr lang="zh-CN" altLang="zh-CN" kern="100" dirty="0" smtClean="0">
                <a:solidFill>
                  <a:srgbClr val="FF0000"/>
                </a:solidFill>
                <a:latin typeface="Times New Roman" panose="02020603050405020304" pitchFamily="18" charset="0"/>
                <a:cs typeface="Times New Roman" panose="02020603050405020304" pitchFamily="18" charset="0"/>
              </a:rPr>
              <a:t>性质</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信息论的研究内容</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）信息学科的发展方向和国际动态</a:t>
            </a:r>
            <a:endParaRPr lang="zh-CN" altLang="zh-CN" kern="100" dirty="0">
              <a:latin typeface="等线" panose="02010600030101010101" pitchFamily="2" charset="-122"/>
              <a:cs typeface="Times New Roman" panose="02020603050405020304" pitchFamily="18" charset="0"/>
            </a:endParaRPr>
          </a:p>
        </p:txBody>
      </p:sp>
      <p:grpSp>
        <p:nvGrpSpPr>
          <p:cNvPr id="6" name="组合 5"/>
          <p:cNvGrpSpPr/>
          <p:nvPr/>
        </p:nvGrpSpPr>
        <p:grpSpPr>
          <a:xfrm>
            <a:off x="1710055" y="3784963"/>
            <a:ext cx="7198995" cy="2287270"/>
            <a:chOff x="1481455" y="3646170"/>
            <a:chExt cx="7198995" cy="2287270"/>
          </a:xfrm>
        </p:grpSpPr>
        <p:grpSp>
          <p:nvGrpSpPr>
            <p:cNvPr id="7" name="组合 6"/>
            <p:cNvGrpSpPr/>
            <p:nvPr/>
          </p:nvGrpSpPr>
          <p:grpSpPr>
            <a:xfrm>
              <a:off x="1489710" y="3646170"/>
              <a:ext cx="7190740" cy="1918970"/>
              <a:chOff x="2436" y="3901"/>
              <a:chExt cx="11324" cy="3022"/>
            </a:xfrm>
          </p:grpSpPr>
          <p:grpSp>
            <p:nvGrpSpPr>
              <p:cNvPr id="35" name="Group 4"/>
              <p:cNvGrpSpPr/>
              <p:nvPr/>
            </p:nvGrpSpPr>
            <p:grpSpPr>
              <a:xfrm>
                <a:off x="2436" y="4155"/>
                <a:ext cx="11325" cy="2490"/>
                <a:chOff x="272" y="1243"/>
                <a:chExt cx="4530" cy="996"/>
              </a:xfrm>
            </p:grpSpPr>
            <p:sp>
              <p:nvSpPr>
                <p:cNvPr id="38" name="Text Box 5"/>
                <p:cNvSpPr txBox="1"/>
                <p:nvPr/>
              </p:nvSpPr>
              <p:spPr>
                <a:xfrm>
                  <a:off x="1936" y="1276"/>
                  <a:ext cx="223"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信道编码</a:t>
                  </a:r>
                  <a:endParaRPr lang="zh-CN" altLang="en-US" sz="900" b="1" dirty="0">
                    <a:solidFill>
                      <a:schemeClr val="tx1"/>
                    </a:solidFill>
                    <a:latin typeface="楷体" panose="02010609060101010101" charset="-122"/>
                    <a:ea typeface="楷体" panose="02010609060101010101" charset="-122"/>
                  </a:endParaRPr>
                </a:p>
              </p:txBody>
            </p:sp>
            <p:sp>
              <p:nvSpPr>
                <p:cNvPr id="39" name="Text Box 6"/>
                <p:cNvSpPr txBox="1"/>
                <p:nvPr/>
              </p:nvSpPr>
              <p:spPr>
                <a:xfrm>
                  <a:off x="1094" y="1274"/>
                  <a:ext cx="234"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信源编码</a:t>
                  </a:r>
                </a:p>
              </p:txBody>
            </p:sp>
            <p:sp>
              <p:nvSpPr>
                <p:cNvPr id="40" name="Text Box 7"/>
                <p:cNvSpPr txBox="1"/>
                <p:nvPr/>
              </p:nvSpPr>
              <p:spPr>
                <a:xfrm>
                  <a:off x="3471" y="1243"/>
                  <a:ext cx="206"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保密译码</a:t>
                  </a:r>
                  <a:endParaRPr lang="zh-CN" altLang="en-US" sz="900" b="1" dirty="0">
                    <a:solidFill>
                      <a:schemeClr val="tx1"/>
                    </a:solidFill>
                    <a:latin typeface="楷体" panose="02010609060101010101" charset="-122"/>
                    <a:ea typeface="楷体" panose="02010609060101010101" charset="-122"/>
                  </a:endParaRPr>
                </a:p>
              </p:txBody>
            </p:sp>
            <p:sp>
              <p:nvSpPr>
                <p:cNvPr id="41" name="Text Box 8"/>
                <p:cNvSpPr txBox="1"/>
                <p:nvPr/>
              </p:nvSpPr>
              <p:spPr>
                <a:xfrm>
                  <a:off x="3065" y="1243"/>
                  <a:ext cx="21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信道译码</a:t>
                  </a:r>
                  <a:endParaRPr lang="zh-CN" altLang="en-US" sz="900" b="1" dirty="0">
                    <a:solidFill>
                      <a:schemeClr val="tx1"/>
                    </a:solidFill>
                    <a:latin typeface="楷体" panose="02010609060101010101" charset="-122"/>
                    <a:ea typeface="楷体" panose="02010609060101010101" charset="-122"/>
                  </a:endParaRPr>
                </a:p>
              </p:txBody>
            </p:sp>
            <p:sp>
              <p:nvSpPr>
                <p:cNvPr id="42" name="Line 9"/>
                <p:cNvSpPr/>
                <p:nvPr/>
              </p:nvSpPr>
              <p:spPr>
                <a:xfrm>
                  <a:off x="894" y="1752"/>
                  <a:ext cx="199" cy="0"/>
                </a:xfrm>
                <a:prstGeom prst="line">
                  <a:avLst/>
                </a:prstGeom>
                <a:ln w="9525" cap="flat" cmpd="sng">
                  <a:solidFill>
                    <a:schemeClr val="tx1"/>
                  </a:solidFill>
                  <a:prstDash val="solid"/>
                  <a:headEnd type="none" w="med" len="med"/>
                  <a:tailEnd type="triangle" w="med" len="med"/>
                </a:ln>
              </p:spPr>
            </p:sp>
            <p:sp>
              <p:nvSpPr>
                <p:cNvPr id="43" name="Line 10"/>
                <p:cNvSpPr/>
                <p:nvPr/>
              </p:nvSpPr>
              <p:spPr>
                <a:xfrm>
                  <a:off x="1737" y="1752"/>
                  <a:ext cx="199" cy="0"/>
                </a:xfrm>
                <a:prstGeom prst="line">
                  <a:avLst/>
                </a:prstGeom>
                <a:ln w="9525" cap="flat" cmpd="sng">
                  <a:solidFill>
                    <a:schemeClr val="tx1"/>
                  </a:solidFill>
                  <a:prstDash val="solid"/>
                  <a:headEnd type="none" w="med" len="med"/>
                  <a:tailEnd type="triangle" w="med" len="med"/>
                </a:ln>
              </p:spPr>
            </p:sp>
            <p:sp>
              <p:nvSpPr>
                <p:cNvPr id="44" name="Text Box 11"/>
                <p:cNvSpPr txBox="1"/>
                <p:nvPr/>
              </p:nvSpPr>
              <p:spPr>
                <a:xfrm>
                  <a:off x="3875" y="1243"/>
                  <a:ext cx="22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信源译码</a:t>
                  </a:r>
                </a:p>
              </p:txBody>
            </p:sp>
            <p:sp>
              <p:nvSpPr>
                <p:cNvPr id="45" name="Text Box 12"/>
                <p:cNvSpPr txBox="1"/>
                <p:nvPr/>
              </p:nvSpPr>
              <p:spPr>
                <a:xfrm>
                  <a:off x="1527" y="1276"/>
                  <a:ext cx="21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保密编码</a:t>
                  </a:r>
                  <a:endParaRPr lang="zh-CN" altLang="en-US" sz="900" b="1" dirty="0">
                    <a:solidFill>
                      <a:schemeClr val="tx1"/>
                    </a:solidFill>
                    <a:latin typeface="楷体" panose="02010609060101010101" charset="-122"/>
                    <a:ea typeface="楷体" panose="02010609060101010101" charset="-122"/>
                  </a:endParaRPr>
                </a:p>
              </p:txBody>
            </p:sp>
            <p:sp>
              <p:nvSpPr>
                <p:cNvPr id="46" name="Text Box 13"/>
                <p:cNvSpPr txBox="1"/>
                <p:nvPr/>
              </p:nvSpPr>
              <p:spPr>
                <a:xfrm>
                  <a:off x="2342" y="2049"/>
                  <a:ext cx="539" cy="190"/>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噪声</a:t>
                  </a:r>
                </a:p>
              </p:txBody>
            </p:sp>
            <p:sp>
              <p:nvSpPr>
                <p:cNvPr id="47" name="Line 14"/>
                <p:cNvSpPr/>
                <p:nvPr/>
              </p:nvSpPr>
              <p:spPr>
                <a:xfrm flipV="1">
                  <a:off x="2612" y="1856"/>
                  <a:ext cx="0" cy="193"/>
                </a:xfrm>
                <a:prstGeom prst="line">
                  <a:avLst/>
                </a:prstGeom>
                <a:ln w="9525" cap="flat" cmpd="sng">
                  <a:solidFill>
                    <a:schemeClr val="tx1"/>
                  </a:solidFill>
                  <a:prstDash val="solid"/>
                  <a:headEnd type="none" w="med" len="med"/>
                  <a:tailEnd type="triangle" w="med" len="med"/>
                </a:ln>
              </p:spPr>
            </p:sp>
            <p:sp>
              <p:nvSpPr>
                <p:cNvPr id="48" name="Line 15"/>
                <p:cNvSpPr/>
                <p:nvPr/>
              </p:nvSpPr>
              <p:spPr>
                <a:xfrm>
                  <a:off x="1328" y="1752"/>
                  <a:ext cx="199" cy="0"/>
                </a:xfrm>
                <a:prstGeom prst="line">
                  <a:avLst/>
                </a:prstGeom>
                <a:ln w="9525" cap="flat" cmpd="sng">
                  <a:solidFill>
                    <a:schemeClr val="tx1"/>
                  </a:solidFill>
                  <a:prstDash val="solid"/>
                  <a:headEnd type="none" w="med" len="med"/>
                  <a:tailEnd type="triangle" w="med" len="med"/>
                </a:ln>
              </p:spPr>
            </p:sp>
            <p:sp>
              <p:nvSpPr>
                <p:cNvPr id="49" name="Line 16"/>
                <p:cNvSpPr/>
                <p:nvPr/>
              </p:nvSpPr>
              <p:spPr>
                <a:xfrm>
                  <a:off x="3275" y="1750"/>
                  <a:ext cx="199" cy="0"/>
                </a:xfrm>
                <a:prstGeom prst="line">
                  <a:avLst/>
                </a:prstGeom>
                <a:ln w="9525" cap="flat" cmpd="sng">
                  <a:solidFill>
                    <a:schemeClr val="tx1"/>
                  </a:solidFill>
                  <a:prstDash val="solid"/>
                  <a:headEnd type="none" w="med" len="med"/>
                  <a:tailEnd type="triangle" w="med" len="med"/>
                </a:ln>
              </p:spPr>
            </p:sp>
            <p:sp>
              <p:nvSpPr>
                <p:cNvPr id="50" name="Line 17"/>
                <p:cNvSpPr/>
                <p:nvPr/>
              </p:nvSpPr>
              <p:spPr>
                <a:xfrm>
                  <a:off x="3676" y="1752"/>
                  <a:ext cx="199" cy="0"/>
                </a:xfrm>
                <a:prstGeom prst="line">
                  <a:avLst/>
                </a:prstGeom>
                <a:ln w="9525" cap="flat" cmpd="sng">
                  <a:solidFill>
                    <a:schemeClr val="tx1"/>
                  </a:solidFill>
                  <a:prstDash val="solid"/>
                  <a:headEnd type="none" w="med" len="med"/>
                  <a:tailEnd type="triangle" w="med" len="med"/>
                </a:ln>
              </p:spPr>
            </p:sp>
            <p:sp>
              <p:nvSpPr>
                <p:cNvPr id="51" name="Line 18"/>
                <p:cNvSpPr/>
                <p:nvPr/>
              </p:nvSpPr>
              <p:spPr>
                <a:xfrm>
                  <a:off x="2866" y="1757"/>
                  <a:ext cx="199" cy="0"/>
                </a:xfrm>
                <a:prstGeom prst="line">
                  <a:avLst/>
                </a:prstGeom>
                <a:ln w="9525" cap="flat" cmpd="sng">
                  <a:solidFill>
                    <a:schemeClr val="tx1"/>
                  </a:solidFill>
                  <a:prstDash val="solid"/>
                  <a:headEnd type="none" w="med" len="med"/>
                  <a:tailEnd type="triangle" w="med" len="med"/>
                </a:ln>
              </p:spPr>
            </p:sp>
            <p:sp>
              <p:nvSpPr>
                <p:cNvPr id="52" name="Line 19"/>
                <p:cNvSpPr/>
                <p:nvPr/>
              </p:nvSpPr>
              <p:spPr>
                <a:xfrm>
                  <a:off x="2159" y="1752"/>
                  <a:ext cx="199" cy="0"/>
                </a:xfrm>
                <a:prstGeom prst="line">
                  <a:avLst/>
                </a:prstGeom>
                <a:ln w="9525" cap="flat" cmpd="sng">
                  <a:solidFill>
                    <a:schemeClr val="tx1"/>
                  </a:solidFill>
                  <a:prstDash val="solid"/>
                  <a:headEnd type="none" w="med" len="med"/>
                  <a:tailEnd type="triangle" w="med" len="med"/>
                </a:ln>
              </p:spPr>
            </p:sp>
            <p:sp>
              <p:nvSpPr>
                <p:cNvPr id="53" name="Text Box 20"/>
                <p:cNvSpPr txBox="1"/>
                <p:nvPr/>
              </p:nvSpPr>
              <p:spPr>
                <a:xfrm>
                  <a:off x="2358" y="1657"/>
                  <a:ext cx="508" cy="199"/>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信道</a:t>
                  </a:r>
                </a:p>
              </p:txBody>
            </p:sp>
            <p:sp>
              <p:nvSpPr>
                <p:cNvPr id="54" name="Text Box 21"/>
                <p:cNvSpPr txBox="1"/>
                <p:nvPr/>
              </p:nvSpPr>
              <p:spPr>
                <a:xfrm>
                  <a:off x="272" y="1644"/>
                  <a:ext cx="622" cy="21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信源</a:t>
                  </a:r>
                </a:p>
              </p:txBody>
            </p:sp>
            <p:sp>
              <p:nvSpPr>
                <p:cNvPr id="55" name="Text Box 22"/>
                <p:cNvSpPr txBox="1"/>
                <p:nvPr/>
              </p:nvSpPr>
              <p:spPr>
                <a:xfrm>
                  <a:off x="4294" y="1642"/>
                  <a:ext cx="508" cy="220"/>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信宿</a:t>
                  </a:r>
                </a:p>
              </p:txBody>
            </p:sp>
            <p:sp>
              <p:nvSpPr>
                <p:cNvPr id="56" name="Line 23"/>
                <p:cNvSpPr/>
                <p:nvPr/>
              </p:nvSpPr>
              <p:spPr>
                <a:xfrm>
                  <a:off x="4095" y="1750"/>
                  <a:ext cx="199" cy="0"/>
                </a:xfrm>
                <a:prstGeom prst="line">
                  <a:avLst/>
                </a:prstGeom>
                <a:ln w="9525" cap="flat" cmpd="sng">
                  <a:solidFill>
                    <a:schemeClr val="tx1"/>
                  </a:solidFill>
                  <a:prstDash val="solid"/>
                  <a:headEnd type="none" w="med" len="med"/>
                  <a:tailEnd type="triangle" w="med" len="med"/>
                </a:ln>
              </p:spPr>
            </p:sp>
          </p:grpSp>
          <p:sp>
            <p:nvSpPr>
              <p:cNvPr id="36" name="圆角矩形 35"/>
              <p:cNvSpPr/>
              <p:nvPr/>
            </p:nvSpPr>
            <p:spPr>
              <a:xfrm>
                <a:off x="4184" y="3901"/>
                <a:ext cx="3233" cy="3022"/>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a:off x="9075" y="3901"/>
                <a:ext cx="3233" cy="3022"/>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p:cNvSpPr txBox="1"/>
            <p:nvPr/>
          </p:nvSpPr>
          <p:spPr>
            <a:xfrm>
              <a:off x="3166110" y="5565140"/>
              <a:ext cx="914400" cy="368300"/>
            </a:xfrm>
            <a:prstGeom prst="rect">
              <a:avLst/>
            </a:prstGeom>
            <a:noFill/>
          </p:spPr>
          <p:txBody>
            <a:bodyPr wrap="square" rtlCol="0">
              <a:spAutoFit/>
            </a:bodyPr>
            <a:lstStyle/>
            <a:p>
              <a:r>
                <a:rPr lang="zh-CN" altLang="en-US">
                  <a:latin typeface="楷体" panose="02010609060101010101" charset="-122"/>
                  <a:ea typeface="楷体" panose="02010609060101010101" charset="-122"/>
                </a:rPr>
                <a:t>编码器</a:t>
              </a:r>
            </a:p>
          </p:txBody>
        </p:sp>
        <p:sp>
          <p:nvSpPr>
            <p:cNvPr id="9" name="文本框 8"/>
            <p:cNvSpPr txBox="1"/>
            <p:nvPr/>
          </p:nvSpPr>
          <p:spPr>
            <a:xfrm>
              <a:off x="6295390" y="5565140"/>
              <a:ext cx="914400" cy="368300"/>
            </a:xfrm>
            <a:prstGeom prst="rect">
              <a:avLst/>
            </a:prstGeom>
            <a:noFill/>
          </p:spPr>
          <p:txBody>
            <a:bodyPr wrap="square" rtlCol="0">
              <a:spAutoFit/>
            </a:bodyPr>
            <a:lstStyle/>
            <a:p>
              <a:r>
                <a:rPr lang="zh-CN" altLang="en-US">
                  <a:latin typeface="楷体" panose="02010609060101010101" charset="-122"/>
                  <a:ea typeface="楷体" panose="02010609060101010101" charset="-122"/>
                </a:rPr>
                <a:t>解码器</a:t>
              </a:r>
            </a:p>
          </p:txBody>
        </p:sp>
        <p:grpSp>
          <p:nvGrpSpPr>
            <p:cNvPr id="10" name="组合 9"/>
            <p:cNvGrpSpPr/>
            <p:nvPr/>
          </p:nvGrpSpPr>
          <p:grpSpPr>
            <a:xfrm>
              <a:off x="1481455" y="3646170"/>
              <a:ext cx="7190740" cy="1918970"/>
              <a:chOff x="2436" y="3901"/>
              <a:chExt cx="11324" cy="3022"/>
            </a:xfrm>
          </p:grpSpPr>
          <p:grpSp>
            <p:nvGrpSpPr>
              <p:cNvPr id="13" name="Group 4"/>
              <p:cNvGrpSpPr/>
              <p:nvPr/>
            </p:nvGrpSpPr>
            <p:grpSpPr>
              <a:xfrm>
                <a:off x="2436" y="4155"/>
                <a:ext cx="11325" cy="2490"/>
                <a:chOff x="272" y="1243"/>
                <a:chExt cx="4530" cy="996"/>
              </a:xfrm>
            </p:grpSpPr>
            <p:sp>
              <p:nvSpPr>
                <p:cNvPr id="16" name="Text Box 5"/>
                <p:cNvSpPr txBox="1"/>
                <p:nvPr/>
              </p:nvSpPr>
              <p:spPr>
                <a:xfrm>
                  <a:off x="1936" y="1276"/>
                  <a:ext cx="223"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信道编码</a:t>
                  </a:r>
                  <a:endParaRPr lang="zh-CN" altLang="en-US" sz="900" b="1" dirty="0">
                    <a:solidFill>
                      <a:schemeClr val="tx1"/>
                    </a:solidFill>
                    <a:latin typeface="楷体" panose="02010609060101010101" charset="-122"/>
                    <a:ea typeface="楷体" panose="02010609060101010101" charset="-122"/>
                  </a:endParaRPr>
                </a:p>
              </p:txBody>
            </p:sp>
            <p:sp>
              <p:nvSpPr>
                <p:cNvPr id="17" name="Text Box 6"/>
                <p:cNvSpPr txBox="1"/>
                <p:nvPr/>
              </p:nvSpPr>
              <p:spPr>
                <a:xfrm>
                  <a:off x="1094" y="1274"/>
                  <a:ext cx="234"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信源编码</a:t>
                  </a:r>
                </a:p>
              </p:txBody>
            </p:sp>
            <p:sp>
              <p:nvSpPr>
                <p:cNvPr id="18" name="Text Box 7"/>
                <p:cNvSpPr txBox="1"/>
                <p:nvPr/>
              </p:nvSpPr>
              <p:spPr>
                <a:xfrm>
                  <a:off x="3471" y="1243"/>
                  <a:ext cx="206"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保密译码</a:t>
                  </a:r>
                  <a:endParaRPr lang="zh-CN" altLang="en-US" sz="900" b="1" dirty="0">
                    <a:solidFill>
                      <a:schemeClr val="tx1"/>
                    </a:solidFill>
                    <a:latin typeface="楷体" panose="02010609060101010101" charset="-122"/>
                    <a:ea typeface="楷体" panose="02010609060101010101" charset="-122"/>
                  </a:endParaRPr>
                </a:p>
              </p:txBody>
            </p:sp>
            <p:sp>
              <p:nvSpPr>
                <p:cNvPr id="19" name="Text Box 8"/>
                <p:cNvSpPr txBox="1"/>
                <p:nvPr/>
              </p:nvSpPr>
              <p:spPr>
                <a:xfrm>
                  <a:off x="3065" y="1243"/>
                  <a:ext cx="21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信道译码</a:t>
                  </a:r>
                  <a:endParaRPr lang="zh-CN" altLang="en-US" sz="900" b="1" dirty="0">
                    <a:solidFill>
                      <a:schemeClr val="tx1"/>
                    </a:solidFill>
                    <a:latin typeface="楷体" panose="02010609060101010101" charset="-122"/>
                    <a:ea typeface="楷体" panose="02010609060101010101" charset="-122"/>
                  </a:endParaRPr>
                </a:p>
              </p:txBody>
            </p:sp>
            <p:sp>
              <p:nvSpPr>
                <p:cNvPr id="20" name="Line 9"/>
                <p:cNvSpPr/>
                <p:nvPr/>
              </p:nvSpPr>
              <p:spPr>
                <a:xfrm>
                  <a:off x="894" y="1752"/>
                  <a:ext cx="199" cy="0"/>
                </a:xfrm>
                <a:prstGeom prst="line">
                  <a:avLst/>
                </a:prstGeom>
                <a:ln w="9525" cap="flat" cmpd="sng">
                  <a:solidFill>
                    <a:schemeClr val="tx1"/>
                  </a:solidFill>
                  <a:prstDash val="solid"/>
                  <a:headEnd type="none" w="med" len="med"/>
                  <a:tailEnd type="triangle" w="med" len="med"/>
                </a:ln>
              </p:spPr>
            </p:sp>
            <p:sp>
              <p:nvSpPr>
                <p:cNvPr id="21" name="Line 10"/>
                <p:cNvSpPr/>
                <p:nvPr/>
              </p:nvSpPr>
              <p:spPr>
                <a:xfrm>
                  <a:off x="1737" y="1752"/>
                  <a:ext cx="199" cy="0"/>
                </a:xfrm>
                <a:prstGeom prst="line">
                  <a:avLst/>
                </a:prstGeom>
                <a:ln w="9525" cap="flat" cmpd="sng">
                  <a:solidFill>
                    <a:schemeClr val="tx1"/>
                  </a:solidFill>
                  <a:prstDash val="solid"/>
                  <a:headEnd type="none" w="med" len="med"/>
                  <a:tailEnd type="triangle" w="med" len="med"/>
                </a:ln>
              </p:spPr>
            </p:sp>
            <p:sp>
              <p:nvSpPr>
                <p:cNvPr id="22" name="Text Box 11"/>
                <p:cNvSpPr txBox="1"/>
                <p:nvPr/>
              </p:nvSpPr>
              <p:spPr>
                <a:xfrm>
                  <a:off x="3875" y="1243"/>
                  <a:ext cx="22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信源译码</a:t>
                  </a:r>
                </a:p>
              </p:txBody>
            </p:sp>
            <p:sp>
              <p:nvSpPr>
                <p:cNvPr id="23" name="Text Box 12"/>
                <p:cNvSpPr txBox="1"/>
                <p:nvPr/>
              </p:nvSpPr>
              <p:spPr>
                <a:xfrm>
                  <a:off x="1527" y="1276"/>
                  <a:ext cx="210" cy="95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vert="eaVert"/>
                <a:lstStyle/>
                <a:p>
                  <a:pPr algn="ctr">
                    <a:lnSpc>
                      <a:spcPct val="80000"/>
                    </a:lnSpc>
                  </a:pPr>
                  <a:r>
                    <a:rPr lang="zh-CN" altLang="en-US" b="1" dirty="0">
                      <a:solidFill>
                        <a:schemeClr val="tx1"/>
                      </a:solidFill>
                      <a:latin typeface="楷体" panose="02010609060101010101" charset="-122"/>
                      <a:ea typeface="楷体" panose="02010609060101010101" charset="-122"/>
                    </a:rPr>
                    <a:t>保密编码</a:t>
                  </a:r>
                  <a:endParaRPr lang="zh-CN" altLang="en-US" sz="900" b="1" dirty="0">
                    <a:solidFill>
                      <a:schemeClr val="tx1"/>
                    </a:solidFill>
                    <a:latin typeface="楷体" panose="02010609060101010101" charset="-122"/>
                    <a:ea typeface="楷体" panose="02010609060101010101" charset="-122"/>
                  </a:endParaRPr>
                </a:p>
              </p:txBody>
            </p:sp>
            <p:sp>
              <p:nvSpPr>
                <p:cNvPr id="24" name="Text Box 13"/>
                <p:cNvSpPr txBox="1"/>
                <p:nvPr/>
              </p:nvSpPr>
              <p:spPr>
                <a:xfrm>
                  <a:off x="2342" y="2049"/>
                  <a:ext cx="539" cy="190"/>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噪声</a:t>
                  </a:r>
                </a:p>
              </p:txBody>
            </p:sp>
            <p:sp>
              <p:nvSpPr>
                <p:cNvPr id="25" name="Line 14"/>
                <p:cNvSpPr/>
                <p:nvPr/>
              </p:nvSpPr>
              <p:spPr>
                <a:xfrm flipV="1">
                  <a:off x="2612" y="1856"/>
                  <a:ext cx="0" cy="193"/>
                </a:xfrm>
                <a:prstGeom prst="line">
                  <a:avLst/>
                </a:prstGeom>
                <a:ln w="9525" cap="flat" cmpd="sng">
                  <a:solidFill>
                    <a:schemeClr val="tx1"/>
                  </a:solidFill>
                  <a:prstDash val="solid"/>
                  <a:headEnd type="none" w="med" len="med"/>
                  <a:tailEnd type="triangle" w="med" len="med"/>
                </a:ln>
              </p:spPr>
            </p:sp>
            <p:sp>
              <p:nvSpPr>
                <p:cNvPr id="26" name="Line 15"/>
                <p:cNvSpPr/>
                <p:nvPr/>
              </p:nvSpPr>
              <p:spPr>
                <a:xfrm>
                  <a:off x="1328" y="1752"/>
                  <a:ext cx="199" cy="0"/>
                </a:xfrm>
                <a:prstGeom prst="line">
                  <a:avLst/>
                </a:prstGeom>
                <a:ln w="9525" cap="flat" cmpd="sng">
                  <a:solidFill>
                    <a:schemeClr val="tx1"/>
                  </a:solidFill>
                  <a:prstDash val="solid"/>
                  <a:headEnd type="none" w="med" len="med"/>
                  <a:tailEnd type="triangle" w="med" len="med"/>
                </a:ln>
              </p:spPr>
            </p:sp>
            <p:sp>
              <p:nvSpPr>
                <p:cNvPr id="27" name="Line 16"/>
                <p:cNvSpPr/>
                <p:nvPr/>
              </p:nvSpPr>
              <p:spPr>
                <a:xfrm>
                  <a:off x="3275" y="1750"/>
                  <a:ext cx="199" cy="0"/>
                </a:xfrm>
                <a:prstGeom prst="line">
                  <a:avLst/>
                </a:prstGeom>
                <a:ln w="9525" cap="flat" cmpd="sng">
                  <a:solidFill>
                    <a:schemeClr val="tx1"/>
                  </a:solidFill>
                  <a:prstDash val="solid"/>
                  <a:headEnd type="none" w="med" len="med"/>
                  <a:tailEnd type="triangle" w="med" len="med"/>
                </a:ln>
              </p:spPr>
            </p:sp>
            <p:sp>
              <p:nvSpPr>
                <p:cNvPr id="28" name="Line 17"/>
                <p:cNvSpPr/>
                <p:nvPr/>
              </p:nvSpPr>
              <p:spPr>
                <a:xfrm>
                  <a:off x="3676" y="1752"/>
                  <a:ext cx="199" cy="0"/>
                </a:xfrm>
                <a:prstGeom prst="line">
                  <a:avLst/>
                </a:prstGeom>
                <a:ln w="9525" cap="flat" cmpd="sng">
                  <a:solidFill>
                    <a:schemeClr val="tx1"/>
                  </a:solidFill>
                  <a:prstDash val="solid"/>
                  <a:headEnd type="none" w="med" len="med"/>
                  <a:tailEnd type="triangle" w="med" len="med"/>
                </a:ln>
              </p:spPr>
            </p:sp>
            <p:sp>
              <p:nvSpPr>
                <p:cNvPr id="29" name="Line 18"/>
                <p:cNvSpPr/>
                <p:nvPr/>
              </p:nvSpPr>
              <p:spPr>
                <a:xfrm>
                  <a:off x="2866" y="1757"/>
                  <a:ext cx="199" cy="0"/>
                </a:xfrm>
                <a:prstGeom prst="line">
                  <a:avLst/>
                </a:prstGeom>
                <a:ln w="9525" cap="flat" cmpd="sng">
                  <a:solidFill>
                    <a:schemeClr val="tx1"/>
                  </a:solidFill>
                  <a:prstDash val="solid"/>
                  <a:headEnd type="none" w="med" len="med"/>
                  <a:tailEnd type="triangle" w="med" len="med"/>
                </a:ln>
              </p:spPr>
            </p:sp>
            <p:sp>
              <p:nvSpPr>
                <p:cNvPr id="30" name="Line 19"/>
                <p:cNvSpPr/>
                <p:nvPr/>
              </p:nvSpPr>
              <p:spPr>
                <a:xfrm>
                  <a:off x="2159" y="1752"/>
                  <a:ext cx="199" cy="0"/>
                </a:xfrm>
                <a:prstGeom prst="line">
                  <a:avLst/>
                </a:prstGeom>
                <a:ln w="9525" cap="flat" cmpd="sng">
                  <a:solidFill>
                    <a:schemeClr val="tx1"/>
                  </a:solidFill>
                  <a:prstDash val="solid"/>
                  <a:headEnd type="none" w="med" len="med"/>
                  <a:tailEnd type="triangle" w="med" len="med"/>
                </a:ln>
              </p:spPr>
            </p:sp>
            <p:sp>
              <p:nvSpPr>
                <p:cNvPr id="31" name="Text Box 20"/>
                <p:cNvSpPr txBox="1"/>
                <p:nvPr/>
              </p:nvSpPr>
              <p:spPr>
                <a:xfrm>
                  <a:off x="2358" y="1657"/>
                  <a:ext cx="508" cy="199"/>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信道</a:t>
                  </a:r>
                </a:p>
              </p:txBody>
            </p:sp>
            <p:sp>
              <p:nvSpPr>
                <p:cNvPr id="32" name="Text Box 21"/>
                <p:cNvSpPr txBox="1"/>
                <p:nvPr/>
              </p:nvSpPr>
              <p:spPr>
                <a:xfrm>
                  <a:off x="272" y="1644"/>
                  <a:ext cx="622" cy="212"/>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信源</a:t>
                  </a:r>
                </a:p>
              </p:txBody>
            </p:sp>
            <p:sp>
              <p:nvSpPr>
                <p:cNvPr id="33" name="Text Box 22"/>
                <p:cNvSpPr txBox="1"/>
                <p:nvPr/>
              </p:nvSpPr>
              <p:spPr>
                <a:xfrm>
                  <a:off x="4294" y="1642"/>
                  <a:ext cx="508" cy="220"/>
                </a:xfrm>
                <a:prstGeom prst="rect">
                  <a:avLst/>
                </a:prstGeom>
                <a:solidFill>
                  <a:schemeClr val="accent1">
                    <a:lumMod val="60000"/>
                    <a:lumOff val="40000"/>
                  </a:schemeClr>
                </a:solidFill>
                <a:ln w="9525" cap="flat" cmpd="sng">
                  <a:solidFill>
                    <a:schemeClr val="tx1"/>
                  </a:solidFill>
                  <a:prstDash val="solid"/>
                  <a:miter/>
                  <a:headEnd type="none" w="med" len="med"/>
                  <a:tailEnd type="none" w="med" len="med"/>
                </a:ln>
              </p:spPr>
              <p:txBody>
                <a:bodyPr/>
                <a:lstStyle/>
                <a:p>
                  <a:pPr algn="ctr"/>
                  <a:r>
                    <a:rPr lang="zh-CN" altLang="en-US" b="1" dirty="0">
                      <a:solidFill>
                        <a:schemeClr val="tx1"/>
                      </a:solidFill>
                      <a:latin typeface="楷体" panose="02010609060101010101" charset="-122"/>
                      <a:ea typeface="楷体" panose="02010609060101010101" charset="-122"/>
                    </a:rPr>
                    <a:t>信宿</a:t>
                  </a:r>
                </a:p>
              </p:txBody>
            </p:sp>
            <p:sp>
              <p:nvSpPr>
                <p:cNvPr id="34" name="Line 23"/>
                <p:cNvSpPr/>
                <p:nvPr/>
              </p:nvSpPr>
              <p:spPr>
                <a:xfrm>
                  <a:off x="4095" y="1750"/>
                  <a:ext cx="199" cy="0"/>
                </a:xfrm>
                <a:prstGeom prst="line">
                  <a:avLst/>
                </a:prstGeom>
                <a:ln w="9525" cap="flat" cmpd="sng">
                  <a:solidFill>
                    <a:schemeClr val="tx1"/>
                  </a:solidFill>
                  <a:prstDash val="solid"/>
                  <a:headEnd type="none" w="med" len="med"/>
                  <a:tailEnd type="triangle" w="med" len="med"/>
                </a:ln>
              </p:spPr>
            </p:sp>
          </p:grpSp>
          <p:sp>
            <p:nvSpPr>
              <p:cNvPr id="14" name="圆角矩形 13"/>
              <p:cNvSpPr/>
              <p:nvPr/>
            </p:nvSpPr>
            <p:spPr>
              <a:xfrm>
                <a:off x="4184" y="3901"/>
                <a:ext cx="3233" cy="3022"/>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9075" y="3901"/>
                <a:ext cx="3233" cy="3022"/>
              </a:xfrm>
              <a:prstGeom prst="round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p:cNvSpPr txBox="1"/>
            <p:nvPr/>
          </p:nvSpPr>
          <p:spPr>
            <a:xfrm>
              <a:off x="3157855" y="5565140"/>
              <a:ext cx="914400" cy="368300"/>
            </a:xfrm>
            <a:prstGeom prst="rect">
              <a:avLst/>
            </a:prstGeom>
            <a:noFill/>
          </p:spPr>
          <p:txBody>
            <a:bodyPr wrap="square" rtlCol="0">
              <a:spAutoFit/>
            </a:bodyPr>
            <a:lstStyle/>
            <a:p>
              <a:r>
                <a:rPr lang="zh-CN" altLang="en-US">
                  <a:latin typeface="楷体" panose="02010609060101010101" charset="-122"/>
                  <a:ea typeface="楷体" panose="02010609060101010101" charset="-122"/>
                </a:rPr>
                <a:t>编码器</a:t>
              </a:r>
            </a:p>
          </p:txBody>
        </p:sp>
        <p:sp>
          <p:nvSpPr>
            <p:cNvPr id="12" name="文本框 11"/>
            <p:cNvSpPr txBox="1"/>
            <p:nvPr/>
          </p:nvSpPr>
          <p:spPr>
            <a:xfrm>
              <a:off x="6287135" y="5565140"/>
              <a:ext cx="914400" cy="368300"/>
            </a:xfrm>
            <a:prstGeom prst="rect">
              <a:avLst/>
            </a:prstGeom>
            <a:noFill/>
          </p:spPr>
          <p:txBody>
            <a:bodyPr wrap="square" rtlCol="0">
              <a:spAutoFit/>
            </a:bodyPr>
            <a:lstStyle/>
            <a:p>
              <a:r>
                <a:rPr lang="zh-CN" altLang="en-US">
                  <a:latin typeface="楷体" panose="02010609060101010101" charset="-122"/>
                  <a:ea typeface="楷体" panose="02010609060101010101" charset="-122"/>
                </a:rPr>
                <a:t>解码器</a:t>
              </a:r>
            </a:p>
          </p:txBody>
        </p:sp>
      </p:grpSp>
      <p:sp>
        <p:nvSpPr>
          <p:cNvPr id="57" name="矩形 56"/>
          <p:cNvSpPr/>
          <p:nvPr/>
        </p:nvSpPr>
        <p:spPr>
          <a:xfrm>
            <a:off x="3938248" y="6222528"/>
            <a:ext cx="2858475" cy="369332"/>
          </a:xfrm>
          <a:prstGeom prst="rect">
            <a:avLst/>
          </a:prstGeom>
        </p:spPr>
        <p:txBody>
          <a:bodyPr wrap="none">
            <a:spAutoFit/>
          </a:bodyPr>
          <a:lstStyle/>
          <a:p>
            <a:r>
              <a:rPr lang="zh-CN" altLang="en-US" b="1" dirty="0">
                <a:latin typeface="楷体" panose="02010609060101010101" charset="-122"/>
                <a:ea typeface="楷体" panose="02010609060101010101" charset="-122"/>
                <a:sym typeface="+mn-ea"/>
              </a:rPr>
              <a:t> </a:t>
            </a:r>
            <a:r>
              <a:rPr lang="zh-CN" altLang="en-US" b="1" u="sng" dirty="0">
                <a:solidFill>
                  <a:srgbClr val="FF0000"/>
                </a:solidFill>
                <a:latin typeface="楷体" panose="02010609060101010101" charset="-122"/>
                <a:ea typeface="楷体" panose="02010609060101010101" charset="-122"/>
                <a:sym typeface="+mn-ea"/>
              </a:rPr>
              <a:t>有效性、可靠性、安全性</a:t>
            </a:r>
            <a:endParaRPr lang="zh-CN" altLang="en-US" dirty="0"/>
          </a:p>
        </p:txBody>
      </p:sp>
      <p:sp>
        <p:nvSpPr>
          <p:cNvPr id="58" name="矩形 57"/>
          <p:cNvSpPr/>
          <p:nvPr/>
        </p:nvSpPr>
        <p:spPr>
          <a:xfrm>
            <a:off x="5432266" y="630165"/>
            <a:ext cx="6096000" cy="2252924"/>
          </a:xfrm>
          <a:prstGeom prst="rect">
            <a:avLst/>
          </a:prstGeom>
        </p:spPr>
        <p:txBody>
          <a:bodyPr>
            <a:spAutoFit/>
          </a:bodyPr>
          <a:lstStyle/>
          <a:p>
            <a:pPr marL="342900" indent="-342900">
              <a:lnSpc>
                <a:spcPct val="130000"/>
              </a:lnSpc>
              <a:buFont typeface="Wingdings" panose="05000000000000000000" charset="0"/>
              <a:buChar char=""/>
            </a:pPr>
            <a:r>
              <a:rPr lang="zh-CN" altLang="en-US" dirty="0">
                <a:latin typeface="楷体" panose="02010609060101010101" charset="-122"/>
                <a:ea typeface="楷体" panose="02010609060101010101" charset="-122"/>
                <a:sym typeface="+mn-ea"/>
              </a:rPr>
              <a:t>信息本质上是指</a:t>
            </a:r>
            <a:r>
              <a:rPr lang="zh-CN" altLang="en-US" dirty="0">
                <a:solidFill>
                  <a:srgbClr val="FF0000"/>
                </a:solidFill>
                <a:latin typeface="楷体" panose="02010609060101010101" charset="-122"/>
                <a:ea typeface="楷体" panose="02010609060101010101" charset="-122"/>
                <a:sym typeface="+mn-ea"/>
              </a:rPr>
              <a:t>各个事物运动的状态及状态变化的方式。</a:t>
            </a:r>
            <a:r>
              <a:rPr lang="zh-CN" altLang="en-US" dirty="0">
                <a:latin typeface="楷体" panose="02010609060101010101" charset="-122"/>
                <a:ea typeface="楷体" panose="02010609060101010101" charset="-122"/>
                <a:sym typeface="+mn-ea"/>
              </a:rPr>
              <a:t> “信息是关于事物运动的状态和规律”。或者说，是关于事物运动的“知识”</a:t>
            </a:r>
            <a:r>
              <a:rPr lang="zh-CN" altLang="en-US" dirty="0" smtClean="0">
                <a:latin typeface="楷体" panose="02010609060101010101" charset="-122"/>
                <a:ea typeface="楷体" panose="02010609060101010101" charset="-122"/>
                <a:sym typeface="+mn-ea"/>
              </a:rPr>
              <a:t>。</a:t>
            </a:r>
            <a:endParaRPr lang="en-US" altLang="zh-CN" dirty="0" smtClean="0">
              <a:latin typeface="楷体" panose="02010609060101010101" charset="-122"/>
              <a:ea typeface="楷体" panose="02010609060101010101" charset="-122"/>
              <a:sym typeface="+mn-ea"/>
            </a:endParaRPr>
          </a:p>
          <a:p>
            <a:pPr marL="342900" indent="-342900">
              <a:lnSpc>
                <a:spcPct val="130000"/>
              </a:lnSpc>
              <a:buFont typeface="Wingdings" panose="05000000000000000000" charset="0"/>
              <a:buChar char=""/>
            </a:pPr>
            <a:r>
              <a:rPr lang="zh-CN" altLang="en-US" dirty="0">
                <a:solidFill>
                  <a:srgbClr val="FF0000"/>
                </a:solidFill>
                <a:latin typeface="楷体" panose="02010609060101010101" charset="-122"/>
                <a:ea typeface="楷体" panose="02010609060101010101" charset="-122"/>
              </a:rPr>
              <a:t>信息表征信源的</a:t>
            </a:r>
            <a:r>
              <a:rPr lang="zh-CN" altLang="en-US" dirty="0" smtClean="0">
                <a:solidFill>
                  <a:srgbClr val="FF0000"/>
                </a:solidFill>
                <a:latin typeface="楷体" panose="02010609060101010101" charset="-122"/>
                <a:ea typeface="楷体" panose="02010609060101010101" charset="-122"/>
              </a:rPr>
              <a:t>不确定度，</a:t>
            </a:r>
            <a:r>
              <a:rPr lang="zh-CN" altLang="en-US" dirty="0">
                <a:solidFill>
                  <a:srgbClr val="FF0000"/>
                </a:solidFill>
                <a:latin typeface="楷体" panose="02010609060101010101" charset="-122"/>
                <a:ea typeface="楷体" panose="02010609060101010101" charset="-122"/>
              </a:rPr>
              <a:t>但它不</a:t>
            </a:r>
            <a:r>
              <a:rPr lang="zh-CN" altLang="en-US" dirty="0" smtClean="0">
                <a:solidFill>
                  <a:srgbClr val="FF0000"/>
                </a:solidFill>
                <a:latin typeface="楷体" panose="02010609060101010101" charset="-122"/>
                <a:ea typeface="楷体" panose="02010609060101010101" charset="-122"/>
              </a:rPr>
              <a:t>等于不确定度</a:t>
            </a:r>
            <a:r>
              <a:rPr lang="zh-CN" altLang="en-US" dirty="0">
                <a:solidFill>
                  <a:srgbClr val="FF0000"/>
                </a:solidFill>
                <a:latin typeface="楷体" panose="02010609060101010101" charset="-122"/>
                <a:ea typeface="楷体" panose="02010609060101010101" charset="-122"/>
              </a:rPr>
              <a:t>，而是为了消除一定</a:t>
            </a:r>
            <a:r>
              <a:rPr lang="zh-CN" altLang="en-US" dirty="0" smtClean="0">
                <a:solidFill>
                  <a:srgbClr val="FF0000"/>
                </a:solidFill>
                <a:latin typeface="楷体" panose="02010609060101010101" charset="-122"/>
                <a:ea typeface="楷体" panose="02010609060101010101" charset="-122"/>
              </a:rPr>
              <a:t>的</a:t>
            </a:r>
            <a:r>
              <a:rPr lang="zh-CN" altLang="en-US" dirty="0">
                <a:solidFill>
                  <a:srgbClr val="FF0000"/>
                </a:solidFill>
                <a:latin typeface="楷体" panose="02010609060101010101" charset="-122"/>
                <a:ea typeface="楷体" panose="02010609060101010101" charset="-122"/>
              </a:rPr>
              <a:t>不确定度</a:t>
            </a:r>
            <a:r>
              <a:rPr lang="zh-CN" altLang="en-US" dirty="0" smtClean="0">
                <a:solidFill>
                  <a:srgbClr val="FF0000"/>
                </a:solidFill>
                <a:latin typeface="楷体" panose="02010609060101010101" charset="-122"/>
                <a:ea typeface="楷体" panose="02010609060101010101" charset="-122"/>
              </a:rPr>
              <a:t>而</a:t>
            </a:r>
            <a:r>
              <a:rPr lang="zh-CN" altLang="en-US" dirty="0">
                <a:solidFill>
                  <a:srgbClr val="FF0000"/>
                </a:solidFill>
                <a:latin typeface="楷体" panose="02010609060101010101" charset="-122"/>
                <a:ea typeface="楷体" panose="02010609060101010101" charset="-122"/>
              </a:rPr>
              <a:t>必须获得的与</a:t>
            </a:r>
            <a:r>
              <a:rPr lang="zh-CN" altLang="en-US" dirty="0" smtClean="0">
                <a:solidFill>
                  <a:srgbClr val="FF0000"/>
                </a:solidFill>
                <a:latin typeface="楷体" panose="02010609060101010101" charset="-122"/>
                <a:ea typeface="楷体" panose="02010609060101010101" charset="-122"/>
              </a:rPr>
              <a:t>此</a:t>
            </a:r>
            <a:r>
              <a:rPr lang="zh-CN" altLang="en-US" dirty="0">
                <a:solidFill>
                  <a:srgbClr val="FF0000"/>
                </a:solidFill>
                <a:latin typeface="楷体" panose="02010609060101010101" charset="-122"/>
                <a:ea typeface="楷体" panose="02010609060101010101" charset="-122"/>
              </a:rPr>
              <a:t>不确定度</a:t>
            </a:r>
            <a:r>
              <a:rPr lang="zh-CN" altLang="en-US" dirty="0" smtClean="0">
                <a:solidFill>
                  <a:srgbClr val="FF0000"/>
                </a:solidFill>
                <a:latin typeface="楷体" panose="02010609060101010101" charset="-122"/>
                <a:ea typeface="楷体" panose="02010609060101010101" charset="-122"/>
              </a:rPr>
              <a:t>相等</a:t>
            </a:r>
            <a:r>
              <a:rPr lang="zh-CN" altLang="en-US" dirty="0">
                <a:solidFill>
                  <a:srgbClr val="FF0000"/>
                </a:solidFill>
                <a:latin typeface="楷体" panose="02010609060101010101" charset="-122"/>
                <a:ea typeface="楷体" panose="02010609060101010101" charset="-122"/>
              </a:rPr>
              <a:t>的信息量</a:t>
            </a:r>
            <a:r>
              <a:rPr lang="zh-CN" altLang="en-US" dirty="0" smtClean="0">
                <a:solidFill>
                  <a:srgbClr val="FF0000"/>
                </a:solidFill>
                <a:latin typeface="楷体" panose="02010609060101010101" charset="-122"/>
                <a:ea typeface="楷体" panose="02010609060101010101" charset="-122"/>
              </a:rPr>
              <a:t>。</a:t>
            </a:r>
            <a:endParaRPr lang="zh-CN" altLang="en-US" dirty="0">
              <a:solidFill>
                <a:srgbClr val="FF0000"/>
              </a:solidFill>
              <a:latin typeface="楷体" panose="02010609060101010101" charset="-122"/>
              <a:ea typeface="楷体" panose="02010609060101010101" charset="-122"/>
            </a:endParaRPr>
          </a:p>
        </p:txBody>
      </p:sp>
    </p:spTree>
    <p:extLst>
      <p:ext uri="{BB962C8B-B14F-4D97-AF65-F5344CB8AC3E}">
        <p14:creationId xmlns:p14="http://schemas.microsoft.com/office/powerpoint/2010/main" val="3350757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5193"/>
            <a:ext cx="6096000" cy="4801314"/>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二、信源及其</a:t>
            </a:r>
            <a:r>
              <a:rPr lang="zh-CN" altLang="zh-CN" kern="100" dirty="0" smtClean="0">
                <a:latin typeface="Times New Roman" panose="02020603050405020304" pitchFamily="18" charset="0"/>
                <a:cs typeface="Times New Roman" panose="02020603050405020304" pitchFamily="18" charset="0"/>
              </a:rPr>
              <a:t>熵</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单符号离散信源及其模型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）单符号离散信源的自信息、熵、平均互信息及其性质</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）离散平稳无记忆信源（</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次扩展信源的熵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5</a:t>
            </a:r>
            <a:r>
              <a:rPr lang="zh-CN" altLang="zh-CN" kern="100" dirty="0">
                <a:solidFill>
                  <a:srgbClr val="FF0000"/>
                </a:solidFill>
                <a:latin typeface="Times New Roman" panose="02020603050405020304" pitchFamily="18" charset="0"/>
                <a:cs typeface="Times New Roman" panose="02020603050405020304" pitchFamily="18" charset="0"/>
              </a:rPr>
              <a:t>）马尔科夫信源及其模型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）马尔科夫信源的极限熵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7</a:t>
            </a:r>
            <a:r>
              <a:rPr lang="zh-CN" altLang="zh-CN" kern="100" dirty="0">
                <a:solidFill>
                  <a:srgbClr val="FF0000"/>
                </a:solidFill>
                <a:latin typeface="Times New Roman" panose="02020603050405020304" pitchFamily="18" charset="0"/>
                <a:cs typeface="Times New Roman" panose="02020603050405020304" pitchFamily="18" charset="0"/>
              </a:rPr>
              <a:t>）单符号连续信源及其模型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8</a:t>
            </a:r>
            <a:r>
              <a:rPr lang="zh-CN" altLang="zh-CN" kern="100" dirty="0">
                <a:solidFill>
                  <a:srgbClr val="FF0000"/>
                </a:solidFill>
                <a:latin typeface="Times New Roman" panose="02020603050405020304" pitchFamily="18" charset="0"/>
                <a:cs typeface="Times New Roman" panose="02020603050405020304" pitchFamily="18" charset="0"/>
              </a:rPr>
              <a:t>）单符号连续信源的熵与差熵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9</a:t>
            </a:r>
            <a:r>
              <a:rPr lang="zh-CN" altLang="zh-CN" kern="100" dirty="0">
                <a:solidFill>
                  <a:srgbClr val="FF0000"/>
                </a:solidFill>
                <a:latin typeface="Times New Roman" panose="02020603050405020304" pitchFamily="18" charset="0"/>
                <a:cs typeface="Times New Roman" panose="02020603050405020304" pitchFamily="18" charset="0"/>
              </a:rPr>
              <a:t>）均匀信源、高斯信源的差</a:t>
            </a:r>
            <a:r>
              <a:rPr lang="zh-CN" altLang="zh-CN" kern="100" dirty="0" smtClean="0">
                <a:solidFill>
                  <a:srgbClr val="FF0000"/>
                </a:solidFill>
                <a:latin typeface="Times New Roman" panose="02020603050405020304" pitchFamily="18" charset="0"/>
                <a:cs typeface="Times New Roman" panose="02020603050405020304" pitchFamily="18" charset="0"/>
              </a:rPr>
              <a:t>熵</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多符号离散信源及其模型</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）多符号离散信源的熵</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3</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熵的链式法则</a:t>
            </a:r>
            <a:endParaRPr lang="zh-CN" altLang="zh-CN" kern="100" dirty="0">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p:cNvSpPr/>
              <p:nvPr/>
            </p:nvSpPr>
            <p:spPr>
              <a:xfrm>
                <a:off x="6096000" y="378963"/>
                <a:ext cx="6011635" cy="6178614"/>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楷体" panose="02010609060101010101" charset="-122"/>
                    <a:ea typeface="楷体" panose="02010609060101010101" charset="-122"/>
                    <a:sym typeface="+mn-ea"/>
                  </a:rPr>
                  <a:t>一般信源可用一个</a:t>
                </a:r>
                <a:r>
                  <a:rPr lang="zh-CN" altLang="en-US" dirty="0">
                    <a:solidFill>
                      <a:srgbClr val="FF0000"/>
                    </a:solidFill>
                    <a:latin typeface="楷体" panose="02010609060101010101" charset="-122"/>
                    <a:ea typeface="楷体" panose="02010609060101010101" charset="-122"/>
                    <a:sym typeface="+mn-ea"/>
                  </a:rPr>
                  <a:t>概率空间</a:t>
                </a:r>
                <a:r>
                  <a:rPr lang="zh-CN" altLang="en-US" dirty="0">
                    <a:latin typeface="楷体" panose="02010609060101010101" charset="-122"/>
                    <a:ea typeface="楷体" panose="02010609060101010101" charset="-122"/>
                    <a:sym typeface="+mn-ea"/>
                  </a:rPr>
                  <a:t>来描述，信源的</a:t>
                </a:r>
                <a:r>
                  <a:rPr lang="zh-CN" altLang="en-US" dirty="0">
                    <a:solidFill>
                      <a:srgbClr val="FF0000"/>
                    </a:solidFill>
                    <a:latin typeface="楷体" panose="02010609060101010101" charset="-122"/>
                    <a:ea typeface="楷体" panose="02010609060101010101" charset="-122"/>
                    <a:sym typeface="+mn-ea"/>
                  </a:rPr>
                  <a:t>不确定程度</a:t>
                </a:r>
                <a:r>
                  <a:rPr lang="zh-CN" altLang="en-US" dirty="0">
                    <a:latin typeface="楷体" panose="02010609060101010101" charset="-122"/>
                    <a:ea typeface="楷体" panose="02010609060101010101" charset="-122"/>
                    <a:sym typeface="+mn-ea"/>
                  </a:rPr>
                  <a:t>可用该概率空间的</a:t>
                </a:r>
                <a:r>
                  <a:rPr lang="zh-CN" altLang="en-US" dirty="0">
                    <a:solidFill>
                      <a:srgbClr val="FF0000"/>
                    </a:solidFill>
                    <a:latin typeface="楷体" panose="02010609060101010101" charset="-122"/>
                    <a:ea typeface="楷体" panose="02010609060101010101" charset="-122"/>
                    <a:sym typeface="+mn-ea"/>
                  </a:rPr>
                  <a:t>可能状态数目</a:t>
                </a:r>
                <a:r>
                  <a:rPr lang="zh-CN" altLang="en-US" dirty="0">
                    <a:latin typeface="楷体" panose="02010609060101010101" charset="-122"/>
                    <a:ea typeface="楷体" panose="02010609060101010101" charset="-122"/>
                    <a:sym typeface="+mn-ea"/>
                  </a:rPr>
                  <a:t>及其</a:t>
                </a:r>
                <a:r>
                  <a:rPr lang="zh-CN" altLang="en-US" dirty="0">
                    <a:solidFill>
                      <a:srgbClr val="FF0000"/>
                    </a:solidFill>
                    <a:latin typeface="楷体" panose="02010609060101010101" charset="-122"/>
                    <a:ea typeface="楷体" panose="02010609060101010101" charset="-122"/>
                    <a:sym typeface="+mn-ea"/>
                  </a:rPr>
                  <a:t>概率</a:t>
                </a:r>
                <a:r>
                  <a:rPr lang="zh-CN" altLang="en-US" dirty="0">
                    <a:latin typeface="楷体" panose="02010609060101010101" charset="-122"/>
                    <a:ea typeface="楷体" panose="02010609060101010101" charset="-122"/>
                    <a:sym typeface="+mn-ea"/>
                  </a:rPr>
                  <a:t>来描述。</a:t>
                </a:r>
                <a:r>
                  <a:rPr lang="zh-CN" altLang="en-US" dirty="0">
                    <a:solidFill>
                      <a:srgbClr val="FF0000"/>
                    </a:solidFill>
                    <a:latin typeface="楷体" panose="02010609060101010101" charset="-122"/>
                    <a:ea typeface="楷体" panose="02010609060101010101" charset="-122"/>
                  </a:rPr>
                  <a:t> </a:t>
                </a:r>
                <a:endParaRPr lang="en-US" altLang="zh-CN" dirty="0" smtClean="0">
                  <a:solidFill>
                    <a:srgbClr val="FF0000"/>
                  </a:solidFill>
                  <a:latin typeface="楷体" panose="02010609060101010101" charset="-122"/>
                  <a:ea typeface="楷体" panose="02010609060101010101" charset="-122"/>
                </a:endParaRPr>
              </a:p>
              <a:p>
                <a:pPr marL="285750" indent="-285750">
                  <a:buFont typeface="Wingdings" panose="05000000000000000000" pitchFamily="2" charset="2"/>
                  <a:buChar char="Ø"/>
                </a:pPr>
                <a:r>
                  <a:rPr lang="zh-CN" altLang="en-US" dirty="0">
                    <a:solidFill>
                      <a:srgbClr val="FF0000"/>
                    </a:solidFill>
                    <a:latin typeface="楷体" panose="02010609060101010101" charset="-122"/>
                    <a:ea typeface="楷体" panose="02010609060101010101" charset="-122"/>
                    <a:sym typeface="+mn-ea"/>
                  </a:rPr>
                  <a:t>自信息量：</a:t>
                </a:r>
                <a14:m>
                  <m:oMath xmlns:m="http://schemas.openxmlformats.org/officeDocument/2006/math">
                    <m:r>
                      <a:rPr lang="en-US" altLang="zh-CN" i="1">
                        <a:latin typeface="Cambria Math" panose="02040503050406030204" pitchFamily="18" charset="0"/>
                        <a:ea typeface="楷体" panose="02010609060101010101" charset="-122"/>
                        <a:sym typeface="+mn-ea"/>
                      </a:rPr>
                      <m:t>𝐼</m:t>
                    </m:r>
                    <m:d>
                      <m:dPr>
                        <m:ctrlPr>
                          <a:rPr lang="en-US" altLang="zh-CN" i="1">
                            <a:latin typeface="Cambria Math" panose="02040503050406030204" pitchFamily="18" charset="0"/>
                            <a:ea typeface="楷体" panose="02010609060101010101" charset="-122"/>
                            <a:sym typeface="+mn-ea"/>
                          </a:rPr>
                        </m:ctrlPr>
                      </m:dPr>
                      <m:e>
                        <m:sSub>
                          <m:sSubPr>
                            <m:ctrlPr>
                              <a:rPr lang="en-US" altLang="zh-CN" i="1">
                                <a:latin typeface="Cambria Math" panose="02040503050406030204" pitchFamily="18" charset="0"/>
                                <a:ea typeface="楷体" panose="02010609060101010101" charset="-122"/>
                                <a:sym typeface="+mn-ea"/>
                              </a:rPr>
                            </m:ctrlPr>
                          </m:sSubPr>
                          <m:e>
                            <m:r>
                              <a:rPr lang="en-US" altLang="zh-CN" i="1">
                                <a:latin typeface="Cambria Math" panose="02040503050406030204" pitchFamily="18" charset="0"/>
                                <a:ea typeface="楷体" panose="02010609060101010101" charset="-122"/>
                                <a:sym typeface="+mn-ea"/>
                              </a:rPr>
                              <m:t>𝑥</m:t>
                            </m:r>
                          </m:e>
                          <m:sub>
                            <m:r>
                              <a:rPr lang="en-US" altLang="zh-CN" i="1">
                                <a:latin typeface="Cambria Math" panose="02040503050406030204" pitchFamily="18" charset="0"/>
                                <a:ea typeface="楷体" panose="02010609060101010101" charset="-122"/>
                                <a:sym typeface="+mn-ea"/>
                              </a:rPr>
                              <m:t>𝑖</m:t>
                            </m:r>
                          </m:sub>
                        </m:sSub>
                      </m:e>
                    </m:d>
                    <m:r>
                      <a:rPr lang="en-US" altLang="zh-CN" i="1">
                        <a:latin typeface="Cambria Math" panose="02040503050406030204" pitchFamily="18" charset="0"/>
                        <a:ea typeface="楷体" panose="02010609060101010101" charset="-122"/>
                        <a:sym typeface="+mn-ea"/>
                      </a:rPr>
                      <m:t>=−</m:t>
                    </m:r>
                    <m:r>
                      <m:rPr>
                        <m:sty m:val="p"/>
                      </m:rPr>
                      <a:rPr lang="en-US" altLang="zh-CN">
                        <a:latin typeface="Cambria Math" panose="02040503050406030204" pitchFamily="18" charset="0"/>
                        <a:ea typeface="楷体" panose="02010609060101010101" charset="-122"/>
                        <a:sym typeface="+mn-ea"/>
                      </a:rPr>
                      <m:t>log</m:t>
                    </m:r>
                    <m:r>
                      <a:rPr lang="en-US" altLang="zh-CN" i="1">
                        <a:latin typeface="Cambria Math" panose="02040503050406030204" pitchFamily="18" charset="0"/>
                        <a:ea typeface="楷体" panose="02010609060101010101" charset="-122"/>
                        <a:sym typeface="+mn-ea"/>
                      </a:rPr>
                      <m:t>𝑝</m:t>
                    </m:r>
                    <m:r>
                      <a:rPr lang="en-US" altLang="zh-CN" i="1">
                        <a:latin typeface="Cambria Math" panose="02040503050406030204" pitchFamily="18" charset="0"/>
                        <a:ea typeface="楷体" panose="02010609060101010101" charset="-122"/>
                        <a:sym typeface="+mn-ea"/>
                      </a:rPr>
                      <m:t>(</m:t>
                    </m:r>
                    <m:sSub>
                      <m:sSubPr>
                        <m:ctrlPr>
                          <a:rPr lang="en-US" altLang="zh-CN" i="1">
                            <a:latin typeface="Cambria Math" panose="02040503050406030204" pitchFamily="18" charset="0"/>
                            <a:ea typeface="楷体" panose="02010609060101010101" charset="-122"/>
                            <a:sym typeface="+mn-ea"/>
                          </a:rPr>
                        </m:ctrlPr>
                      </m:sSubPr>
                      <m:e>
                        <m:r>
                          <a:rPr lang="en-US" altLang="zh-CN" i="1">
                            <a:latin typeface="Cambria Math" panose="02040503050406030204" pitchFamily="18" charset="0"/>
                            <a:ea typeface="楷体" panose="02010609060101010101" charset="-122"/>
                            <a:sym typeface="+mn-ea"/>
                          </a:rPr>
                          <m:t>𝑥</m:t>
                        </m:r>
                      </m:e>
                      <m:sub>
                        <m:r>
                          <a:rPr lang="en-US" altLang="zh-CN" i="1">
                            <a:latin typeface="Cambria Math" panose="02040503050406030204" pitchFamily="18" charset="0"/>
                            <a:ea typeface="楷体" panose="02010609060101010101" charset="-122"/>
                            <a:sym typeface="+mn-ea"/>
                          </a:rPr>
                          <m:t>𝑖</m:t>
                        </m:r>
                      </m:sub>
                    </m:sSub>
                    <m:r>
                      <a:rPr lang="en-US" altLang="zh-CN" i="1">
                        <a:latin typeface="Cambria Math" panose="02040503050406030204" pitchFamily="18" charset="0"/>
                        <a:ea typeface="楷体" panose="02010609060101010101" charset="-122"/>
                        <a:sym typeface="+mn-ea"/>
                      </a:rPr>
                      <m:t>)</m:t>
                    </m:r>
                  </m:oMath>
                </a14:m>
                <a:r>
                  <a:rPr lang="zh-CN" altLang="en-US" dirty="0" smtClean="0">
                    <a:latin typeface="楷体" panose="02010609060101010101" charset="-122"/>
                    <a:ea typeface="楷体" panose="02010609060101010101" charset="-122"/>
                    <a:sym typeface="+mn-ea"/>
                  </a:rPr>
                  <a:t>，</a:t>
                </a:r>
                <a:r>
                  <a:rPr lang="zh-CN" altLang="en-US" dirty="0">
                    <a:latin typeface="楷体" panose="02010609060101010101" charset="-122"/>
                    <a:ea typeface="楷体" panose="02010609060101010101" charset="-122"/>
                  </a:rPr>
                  <a:t>随机事件的不确定度在数量上等于它的自信息量。进一步地，</a:t>
                </a:r>
                <a:r>
                  <a:rPr lang="zh-CN" altLang="en-US" dirty="0">
                    <a:solidFill>
                      <a:srgbClr val="FF0000"/>
                    </a:solidFill>
                    <a:latin typeface="楷体" panose="02010609060101010101" charset="-122"/>
                    <a:ea typeface="楷体" panose="02010609060101010101" charset="-122"/>
                  </a:rPr>
                  <a:t>联合自信息量</a:t>
                </a:r>
                <a14:m>
                  <m:oMath xmlns:m="http://schemas.openxmlformats.org/officeDocument/2006/math">
                    <m:r>
                      <a:rPr kumimoji="1" lang="en-US" altLang="zh-CN" i="1">
                        <a:latin typeface="Cambria Math" panose="02040503050406030204" pitchFamily="18" charset="0"/>
                      </a:rPr>
                      <m:t>𝐼</m:t>
                    </m:r>
                    <m:d>
                      <m:dPr>
                        <m:ctrlPr>
                          <a:rPr kumimoji="1" lang="en-US" altLang="zh-CN" i="1">
                            <a:latin typeface="Cambria Math" panose="02040503050406030204" pitchFamily="18" charset="0"/>
                          </a:rPr>
                        </m:ctrlPr>
                      </m:dPr>
                      <m:e>
                        <m:sSub>
                          <m:sSubPr>
                            <m:ctrlPr>
                              <a:rPr lang="en-US" altLang="zh-CN" i="1">
                                <a:latin typeface="Cambria Math" panose="02040503050406030204" pitchFamily="18" charset="0"/>
                                <a:ea typeface="楷体" panose="02010609060101010101" charset="-122"/>
                              </a:rPr>
                            </m:ctrlPr>
                          </m:sSubPr>
                          <m:e>
                            <m:r>
                              <a:rPr lang="en-US" altLang="zh-CN" i="1">
                                <a:latin typeface="Cambria Math" panose="02040503050406030204" pitchFamily="18" charset="0"/>
                                <a:ea typeface="楷体" panose="02010609060101010101" charset="-122"/>
                              </a:rPr>
                              <m:t>𝑥</m:t>
                            </m:r>
                          </m:e>
                          <m:sub>
                            <m:r>
                              <a:rPr lang="en-US" altLang="zh-CN" i="1">
                                <a:latin typeface="Cambria Math" panose="02040503050406030204" pitchFamily="18" charset="0"/>
                                <a:ea typeface="楷体" panose="02010609060101010101" charset="-122"/>
                              </a:rPr>
                              <m:t>𝑖</m:t>
                            </m:r>
                          </m:sub>
                        </m:sSub>
                        <m:r>
                          <a:rPr lang="en-US" altLang="zh-CN" i="1">
                            <a:latin typeface="Cambria Math" panose="02040503050406030204" pitchFamily="18" charset="0"/>
                            <a:ea typeface="楷体" panose="02010609060101010101" charset="-122"/>
                          </a:rPr>
                          <m:t>,</m:t>
                        </m:r>
                        <m:sSub>
                          <m:sSubPr>
                            <m:ctrlPr>
                              <a:rPr lang="en-US" altLang="zh-CN" i="1">
                                <a:latin typeface="Cambria Math" panose="02040503050406030204" pitchFamily="18" charset="0"/>
                                <a:ea typeface="楷体" panose="02010609060101010101" charset="-122"/>
                              </a:rPr>
                            </m:ctrlPr>
                          </m:sSubPr>
                          <m:e>
                            <m:r>
                              <a:rPr lang="en-US" altLang="zh-CN" i="1">
                                <a:latin typeface="Cambria Math" panose="02040503050406030204" pitchFamily="18" charset="0"/>
                                <a:ea typeface="楷体" panose="02010609060101010101" charset="-122"/>
                              </a:rPr>
                              <m:t>𝑦</m:t>
                            </m:r>
                          </m:e>
                          <m:sub>
                            <m:r>
                              <a:rPr lang="en-US" altLang="zh-CN" i="1">
                                <a:latin typeface="Cambria Math" panose="02040503050406030204" pitchFamily="18" charset="0"/>
                                <a:ea typeface="楷体" panose="02010609060101010101" charset="-122"/>
                              </a:rPr>
                              <m:t>𝑗</m:t>
                            </m:r>
                          </m:sub>
                        </m:sSub>
                      </m:e>
                    </m:d>
                    <m:r>
                      <a:rPr kumimoji="1" lang="en-US" altLang="zh-CN" i="1">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𝑙𝑜𝑔</m:t>
                        </m:r>
                      </m:e>
                      <m:sub>
                        <m:r>
                          <a:rPr kumimoji="1" lang="en-US" altLang="zh-CN" i="1">
                            <a:latin typeface="Cambria Math" panose="02040503050406030204" pitchFamily="18" charset="0"/>
                          </a:rPr>
                          <m:t>2</m:t>
                        </m:r>
                      </m:sub>
                    </m:sSub>
                    <m:r>
                      <a:rPr kumimoji="1" lang="en-US" altLang="zh-CN" i="1">
                        <a:latin typeface="Cambria Math" panose="02040503050406030204" pitchFamily="18" charset="0"/>
                      </a:rPr>
                      <m:t>𝑝</m:t>
                    </m:r>
                    <m:d>
                      <m:dPr>
                        <m:ctrlPr>
                          <a:rPr kumimoji="1" lang="en-US" altLang="zh-CN" i="1">
                            <a:latin typeface="Cambria Math" panose="02040503050406030204" pitchFamily="18" charset="0"/>
                          </a:rPr>
                        </m:ctrlPr>
                      </m:dPr>
                      <m:e>
                        <m:sSub>
                          <m:sSubPr>
                            <m:ctrlPr>
                              <a:rPr lang="en-US" altLang="zh-CN" i="1">
                                <a:latin typeface="Cambria Math" panose="02040503050406030204" pitchFamily="18" charset="0"/>
                                <a:ea typeface="楷体" panose="02010609060101010101" charset="-122"/>
                              </a:rPr>
                            </m:ctrlPr>
                          </m:sSubPr>
                          <m:e>
                            <m:r>
                              <a:rPr lang="en-US" altLang="zh-CN" i="1">
                                <a:latin typeface="Cambria Math" panose="02040503050406030204" pitchFamily="18" charset="0"/>
                                <a:ea typeface="楷体" panose="02010609060101010101" charset="-122"/>
                              </a:rPr>
                              <m:t>𝑥</m:t>
                            </m:r>
                          </m:e>
                          <m:sub>
                            <m:r>
                              <a:rPr lang="en-US" altLang="zh-CN" i="1">
                                <a:latin typeface="Cambria Math" panose="02040503050406030204" pitchFamily="18" charset="0"/>
                                <a:ea typeface="楷体" panose="02010609060101010101" charset="-122"/>
                              </a:rPr>
                              <m:t>𝑖</m:t>
                            </m:r>
                          </m:sub>
                        </m:sSub>
                        <m:r>
                          <a:rPr lang="en-US" altLang="zh-CN" i="1">
                            <a:latin typeface="Cambria Math" panose="02040503050406030204" pitchFamily="18" charset="0"/>
                            <a:ea typeface="楷体" panose="02010609060101010101" charset="-122"/>
                          </a:rPr>
                          <m:t>,</m:t>
                        </m:r>
                        <m:sSub>
                          <m:sSubPr>
                            <m:ctrlPr>
                              <a:rPr lang="en-US" altLang="zh-CN" i="1">
                                <a:latin typeface="Cambria Math" panose="02040503050406030204" pitchFamily="18" charset="0"/>
                                <a:ea typeface="楷体" panose="02010609060101010101" charset="-122"/>
                              </a:rPr>
                            </m:ctrlPr>
                          </m:sSubPr>
                          <m:e>
                            <m:r>
                              <a:rPr lang="en-US" altLang="zh-CN" i="1">
                                <a:latin typeface="Cambria Math" panose="02040503050406030204" pitchFamily="18" charset="0"/>
                                <a:ea typeface="楷体" panose="02010609060101010101" charset="-122"/>
                              </a:rPr>
                              <m:t>𝑦</m:t>
                            </m:r>
                          </m:e>
                          <m:sub>
                            <m:r>
                              <a:rPr lang="en-US" altLang="zh-CN" i="1">
                                <a:latin typeface="Cambria Math" panose="02040503050406030204" pitchFamily="18" charset="0"/>
                                <a:ea typeface="楷体" panose="02010609060101010101" charset="-122"/>
                              </a:rPr>
                              <m:t>𝑗</m:t>
                            </m:r>
                          </m:sub>
                        </m:sSub>
                      </m:e>
                    </m:d>
                  </m:oMath>
                </a14:m>
                <a:r>
                  <a:rPr kumimoji="1" lang="zh-CN" altLang="en-US" dirty="0">
                    <a:latin typeface="Times New Roman" panose="02020603050405020304" pitchFamily="18" charset="0"/>
                  </a:rPr>
                  <a:t> </a:t>
                </a:r>
                <a14:m>
                  <m:oMath xmlns:m="http://schemas.openxmlformats.org/officeDocument/2006/math">
                    <m:r>
                      <m:rPr>
                        <m:sty m:val="p"/>
                      </m:rPr>
                      <a:rPr kumimoji="1" lang="en-US" altLang="zh-CN">
                        <a:latin typeface="Cambria Math" panose="02040503050406030204" pitchFamily="18" charset="0"/>
                        <a:ea typeface="楷体" panose="02010609060101010101" charset="-122"/>
                      </a:rPr>
                      <m:t>bit</m:t>
                    </m:r>
                    <m:r>
                      <a:rPr kumimoji="1" lang="en-US" altLang="zh-CN">
                        <a:latin typeface="Cambria Math" panose="02040503050406030204" pitchFamily="18" charset="0"/>
                        <a:ea typeface="楷体" panose="02010609060101010101" charset="-122"/>
                      </a:rPr>
                      <m:t>/</m:t>
                    </m:r>
                    <m:r>
                      <a:rPr kumimoji="1" lang="zh-CN" altLang="en-US">
                        <a:latin typeface="Cambria Math" panose="02040503050406030204" pitchFamily="18" charset="0"/>
                        <a:ea typeface="楷体" panose="02010609060101010101" charset="-122"/>
                      </a:rPr>
                      <m:t>二元</m:t>
                    </m:r>
                  </m:oMath>
                </a14:m>
                <a:r>
                  <a:rPr kumimoji="1" lang="zh-CN" altLang="en-US" dirty="0" smtClean="0">
                    <a:latin typeface="楷体" panose="02010609060101010101" pitchFamily="49" charset="-122"/>
                    <a:ea typeface="楷体" panose="02010609060101010101" pitchFamily="49" charset="-122"/>
                  </a:rPr>
                  <a:t>符号；</a:t>
                </a:r>
                <a:r>
                  <a:rPr kumimoji="1" lang="zh-CN" altLang="en-US" dirty="0">
                    <a:solidFill>
                      <a:srgbClr val="FF0000"/>
                    </a:solidFill>
                    <a:latin typeface="楷体" panose="02010609060101010101" pitchFamily="49" charset="-122"/>
                    <a:ea typeface="楷体" panose="02010609060101010101" pitchFamily="49" charset="-122"/>
                  </a:rPr>
                  <a:t>条件自信息量</a:t>
                </a:r>
                <a14:m>
                  <m:oMath xmlns:m="http://schemas.openxmlformats.org/officeDocument/2006/math">
                    <m:r>
                      <a:rPr lang="en-US" altLang="zh-CN" i="1">
                        <a:latin typeface="Cambria Math" panose="02040503050406030204" pitchFamily="18" charset="0"/>
                        <a:ea typeface="楷体" panose="02010609060101010101" pitchFamily="49" charset="-122"/>
                      </a:rPr>
                      <m:t>𝐼</m:t>
                    </m:r>
                    <m:d>
                      <m:dPr>
                        <m:ctrlPr>
                          <a:rPr lang="en-US" altLang="zh-CN" i="1">
                            <a:latin typeface="Cambria Math" panose="02040503050406030204" pitchFamily="18" charset="0"/>
                            <a:ea typeface="楷体" panose="02010609060101010101" pitchFamily="49" charset="-122"/>
                          </a:rPr>
                        </m:ctrlPr>
                      </m:dPr>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e>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e>
                    </m:d>
                    <m:r>
                      <a:rPr lang="en-US" altLang="zh-CN" i="1">
                        <a:latin typeface="Cambria Math" panose="02040503050406030204" pitchFamily="18" charset="0"/>
                        <a:ea typeface="楷体" panose="02010609060101010101" pitchFamily="49" charset="-122"/>
                      </a:rPr>
                      <m:t>=−</m:t>
                    </m:r>
                    <m:r>
                      <m:rPr>
                        <m:nor/>
                      </m:rPr>
                      <a:rPr kumimoji="1" lang="en-US" altLang="zh-CN" dirty="0">
                        <a:latin typeface="Times New Roman" panose="02020603050405020304" pitchFamily="18" charset="0"/>
                        <a:cs typeface="Times New Roman" panose="02020603050405020304" pitchFamily="18" charset="0"/>
                      </a:rPr>
                      <m:t>log</m:t>
                    </m:r>
                    <m:r>
                      <m:rPr>
                        <m:nor/>
                      </m:rPr>
                      <a:rPr kumimoji="1" lang="en-US" altLang="zh-CN" baseline="-30000" dirty="0">
                        <a:latin typeface="Times New Roman" panose="02020603050405020304" pitchFamily="18" charset="0"/>
                        <a:cs typeface="Times New Roman" panose="02020603050405020304" pitchFamily="18" charset="0"/>
                      </a:rPr>
                      <m:t>2</m:t>
                    </m:r>
                    <m:r>
                      <a:rPr lang="en-US" altLang="zh-CN" i="1">
                        <a:latin typeface="Cambria Math" panose="02040503050406030204" pitchFamily="18" charset="0"/>
                        <a:ea typeface="楷体" panose="02010609060101010101" pitchFamily="49" charset="-122"/>
                      </a:rPr>
                      <m:t>𝑝</m:t>
                    </m:r>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r>
                      <a:rPr lang="en-US" altLang="zh-CN" i="1">
                        <a:latin typeface="Cambria Math" panose="02040503050406030204" pitchFamily="18" charset="0"/>
                        <a:ea typeface="楷体" panose="02010609060101010101" pitchFamily="49" charset="-122"/>
                      </a:rPr>
                      <m:t>)</m:t>
                    </m:r>
                  </m:oMath>
                </a14:m>
                <a:r>
                  <a:rPr lang="zh-CN" altLang="en-US" dirty="0">
                    <a:latin typeface="楷体" panose="02010609060101010101" pitchFamily="49" charset="-122"/>
                    <a:ea typeface="楷体" panose="02010609060101010101" pitchFamily="49" charset="-122"/>
                  </a:rPr>
                  <a:t>  </a:t>
                </a:r>
                <a:r>
                  <a:rPr lang="en-US" altLang="zh-CN" dirty="0">
                    <a:latin typeface="楷体" panose="02010609060101010101" pitchFamily="49" charset="-122"/>
                    <a:ea typeface="楷体" panose="02010609060101010101" pitchFamily="49" charset="-122"/>
                  </a:rPr>
                  <a:t>bit/</a:t>
                </a:r>
                <a:r>
                  <a:rPr lang="zh-CN" altLang="en-US" dirty="0" smtClean="0">
                    <a:latin typeface="楷体" panose="02010609060101010101" pitchFamily="49" charset="-122"/>
                    <a:ea typeface="楷体" panose="02010609060101010101" pitchFamily="49" charset="-122"/>
                  </a:rPr>
                  <a:t>符号</a:t>
                </a:r>
                <a:endParaRPr lang="en-US" altLang="zh-CN" dirty="0" smtClean="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sym typeface="+mn-ea"/>
                  </a:rPr>
                  <a:t>互信息量</a:t>
                </a:r>
                <a:r>
                  <a:rPr lang="zh-CN" altLang="en-US" b="1" dirty="0" smtClean="0">
                    <a:solidFill>
                      <a:srgbClr val="FF0000"/>
                    </a:solidFill>
                    <a:latin typeface="楷体" panose="02010609060101010101" charset="-122"/>
                    <a:ea typeface="楷体" panose="02010609060101010101" charset="-122"/>
                    <a:sym typeface="+mn-ea"/>
                  </a:rPr>
                  <a:t>：</a:t>
                </a:r>
                <a:endParaRPr lang="en-US" altLang="zh-CN" b="1" dirty="0" smtClean="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smtClean="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smtClean="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smtClean="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a:solidFill>
                    <a:srgbClr val="FF0000"/>
                  </a:solidFill>
                  <a:latin typeface="楷体" panose="02010609060101010101" charset="-122"/>
                  <a:ea typeface="楷体" panose="02010609060101010101" charset="-122"/>
                  <a:sym typeface="+mn-ea"/>
                </a:endParaRPr>
              </a:p>
              <a:p>
                <a:pPr marL="285750" indent="-285750">
                  <a:buFont typeface="Wingdings" panose="05000000000000000000" pitchFamily="2" charset="2"/>
                  <a:buChar char="Ø"/>
                </a:pPr>
                <a:r>
                  <a:rPr lang="zh-CN" altLang="en-US" b="1" dirty="0" smtClean="0">
                    <a:solidFill>
                      <a:srgbClr val="FF0000"/>
                    </a:solidFill>
                    <a:latin typeface="楷体" panose="02010609060101010101" charset="-122"/>
                    <a:ea typeface="楷体" panose="02010609060101010101" charset="-122"/>
                    <a:sym typeface="+mn-ea"/>
                  </a:rPr>
                  <a:t>熵：</a:t>
                </a:r>
                <a14:m>
                  <m:oMath xmlns:m="http://schemas.openxmlformats.org/officeDocument/2006/math">
                    <m:r>
                      <a:rPr lang="en-US" altLang="zh-CN" b="1" i="1" smtClean="0">
                        <a:solidFill>
                          <a:schemeClr val="tx1"/>
                        </a:solidFill>
                        <a:latin typeface="Cambria Math" panose="02040503050406030204" pitchFamily="18" charset="0"/>
                      </a:rPr>
                      <m:t>𝑯</m:t>
                    </m:r>
                    <m:d>
                      <m:dPr>
                        <m:ctrlPr>
                          <a:rPr lang="en-US" altLang="zh-CN" b="1"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𝑿</m:t>
                        </m:r>
                      </m:e>
                    </m:d>
                    <m:r>
                      <a:rPr lang="en-US" altLang="zh-CN" b="1"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rPr>
                      <m:t>𝑬</m:t>
                    </m:r>
                    <m:d>
                      <m:dPr>
                        <m:ctrlPr>
                          <a:rPr lang="en-US" altLang="zh-CN" b="1" i="1">
                            <a:solidFill>
                              <a:schemeClr val="tx1"/>
                            </a:solidFill>
                            <a:latin typeface="Cambria Math" panose="02040503050406030204" pitchFamily="18" charset="0"/>
                          </a:rPr>
                        </m:ctrlPr>
                      </m:dPr>
                      <m:e>
                        <m:r>
                          <a:rPr lang="en-US" altLang="zh-CN" b="1" i="1">
                            <a:solidFill>
                              <a:schemeClr val="tx1"/>
                            </a:solidFill>
                            <a:latin typeface="Cambria Math" panose="02040503050406030204" pitchFamily="18" charset="0"/>
                          </a:rPr>
                          <m:t>𝑰</m:t>
                        </m:r>
                        <m:d>
                          <m:dPr>
                            <m:ctrlPr>
                              <a:rPr lang="en-US" altLang="zh-CN" b="1" i="1">
                                <a:solidFill>
                                  <a:schemeClr val="tx1"/>
                                </a:solidFill>
                                <a:latin typeface="Cambria Math" panose="02040503050406030204" pitchFamily="18" charset="0"/>
                              </a:rPr>
                            </m:ctrlPr>
                          </m:dPr>
                          <m:e>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1" i="1">
                                    <a:solidFill>
                                      <a:schemeClr val="tx1"/>
                                    </a:solidFill>
                                    <a:latin typeface="Cambria Math" panose="02040503050406030204" pitchFamily="18" charset="0"/>
                                  </a:rPr>
                                  <m:t>𝒊</m:t>
                                </m:r>
                              </m:sub>
                            </m:sSub>
                          </m:e>
                        </m:d>
                      </m:e>
                    </m:d>
                    <m:r>
                      <a:rPr lang="en-US" altLang="zh-CN" b="1" i="1">
                        <a:solidFill>
                          <a:schemeClr val="tx1"/>
                        </a:solidFill>
                        <a:latin typeface="Cambria Math" panose="02040503050406030204" pitchFamily="18" charset="0"/>
                      </a:rPr>
                      <m:t>=</m:t>
                    </m:r>
                    <m:nary>
                      <m:naryPr>
                        <m:chr m:val="∑"/>
                        <m:supHide m:val="on"/>
                        <m:ctrlPr>
                          <a:rPr lang="en-US" altLang="zh-CN" b="1" i="1">
                            <a:solidFill>
                              <a:schemeClr val="tx1"/>
                            </a:solidFill>
                            <a:latin typeface="Cambria Math" panose="02040503050406030204" pitchFamily="18" charset="0"/>
                          </a:rPr>
                        </m:ctrlPr>
                      </m:naryPr>
                      <m:sub>
                        <m:r>
                          <m:rPr>
                            <m:brk m:alnAt="7"/>
                          </m:rPr>
                          <a:rPr lang="en-US" altLang="zh-CN" b="1" i="1">
                            <a:solidFill>
                              <a:schemeClr val="tx1"/>
                            </a:solidFill>
                            <a:latin typeface="Cambria Math" panose="02040503050406030204" pitchFamily="18" charset="0"/>
                          </a:rPr>
                          <m:t>𝒊</m:t>
                        </m:r>
                      </m:sub>
                      <m:sup/>
                      <m:e>
                        <m:r>
                          <a:rPr lang="en-US" altLang="zh-CN" b="1" i="1">
                            <a:solidFill>
                              <a:schemeClr val="tx1"/>
                            </a:solidFill>
                            <a:latin typeface="Cambria Math" panose="02040503050406030204" pitchFamily="18" charset="0"/>
                          </a:rPr>
                          <m:t>𝒑</m:t>
                        </m:r>
                        <m:d>
                          <m:dPr>
                            <m:ctrlPr>
                              <a:rPr lang="en-US" altLang="zh-CN" b="1" i="1">
                                <a:solidFill>
                                  <a:schemeClr val="tx1"/>
                                </a:solidFill>
                                <a:latin typeface="Cambria Math" panose="02040503050406030204" pitchFamily="18" charset="0"/>
                              </a:rPr>
                            </m:ctrlPr>
                          </m:dPr>
                          <m:e>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1" i="1">
                                    <a:solidFill>
                                      <a:schemeClr val="tx1"/>
                                    </a:solidFill>
                                    <a:latin typeface="Cambria Math" panose="02040503050406030204" pitchFamily="18" charset="0"/>
                                  </a:rPr>
                                  <m:t>𝒊</m:t>
                                </m:r>
                              </m:sub>
                            </m:sSub>
                          </m:e>
                        </m:d>
                        <m:r>
                          <a:rPr lang="en-US" altLang="zh-CN" b="1" i="1">
                            <a:solidFill>
                              <a:schemeClr val="tx1"/>
                            </a:solidFill>
                            <a:latin typeface="Cambria Math" panose="02040503050406030204" pitchFamily="18" charset="0"/>
                          </a:rPr>
                          <m:t>𝑰</m:t>
                        </m:r>
                        <m:d>
                          <m:dPr>
                            <m:ctrlPr>
                              <a:rPr lang="en-US" altLang="zh-CN" b="1" i="1">
                                <a:solidFill>
                                  <a:schemeClr val="tx1"/>
                                </a:solidFill>
                                <a:latin typeface="Cambria Math" panose="02040503050406030204" pitchFamily="18" charset="0"/>
                              </a:rPr>
                            </m:ctrlPr>
                          </m:dPr>
                          <m:e>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1" i="1">
                                    <a:solidFill>
                                      <a:schemeClr val="tx1"/>
                                    </a:solidFill>
                                    <a:latin typeface="Cambria Math" panose="02040503050406030204" pitchFamily="18" charset="0"/>
                                  </a:rPr>
                                  <m:t>𝒊</m:t>
                                </m:r>
                              </m:sub>
                            </m:sSub>
                          </m:e>
                        </m:d>
                        <m:r>
                          <a:rPr lang="en-US" altLang="zh-CN" b="1" i="1">
                            <a:solidFill>
                              <a:schemeClr val="tx1"/>
                            </a:solidFill>
                            <a:latin typeface="Cambria Math" panose="02040503050406030204" pitchFamily="18" charset="0"/>
                          </a:rPr>
                          <m:t>=−</m:t>
                        </m:r>
                        <m:nary>
                          <m:naryPr>
                            <m:chr m:val="∑"/>
                            <m:supHide m:val="on"/>
                            <m:ctrlPr>
                              <a:rPr lang="en-US" altLang="zh-CN" b="1" i="1">
                                <a:solidFill>
                                  <a:schemeClr val="tx1"/>
                                </a:solidFill>
                                <a:latin typeface="Cambria Math" panose="02040503050406030204" pitchFamily="18" charset="0"/>
                              </a:rPr>
                            </m:ctrlPr>
                          </m:naryPr>
                          <m:sub>
                            <m:r>
                              <m:rPr>
                                <m:brk m:alnAt="7"/>
                              </m:rPr>
                              <a:rPr lang="en-US" altLang="zh-CN" b="1" i="1">
                                <a:solidFill>
                                  <a:schemeClr val="tx1"/>
                                </a:solidFill>
                                <a:latin typeface="Cambria Math" panose="02040503050406030204" pitchFamily="18" charset="0"/>
                              </a:rPr>
                              <m:t>𝒊</m:t>
                            </m:r>
                          </m:sub>
                          <m:sup/>
                          <m:e>
                            <m:r>
                              <a:rPr lang="en-US" altLang="zh-CN" b="1" i="1">
                                <a:solidFill>
                                  <a:schemeClr val="tx1"/>
                                </a:solidFill>
                                <a:latin typeface="Cambria Math" panose="02040503050406030204" pitchFamily="18" charset="0"/>
                              </a:rPr>
                              <m:t>𝒑</m:t>
                            </m:r>
                            <m:d>
                              <m:dPr>
                                <m:ctrlPr>
                                  <a:rPr lang="en-US" altLang="zh-CN" b="1" i="1">
                                    <a:solidFill>
                                      <a:schemeClr val="tx1"/>
                                    </a:solidFill>
                                    <a:latin typeface="Cambria Math" panose="02040503050406030204" pitchFamily="18" charset="0"/>
                                  </a:rPr>
                                </m:ctrlPr>
                              </m:dPr>
                              <m:e>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1" i="1">
                                        <a:solidFill>
                                          <a:schemeClr val="tx1"/>
                                        </a:solidFill>
                                        <a:latin typeface="Cambria Math" panose="02040503050406030204" pitchFamily="18" charset="0"/>
                                      </a:rPr>
                                      <m:t>𝒊</m:t>
                                    </m:r>
                                  </m:sub>
                                </m:sSub>
                              </m:e>
                            </m:d>
                            <m:r>
                              <a:rPr lang="en-US" altLang="zh-CN" b="1" i="1">
                                <a:solidFill>
                                  <a:schemeClr val="tx1"/>
                                </a:solidFill>
                                <a:latin typeface="Cambria Math" panose="02040503050406030204" pitchFamily="18" charset="0"/>
                              </a:rPr>
                              <m:t>𝒍𝒐𝒈𝒑</m:t>
                            </m:r>
                            <m:r>
                              <a:rPr lang="en-US" altLang="zh-CN" b="1" i="1">
                                <a:solidFill>
                                  <a:schemeClr val="tx1"/>
                                </a:solidFill>
                                <a:latin typeface="Cambria Math" panose="02040503050406030204" pitchFamily="18" charset="0"/>
                              </a:rPr>
                              <m:t>(</m:t>
                            </m:r>
                            <m:sSub>
                              <m:sSubPr>
                                <m:ctrlPr>
                                  <a:rPr lang="en-US" altLang="zh-CN" b="1" i="1">
                                    <a:solidFill>
                                      <a:schemeClr val="tx1"/>
                                    </a:solidFill>
                                    <a:latin typeface="Cambria Math" panose="02040503050406030204" pitchFamily="18" charset="0"/>
                                  </a:rPr>
                                </m:ctrlPr>
                              </m:sSubPr>
                              <m:e>
                                <m:r>
                                  <a:rPr lang="en-US" altLang="zh-CN" b="1" i="1">
                                    <a:solidFill>
                                      <a:schemeClr val="tx1"/>
                                    </a:solidFill>
                                    <a:latin typeface="Cambria Math" panose="02040503050406030204" pitchFamily="18" charset="0"/>
                                  </a:rPr>
                                  <m:t>𝒙</m:t>
                                </m:r>
                              </m:e>
                              <m:sub>
                                <m:r>
                                  <a:rPr lang="en-US" altLang="zh-CN" b="1" i="1">
                                    <a:solidFill>
                                      <a:schemeClr val="tx1"/>
                                    </a:solidFill>
                                    <a:latin typeface="Cambria Math" panose="02040503050406030204" pitchFamily="18" charset="0"/>
                                  </a:rPr>
                                  <m:t>𝒊</m:t>
                                </m:r>
                              </m:sub>
                            </m:sSub>
                            <m:r>
                              <a:rPr lang="en-US" altLang="zh-CN" b="1" i="1">
                                <a:solidFill>
                                  <a:schemeClr val="tx1"/>
                                </a:solidFill>
                                <a:latin typeface="Cambria Math" panose="02040503050406030204" pitchFamily="18" charset="0"/>
                              </a:rPr>
                              <m:t>)</m:t>
                            </m:r>
                          </m:e>
                        </m:nary>
                      </m:e>
                    </m:nary>
                  </m:oMath>
                </a14:m>
                <a:endParaRPr lang="en-US" altLang="zh-CN" dirty="0" smtClean="0">
                  <a:solidFill>
                    <a:srgbClr val="C0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dirty="0">
                  <a:solidFill>
                    <a:srgbClr val="C0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en-US" b="1" dirty="0">
                    <a:solidFill>
                      <a:srgbClr val="FF0000"/>
                    </a:solidFill>
                    <a:latin typeface="楷体" panose="02010609060101010101" charset="-122"/>
                    <a:ea typeface="楷体" panose="02010609060101010101" charset="-122"/>
                  </a:rPr>
                  <a:t>平均互信息</a:t>
                </a:r>
                <a:r>
                  <a:rPr lang="zh-CN" altLang="en-US" b="1" dirty="0" smtClean="0">
                    <a:solidFill>
                      <a:srgbClr val="FF0000"/>
                    </a:solidFill>
                    <a:latin typeface="楷体" panose="02010609060101010101" charset="-122"/>
                    <a:ea typeface="楷体" panose="02010609060101010101" charset="-122"/>
                  </a:rPr>
                  <a:t>：</a:t>
                </a:r>
                <a:endParaRPr kumimoji="1" lang="en-US" altLang="zh-CN" dirty="0">
                  <a:solidFill>
                    <a:srgbClr val="C00000"/>
                  </a:solidFill>
                  <a:latin typeface="楷体" panose="02010609060101010101" pitchFamily="49" charset="-122"/>
                  <a:ea typeface="楷体" panose="02010609060101010101" pitchFamily="49" charset="-122"/>
                </a:endParaRPr>
              </a:p>
              <a:p>
                <a:pPr/>
                <a14:m>
                  <m:oMathPara xmlns:m="http://schemas.openxmlformats.org/officeDocument/2006/math">
                    <m:oMathParaPr>
                      <m:jc m:val="centerGroup"/>
                    </m:oMathParaPr>
                    <m:oMath xmlns:m="http://schemas.openxmlformats.org/officeDocument/2006/math">
                      <m:r>
                        <a:rPr kumimoji="1" lang="en-US" altLang="zh-CN" i="1" smtClean="0">
                          <a:solidFill>
                            <a:schemeClr val="tx1"/>
                          </a:solidFill>
                          <a:latin typeface="Cambria Math" panose="02040503050406030204" pitchFamily="18" charset="0"/>
                          <a:ea typeface="楷体" panose="02010609060101010101" pitchFamily="49" charset="-122"/>
                        </a:rPr>
                        <m:t>𝐼</m:t>
                      </m:r>
                      <m:d>
                        <m:dPr>
                          <m:ctrlPr>
                            <a:rPr kumimoji="1" lang="en-US" altLang="zh-CN" i="1">
                              <a:solidFill>
                                <a:schemeClr val="tx1"/>
                              </a:solidFill>
                              <a:latin typeface="Cambria Math" panose="02040503050406030204" pitchFamily="18" charset="0"/>
                              <a:ea typeface="楷体" panose="02010609060101010101" pitchFamily="49" charset="-122"/>
                            </a:rPr>
                          </m:ctrlPr>
                        </m:dPr>
                        <m:e>
                          <m:r>
                            <a:rPr kumimoji="1" lang="en-US" altLang="zh-CN" i="1">
                              <a:solidFill>
                                <a:schemeClr val="tx1"/>
                              </a:solidFill>
                              <a:latin typeface="Cambria Math" panose="02040503050406030204" pitchFamily="18" charset="0"/>
                              <a:ea typeface="楷体" panose="02010609060101010101" pitchFamily="49" charset="-122"/>
                            </a:rPr>
                            <m:t>𝑋</m:t>
                          </m:r>
                          <m:r>
                            <a:rPr kumimoji="1" lang="en-US" altLang="zh-CN" i="1">
                              <a:solidFill>
                                <a:schemeClr val="tx1"/>
                              </a:solidFill>
                              <a:latin typeface="Cambria Math" panose="02040503050406030204" pitchFamily="18" charset="0"/>
                              <a:ea typeface="楷体" panose="02010609060101010101" pitchFamily="49" charset="-122"/>
                            </a:rPr>
                            <m:t>;</m:t>
                          </m:r>
                          <m:r>
                            <a:rPr kumimoji="1" lang="en-US" altLang="zh-CN" i="1">
                              <a:solidFill>
                                <a:schemeClr val="tx1"/>
                              </a:solidFill>
                              <a:latin typeface="Cambria Math" panose="02040503050406030204" pitchFamily="18" charset="0"/>
                              <a:ea typeface="楷体" panose="02010609060101010101" pitchFamily="49" charset="-122"/>
                            </a:rPr>
                            <m:t>𝑌</m:t>
                          </m:r>
                        </m:e>
                      </m:d>
                      <m:r>
                        <a:rPr kumimoji="1" lang="en-US" altLang="zh-CN" i="1">
                          <a:solidFill>
                            <a:schemeClr val="tx1"/>
                          </a:solidFill>
                          <a:latin typeface="Cambria Math" panose="02040503050406030204" pitchFamily="18" charset="0"/>
                          <a:ea typeface="楷体" panose="02010609060101010101" pitchFamily="49" charset="-122"/>
                        </a:rPr>
                        <m:t>=</m:t>
                      </m:r>
                      <m:nary>
                        <m:naryPr>
                          <m:chr m:val="∑"/>
                          <m:supHide m:val="on"/>
                          <m:ctrlPr>
                            <a:rPr kumimoji="1" lang="en-US" altLang="zh-CN" i="1">
                              <a:solidFill>
                                <a:schemeClr val="tx1"/>
                              </a:solidFill>
                              <a:latin typeface="Cambria Math" panose="02040503050406030204" pitchFamily="18" charset="0"/>
                              <a:ea typeface="楷体" panose="02010609060101010101" pitchFamily="49" charset="-122"/>
                            </a:rPr>
                          </m:ctrlPr>
                        </m:naryPr>
                        <m:sub>
                          <m:r>
                            <m:rPr>
                              <m:brk m:alnAt="7"/>
                            </m:rPr>
                            <a:rPr kumimoji="1" lang="en-US" altLang="zh-CN" i="1">
                              <a:solidFill>
                                <a:schemeClr val="tx1"/>
                              </a:solidFill>
                              <a:latin typeface="Cambria Math" panose="02040503050406030204" pitchFamily="18" charset="0"/>
                              <a:ea typeface="楷体" panose="02010609060101010101" pitchFamily="49" charset="-122"/>
                            </a:rPr>
                            <m:t>𝑖</m:t>
                          </m:r>
                        </m:sub>
                        <m:sup/>
                        <m:e>
                          <m:nary>
                            <m:naryPr>
                              <m:chr m:val="∑"/>
                              <m:supHide m:val="on"/>
                              <m:ctrlPr>
                                <a:rPr kumimoji="1" lang="en-US" altLang="zh-CN" i="1">
                                  <a:solidFill>
                                    <a:schemeClr val="tx1"/>
                                  </a:solidFill>
                                  <a:latin typeface="Cambria Math" panose="02040503050406030204" pitchFamily="18" charset="0"/>
                                  <a:ea typeface="楷体" panose="02010609060101010101" pitchFamily="49" charset="-122"/>
                                </a:rPr>
                              </m:ctrlPr>
                            </m:naryPr>
                            <m:sub>
                              <m:r>
                                <m:rPr>
                                  <m:brk m:alnAt="7"/>
                                </m:rPr>
                                <a:rPr kumimoji="1" lang="en-US" altLang="zh-CN" i="1">
                                  <a:solidFill>
                                    <a:schemeClr val="tx1"/>
                                  </a:solidFill>
                                  <a:latin typeface="Cambria Math" panose="02040503050406030204" pitchFamily="18" charset="0"/>
                                  <a:ea typeface="楷体" panose="02010609060101010101" pitchFamily="49" charset="-122"/>
                                </a:rPr>
                                <m:t>𝑗</m:t>
                              </m:r>
                            </m:sub>
                            <m:sup/>
                            <m:e>
                              <m:r>
                                <a:rPr kumimoji="1" lang="en-US" altLang="zh-CN" i="1">
                                  <a:solidFill>
                                    <a:schemeClr val="tx1"/>
                                  </a:solidFill>
                                  <a:latin typeface="Cambria Math" panose="02040503050406030204" pitchFamily="18" charset="0"/>
                                  <a:ea typeface="楷体" panose="02010609060101010101" pitchFamily="49" charset="-122"/>
                                </a:rPr>
                                <m:t>𝑝</m:t>
                              </m:r>
                              <m:d>
                                <m:dPr>
                                  <m:ctrlPr>
                                    <a:rPr kumimoji="1" lang="en-US" altLang="zh-CN" i="1">
                                      <a:solidFill>
                                        <a:schemeClr val="tx1"/>
                                      </a:solidFill>
                                      <a:latin typeface="Cambria Math" panose="02040503050406030204" pitchFamily="18" charset="0"/>
                                      <a:ea typeface="楷体" panose="02010609060101010101" pitchFamily="49" charset="-122"/>
                                    </a:rPr>
                                  </m:ctrlPr>
                                </m:dPr>
                                <m:e>
                                  <m:sSub>
                                    <m:sSubPr>
                                      <m:ctrlPr>
                                        <a:rPr kumimoji="1" lang="en-US" altLang="zh-CN" i="1">
                                          <a:solidFill>
                                            <a:schemeClr val="tx1"/>
                                          </a:solidFill>
                                          <a:latin typeface="Cambria Math" panose="02040503050406030204" pitchFamily="18" charset="0"/>
                                          <a:ea typeface="楷体" panose="02010609060101010101" pitchFamily="49" charset="-122"/>
                                        </a:rPr>
                                      </m:ctrlPr>
                                    </m:sSubPr>
                                    <m:e>
                                      <m:r>
                                        <a:rPr kumimoji="1" lang="en-US" altLang="zh-CN" i="1">
                                          <a:solidFill>
                                            <a:schemeClr val="tx1"/>
                                          </a:solidFill>
                                          <a:latin typeface="Cambria Math" panose="02040503050406030204" pitchFamily="18" charset="0"/>
                                          <a:ea typeface="楷体" panose="02010609060101010101" pitchFamily="49" charset="-122"/>
                                        </a:rPr>
                                        <m:t>𝑥</m:t>
                                      </m:r>
                                    </m:e>
                                    <m:sub>
                                      <m:r>
                                        <a:rPr kumimoji="1" lang="en-US" altLang="zh-CN" i="1">
                                          <a:solidFill>
                                            <a:schemeClr val="tx1"/>
                                          </a:solidFill>
                                          <a:latin typeface="Cambria Math" panose="02040503050406030204" pitchFamily="18" charset="0"/>
                                          <a:ea typeface="楷体" panose="02010609060101010101" pitchFamily="49" charset="-122"/>
                                        </a:rPr>
                                        <m:t>𝑖</m:t>
                                      </m:r>
                                    </m:sub>
                                  </m:sSub>
                                  <m:r>
                                    <a:rPr kumimoji="1" lang="en-US" altLang="zh-CN" i="1">
                                      <a:solidFill>
                                        <a:schemeClr val="tx1"/>
                                      </a:solidFill>
                                      <a:latin typeface="Cambria Math" panose="02040503050406030204" pitchFamily="18" charset="0"/>
                                      <a:ea typeface="楷体" panose="02010609060101010101" pitchFamily="49" charset="-122"/>
                                    </a:rPr>
                                    <m:t>,</m:t>
                                  </m:r>
                                  <m:sSub>
                                    <m:sSubPr>
                                      <m:ctrlPr>
                                        <a:rPr kumimoji="1" lang="en-US" altLang="zh-CN" i="1">
                                          <a:solidFill>
                                            <a:schemeClr val="tx1"/>
                                          </a:solidFill>
                                          <a:latin typeface="Cambria Math" panose="02040503050406030204" pitchFamily="18" charset="0"/>
                                          <a:ea typeface="楷体" panose="02010609060101010101" pitchFamily="49" charset="-122"/>
                                        </a:rPr>
                                      </m:ctrlPr>
                                    </m:sSubPr>
                                    <m:e>
                                      <m:r>
                                        <a:rPr kumimoji="1" lang="en-US" altLang="zh-CN" i="1">
                                          <a:solidFill>
                                            <a:schemeClr val="tx1"/>
                                          </a:solidFill>
                                          <a:latin typeface="Cambria Math" panose="02040503050406030204" pitchFamily="18" charset="0"/>
                                          <a:ea typeface="楷体" panose="02010609060101010101" pitchFamily="49" charset="-122"/>
                                        </a:rPr>
                                        <m:t>𝑦</m:t>
                                      </m:r>
                                    </m:e>
                                    <m:sub>
                                      <m:r>
                                        <a:rPr kumimoji="1" lang="en-US" altLang="zh-CN" i="1">
                                          <a:solidFill>
                                            <a:schemeClr val="tx1"/>
                                          </a:solidFill>
                                          <a:latin typeface="Cambria Math" panose="02040503050406030204" pitchFamily="18" charset="0"/>
                                          <a:ea typeface="楷体" panose="02010609060101010101" pitchFamily="49" charset="-122"/>
                                        </a:rPr>
                                        <m:t>𝑗</m:t>
                                      </m:r>
                                    </m:sub>
                                  </m:sSub>
                                </m:e>
                              </m:d>
                              <m:r>
                                <a:rPr kumimoji="1" lang="en-US" altLang="zh-CN" i="1">
                                  <a:solidFill>
                                    <a:schemeClr val="tx1"/>
                                  </a:solidFill>
                                  <a:latin typeface="Cambria Math" panose="02040503050406030204" pitchFamily="18" charset="0"/>
                                  <a:ea typeface="楷体" panose="02010609060101010101" pitchFamily="49" charset="-122"/>
                                </a:rPr>
                                <m:t>𝐼</m:t>
                              </m:r>
                              <m:r>
                                <a:rPr kumimoji="1" lang="en-US" altLang="zh-CN" i="1">
                                  <a:solidFill>
                                    <a:schemeClr val="tx1"/>
                                  </a:solidFill>
                                  <a:latin typeface="Cambria Math" panose="02040503050406030204" pitchFamily="18" charset="0"/>
                                  <a:ea typeface="楷体" panose="02010609060101010101" pitchFamily="49" charset="-122"/>
                                </a:rPr>
                                <m:t>(</m:t>
                              </m:r>
                              <m:sSub>
                                <m:sSubPr>
                                  <m:ctrlPr>
                                    <a:rPr kumimoji="1" lang="en-US" altLang="zh-CN" i="1">
                                      <a:solidFill>
                                        <a:schemeClr val="tx1"/>
                                      </a:solidFill>
                                      <a:latin typeface="Cambria Math" panose="02040503050406030204" pitchFamily="18" charset="0"/>
                                      <a:ea typeface="楷体" panose="02010609060101010101" pitchFamily="49" charset="-122"/>
                                    </a:rPr>
                                  </m:ctrlPr>
                                </m:sSubPr>
                                <m:e>
                                  <m:r>
                                    <a:rPr kumimoji="1" lang="en-US" altLang="zh-CN" i="1">
                                      <a:solidFill>
                                        <a:schemeClr val="tx1"/>
                                      </a:solidFill>
                                      <a:latin typeface="Cambria Math" panose="02040503050406030204" pitchFamily="18" charset="0"/>
                                      <a:ea typeface="楷体" panose="02010609060101010101" pitchFamily="49" charset="-122"/>
                                    </a:rPr>
                                    <m:t>𝑥</m:t>
                                  </m:r>
                                </m:e>
                                <m:sub>
                                  <m:r>
                                    <a:rPr kumimoji="1" lang="en-US" altLang="zh-CN" i="1">
                                      <a:solidFill>
                                        <a:schemeClr val="tx1"/>
                                      </a:solidFill>
                                      <a:latin typeface="Cambria Math" panose="02040503050406030204" pitchFamily="18" charset="0"/>
                                      <a:ea typeface="楷体" panose="02010609060101010101" pitchFamily="49" charset="-122"/>
                                    </a:rPr>
                                    <m:t>𝑖</m:t>
                                  </m:r>
                                </m:sub>
                              </m:sSub>
                              <m:r>
                                <a:rPr kumimoji="1" lang="en-US" altLang="zh-CN" i="1">
                                  <a:solidFill>
                                    <a:schemeClr val="tx1"/>
                                  </a:solidFill>
                                  <a:latin typeface="Cambria Math" panose="02040503050406030204" pitchFamily="18" charset="0"/>
                                  <a:ea typeface="楷体" panose="02010609060101010101" pitchFamily="49" charset="-122"/>
                                </a:rPr>
                                <m:t>;</m:t>
                              </m:r>
                              <m:sSub>
                                <m:sSubPr>
                                  <m:ctrlPr>
                                    <a:rPr kumimoji="1" lang="en-US" altLang="zh-CN" i="1">
                                      <a:solidFill>
                                        <a:schemeClr val="tx1"/>
                                      </a:solidFill>
                                      <a:latin typeface="Cambria Math" panose="02040503050406030204" pitchFamily="18" charset="0"/>
                                      <a:ea typeface="楷体" panose="02010609060101010101" pitchFamily="49" charset="-122"/>
                                    </a:rPr>
                                  </m:ctrlPr>
                                </m:sSubPr>
                                <m:e>
                                  <m:r>
                                    <a:rPr kumimoji="1" lang="en-US" altLang="zh-CN" i="1">
                                      <a:solidFill>
                                        <a:schemeClr val="tx1"/>
                                      </a:solidFill>
                                      <a:latin typeface="Cambria Math" panose="02040503050406030204" pitchFamily="18" charset="0"/>
                                      <a:ea typeface="楷体" panose="02010609060101010101" pitchFamily="49" charset="-122"/>
                                    </a:rPr>
                                    <m:t>𝑦</m:t>
                                  </m:r>
                                </m:e>
                                <m:sub>
                                  <m:r>
                                    <a:rPr kumimoji="1" lang="en-US" altLang="zh-CN" i="1">
                                      <a:solidFill>
                                        <a:schemeClr val="tx1"/>
                                      </a:solidFill>
                                      <a:latin typeface="Cambria Math" panose="02040503050406030204" pitchFamily="18" charset="0"/>
                                      <a:ea typeface="楷体" panose="02010609060101010101" pitchFamily="49" charset="-122"/>
                                    </a:rPr>
                                    <m:t>𝑗</m:t>
                                  </m:r>
                                </m:sub>
                              </m:sSub>
                              <m:r>
                                <a:rPr kumimoji="1" lang="en-US" altLang="zh-CN" i="1">
                                  <a:solidFill>
                                    <a:schemeClr val="tx1"/>
                                  </a:solidFill>
                                  <a:latin typeface="Cambria Math" panose="02040503050406030204" pitchFamily="18" charset="0"/>
                                  <a:ea typeface="楷体" panose="02010609060101010101" pitchFamily="49" charset="-122"/>
                                </a:rPr>
                                <m:t>)</m:t>
                              </m:r>
                            </m:e>
                          </m:nary>
                        </m:e>
                      </m:nary>
                    </m:oMath>
                  </m:oMathPara>
                </a14:m>
                <a:endParaRPr kumimoji="1" lang="en-US" altLang="zh-CN" dirty="0">
                  <a:solidFill>
                    <a:srgbClr val="FF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6096000" y="378963"/>
                <a:ext cx="6011635" cy="6178614"/>
              </a:xfrm>
              <a:prstGeom prst="rect">
                <a:avLst/>
              </a:prstGeom>
              <a:blipFill>
                <a:blip r:embed="rId2"/>
                <a:stretch>
                  <a:fillRect l="-811" t="-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64A3609-ABC6-487A-B2A6-A63BDF07B866}"/>
                  </a:ext>
                </a:extLst>
              </p:cNvPr>
              <p:cNvSpPr/>
              <p:nvPr/>
            </p:nvSpPr>
            <p:spPr>
              <a:xfrm>
                <a:off x="6096000" y="2505850"/>
                <a:ext cx="5582784" cy="164993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楷体" panose="02010609060101010101" pitchFamily="49" charset="-122"/>
                          <a:sym typeface="+mn-ea"/>
                        </a:rPr>
                        <m:t>𝐼</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e>
                      </m:d>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𝐼</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sym typeface="+mn-ea"/>
                                </a:rPr>
                              </m:ctrlPr>
                            </m:sSubPr>
                            <m:e>
                              <m:r>
                                <a:rPr lang="en-US" altLang="zh-CN" i="1">
                                  <a:latin typeface="Cambria Math" panose="02040503050406030204" pitchFamily="18" charset="0"/>
                                  <a:ea typeface="楷体" panose="02010609060101010101" pitchFamily="49" charset="-122"/>
                                  <a:sym typeface="+mn-ea"/>
                                </a:rPr>
                                <m:t>𝑥</m:t>
                              </m:r>
                            </m:e>
                            <m:sub>
                              <m:r>
                                <a:rPr lang="en-US" altLang="zh-CN" i="1">
                                  <a:latin typeface="Cambria Math" panose="02040503050406030204" pitchFamily="18" charset="0"/>
                                  <a:ea typeface="楷体" panose="02010609060101010101" pitchFamily="49" charset="-122"/>
                                  <a:sym typeface="+mn-ea"/>
                                </a:rPr>
                                <m:t>𝑖</m:t>
                              </m:r>
                            </m:sub>
                          </m:sSub>
                        </m:e>
                      </m:d>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𝐼</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e>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e>
                      </m:d>
                      <m:r>
                        <a:rPr lang="en-US" altLang="zh-CN" i="1">
                          <a:latin typeface="Cambria Math" panose="02040503050406030204" pitchFamily="18" charset="0"/>
                          <a:ea typeface="楷体" panose="02010609060101010101" pitchFamily="49" charset="-122"/>
                          <a:sym typeface="+mn-ea"/>
                        </a:rPr>
                        <m:t>=</m:t>
                      </m:r>
                      <m:d>
                        <m:dPr>
                          <m:ctrlPr>
                            <a:rPr lang="en-US" altLang="zh-CN" i="1">
                              <a:latin typeface="Cambria Math" panose="02040503050406030204" pitchFamily="18" charset="0"/>
                              <a:ea typeface="楷体" panose="02010609060101010101" pitchFamily="49" charset="-122"/>
                              <a:sym typeface="+mn-ea"/>
                            </a:rPr>
                          </m:ctrlPr>
                        </m:dPr>
                        <m:e>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𝑙𝑜𝑔𝑝</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sym typeface="+mn-ea"/>
                                    </a:rPr>
                                  </m:ctrlPr>
                                </m:sSubPr>
                                <m:e>
                                  <m:r>
                                    <a:rPr lang="en-US" altLang="zh-CN" i="1">
                                      <a:latin typeface="Cambria Math" panose="02040503050406030204" pitchFamily="18" charset="0"/>
                                      <a:ea typeface="楷体" panose="02010609060101010101" pitchFamily="49" charset="-122"/>
                                      <a:sym typeface="+mn-ea"/>
                                    </a:rPr>
                                    <m:t>𝑥</m:t>
                                  </m:r>
                                </m:e>
                                <m:sub>
                                  <m:r>
                                    <a:rPr lang="en-US" altLang="zh-CN" i="1">
                                      <a:latin typeface="Cambria Math" panose="02040503050406030204" pitchFamily="18" charset="0"/>
                                      <a:ea typeface="楷体" panose="02010609060101010101" pitchFamily="49" charset="-122"/>
                                      <a:sym typeface="+mn-ea"/>
                                    </a:rPr>
                                    <m:t>𝑖</m:t>
                                  </m:r>
                                </m:sub>
                              </m:sSub>
                            </m:e>
                          </m:d>
                        </m:e>
                      </m:d>
                      <m:r>
                        <a:rPr lang="en-US" altLang="zh-CN" i="1">
                          <a:latin typeface="Cambria Math" panose="02040503050406030204" pitchFamily="18" charset="0"/>
                          <a:ea typeface="楷体" panose="02010609060101010101" pitchFamily="49" charset="-122"/>
                          <a:sym typeface="+mn-ea"/>
                        </a:rPr>
                        <m:t>−</m:t>
                      </m:r>
                      <m:d>
                        <m:dPr>
                          <m:ctrlPr>
                            <a:rPr lang="en-US" altLang="zh-CN" i="1">
                              <a:latin typeface="Cambria Math" panose="02040503050406030204" pitchFamily="18" charset="0"/>
                              <a:ea typeface="楷体" panose="02010609060101010101" pitchFamily="49" charset="-122"/>
                              <a:sym typeface="+mn-ea"/>
                            </a:rPr>
                          </m:ctrlPr>
                        </m:dPr>
                        <m:e>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𝑙𝑜𝑔𝑝</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e>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e>
                          </m:d>
                        </m:e>
                      </m:d>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𝑙𝑜𝑔</m:t>
                      </m:r>
                      <m:f>
                        <m:fPr>
                          <m:ctrlPr>
                            <a:rPr lang="en-US" altLang="zh-CN" i="1">
                              <a:latin typeface="Cambria Math" panose="02040503050406030204" pitchFamily="18" charset="0"/>
                              <a:ea typeface="楷体" panose="02010609060101010101" pitchFamily="49" charset="-122"/>
                              <a:sym typeface="+mn-ea"/>
                            </a:rPr>
                          </m:ctrlPr>
                        </m:fPr>
                        <m:num>
                          <m:r>
                            <a:rPr lang="en-US" altLang="zh-CN" i="1">
                              <a:latin typeface="Cambria Math" panose="02040503050406030204" pitchFamily="18" charset="0"/>
                              <a:ea typeface="楷体" panose="02010609060101010101" pitchFamily="49" charset="-122"/>
                              <a:sym typeface="+mn-ea"/>
                            </a:rPr>
                            <m:t>𝑝</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e>
                            <m:e>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e>
                          </m:d>
                        </m:num>
                        <m:den>
                          <m:r>
                            <a:rPr lang="en-US" altLang="zh-CN" i="1">
                              <a:latin typeface="Cambria Math" panose="02040503050406030204" pitchFamily="18" charset="0"/>
                              <a:ea typeface="楷体" panose="02010609060101010101" pitchFamily="49" charset="-122"/>
                              <a:sym typeface="+mn-ea"/>
                            </a:rPr>
                            <m:t>𝑝</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sym typeface="+mn-ea"/>
                                    </a:rPr>
                                  </m:ctrlPr>
                                </m:sSubPr>
                                <m:e>
                                  <m:r>
                                    <a:rPr lang="en-US" altLang="zh-CN" i="1">
                                      <a:latin typeface="Cambria Math" panose="02040503050406030204" pitchFamily="18" charset="0"/>
                                      <a:ea typeface="楷体" panose="02010609060101010101" pitchFamily="49" charset="-122"/>
                                      <a:sym typeface="+mn-ea"/>
                                    </a:rPr>
                                    <m:t>𝑥</m:t>
                                  </m:r>
                                </m:e>
                                <m:sub>
                                  <m:r>
                                    <a:rPr lang="en-US" altLang="zh-CN" i="1">
                                      <a:latin typeface="Cambria Math" panose="02040503050406030204" pitchFamily="18" charset="0"/>
                                      <a:ea typeface="楷体" panose="02010609060101010101" pitchFamily="49" charset="-122"/>
                                      <a:sym typeface="+mn-ea"/>
                                    </a:rPr>
                                    <m:t>𝑖</m:t>
                                  </m:r>
                                </m:sub>
                              </m:sSub>
                            </m:e>
                          </m:d>
                        </m:den>
                      </m:f>
                      <m:r>
                        <a:rPr lang="en-US" altLang="zh-CN" i="1">
                          <a:latin typeface="Cambria Math" panose="02040503050406030204" pitchFamily="18" charset="0"/>
                          <a:ea typeface="楷体" panose="02010609060101010101" pitchFamily="49" charset="-122"/>
                          <a:sym typeface="+mn-ea"/>
                        </a:rPr>
                        <m:t>=</m:t>
                      </m:r>
                      <m:r>
                        <a:rPr lang="en-US" altLang="zh-CN" i="1">
                          <a:latin typeface="Cambria Math" panose="02040503050406030204" pitchFamily="18" charset="0"/>
                          <a:ea typeface="楷体" panose="02010609060101010101" pitchFamily="49" charset="-122"/>
                          <a:sym typeface="+mn-ea"/>
                        </a:rPr>
                        <m:t>𝑙𝑜𝑔</m:t>
                      </m:r>
                      <m:f>
                        <m:fPr>
                          <m:ctrlPr>
                            <a:rPr lang="en-US" altLang="zh-CN" i="1">
                              <a:latin typeface="Cambria Math" panose="02040503050406030204" pitchFamily="18" charset="0"/>
                              <a:ea typeface="楷体" panose="02010609060101010101" pitchFamily="49" charset="-122"/>
                              <a:sym typeface="+mn-ea"/>
                            </a:rPr>
                          </m:ctrlPr>
                        </m:fPr>
                        <m:num>
                          <m:r>
                            <a:rPr lang="en-US" altLang="zh-CN" i="1">
                              <a:latin typeface="Cambria Math" panose="02040503050406030204" pitchFamily="18" charset="0"/>
                              <a:ea typeface="楷体" panose="02010609060101010101" pitchFamily="49" charset="-122"/>
                              <a:sym typeface="+mn-ea"/>
                            </a:rPr>
                            <m:t>𝑝</m:t>
                          </m:r>
                          <m:r>
                            <a:rPr lang="en-US" altLang="zh-CN" i="1">
                              <a:latin typeface="Cambria Math" panose="02040503050406030204" pitchFamily="18" charset="0"/>
                              <a:ea typeface="楷体" panose="02010609060101010101" pitchFamily="49" charset="-122"/>
                              <a:sym typeface="+mn-ea"/>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𝑥</m:t>
                              </m:r>
                            </m:e>
                            <m:sub>
                              <m:r>
                                <a:rPr lang="en-US" altLang="zh-CN" i="1">
                                  <a:latin typeface="Cambria Math" panose="02040503050406030204" pitchFamily="18" charset="0"/>
                                  <a:ea typeface="楷体" panose="02010609060101010101" pitchFamily="49" charset="-122"/>
                                </a:rPr>
                                <m:t>𝑖</m:t>
                              </m:r>
                            </m:sub>
                          </m:sSub>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𝑦</m:t>
                              </m:r>
                            </m:e>
                            <m:sub>
                              <m:r>
                                <a:rPr lang="en-US" altLang="zh-CN" i="1">
                                  <a:latin typeface="Cambria Math" panose="02040503050406030204" pitchFamily="18" charset="0"/>
                                  <a:ea typeface="楷体" panose="02010609060101010101" pitchFamily="49" charset="-122"/>
                                </a:rPr>
                                <m:t>𝑗</m:t>
                              </m:r>
                            </m:sub>
                          </m:sSub>
                          <m:r>
                            <a:rPr lang="en-US" altLang="zh-CN" i="1">
                              <a:latin typeface="Cambria Math" panose="02040503050406030204" pitchFamily="18" charset="0"/>
                              <a:ea typeface="楷体" panose="02010609060101010101" pitchFamily="49" charset="-122"/>
                              <a:sym typeface="+mn-ea"/>
                            </a:rPr>
                            <m:t>)</m:t>
                          </m:r>
                        </m:num>
                        <m:den>
                          <m:r>
                            <a:rPr lang="en-US" altLang="zh-CN" i="1">
                              <a:latin typeface="Cambria Math" panose="02040503050406030204" pitchFamily="18" charset="0"/>
                              <a:ea typeface="楷体" panose="02010609060101010101" pitchFamily="49" charset="-122"/>
                              <a:sym typeface="+mn-ea"/>
                            </a:rPr>
                            <m:t>𝑝</m:t>
                          </m:r>
                          <m:d>
                            <m:dPr>
                              <m:ctrlPr>
                                <a:rPr lang="en-US" altLang="zh-CN" i="1">
                                  <a:latin typeface="Cambria Math" panose="02040503050406030204" pitchFamily="18" charset="0"/>
                                  <a:ea typeface="楷体" panose="02010609060101010101" pitchFamily="49" charset="-122"/>
                                  <a:sym typeface="+mn-ea"/>
                                </a:rPr>
                              </m:ctrlPr>
                            </m:dPr>
                            <m:e>
                              <m:sSub>
                                <m:sSubPr>
                                  <m:ctrlPr>
                                    <a:rPr lang="en-US" altLang="zh-CN" i="1">
                                      <a:latin typeface="Cambria Math" panose="02040503050406030204" pitchFamily="18" charset="0"/>
                                      <a:ea typeface="楷体" panose="02010609060101010101" pitchFamily="49" charset="-122"/>
                                      <a:sym typeface="+mn-ea"/>
                                    </a:rPr>
                                  </m:ctrlPr>
                                </m:sSubPr>
                                <m:e>
                                  <m:r>
                                    <a:rPr lang="en-US" altLang="zh-CN" i="1">
                                      <a:latin typeface="Cambria Math" panose="02040503050406030204" pitchFamily="18" charset="0"/>
                                      <a:ea typeface="楷体" panose="02010609060101010101" pitchFamily="49" charset="-122"/>
                                      <a:sym typeface="+mn-ea"/>
                                    </a:rPr>
                                    <m:t>𝑥</m:t>
                                  </m:r>
                                </m:e>
                                <m:sub>
                                  <m:r>
                                    <a:rPr lang="en-US" altLang="zh-CN" i="1">
                                      <a:latin typeface="Cambria Math" panose="02040503050406030204" pitchFamily="18" charset="0"/>
                                      <a:ea typeface="楷体" panose="02010609060101010101" pitchFamily="49" charset="-122"/>
                                      <a:sym typeface="+mn-ea"/>
                                    </a:rPr>
                                    <m:t>𝑖</m:t>
                                  </m:r>
                                </m:sub>
                              </m:sSub>
                            </m:e>
                          </m:d>
                          <m:r>
                            <a:rPr lang="en-US" altLang="zh-CN" i="1">
                              <a:latin typeface="Cambria Math" panose="02040503050406030204" pitchFamily="18" charset="0"/>
                              <a:ea typeface="楷体" panose="02010609060101010101" pitchFamily="49" charset="-122"/>
                              <a:sym typeface="+mn-ea"/>
                            </a:rPr>
                            <m:t>𝑝</m:t>
                          </m:r>
                          <m:r>
                            <a:rPr lang="en-US" altLang="zh-CN" i="1">
                              <a:latin typeface="Cambria Math" panose="02040503050406030204" pitchFamily="18" charset="0"/>
                              <a:ea typeface="楷体" panose="02010609060101010101" pitchFamily="49" charset="-122"/>
                              <a:sym typeface="+mn-ea"/>
                            </a:rPr>
                            <m:t>(</m:t>
                          </m:r>
                          <m:sSub>
                            <m:sSubPr>
                              <m:ctrlPr>
                                <a:rPr lang="en-US" altLang="zh-CN" i="1">
                                  <a:latin typeface="Cambria Math" panose="02040503050406030204" pitchFamily="18" charset="0"/>
                                  <a:ea typeface="楷体" panose="02010609060101010101" pitchFamily="49" charset="-122"/>
                                  <a:sym typeface="+mn-ea"/>
                                </a:rPr>
                              </m:ctrlPr>
                            </m:sSubPr>
                            <m:e>
                              <m:r>
                                <a:rPr lang="en-US" altLang="zh-CN" i="1">
                                  <a:latin typeface="Cambria Math" panose="02040503050406030204" pitchFamily="18" charset="0"/>
                                  <a:ea typeface="楷体" panose="02010609060101010101" pitchFamily="49" charset="-122"/>
                                  <a:sym typeface="+mn-ea"/>
                                </a:rPr>
                                <m:t>𝑦</m:t>
                              </m:r>
                            </m:e>
                            <m:sub>
                              <m:r>
                                <a:rPr lang="en-US" altLang="zh-CN" i="1">
                                  <a:latin typeface="Cambria Math" panose="02040503050406030204" pitchFamily="18" charset="0"/>
                                  <a:ea typeface="楷体" panose="02010609060101010101" pitchFamily="49" charset="-122"/>
                                  <a:sym typeface="+mn-ea"/>
                                </a:rPr>
                                <m:t>𝑗</m:t>
                              </m:r>
                            </m:sub>
                          </m:sSub>
                          <m:r>
                            <a:rPr lang="en-US" altLang="zh-CN" i="1">
                              <a:latin typeface="Cambria Math" panose="02040503050406030204" pitchFamily="18" charset="0"/>
                              <a:ea typeface="楷体" panose="02010609060101010101" pitchFamily="49" charset="-122"/>
                              <a:sym typeface="+mn-ea"/>
                            </a:rPr>
                            <m:t>)</m:t>
                          </m:r>
                        </m:den>
                      </m:f>
                    </m:oMath>
                  </m:oMathPara>
                </a14:m>
                <a:endParaRPr lang="zh-CN" altLang="en-US" dirty="0">
                  <a:latin typeface="楷体" panose="02010609060101010101" pitchFamily="49" charset="-122"/>
                  <a:ea typeface="楷体" panose="02010609060101010101" pitchFamily="49" charset="-122"/>
                  <a:sym typeface="+mn-ea"/>
                </a:endParaRPr>
              </a:p>
            </p:txBody>
          </p:sp>
        </mc:Choice>
        <mc:Fallback xmlns="">
          <p:sp>
            <p:nvSpPr>
              <p:cNvPr id="6" name="矩形 5">
                <a:extLst>
                  <a:ext uri="{FF2B5EF4-FFF2-40B4-BE49-F238E27FC236}">
                    <a16:creationId xmlns:a16="http://schemas.microsoft.com/office/drawing/2014/main" id="{864A3609-ABC6-487A-B2A6-A63BDF07B866}"/>
                  </a:ext>
                </a:extLst>
              </p:cNvPr>
              <p:cNvSpPr>
                <a:spLocks noRot="1" noChangeAspect="1" noMove="1" noResize="1" noEditPoints="1" noAdjustHandles="1" noChangeArrowheads="1" noChangeShapeType="1" noTextEdit="1"/>
              </p:cNvSpPr>
              <p:nvPr/>
            </p:nvSpPr>
            <p:spPr>
              <a:xfrm>
                <a:off x="6096000" y="2505850"/>
                <a:ext cx="5582784" cy="1649939"/>
              </a:xfrm>
              <a:prstGeom prst="rect">
                <a:avLst/>
              </a:prstGeom>
              <a:blipFill>
                <a:blip r:embed="rId3"/>
                <a:stretch>
                  <a:fillRect/>
                </a:stretch>
              </a:blipFill>
            </p:spPr>
            <p:txBody>
              <a:bodyPr/>
              <a:lstStyle/>
              <a:p>
                <a:r>
                  <a:rPr lang="zh-CN" altLang="en-US">
                    <a:noFill/>
                  </a:rPr>
                  <a:t> </a:t>
                </a:r>
              </a:p>
            </p:txBody>
          </p:sp>
        </mc:Fallback>
      </mc:AlternateContent>
      <p:grpSp>
        <p:nvGrpSpPr>
          <p:cNvPr id="7" name="组合 6"/>
          <p:cNvGrpSpPr/>
          <p:nvPr/>
        </p:nvGrpSpPr>
        <p:grpSpPr>
          <a:xfrm>
            <a:off x="2739062" y="3812972"/>
            <a:ext cx="3276600" cy="2895600"/>
            <a:chOff x="5771477" y="3135828"/>
            <a:chExt cx="3276600" cy="2895600"/>
          </a:xfrm>
        </p:grpSpPr>
        <p:sp>
          <p:nvSpPr>
            <p:cNvPr id="8" name="Oval 4">
              <a:extLst>
                <a:ext uri="{FF2B5EF4-FFF2-40B4-BE49-F238E27FC236}">
                  <a16:creationId xmlns:a16="http://schemas.microsoft.com/office/drawing/2014/main" id="{1EFE56B8-1F49-48E3-852B-74B5894EC8BF}"/>
                </a:ext>
              </a:extLst>
            </p:cNvPr>
            <p:cNvSpPr>
              <a:spLocks noChangeArrowheads="1"/>
            </p:cNvSpPr>
            <p:nvPr/>
          </p:nvSpPr>
          <p:spPr bwMode="auto">
            <a:xfrm>
              <a:off x="5819102" y="3559690"/>
              <a:ext cx="2057400" cy="20574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F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0" lang="zh-CN" altLang="zh-CN" sz="1800" b="1">
                <a:solidFill>
                  <a:srgbClr val="FF0000"/>
                </a:solidFill>
                <a:latin typeface="Arial" panose="020B0604020202020204" pitchFamily="34" charset="0"/>
              </a:endParaRPr>
            </a:p>
          </p:txBody>
        </p:sp>
        <p:sp>
          <p:nvSpPr>
            <p:cNvPr id="9" name="Oval 5">
              <a:extLst>
                <a:ext uri="{FF2B5EF4-FFF2-40B4-BE49-F238E27FC236}">
                  <a16:creationId xmlns:a16="http://schemas.microsoft.com/office/drawing/2014/main" id="{80BFAF62-6794-40F9-BF79-335A1697B387}"/>
                </a:ext>
              </a:extLst>
            </p:cNvPr>
            <p:cNvSpPr>
              <a:spLocks noChangeArrowheads="1"/>
            </p:cNvSpPr>
            <p:nvPr/>
          </p:nvSpPr>
          <p:spPr bwMode="auto">
            <a:xfrm>
              <a:off x="6990677" y="3593028"/>
              <a:ext cx="2057400" cy="205740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11FF1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6">
              <a:extLst>
                <a:ext uri="{FF2B5EF4-FFF2-40B4-BE49-F238E27FC236}">
                  <a16:creationId xmlns:a16="http://schemas.microsoft.com/office/drawing/2014/main" id="{2380ADA5-1233-447A-BAF1-22264329A7CD}"/>
                </a:ext>
              </a:extLst>
            </p:cNvPr>
            <p:cNvSpPr txBox="1">
              <a:spLocks noChangeArrowheads="1"/>
            </p:cNvSpPr>
            <p:nvPr/>
          </p:nvSpPr>
          <p:spPr bwMode="auto">
            <a:xfrm>
              <a:off x="5847677" y="4355028"/>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smtClean="0">
                  <a:solidFill>
                    <a:srgbClr val="008000"/>
                  </a:solidFill>
                </a:rPr>
                <a:t>H(X|Y</a:t>
              </a:r>
              <a:r>
                <a:rPr kumimoji="0" lang="en-US" altLang="zh-CN" b="1" dirty="0">
                  <a:solidFill>
                    <a:srgbClr val="008000"/>
                  </a:solidFill>
                </a:rPr>
                <a:t>)</a:t>
              </a:r>
            </a:p>
          </p:txBody>
        </p:sp>
        <p:sp>
          <p:nvSpPr>
            <p:cNvPr id="11" name="Text Box 7">
              <a:extLst>
                <a:ext uri="{FF2B5EF4-FFF2-40B4-BE49-F238E27FC236}">
                  <a16:creationId xmlns:a16="http://schemas.microsoft.com/office/drawing/2014/main" id="{EE3B231D-FA6E-46A8-9F51-8F38F0B9EE82}"/>
                </a:ext>
              </a:extLst>
            </p:cNvPr>
            <p:cNvSpPr txBox="1">
              <a:spLocks noChangeArrowheads="1"/>
            </p:cNvSpPr>
            <p:nvPr/>
          </p:nvSpPr>
          <p:spPr bwMode="auto">
            <a:xfrm>
              <a:off x="7905077" y="4355028"/>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smtClean="0">
                  <a:solidFill>
                    <a:srgbClr val="008000"/>
                  </a:solidFill>
                </a:rPr>
                <a:t>H(Y|X</a:t>
              </a:r>
              <a:r>
                <a:rPr kumimoji="0" lang="en-US" altLang="zh-CN" b="1" dirty="0">
                  <a:solidFill>
                    <a:srgbClr val="008000"/>
                  </a:solidFill>
                </a:rPr>
                <a:t>)</a:t>
              </a:r>
            </a:p>
          </p:txBody>
        </p:sp>
        <p:sp>
          <p:nvSpPr>
            <p:cNvPr id="12" name="Text Box 8">
              <a:extLst>
                <a:ext uri="{FF2B5EF4-FFF2-40B4-BE49-F238E27FC236}">
                  <a16:creationId xmlns:a16="http://schemas.microsoft.com/office/drawing/2014/main" id="{D06DD223-262C-4AFE-BC98-7ADD5AA880E5}"/>
                </a:ext>
              </a:extLst>
            </p:cNvPr>
            <p:cNvSpPr txBox="1">
              <a:spLocks noChangeArrowheads="1"/>
            </p:cNvSpPr>
            <p:nvPr/>
          </p:nvSpPr>
          <p:spPr bwMode="auto">
            <a:xfrm>
              <a:off x="7828877" y="3135828"/>
              <a:ext cx="838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a:solidFill>
                    <a:srgbClr val="0000FF"/>
                  </a:solidFill>
                </a:rPr>
                <a:t>H(Y)</a:t>
              </a:r>
            </a:p>
          </p:txBody>
        </p:sp>
        <p:sp>
          <p:nvSpPr>
            <p:cNvPr id="13" name="Text Box 9">
              <a:extLst>
                <a:ext uri="{FF2B5EF4-FFF2-40B4-BE49-F238E27FC236}">
                  <a16:creationId xmlns:a16="http://schemas.microsoft.com/office/drawing/2014/main" id="{544C15D9-E83F-4BB7-8D80-19C9AFA301BB}"/>
                </a:ext>
              </a:extLst>
            </p:cNvPr>
            <p:cNvSpPr txBox="1">
              <a:spLocks noChangeArrowheads="1"/>
            </p:cNvSpPr>
            <p:nvPr/>
          </p:nvSpPr>
          <p:spPr bwMode="auto">
            <a:xfrm>
              <a:off x="6533477" y="3135828"/>
              <a:ext cx="76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a:solidFill>
                    <a:srgbClr val="0000FF"/>
                  </a:solidFill>
                </a:rPr>
                <a:t>H(X)</a:t>
              </a:r>
            </a:p>
          </p:txBody>
        </p:sp>
        <p:sp>
          <p:nvSpPr>
            <p:cNvPr id="14" name="Text Box 10">
              <a:extLst>
                <a:ext uri="{FF2B5EF4-FFF2-40B4-BE49-F238E27FC236}">
                  <a16:creationId xmlns:a16="http://schemas.microsoft.com/office/drawing/2014/main" id="{2F0FD18B-38C9-4413-AE5A-57DBE0AD9929}"/>
                </a:ext>
              </a:extLst>
            </p:cNvPr>
            <p:cNvSpPr txBox="1">
              <a:spLocks noChangeArrowheads="1"/>
            </p:cNvSpPr>
            <p:nvPr/>
          </p:nvSpPr>
          <p:spPr bwMode="auto">
            <a:xfrm>
              <a:off x="6977977" y="4323278"/>
              <a:ext cx="914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a:solidFill>
                    <a:srgbClr val="FF0000"/>
                  </a:solidFill>
                </a:rPr>
                <a:t>I(X;Y)</a:t>
              </a:r>
            </a:p>
          </p:txBody>
        </p:sp>
        <p:sp>
          <p:nvSpPr>
            <p:cNvPr id="15" name="Text Box 11">
              <a:extLst>
                <a:ext uri="{FF2B5EF4-FFF2-40B4-BE49-F238E27FC236}">
                  <a16:creationId xmlns:a16="http://schemas.microsoft.com/office/drawing/2014/main" id="{F593A3A5-97F2-49D5-AFEA-AC2DEE0BAADC}"/>
                </a:ext>
              </a:extLst>
            </p:cNvPr>
            <p:cNvSpPr txBox="1">
              <a:spLocks noChangeArrowheads="1"/>
            </p:cNvSpPr>
            <p:nvPr/>
          </p:nvSpPr>
          <p:spPr bwMode="auto">
            <a:xfrm>
              <a:off x="6914477" y="5650428"/>
              <a:ext cx="114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US" altLang="zh-CN" b="1" dirty="0"/>
                <a:t>H(XY)</a:t>
              </a:r>
            </a:p>
          </p:txBody>
        </p:sp>
        <p:sp>
          <p:nvSpPr>
            <p:cNvPr id="16" name="Line 12">
              <a:extLst>
                <a:ext uri="{FF2B5EF4-FFF2-40B4-BE49-F238E27FC236}">
                  <a16:creationId xmlns:a16="http://schemas.microsoft.com/office/drawing/2014/main" id="{54CAA754-5CA3-4780-ADFF-AC857832D0A9}"/>
                </a:ext>
              </a:extLst>
            </p:cNvPr>
            <p:cNvSpPr>
              <a:spLocks noChangeShapeType="1"/>
            </p:cNvSpPr>
            <p:nvPr/>
          </p:nvSpPr>
          <p:spPr bwMode="auto">
            <a:xfrm>
              <a:off x="5771477" y="572662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3">
              <a:extLst>
                <a:ext uri="{FF2B5EF4-FFF2-40B4-BE49-F238E27FC236}">
                  <a16:creationId xmlns:a16="http://schemas.microsoft.com/office/drawing/2014/main" id="{0C0A51F3-AA65-4440-867A-6DF7D95718F2}"/>
                </a:ext>
              </a:extLst>
            </p:cNvPr>
            <p:cNvSpPr>
              <a:spLocks noChangeShapeType="1"/>
            </p:cNvSpPr>
            <p:nvPr/>
          </p:nvSpPr>
          <p:spPr bwMode="auto">
            <a:xfrm>
              <a:off x="8971877" y="5726628"/>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14">
              <a:extLst>
                <a:ext uri="{FF2B5EF4-FFF2-40B4-BE49-F238E27FC236}">
                  <a16:creationId xmlns:a16="http://schemas.microsoft.com/office/drawing/2014/main" id="{3C344AC6-002F-484E-BAF1-38F03A3F0536}"/>
                </a:ext>
              </a:extLst>
            </p:cNvPr>
            <p:cNvSpPr>
              <a:spLocks noChangeShapeType="1"/>
            </p:cNvSpPr>
            <p:nvPr/>
          </p:nvSpPr>
          <p:spPr bwMode="auto">
            <a:xfrm>
              <a:off x="7905077" y="5879028"/>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15">
              <a:extLst>
                <a:ext uri="{FF2B5EF4-FFF2-40B4-BE49-F238E27FC236}">
                  <a16:creationId xmlns:a16="http://schemas.microsoft.com/office/drawing/2014/main" id="{B0EF7B09-97DA-4434-A362-9F255029E058}"/>
                </a:ext>
              </a:extLst>
            </p:cNvPr>
            <p:cNvSpPr>
              <a:spLocks noChangeShapeType="1"/>
            </p:cNvSpPr>
            <p:nvPr/>
          </p:nvSpPr>
          <p:spPr bwMode="auto">
            <a:xfrm flipH="1">
              <a:off x="5771477" y="5879028"/>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84204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5193"/>
            <a:ext cx="6096000" cy="4801314"/>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二、信源及其</a:t>
            </a:r>
            <a:r>
              <a:rPr lang="zh-CN" altLang="zh-CN" kern="100" dirty="0" smtClean="0">
                <a:latin typeface="Times New Roman" panose="02020603050405020304" pitchFamily="18" charset="0"/>
                <a:cs typeface="Times New Roman" panose="02020603050405020304" pitchFamily="18" charset="0"/>
              </a:rPr>
              <a:t>熵</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单符号离散信源及其模型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）单符号离散信源的自信息、熵、平均互信息及其性质</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）离散平稳无记忆信源（</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次扩展信源的熵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5</a:t>
            </a:r>
            <a:r>
              <a:rPr lang="zh-CN" altLang="zh-CN" kern="100" dirty="0">
                <a:solidFill>
                  <a:srgbClr val="FF0000"/>
                </a:solidFill>
                <a:latin typeface="Times New Roman" panose="02020603050405020304" pitchFamily="18" charset="0"/>
                <a:cs typeface="Times New Roman" panose="02020603050405020304" pitchFamily="18" charset="0"/>
              </a:rPr>
              <a:t>）马尔科夫信源及其模型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）马尔科夫信源的极限熵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7</a:t>
            </a:r>
            <a:r>
              <a:rPr lang="zh-CN" altLang="zh-CN" kern="100" dirty="0">
                <a:solidFill>
                  <a:srgbClr val="FF0000"/>
                </a:solidFill>
                <a:latin typeface="Times New Roman" panose="02020603050405020304" pitchFamily="18" charset="0"/>
                <a:cs typeface="Times New Roman" panose="02020603050405020304" pitchFamily="18" charset="0"/>
              </a:rPr>
              <a:t>）单符号连续信源及其模型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8</a:t>
            </a:r>
            <a:r>
              <a:rPr lang="zh-CN" altLang="zh-CN" kern="100" dirty="0">
                <a:solidFill>
                  <a:srgbClr val="FF0000"/>
                </a:solidFill>
                <a:latin typeface="Times New Roman" panose="02020603050405020304" pitchFamily="18" charset="0"/>
                <a:cs typeface="Times New Roman" panose="02020603050405020304" pitchFamily="18" charset="0"/>
              </a:rPr>
              <a:t>）单符号连续信源的熵与差熵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9</a:t>
            </a:r>
            <a:r>
              <a:rPr lang="zh-CN" altLang="zh-CN" kern="100" dirty="0">
                <a:solidFill>
                  <a:srgbClr val="FF0000"/>
                </a:solidFill>
                <a:latin typeface="Times New Roman" panose="02020603050405020304" pitchFamily="18" charset="0"/>
                <a:cs typeface="Times New Roman" panose="02020603050405020304" pitchFamily="18" charset="0"/>
              </a:rPr>
              <a:t>）均匀信源、高斯信源的差</a:t>
            </a:r>
            <a:r>
              <a:rPr lang="zh-CN" altLang="zh-CN" kern="100" dirty="0" smtClean="0">
                <a:solidFill>
                  <a:srgbClr val="FF0000"/>
                </a:solidFill>
                <a:latin typeface="Times New Roman" panose="02020603050405020304" pitchFamily="18" charset="0"/>
                <a:cs typeface="Times New Roman" panose="02020603050405020304" pitchFamily="18" charset="0"/>
              </a:rPr>
              <a:t>熵</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多符号离散信源及其模型</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）多符号离散信源的熵</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3</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熵的链式法则</a:t>
            </a:r>
            <a:endParaRPr lang="zh-CN" altLang="zh-CN" kern="100" dirty="0">
              <a:latin typeface="等线" panose="02010600030101010101" pitchFamily="2" charset="-122"/>
              <a:cs typeface="Times New Roman" panose="02020603050405020304" pitchFamily="18" charset="0"/>
            </a:endParaRPr>
          </a:p>
        </p:txBody>
      </p:sp>
      <p:sp>
        <p:nvSpPr>
          <p:cNvPr id="4" name="矩形 3"/>
          <p:cNvSpPr/>
          <p:nvPr/>
        </p:nvSpPr>
        <p:spPr>
          <a:xfrm>
            <a:off x="6096000" y="378963"/>
            <a:ext cx="6011635" cy="646331"/>
          </a:xfrm>
          <a:prstGeom prst="rect">
            <a:avLst/>
          </a:prstGeom>
        </p:spPr>
        <p:txBody>
          <a:bodyPr wrap="square">
            <a:spAutoFit/>
          </a:bodyPr>
          <a:lstStyle/>
          <a:p>
            <a:pPr marL="285750" indent="-285750">
              <a:buFont typeface="Wingdings" panose="05000000000000000000" pitchFamily="2" charset="2"/>
              <a:buChar char="Ø"/>
            </a:pPr>
            <a:endParaRPr kumimoji="1" lang="en-US" altLang="zh-CN" dirty="0">
              <a:solidFill>
                <a:srgbClr val="FF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zh-CN" altLang="en-US" dirty="0"/>
          </a:p>
        </p:txBody>
      </p:sp>
      <mc:AlternateContent xmlns:mc="http://schemas.openxmlformats.org/markup-compatibility/2006" xmlns:a14="http://schemas.microsoft.com/office/drawing/2010/main">
        <mc:Choice Requires="a14">
          <p:sp>
            <p:nvSpPr>
              <p:cNvPr id="2" name="矩形 1"/>
              <p:cNvSpPr/>
              <p:nvPr/>
            </p:nvSpPr>
            <p:spPr>
              <a:xfrm>
                <a:off x="6011635" y="563629"/>
                <a:ext cx="6096000" cy="6186309"/>
              </a:xfrm>
              <a:prstGeom prst="rect">
                <a:avLst/>
              </a:prstGeom>
            </p:spPr>
            <p:txBody>
              <a:bodyPr>
                <a:spAutoFit/>
              </a:bodyPr>
              <a:lstStyle/>
              <a:p>
                <a:pPr marL="285750" indent="-285750">
                  <a:buFont typeface="Wingdings" panose="05000000000000000000" pitchFamily="2" charset="2"/>
                  <a:buChar char="Ø"/>
                </a:pPr>
                <a:r>
                  <a:rPr lang="zh-CN" altLang="en-US" dirty="0" smtClean="0">
                    <a:latin typeface="楷体" panose="02010609060101010101" pitchFamily="49" charset="-122"/>
                    <a:ea typeface="楷体" panose="02010609060101010101" pitchFamily="49" charset="-122"/>
                  </a:rPr>
                  <a:t>考虑任意</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个相邻时刻的输出随机变量</a:t>
                </a:r>
                <a14:m>
                  <m:oMath xmlns:m="http://schemas.openxmlformats.org/officeDocument/2006/math">
                    <m:sSup>
                      <m:sSupPr>
                        <m:ctrlPr>
                          <a:rPr lang="en-US" altLang="zh-CN" i="1">
                            <a:latin typeface="Cambria Math" panose="02040503050406030204" pitchFamily="18" charset="0"/>
                            <a:ea typeface="楷体" panose="02010609060101010101" pitchFamily="49" charset="-122"/>
                          </a:rPr>
                        </m:ctrlPr>
                      </m:sSupPr>
                      <m:e>
                        <m:r>
                          <a:rPr lang="en-US" altLang="zh-CN" i="1">
                            <a:latin typeface="Cambria Math" panose="02040503050406030204" pitchFamily="18" charset="0"/>
                            <a:ea typeface="楷体" panose="02010609060101010101" pitchFamily="49" charset="-122"/>
                          </a:rPr>
                          <m:t>𝑋</m:t>
                        </m:r>
                      </m:e>
                      <m:sup>
                        <m:r>
                          <a:rPr lang="en-US" altLang="zh-CN" i="1">
                            <a:latin typeface="Cambria Math" panose="02040503050406030204" pitchFamily="18" charset="0"/>
                            <a:ea typeface="楷体" panose="02010609060101010101" pitchFamily="49" charset="-122"/>
                          </a:rPr>
                          <m:t>𝑁</m:t>
                        </m:r>
                      </m:sup>
                    </m:sSup>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𝑋</m:t>
                        </m:r>
                      </m:e>
                      <m:sub>
                        <m:r>
                          <a:rPr lang="en-US" altLang="zh-CN" i="1">
                            <a:latin typeface="Cambria Math" panose="02040503050406030204" pitchFamily="18" charset="0"/>
                            <a:ea typeface="楷体" panose="02010609060101010101" pitchFamily="49" charset="-122"/>
                          </a:rPr>
                          <m:t>1</m:t>
                        </m:r>
                      </m:sub>
                    </m:sSub>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𝑋</m:t>
                        </m:r>
                      </m:e>
                      <m:sub>
                        <m:r>
                          <a:rPr lang="en-US" altLang="zh-CN" i="1">
                            <a:latin typeface="Cambria Math" panose="02040503050406030204" pitchFamily="18" charset="0"/>
                            <a:ea typeface="楷体" panose="02010609060101010101" pitchFamily="49" charset="-122"/>
                          </a:rPr>
                          <m:t>2</m:t>
                        </m:r>
                      </m:sub>
                    </m:sSub>
                    <m:r>
                      <a:rPr lang="en-US" altLang="zh-CN" i="1">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𝑋</m:t>
                        </m:r>
                      </m:e>
                      <m:sub>
                        <m:r>
                          <a:rPr lang="en-US" altLang="zh-CN" i="1">
                            <a:latin typeface="Cambria Math" panose="02040503050406030204" pitchFamily="18" charset="0"/>
                            <a:ea typeface="楷体" panose="02010609060101010101" pitchFamily="49" charset="-122"/>
                          </a:rPr>
                          <m:t>𝑁</m:t>
                        </m:r>
                      </m:sub>
                    </m:sSub>
                  </m:oMath>
                </a14:m>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把</a:t>
                </a:r>
                <a:r>
                  <a:rPr lang="en-US" altLang="zh-CN" dirty="0">
                    <a:latin typeface="楷体" panose="02010609060101010101" pitchFamily="49" charset="-122"/>
                    <a:ea typeface="楷体" panose="02010609060101010101" pitchFamily="49" charset="-122"/>
                  </a:rPr>
                  <a:t>X</a:t>
                </a:r>
                <a:r>
                  <a:rPr lang="en-US" altLang="zh-CN" baseline="-25000"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看成是一个新的离散无记忆信源的输出（输出符号序列），成为</a:t>
                </a:r>
                <a:r>
                  <a:rPr lang="en-US" altLang="zh-CN" dirty="0">
                    <a:solidFill>
                      <a:srgbClr val="C00000"/>
                    </a:solidFill>
                    <a:latin typeface="楷体" panose="02010609060101010101" pitchFamily="49" charset="-122"/>
                    <a:ea typeface="楷体" panose="02010609060101010101" pitchFamily="49" charset="-122"/>
                  </a:rPr>
                  <a:t>X</a:t>
                </a:r>
                <a:r>
                  <a:rPr lang="zh-CN" altLang="en-US" dirty="0">
                    <a:solidFill>
                      <a:srgbClr val="C00000"/>
                    </a:solidFill>
                    <a:latin typeface="楷体" panose="02010609060101010101" pitchFamily="49" charset="-122"/>
                    <a:ea typeface="楷体" panose="02010609060101010101" pitchFamily="49" charset="-122"/>
                  </a:rPr>
                  <a:t>的</a:t>
                </a:r>
                <a:r>
                  <a:rPr lang="en-US" altLang="zh-CN" dirty="0">
                    <a:solidFill>
                      <a:srgbClr val="C00000"/>
                    </a:solidFill>
                    <a:latin typeface="楷体" panose="02010609060101010101" pitchFamily="49" charset="-122"/>
                    <a:ea typeface="楷体" panose="02010609060101010101" pitchFamily="49" charset="-122"/>
                  </a:rPr>
                  <a:t>N</a:t>
                </a:r>
                <a:r>
                  <a:rPr lang="zh-CN" altLang="en-US" dirty="0">
                    <a:solidFill>
                      <a:srgbClr val="C00000"/>
                    </a:solidFill>
                    <a:latin typeface="楷体" panose="02010609060101010101" pitchFamily="49" charset="-122"/>
                    <a:ea typeface="楷体" panose="02010609060101010101" pitchFamily="49" charset="-122"/>
                  </a:rPr>
                  <a:t>次扩展信源</a:t>
                </a:r>
                <a:r>
                  <a:rPr lang="en-US" altLang="zh-CN" dirty="0">
                    <a:solidFill>
                      <a:srgbClr val="C00000"/>
                    </a:solidFill>
                    <a:latin typeface="楷体" panose="02010609060101010101" pitchFamily="49" charset="-122"/>
                    <a:ea typeface="楷体" panose="02010609060101010101" pitchFamily="49" charset="-122"/>
                  </a:rPr>
                  <a:t>——</a:t>
                </a:r>
                <a:r>
                  <a:rPr lang="en-US" altLang="zh-CN" dirty="0" smtClean="0">
                    <a:solidFill>
                      <a:srgbClr val="C00000"/>
                    </a:solidFill>
                    <a:latin typeface="楷体" panose="02010609060101010101" pitchFamily="49" charset="-122"/>
                    <a:ea typeface="楷体" panose="02010609060101010101" pitchFamily="49" charset="-122"/>
                  </a:rPr>
                  <a:t>X</a:t>
                </a:r>
                <a:r>
                  <a:rPr lang="en-US" altLang="zh-CN" baseline="30000" dirty="0" smtClean="0">
                    <a:solidFill>
                      <a:srgbClr val="C00000"/>
                    </a:solidFill>
                    <a:latin typeface="楷体" panose="02010609060101010101" pitchFamily="49" charset="-122"/>
                    <a:ea typeface="楷体" panose="02010609060101010101" pitchFamily="49" charset="-122"/>
                  </a:rPr>
                  <a:t>N</a:t>
                </a:r>
              </a:p>
              <a:p>
                <a:pPr marL="285750" indent="-285750">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无记忆时</a:t>
                </a:r>
                <a:r>
                  <a:rPr lang="zh-CN" altLang="en-US" dirty="0" smtClean="0">
                    <a:latin typeface="楷体" panose="02010609060101010101" pitchFamily="49" charset="-122"/>
                    <a:ea typeface="楷体" panose="02010609060101010101" pitchFamily="49" charset="-122"/>
                  </a:rPr>
                  <a:t>，</a:t>
                </a:r>
                <a:r>
                  <a:rPr lang="en-US" altLang="zh-CN" dirty="0" smtClean="0">
                    <a:latin typeface="楷体" panose="02010609060101010101" pitchFamily="49" charset="-122"/>
                    <a:ea typeface="楷体" panose="02010609060101010101" pitchFamily="49" charset="-122"/>
                  </a:rPr>
                  <a:t>X</a:t>
                </a:r>
                <a:r>
                  <a:rPr lang="zh-CN" altLang="en-US" dirty="0">
                    <a:latin typeface="楷体" panose="02010609060101010101" pitchFamily="49" charset="-122"/>
                    <a:ea typeface="楷体" panose="02010609060101010101" pitchFamily="49" charset="-122"/>
                  </a:rPr>
                  <a:t>和</a:t>
                </a:r>
                <a:r>
                  <a:rPr lang="en-US" altLang="zh-CN" dirty="0">
                    <a:latin typeface="楷体" panose="02010609060101010101" pitchFamily="49" charset="-122"/>
                    <a:ea typeface="楷体" panose="02010609060101010101" pitchFamily="49" charset="-122"/>
                  </a:rPr>
                  <a:t>X</a:t>
                </a:r>
                <a:r>
                  <a:rPr lang="en-US" altLang="zh-CN" baseline="30000"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是两种不同的模型，</a:t>
                </a:r>
                <a:r>
                  <a:rPr lang="zh-CN" altLang="en-US" dirty="0">
                    <a:solidFill>
                      <a:srgbClr val="C00000"/>
                    </a:solidFill>
                    <a:latin typeface="楷体" panose="02010609060101010101" pitchFamily="49" charset="-122"/>
                    <a:ea typeface="楷体" panose="02010609060101010101" pitchFamily="49" charset="-122"/>
                  </a:rPr>
                  <a:t>描述的却是同一</a:t>
                </a:r>
                <a:r>
                  <a:rPr lang="zh-CN" altLang="en-US" dirty="0" smtClean="0">
                    <a:solidFill>
                      <a:srgbClr val="C00000"/>
                    </a:solidFill>
                    <a:latin typeface="楷体" panose="02010609060101010101" pitchFamily="49" charset="-122"/>
                    <a:ea typeface="楷体" panose="02010609060101010101" pitchFamily="49" charset="-122"/>
                  </a:rPr>
                  <a:t>信源。</a:t>
                </a:r>
                <a:r>
                  <a:rPr lang="en-US" altLang="zh-CN" dirty="0">
                    <a:solidFill>
                      <a:srgbClr val="C00000"/>
                    </a:solidFill>
                    <a:latin typeface="楷体" panose="02010609060101010101" pitchFamily="49" charset="-122"/>
                    <a:ea typeface="楷体" panose="02010609060101010101" pitchFamily="49" charset="-122"/>
                  </a:rPr>
                  <a:t>N</a:t>
                </a:r>
                <a:r>
                  <a:rPr lang="zh-CN" altLang="en-US" dirty="0">
                    <a:solidFill>
                      <a:srgbClr val="C00000"/>
                    </a:solidFill>
                    <a:latin typeface="楷体" panose="02010609060101010101" pitchFamily="49" charset="-122"/>
                    <a:ea typeface="楷体" panose="02010609060101010101" pitchFamily="49" charset="-122"/>
                  </a:rPr>
                  <a:t>次扩展信源熵：</a:t>
                </a:r>
                <a14:m>
                  <m:oMath xmlns:m="http://schemas.openxmlformats.org/officeDocument/2006/math">
                    <m:r>
                      <a:rPr lang="en-US" altLang="zh-CN" i="1">
                        <a:solidFill>
                          <a:srgbClr val="C00000"/>
                        </a:solidFill>
                        <a:latin typeface="Cambria Math" panose="02040503050406030204" pitchFamily="18" charset="0"/>
                        <a:ea typeface="楷体" panose="02010609060101010101" pitchFamily="49" charset="-122"/>
                      </a:rPr>
                      <m:t>𝐻</m:t>
                    </m:r>
                    <m:d>
                      <m:dPr>
                        <m:ctrlPr>
                          <a:rPr lang="en-US" altLang="zh-CN" i="1">
                            <a:solidFill>
                              <a:srgbClr val="C00000"/>
                            </a:solidFill>
                            <a:latin typeface="Cambria Math" panose="02040503050406030204" pitchFamily="18" charset="0"/>
                            <a:ea typeface="楷体" panose="02010609060101010101" pitchFamily="49" charset="-122"/>
                          </a:rPr>
                        </m:ctrlPr>
                      </m:dPr>
                      <m:e>
                        <m:sSup>
                          <m:sSupPr>
                            <m:ctrlPr>
                              <a:rPr lang="en-US" altLang="zh-CN" i="1">
                                <a:solidFill>
                                  <a:srgbClr val="C00000"/>
                                </a:solidFill>
                                <a:latin typeface="Cambria Math" panose="02040503050406030204" pitchFamily="18" charset="0"/>
                                <a:ea typeface="楷体" panose="02010609060101010101" pitchFamily="49" charset="-122"/>
                              </a:rPr>
                            </m:ctrlPr>
                          </m:sSupPr>
                          <m:e>
                            <m:r>
                              <a:rPr lang="en-US" altLang="zh-CN" i="1">
                                <a:solidFill>
                                  <a:srgbClr val="C00000"/>
                                </a:solidFill>
                                <a:latin typeface="Cambria Math" panose="02040503050406030204" pitchFamily="18" charset="0"/>
                                <a:ea typeface="楷体" panose="02010609060101010101" pitchFamily="49" charset="-122"/>
                              </a:rPr>
                              <m:t>𝑋</m:t>
                            </m:r>
                          </m:e>
                          <m:sup>
                            <m:r>
                              <a:rPr lang="en-US" altLang="zh-CN" i="1">
                                <a:solidFill>
                                  <a:srgbClr val="C00000"/>
                                </a:solidFill>
                                <a:latin typeface="Cambria Math" panose="02040503050406030204" pitchFamily="18" charset="0"/>
                                <a:ea typeface="楷体" panose="02010609060101010101" pitchFamily="49" charset="-122"/>
                              </a:rPr>
                              <m:t>𝑁</m:t>
                            </m:r>
                          </m:sup>
                        </m:sSup>
                      </m:e>
                    </m:d>
                    <m:r>
                      <a:rPr lang="en-US" altLang="zh-CN" i="1">
                        <a:solidFill>
                          <a:srgbClr val="C00000"/>
                        </a:solidFill>
                        <a:latin typeface="Cambria Math" panose="02040503050406030204" pitchFamily="18" charset="0"/>
                        <a:ea typeface="楷体" panose="02010609060101010101" pitchFamily="49" charset="-122"/>
                      </a:rPr>
                      <m:t>=</m:t>
                    </m:r>
                    <m:r>
                      <a:rPr lang="en-US" altLang="zh-CN" i="1">
                        <a:solidFill>
                          <a:srgbClr val="C00000"/>
                        </a:solidFill>
                        <a:latin typeface="Cambria Math" panose="02040503050406030204" pitchFamily="18" charset="0"/>
                        <a:ea typeface="楷体" panose="02010609060101010101" pitchFamily="49" charset="-122"/>
                      </a:rPr>
                      <m:t>𝑁𝐻</m:t>
                    </m:r>
                    <m:r>
                      <a:rPr lang="en-US" altLang="zh-CN" i="1">
                        <a:solidFill>
                          <a:srgbClr val="C00000"/>
                        </a:solidFill>
                        <a:latin typeface="Cambria Math" panose="02040503050406030204" pitchFamily="18" charset="0"/>
                        <a:ea typeface="楷体" panose="02010609060101010101" pitchFamily="49" charset="-122"/>
                      </a:rPr>
                      <m:t>(</m:t>
                    </m:r>
                    <m:r>
                      <a:rPr lang="en-US" altLang="zh-CN" i="1">
                        <a:solidFill>
                          <a:srgbClr val="C00000"/>
                        </a:solidFill>
                        <a:latin typeface="Cambria Math" panose="02040503050406030204" pitchFamily="18" charset="0"/>
                        <a:ea typeface="楷体" panose="02010609060101010101" pitchFamily="49" charset="-122"/>
                      </a:rPr>
                      <m:t>𝑋</m:t>
                    </m:r>
                    <m:r>
                      <a:rPr lang="en-US" altLang="zh-CN" i="1">
                        <a:solidFill>
                          <a:srgbClr val="C00000"/>
                        </a:solidFill>
                        <a:latin typeface="Cambria Math" panose="02040503050406030204" pitchFamily="18" charset="0"/>
                        <a:ea typeface="楷体" panose="02010609060101010101" pitchFamily="49" charset="-122"/>
                      </a:rPr>
                      <m:t>)</m:t>
                    </m:r>
                  </m:oMath>
                </a14:m>
                <a:endParaRPr lang="en-US" altLang="zh-CN" dirty="0">
                  <a:solidFill>
                    <a:srgbClr val="C0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r>
                  <a:rPr lang="zh-CN" altLang="zh-CN" dirty="0">
                    <a:latin typeface="楷体" panose="02010609060101010101" pitchFamily="49" charset="-122"/>
                    <a:ea typeface="楷体" panose="02010609060101010101" pitchFamily="49" charset="-122"/>
                  </a:rPr>
                  <a:t>马尔科夫</a:t>
                </a:r>
                <a:r>
                  <a:rPr lang="zh-CN" altLang="zh-CN" dirty="0" smtClean="0">
                    <a:latin typeface="楷体" panose="02010609060101010101" pitchFamily="49" charset="-122"/>
                    <a:ea typeface="楷体" panose="02010609060101010101" pitchFamily="49" charset="-122"/>
                  </a:rPr>
                  <a:t>信源</a:t>
                </a:r>
                <a:r>
                  <a:rPr lang="zh-CN" altLang="en-US" dirty="0" smtClean="0">
                    <a:latin typeface="楷体" panose="02010609060101010101" pitchFamily="49" charset="-122"/>
                    <a:ea typeface="楷体" panose="02010609060101010101" pitchFamily="49" charset="-122"/>
                  </a:rPr>
                  <a:t>：</a:t>
                </a:r>
                <a:r>
                  <a:rPr lang="zh-CN" altLang="en-US" dirty="0" smtClean="0">
                    <a:solidFill>
                      <a:srgbClr val="C00000"/>
                    </a:solidFill>
                    <a:latin typeface="楷体" panose="02010609060101010101" pitchFamily="49" charset="-122"/>
                    <a:ea typeface="楷体" panose="02010609060101010101" pitchFamily="49" charset="-122"/>
                  </a:rPr>
                  <a:t>任何</a:t>
                </a:r>
                <a:r>
                  <a:rPr lang="zh-CN" altLang="en-US" dirty="0">
                    <a:solidFill>
                      <a:srgbClr val="C00000"/>
                    </a:solidFill>
                    <a:latin typeface="楷体" panose="02010609060101010101" pitchFamily="49" charset="-122"/>
                    <a:ea typeface="楷体" panose="02010609060101010101" pitchFamily="49" charset="-122"/>
                  </a:rPr>
                  <a:t>时刻信源符号发生的概率只与前面已经发出的若干个符号有关，而与更前面发出的符号无关</a:t>
                </a:r>
                <a:r>
                  <a:rPr lang="zh-CN" altLang="en-US" dirty="0">
                    <a:latin typeface="楷体" panose="02010609060101010101" pitchFamily="49" charset="-122"/>
                    <a:ea typeface="楷体" panose="02010609060101010101" pitchFamily="49" charset="-122"/>
                  </a:rPr>
                  <a:t>。</a:t>
                </a:r>
                <a:r>
                  <a:rPr lang="zh-CN" altLang="en-US" b="1" u="sng" dirty="0">
                    <a:latin typeface="楷体" panose="02010609060101010101" pitchFamily="49" charset="-122"/>
                    <a:ea typeface="楷体" panose="02010609060101010101" pitchFamily="49" charset="-122"/>
                  </a:rPr>
                  <a:t>这类信源在输出符号时不仅与符号集有关，还与信源的状态有关</a:t>
                </a:r>
                <a:r>
                  <a:rPr lang="zh-CN" altLang="en-US" b="1" u="sng" dirty="0" smtClean="0">
                    <a:latin typeface="楷体" panose="02010609060101010101" pitchFamily="49" charset="-122"/>
                    <a:ea typeface="楷体" panose="02010609060101010101" pitchFamily="49" charset="-122"/>
                  </a:rPr>
                  <a:t>。</a:t>
                </a:r>
                <a:endParaRPr lang="en-US" altLang="zh-CN" b="1" u="sng" dirty="0" smtClean="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smtClean="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smtClean="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b="1" u="sng" dirty="0" smtClean="0">
                  <a:latin typeface="楷体" panose="02010609060101010101" pitchFamily="49" charset="-122"/>
                  <a:ea typeface="楷体" panose="02010609060101010101" pitchFamily="49" charset="-122"/>
                </a:endParaRPr>
              </a:p>
              <a:p>
                <a:endParaRPr lang="en-US" altLang="zh-CN" b="1" u="sng"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dirty="0">
                    <a:latin typeface="楷体" panose="02010609060101010101" pitchFamily="49" charset="-122"/>
                    <a:ea typeface="楷体" panose="02010609060101010101" pitchFamily="49" charset="-122"/>
                  </a:rPr>
                  <a:t>马尔科夫信源的极限</a:t>
                </a:r>
                <a:r>
                  <a:rPr lang="zh-CN" altLang="zh-CN" dirty="0" smtClean="0">
                    <a:latin typeface="楷体" panose="02010609060101010101" pitchFamily="49" charset="-122"/>
                    <a:ea typeface="楷体" panose="02010609060101010101" pitchFamily="49" charset="-122"/>
                  </a:rPr>
                  <a:t>熵</a:t>
                </a:r>
                <a:r>
                  <a:rPr lang="zh-CN" altLang="en-US" dirty="0" smtClean="0">
                    <a:latin typeface="楷体" panose="02010609060101010101" pitchFamily="49" charset="-122"/>
                    <a:ea typeface="楷体" panose="02010609060101010101" pitchFamily="49" charset="-122"/>
                  </a:rPr>
                  <a:t>：</a:t>
                </a:r>
                <a:r>
                  <a:rPr lang="en-US" altLang="zh-CN" dirty="0">
                    <a:ea typeface="楷体" panose="02010609060101010101" pitchFamily="49" charset="-122"/>
                  </a:rPr>
                  <a:t> </a:t>
                </a:r>
                <a14:m>
                  <m:oMath xmlns:m="http://schemas.openxmlformats.org/officeDocument/2006/math">
                    <m:r>
                      <a:rPr lang="en-US" altLang="zh-CN" i="1">
                        <a:latin typeface="Cambria Math" panose="02040503050406030204" pitchFamily="18" charset="0"/>
                        <a:ea typeface="楷体" panose="02010609060101010101" pitchFamily="49" charset="-122"/>
                      </a:rPr>
                      <m:t>𝑁</m:t>
                    </m:r>
                    <m:r>
                      <a:rPr lang="en-US" altLang="zh-CN" i="1">
                        <a:latin typeface="Cambria Math" panose="02040503050406030204" pitchFamily="18" charset="0"/>
                        <a:ea typeface="Cambria Math" panose="02040503050406030204" pitchFamily="18" charset="0"/>
                      </a:rPr>
                      <m:t>→∞</m:t>
                    </m:r>
                  </m:oMath>
                </a14:m>
                <a:r>
                  <a:rPr lang="zh-CN" altLang="en-US" dirty="0">
                    <a:latin typeface="楷体" panose="02010609060101010101" pitchFamily="49" charset="-122"/>
                    <a:ea typeface="楷体" panose="02010609060101010101" pitchFamily="49" charset="-122"/>
                  </a:rPr>
                  <a:t>时，</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楷体" panose="02010609060101010101" pitchFamily="49" charset="-122"/>
                    <a:ea typeface="楷体" panose="02010609060101010101" pitchFamily="49" charset="-122"/>
                  </a:rPr>
                  <a:t>维离散平稳信源</a:t>
                </a:r>
                <a:r>
                  <a:rPr lang="zh-CN" altLang="en-US" dirty="0">
                    <a:solidFill>
                      <a:srgbClr val="FF0000"/>
                    </a:solidFill>
                    <a:latin typeface="楷体" panose="02010609060101010101" pitchFamily="49" charset="-122"/>
                    <a:ea typeface="楷体" panose="02010609060101010101" pitchFamily="49" charset="-122"/>
                  </a:rPr>
                  <a:t>平均符号熵的极限存在</a:t>
                </a:r>
                <a:r>
                  <a:rPr lang="zh-CN" altLang="en-US" dirty="0">
                    <a:latin typeface="楷体" panose="02010609060101010101" pitchFamily="49" charset="-122"/>
                    <a:ea typeface="楷体" panose="02010609060101010101" pitchFamily="49" charset="-122"/>
                  </a:rPr>
                  <a:t>，且</a:t>
                </a:r>
                <a:r>
                  <a:rPr lang="zh-CN" altLang="en-US" dirty="0">
                    <a:solidFill>
                      <a:srgbClr val="FF0000"/>
                    </a:solidFill>
                    <a:latin typeface="楷体" panose="02010609060101010101" pitchFamily="49" charset="-122"/>
                    <a:ea typeface="楷体" panose="02010609060101010101" pitchFamily="49" charset="-122"/>
                  </a:rPr>
                  <a:t>等于</a:t>
                </a:r>
                <a:r>
                  <a:rPr lang="en-US" altLang="zh-CN" i="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dirty="0">
                    <a:solidFill>
                      <a:srgbClr val="FF0000"/>
                    </a:solidFill>
                    <a:latin typeface="楷体" panose="02010609060101010101" pitchFamily="49" charset="-122"/>
                    <a:ea typeface="楷体" panose="02010609060101010101" pitchFamily="49" charset="-122"/>
                  </a:rPr>
                  <a:t>阶条件熵的极限值</a:t>
                </a:r>
                <a:r>
                  <a:rPr lang="zh-CN" altLang="en-US" dirty="0">
                    <a:latin typeface="楷体" panose="02010609060101010101" pitchFamily="49" charset="-122"/>
                    <a:ea typeface="楷体" panose="02010609060101010101" pitchFamily="49" charset="-122"/>
                  </a:rPr>
                  <a:t>，称为</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楷体" panose="02010609060101010101" pitchFamily="49" charset="-122"/>
                    <a:ea typeface="楷体" panose="02010609060101010101" pitchFamily="49" charset="-122"/>
                  </a:rPr>
                  <a:t>维离散平稳信源的极限熵，用</a:t>
                </a:r>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𝐻</m:t>
                        </m:r>
                      </m:e>
                      <m:sub>
                        <m:r>
                          <a:rPr lang="en-US" altLang="zh-CN" i="1">
                            <a:latin typeface="Cambria Math" panose="02040503050406030204" pitchFamily="18" charset="0"/>
                            <a:ea typeface="Cambria Math" panose="02040503050406030204" pitchFamily="18" charset="0"/>
                          </a:rPr>
                          <m:t>∞</m:t>
                        </m:r>
                      </m:sub>
                    </m:sSub>
                    <m:r>
                      <a:rPr lang="zh-CN" altLang="en-US" i="1">
                        <a:latin typeface="Cambria Math" panose="02040503050406030204" pitchFamily="18" charset="0"/>
                        <a:ea typeface="楷体" panose="02010609060101010101" pitchFamily="49" charset="-122"/>
                      </a:rPr>
                      <m:t>表示</m:t>
                    </m:r>
                  </m:oMath>
                </a14:m>
                <a:r>
                  <a:rPr lang="zh-CN" altLang="en-US" dirty="0" smtClean="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m</a:t>
                </a:r>
                <a:r>
                  <a:rPr lang="zh-CN" altLang="en-US" dirty="0" smtClean="0">
                    <a:latin typeface="楷体" panose="02010609060101010101" pitchFamily="49" charset="-122"/>
                    <a:ea typeface="楷体" panose="02010609060101010101" pitchFamily="49" charset="-122"/>
                  </a:rPr>
                  <a:t>阶马尔可夫信源的</a:t>
                </a:r>
                <a:r>
                  <a:rPr lang="zh-CN" altLang="zh-CN" dirty="0">
                    <a:latin typeface="楷体" panose="02010609060101010101" pitchFamily="49" charset="-122"/>
                    <a:ea typeface="楷体" panose="02010609060101010101" pitchFamily="49" charset="-122"/>
                  </a:rPr>
                  <a:t>极限</a:t>
                </a:r>
                <a:r>
                  <a:rPr lang="zh-CN" altLang="zh-CN" dirty="0" smtClean="0">
                    <a:latin typeface="楷体" panose="02010609060101010101" pitchFamily="49" charset="-122"/>
                    <a:ea typeface="楷体" panose="02010609060101010101" pitchFamily="49" charset="-122"/>
                  </a:rPr>
                  <a:t>熵</a:t>
                </a:r>
                <a:r>
                  <a:rPr lang="zh-CN" altLang="en-US" dirty="0" smtClean="0">
                    <a:latin typeface="楷体" panose="02010609060101010101" pitchFamily="49" charset="-122"/>
                    <a:ea typeface="楷体" panose="02010609060101010101" pitchFamily="49" charset="-122"/>
                  </a:rPr>
                  <a:t>等于其</a:t>
                </a:r>
                <a:r>
                  <a:rPr lang="en-US" altLang="zh-CN" dirty="0" smtClean="0">
                    <a:latin typeface="楷体" panose="02010609060101010101" pitchFamily="49" charset="-122"/>
                    <a:ea typeface="楷体" panose="02010609060101010101" pitchFamily="49" charset="-122"/>
                  </a:rPr>
                  <a:t>m</a:t>
                </a:r>
                <a:r>
                  <a:rPr lang="zh-CN" altLang="en-US" dirty="0" smtClean="0">
                    <a:latin typeface="楷体" panose="02010609060101010101" pitchFamily="49" charset="-122"/>
                    <a:ea typeface="楷体" panose="02010609060101010101" pitchFamily="49" charset="-122"/>
                  </a:rPr>
                  <a:t>阶条件熵</a:t>
                </a:r>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𝐻</m:t>
                        </m:r>
                      </m:e>
                      <m:sub>
                        <m:r>
                          <m:rPr>
                            <m:sty m:val="p"/>
                          </m:rPr>
                          <a:rPr lang="en-US" altLang="zh-CN" i="1">
                            <a:latin typeface="Cambria Math" panose="02040503050406030204" pitchFamily="18" charset="0"/>
                            <a:ea typeface="Cambria Math" panose="02040503050406030204" pitchFamily="18" charset="0"/>
                          </a:rPr>
                          <m:t>m</m:t>
                        </m:r>
                        <m:r>
                          <a:rPr lang="en-US" altLang="zh-CN" i="1">
                            <a:latin typeface="Cambria Math" panose="02040503050406030204" pitchFamily="18" charset="0"/>
                            <a:ea typeface="Cambria Math" panose="02040503050406030204" pitchFamily="18" charset="0"/>
                          </a:rPr>
                          <m:t>+1</m:t>
                        </m:r>
                      </m:sub>
                    </m:sSub>
                  </m:oMath>
                </a14:m>
                <a:r>
                  <a:rPr lang="zh-CN" altLang="en-US" dirty="0" smtClean="0">
                    <a:latin typeface="楷体" panose="02010609060101010101" pitchFamily="49" charset="-122"/>
                    <a:ea typeface="楷体" panose="02010609060101010101" pitchFamily="49" charset="-122"/>
                  </a:rPr>
                  <a:t>。</a:t>
                </a:r>
                <a:endParaRPr lang="zh-CN" altLang="zh-CN" dirty="0">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zh-CN" altLang="en-US" dirty="0">
                  <a:latin typeface="楷体" panose="02010609060101010101" pitchFamily="49" charset="-122"/>
                  <a:ea typeface="楷体" panose="02010609060101010101" pitchFamily="49"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6011635" y="563629"/>
                <a:ext cx="6096000" cy="6186309"/>
              </a:xfrm>
              <a:prstGeom prst="rect">
                <a:avLst/>
              </a:prstGeom>
              <a:blipFill>
                <a:blip r:embed="rId2"/>
                <a:stretch>
                  <a:fillRect l="-600" t="-690" r="-900"/>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9A476E06-C147-4C2D-A896-D97B5F2D564C}"/>
              </a:ext>
            </a:extLst>
          </p:cNvPr>
          <p:cNvPicPr>
            <a:picLocks noChangeAspect="1"/>
          </p:cNvPicPr>
          <p:nvPr/>
        </p:nvPicPr>
        <p:blipFill>
          <a:blip r:embed="rId3"/>
          <a:stretch>
            <a:fillRect/>
          </a:stretch>
        </p:blipFill>
        <p:spPr>
          <a:xfrm>
            <a:off x="8154041" y="2886468"/>
            <a:ext cx="3599841" cy="2428808"/>
          </a:xfrm>
          <a:prstGeom prst="rect">
            <a:avLst/>
          </a:prstGeom>
        </p:spPr>
      </p:pic>
    </p:spTree>
    <p:extLst>
      <p:ext uri="{BB962C8B-B14F-4D97-AF65-F5344CB8AC3E}">
        <p14:creationId xmlns:p14="http://schemas.microsoft.com/office/powerpoint/2010/main" val="32613612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05193"/>
            <a:ext cx="6096000" cy="4801314"/>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二、信源及其</a:t>
            </a:r>
            <a:r>
              <a:rPr lang="zh-CN" altLang="zh-CN" kern="100" dirty="0" smtClean="0">
                <a:latin typeface="Times New Roman" panose="02020603050405020304" pitchFamily="18" charset="0"/>
                <a:cs typeface="Times New Roman" panose="02020603050405020304" pitchFamily="18" charset="0"/>
              </a:rPr>
              <a:t>熵</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单符号离散信源及其模型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）单符号离散信源的自信息、熵、平均互信息及其性质</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）离散平稳无记忆信源（</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n</a:t>
            </a:r>
            <a:r>
              <a:rPr lang="zh-CN" altLang="zh-CN" kern="100" dirty="0">
                <a:solidFill>
                  <a:srgbClr val="FF0000"/>
                </a:solidFill>
                <a:latin typeface="Times New Roman" panose="02020603050405020304" pitchFamily="18" charset="0"/>
                <a:cs typeface="Times New Roman" panose="02020603050405020304" pitchFamily="18" charset="0"/>
              </a:rPr>
              <a:t>次扩展信源的熵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5</a:t>
            </a:r>
            <a:r>
              <a:rPr lang="zh-CN" altLang="zh-CN" kern="100" dirty="0">
                <a:solidFill>
                  <a:srgbClr val="FF0000"/>
                </a:solidFill>
                <a:latin typeface="Times New Roman" panose="02020603050405020304" pitchFamily="18" charset="0"/>
                <a:cs typeface="Times New Roman" panose="02020603050405020304" pitchFamily="18" charset="0"/>
              </a:rPr>
              <a:t>）马尔科夫信源及其模型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）马尔科夫信源的极限熵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7</a:t>
            </a:r>
            <a:r>
              <a:rPr lang="zh-CN" altLang="zh-CN" kern="100" dirty="0">
                <a:solidFill>
                  <a:srgbClr val="FF0000"/>
                </a:solidFill>
                <a:latin typeface="Times New Roman" panose="02020603050405020304" pitchFamily="18" charset="0"/>
                <a:cs typeface="Times New Roman" panose="02020603050405020304" pitchFamily="18" charset="0"/>
              </a:rPr>
              <a:t>）单符号连续信源及其模型</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8</a:t>
            </a:r>
            <a:r>
              <a:rPr lang="zh-CN" altLang="zh-CN" kern="100" dirty="0">
                <a:solidFill>
                  <a:srgbClr val="FF0000"/>
                </a:solidFill>
                <a:latin typeface="Times New Roman" panose="02020603050405020304" pitchFamily="18" charset="0"/>
                <a:cs typeface="Times New Roman" panose="02020603050405020304" pitchFamily="18" charset="0"/>
              </a:rPr>
              <a:t>）单符号连续信源的熵与差熵</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9</a:t>
            </a:r>
            <a:r>
              <a:rPr lang="zh-CN" altLang="zh-CN" kern="100" dirty="0">
                <a:solidFill>
                  <a:srgbClr val="FF0000"/>
                </a:solidFill>
                <a:latin typeface="Times New Roman" panose="02020603050405020304" pitchFamily="18" charset="0"/>
                <a:cs typeface="Times New Roman" panose="02020603050405020304" pitchFamily="18" charset="0"/>
              </a:rPr>
              <a:t>）均匀信源、高斯信源的差</a:t>
            </a:r>
            <a:r>
              <a:rPr lang="zh-CN" altLang="zh-CN" kern="100" dirty="0" smtClean="0">
                <a:solidFill>
                  <a:srgbClr val="FF0000"/>
                </a:solidFill>
                <a:latin typeface="Times New Roman" panose="02020603050405020304" pitchFamily="18" charset="0"/>
                <a:cs typeface="Times New Roman" panose="02020603050405020304" pitchFamily="18" charset="0"/>
              </a:rPr>
              <a:t>熵</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多符号离散信源及其模型</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）多符号离散信源的熵</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3</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熵的链式法则</a:t>
            </a:r>
            <a:endParaRPr lang="zh-CN" altLang="zh-CN" kern="100" dirty="0">
              <a:latin typeface="等线" panose="02010600030101010101" pitchFamily="2" charset="-122"/>
              <a:cs typeface="Times New Roman" panose="02020603050405020304" pitchFamily="18" charset="0"/>
            </a:endParaRPr>
          </a:p>
        </p:txBody>
      </p:sp>
      <p:sp>
        <p:nvSpPr>
          <p:cNvPr id="4" name="矩形 3"/>
          <p:cNvSpPr/>
          <p:nvPr/>
        </p:nvSpPr>
        <p:spPr>
          <a:xfrm>
            <a:off x="6096000" y="378963"/>
            <a:ext cx="6011635" cy="646331"/>
          </a:xfrm>
          <a:prstGeom prst="rect">
            <a:avLst/>
          </a:prstGeom>
        </p:spPr>
        <p:txBody>
          <a:bodyPr wrap="square">
            <a:spAutoFit/>
          </a:bodyPr>
          <a:lstStyle/>
          <a:p>
            <a:pPr marL="285750" indent="-285750">
              <a:buFont typeface="Wingdings" panose="05000000000000000000" pitchFamily="2" charset="2"/>
              <a:buChar char="Ø"/>
            </a:pPr>
            <a:endParaRPr kumimoji="1" lang="en-US" altLang="zh-CN" dirty="0">
              <a:solidFill>
                <a:srgbClr val="FF0000"/>
              </a:solidFill>
              <a:latin typeface="楷体" panose="02010609060101010101" pitchFamily="49" charset="-122"/>
              <a:ea typeface="楷体" panose="02010609060101010101" pitchFamily="49" charset="-122"/>
            </a:endParaRPr>
          </a:p>
          <a:p>
            <a:pPr marL="285750" indent="-285750">
              <a:buFont typeface="Wingdings" panose="05000000000000000000" pitchFamily="2" charset="2"/>
              <a:buChar char="Ø"/>
            </a:pPr>
            <a:endParaRPr lang="zh-CN" altLang="en-US" dirty="0"/>
          </a:p>
        </p:txBody>
      </p:sp>
      <p:sp>
        <p:nvSpPr>
          <p:cNvPr id="2" name="矩形 1"/>
          <p:cNvSpPr/>
          <p:nvPr/>
        </p:nvSpPr>
        <p:spPr>
          <a:xfrm>
            <a:off x="6011635" y="563629"/>
            <a:ext cx="6096000" cy="1477328"/>
          </a:xfrm>
          <a:prstGeom prst="rect">
            <a:avLst/>
          </a:prstGeom>
        </p:spPr>
        <p:txBody>
          <a:bodyPr>
            <a:spAutoFit/>
          </a:bodyPr>
          <a:lstStyle/>
          <a:p>
            <a:pPr marL="285750" indent="-285750">
              <a:buFont typeface="Wingdings" panose="05000000000000000000" pitchFamily="2" charset="2"/>
              <a:buChar char="Ø"/>
            </a:pPr>
            <a:r>
              <a:rPr lang="zh-CN" altLang="zh-CN" dirty="0">
                <a:latin typeface="楷体" panose="02010609060101010101" pitchFamily="49" charset="-122"/>
                <a:ea typeface="楷体" panose="02010609060101010101" pitchFamily="49" charset="-122"/>
              </a:rPr>
              <a:t>单符号连续</a:t>
            </a:r>
            <a:r>
              <a:rPr lang="zh-CN" altLang="zh-CN" dirty="0" smtClean="0">
                <a:latin typeface="楷体" panose="02010609060101010101" pitchFamily="49" charset="-122"/>
                <a:ea typeface="楷体" panose="02010609060101010101" pitchFamily="49" charset="-122"/>
              </a:rPr>
              <a:t>信源</a:t>
            </a:r>
            <a:r>
              <a:rPr lang="zh-CN" altLang="en-US" dirty="0" smtClean="0">
                <a:latin typeface="楷体" panose="02010609060101010101" pitchFamily="49" charset="-122"/>
                <a:ea typeface="楷体" panose="02010609060101010101" pitchFamily="49" charset="-122"/>
              </a:rPr>
              <a:t>：</a:t>
            </a:r>
            <a:r>
              <a:rPr lang="zh-CN" altLang="en-US" dirty="0">
                <a:latin typeface="楷体" panose="02010609060101010101" charset="-122"/>
                <a:ea typeface="楷体" panose="02010609060101010101" charset="-122"/>
                <a:sym typeface="+mn-ea"/>
              </a:rPr>
              <a:t>发出在时间和幅度上都是连续分布的连续消息（模拟消息）的</a:t>
            </a:r>
            <a:r>
              <a:rPr lang="zh-CN" altLang="en-US" dirty="0" smtClean="0">
                <a:latin typeface="楷体" panose="02010609060101010101" charset="-122"/>
                <a:ea typeface="楷体" panose="02010609060101010101" charset="-122"/>
                <a:sym typeface="+mn-ea"/>
              </a:rPr>
              <a:t>信源。其熵无限大，其差熵为</a:t>
            </a:r>
            <a:endParaRPr lang="en-US" altLang="zh-CN" dirty="0" smtClean="0">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a:latin typeface="楷体" panose="02010609060101010101" charset="-122"/>
              <a:ea typeface="楷体" panose="02010609060101010101" charset="-122"/>
              <a:sym typeface="+mn-ea"/>
            </a:endParaRPr>
          </a:p>
          <a:p>
            <a:pPr marL="285750" indent="-285750">
              <a:buFont typeface="Wingdings" panose="05000000000000000000" pitchFamily="2" charset="2"/>
              <a:buChar char="Ø"/>
            </a:pPr>
            <a:endParaRPr lang="en-US" altLang="zh-CN" b="1" dirty="0" smtClean="0">
              <a:latin typeface="楷体" panose="02010609060101010101" charset="-122"/>
              <a:ea typeface="楷体" panose="02010609060101010101" charset="-122"/>
              <a:sym typeface="+mn-ea"/>
            </a:endParaRPr>
          </a:p>
          <a:p>
            <a:pPr marL="285750" indent="-285750">
              <a:buFont typeface="Wingdings" panose="05000000000000000000" pitchFamily="2" charset="2"/>
              <a:buChar char="Ø"/>
            </a:pPr>
            <a:r>
              <a:rPr lang="zh-CN" altLang="en-US" dirty="0" smtClean="0"/>
              <a:t>典型连续信源差熵：</a:t>
            </a:r>
            <a:endParaRPr lang="en-US" altLang="zh-CN" b="1" dirty="0">
              <a:latin typeface="楷体" panose="02010609060101010101" charset="-122"/>
              <a:ea typeface="楷体" panose="02010609060101010101"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574933241"/>
              </p:ext>
            </p:extLst>
          </p:nvPr>
        </p:nvGraphicFramePr>
        <p:xfrm>
          <a:off x="7603445" y="1251161"/>
          <a:ext cx="2765425" cy="465137"/>
        </p:xfrm>
        <a:graphic>
          <a:graphicData uri="http://schemas.openxmlformats.org/presentationml/2006/ole">
            <mc:AlternateContent xmlns:mc="http://schemas.openxmlformats.org/markup-compatibility/2006">
              <mc:Choice xmlns:v="urn:schemas-microsoft-com:vml" Requires="v">
                <p:oleObj spid="_x0000_s1200" name="Equation" r:id="rId3" imgW="2764646" imgH="465137" progId="Equation.DSMT4">
                  <p:embed/>
                </p:oleObj>
              </mc:Choice>
              <mc:Fallback>
                <p:oleObj name="Equation" r:id="rId3" imgW="2764646" imgH="465137" progId="Equation.DSMT4">
                  <p:embed/>
                  <p:pic>
                    <p:nvPicPr>
                      <p:cNvPr id="0" name=""/>
                      <p:cNvPicPr/>
                      <p:nvPr/>
                    </p:nvPicPr>
                    <p:blipFill>
                      <a:blip r:embed="rId4"/>
                      <a:stretch>
                        <a:fillRect/>
                      </a:stretch>
                    </p:blipFill>
                    <p:spPr>
                      <a:xfrm>
                        <a:off x="7603445" y="1251161"/>
                        <a:ext cx="2765425" cy="46513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19276198"/>
              </p:ext>
            </p:extLst>
          </p:nvPr>
        </p:nvGraphicFramePr>
        <p:xfrm>
          <a:off x="6680440" y="2056559"/>
          <a:ext cx="4160360" cy="543605"/>
        </p:xfrm>
        <a:graphic>
          <a:graphicData uri="http://schemas.openxmlformats.org/presentationml/2006/ole">
            <mc:AlternateContent xmlns:mc="http://schemas.openxmlformats.org/markup-compatibility/2006">
              <mc:Choice xmlns:v="urn:schemas-microsoft-com:vml" Requires="v">
                <p:oleObj spid="_x0000_s1201" name="Equation" r:id="rId5" imgW="3288960" imgH="431640" progId="Equation.DSMT4">
                  <p:embed/>
                </p:oleObj>
              </mc:Choice>
              <mc:Fallback>
                <p:oleObj name="Equation" r:id="rId5" imgW="3288960" imgH="431640" progId="Equation.DSMT4">
                  <p:embed/>
                  <p:pic>
                    <p:nvPicPr>
                      <p:cNvPr id="0" name=""/>
                      <p:cNvPicPr/>
                      <p:nvPr/>
                    </p:nvPicPr>
                    <p:blipFill>
                      <a:blip r:embed="rId6"/>
                      <a:stretch>
                        <a:fillRect/>
                      </a:stretch>
                    </p:blipFill>
                    <p:spPr>
                      <a:xfrm>
                        <a:off x="6680440" y="2056559"/>
                        <a:ext cx="4160360" cy="54360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426152031"/>
              </p:ext>
            </p:extLst>
          </p:nvPr>
        </p:nvGraphicFramePr>
        <p:xfrm>
          <a:off x="7879217" y="2499393"/>
          <a:ext cx="1738311" cy="539325"/>
        </p:xfrm>
        <a:graphic>
          <a:graphicData uri="http://schemas.openxmlformats.org/presentationml/2006/ole">
            <mc:AlternateContent xmlns:mc="http://schemas.openxmlformats.org/markup-compatibility/2006">
              <mc:Choice xmlns:v="urn:schemas-microsoft-com:vml" Requires="v">
                <p:oleObj spid="_x0000_s1202" name="Equation" r:id="rId7" imgW="2522348" imgH="783388" progId="Equation.DSMT4">
                  <p:embed/>
                </p:oleObj>
              </mc:Choice>
              <mc:Fallback>
                <p:oleObj name="Equation" r:id="rId7" imgW="2522348" imgH="783388" progId="Equation.DSMT4">
                  <p:embed/>
                  <p:pic>
                    <p:nvPicPr>
                      <p:cNvPr id="0" name=""/>
                      <p:cNvPicPr/>
                      <p:nvPr/>
                    </p:nvPicPr>
                    <p:blipFill>
                      <a:blip r:embed="rId8"/>
                      <a:stretch>
                        <a:fillRect/>
                      </a:stretch>
                    </p:blipFill>
                    <p:spPr>
                      <a:xfrm>
                        <a:off x="7879217" y="2499393"/>
                        <a:ext cx="1738311" cy="53932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矩形 7"/>
              <p:cNvSpPr/>
              <p:nvPr/>
            </p:nvSpPr>
            <p:spPr>
              <a:xfrm>
                <a:off x="7719124" y="3038718"/>
                <a:ext cx="2290290" cy="369332"/>
              </a:xfrm>
              <a:prstGeom prst="rect">
                <a:avLst/>
              </a:prstGeom>
            </p:spPr>
            <p:txBody>
              <a:bodyPr wrap="square">
                <a:spAutoFit/>
              </a:bodyPr>
              <a:lstStyle/>
              <a:p>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𝑋</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𝑚𝑒</m:t>
                    </m:r>
                  </m:oMath>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7719124" y="3038718"/>
                <a:ext cx="2290290" cy="369332"/>
              </a:xfrm>
              <a:prstGeom prst="rect">
                <a:avLst/>
              </a:prstGeom>
              <a:blipFill>
                <a:blip r:embed="rId9"/>
                <a:stretch>
                  <a:fillRect b="-13115"/>
                </a:stretch>
              </a:blipFill>
            </p:spPr>
            <p:txBody>
              <a:bodyPr/>
              <a:lstStyle/>
              <a:p>
                <a:r>
                  <a:rPr lang="zh-CN" altLang="en-US">
                    <a:noFill/>
                  </a:rPr>
                  <a:t> </a:t>
                </a:r>
              </a:p>
            </p:txBody>
          </p:sp>
        </mc:Fallback>
      </mc:AlternateContent>
      <p:sp>
        <p:nvSpPr>
          <p:cNvPr id="9" name="矩形 8"/>
          <p:cNvSpPr/>
          <p:nvPr/>
        </p:nvSpPr>
        <p:spPr>
          <a:xfrm>
            <a:off x="6636776" y="2600164"/>
            <a:ext cx="1082348" cy="307777"/>
          </a:xfrm>
          <a:prstGeom prst="rect">
            <a:avLst/>
          </a:prstGeom>
        </p:spPr>
        <p:txBody>
          <a:bodyPr wrap="none">
            <a:spAutoFit/>
          </a:bodyPr>
          <a:lstStyle/>
          <a:p>
            <a:r>
              <a:rPr lang="zh-CN" altLang="en-US" sz="1400" dirty="0"/>
              <a:t>高斯分布</a:t>
            </a:r>
            <a:r>
              <a:rPr lang="zh-CN" altLang="en-US" sz="1400" dirty="0" smtClean="0"/>
              <a:t>：</a:t>
            </a:r>
            <a:endParaRPr lang="en-US" altLang="zh-CN" sz="1400" b="1" dirty="0">
              <a:latin typeface="楷体" panose="02010609060101010101" charset="-122"/>
              <a:ea typeface="楷体" panose="02010609060101010101" charset="-122"/>
            </a:endParaRPr>
          </a:p>
        </p:txBody>
      </p:sp>
      <p:sp>
        <p:nvSpPr>
          <p:cNvPr id="11" name="矩形 10"/>
          <p:cNvSpPr/>
          <p:nvPr/>
        </p:nvSpPr>
        <p:spPr>
          <a:xfrm>
            <a:off x="6636776" y="3069220"/>
            <a:ext cx="1082348" cy="307777"/>
          </a:xfrm>
          <a:prstGeom prst="rect">
            <a:avLst/>
          </a:prstGeom>
        </p:spPr>
        <p:txBody>
          <a:bodyPr wrap="none">
            <a:spAutoFit/>
          </a:bodyPr>
          <a:lstStyle/>
          <a:p>
            <a:r>
              <a:rPr lang="zh-CN" altLang="en-US" sz="1400" dirty="0" smtClean="0"/>
              <a:t>指数分布：</a:t>
            </a:r>
            <a:endParaRPr lang="en-US" altLang="zh-CN" sz="1400" b="1" dirty="0">
              <a:latin typeface="楷体" panose="02010609060101010101" charset="-122"/>
              <a:ea typeface="楷体" panose="02010609060101010101" charset="-122"/>
            </a:endParaRPr>
          </a:p>
        </p:txBody>
      </p:sp>
    </p:spTree>
    <p:extLst>
      <p:ext uri="{BB962C8B-B14F-4D97-AF65-F5344CB8AC3E}">
        <p14:creationId xmlns:p14="http://schemas.microsoft.com/office/powerpoint/2010/main" val="17375247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9169" y="184193"/>
            <a:ext cx="4512129" cy="2308324"/>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三、无失真</a:t>
            </a:r>
            <a:r>
              <a:rPr lang="zh-CN" altLang="zh-CN" kern="100" dirty="0" smtClean="0">
                <a:latin typeface="Times New Roman" panose="02020603050405020304" pitchFamily="18" charset="0"/>
                <a:cs typeface="Times New Roman" panose="02020603050405020304" pitchFamily="18" charset="0"/>
              </a:rPr>
              <a:t>信源编码</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1</a:t>
            </a:r>
            <a:r>
              <a:rPr lang="zh-CN" altLang="zh-CN" kern="100" dirty="0">
                <a:solidFill>
                  <a:srgbClr val="FF0000"/>
                </a:solidFill>
                <a:latin typeface="Times New Roman" panose="02020603050405020304" pitchFamily="18" charset="0"/>
                <a:cs typeface="Times New Roman" panose="02020603050405020304" pitchFamily="18" charset="0"/>
              </a:rPr>
              <a:t>）香农第一定理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）无失真信源编码的无损压缩</a:t>
            </a:r>
            <a:r>
              <a:rPr lang="zh-CN" altLang="zh-CN" kern="100" dirty="0" smtClean="0">
                <a:solidFill>
                  <a:srgbClr val="FF0000"/>
                </a:solidFill>
                <a:latin typeface="Times New Roman" panose="02020603050405020304" pitchFamily="18" charset="0"/>
                <a:cs typeface="Times New Roman" panose="02020603050405020304" pitchFamily="18" charset="0"/>
              </a:rPr>
              <a:t>原理</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r>
              <a:rPr lang="zh-CN" altLang="en-US" kern="100" dirty="0" smtClean="0">
                <a:solidFill>
                  <a:srgbClr val="FF0000"/>
                </a:solidFill>
                <a:latin typeface="Times New Roman" panose="02020603050405020304" pitchFamily="18" charset="0"/>
                <a:cs typeface="Times New Roman" panose="02020603050405020304" pitchFamily="18" charset="0"/>
              </a:rPr>
              <a:t>（</a:t>
            </a:r>
            <a:r>
              <a:rPr lang="en-US" altLang="zh-CN" kern="100" dirty="0" smtClean="0">
                <a:solidFill>
                  <a:srgbClr val="FF0000"/>
                </a:solidFill>
                <a:latin typeface="Times New Roman" panose="02020603050405020304" pitchFamily="18" charset="0"/>
                <a:cs typeface="Times New Roman" panose="02020603050405020304" pitchFamily="18" charset="0"/>
              </a:rPr>
              <a:t>3</a:t>
            </a:r>
            <a:r>
              <a:rPr lang="zh-CN" altLang="en-US" kern="100" dirty="0" smtClean="0">
                <a:solidFill>
                  <a:srgbClr val="FF0000"/>
                </a:solidFill>
                <a:latin typeface="Times New Roman" panose="02020603050405020304" pitchFamily="18" charset="0"/>
                <a:cs typeface="Times New Roman" panose="02020603050405020304" pitchFamily="18" charset="0"/>
              </a:rPr>
              <a:t>）</a:t>
            </a:r>
            <a:r>
              <a:rPr lang="en-US" altLang="zh-CN" kern="100" dirty="0" smtClean="0">
                <a:solidFill>
                  <a:srgbClr val="FF0000"/>
                </a:solidFill>
                <a:latin typeface="Times New Roman" panose="02020603050405020304" pitchFamily="18" charset="0"/>
                <a:cs typeface="Times New Roman" panose="02020603050405020304" pitchFamily="18" charset="0"/>
              </a:rPr>
              <a:t>Kraft</a:t>
            </a:r>
            <a:r>
              <a:rPr lang="zh-CN" altLang="en-US" kern="100" dirty="0" smtClean="0">
                <a:solidFill>
                  <a:srgbClr val="FF0000"/>
                </a:solidFill>
                <a:latin typeface="Times New Roman" panose="02020603050405020304" pitchFamily="18" charset="0"/>
                <a:cs typeface="Times New Roman" panose="02020603050405020304" pitchFamily="18" charset="0"/>
              </a:rPr>
              <a:t>不等式</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smtClean="0">
                <a:solidFill>
                  <a:srgbClr val="FF0000"/>
                </a:solidFill>
                <a:latin typeface="Times New Roman" panose="02020603050405020304" pitchFamily="18" charset="0"/>
                <a:cs typeface="Times New Roman" panose="02020603050405020304" pitchFamily="18" charset="0"/>
              </a:rPr>
              <a:t>（</a:t>
            </a:r>
            <a:r>
              <a:rPr lang="en-US" altLang="zh-CN" kern="100" dirty="0" smtClean="0">
                <a:solidFill>
                  <a:srgbClr val="FF0000"/>
                </a:solidFill>
                <a:latin typeface="Times New Roman" panose="02020603050405020304" pitchFamily="18" charset="0"/>
                <a:cs typeface="Times New Roman" panose="02020603050405020304" pitchFamily="18" charset="0"/>
              </a:rPr>
              <a:t>4</a:t>
            </a:r>
            <a:r>
              <a:rPr lang="zh-CN" altLang="zh-CN" kern="100" dirty="0" smtClean="0">
                <a:solidFill>
                  <a:srgbClr val="FF0000"/>
                </a:solidFill>
                <a:latin typeface="Times New Roman" panose="02020603050405020304" pitchFamily="18" charset="0"/>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费诺码、赫夫曼码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smtClean="0">
                <a:solidFill>
                  <a:srgbClr val="FF0000"/>
                </a:solidFill>
                <a:latin typeface="Times New Roman" panose="02020603050405020304" pitchFamily="18" charset="0"/>
                <a:cs typeface="Times New Roman" panose="02020603050405020304" pitchFamily="18" charset="0"/>
              </a:rPr>
              <a:t>（</a:t>
            </a:r>
            <a:r>
              <a:rPr lang="en-US" altLang="zh-CN" kern="100" dirty="0" smtClean="0">
                <a:solidFill>
                  <a:srgbClr val="FF0000"/>
                </a:solidFill>
                <a:latin typeface="Times New Roman" panose="02020603050405020304" pitchFamily="18" charset="0"/>
                <a:cs typeface="Times New Roman" panose="02020603050405020304" pitchFamily="18" charset="0"/>
              </a:rPr>
              <a:t>5</a:t>
            </a:r>
            <a:r>
              <a:rPr lang="zh-CN" altLang="zh-CN" kern="100" dirty="0" smtClean="0">
                <a:solidFill>
                  <a:srgbClr val="FF0000"/>
                </a:solidFill>
                <a:latin typeface="Times New Roman" panose="02020603050405020304" pitchFamily="18" charset="0"/>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算术码</a:t>
            </a:r>
            <a:endParaRPr lang="zh-CN" altLang="zh-CN" kern="100" dirty="0">
              <a:solidFill>
                <a:srgbClr val="FF0000"/>
              </a:solidFill>
              <a:latin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C6DA25F4-7EE9-4F52-AE36-B9B26118DCDE}"/>
              </a:ext>
            </a:extLst>
          </p:cNvPr>
          <p:cNvSpPr txBox="1"/>
          <p:nvPr/>
        </p:nvSpPr>
        <p:spPr>
          <a:xfrm>
            <a:off x="4816929" y="434192"/>
            <a:ext cx="7317921" cy="4647426"/>
          </a:xfrm>
          <a:prstGeom prst="rect">
            <a:avLst/>
          </a:prstGeom>
          <a:noFill/>
        </p:spPr>
        <p:txBody>
          <a:bodyPr wrap="square" rtlCol="0">
            <a:spAutoFit/>
          </a:bodyPr>
          <a:lstStyle/>
          <a:p>
            <a:pPr marL="342900" indent="-342900">
              <a:lnSpc>
                <a:spcPct val="130000"/>
              </a:lnSpc>
              <a:spcBef>
                <a:spcPct val="50000"/>
              </a:spcBef>
              <a:buFont typeface="Wingdings" panose="05000000000000000000" pitchFamily="2" charset="2"/>
              <a:buChar char="Ø"/>
            </a:pPr>
            <a:r>
              <a:rPr lang="zh-CN" altLang="en-US" sz="2000" dirty="0">
                <a:solidFill>
                  <a:srgbClr val="FF0000"/>
                </a:solidFill>
                <a:latin typeface="楷体" panose="02010609060101010101" pitchFamily="49" charset="-122"/>
                <a:ea typeface="楷体" panose="02010609060101010101" pitchFamily="49" charset="-122"/>
              </a:rPr>
              <a:t>信源无失真变长编码定理（香农第一定理）</a:t>
            </a:r>
            <a:r>
              <a:rPr lang="zh-CN" altLang="en-US" sz="2000" dirty="0" smtClean="0">
                <a:solidFill>
                  <a:srgbClr val="FF0000"/>
                </a:solidFill>
                <a:latin typeface="楷体" panose="02010609060101010101" pitchFamily="49" charset="-122"/>
                <a:ea typeface="楷体" panose="02010609060101010101" pitchFamily="49" charset="-122"/>
              </a:rPr>
              <a:t>：</a:t>
            </a:r>
            <a:r>
              <a:rPr lang="zh-CN" altLang="en-US" dirty="0" smtClean="0">
                <a:latin typeface="楷体" panose="02010609060101010101" pitchFamily="49" charset="-122"/>
                <a:ea typeface="楷体" panose="02010609060101010101" pitchFamily="49" charset="-122"/>
              </a:rPr>
              <a:t>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r</a:t>
            </a:r>
            <a:r>
              <a:rPr lang="zh-CN" altLang="en-US" dirty="0">
                <a:latin typeface="楷体" panose="02010609060101010101" pitchFamily="49" charset="-122"/>
                <a:ea typeface="楷体" panose="02010609060101010101" pitchFamily="49" charset="-122"/>
              </a:rPr>
              <a:t>元符号表对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DMS</a:t>
            </a:r>
            <a:r>
              <a:rPr lang="zh-CN" altLang="en-US" dirty="0">
                <a:latin typeface="楷体" panose="02010609060101010101" pitchFamily="49" charset="-122"/>
                <a:ea typeface="楷体" panose="02010609060101010101" pitchFamily="49" charset="-122"/>
              </a:rPr>
              <a:t>信源</a:t>
            </a:r>
            <a:r>
              <a:rPr lang="en-US" altLang="zh-CN" dirty="0">
                <a:latin typeface="Times New Roman" panose="02020603050405020304" pitchFamily="18" charset="0"/>
                <a:ea typeface="楷体" panose="02010609060101010101" pitchFamily="49" charset="-122"/>
                <a:cs typeface="Times New Roman" panose="02020603050405020304" pitchFamily="18" charset="0"/>
              </a:rPr>
              <a:t>U</a:t>
            </a:r>
            <a:r>
              <a:rPr lang="zh-CN" altLang="en-US" dirty="0">
                <a:latin typeface="楷体" panose="02010609060101010101" pitchFamily="49" charset="-122"/>
                <a:ea typeface="楷体" panose="02010609060101010101" pitchFamily="49" charset="-122"/>
              </a:rPr>
              <a:t>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楷体" panose="02010609060101010101" pitchFamily="49" charset="-122"/>
                <a:ea typeface="楷体" panose="02010609060101010101" pitchFamily="49" charset="-122"/>
              </a:rPr>
              <a:t>长符号序列进行变长编码，要做到无失真编码</a:t>
            </a:r>
            <a:r>
              <a:rPr lang="zh-CN" altLang="en-US" dirty="0" smtClean="0">
                <a:latin typeface="楷体" panose="02010609060101010101" pitchFamily="49" charset="-122"/>
                <a:ea typeface="楷体" panose="02010609060101010101" pitchFamily="49" charset="-122"/>
              </a:rPr>
              <a:t>，单符号平均</a:t>
            </a:r>
            <a:r>
              <a:rPr lang="zh-CN" altLang="en-US" dirty="0">
                <a:latin typeface="楷体" panose="02010609060101010101" pitchFamily="49" charset="-122"/>
                <a:ea typeface="楷体" panose="02010609060101010101" pitchFamily="49" charset="-122"/>
              </a:rPr>
              <a:t>码长必须满足：         ，如果信源</a:t>
            </a:r>
            <a:r>
              <a:rPr lang="zh-CN" altLang="en-US" dirty="0" smtClean="0">
                <a:latin typeface="楷体" panose="02010609060101010101" pitchFamily="49" charset="-122"/>
                <a:ea typeface="楷体" panose="02010609060101010101" pitchFamily="49" charset="-122"/>
              </a:rPr>
              <a:t>单符号平均</a:t>
            </a:r>
            <a:r>
              <a:rPr lang="zh-CN" altLang="en-US" dirty="0">
                <a:latin typeface="楷体" panose="02010609060101010101" pitchFamily="49" charset="-122"/>
                <a:ea typeface="楷体" panose="02010609060101010101" pitchFamily="49" charset="-122"/>
              </a:rPr>
              <a:t>码长小于信源的熵</a:t>
            </a:r>
            <a:r>
              <a:rPr lang="en-US" altLang="zh-CN" i="1" dirty="0" err="1">
                <a:latin typeface="Times New Roman" panose="02020603050405020304" pitchFamily="18" charset="0"/>
                <a:ea typeface="楷体" panose="02010609060101010101" pitchFamily="49" charset="-122"/>
                <a:cs typeface="Times New Roman" panose="02020603050405020304" pitchFamily="18" charset="0"/>
              </a:rPr>
              <a:t>H</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r</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(U)</a:t>
            </a:r>
            <a:r>
              <a:rPr lang="zh-CN" altLang="en-US" dirty="0">
                <a:latin typeface="楷体" panose="02010609060101010101" pitchFamily="49" charset="-122"/>
                <a:ea typeface="楷体" panose="02010609060101010101" pitchFamily="49" charset="-122"/>
              </a:rPr>
              <a:t>，编码就会失真；另一方面，在满足条件</a:t>
            </a:r>
            <a:endParaRPr lang="en-US" altLang="zh-CN" i="1" dirty="0">
              <a:latin typeface="Cambria Math" panose="02040503050406030204" pitchFamily="18" charset="0"/>
              <a:ea typeface="楷体" panose="02010609060101010101" pitchFamily="49" charset="-122"/>
            </a:endParaRPr>
          </a:p>
          <a:p>
            <a:pPr>
              <a:lnSpc>
                <a:spcPct val="130000"/>
              </a:lnSpc>
              <a:spcBef>
                <a:spcPct val="50000"/>
              </a:spcBef>
            </a:pPr>
            <a:r>
              <a:rPr lang="zh-CN" altLang="en-US" dirty="0" smtClean="0">
                <a:latin typeface="楷体" panose="02010609060101010101" pitchFamily="49" charset="-122"/>
                <a:ea typeface="楷体" panose="02010609060101010101" pitchFamily="49" charset="-122"/>
              </a:rPr>
              <a:t>   的</a:t>
            </a:r>
            <a:r>
              <a:rPr lang="zh-CN" altLang="en-US" dirty="0">
                <a:latin typeface="楷体" panose="02010609060101010101" pitchFamily="49" charset="-122"/>
                <a:ea typeface="楷体" panose="02010609060101010101" pitchFamily="49" charset="-122"/>
              </a:rPr>
              <a:t>情况下，一定存在唯一可译码</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285750" indent="-285750">
              <a:lnSpc>
                <a:spcPct val="130000"/>
              </a:lnSpc>
              <a:spcBef>
                <a:spcPct val="50000"/>
              </a:spcBef>
              <a:buFont typeface="Wingdings" panose="05000000000000000000" pitchFamily="2" charset="2"/>
              <a:buChar char="Ø"/>
            </a:pPr>
            <a:r>
              <a:rPr lang="zh-CN" altLang="zh-CN" kern="100" dirty="0">
                <a:solidFill>
                  <a:srgbClr val="FF0000"/>
                </a:solidFill>
                <a:latin typeface="Times New Roman" panose="02020603050405020304" pitchFamily="18" charset="0"/>
                <a:cs typeface="Times New Roman" panose="02020603050405020304" pitchFamily="18" charset="0"/>
              </a:rPr>
              <a:t>无失真信源编码的无损压缩</a:t>
            </a:r>
            <a:r>
              <a:rPr lang="zh-CN" altLang="zh-CN" kern="100" dirty="0" smtClean="0">
                <a:solidFill>
                  <a:srgbClr val="FF0000"/>
                </a:solidFill>
                <a:latin typeface="Times New Roman" panose="02020603050405020304" pitchFamily="18" charset="0"/>
                <a:cs typeface="Times New Roman" panose="02020603050405020304" pitchFamily="18" charset="0"/>
              </a:rPr>
              <a:t>原理</a:t>
            </a:r>
            <a:r>
              <a:rPr lang="zh-CN" altLang="en-US" kern="100" dirty="0" smtClean="0">
                <a:solidFill>
                  <a:srgbClr val="FF0000"/>
                </a:solidFill>
                <a:latin typeface="Times New Roman" panose="02020603050405020304" pitchFamily="18" charset="0"/>
                <a:cs typeface="Times New Roman" panose="02020603050405020304" pitchFamily="18" charset="0"/>
              </a:rPr>
              <a:t>：</a:t>
            </a:r>
            <a:r>
              <a:rPr lang="zh-CN" altLang="en-US" dirty="0">
                <a:latin typeface="楷体" panose="02010609060101010101" charset="-122"/>
                <a:ea typeface="楷体" panose="02010609060101010101" charset="-122"/>
              </a:rPr>
              <a:t>只对信源的冗余度进行压缩，而不改变信源的</a:t>
            </a:r>
            <a:r>
              <a:rPr lang="zh-CN" altLang="en-US" dirty="0" smtClean="0">
                <a:latin typeface="楷体" panose="02010609060101010101" charset="-122"/>
                <a:ea typeface="楷体" panose="02010609060101010101" charset="-122"/>
              </a:rPr>
              <a:t>熵；</a:t>
            </a:r>
            <a:r>
              <a:rPr lang="zh-CN" altLang="en-US" dirty="0">
                <a:latin typeface="楷体" panose="02010609060101010101" charset="-122"/>
                <a:ea typeface="楷体" panose="02010609060101010101" charset="-122"/>
              </a:rPr>
              <a:t>保证码元序列经译码后能无失真地恢复成信源符号</a:t>
            </a:r>
            <a:r>
              <a:rPr lang="zh-CN" altLang="en-US" dirty="0" smtClean="0">
                <a:latin typeface="楷体" panose="02010609060101010101" charset="-122"/>
                <a:ea typeface="楷体" panose="02010609060101010101" charset="-122"/>
              </a:rPr>
              <a:t>序列；</a:t>
            </a:r>
            <a:r>
              <a:rPr lang="zh-CN" altLang="en-US" dirty="0">
                <a:latin typeface="楷体" panose="02010609060101010101" charset="-122"/>
                <a:ea typeface="楷体" panose="02010609060101010101" charset="-122"/>
              </a:rPr>
              <a:t>适用于离散信源或</a:t>
            </a:r>
            <a:r>
              <a:rPr lang="zh-CN" altLang="en-US" dirty="0" smtClean="0">
                <a:latin typeface="楷体" panose="02010609060101010101" charset="-122"/>
                <a:ea typeface="楷体" panose="02010609060101010101" charset="-122"/>
              </a:rPr>
              <a:t>数字信号。</a:t>
            </a:r>
            <a:r>
              <a:rPr lang="zh-CN" altLang="en-US" dirty="0">
                <a:solidFill>
                  <a:srgbClr val="C00000"/>
                </a:solidFill>
                <a:latin typeface="楷体" panose="02010609060101010101" charset="-122"/>
                <a:ea typeface="楷体" panose="02010609060101010101" charset="-122"/>
              </a:rPr>
              <a:t>若要实现无失真编码，则这种映射必须是一一对应的、可逆的。</a:t>
            </a:r>
          </a:p>
          <a:p>
            <a:pPr marL="285750" indent="-285750">
              <a:lnSpc>
                <a:spcPct val="130000"/>
              </a:lnSpc>
              <a:spcBef>
                <a:spcPct val="50000"/>
              </a:spcBef>
              <a:buFont typeface="Wingdings" panose="05000000000000000000" pitchFamily="2" charset="2"/>
              <a:buChar char="Ø"/>
            </a:pPr>
            <a:endParaRPr lang="zh-CN" altLang="zh-CN" kern="100" dirty="0">
              <a:solidFill>
                <a:srgbClr val="FF0000"/>
              </a:solidFill>
              <a:latin typeface="等线" panose="02010600030101010101" pitchFamily="2" charset="-122"/>
              <a:cs typeface="Times New Roman" panose="02020603050405020304" pitchFamily="18" charset="0"/>
            </a:endParaRPr>
          </a:p>
          <a:p>
            <a:pPr>
              <a:lnSpc>
                <a:spcPct val="130000"/>
              </a:lnSpc>
              <a:spcBef>
                <a:spcPct val="50000"/>
              </a:spcBef>
            </a:pPr>
            <a:endParaRPr lang="en-US" altLang="zh-CN" dirty="0"/>
          </a:p>
        </p:txBody>
      </p:sp>
      <p:graphicFrame>
        <p:nvGraphicFramePr>
          <p:cNvPr id="5" name="对象 4"/>
          <p:cNvGraphicFramePr>
            <a:graphicFrameLocks noChangeAspect="1"/>
          </p:cNvGraphicFramePr>
          <p:nvPr>
            <p:extLst>
              <p:ext uri="{D42A27DB-BD31-4B8C-83A1-F6EECF244321}">
                <p14:modId xmlns:p14="http://schemas.microsoft.com/office/powerpoint/2010/main" val="2006928962"/>
              </p:ext>
            </p:extLst>
          </p:nvPr>
        </p:nvGraphicFramePr>
        <p:xfrm>
          <a:off x="7440612" y="1133824"/>
          <a:ext cx="935944" cy="572931"/>
        </p:xfrm>
        <a:graphic>
          <a:graphicData uri="http://schemas.openxmlformats.org/presentationml/2006/ole">
            <mc:AlternateContent xmlns:mc="http://schemas.openxmlformats.org/markup-compatibility/2006">
              <mc:Choice xmlns:v="urn:schemas-microsoft-com:vml" Requires="v">
                <p:oleObj spid="_x0000_s2158" name="Equation" r:id="rId3" imgW="1882220" imgH="1152401" progId="Equation.DSMT4">
                  <p:embed/>
                </p:oleObj>
              </mc:Choice>
              <mc:Fallback>
                <p:oleObj name="Equation" r:id="rId3" imgW="1882220" imgH="1152401" progId="Equation.DSMT4">
                  <p:embed/>
                  <p:pic>
                    <p:nvPicPr>
                      <p:cNvPr id="0" name=""/>
                      <p:cNvPicPr/>
                      <p:nvPr/>
                    </p:nvPicPr>
                    <p:blipFill>
                      <a:blip r:embed="rId4"/>
                      <a:stretch>
                        <a:fillRect/>
                      </a:stretch>
                    </p:blipFill>
                    <p:spPr>
                      <a:xfrm>
                        <a:off x="7440612" y="1133824"/>
                        <a:ext cx="935944" cy="572931"/>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812105861"/>
              </p:ext>
            </p:extLst>
          </p:nvPr>
        </p:nvGraphicFramePr>
        <p:xfrm>
          <a:off x="10633684" y="1544862"/>
          <a:ext cx="1204531" cy="545193"/>
        </p:xfrm>
        <a:graphic>
          <a:graphicData uri="http://schemas.openxmlformats.org/presentationml/2006/ole">
            <mc:AlternateContent xmlns:mc="http://schemas.openxmlformats.org/markup-compatibility/2006">
              <mc:Choice xmlns:v="urn:schemas-microsoft-com:vml" Requires="v">
                <p:oleObj spid="_x0000_s2159" name="Equation" r:id="rId5" imgW="2546830" imgH="1152401" progId="Equation.DSMT4">
                  <p:embed/>
                </p:oleObj>
              </mc:Choice>
              <mc:Fallback>
                <p:oleObj name="Equation" r:id="rId5" imgW="2546830" imgH="1152401" progId="Equation.DSMT4">
                  <p:embed/>
                  <p:pic>
                    <p:nvPicPr>
                      <p:cNvPr id="0" name=""/>
                      <p:cNvPicPr/>
                      <p:nvPr/>
                    </p:nvPicPr>
                    <p:blipFill>
                      <a:blip r:embed="rId6"/>
                      <a:stretch>
                        <a:fillRect/>
                      </a:stretch>
                    </p:blipFill>
                    <p:spPr>
                      <a:xfrm>
                        <a:off x="10633684" y="1544862"/>
                        <a:ext cx="1204531" cy="545193"/>
                      </a:xfrm>
                      <a:prstGeom prst="rect">
                        <a:avLst/>
                      </a:prstGeom>
                    </p:spPr>
                  </p:pic>
                </p:oleObj>
              </mc:Fallback>
            </mc:AlternateContent>
          </a:graphicData>
        </a:graphic>
      </p:graphicFrame>
      <p:grpSp>
        <p:nvGrpSpPr>
          <p:cNvPr id="7" name="组合 6"/>
          <p:cNvGrpSpPr/>
          <p:nvPr/>
        </p:nvGrpSpPr>
        <p:grpSpPr>
          <a:xfrm>
            <a:off x="5079286" y="4284866"/>
            <a:ext cx="5658595" cy="1846513"/>
            <a:chOff x="1157841" y="1582487"/>
            <a:chExt cx="5658595" cy="1846513"/>
          </a:xfrm>
        </p:grpSpPr>
        <p:sp>
          <p:nvSpPr>
            <p:cNvPr id="8" name="椭圆 7">
              <a:extLst>
                <a:ext uri="{FF2B5EF4-FFF2-40B4-BE49-F238E27FC236}">
                  <a16:creationId xmlns:a16="http://schemas.microsoft.com/office/drawing/2014/main" id="{61954C75-0312-438C-A8AE-C3C039503D02}"/>
                </a:ext>
              </a:extLst>
            </p:cNvPr>
            <p:cNvSpPr/>
            <p:nvPr/>
          </p:nvSpPr>
          <p:spPr>
            <a:xfrm>
              <a:off x="1157841" y="1582487"/>
              <a:ext cx="748146" cy="13419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信源</a:t>
              </a:r>
            </a:p>
          </p:txBody>
        </p:sp>
        <p:sp>
          <p:nvSpPr>
            <p:cNvPr id="9" name="矩形 8">
              <a:extLst>
                <a:ext uri="{FF2B5EF4-FFF2-40B4-BE49-F238E27FC236}">
                  <a16:creationId xmlns:a16="http://schemas.microsoft.com/office/drawing/2014/main" id="{3D81937B-8CDB-4649-9737-AE65F9958E6E}"/>
                </a:ext>
              </a:extLst>
            </p:cNvPr>
            <p:cNvSpPr/>
            <p:nvPr/>
          </p:nvSpPr>
          <p:spPr>
            <a:xfrm>
              <a:off x="3598223" y="1836272"/>
              <a:ext cx="1330037" cy="8343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编码器</a:t>
              </a:r>
              <a:endParaRPr lang="en-US" altLang="zh-CN" dirty="0"/>
            </a:p>
            <a:p>
              <a:pPr algn="ctr"/>
              <a:r>
                <a:rPr lang="en-US" altLang="zh-CN" b="1" i="1" dirty="0">
                  <a:latin typeface="Times New Roman" panose="02020603050405020304" pitchFamily="18" charset="0"/>
                  <a:cs typeface="Times New Roman" panose="02020603050405020304" pitchFamily="18" charset="0"/>
                </a:rPr>
                <a:t>f</a:t>
              </a:r>
              <a:endParaRPr lang="zh-CN" altLang="en-US" b="1" i="1" dirty="0">
                <a:latin typeface="Times New Roman" panose="02020603050405020304" pitchFamily="18" charset="0"/>
                <a:cs typeface="Times New Roman" panose="02020603050405020304" pitchFamily="18" charset="0"/>
              </a:endParaRPr>
            </a:p>
          </p:txBody>
        </p:sp>
        <p:cxnSp>
          <p:nvCxnSpPr>
            <p:cNvPr id="10" name="直接箭头连接符 9">
              <a:extLst>
                <a:ext uri="{FF2B5EF4-FFF2-40B4-BE49-F238E27FC236}">
                  <a16:creationId xmlns:a16="http://schemas.microsoft.com/office/drawing/2014/main" id="{26DD826E-CD5F-42B4-A7D7-C3464B790550}"/>
                </a:ext>
              </a:extLst>
            </p:cNvPr>
            <p:cNvCxnSpPr>
              <a:stCxn id="8" idx="6"/>
              <a:endCxn id="9" idx="1"/>
            </p:cNvCxnSpPr>
            <p:nvPr/>
          </p:nvCxnSpPr>
          <p:spPr>
            <a:xfrm>
              <a:off x="1905987" y="2253443"/>
              <a:ext cx="169223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1" name="直接箭头连接符 10">
              <a:extLst>
                <a:ext uri="{FF2B5EF4-FFF2-40B4-BE49-F238E27FC236}">
                  <a16:creationId xmlns:a16="http://schemas.microsoft.com/office/drawing/2014/main" id="{F3E20A80-C5BD-4706-BBEF-F4CACF379C61}"/>
                </a:ext>
              </a:extLst>
            </p:cNvPr>
            <p:cNvCxnSpPr>
              <a:cxnSpLocks/>
            </p:cNvCxnSpPr>
            <p:nvPr/>
          </p:nvCxnSpPr>
          <p:spPr>
            <a:xfrm>
              <a:off x="4928260" y="2253446"/>
              <a:ext cx="1888176" cy="749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直接箭头连接符 11">
              <a:extLst>
                <a:ext uri="{FF2B5EF4-FFF2-40B4-BE49-F238E27FC236}">
                  <a16:creationId xmlns:a16="http://schemas.microsoft.com/office/drawing/2014/main" id="{4980DA04-75FA-4347-9938-8797BA56328B}"/>
                </a:ext>
              </a:extLst>
            </p:cNvPr>
            <p:cNvCxnSpPr>
              <a:endCxn id="9" idx="2"/>
            </p:cNvCxnSpPr>
            <p:nvPr/>
          </p:nvCxnSpPr>
          <p:spPr>
            <a:xfrm flipV="1">
              <a:off x="4263241" y="2670614"/>
              <a:ext cx="1" cy="7583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文本框 12">
              <a:extLst>
                <a:ext uri="{FF2B5EF4-FFF2-40B4-BE49-F238E27FC236}">
                  <a16:creationId xmlns:a16="http://schemas.microsoft.com/office/drawing/2014/main" id="{90B667FF-46F9-4956-980F-C1182EDE698B}"/>
                </a:ext>
              </a:extLst>
            </p:cNvPr>
            <p:cNvSpPr txBox="1"/>
            <p:nvPr/>
          </p:nvSpPr>
          <p:spPr>
            <a:xfrm>
              <a:off x="2493817" y="1920863"/>
              <a:ext cx="439387" cy="369332"/>
            </a:xfrm>
            <a:prstGeom prst="rect">
              <a:avLst/>
            </a:prstGeom>
            <a:noFill/>
          </p:spPr>
          <p:txBody>
            <a:bodyPr wrap="square" rtlCol="0">
              <a:spAutoFit/>
            </a:bodyPr>
            <a:lstStyle/>
            <a:p>
              <a:r>
                <a:rPr lang="en-US" altLang="zh-CN" dirty="0"/>
                <a:t>U</a:t>
              </a:r>
              <a:endParaRPr lang="zh-CN" altLang="en-US" dirty="0"/>
            </a:p>
          </p:txBody>
        </p:sp>
        <p:sp>
          <p:nvSpPr>
            <p:cNvPr id="14" name="文本框 13">
              <a:extLst>
                <a:ext uri="{FF2B5EF4-FFF2-40B4-BE49-F238E27FC236}">
                  <a16:creationId xmlns:a16="http://schemas.microsoft.com/office/drawing/2014/main" id="{BEDD1A85-ABA4-495C-9940-D1C5EE9CECE2}"/>
                </a:ext>
              </a:extLst>
            </p:cNvPr>
            <p:cNvSpPr txBox="1"/>
            <p:nvPr/>
          </p:nvSpPr>
          <p:spPr>
            <a:xfrm>
              <a:off x="1917861" y="2298665"/>
              <a:ext cx="1692236" cy="369332"/>
            </a:xfrm>
            <a:prstGeom prst="rect">
              <a:avLst/>
            </a:prstGeom>
            <a:noFill/>
          </p:spPr>
          <p:txBody>
            <a:bodyPr wrap="square" rtlCol="0">
              <a:spAutoFit/>
            </a:bodyPr>
            <a:lstStyle/>
            <a:p>
              <a:r>
                <a:rPr lang="en-US" altLang="zh-CN" dirty="0"/>
                <a:t>{u</a:t>
              </a:r>
              <a:r>
                <a:rPr lang="en-US" altLang="zh-CN" baseline="-25000" dirty="0"/>
                <a:t>1</a:t>
              </a:r>
              <a:r>
                <a:rPr lang="en-US" altLang="zh-CN" dirty="0"/>
                <a:t>, u</a:t>
              </a:r>
              <a:r>
                <a:rPr lang="en-US" altLang="zh-CN" baseline="-25000" dirty="0"/>
                <a:t>2</a:t>
              </a:r>
              <a:r>
                <a:rPr lang="en-US" altLang="zh-CN" dirty="0"/>
                <a:t>,…, </a:t>
              </a:r>
              <a:r>
                <a:rPr lang="en-US" altLang="zh-CN" dirty="0" err="1"/>
                <a:t>u</a:t>
              </a:r>
              <a:r>
                <a:rPr lang="en-US" altLang="zh-CN" baseline="-25000" dirty="0" err="1"/>
                <a:t>q</a:t>
              </a:r>
              <a:r>
                <a:rPr lang="en-US" altLang="zh-CN" dirty="0"/>
                <a:t>,}</a:t>
              </a:r>
              <a:endParaRPr lang="zh-CN" altLang="en-US" dirty="0"/>
            </a:p>
          </p:txBody>
        </p:sp>
        <p:sp>
          <p:nvSpPr>
            <p:cNvPr id="15" name="文本框 14">
              <a:extLst>
                <a:ext uri="{FF2B5EF4-FFF2-40B4-BE49-F238E27FC236}">
                  <a16:creationId xmlns:a16="http://schemas.microsoft.com/office/drawing/2014/main" id="{79BFF2B2-09EF-4842-B9BF-6E73A9ECF88B}"/>
                </a:ext>
              </a:extLst>
            </p:cNvPr>
            <p:cNvSpPr txBox="1"/>
            <p:nvPr/>
          </p:nvSpPr>
          <p:spPr>
            <a:xfrm>
              <a:off x="4263241" y="2733735"/>
              <a:ext cx="1692236" cy="646331"/>
            </a:xfrm>
            <a:prstGeom prst="rect">
              <a:avLst/>
            </a:prstGeom>
            <a:noFill/>
          </p:spPr>
          <p:txBody>
            <a:bodyPr wrap="square" rtlCol="0">
              <a:spAutoFit/>
            </a:bodyPr>
            <a:lstStyle/>
            <a:p>
              <a:r>
                <a:rPr lang="en-US" altLang="zh-CN" dirty="0"/>
                <a:t>X</a:t>
              </a:r>
            </a:p>
            <a:p>
              <a:r>
                <a:rPr lang="en-US" altLang="zh-CN" dirty="0"/>
                <a:t>{x</a:t>
              </a:r>
              <a:r>
                <a:rPr lang="en-US" altLang="zh-CN" baseline="-25000" dirty="0"/>
                <a:t>1</a:t>
              </a:r>
              <a:r>
                <a:rPr lang="en-US" altLang="zh-CN" dirty="0"/>
                <a:t>, x</a:t>
              </a:r>
              <a:r>
                <a:rPr lang="en-US" altLang="zh-CN" baseline="-25000" dirty="0"/>
                <a:t>2</a:t>
              </a:r>
              <a:r>
                <a:rPr lang="en-US" altLang="zh-CN" dirty="0"/>
                <a:t>,…, </a:t>
              </a:r>
              <a:r>
                <a:rPr lang="en-US" altLang="zh-CN" dirty="0" err="1"/>
                <a:t>x</a:t>
              </a:r>
              <a:r>
                <a:rPr lang="en-US" altLang="zh-CN" baseline="-25000" dirty="0" err="1"/>
                <a:t>r</a:t>
              </a:r>
              <a:r>
                <a:rPr lang="en-US" altLang="zh-CN" dirty="0"/>
                <a:t>,}</a:t>
              </a:r>
              <a:endParaRPr lang="zh-CN" altLang="en-US" dirty="0"/>
            </a:p>
          </p:txBody>
        </p:sp>
        <p:sp>
          <p:nvSpPr>
            <p:cNvPr id="16" name="文本框 15">
              <a:extLst>
                <a:ext uri="{FF2B5EF4-FFF2-40B4-BE49-F238E27FC236}">
                  <a16:creationId xmlns:a16="http://schemas.microsoft.com/office/drawing/2014/main" id="{D23C990C-8E6E-4215-B53D-32B4B3437335}"/>
                </a:ext>
              </a:extLst>
            </p:cNvPr>
            <p:cNvSpPr txBox="1"/>
            <p:nvPr/>
          </p:nvSpPr>
          <p:spPr>
            <a:xfrm>
              <a:off x="5379522" y="1920863"/>
              <a:ext cx="439387" cy="369332"/>
            </a:xfrm>
            <a:prstGeom prst="rect">
              <a:avLst/>
            </a:prstGeom>
            <a:noFill/>
          </p:spPr>
          <p:txBody>
            <a:bodyPr wrap="square" rtlCol="0">
              <a:spAutoFit/>
            </a:bodyPr>
            <a:lstStyle/>
            <a:p>
              <a:r>
                <a:rPr lang="en-US" altLang="zh-CN" dirty="0"/>
                <a:t>W</a:t>
              </a:r>
              <a:endParaRPr lang="zh-CN" altLang="en-US" dirty="0"/>
            </a:p>
          </p:txBody>
        </p:sp>
        <p:sp>
          <p:nvSpPr>
            <p:cNvPr id="17" name="文本框 16">
              <a:extLst>
                <a:ext uri="{FF2B5EF4-FFF2-40B4-BE49-F238E27FC236}">
                  <a16:creationId xmlns:a16="http://schemas.microsoft.com/office/drawing/2014/main" id="{4ABD741E-F9C3-40AB-B61E-A03FADD7B713}"/>
                </a:ext>
              </a:extLst>
            </p:cNvPr>
            <p:cNvSpPr txBox="1"/>
            <p:nvPr/>
          </p:nvSpPr>
          <p:spPr>
            <a:xfrm>
              <a:off x="4916386" y="2297168"/>
              <a:ext cx="1692236" cy="369332"/>
            </a:xfrm>
            <a:prstGeom prst="rect">
              <a:avLst/>
            </a:prstGeom>
            <a:noFill/>
          </p:spPr>
          <p:txBody>
            <a:bodyPr wrap="square" rtlCol="0">
              <a:spAutoFit/>
            </a:bodyPr>
            <a:lstStyle/>
            <a:p>
              <a:r>
                <a:rPr lang="en-US" altLang="zh-CN" dirty="0"/>
                <a:t>{w</a:t>
              </a:r>
              <a:r>
                <a:rPr lang="en-US" altLang="zh-CN" baseline="-25000" dirty="0"/>
                <a:t>1</a:t>
              </a:r>
              <a:r>
                <a:rPr lang="en-US" altLang="zh-CN" dirty="0"/>
                <a:t>, w</a:t>
              </a:r>
              <a:r>
                <a:rPr lang="en-US" altLang="zh-CN" baseline="-25000" dirty="0"/>
                <a:t>2</a:t>
              </a:r>
              <a:r>
                <a:rPr lang="en-US" altLang="zh-CN" dirty="0"/>
                <a:t>,…, </a:t>
              </a:r>
              <a:r>
                <a:rPr lang="en-US" altLang="zh-CN" dirty="0" err="1"/>
                <a:t>w</a:t>
              </a:r>
              <a:r>
                <a:rPr lang="en-US" altLang="zh-CN" baseline="-25000" dirty="0" err="1"/>
                <a:t>q</a:t>
              </a:r>
              <a:r>
                <a:rPr lang="en-US" altLang="zh-CN" dirty="0"/>
                <a:t>,}</a:t>
              </a:r>
              <a:endParaRPr lang="zh-CN" altLang="en-US" dirty="0"/>
            </a:p>
          </p:txBody>
        </p:sp>
      </p:grpSp>
      <p:sp>
        <p:nvSpPr>
          <p:cNvPr id="18" name="矩形 17"/>
          <p:cNvSpPr/>
          <p:nvPr/>
        </p:nvSpPr>
        <p:spPr>
          <a:xfrm>
            <a:off x="186431" y="2764994"/>
            <a:ext cx="4404867" cy="4413516"/>
          </a:xfrm>
          <a:prstGeom prst="rect">
            <a:avLst/>
          </a:prstGeom>
        </p:spPr>
        <p:txBody>
          <a:bodyPr wrap="square">
            <a:spAutoFit/>
          </a:bodyPr>
          <a:lstStyle/>
          <a:p>
            <a:pPr marL="285750" indent="-285750">
              <a:lnSpc>
                <a:spcPct val="120000"/>
              </a:lnSpc>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霍夫曼编码实际上构造了一</a:t>
            </a:r>
            <a:r>
              <a:rPr lang="zh-CN" altLang="en-US" dirty="0" smtClean="0">
                <a:latin typeface="楷体" panose="02010609060101010101" pitchFamily="49" charset="-122"/>
                <a:ea typeface="楷体" panose="02010609060101010101" pitchFamily="49" charset="-122"/>
              </a:rPr>
              <a:t>个</a:t>
            </a:r>
            <a:r>
              <a:rPr lang="en-US" altLang="zh-CN" dirty="0" smtClean="0">
                <a:latin typeface="楷体" panose="02010609060101010101" pitchFamily="49" charset="-122"/>
                <a:ea typeface="楷体" panose="02010609060101010101" pitchFamily="49" charset="-122"/>
              </a:rPr>
              <a:t>Huffman</a:t>
            </a:r>
            <a:r>
              <a:rPr lang="zh-CN" altLang="en-US" dirty="0">
                <a:latin typeface="楷体" panose="02010609060101010101" pitchFamily="49" charset="-122"/>
                <a:ea typeface="楷体" panose="02010609060101010101" pitchFamily="49" charset="-122"/>
              </a:rPr>
              <a:t>树，从最上层端点开始，直到树根结束，最后得到一个横放的码树，编出的是非续长码，从树根到端点经过的树枝即为码字</a:t>
            </a:r>
            <a:r>
              <a:rPr lang="zh-CN" altLang="en-US" dirty="0" smtClean="0">
                <a:latin typeface="楷体" panose="02010609060101010101" pitchFamily="49" charset="-122"/>
                <a:ea typeface="楷体" panose="02010609060101010101" pitchFamily="49" charset="-122"/>
              </a:rPr>
              <a:t>。他</a:t>
            </a:r>
            <a:r>
              <a:rPr lang="zh-CN" altLang="en-US" dirty="0">
                <a:latin typeface="楷体" panose="02010609060101010101" pitchFamily="49" charset="-122"/>
                <a:ea typeface="楷体" panose="02010609060101010101" pitchFamily="49" charset="-122"/>
              </a:rPr>
              <a:t>用概率匹配方法决定各码字的码长，概率大的符号</a:t>
            </a:r>
            <a:r>
              <a:rPr lang="zh-CN" altLang="en-US" dirty="0" smtClean="0">
                <a:latin typeface="楷体" panose="02010609060101010101" pitchFamily="49" charset="-122"/>
                <a:ea typeface="楷体" panose="02010609060101010101" pitchFamily="49" charset="-122"/>
              </a:rPr>
              <a:t>对应短</a:t>
            </a:r>
            <a:r>
              <a:rPr lang="zh-CN" altLang="en-US" dirty="0">
                <a:latin typeface="楷体" panose="02010609060101010101" pitchFamily="49" charset="-122"/>
                <a:ea typeface="楷体" panose="02010609060101010101" pitchFamily="49" charset="-122"/>
              </a:rPr>
              <a:t>码，概率小的符号</a:t>
            </a:r>
            <a:r>
              <a:rPr lang="zh-CN" altLang="en-US" dirty="0" smtClean="0">
                <a:latin typeface="楷体" panose="02010609060101010101" pitchFamily="49" charset="-122"/>
                <a:ea typeface="楷体" panose="02010609060101010101" pitchFamily="49" charset="-122"/>
              </a:rPr>
              <a:t>对应长</a:t>
            </a:r>
            <a:r>
              <a:rPr lang="zh-CN" altLang="en-US" dirty="0">
                <a:latin typeface="楷体" panose="02010609060101010101" pitchFamily="49" charset="-122"/>
                <a:ea typeface="楷体" panose="02010609060101010101" pitchFamily="49" charset="-122"/>
              </a:rPr>
              <a:t>码，从而平均码长最小</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285750" indent="-285750">
              <a:lnSpc>
                <a:spcPct val="120000"/>
              </a:lnSpc>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算术编码不是将单个信源符号映射为一个码字，而是把整个信源输出的符号序列表示为实数线</a:t>
            </a:r>
            <a:r>
              <a:rPr lang="en-US" altLang="zh-CN" dirty="0">
                <a:latin typeface="楷体" panose="02010609060101010101" pitchFamily="49" charset="-122"/>
                <a:ea typeface="楷体" panose="02010609060101010101" pitchFamily="49" charset="-122"/>
              </a:rPr>
              <a:t>[0,1)</a:t>
            </a:r>
            <a:r>
              <a:rPr lang="zh-CN" altLang="en-US" dirty="0">
                <a:latin typeface="楷体" panose="02010609060101010101" pitchFamily="49" charset="-122"/>
                <a:ea typeface="楷体" panose="02010609060101010101" pitchFamily="49" charset="-122"/>
              </a:rPr>
              <a:t>之间的一个区间，其长度等于该序列出现的概率。</a:t>
            </a:r>
            <a:endParaRPr lang="en-US" altLang="zh-CN" dirty="0">
              <a:latin typeface="楷体" panose="02010609060101010101" pitchFamily="49" charset="-122"/>
              <a:ea typeface="楷体" panose="02010609060101010101" pitchFamily="49" charset="-122"/>
            </a:endParaRPr>
          </a:p>
          <a:p>
            <a:pPr marL="285750" indent="-285750">
              <a:lnSpc>
                <a:spcPct val="120000"/>
              </a:lnSpc>
              <a:buFont typeface="Wingdings" panose="05000000000000000000" pitchFamily="2" charset="2"/>
              <a:buChar char="Ø"/>
            </a:pPr>
            <a:endParaRPr lang="zh-CN" altLang="en-US" dirty="0">
              <a:latin typeface="楷体" panose="02010609060101010101" pitchFamily="49" charset="-122"/>
              <a:ea typeface="楷体" panose="02010609060101010101" pitchFamily="49" charset="-122"/>
            </a:endParaRPr>
          </a:p>
          <a:p>
            <a:pPr marL="285750" indent="-285750">
              <a:lnSpc>
                <a:spcPct val="120000"/>
              </a:lnSpc>
              <a:buFont typeface="Wingdings" panose="05000000000000000000" pitchFamily="2" charset="2"/>
              <a:buChar char="Ø"/>
            </a:pP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71083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8857" y="300548"/>
            <a:ext cx="6096000" cy="4247317"/>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四、信道及其</a:t>
            </a:r>
            <a:r>
              <a:rPr lang="zh-CN" altLang="zh-CN" kern="100" dirty="0" smtClean="0">
                <a:latin typeface="Times New Roman" panose="02020603050405020304" pitchFamily="18" charset="0"/>
                <a:cs typeface="Times New Roman" panose="02020603050405020304" pitchFamily="18" charset="0"/>
              </a:rPr>
              <a:t>信道容量</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）单符号离散信道及其模型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2</a:t>
            </a:r>
            <a:r>
              <a:rPr lang="zh-CN" altLang="zh-CN" kern="100" dirty="0">
                <a:solidFill>
                  <a:srgbClr val="FF0000"/>
                </a:solidFill>
                <a:latin typeface="等线" panose="02010600030101010101" pitchFamily="2" charset="-122"/>
                <a:cs typeface="Times New Roman" panose="02020603050405020304" pitchFamily="18" charset="0"/>
              </a:rPr>
              <a:t>）单符号离散信道的信道容量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3</a:t>
            </a:r>
            <a:r>
              <a:rPr lang="zh-CN" altLang="zh-CN" kern="100" dirty="0">
                <a:solidFill>
                  <a:srgbClr val="FF0000"/>
                </a:solidFill>
                <a:latin typeface="等线" panose="02010600030101010101" pitchFamily="2" charset="-122"/>
                <a:cs typeface="Times New Roman" panose="02020603050405020304" pitchFamily="18" charset="0"/>
              </a:rPr>
              <a:t>）对称信道、准对称信道等特殊信道的信道容量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4</a:t>
            </a:r>
            <a:r>
              <a:rPr lang="zh-CN" altLang="zh-CN" kern="100" dirty="0">
                <a:solidFill>
                  <a:srgbClr val="FF0000"/>
                </a:solidFill>
                <a:latin typeface="等线" panose="02010600030101010101" pitchFamily="2" charset="-122"/>
                <a:cs typeface="Times New Roman" panose="02020603050405020304" pitchFamily="18" charset="0"/>
              </a:rPr>
              <a:t>）离散平稳无记忆信道（</a:t>
            </a:r>
            <a:r>
              <a:rPr lang="en-US" altLang="zh-CN" kern="100" dirty="0">
                <a:solidFill>
                  <a:srgbClr val="FF0000"/>
                </a:solidFill>
                <a:latin typeface="等线" panose="02010600030101010101" pitchFamily="2" charset="-122"/>
                <a:cs typeface="Times New Roman" panose="02020603050405020304" pitchFamily="18" charset="0"/>
              </a:rPr>
              <a:t>n</a:t>
            </a:r>
            <a:r>
              <a:rPr lang="zh-CN" altLang="zh-CN" kern="100" dirty="0">
                <a:solidFill>
                  <a:srgbClr val="FF0000"/>
                </a:solidFill>
                <a:latin typeface="等线" panose="02010600030101010101" pitchFamily="2" charset="-122"/>
                <a:cs typeface="Times New Roman" panose="02020603050405020304" pitchFamily="18" charset="0"/>
              </a:rPr>
              <a:t>次扩展信道）及其模型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5</a:t>
            </a: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n</a:t>
            </a:r>
            <a:r>
              <a:rPr lang="zh-CN" altLang="zh-CN" kern="100" dirty="0">
                <a:solidFill>
                  <a:srgbClr val="FF0000"/>
                </a:solidFill>
                <a:latin typeface="等线" panose="02010600030101010101" pitchFamily="2" charset="-122"/>
                <a:cs typeface="Times New Roman" panose="02020603050405020304" pitchFamily="18" charset="0"/>
              </a:rPr>
              <a:t>次扩展信道的平均互信息与信道容量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6</a:t>
            </a:r>
            <a:r>
              <a:rPr lang="zh-CN" altLang="zh-CN" kern="100" dirty="0">
                <a:solidFill>
                  <a:srgbClr val="FF0000"/>
                </a:solidFill>
                <a:latin typeface="等线" panose="02010600030101010101" pitchFamily="2" charset="-122"/>
                <a:cs typeface="Times New Roman" panose="02020603050405020304" pitchFamily="18" charset="0"/>
              </a:rPr>
              <a:t>）单符号连续信道及其模型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7</a:t>
            </a:r>
            <a:r>
              <a:rPr lang="zh-CN" altLang="zh-CN" kern="100" dirty="0">
                <a:solidFill>
                  <a:srgbClr val="FF0000"/>
                </a:solidFill>
                <a:latin typeface="等线" panose="02010600030101010101" pitchFamily="2" charset="-122"/>
                <a:cs typeface="Times New Roman" panose="02020603050405020304" pitchFamily="18" charset="0"/>
              </a:rPr>
              <a:t>）单符号连续信道的平均互信息与信道容量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8</a:t>
            </a:r>
            <a:r>
              <a:rPr lang="zh-CN" altLang="zh-CN" kern="100" dirty="0">
                <a:solidFill>
                  <a:srgbClr val="FF0000"/>
                </a:solidFill>
                <a:latin typeface="等线" panose="02010600030101010101" pitchFamily="2" charset="-122"/>
                <a:cs typeface="Times New Roman" panose="02020603050405020304" pitchFamily="18" charset="0"/>
              </a:rPr>
              <a:t>）高斯信道的信道容量与香农</a:t>
            </a:r>
            <a:r>
              <a:rPr lang="zh-CN" altLang="zh-CN" kern="100" dirty="0" smtClean="0">
                <a:solidFill>
                  <a:srgbClr val="FF0000"/>
                </a:solidFill>
                <a:latin typeface="等线" panose="02010600030101010101" pitchFamily="2" charset="-122"/>
                <a:cs typeface="Times New Roman" panose="02020603050405020304" pitchFamily="18" charset="0"/>
              </a:rPr>
              <a:t>公式</a:t>
            </a:r>
            <a:endParaRPr lang="en-US" altLang="zh-CN" kern="100" dirty="0" smtClean="0">
              <a:solidFill>
                <a:srgbClr val="FF0000"/>
              </a:solidFill>
              <a:latin typeface="等线" panose="02010600030101010101" pitchFamily="2" charset="-122"/>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）多符号离散信道及其模型</a:t>
            </a:r>
          </a:p>
          <a:p>
            <a:pPr algn="just">
              <a:spcAft>
                <a:spcPts val="0"/>
              </a:spcAft>
            </a:pPr>
            <a:r>
              <a:rPr lang="en-US" altLang="zh-CN" kern="100" dirty="0">
                <a:latin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cs typeface="Times New Roman" panose="02020603050405020304" pitchFamily="18" charset="0"/>
            </a:endParaRPr>
          </a:p>
        </p:txBody>
      </p:sp>
      <p:grpSp>
        <p:nvGrpSpPr>
          <p:cNvPr id="4" name="组合 3"/>
          <p:cNvGrpSpPr/>
          <p:nvPr/>
        </p:nvGrpSpPr>
        <p:grpSpPr>
          <a:xfrm>
            <a:off x="6894979" y="1567305"/>
            <a:ext cx="4410634" cy="1085243"/>
            <a:chOff x="2151529" y="2122856"/>
            <a:chExt cx="4410634" cy="1085243"/>
          </a:xfrm>
        </p:grpSpPr>
        <p:sp>
          <p:nvSpPr>
            <p:cNvPr id="5" name="矩形 4"/>
            <p:cNvSpPr/>
            <p:nvPr/>
          </p:nvSpPr>
          <p:spPr>
            <a:xfrm>
              <a:off x="3818965" y="2492188"/>
              <a:ext cx="1075764" cy="61856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楷体" panose="02010609060101010101" pitchFamily="49" charset="-122"/>
                  <a:ea typeface="楷体" panose="02010609060101010101" pitchFamily="49" charset="-122"/>
                </a:rPr>
                <a:t>信道</a:t>
              </a:r>
            </a:p>
          </p:txBody>
        </p:sp>
        <p:cxnSp>
          <p:nvCxnSpPr>
            <p:cNvPr id="6" name="直接箭头连接符 5"/>
            <p:cNvCxnSpPr/>
            <p:nvPr/>
          </p:nvCxnSpPr>
          <p:spPr>
            <a:xfrm>
              <a:off x="3048000" y="2801470"/>
              <a:ext cx="77096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4894729" y="2823881"/>
              <a:ext cx="77096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249705" y="2454549"/>
              <a:ext cx="367553"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endParaRPr lang="zh-CN" altLang="en-US" i="1"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5069540" y="2469435"/>
              <a:ext cx="367553"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endParaRPr lang="zh-CN" altLang="en-US" i="1" dirty="0">
                <a:latin typeface="Times New Roman" panose="02020603050405020304" pitchFamily="18" charset="0"/>
                <a:cs typeface="Times New Roman" panose="02020603050405020304" pitchFamily="18" charset="0"/>
              </a:endParaRPr>
            </a:p>
          </p:txBody>
        </p:sp>
        <p:sp>
          <p:nvSpPr>
            <p:cNvPr id="10" name="文本框 9"/>
            <p:cNvSpPr txBox="1"/>
            <p:nvPr/>
          </p:nvSpPr>
          <p:spPr>
            <a:xfrm>
              <a:off x="3818964" y="2122856"/>
              <a:ext cx="1075766" cy="369332"/>
            </a:xfrm>
            <a:prstGeom prst="rect">
              <a:avLst/>
            </a:prstGeom>
            <a:noFill/>
          </p:spPr>
          <p:txBody>
            <a:bodyPr wrap="square" rtlCol="0">
              <a:spAutoFit/>
            </a:bodyPr>
            <a:lstStyle/>
            <a:p>
              <a:pPr algn="ctr"/>
              <a:r>
                <a:rPr lang="en-US" altLang="zh-CN" i="1" dirty="0">
                  <a:latin typeface="Times New Roman" panose="02020603050405020304" pitchFamily="18" charset="0"/>
                  <a:cs typeface="Times New Roman" panose="02020603050405020304" pitchFamily="18" charset="0"/>
                </a:rPr>
                <a:t>P(Y|X)</a:t>
              </a:r>
              <a:endParaRPr lang="zh-CN" altLang="en-US" i="1"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2151529" y="2838767"/>
              <a:ext cx="1667435"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X</a:t>
              </a:r>
              <a:r>
                <a:rPr lang="en-US" altLang="zh-CN" i="1"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,X</a:t>
              </a:r>
              <a:r>
                <a:rPr lang="en-US" altLang="zh-CN" i="1" baseline="-25000"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,…,X</a:t>
              </a:r>
              <a:r>
                <a:rPr lang="en-US" altLang="zh-CN" i="1" baseline="-25000" dirty="0">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2" name="文本框 11"/>
            <p:cNvSpPr txBox="1"/>
            <p:nvPr/>
          </p:nvSpPr>
          <p:spPr>
            <a:xfrm>
              <a:off x="4894728" y="2838767"/>
              <a:ext cx="1667435" cy="369332"/>
            </a:xfrm>
            <a:prstGeom prst="rect">
              <a:avLst/>
            </a:prstGeom>
            <a:noFill/>
          </p:spPr>
          <p:txBody>
            <a:bodyPr wrap="square" rtlCol="0">
              <a:spAutoFit/>
            </a:bodyPr>
            <a:lstStyle/>
            <a:p>
              <a:r>
                <a:rPr lang="en-US" altLang="zh-CN" i="1" dirty="0">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Y</a:t>
              </a:r>
              <a:r>
                <a:rPr lang="en-US" altLang="zh-CN" i="1" baseline="-25000"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,Y</a:t>
              </a:r>
              <a:r>
                <a:rPr lang="en-US" altLang="zh-CN" i="1" baseline="-25000" dirty="0">
                  <a:latin typeface="Times New Roman" panose="02020603050405020304" pitchFamily="18" charset="0"/>
                  <a:cs typeface="Times New Roman" panose="02020603050405020304" pitchFamily="18" charset="0"/>
                </a:rPr>
                <a:t>2</a:t>
              </a:r>
              <a:r>
                <a:rPr lang="en-US" altLang="zh-CN" i="1" dirty="0">
                  <a:latin typeface="Times New Roman" panose="02020603050405020304" pitchFamily="18" charset="0"/>
                  <a:cs typeface="Times New Roman" panose="02020603050405020304" pitchFamily="18" charset="0"/>
                </a:rPr>
                <a:t>,…,Y</a:t>
              </a:r>
              <a:r>
                <a:rPr lang="en-US" altLang="zh-CN" i="1" baseline="-25000" dirty="0">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grpSp>
      <p:sp>
        <p:nvSpPr>
          <p:cNvPr id="13" name="矩形 12"/>
          <p:cNvSpPr/>
          <p:nvPr/>
        </p:nvSpPr>
        <p:spPr>
          <a:xfrm>
            <a:off x="6325073" y="643975"/>
            <a:ext cx="5866927" cy="6047809"/>
          </a:xfrm>
          <a:prstGeom prst="rect">
            <a:avLst/>
          </a:prstGeom>
        </p:spPr>
        <p:txBody>
          <a:bodyPr wrap="square">
            <a:spAutoFit/>
          </a:bodyPr>
          <a:lstStyle/>
          <a:p>
            <a:pPr marL="285750" indent="-285750">
              <a:spcBef>
                <a:spcPct val="50000"/>
              </a:spcBef>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对信道描述的三</a:t>
            </a:r>
            <a:r>
              <a:rPr lang="zh-CN" altLang="en-US" dirty="0" smtClean="0">
                <a:latin typeface="楷体" panose="02010609060101010101" pitchFamily="49" charset="-122"/>
                <a:ea typeface="楷体" panose="02010609060101010101" pitchFamily="49" charset="-122"/>
              </a:rPr>
              <a:t>要素：</a:t>
            </a:r>
            <a:r>
              <a:rPr lang="zh-CN" altLang="en-US" dirty="0">
                <a:latin typeface="楷体" panose="02010609060101010101" pitchFamily="49" charset="-122"/>
                <a:ea typeface="楷体" panose="02010609060101010101" pitchFamily="49" charset="-122"/>
              </a:rPr>
              <a:t>信道输入</a:t>
            </a:r>
            <a:r>
              <a:rPr lang="zh-CN" altLang="en-US" dirty="0" smtClean="0">
                <a:latin typeface="楷体" panose="02010609060101010101" pitchFamily="49" charset="-122"/>
                <a:ea typeface="楷体" panose="02010609060101010101" pitchFamily="49" charset="-122"/>
              </a:rPr>
              <a:t>统计概率，</a:t>
            </a:r>
            <a:r>
              <a:rPr lang="zh-CN" altLang="en-US" dirty="0">
                <a:latin typeface="楷体" panose="02010609060101010101" pitchFamily="49" charset="-122"/>
                <a:ea typeface="楷体" panose="02010609060101010101" pitchFamily="49" charset="-122"/>
              </a:rPr>
              <a:t>信道输出</a:t>
            </a:r>
            <a:r>
              <a:rPr lang="zh-CN" altLang="en-US" dirty="0" smtClean="0">
                <a:latin typeface="楷体" panose="02010609060101010101" pitchFamily="49" charset="-122"/>
                <a:ea typeface="楷体" panose="02010609060101010101" pitchFamily="49" charset="-122"/>
              </a:rPr>
              <a:t>统计概率，</a:t>
            </a:r>
            <a:r>
              <a:rPr lang="zh-CN" altLang="en-US" dirty="0">
                <a:latin typeface="楷体" panose="02010609060101010101" pitchFamily="49" charset="-122"/>
                <a:ea typeface="楷体" panose="02010609060101010101" pitchFamily="49" charset="-122"/>
              </a:rPr>
              <a:t>信道本身的</a:t>
            </a:r>
            <a:r>
              <a:rPr lang="zh-CN" altLang="en-US" dirty="0" smtClean="0">
                <a:latin typeface="楷体" panose="02010609060101010101" pitchFamily="49" charset="-122"/>
                <a:ea typeface="楷体" panose="02010609060101010101" pitchFamily="49" charset="-122"/>
              </a:rPr>
              <a:t>统计特性，转移概率代表了信道</a:t>
            </a:r>
            <a:r>
              <a:rPr lang="zh-CN" altLang="en-US" dirty="0">
                <a:latin typeface="楷体" panose="02010609060101010101" pitchFamily="49" charset="-122"/>
                <a:ea typeface="楷体" panose="02010609060101010101" pitchFamily="49" charset="-122"/>
              </a:rPr>
              <a:t>本身</a:t>
            </a:r>
            <a:r>
              <a:rPr lang="zh-CN" altLang="en-US" dirty="0" smtClean="0">
                <a:latin typeface="楷体" panose="02010609060101010101" pitchFamily="49" charset="-122"/>
                <a:ea typeface="楷体" panose="02010609060101010101" pitchFamily="49" charset="-122"/>
              </a:rPr>
              <a:t>的特性。</a:t>
            </a:r>
            <a:endParaRPr lang="en-US" altLang="zh-CN" dirty="0" smtClean="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smtClean="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r>
              <a:rPr lang="zh-CN" altLang="en-US" dirty="0">
                <a:latin typeface="楷体" panose="02010609060101010101" pitchFamily="49" charset="-122"/>
                <a:ea typeface="楷体" panose="02010609060101010101" pitchFamily="49" charset="-122"/>
              </a:rPr>
              <a:t>离散无记忆信道（</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discrete memoryless channel, DMC</a:t>
            </a:r>
            <a:r>
              <a:rPr lang="zh-CN" altLang="en-US" dirty="0">
                <a:latin typeface="楷体" panose="02010609060101010101" pitchFamily="49" charset="-122"/>
                <a:ea typeface="楷体" panose="02010609060101010101" pitchFamily="49" charset="-122"/>
              </a:rPr>
              <a:t>），若有</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楷体" panose="02010609060101010101" pitchFamily="49" charset="-122"/>
                <a:ea typeface="楷体" panose="02010609060101010101" pitchFamily="49" charset="-122"/>
              </a:rPr>
              <a:t>个输入，</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m</a:t>
            </a:r>
            <a:r>
              <a:rPr lang="zh-CN" altLang="en-US" dirty="0">
                <a:latin typeface="楷体" panose="02010609060101010101" pitchFamily="49" charset="-122"/>
                <a:ea typeface="楷体" panose="02010609060101010101" pitchFamily="49" charset="-122"/>
              </a:rPr>
              <a:t>个输出，那么信道传输概率矩阵为</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smtClean="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endParaRPr lang="en-US" altLang="zh-CN" dirty="0" smtClean="0">
              <a:latin typeface="楷体" panose="02010609060101010101" pitchFamily="49" charset="-122"/>
              <a:ea typeface="楷体" panose="02010609060101010101" pitchFamily="49" charset="-122"/>
            </a:endParaRPr>
          </a:p>
          <a:p>
            <a:pPr marL="285750" indent="-285750">
              <a:spcBef>
                <a:spcPct val="50000"/>
              </a:spcBef>
              <a:buFont typeface="Wingdings" panose="05000000000000000000" pitchFamily="2" charset="2"/>
              <a:buChar char="Ø"/>
            </a:pP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信道容量</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是在传输消息</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不产生失真</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条件下，信道允许的</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最大信息</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传输速率</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 C=</a:t>
            </a:r>
            <a:r>
              <a:rPr lang="en-US" altLang="zh-CN" i="1" dirty="0" err="1">
                <a:latin typeface="Times New Roman" panose="02020603050405020304" pitchFamily="18" charset="0"/>
                <a:ea typeface="楷体" panose="02010609060101010101" pitchFamily="49" charset="-122"/>
                <a:cs typeface="Times New Roman" panose="02020603050405020304" pitchFamily="18" charset="0"/>
              </a:rPr>
              <a:t>R</a:t>
            </a:r>
            <a:r>
              <a:rPr lang="en-US" altLang="zh-CN" i="1" baseline="-25000" dirty="0" err="1">
                <a:latin typeface="Times New Roman" panose="02020603050405020304" pitchFamily="18" charset="0"/>
                <a:ea typeface="楷体" panose="02010609060101010101" pitchFamily="49" charset="-122"/>
                <a:cs typeface="Times New Roman" panose="02020603050405020304" pitchFamily="18" charset="0"/>
              </a:rPr>
              <a:t>max</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i="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考虑无扰</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离散信道</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C</a:t>
            </a:r>
            <a:r>
              <a:rPr lang="zh-CN" altLang="en-US" i="1"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H(X)</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 max</a:t>
            </a:r>
            <a:r>
              <a:rPr lang="zh-CN" altLang="en-US" i="1" baseline="-25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考虑有扰离散信道</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C=</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I(X</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Y)</a:t>
            </a:r>
            <a:r>
              <a:rPr lang="en-US" altLang="zh-CN" i="1" baseline="-25000" dirty="0" smtClean="0">
                <a:latin typeface="Times New Roman" panose="02020603050405020304" pitchFamily="18" charset="0"/>
                <a:ea typeface="楷体" panose="02010609060101010101" pitchFamily="49" charset="-122"/>
                <a:cs typeface="Times New Roman" panose="02020603050405020304" pitchFamily="18" charset="0"/>
              </a:rPr>
              <a:t> max</a:t>
            </a:r>
            <a:r>
              <a:rPr lang="en-US" altLang="zh-CN" i="1"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所以</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计算信道容量就是要选择适当的信道输入消息集合的概率分布</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{P(x)}</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，使得信息传输速率达到最大值</a:t>
            </a:r>
            <a:endParaRPr lang="en-US" altLang="zh-CN"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A7E4E8C-A09A-8B6A-81CD-7D0F0ADA424C}"/>
                  </a:ext>
                </a:extLst>
              </p:cNvPr>
              <p:cNvSpPr txBox="1"/>
              <p:nvPr/>
            </p:nvSpPr>
            <p:spPr>
              <a:xfrm>
                <a:off x="6541002" y="3644378"/>
                <a:ext cx="4699556" cy="10703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𝑗</m:t>
                                  </m:r>
                                </m:sub>
                              </m:sSub>
                            </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𝑗𝑖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3"/>
                                    <m:mcJc m:val="center"/>
                                  </m:mcPr>
                                </m:mc>
                              </m:mcs>
                              <m:ctrlPr>
                                <a:rPr lang="en-US" altLang="zh-CN" b="0" i="1" smtClean="0">
                                  <a:latin typeface="Cambria Math" panose="02040503050406030204" pitchFamily="18" charset="0"/>
                                </a:rPr>
                              </m:ctrlPr>
                            </m:mPr>
                            <m:m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11</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2</m:t>
                                    </m:r>
                                    <m:r>
                                      <a:rPr lang="en-US" altLang="zh-CN" i="1">
                                        <a:latin typeface="Cambria Math" panose="02040503050406030204" pitchFamily="18" charset="0"/>
                                      </a:rPr>
                                      <m:t>1</m:t>
                                    </m:r>
                                  </m:sub>
                                </m:sSub>
                              </m:e>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𝑚</m:t>
                                          </m:r>
                                          <m:r>
                                            <a:rPr lang="en-US" altLang="zh-CN" i="1">
                                              <a:latin typeface="Cambria Math" panose="02040503050406030204" pitchFamily="18" charset="0"/>
                                            </a:rPr>
                                            <m:t>1</m:t>
                                          </m:r>
                                        </m:sub>
                                      </m:sSub>
                                    </m:e>
                                  </m:mr>
                                </m:m>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r>
                                      <a:rPr lang="en-US" altLang="zh-CN" b="0" i="1" smtClean="0">
                                        <a:latin typeface="Cambria Math" panose="02040503050406030204" pitchFamily="18" charset="0"/>
                                      </a:rPr>
                                      <m:t>2</m:t>
                                    </m:r>
                                  </m:sub>
                                </m:sSub>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22</m:t>
                                    </m:r>
                                  </m:sub>
                                </m:sSub>
                              </m:e>
                              <m:e>
                                <m:m>
                                  <m:mPr>
                                    <m:mcs>
                                      <m:mc>
                                        <m:mcPr>
                                          <m:count m:val="2"/>
                                          <m:mcJc m:val="center"/>
                                        </m:mcPr>
                                      </m:mc>
                                    </m:mcs>
                                    <m:ctrlPr>
                                      <a:rPr lang="en-US" altLang="zh-CN" b="0" i="1" smtClean="0">
                                        <a:latin typeface="Cambria Math" panose="02040503050406030204" pitchFamily="18" charset="0"/>
                                      </a:rPr>
                                    </m:ctrlPr>
                                  </m:mPr>
                                  <m:mr>
                                    <m:e>
                                      <m:r>
                                        <m:rPr>
                                          <m:brk m:alnAt="7"/>
                                        </m:rPr>
                                        <a:rPr lang="en-US" altLang="zh-CN" i="1">
                                          <a:latin typeface="Cambria Math" panose="02040503050406030204" pitchFamily="18" charset="0"/>
                                        </a:rPr>
                                        <m:t>⋯</m:t>
                                      </m:r>
                                    </m:e>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𝑚</m:t>
                                          </m:r>
                                          <m:r>
                                            <a:rPr lang="en-US" altLang="zh-CN" b="0" i="1" smtClean="0">
                                              <a:latin typeface="Cambria Math" panose="02040503050406030204" pitchFamily="18" charset="0"/>
                                            </a:rPr>
                                            <m:t>2</m:t>
                                          </m:r>
                                        </m:sub>
                                      </m:sSub>
                                    </m:e>
                                  </m:mr>
                                </m:m>
                              </m:e>
                            </m:mr>
                            <m:m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m:t>
                                      </m:r>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r>
                                            <a:rPr lang="en-US" altLang="zh-CN" b="0" i="1" smtClean="0">
                                              <a:latin typeface="Cambria Math" panose="02040503050406030204" pitchFamily="18" charset="0"/>
                                            </a:rPr>
                                            <m:t>𝑛</m:t>
                                          </m:r>
                                        </m:sub>
                                      </m:sSub>
                                    </m:e>
                                  </m:mr>
                                </m:m>
                              </m:e>
                              <m:e>
                                <m:m>
                                  <m:mPr>
                                    <m:mcs>
                                      <m:mc>
                                        <m:mcPr>
                                          <m:count m:val="1"/>
                                          <m:mcJc m:val="center"/>
                                        </m:mcPr>
                                      </m:mc>
                                    </m:mcs>
                                    <m:ctrlPr>
                                      <a:rPr lang="en-US" altLang="zh-CN" b="0" i="1" smtClean="0">
                                        <a:latin typeface="Cambria Math" panose="02040503050406030204" pitchFamily="18" charset="0"/>
                                      </a:rPr>
                                    </m:ctrlPr>
                                  </m:mPr>
                                  <m:mr>
                                    <m:e>
                                      <m:r>
                                        <m:rPr>
                                          <m:brk m:alnAt="7"/>
                                        </m:rPr>
                                        <a:rPr lang="en-US" altLang="zh-CN" i="1">
                                          <a:latin typeface="Cambria Math" panose="02040503050406030204" pitchFamily="18" charset="0"/>
                                        </a:rPr>
                                        <m:t>⋮</m:t>
                                      </m:r>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2</m:t>
                                          </m:r>
                                          <m:r>
                                            <a:rPr lang="en-US" altLang="zh-CN" b="0" i="1" smtClean="0">
                                              <a:latin typeface="Cambria Math" panose="02040503050406030204" pitchFamily="18" charset="0"/>
                                            </a:rPr>
                                            <m:t>𝑛</m:t>
                                          </m:r>
                                        </m:sub>
                                      </m:sSub>
                                    </m:e>
                                  </m:mr>
                                </m:m>
                              </m:e>
                              <m:e>
                                <m:m>
                                  <m:mPr>
                                    <m:mcs>
                                      <m:mc>
                                        <m:mcPr>
                                          <m:count m:val="2"/>
                                          <m:mcJc m:val="center"/>
                                        </m:mcPr>
                                      </m:mc>
                                    </m:mcs>
                                    <m:ctrlPr>
                                      <a:rPr lang="en-US" altLang="zh-CN" b="0" i="1" smtClean="0">
                                        <a:latin typeface="Cambria Math" panose="02040503050406030204" pitchFamily="18" charset="0"/>
                                      </a:rPr>
                                    </m:ctrlPr>
                                  </m:mPr>
                                  <m:mr>
                                    <m:e>
                                      <m:m>
                                        <m:mPr>
                                          <m:mcs>
                                            <m:mc>
                                              <m:mcPr>
                                                <m:count m:val="1"/>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m:t>
                                            </m:r>
                                          </m:e>
                                        </m:mr>
                                        <m:mr>
                                          <m:e>
                                            <m:r>
                                              <m:rPr>
                                                <m:brk m:alnAt="7"/>
                                              </m:rPr>
                                              <a:rPr lang="en-US" altLang="zh-CN" i="1">
                                                <a:latin typeface="Cambria Math" panose="02040503050406030204" pitchFamily="18" charset="0"/>
                                              </a:rPr>
                                              <m:t>⋯</m:t>
                                            </m:r>
                                          </m:e>
                                        </m:mr>
                                      </m:m>
                                    </m:e>
                                    <m:e>
                                      <m:m>
                                        <m:mPr>
                                          <m:mcs>
                                            <m:mc>
                                              <m:mcPr>
                                                <m:count m:val="1"/>
                                                <m:mcJc m:val="center"/>
                                              </m:mcPr>
                                            </m:mc>
                                          </m:mcs>
                                          <m:ctrlPr>
                                            <a:rPr lang="en-US" altLang="zh-CN" b="0" i="1" smtClean="0">
                                              <a:latin typeface="Cambria Math" panose="02040503050406030204" pitchFamily="18" charset="0"/>
                                            </a:rPr>
                                          </m:ctrlPr>
                                        </m:mPr>
                                        <m:mr>
                                          <m:e>
                                            <m:r>
                                              <m:rPr>
                                                <m:brk m:alnAt="7"/>
                                              </m:rPr>
                                              <a:rPr lang="en-US" altLang="zh-CN" i="1">
                                                <a:latin typeface="Cambria Math" panose="02040503050406030204" pitchFamily="18" charset="0"/>
                                              </a:rPr>
                                              <m:t>⋮</m:t>
                                            </m:r>
                                          </m:e>
                                        </m:mr>
                                        <m:mr>
                                          <m:e>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𝑚𝑛</m:t>
                                                </m:r>
                                              </m:sub>
                                            </m:sSub>
                                          </m:e>
                                        </m:mr>
                                      </m:m>
                                    </m:e>
                                  </m:mr>
                                </m:m>
                              </m:e>
                            </m:mr>
                          </m:m>
                        </m:e>
                      </m:d>
                    </m:oMath>
                  </m:oMathPara>
                </a14:m>
                <a:endParaRPr lang="zh-CN" altLang="en-US" dirty="0"/>
              </a:p>
            </p:txBody>
          </p:sp>
        </mc:Choice>
        <mc:Fallback xmlns="">
          <p:sp>
            <p:nvSpPr>
              <p:cNvPr id="14" name="文本框 13">
                <a:extLst>
                  <a:ext uri="{FF2B5EF4-FFF2-40B4-BE49-F238E27FC236}">
                    <a16:creationId xmlns:a16="http://schemas.microsoft.com/office/drawing/2014/main" id="{8A7E4E8C-A09A-8B6A-81CD-7D0F0ADA424C}"/>
                  </a:ext>
                </a:extLst>
              </p:cNvPr>
              <p:cNvSpPr txBox="1">
                <a:spLocks noRot="1" noChangeAspect="1" noMove="1" noResize="1" noEditPoints="1" noAdjustHandles="1" noChangeArrowheads="1" noChangeShapeType="1" noTextEdit="1"/>
              </p:cNvSpPr>
              <p:nvPr/>
            </p:nvSpPr>
            <p:spPr>
              <a:xfrm>
                <a:off x="6541002" y="3644378"/>
                <a:ext cx="4699556" cy="1070358"/>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93483" y="4547865"/>
                <a:ext cx="5526748" cy="1477328"/>
              </a:xfrm>
              <a:prstGeom prst="rect">
                <a:avLst/>
              </a:prstGeom>
            </p:spPr>
            <p:txBody>
              <a:bodyPr wrap="square">
                <a:spAutoFit/>
              </a:bodyPr>
              <a:lstStyle/>
              <a:p>
                <a:pPr marL="285750" indent="-285750">
                  <a:buFont typeface="Wingdings" panose="05000000000000000000" pitchFamily="2" charset="2"/>
                  <a:buChar char="Ø"/>
                </a:pPr>
                <a:r>
                  <a:rPr lang="zh-CN" altLang="en-US" dirty="0" smtClean="0">
                    <a:solidFill>
                      <a:srgbClr val="FF0000"/>
                    </a:solidFill>
                    <a:latin typeface="楷体" panose="02010609060101010101" pitchFamily="49" charset="-122"/>
                    <a:ea typeface="楷体" panose="02010609060101010101" pitchFamily="49" charset="-122"/>
                    <a:cs typeface="Times New Roman" panose="02020603050405020304" pitchFamily="18" charset="0"/>
                  </a:rPr>
                  <a:t>当输入为等概率分布时</a:t>
                </a:r>
                <a:r>
                  <a:rPr lang="en-US" altLang="zh-CN" dirty="0" smtClean="0">
                    <a:solidFill>
                      <a:srgbClr val="FF0000"/>
                    </a:solidFill>
                    <a:latin typeface="楷体" panose="02010609060101010101" pitchFamily="49" charset="-122"/>
                    <a:ea typeface="楷体" panose="02010609060101010101" pitchFamily="49" charset="-122"/>
                    <a:cs typeface="Times New Roman" panose="02020603050405020304" pitchFamily="18" charset="0"/>
                  </a:rPr>
                  <a:t>,</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对称信道</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达到</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容量：</a:t>
                </a:r>
                <a:endParaRPr lang="en-US" altLang="zh-CN"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b="0" i="0"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endParaRPr>
              </a:p>
              <a:p>
                <a:r>
                  <a:rPr lang="en-US" altLang="zh-CN" b="0" i="1" dirty="0" smtClean="0">
                    <a:solidFill>
                      <a:schemeClr val="tx1"/>
                    </a:solidFill>
                    <a:ea typeface="楷体" panose="02010609060101010101" pitchFamily="49" charset="-122"/>
                    <a:cs typeface="Times New Roman" panose="02020603050405020304" pitchFamily="18" charset="0"/>
                  </a:rPr>
                  <a:t>       </a:t>
                </a:r>
                <a14:m>
                  <m:oMath xmlns:m="http://schemas.openxmlformats.org/officeDocument/2006/math">
                    <m:r>
                      <a:rPr lang="en-US" altLang="zh-CN"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𝐶</m:t>
                    </m:r>
                    <m:r>
                      <a:rPr lang="en-US" altLang="zh-CN"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dirty="0" smtClean="0">
                        <a:solidFill>
                          <a:schemeClr val="tx1"/>
                        </a:solidFill>
                        <a:latin typeface="Cambria Math" panose="02040503050406030204" pitchFamily="18" charset="0"/>
                        <a:ea typeface="楷体" panose="02010609060101010101" pitchFamily="49" charset="-122"/>
                        <a:cs typeface="Times New Roman" panose="02020603050405020304" pitchFamily="18" charset="0"/>
                      </a:rPr>
                      <m:t>𝑙𝑜𝑔</m:t>
                    </m:r>
                    <m:r>
                      <a:rPr lang="en-US" altLang="zh-CN"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𝑚</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𝐻</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b="0" i="1"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𝑥𝑖</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𝑙𝑜𝑔</m:t>
                    </m:r>
                    <m:r>
                      <a:rPr lang="en-US" altLang="zh-CN"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2</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𝑚</m:t>
                    </m:r>
                    <m:r>
                      <a:rPr lang="en-US" altLang="zh-CN" b="0" i="1"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𝑗</m:t>
                    </m:r>
                    <m:r>
                      <a:rPr lang="en-US" altLang="zh-CN" b="0" i="1" baseline="-25000" dirty="0">
                        <a:solidFill>
                          <a:schemeClr val="tx1"/>
                        </a:solidFill>
                        <a:latin typeface="Cambria Math" panose="02040503050406030204" pitchFamily="18" charset="0"/>
                        <a:ea typeface="楷体" panose="02010609060101010101" pitchFamily="49" charset="-122"/>
                        <a:cs typeface="Times New Roman" panose="02020603050405020304" pitchFamily="18" charset="0"/>
                      </a:rPr>
                      <m:t> </m:t>
                    </m:r>
                    <m:r>
                      <a:rPr lang="en-US" altLang="zh-CN" b="0" i="1"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𝑝</m:t>
                    </m:r>
                    <m:r>
                      <a:rPr lang="en-US" altLang="zh-CN" b="0" i="1" baseline="-25000"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𝑗𝑖</m:t>
                    </m:r>
                    <m:r>
                      <a:rPr lang="en-US" altLang="zh-CN" b="0" i="1"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𝑙𝑜𝑔𝑝</m:t>
                    </m:r>
                    <m:r>
                      <a:rPr lang="en-US" altLang="zh-CN" b="0" i="1" baseline="-25000" dirty="0" err="1">
                        <a:solidFill>
                          <a:schemeClr val="tx1"/>
                        </a:solidFill>
                        <a:latin typeface="Cambria Math" panose="02040503050406030204" pitchFamily="18" charset="0"/>
                        <a:ea typeface="楷体" panose="02010609060101010101" pitchFamily="49" charset="-122"/>
                        <a:cs typeface="Times New Roman" panose="02020603050405020304" pitchFamily="18" charset="0"/>
                      </a:rPr>
                      <m:t>𝑗𝑖</m:t>
                    </m:r>
                  </m:oMath>
                </a14:m>
                <a:r>
                  <a:rPr lang="en-US" altLang="zh-CN"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i="1"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b="1" i="1" u="sng"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r>
                  <a:rPr lang="zh-CN" altLang="en-US" dirty="0">
                    <a:solidFill>
                      <a:srgbClr val="FF0000"/>
                    </a:solidFill>
                    <a:latin typeface="楷体" panose="02010609060101010101" pitchFamily="49" charset="-122"/>
                    <a:ea typeface="楷体" panose="02010609060101010101" pitchFamily="49" charset="-122"/>
                    <a:cs typeface="Times New Roman" panose="02020603050405020304" pitchFamily="18" charset="0"/>
                  </a:rPr>
                  <a:t>当输入为等概率分布时</a:t>
                </a:r>
                <a:r>
                  <a:rPr lang="en-US" altLang="zh-CN" dirty="0" smtClean="0">
                    <a:solidFill>
                      <a:srgbClr val="FF0000"/>
                    </a:solidFill>
                    <a:latin typeface="楷体" panose="02010609060101010101" pitchFamily="49" charset="-122"/>
                    <a:ea typeface="楷体" panose="02010609060101010101" pitchFamily="49" charset="-122"/>
                    <a:cs typeface="Times New Roman" panose="02020603050405020304" pitchFamily="18" charset="0"/>
                  </a:rPr>
                  <a:t>,</a:t>
                </a:r>
                <a:r>
                  <a:rPr lang="zh-CN" altLang="en-US" dirty="0" smtClean="0">
                    <a:solidFill>
                      <a:srgbClr val="FF0000"/>
                    </a:solidFill>
                    <a:latin typeface="楷体" panose="02010609060101010101" pitchFamily="49" charset="-122"/>
                    <a:ea typeface="楷体" panose="02010609060101010101" pitchFamily="49" charset="-122"/>
                    <a:cs typeface="Times New Roman" panose="02020603050405020304" pitchFamily="18" charset="0"/>
                  </a:rPr>
                  <a:t>准</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对称信道</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达到容量</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5" name="矩形 14"/>
              <p:cNvSpPr>
                <a:spLocks noRot="1" noChangeAspect="1" noMove="1" noResize="1" noEditPoints="1" noAdjustHandles="1" noChangeArrowheads="1" noChangeShapeType="1" noTextEdit="1"/>
              </p:cNvSpPr>
              <p:nvPr/>
            </p:nvSpPr>
            <p:spPr>
              <a:xfrm>
                <a:off x="393483" y="4547865"/>
                <a:ext cx="5526748" cy="1477328"/>
              </a:xfrm>
              <a:prstGeom prst="rect">
                <a:avLst/>
              </a:prstGeom>
              <a:blipFill>
                <a:blip r:embed="rId3"/>
                <a:stretch>
                  <a:fillRect l="-773" t="-2893" b="-4959"/>
                </a:stretch>
              </a:blipFill>
            </p:spPr>
            <p:txBody>
              <a:bodyPr/>
              <a:lstStyle/>
              <a:p>
                <a:r>
                  <a:rPr lang="zh-CN" altLang="en-US">
                    <a:noFill/>
                  </a:rPr>
                  <a:t> </a:t>
                </a:r>
              </a:p>
            </p:txBody>
          </p:sp>
        </mc:Fallback>
      </mc:AlternateContent>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647" y="5932406"/>
            <a:ext cx="4268502" cy="759378"/>
          </a:xfrm>
          <a:prstGeom prst="rect">
            <a:avLst/>
          </a:prstGeom>
        </p:spPr>
      </p:pic>
    </p:spTree>
    <p:extLst>
      <p:ext uri="{BB962C8B-B14F-4D97-AF65-F5344CB8AC3E}">
        <p14:creationId xmlns:p14="http://schemas.microsoft.com/office/powerpoint/2010/main" val="3686411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8857" y="300548"/>
            <a:ext cx="6096000" cy="4247317"/>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四、信道及其</a:t>
            </a:r>
            <a:r>
              <a:rPr lang="zh-CN" altLang="zh-CN" kern="100" dirty="0" smtClean="0">
                <a:latin typeface="Times New Roman" panose="02020603050405020304" pitchFamily="18" charset="0"/>
                <a:cs typeface="Times New Roman" panose="02020603050405020304" pitchFamily="18" charset="0"/>
              </a:rPr>
              <a:t>信道容量</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）单符号离散信道及其模型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2</a:t>
            </a:r>
            <a:r>
              <a:rPr lang="zh-CN" altLang="zh-CN" kern="100" dirty="0">
                <a:solidFill>
                  <a:srgbClr val="FF0000"/>
                </a:solidFill>
                <a:latin typeface="等线" panose="02010600030101010101" pitchFamily="2" charset="-122"/>
                <a:cs typeface="Times New Roman" panose="02020603050405020304" pitchFamily="18" charset="0"/>
              </a:rPr>
              <a:t>）单符号离散信道的信道容量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3</a:t>
            </a:r>
            <a:r>
              <a:rPr lang="zh-CN" altLang="zh-CN" kern="100" dirty="0">
                <a:solidFill>
                  <a:srgbClr val="FF0000"/>
                </a:solidFill>
                <a:latin typeface="等线" panose="02010600030101010101" pitchFamily="2" charset="-122"/>
                <a:cs typeface="Times New Roman" panose="02020603050405020304" pitchFamily="18" charset="0"/>
              </a:rPr>
              <a:t>）对称信道、准对称信道等特殊信道的信道容量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4</a:t>
            </a:r>
            <a:r>
              <a:rPr lang="zh-CN" altLang="zh-CN" kern="100" dirty="0">
                <a:solidFill>
                  <a:srgbClr val="FF0000"/>
                </a:solidFill>
                <a:latin typeface="等线" panose="02010600030101010101" pitchFamily="2" charset="-122"/>
                <a:cs typeface="Times New Roman" panose="02020603050405020304" pitchFamily="18" charset="0"/>
              </a:rPr>
              <a:t>）离散平稳无记忆信道（</a:t>
            </a:r>
            <a:r>
              <a:rPr lang="en-US" altLang="zh-CN" kern="100" dirty="0">
                <a:solidFill>
                  <a:srgbClr val="FF0000"/>
                </a:solidFill>
                <a:latin typeface="等线" panose="02010600030101010101" pitchFamily="2" charset="-122"/>
                <a:cs typeface="Times New Roman" panose="02020603050405020304" pitchFamily="18" charset="0"/>
              </a:rPr>
              <a:t>n</a:t>
            </a:r>
            <a:r>
              <a:rPr lang="zh-CN" altLang="zh-CN" kern="100" dirty="0">
                <a:solidFill>
                  <a:srgbClr val="FF0000"/>
                </a:solidFill>
                <a:latin typeface="等线" panose="02010600030101010101" pitchFamily="2" charset="-122"/>
                <a:cs typeface="Times New Roman" panose="02020603050405020304" pitchFamily="18" charset="0"/>
              </a:rPr>
              <a:t>次扩展信道）及其模型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5</a:t>
            </a: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n</a:t>
            </a:r>
            <a:r>
              <a:rPr lang="zh-CN" altLang="zh-CN" kern="100" dirty="0">
                <a:solidFill>
                  <a:srgbClr val="FF0000"/>
                </a:solidFill>
                <a:latin typeface="等线" panose="02010600030101010101" pitchFamily="2" charset="-122"/>
                <a:cs typeface="Times New Roman" panose="02020603050405020304" pitchFamily="18" charset="0"/>
              </a:rPr>
              <a:t>次扩展信道的平均互信息与信道容量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6</a:t>
            </a:r>
            <a:r>
              <a:rPr lang="zh-CN" altLang="zh-CN" kern="100" dirty="0">
                <a:solidFill>
                  <a:srgbClr val="FF0000"/>
                </a:solidFill>
                <a:latin typeface="等线" panose="02010600030101010101" pitchFamily="2" charset="-122"/>
                <a:cs typeface="Times New Roman" panose="02020603050405020304" pitchFamily="18" charset="0"/>
              </a:rPr>
              <a:t>）单符号连续信道及其模型</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7</a:t>
            </a:r>
            <a:r>
              <a:rPr lang="zh-CN" altLang="zh-CN" kern="100" dirty="0">
                <a:solidFill>
                  <a:srgbClr val="FF0000"/>
                </a:solidFill>
                <a:latin typeface="等线" panose="02010600030101010101" pitchFamily="2" charset="-122"/>
                <a:cs typeface="Times New Roman" panose="02020603050405020304" pitchFamily="18" charset="0"/>
              </a:rPr>
              <a:t>）单符号连续信道的平均互信息与信道容量</a:t>
            </a: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8</a:t>
            </a:r>
            <a:r>
              <a:rPr lang="zh-CN" altLang="zh-CN" kern="100" dirty="0">
                <a:solidFill>
                  <a:srgbClr val="FF0000"/>
                </a:solidFill>
                <a:latin typeface="等线" panose="02010600030101010101" pitchFamily="2" charset="-122"/>
                <a:cs typeface="Times New Roman" panose="02020603050405020304" pitchFamily="18" charset="0"/>
              </a:rPr>
              <a:t>）高斯信道的信道容量与香农</a:t>
            </a:r>
            <a:r>
              <a:rPr lang="zh-CN" altLang="zh-CN" kern="100" dirty="0" smtClean="0">
                <a:solidFill>
                  <a:srgbClr val="FF0000"/>
                </a:solidFill>
                <a:latin typeface="等线" panose="02010600030101010101" pitchFamily="2" charset="-122"/>
                <a:cs typeface="Times New Roman" panose="02020603050405020304" pitchFamily="18" charset="0"/>
              </a:rPr>
              <a:t>公式</a:t>
            </a:r>
            <a:endParaRPr lang="en-US" altLang="zh-CN" kern="100" dirty="0" smtClean="0">
              <a:solidFill>
                <a:srgbClr val="FF0000"/>
              </a:solidFill>
              <a:latin typeface="等线" panose="02010600030101010101" pitchFamily="2" charset="-122"/>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）多符号离散信道及其模型</a:t>
            </a:r>
          </a:p>
          <a:p>
            <a:pPr algn="just">
              <a:spcAft>
                <a:spcPts val="0"/>
              </a:spcAft>
            </a:pPr>
            <a:r>
              <a:rPr lang="en-US" altLang="zh-CN" kern="100" dirty="0">
                <a:latin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p:cNvSpPr/>
              <p:nvPr/>
            </p:nvSpPr>
            <p:spPr>
              <a:xfrm>
                <a:off x="6025243" y="591528"/>
                <a:ext cx="6096000" cy="3279809"/>
              </a:xfrm>
              <a:prstGeom prst="rect">
                <a:avLst/>
              </a:prstGeom>
            </p:spPr>
            <p:txBody>
              <a:bodyPr>
                <a:spAutoFit/>
              </a:bodyPr>
              <a:lstStyle/>
              <a:p>
                <a:pPr marL="285750" indent="-285750">
                  <a:buFont typeface="Wingdings" panose="05000000000000000000" pitchFamily="2" charset="2"/>
                  <a:buChar char="Ø"/>
                </a:pPr>
                <a:r>
                  <a:rPr lang="zh-CN" altLang="en-US" u="sng" dirty="0">
                    <a:latin typeface="Times New Roman" panose="02020603050405020304" pitchFamily="18" charset="0"/>
                    <a:ea typeface="楷体" panose="02010609060101010101" pitchFamily="49" charset="-122"/>
                    <a:cs typeface="Times New Roman" panose="02020603050405020304" pitchFamily="18" charset="0"/>
                  </a:rPr>
                  <a:t>无记忆</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符号序列</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在</a:t>
                </a:r>
                <a:r>
                  <a:rPr lang="zh-CN" altLang="en-US" u="sng" dirty="0">
                    <a:latin typeface="Times New Roman" panose="02020603050405020304" pitchFamily="18" charset="0"/>
                    <a:ea typeface="楷体" panose="02010609060101010101" pitchFamily="49" charset="-122"/>
                    <a:cs typeface="Times New Roman" panose="02020603050405020304" pitchFamily="18" charset="0"/>
                  </a:rPr>
                  <a:t>无记忆</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有扰离散信道上传输的平均互信息量等于各符号的平均互信息量之和。此时的信道模型可用</a:t>
                </a:r>
                <a:r>
                  <a:rPr lang="zh-CN" altLang="en-US" b="1" u="sng" dirty="0">
                    <a:latin typeface="Times New Roman" panose="02020603050405020304" pitchFamily="18" charset="0"/>
                    <a:ea typeface="楷体" panose="02010609060101010101" pitchFamily="49" charset="-122"/>
                    <a:cs typeface="Times New Roman" panose="02020603050405020304" pitchFamily="18" charset="0"/>
                  </a:rPr>
                  <a:t>离散无记忆扩展信道</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等效。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维离散平稳无记忆信道形式上相当于单符号离散信道的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次扩展（重复），即</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次扩展信道</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次扩展信道模型</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中，</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平均互信息率</a:t>
                </a:r>
                <a14:m>
                  <m:oMath xmlns:m="http://schemas.openxmlformats.org/officeDocument/2006/math">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i="1" baseline="-25000"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𝑋</m:t>
                    </m:r>
                    <m:r>
                      <a:rPr lang="en-US" altLang="zh-CN" i="1" baseline="30000"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r>
                      <a:rPr lang="zh-CN" altLang="en-US"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i="1" baseline="30000"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1</m:t>
                        </m:r>
                      </m:num>
                      <m:den>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den>
                    </m:f>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𝑋</m:t>
                    </m:r>
                    <m:r>
                      <a:rPr lang="en-US" altLang="zh-CN" i="1" baseline="30000"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r>
                      <a:rPr lang="zh-CN" altLang="en-US"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i="1" baseline="30000" dirty="0" err="1">
                        <a:solidFill>
                          <a:srgbClr val="C00000"/>
                        </a:solidFill>
                        <a:latin typeface="Cambria Math" panose="02040503050406030204" pitchFamily="18" charset="0"/>
                        <a:ea typeface="楷体" panose="02010609060101010101" pitchFamily="49" charset="-122"/>
                        <a:cs typeface="Times New Roman" panose="02020603050405020304" pitchFamily="18" charset="0"/>
                      </a:rPr>
                      <m:t>𝑛</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𝐼</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𝑋</m:t>
                    </m:r>
                    <m:r>
                      <a:rPr lang="zh-CN" altLang="en-US"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𝑌</m:t>
                    </m:r>
                    <m:r>
                      <a:rPr lang="en-US" altLang="zh-CN" i="1" dirty="0">
                        <a:solidFill>
                          <a:srgbClr val="C00000"/>
                        </a:solidFill>
                        <a:latin typeface="Cambria Math" panose="02040503050406030204" pitchFamily="18" charset="0"/>
                        <a:ea typeface="楷体" panose="02010609060101010101" pitchFamily="49" charset="-122"/>
                        <a:cs typeface="Times New Roman" panose="02020603050405020304" pitchFamily="18" charset="0"/>
                      </a:rPr>
                      <m:t>)</m:t>
                    </m:r>
                  </m:oMath>
                </a14:m>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p>
              <a:p>
                <a:pPr marL="285750" indent="-285750">
                  <a:buFont typeface="Wingdings" panose="05000000000000000000" pitchFamily="2" charset="2"/>
                  <a:buChar char="Ø"/>
                </a:pPr>
                <a:r>
                  <a:rPr kumimoji="1" lang="zh-CN" altLang="en-US" dirty="0">
                    <a:solidFill>
                      <a:srgbClr val="FF0000"/>
                    </a:solidFill>
                    <a:latin typeface="Times New Roman" panose="02020603050405020304" pitchFamily="18" charset="0"/>
                    <a:ea typeface="楷体" panose="02010609060101010101" pitchFamily="49" charset="-122"/>
                  </a:rPr>
                  <a:t>连续信道</a:t>
                </a:r>
                <a:r>
                  <a:rPr kumimoji="1" lang="zh-CN" altLang="en-US" dirty="0">
                    <a:latin typeface="Times New Roman" panose="02020603050405020304" pitchFamily="18" charset="0"/>
                    <a:ea typeface="楷体" panose="02010609060101010101" pitchFamily="49" charset="-122"/>
                  </a:rPr>
                  <a:t>是指输入和输出随机变量都取值于连续集合的信道。由于集合取值有无限多，所以我们用条件概率转移密度函数</a:t>
                </a:r>
                <a14:m>
                  <m:oMath xmlns:m="http://schemas.openxmlformats.org/officeDocument/2006/math">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𝑝</m:t>
                        </m:r>
                      </m:e>
                      <m:sub>
                        <m:r>
                          <a:rPr kumimoji="1" lang="en-US" altLang="zh-CN" i="1">
                            <a:latin typeface="Cambria Math" panose="02040503050406030204" pitchFamily="18" charset="0"/>
                            <a:ea typeface="楷体" panose="02010609060101010101" pitchFamily="49" charset="-122"/>
                          </a:rPr>
                          <m:t>𝑌</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𝑋</m:t>
                        </m:r>
                      </m:sub>
                    </m:sSub>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𝑦</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𝑥</m:t>
                    </m:r>
                    <m:r>
                      <a:rPr kumimoji="1" lang="en-US" altLang="zh-CN" i="1">
                        <a:latin typeface="Cambria Math" panose="02040503050406030204" pitchFamily="18" charset="0"/>
                        <a:ea typeface="楷体" panose="02010609060101010101" pitchFamily="49" charset="-122"/>
                      </a:rPr>
                      <m:t>)</m:t>
                    </m:r>
                  </m:oMath>
                </a14:m>
                <a:r>
                  <a:rPr kumimoji="1" lang="zh-CN" altLang="en-US" dirty="0">
                    <a:latin typeface="Times New Roman" panose="02020603050405020304" pitchFamily="18" charset="0"/>
                    <a:ea typeface="楷体" panose="02010609060101010101" pitchFamily="49" charset="-122"/>
                  </a:rPr>
                  <a:t>表示信道传递特性。</a:t>
                </a:r>
                <a:endParaRPr kumimoji="1" lang="en-US" altLang="zh-CN" dirty="0">
                  <a:latin typeface="Times New Roman" panose="02020603050405020304" pitchFamily="18" charset="0"/>
                  <a:ea typeface="楷体" panose="02010609060101010101" pitchFamily="49" charset="-122"/>
                </a:endParaRPr>
              </a:p>
              <a:p>
                <a:pPr marL="285750" indent="-285750">
                  <a:buFont typeface="Wingdings" panose="05000000000000000000" pitchFamily="2" charset="2"/>
                  <a:buChar char="Ø"/>
                </a:pPr>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6025243" y="591528"/>
                <a:ext cx="6096000" cy="3279809"/>
              </a:xfrm>
              <a:prstGeom prst="rect">
                <a:avLst/>
              </a:prstGeom>
              <a:blipFill>
                <a:blip r:embed="rId2"/>
                <a:stretch>
                  <a:fillRect l="-600" t="-929" r="-9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702629" y="3626109"/>
                <a:ext cx="7698922" cy="49045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ea typeface="楷体" panose="02010609060101010101" pitchFamily="49" charset="-122"/>
                        </a:rPr>
                        <m:t>𝐶</m:t>
                      </m:r>
                      <m:r>
                        <a:rPr kumimoji="1" lang="en-US" altLang="zh-CN" i="1">
                          <a:latin typeface="Cambria Math" panose="02040503050406030204" pitchFamily="18" charset="0"/>
                          <a:ea typeface="楷体" panose="02010609060101010101" pitchFamily="49" charset="-122"/>
                        </a:rPr>
                        <m:t>=</m:t>
                      </m:r>
                      <m:func>
                        <m:funcPr>
                          <m:ctrlPr>
                            <a:rPr kumimoji="1" lang="en-US" altLang="zh-CN" i="1">
                              <a:latin typeface="Cambria Math" panose="02040503050406030204" pitchFamily="18" charset="0"/>
                              <a:ea typeface="楷体" panose="02010609060101010101" pitchFamily="49" charset="-122"/>
                            </a:rPr>
                          </m:ctrlPr>
                        </m:funcPr>
                        <m:fName>
                          <m:limLow>
                            <m:limLowPr>
                              <m:ctrlPr>
                                <a:rPr kumimoji="1" lang="en-US" altLang="zh-CN" i="1">
                                  <a:latin typeface="Cambria Math" panose="02040503050406030204" pitchFamily="18" charset="0"/>
                                  <a:ea typeface="楷体" panose="02010609060101010101" pitchFamily="49" charset="-122"/>
                                </a:rPr>
                              </m:ctrlPr>
                            </m:limLowPr>
                            <m:e>
                              <m:r>
                                <m:rPr>
                                  <m:sty m:val="p"/>
                                </m:rPr>
                                <a:rPr kumimoji="1" lang="en-US" altLang="zh-CN">
                                  <a:latin typeface="Cambria Math" panose="02040503050406030204" pitchFamily="18" charset="0"/>
                                  <a:ea typeface="楷体" panose="02010609060101010101" pitchFamily="49" charset="-122"/>
                                </a:rPr>
                                <m:t>max</m:t>
                              </m:r>
                            </m:e>
                            <m:lim>
                              <m:r>
                                <a:rPr kumimoji="1" lang="en-US" altLang="zh-CN" i="1">
                                  <a:latin typeface="Cambria Math" panose="02040503050406030204" pitchFamily="18" charset="0"/>
                                  <a:ea typeface="楷体" panose="02010609060101010101" pitchFamily="49" charset="-122"/>
                                </a:rPr>
                                <m:t>𝑝</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𝑥</m:t>
                              </m:r>
                              <m:r>
                                <a:rPr kumimoji="1" lang="en-US" altLang="zh-CN" i="1">
                                  <a:latin typeface="Cambria Math" panose="02040503050406030204" pitchFamily="18" charset="0"/>
                                  <a:ea typeface="楷体" panose="02010609060101010101" pitchFamily="49" charset="-122"/>
                                </a:rPr>
                                <m:t>)</m:t>
                              </m:r>
                            </m:lim>
                          </m:limLow>
                        </m:fName>
                        <m:e>
                          <m:d>
                            <m:dPr>
                              <m:begChr m:val="{"/>
                              <m:endChr m:val="}"/>
                              <m:ctrlPr>
                                <a:rPr kumimoji="1" lang="en-US" altLang="zh-CN" i="1">
                                  <a:latin typeface="Cambria Math" panose="02040503050406030204" pitchFamily="18" charset="0"/>
                                  <a:ea typeface="楷体" panose="02010609060101010101" pitchFamily="49" charset="-122"/>
                                </a:rPr>
                              </m:ctrlPr>
                            </m:dPr>
                            <m:e>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𝐼</m:t>
                                  </m:r>
                                </m:e>
                                <m:sub>
                                  <m:r>
                                    <a:rPr kumimoji="1" lang="en-US" altLang="zh-CN" i="1">
                                      <a:latin typeface="Cambria Math" panose="02040503050406030204" pitchFamily="18" charset="0"/>
                                      <a:ea typeface="楷体" panose="02010609060101010101" pitchFamily="49" charset="-122"/>
                                    </a:rPr>
                                    <m:t>𝑐</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𝑋</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𝑌</m:t>
                                  </m:r>
                                </m:e>
                              </m:d>
                            </m:e>
                          </m:d>
                          <m:r>
                            <a:rPr kumimoji="1" lang="en-US" altLang="zh-CN" i="1">
                              <a:latin typeface="Cambria Math" panose="02040503050406030204" pitchFamily="18" charset="0"/>
                              <a:ea typeface="楷体" panose="02010609060101010101" pitchFamily="49" charset="-122"/>
                            </a:rPr>
                            <m:t>=</m:t>
                          </m:r>
                          <m:func>
                            <m:funcPr>
                              <m:ctrlPr>
                                <a:rPr kumimoji="1" lang="en-US" altLang="zh-CN" i="1">
                                  <a:latin typeface="Cambria Math" panose="02040503050406030204" pitchFamily="18" charset="0"/>
                                  <a:ea typeface="楷体" panose="02010609060101010101" pitchFamily="49" charset="-122"/>
                                </a:rPr>
                              </m:ctrlPr>
                            </m:funcPr>
                            <m:fName>
                              <m:limLow>
                                <m:limLowPr>
                                  <m:ctrlPr>
                                    <a:rPr kumimoji="1" lang="en-US" altLang="zh-CN" i="1">
                                      <a:latin typeface="Cambria Math" panose="02040503050406030204" pitchFamily="18" charset="0"/>
                                      <a:ea typeface="楷体" panose="02010609060101010101" pitchFamily="49" charset="-122"/>
                                    </a:rPr>
                                  </m:ctrlPr>
                                </m:limLowPr>
                                <m:e>
                                  <m:r>
                                    <m:rPr>
                                      <m:sty m:val="p"/>
                                    </m:rPr>
                                    <a:rPr kumimoji="1" lang="en-US" altLang="zh-CN">
                                      <a:latin typeface="Cambria Math" panose="02040503050406030204" pitchFamily="18" charset="0"/>
                                      <a:ea typeface="楷体" panose="02010609060101010101" pitchFamily="49" charset="-122"/>
                                    </a:rPr>
                                    <m:t>max</m:t>
                                  </m:r>
                                </m:e>
                                <m:lim>
                                  <m:r>
                                    <a:rPr kumimoji="1" lang="en-US" altLang="zh-CN" i="1">
                                      <a:latin typeface="Cambria Math" panose="02040503050406030204" pitchFamily="18" charset="0"/>
                                      <a:ea typeface="楷体" panose="02010609060101010101" pitchFamily="49" charset="-122"/>
                                    </a:rPr>
                                    <m:t>𝑝</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𝑥</m:t>
                                  </m:r>
                                  <m:r>
                                    <a:rPr kumimoji="1" lang="en-US" altLang="zh-CN" i="1">
                                      <a:latin typeface="Cambria Math" panose="02040503050406030204" pitchFamily="18" charset="0"/>
                                      <a:ea typeface="楷体" panose="02010609060101010101" pitchFamily="49" charset="-122"/>
                                    </a:rPr>
                                    <m:t>)</m:t>
                                  </m:r>
                                </m:lim>
                              </m:limLow>
                            </m:fName>
                            <m:e>
                              <m:d>
                                <m:dPr>
                                  <m:begChr m:val="{"/>
                                  <m:endChr m:val="}"/>
                                  <m:ctrlPr>
                                    <a:rPr kumimoji="1" lang="en-US" altLang="zh-CN" i="1">
                                      <a:latin typeface="Cambria Math" panose="02040503050406030204" pitchFamily="18" charset="0"/>
                                      <a:ea typeface="楷体" panose="02010609060101010101" pitchFamily="49" charset="-122"/>
                                    </a:rPr>
                                  </m:ctrlPr>
                                </m:dPr>
                                <m:e>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𝐻</m:t>
                                      </m:r>
                                    </m:e>
                                    <m:sub>
                                      <m:r>
                                        <a:rPr kumimoji="1" lang="en-US" altLang="zh-CN" i="1">
                                          <a:latin typeface="Cambria Math" panose="02040503050406030204" pitchFamily="18" charset="0"/>
                                          <a:ea typeface="楷体" panose="02010609060101010101" pitchFamily="49" charset="-122"/>
                                        </a:rPr>
                                        <m:t>𝑐</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𝑋</m:t>
                                      </m:r>
                                    </m:e>
                                  </m:d>
                                  <m:r>
                                    <a:rPr kumimoji="1" lang="en-US" altLang="zh-CN" i="1">
                                      <a:latin typeface="Cambria Math" panose="02040503050406030204" pitchFamily="18" charset="0"/>
                                      <a:ea typeface="楷体" panose="02010609060101010101" pitchFamily="49" charset="-122"/>
                                    </a:rPr>
                                    <m:t>−</m:t>
                                  </m:r>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𝐻</m:t>
                                      </m:r>
                                    </m:e>
                                    <m:sub>
                                      <m:r>
                                        <a:rPr kumimoji="1" lang="en-US" altLang="zh-CN" i="1">
                                          <a:latin typeface="Cambria Math" panose="02040503050406030204" pitchFamily="18" charset="0"/>
                                          <a:ea typeface="楷体" panose="02010609060101010101" pitchFamily="49" charset="-122"/>
                                        </a:rPr>
                                        <m:t>𝑐</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𝑋</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𝑌</m:t>
                                      </m:r>
                                    </m:e>
                                  </m:d>
                                </m:e>
                              </m:d>
                              <m:r>
                                <a:rPr kumimoji="1" lang="en-US" altLang="zh-CN" i="1">
                                  <a:latin typeface="Cambria Math" panose="02040503050406030204" pitchFamily="18" charset="0"/>
                                  <a:ea typeface="楷体" panose="02010609060101010101" pitchFamily="49" charset="-122"/>
                                </a:rPr>
                                <m:t>=</m:t>
                              </m:r>
                              <m:func>
                                <m:funcPr>
                                  <m:ctrlPr>
                                    <a:rPr kumimoji="1" lang="en-US" altLang="zh-CN" i="1">
                                      <a:latin typeface="Cambria Math" panose="02040503050406030204" pitchFamily="18" charset="0"/>
                                      <a:ea typeface="楷体" panose="02010609060101010101" pitchFamily="49" charset="-122"/>
                                    </a:rPr>
                                  </m:ctrlPr>
                                </m:funcPr>
                                <m:fName>
                                  <m:limLow>
                                    <m:limLowPr>
                                      <m:ctrlPr>
                                        <a:rPr kumimoji="1" lang="en-US" altLang="zh-CN" i="1">
                                          <a:latin typeface="Cambria Math" panose="02040503050406030204" pitchFamily="18" charset="0"/>
                                          <a:ea typeface="楷体" panose="02010609060101010101" pitchFamily="49" charset="-122"/>
                                        </a:rPr>
                                      </m:ctrlPr>
                                    </m:limLowPr>
                                    <m:e>
                                      <m:r>
                                        <m:rPr>
                                          <m:sty m:val="p"/>
                                        </m:rPr>
                                        <a:rPr kumimoji="1" lang="en-US" altLang="zh-CN">
                                          <a:latin typeface="Cambria Math" panose="02040503050406030204" pitchFamily="18" charset="0"/>
                                          <a:ea typeface="楷体" panose="02010609060101010101" pitchFamily="49" charset="-122"/>
                                        </a:rPr>
                                        <m:t>max</m:t>
                                      </m:r>
                                    </m:e>
                                    <m:lim>
                                      <m:r>
                                        <a:rPr kumimoji="1" lang="en-US" altLang="zh-CN" i="1">
                                          <a:latin typeface="Cambria Math" panose="02040503050406030204" pitchFamily="18" charset="0"/>
                                          <a:ea typeface="楷体" panose="02010609060101010101" pitchFamily="49" charset="-122"/>
                                        </a:rPr>
                                        <m:t>𝑝</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𝑥</m:t>
                                      </m:r>
                                      <m:r>
                                        <a:rPr kumimoji="1" lang="en-US" altLang="zh-CN" i="1">
                                          <a:latin typeface="Cambria Math" panose="02040503050406030204" pitchFamily="18" charset="0"/>
                                          <a:ea typeface="楷体" panose="02010609060101010101" pitchFamily="49" charset="-122"/>
                                        </a:rPr>
                                        <m:t>)</m:t>
                                      </m:r>
                                    </m:lim>
                                  </m:limLow>
                                </m:fName>
                                <m:e>
                                  <m:d>
                                    <m:dPr>
                                      <m:begChr m:val="{"/>
                                      <m:endChr m:val="}"/>
                                      <m:ctrlPr>
                                        <a:rPr kumimoji="1" lang="en-US" altLang="zh-CN" i="1">
                                          <a:latin typeface="Cambria Math" panose="02040503050406030204" pitchFamily="18" charset="0"/>
                                          <a:ea typeface="楷体" panose="02010609060101010101" pitchFamily="49" charset="-122"/>
                                        </a:rPr>
                                      </m:ctrlPr>
                                    </m:dPr>
                                    <m:e>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𝐻</m:t>
                                          </m:r>
                                        </m:e>
                                        <m:sub>
                                          <m:r>
                                            <a:rPr kumimoji="1" lang="en-US" altLang="zh-CN" i="1">
                                              <a:latin typeface="Cambria Math" panose="02040503050406030204" pitchFamily="18" charset="0"/>
                                              <a:ea typeface="楷体" panose="02010609060101010101" pitchFamily="49" charset="-122"/>
                                            </a:rPr>
                                            <m:t>𝑐</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𝑌</m:t>
                                          </m:r>
                                        </m:e>
                                      </m:d>
                                      <m:r>
                                        <a:rPr kumimoji="1" lang="en-US" altLang="zh-CN" i="1">
                                          <a:latin typeface="Cambria Math" panose="02040503050406030204" pitchFamily="18" charset="0"/>
                                          <a:ea typeface="楷体" panose="02010609060101010101" pitchFamily="49" charset="-122"/>
                                        </a:rPr>
                                        <m:t>−</m:t>
                                      </m:r>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𝐻</m:t>
                                          </m:r>
                                        </m:e>
                                        <m:sub>
                                          <m:r>
                                            <a:rPr kumimoji="1" lang="en-US" altLang="zh-CN" i="1">
                                              <a:latin typeface="Cambria Math" panose="02040503050406030204" pitchFamily="18" charset="0"/>
                                              <a:ea typeface="楷体" panose="02010609060101010101" pitchFamily="49" charset="-122"/>
                                            </a:rPr>
                                            <m:t>𝑐</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𝑌</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𝑋</m:t>
                                          </m:r>
                                        </m:e>
                                      </m:d>
                                    </m:e>
                                  </m:d>
                                </m:e>
                              </m:func>
                            </m:e>
                          </m:func>
                        </m:e>
                      </m:func>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4702629" y="3626109"/>
                <a:ext cx="7698922" cy="490455"/>
              </a:xfrm>
              <a:prstGeom prst="rect">
                <a:avLst/>
              </a:prstGeom>
              <a:blipFill>
                <a:blip r:embed="rId3"/>
                <a:stretch>
                  <a:fillRect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5110844" y="4293500"/>
                <a:ext cx="6882492" cy="2059410"/>
              </a:xfrm>
              <a:prstGeom prst="rect">
                <a:avLst/>
              </a:prstGeom>
            </p:spPr>
            <p:txBody>
              <a:bodyPr wrap="square">
                <a:spAutoFit/>
              </a:bodyPr>
              <a:lstStyle/>
              <a:p>
                <a:pPr algn="just"/>
                <a:r>
                  <a:rPr kumimoji="1" lang="zh-CN" altLang="en-US" dirty="0" smtClean="0">
                    <a:latin typeface="Times New Roman" panose="02020603050405020304" pitchFamily="18" charset="0"/>
                    <a:ea typeface="楷体" panose="02010609060101010101" pitchFamily="49" charset="-122"/>
                  </a:rPr>
                  <a:t>其中：</a:t>
                </a:r>
                <a:endParaRPr kumimoji="1" lang="en-US" altLang="zh-CN" dirty="0">
                  <a:latin typeface="Times New Roman" panose="02020603050405020304" pitchFamily="18" charset="0"/>
                  <a:ea typeface="楷体" panose="02010609060101010101" pitchFamily="49" charset="-122"/>
                </a:endParaRPr>
              </a:p>
              <a:p>
                <a:pPr algn="just"/>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𝑋</m:t>
                        </m:r>
                      </m:e>
                    </m:d>
                    <m:r>
                      <a:rPr lang="en-US" altLang="zh-CN" i="1">
                        <a:latin typeface="Cambria Math" panose="02040503050406030204" pitchFamily="18" charset="0"/>
                      </a:rPr>
                      <m:t>=−</m:t>
                    </m:r>
                    <m:nary>
                      <m:naryPr>
                        <m:ctrlPr>
                          <a:rPr lang="en-US" altLang="zh-CN" i="1" smtClean="0">
                            <a:latin typeface="Cambria Math" panose="02040503050406030204" pitchFamily="18" charset="0"/>
                          </a:rPr>
                        </m:ctrlPr>
                      </m:naryPr>
                      <m:sub>
                        <m:r>
                          <m:rPr>
                            <m:brk m:alnAt="23"/>
                          </m:rPr>
                          <a:rPr lang="en-US" altLang="zh-CN" i="1">
                            <a:latin typeface="Cambria Math" panose="02040503050406030204" pitchFamily="18" charset="0"/>
                          </a:rPr>
                          <m:t>𝑅</m:t>
                        </m:r>
                      </m:sub>
                      <m:sup/>
                      <m:e>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𝑥</m:t>
                            </m:r>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𝑑𝑥</m:t>
                        </m:r>
                      </m:e>
                    </m:nary>
                    <m:r>
                      <a:rPr lang="zh-CN" altLang="en-US" i="1" smtClean="0">
                        <a:latin typeface="Cambria Math" panose="02040503050406030204" pitchFamily="18" charset="0"/>
                      </a:rPr>
                      <m:t>，</m:t>
                    </m:r>
                    <m:r>
                      <a:rPr lang="en-US" altLang="zh-CN" b="0" i="0"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𝑌</m:t>
                        </m:r>
                      </m:e>
                    </m:d>
                    <m:r>
                      <a:rPr lang="en-US" altLang="zh-CN" i="1">
                        <a:latin typeface="Cambria Math" panose="02040503050406030204" pitchFamily="18" charset="0"/>
                      </a:rPr>
                      <m:t>=−</m:t>
                    </m:r>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𝑅</m:t>
                        </m:r>
                      </m:sub>
                      <m:sup/>
                      <m:e>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𝑦</m:t>
                            </m:r>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𝑦</m:t>
                            </m:r>
                          </m:e>
                        </m:d>
                        <m:r>
                          <a:rPr lang="en-US" altLang="zh-CN" i="1">
                            <a:latin typeface="Cambria Math" panose="02040503050406030204" pitchFamily="18" charset="0"/>
                          </a:rPr>
                          <m:t>𝑑𝑦</m:t>
                        </m:r>
                      </m:e>
                    </m:nary>
                  </m:oMath>
                </a14:m>
                <a:endParaRPr lang="en-US" altLang="zh-CN" dirty="0"/>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𝑋</m:t>
                          </m:r>
                        </m:e>
                        <m:e>
                          <m:r>
                            <a:rPr lang="en-US" altLang="zh-CN" i="1">
                              <a:latin typeface="Cambria Math" panose="02040503050406030204" pitchFamily="18" charset="0"/>
                            </a:rPr>
                            <m:t>𝑌</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𝑅</m:t>
                          </m:r>
                        </m:sub>
                        <m:sup/>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𝑥𝑦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r>
                            <a:rPr lang="en-US" altLang="zh-CN" i="1">
                              <a:latin typeface="Cambria Math" panose="02040503050406030204" pitchFamily="18" charset="0"/>
                            </a:rPr>
                            <m:t>𝑑𝑥𝑑𝑦</m:t>
                          </m:r>
                        </m:e>
                      </m:nary>
                    </m:oMath>
                  </m:oMathPara>
                </a14:m>
                <a:endParaRPr lang="en-US" altLang="zh-CN" dirty="0"/>
              </a:p>
              <a:p>
                <a:pPr algn="just"/>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𝐻</m:t>
                          </m:r>
                        </m:e>
                        <m:sub>
                          <m:r>
                            <a:rPr lang="en-US" altLang="zh-CN" i="1">
                              <a:latin typeface="Cambria Math" panose="02040503050406030204" pitchFamily="18" charset="0"/>
                            </a:rPr>
                            <m:t>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𝑌</m:t>
                          </m:r>
                        </m:e>
                        <m:e>
                          <m:r>
                            <a:rPr lang="en-US" altLang="zh-CN" i="1">
                              <a:latin typeface="Cambria Math" panose="02040503050406030204" pitchFamily="18" charset="0"/>
                            </a:rPr>
                            <m:t>𝑋</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𝑅</m:t>
                          </m:r>
                        </m:sub>
                        <m:sup/>
                        <m:e>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i="1">
                              <a:latin typeface="Cambria Math" panose="02040503050406030204" pitchFamily="18" charset="0"/>
                            </a:rPr>
                            <m:t>𝑥𝑦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𝑝</m:t>
                          </m:r>
                          <m:d>
                            <m:dPr>
                              <m:ctrlPr>
                                <a:rPr lang="en-US" altLang="zh-CN" i="1">
                                  <a:latin typeface="Cambria Math" panose="02040503050406030204" pitchFamily="18" charset="0"/>
                                </a:rPr>
                              </m:ctrlPr>
                            </m:dPr>
                            <m:e>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e>
                          </m:d>
                          <m:r>
                            <a:rPr lang="en-US" altLang="zh-CN" i="1">
                              <a:latin typeface="Cambria Math" panose="02040503050406030204" pitchFamily="18" charset="0"/>
                            </a:rPr>
                            <m:t>𝑑𝑥𝑑𝑦</m:t>
                          </m:r>
                        </m:e>
                      </m:nary>
                    </m:oMath>
                  </m:oMathPara>
                </a14:m>
                <a:endParaRPr lang="zh-CN" altLang="en-US" dirty="0"/>
              </a:p>
            </p:txBody>
          </p:sp>
        </mc:Choice>
        <mc:Fallback xmlns="">
          <p:sp>
            <p:nvSpPr>
              <p:cNvPr id="18" name="矩形 17"/>
              <p:cNvSpPr>
                <a:spLocks noRot="1" noChangeAspect="1" noMove="1" noResize="1" noEditPoints="1" noAdjustHandles="1" noChangeArrowheads="1" noChangeShapeType="1" noTextEdit="1"/>
              </p:cNvSpPr>
              <p:nvPr/>
            </p:nvSpPr>
            <p:spPr>
              <a:xfrm>
                <a:off x="5110844" y="4293500"/>
                <a:ext cx="6882492" cy="2059410"/>
              </a:xfrm>
              <a:prstGeom prst="rect">
                <a:avLst/>
              </a:prstGeom>
              <a:blipFill>
                <a:blip r:embed="rId4"/>
                <a:stretch>
                  <a:fillRect l="-709" t="-9467"/>
                </a:stretch>
              </a:blipFill>
            </p:spPr>
            <p:txBody>
              <a:bodyPr/>
              <a:lstStyle/>
              <a:p>
                <a:r>
                  <a:rPr lang="zh-CN" altLang="en-US">
                    <a:noFill/>
                  </a:rPr>
                  <a:t> </a:t>
                </a:r>
              </a:p>
            </p:txBody>
          </p:sp>
        </mc:Fallback>
      </mc:AlternateContent>
      <p:sp>
        <p:nvSpPr>
          <p:cNvPr id="19" name="矩形 18"/>
          <p:cNvSpPr/>
          <p:nvPr/>
        </p:nvSpPr>
        <p:spPr>
          <a:xfrm>
            <a:off x="314627" y="4607770"/>
            <a:ext cx="4796217" cy="923330"/>
          </a:xfrm>
          <a:prstGeom prst="rect">
            <a:avLst/>
          </a:prstGeom>
        </p:spPr>
        <p:txBody>
          <a:bodyPr wrap="square">
            <a:spAutoFit/>
          </a:bodyPr>
          <a:lstStyle/>
          <a:p>
            <a:pPr marL="285750" indent="-285750">
              <a:buFont typeface="Wingdings" panose="05000000000000000000" pitchFamily="2" charset="2"/>
              <a:buChar char="Ø"/>
            </a:pPr>
            <a:r>
              <a:rPr lang="zh-CN" altLang="en-US" dirty="0" smtClean="0">
                <a:solidFill>
                  <a:srgbClr val="FF0000"/>
                </a:solidFill>
                <a:latin typeface="楷体" panose="02010609060101010101" charset="-122"/>
                <a:ea typeface="楷体" panose="02010609060101010101" charset="-122"/>
              </a:rPr>
              <a:t>高斯</a:t>
            </a:r>
            <a:r>
              <a:rPr kumimoji="1" lang="zh-CN" altLang="en-US" dirty="0">
                <a:solidFill>
                  <a:srgbClr val="FF0000"/>
                </a:solidFill>
                <a:latin typeface="Times New Roman" panose="02020603050405020304" pitchFamily="18" charset="0"/>
                <a:ea typeface="楷体" panose="02010609060101010101" pitchFamily="49" charset="-122"/>
              </a:rPr>
              <a:t>加性连续</a:t>
            </a:r>
            <a:r>
              <a:rPr lang="zh-CN" altLang="en-US" dirty="0" smtClean="0">
                <a:solidFill>
                  <a:srgbClr val="FF0000"/>
                </a:solidFill>
                <a:latin typeface="楷体" panose="02010609060101010101" charset="-122"/>
                <a:ea typeface="楷体" panose="02010609060101010101" charset="-122"/>
              </a:rPr>
              <a:t>信道容量（香农公式）：</a:t>
            </a:r>
            <a:r>
              <a:rPr kumimoji="1" lang="zh-CN" altLang="en-US" dirty="0">
                <a:latin typeface="Times New Roman" panose="02020603050405020304" pitchFamily="18" charset="0"/>
                <a:ea typeface="楷体" panose="02010609060101010101" pitchFamily="49" charset="-122"/>
              </a:rPr>
              <a:t>输入</a:t>
            </a:r>
            <a:r>
              <a:rPr kumimoji="1" lang="en-US" altLang="zh-CN" dirty="0">
                <a:latin typeface="Times New Roman" panose="02020603050405020304" pitchFamily="18" charset="0"/>
                <a:ea typeface="楷体" panose="02010609060101010101" pitchFamily="49" charset="-122"/>
              </a:rPr>
              <a:t>X</a:t>
            </a:r>
            <a:r>
              <a:rPr kumimoji="1" lang="zh-CN" altLang="en-US" dirty="0">
                <a:latin typeface="Times New Roman" panose="02020603050405020304" pitchFamily="18" charset="0"/>
                <a:ea typeface="楷体" panose="02010609060101010101" pitchFamily="49" charset="-122"/>
              </a:rPr>
              <a:t>为</a:t>
            </a:r>
            <a:r>
              <a:rPr kumimoji="1" lang="en-US" altLang="zh-CN" dirty="0">
                <a:latin typeface="Times New Roman" panose="02020603050405020304" pitchFamily="18" charset="0"/>
                <a:ea typeface="楷体" panose="02010609060101010101" pitchFamily="49" charset="-122"/>
              </a:rPr>
              <a:t>0</a:t>
            </a:r>
            <a:r>
              <a:rPr kumimoji="1" lang="zh-CN" altLang="en-US" dirty="0">
                <a:latin typeface="Times New Roman" panose="02020603050405020304" pitchFamily="18" charset="0"/>
                <a:ea typeface="楷体" panose="02010609060101010101" pitchFamily="49" charset="-122"/>
              </a:rPr>
              <a:t>均值高斯随机变量时</a:t>
            </a:r>
            <a:r>
              <a:rPr kumimoji="1" lang="zh-CN" altLang="en-US" dirty="0" smtClean="0">
                <a:latin typeface="Times New Roman" panose="02020603050405020304" pitchFamily="18" charset="0"/>
                <a:ea typeface="楷体" panose="02010609060101010101" pitchFamily="49" charset="-122"/>
              </a:rPr>
              <a:t>达到</a:t>
            </a:r>
            <a:endParaRPr kumimoji="1" lang="en-US" altLang="zh-CN" dirty="0" smtClean="0">
              <a:latin typeface="Times New Roman" panose="02020603050405020304" pitchFamily="18" charset="0"/>
              <a:ea typeface="楷体" panose="02010609060101010101" pitchFamily="49" charset="-122"/>
            </a:endParaRPr>
          </a:p>
          <a:p>
            <a:endParaRPr lang="zh-CN" altLang="en-US" dirty="0"/>
          </a:p>
        </p:txBody>
      </p:sp>
      <mc:AlternateContent xmlns:mc="http://schemas.openxmlformats.org/markup-compatibility/2006" xmlns:a14="http://schemas.microsoft.com/office/drawing/2010/main">
        <mc:Choice Requires="a14">
          <p:sp>
            <p:nvSpPr>
              <p:cNvPr id="20" name="矩形 19"/>
              <p:cNvSpPr/>
              <p:nvPr/>
            </p:nvSpPr>
            <p:spPr>
              <a:xfrm>
                <a:off x="1228196" y="5324586"/>
                <a:ext cx="2763309" cy="532838"/>
              </a:xfrm>
              <a:prstGeom prst="rect">
                <a:avLst/>
              </a:prstGeom>
            </p:spPr>
            <p:txBody>
              <a:bodyPr wrap="square">
                <a:spAutoFit/>
              </a:bodyPr>
              <a:lstStyle/>
              <a:p>
                <a14:m>
                  <m:oMath xmlns:m="http://schemas.openxmlformats.org/officeDocument/2006/math">
                    <m:r>
                      <a:rPr kumimoji="1" lang="en-US" altLang="zh-CN" i="1">
                        <a:latin typeface="Cambria Math" panose="02040503050406030204" pitchFamily="18" charset="0"/>
                        <a:ea typeface="楷体" panose="02010609060101010101" pitchFamily="49" charset="-122"/>
                      </a:rPr>
                      <m:t>𝐶</m:t>
                    </m:r>
                    <m:r>
                      <a:rPr kumimoji="1" lang="en-US" altLang="zh-CN" i="1">
                        <a:latin typeface="Cambria Math" panose="02040503050406030204" pitchFamily="18" charset="0"/>
                        <a:ea typeface="楷体" panose="02010609060101010101" pitchFamily="49" charset="-122"/>
                      </a:rPr>
                      <m:t>=</m:t>
                    </m:r>
                    <m:r>
                      <a:rPr kumimoji="1" lang="en-US" altLang="zh-CN" i="1">
                        <a:latin typeface="Cambria Math" panose="02040503050406030204" pitchFamily="18" charset="0"/>
                        <a:ea typeface="楷体" panose="02010609060101010101" pitchFamily="49" charset="-122"/>
                      </a:rPr>
                      <m:t>𝑊</m:t>
                    </m:r>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𝑙𝑜𝑔</m:t>
                        </m:r>
                      </m:e>
                      <m:sub>
                        <m:r>
                          <a:rPr kumimoji="1" lang="en-US" altLang="zh-CN" i="1">
                            <a:latin typeface="Cambria Math" panose="02040503050406030204" pitchFamily="18" charset="0"/>
                            <a:ea typeface="楷体" panose="02010609060101010101" pitchFamily="49" charset="-122"/>
                          </a:rPr>
                          <m:t>2</m:t>
                        </m:r>
                      </m:sub>
                    </m:sSub>
                    <m:d>
                      <m:dPr>
                        <m:ctrlPr>
                          <a:rPr kumimoji="1" lang="en-US" altLang="zh-CN" i="1">
                            <a:latin typeface="Cambria Math" panose="02040503050406030204" pitchFamily="18" charset="0"/>
                            <a:ea typeface="楷体" panose="02010609060101010101" pitchFamily="49" charset="-122"/>
                          </a:rPr>
                        </m:ctrlPr>
                      </m:dPr>
                      <m:e>
                        <m:r>
                          <a:rPr kumimoji="1" lang="en-US" altLang="zh-CN" i="1">
                            <a:latin typeface="Cambria Math" panose="02040503050406030204" pitchFamily="18" charset="0"/>
                            <a:ea typeface="楷体" panose="02010609060101010101" pitchFamily="49" charset="-122"/>
                          </a:rPr>
                          <m:t>1+</m:t>
                        </m:r>
                        <m:f>
                          <m:fPr>
                            <m:ctrlPr>
                              <a:rPr kumimoji="1" lang="en-US" altLang="zh-CN" i="1">
                                <a:latin typeface="Cambria Math" panose="02040503050406030204" pitchFamily="18" charset="0"/>
                                <a:ea typeface="楷体" panose="02010609060101010101" pitchFamily="49" charset="-122"/>
                              </a:rPr>
                            </m:ctrlPr>
                          </m:fPr>
                          <m:num>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𝑃</m:t>
                                </m:r>
                              </m:e>
                              <m:sub>
                                <m:r>
                                  <a:rPr kumimoji="1" lang="en-US" altLang="zh-CN" i="1">
                                    <a:latin typeface="Cambria Math" panose="02040503050406030204" pitchFamily="18" charset="0"/>
                                    <a:ea typeface="楷体" panose="02010609060101010101" pitchFamily="49" charset="-122"/>
                                  </a:rPr>
                                  <m:t>𝑋</m:t>
                                </m:r>
                              </m:sub>
                            </m:sSub>
                          </m:num>
                          <m:den>
                            <m:sSub>
                              <m:sSubPr>
                                <m:ctrlPr>
                                  <a:rPr kumimoji="1" lang="en-US" altLang="zh-CN" i="1">
                                    <a:latin typeface="Cambria Math" panose="02040503050406030204" pitchFamily="18" charset="0"/>
                                    <a:ea typeface="楷体" panose="02010609060101010101" pitchFamily="49" charset="-122"/>
                                  </a:rPr>
                                </m:ctrlPr>
                              </m:sSubPr>
                              <m:e>
                                <m:r>
                                  <a:rPr kumimoji="1" lang="en-US" altLang="zh-CN" i="1">
                                    <a:latin typeface="Cambria Math" panose="02040503050406030204" pitchFamily="18" charset="0"/>
                                    <a:ea typeface="楷体" panose="02010609060101010101" pitchFamily="49" charset="-122"/>
                                  </a:rPr>
                                  <m:t>𝑃</m:t>
                                </m:r>
                              </m:e>
                              <m:sub>
                                <m:r>
                                  <a:rPr kumimoji="1" lang="en-US" altLang="zh-CN" i="1">
                                    <a:latin typeface="Cambria Math" panose="02040503050406030204" pitchFamily="18" charset="0"/>
                                    <a:ea typeface="楷体" panose="02010609060101010101" pitchFamily="49" charset="-122"/>
                                  </a:rPr>
                                  <m:t>𝑁</m:t>
                                </m:r>
                              </m:sub>
                            </m:sSub>
                          </m:den>
                        </m:f>
                      </m:e>
                    </m:d>
                  </m:oMath>
                </a14:m>
                <a:r>
                  <a:rPr kumimoji="1" lang="en-US" altLang="zh-CN" dirty="0">
                    <a:latin typeface="Times New Roman" panose="02020603050405020304" pitchFamily="18" charset="0"/>
                    <a:ea typeface="楷体" panose="02010609060101010101" pitchFamily="49" charset="-122"/>
                  </a:rPr>
                  <a:t> bit/s</a:t>
                </a:r>
                <a:endParaRPr lang="zh-CN" altLang="en-US" dirty="0"/>
              </a:p>
            </p:txBody>
          </p:sp>
        </mc:Choice>
        <mc:Fallback xmlns="">
          <p:sp>
            <p:nvSpPr>
              <p:cNvPr id="20" name="矩形 19"/>
              <p:cNvSpPr>
                <a:spLocks noRot="1" noChangeAspect="1" noMove="1" noResize="1" noEditPoints="1" noAdjustHandles="1" noChangeArrowheads="1" noChangeShapeType="1" noTextEdit="1"/>
              </p:cNvSpPr>
              <p:nvPr/>
            </p:nvSpPr>
            <p:spPr>
              <a:xfrm>
                <a:off x="1228196" y="5324586"/>
                <a:ext cx="2763309" cy="532838"/>
              </a:xfrm>
              <a:prstGeom prst="rect">
                <a:avLst/>
              </a:prstGeom>
              <a:blipFill>
                <a:blip r:embed="rId5"/>
                <a:stretch>
                  <a:fillRect/>
                </a:stretch>
              </a:blipFill>
            </p:spPr>
            <p:txBody>
              <a:bodyPr/>
              <a:lstStyle/>
              <a:p>
                <a:r>
                  <a:rPr lang="zh-CN" altLang="en-US">
                    <a:noFill/>
                  </a:rPr>
                  <a:t> </a:t>
                </a:r>
              </a:p>
            </p:txBody>
          </p:sp>
        </mc:Fallback>
      </mc:AlternateContent>
      <p:sp>
        <p:nvSpPr>
          <p:cNvPr id="8" name="矩形 7"/>
          <p:cNvSpPr/>
          <p:nvPr/>
        </p:nvSpPr>
        <p:spPr>
          <a:xfrm>
            <a:off x="108857" y="5932818"/>
            <a:ext cx="5456172" cy="830997"/>
          </a:xfrm>
          <a:prstGeom prst="rect">
            <a:avLst/>
          </a:prstGeom>
        </p:spPr>
        <p:txBody>
          <a:bodyPr wrap="square">
            <a:spAutoFit/>
          </a:bodyPr>
          <a:lstStyle/>
          <a:p>
            <a:r>
              <a:rPr lang="zh-CN" altLang="en-US" sz="1200" dirty="0" smtClean="0">
                <a:solidFill>
                  <a:srgbClr val="FF0000"/>
                </a:solidFill>
              </a:rPr>
              <a:t>思考：信道容量前面是</a:t>
            </a:r>
            <a:r>
              <a:rPr lang="en-US" altLang="zh-CN" sz="1200" dirty="0" smtClean="0">
                <a:solidFill>
                  <a:srgbClr val="FF0000"/>
                </a:solidFill>
              </a:rPr>
              <a:t>bit/</a:t>
            </a:r>
            <a:r>
              <a:rPr lang="zh-CN" altLang="en-US" sz="1200" dirty="0" smtClean="0">
                <a:solidFill>
                  <a:srgbClr val="FF0000"/>
                </a:solidFill>
              </a:rPr>
              <a:t>符号，这里是</a:t>
            </a:r>
            <a:r>
              <a:rPr lang="en-US" altLang="zh-CN" sz="1200" dirty="0" smtClean="0">
                <a:solidFill>
                  <a:srgbClr val="FF0000"/>
                </a:solidFill>
              </a:rPr>
              <a:t>bit/s</a:t>
            </a:r>
            <a:r>
              <a:rPr lang="zh-CN" altLang="en-US" sz="1200" dirty="0" smtClean="0">
                <a:solidFill>
                  <a:srgbClr val="FF0000"/>
                </a:solidFill>
              </a:rPr>
              <a:t>。他们有差异也有联系。以</a:t>
            </a:r>
            <a:r>
              <a:rPr lang="en-US" altLang="zh-CN" sz="1200" dirty="0">
                <a:solidFill>
                  <a:srgbClr val="FF0000"/>
                </a:solidFill>
              </a:rPr>
              <a:t>bit/</a:t>
            </a:r>
            <a:r>
              <a:rPr lang="zh-CN" altLang="en-US" sz="1200" dirty="0" smtClean="0">
                <a:solidFill>
                  <a:srgbClr val="FF0000"/>
                </a:solidFill>
              </a:rPr>
              <a:t>符号时，是在信息论框架下，计算传输的每个符号最多</a:t>
            </a:r>
            <a:r>
              <a:rPr lang="zh-CN" altLang="en-US" sz="1200" u="sng" dirty="0" smtClean="0">
                <a:solidFill>
                  <a:srgbClr val="FF0000"/>
                </a:solidFill>
              </a:rPr>
              <a:t>能携带的信息量</a:t>
            </a:r>
            <a:r>
              <a:rPr lang="zh-CN" altLang="en-US" sz="1200" dirty="0" smtClean="0">
                <a:solidFill>
                  <a:srgbClr val="FF0000"/>
                </a:solidFill>
              </a:rPr>
              <a:t>是多少</a:t>
            </a:r>
            <a:r>
              <a:rPr lang="en-US" altLang="zh-CN" sz="1200" dirty="0" smtClean="0">
                <a:solidFill>
                  <a:srgbClr val="FF0000"/>
                </a:solidFill>
              </a:rPr>
              <a:t>BIT(</a:t>
            </a:r>
            <a:r>
              <a:rPr lang="zh-CN" altLang="en-US" sz="1200" dirty="0" smtClean="0">
                <a:solidFill>
                  <a:srgbClr val="FF0000"/>
                </a:solidFill>
              </a:rPr>
              <a:t>互信息量的极值</a:t>
            </a:r>
            <a:r>
              <a:rPr lang="en-US" altLang="zh-CN" sz="1200" dirty="0" smtClean="0">
                <a:solidFill>
                  <a:srgbClr val="FF0000"/>
                </a:solidFill>
              </a:rPr>
              <a:t>)</a:t>
            </a:r>
            <a:r>
              <a:rPr lang="zh-CN" altLang="en-US" sz="1200" dirty="0" smtClean="0">
                <a:solidFill>
                  <a:srgbClr val="FF0000"/>
                </a:solidFill>
              </a:rPr>
              <a:t>。以</a:t>
            </a:r>
            <a:r>
              <a:rPr lang="en-US" altLang="zh-CN" sz="1200" dirty="0" smtClean="0">
                <a:solidFill>
                  <a:srgbClr val="FF0000"/>
                </a:solidFill>
              </a:rPr>
              <a:t>bit/s</a:t>
            </a:r>
            <a:r>
              <a:rPr lang="zh-CN" altLang="en-US" sz="1200" dirty="0" smtClean="0">
                <a:solidFill>
                  <a:srgbClr val="FF0000"/>
                </a:solidFill>
              </a:rPr>
              <a:t>时，实在实际应用中，具体计算单位时间能传输多少</a:t>
            </a:r>
            <a:r>
              <a:rPr lang="en-US" altLang="zh-CN" sz="1200" dirty="0" smtClean="0">
                <a:solidFill>
                  <a:srgbClr val="FF0000"/>
                </a:solidFill>
              </a:rPr>
              <a:t>Bit</a:t>
            </a:r>
            <a:r>
              <a:rPr lang="zh-CN" altLang="en-US" sz="1200" dirty="0" smtClean="0">
                <a:solidFill>
                  <a:srgbClr val="FF0000"/>
                </a:solidFill>
              </a:rPr>
              <a:t>。他们的转化经常可以信道输入端的输入速度来转化（符号</a:t>
            </a:r>
            <a:r>
              <a:rPr lang="en-US" altLang="zh-CN" sz="1200" dirty="0" smtClean="0">
                <a:solidFill>
                  <a:srgbClr val="FF0000"/>
                </a:solidFill>
              </a:rPr>
              <a:t>/s</a:t>
            </a:r>
            <a:r>
              <a:rPr lang="zh-CN" altLang="en-US" sz="1200" dirty="0" smtClean="0">
                <a:solidFill>
                  <a:srgbClr val="FF0000"/>
                </a:solidFill>
              </a:rPr>
              <a:t>）</a:t>
            </a:r>
            <a:endParaRPr lang="zh-CN" altLang="en-US" sz="1200" dirty="0">
              <a:solidFill>
                <a:srgbClr val="FF0000"/>
              </a:solidFill>
            </a:endParaRPr>
          </a:p>
        </p:txBody>
      </p:sp>
    </p:spTree>
    <p:extLst>
      <p:ext uri="{BB962C8B-B14F-4D97-AF65-F5344CB8AC3E}">
        <p14:creationId xmlns:p14="http://schemas.microsoft.com/office/powerpoint/2010/main" val="2849345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6828" y="389475"/>
            <a:ext cx="6096000" cy="3416320"/>
          </a:xfrm>
          <a:prstGeom prst="rect">
            <a:avLst/>
          </a:prstGeom>
        </p:spPr>
        <p:txBody>
          <a:bodyPr>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五、信源率失真函数及限失真</a:t>
            </a:r>
            <a:r>
              <a:rPr lang="zh-CN" altLang="zh-CN" kern="100" dirty="0" smtClean="0">
                <a:latin typeface="Times New Roman" panose="02020603050405020304" pitchFamily="18" charset="0"/>
                <a:cs typeface="Times New Roman" panose="02020603050405020304" pitchFamily="18" charset="0"/>
              </a:rPr>
              <a:t>信源编码</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单符号信源平均失真度、测试信道</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）保真度准则下单符号信源的率失真函数及其性质</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）二进制信源、等概率信源</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）高斯信源的率失真函数（课后阅读）</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5</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香农第三定理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）限失真信源编码的有损压缩</a:t>
            </a:r>
            <a:r>
              <a:rPr lang="zh-CN" altLang="zh-CN" kern="100" dirty="0" smtClean="0">
                <a:solidFill>
                  <a:srgbClr val="FF0000"/>
                </a:solidFill>
                <a:latin typeface="Times New Roman" panose="02020603050405020304" pitchFamily="18" charset="0"/>
                <a:cs typeface="Times New Roman" panose="02020603050405020304" pitchFamily="18" charset="0"/>
              </a:rPr>
              <a:t>原理</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）量化编码</a:t>
            </a:r>
            <a:endParaRPr lang="zh-CN" altLang="en-US" dirty="0"/>
          </a:p>
        </p:txBody>
      </p:sp>
      <p:sp>
        <p:nvSpPr>
          <p:cNvPr id="5" name="矩形 4"/>
          <p:cNvSpPr/>
          <p:nvPr/>
        </p:nvSpPr>
        <p:spPr>
          <a:xfrm>
            <a:off x="6096000" y="787471"/>
            <a:ext cx="6096000" cy="5632311"/>
          </a:xfrm>
          <a:prstGeom prst="rect">
            <a:avLst/>
          </a:prstGeom>
        </p:spPr>
        <p:txBody>
          <a:bodyPr>
            <a:spAutoFit/>
          </a:bodyPr>
          <a:lstStyle/>
          <a:p>
            <a:pPr marL="285750" indent="-285750">
              <a:buFont typeface="Wingdings" panose="05000000000000000000" pitchFamily="2" charset="2"/>
              <a:buChar char="Ø"/>
            </a:pPr>
            <a:r>
              <a:rPr lang="zh-CN" altLang="en-US" dirty="0">
                <a:latin typeface="Times New Roman" panose="02020603050405020304" pitchFamily="18" charset="0"/>
                <a:ea typeface="楷体" panose="02010609060101010101" pitchFamily="49" charset="-122"/>
                <a:cs typeface="Times New Roman" panose="02020603050405020304" pitchFamily="18" charset="0"/>
              </a:rPr>
              <a:t>由于失真函数</a:t>
            </a:r>
            <a:r>
              <a:rPr lang="en-US" altLang="zh-CN"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i="1"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x</a:t>
            </a:r>
            <a:r>
              <a:rPr lang="en-US" altLang="zh-CN" i="1" baseline="-250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i="1"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,y</a:t>
            </a:r>
            <a:r>
              <a:rPr lang="en-US" altLang="zh-CN" i="1" baseline="-250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j</a:t>
            </a:r>
            <a:r>
              <a:rPr lang="en-US" altLang="zh-CN"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是随机变量，</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为了估计全体信源发出的消息符号与接收符号之间的失真程度</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需要计算各个失真函数的统计平均值</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数学期望</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20000"/>
              </a:lnSpc>
              <a:buFont typeface="Wingdings" panose="05000000000000000000" pitchFamily="2" charset="2"/>
              <a:buChar char="Ø"/>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在给定信源消息的概率分布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{P(x</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i</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 同时</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保证</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压缩所引入</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的平均失真</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不超过预先规定的限度 </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D</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（满足保真度准则）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，希望</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使编码后的信息率尽可能</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小，</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寻找</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信息率</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下限：</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endParaRPr lang="zh-CN" altLang="en-US" dirty="0"/>
          </a:p>
        </p:txBody>
      </p:sp>
      <p:grpSp>
        <p:nvGrpSpPr>
          <p:cNvPr id="6" name="组合 5"/>
          <p:cNvGrpSpPr/>
          <p:nvPr/>
        </p:nvGrpSpPr>
        <p:grpSpPr>
          <a:xfrm>
            <a:off x="5913354" y="1710801"/>
            <a:ext cx="6173689" cy="2267228"/>
            <a:chOff x="2133290" y="1624825"/>
            <a:chExt cx="6173689" cy="2267228"/>
          </a:xfrm>
        </p:grpSpPr>
        <p:graphicFrame>
          <p:nvGraphicFramePr>
            <p:cNvPr id="7" name="Object 4">
              <a:extLst>
                <a:ext uri="{FF2B5EF4-FFF2-40B4-BE49-F238E27FC236}">
                  <a16:creationId xmlns:a16="http://schemas.microsoft.com/office/drawing/2014/main" id="{8FA5B3FA-2098-4330-93D1-29C043DF96A9}"/>
                </a:ext>
              </a:extLst>
            </p:cNvPr>
            <p:cNvGraphicFramePr>
              <a:graphicFrameLocks noChangeAspect="1"/>
            </p:cNvGraphicFramePr>
            <p:nvPr>
              <p:extLst>
                <p:ext uri="{D42A27DB-BD31-4B8C-83A1-F6EECF244321}">
                  <p14:modId xmlns:p14="http://schemas.microsoft.com/office/powerpoint/2010/main" val="1302524215"/>
                </p:ext>
              </p:extLst>
            </p:nvPr>
          </p:nvGraphicFramePr>
          <p:xfrm>
            <a:off x="2500197" y="1624825"/>
            <a:ext cx="4289425" cy="1433513"/>
          </p:xfrm>
          <a:graphic>
            <a:graphicData uri="http://schemas.openxmlformats.org/presentationml/2006/ole">
              <mc:AlternateContent xmlns:mc="http://schemas.openxmlformats.org/markup-compatibility/2006">
                <mc:Choice xmlns:v="urn:schemas-microsoft-com:vml" Requires="v">
                  <p:oleObj spid="_x0000_s3147" name="Equation" r:id="rId3" imgW="1765080" imgH="774360" progId="Equation.DSMT4">
                    <p:embed/>
                  </p:oleObj>
                </mc:Choice>
                <mc:Fallback>
                  <p:oleObj name="Equation" r:id="rId3" imgW="1765080" imgH="774360" progId="Equation.DSMT4">
                    <p:embed/>
                    <p:pic>
                      <p:nvPicPr>
                        <p:cNvPr id="5" name="Object 4">
                          <a:extLst>
                            <a:ext uri="{FF2B5EF4-FFF2-40B4-BE49-F238E27FC236}">
                              <a16:creationId xmlns:a16="http://schemas.microsoft.com/office/drawing/2014/main" id="{8FA5B3FA-2098-4330-93D1-29C043DF96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197" y="1624825"/>
                          <a:ext cx="4289425" cy="1433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8">
              <a:extLst>
                <a:ext uri="{FF2B5EF4-FFF2-40B4-BE49-F238E27FC236}">
                  <a16:creationId xmlns:a16="http://schemas.microsoft.com/office/drawing/2014/main" id="{B218E640-84F3-4A25-AED6-F5CAE1248BC5}"/>
                </a:ext>
              </a:extLst>
            </p:cNvPr>
            <p:cNvSpPr>
              <a:spLocks noChangeShapeType="1"/>
            </p:cNvSpPr>
            <p:nvPr/>
          </p:nvSpPr>
          <p:spPr bwMode="auto">
            <a:xfrm flipH="1">
              <a:off x="2732049" y="2818545"/>
              <a:ext cx="1553194" cy="588903"/>
            </a:xfrm>
            <a:prstGeom prst="line">
              <a:avLst/>
            </a:prstGeom>
            <a:noFill/>
            <a:ln w="2857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 name="Line 8">
              <a:extLst>
                <a:ext uri="{FF2B5EF4-FFF2-40B4-BE49-F238E27FC236}">
                  <a16:creationId xmlns:a16="http://schemas.microsoft.com/office/drawing/2014/main" id="{638635A0-CD1F-4EB9-9E9E-2F8A93CEB3F7}"/>
                </a:ext>
              </a:extLst>
            </p:cNvPr>
            <p:cNvSpPr>
              <a:spLocks noChangeShapeType="1"/>
            </p:cNvSpPr>
            <p:nvPr/>
          </p:nvSpPr>
          <p:spPr bwMode="auto">
            <a:xfrm flipH="1">
              <a:off x="5062654" y="2861651"/>
              <a:ext cx="80052" cy="567350"/>
            </a:xfrm>
            <a:prstGeom prst="line">
              <a:avLst/>
            </a:prstGeom>
            <a:noFill/>
            <a:ln w="2857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8">
              <a:extLst>
                <a:ext uri="{FF2B5EF4-FFF2-40B4-BE49-F238E27FC236}">
                  <a16:creationId xmlns:a16="http://schemas.microsoft.com/office/drawing/2014/main" id="{0DA90D56-5D89-4456-90B3-531888AB48E8}"/>
                </a:ext>
              </a:extLst>
            </p:cNvPr>
            <p:cNvSpPr>
              <a:spLocks noChangeShapeType="1"/>
            </p:cNvSpPr>
            <p:nvPr/>
          </p:nvSpPr>
          <p:spPr bwMode="auto">
            <a:xfrm>
              <a:off x="6314028" y="2850875"/>
              <a:ext cx="1056927" cy="556574"/>
            </a:xfrm>
            <a:prstGeom prst="line">
              <a:avLst/>
            </a:prstGeom>
            <a:noFill/>
            <a:ln w="28575">
              <a:solidFill>
                <a:srgbClr val="FF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Text Box 5">
              <a:extLst>
                <a:ext uri="{FF2B5EF4-FFF2-40B4-BE49-F238E27FC236}">
                  <a16:creationId xmlns:a16="http://schemas.microsoft.com/office/drawing/2014/main" id="{802F8D65-B89D-40CE-A9C9-C143CB6E500D}"/>
                </a:ext>
              </a:extLst>
            </p:cNvPr>
            <p:cNvSpPr txBox="1">
              <a:spLocks noChangeArrowheads="1"/>
            </p:cNvSpPr>
            <p:nvPr/>
          </p:nvSpPr>
          <p:spPr bwMode="auto">
            <a:xfrm>
              <a:off x="2133290" y="3516221"/>
              <a:ext cx="1197517" cy="369332"/>
            </a:xfrm>
            <a:prstGeom prst="rect">
              <a:avLst/>
            </a:prstGeom>
            <a:solidFill>
              <a:schemeClr val="bg1"/>
            </a:solidFill>
            <a:ln w="28575">
              <a:solidFill>
                <a:srgbClr val="FF0000"/>
              </a:solidFill>
              <a:miter lim="800000"/>
              <a:headEnd/>
              <a:tailEnd/>
            </a:ln>
            <a:effectLst/>
          </p:spPr>
          <p:txBody>
            <a:bodyPr wrap="square">
              <a:spAutoFit/>
            </a:bodyPr>
            <a:lstStyle/>
            <a:p>
              <a:pPr>
                <a:spcBef>
                  <a:spcPct val="50000"/>
                </a:spcBef>
              </a:pPr>
              <a:r>
                <a:rPr lang="zh-CN" altLang="en-US" b="1" dirty="0">
                  <a:solidFill>
                    <a:srgbClr val="000000"/>
                  </a:solidFill>
                  <a:latin typeface="楷体" panose="02010609060101010101" pitchFamily="49" charset="-122"/>
                  <a:ea typeface="楷体" panose="02010609060101010101" pitchFamily="49" charset="-122"/>
                </a:rPr>
                <a:t>信源概率</a:t>
              </a:r>
            </a:p>
          </p:txBody>
        </p:sp>
        <p:sp>
          <p:nvSpPr>
            <p:cNvPr id="12" name="Text Box 6">
              <a:extLst>
                <a:ext uri="{FF2B5EF4-FFF2-40B4-BE49-F238E27FC236}">
                  <a16:creationId xmlns:a16="http://schemas.microsoft.com/office/drawing/2014/main" id="{318CC9CB-39F4-436C-8211-ECD5D2AAC3AF}"/>
                </a:ext>
              </a:extLst>
            </p:cNvPr>
            <p:cNvSpPr txBox="1">
              <a:spLocks noChangeArrowheads="1"/>
            </p:cNvSpPr>
            <p:nvPr/>
          </p:nvSpPr>
          <p:spPr bwMode="auto">
            <a:xfrm>
              <a:off x="4278196" y="3515556"/>
              <a:ext cx="1568915" cy="369332"/>
            </a:xfrm>
            <a:prstGeom prst="rect">
              <a:avLst/>
            </a:prstGeom>
            <a:noFill/>
            <a:ln w="28575">
              <a:solidFill>
                <a:srgbClr val="FF0000"/>
              </a:solidFill>
              <a:miter lim="800000"/>
              <a:headEnd/>
              <a:tailEnd/>
            </a:ln>
            <a:effectLst/>
          </p:spPr>
          <p:txBody>
            <a:bodyPr wrap="square">
              <a:spAutoFit/>
            </a:bodyPr>
            <a:lstStyle/>
            <a:p>
              <a:pPr>
                <a:spcBef>
                  <a:spcPct val="50000"/>
                </a:spcBef>
              </a:pPr>
              <a:r>
                <a:rPr lang="zh-CN" altLang="en-US" b="1" dirty="0">
                  <a:solidFill>
                    <a:srgbClr val="000000"/>
                  </a:solidFill>
                  <a:latin typeface="楷体" panose="02010609060101010101" pitchFamily="49" charset="-122"/>
                  <a:ea typeface="楷体" panose="02010609060101010101" pitchFamily="49" charset="-122"/>
                </a:rPr>
                <a:t>信道传输概率</a:t>
              </a:r>
            </a:p>
          </p:txBody>
        </p:sp>
        <p:sp>
          <p:nvSpPr>
            <p:cNvPr id="13" name="Text Box 7">
              <a:extLst>
                <a:ext uri="{FF2B5EF4-FFF2-40B4-BE49-F238E27FC236}">
                  <a16:creationId xmlns:a16="http://schemas.microsoft.com/office/drawing/2014/main" id="{5E88BA7A-C10E-467A-8283-F7C54EB1E4F5}"/>
                </a:ext>
              </a:extLst>
            </p:cNvPr>
            <p:cNvSpPr txBox="1">
              <a:spLocks noChangeArrowheads="1"/>
            </p:cNvSpPr>
            <p:nvPr/>
          </p:nvSpPr>
          <p:spPr bwMode="auto">
            <a:xfrm>
              <a:off x="6434930" y="3522721"/>
              <a:ext cx="1872049" cy="369332"/>
            </a:xfrm>
            <a:prstGeom prst="rect">
              <a:avLst/>
            </a:prstGeom>
            <a:noFill/>
            <a:ln w="28575">
              <a:solidFill>
                <a:srgbClr val="FF0000"/>
              </a:solidFill>
              <a:miter lim="800000"/>
              <a:headEnd/>
              <a:tailEnd/>
            </a:ln>
            <a:effectLst/>
          </p:spPr>
          <p:txBody>
            <a:bodyPr wrap="square">
              <a:spAutoFit/>
            </a:bodyPr>
            <a:lstStyle/>
            <a:p>
              <a:pPr>
                <a:spcBef>
                  <a:spcPct val="50000"/>
                </a:spcBef>
              </a:pPr>
              <a:r>
                <a:rPr lang="zh-CN" altLang="en-US" b="1" dirty="0">
                  <a:solidFill>
                    <a:srgbClr val="000000"/>
                  </a:solidFill>
                  <a:latin typeface="楷体" panose="02010609060101010101" pitchFamily="49" charset="-122"/>
                  <a:ea typeface="楷体" panose="02010609060101010101" pitchFamily="49" charset="-122"/>
                </a:rPr>
                <a:t>单符号失真函数</a:t>
              </a:r>
            </a:p>
          </p:txBody>
        </p:sp>
      </p:grpSp>
      <p:graphicFrame>
        <p:nvGraphicFramePr>
          <p:cNvPr id="14" name="对象 13"/>
          <p:cNvGraphicFramePr>
            <a:graphicFrameLocks noChangeAspect="1"/>
          </p:cNvGraphicFramePr>
          <p:nvPr>
            <p:extLst>
              <p:ext uri="{D42A27DB-BD31-4B8C-83A1-F6EECF244321}">
                <p14:modId xmlns:p14="http://schemas.microsoft.com/office/powerpoint/2010/main" val="216153259"/>
              </p:ext>
            </p:extLst>
          </p:nvPr>
        </p:nvGraphicFramePr>
        <p:xfrm>
          <a:off x="6736219" y="5889088"/>
          <a:ext cx="5012190" cy="506202"/>
        </p:xfrm>
        <a:graphic>
          <a:graphicData uri="http://schemas.openxmlformats.org/presentationml/2006/ole">
            <mc:AlternateContent xmlns:mc="http://schemas.openxmlformats.org/markup-compatibility/2006">
              <mc:Choice xmlns:v="urn:schemas-microsoft-com:vml" Requires="v">
                <p:oleObj spid="_x0000_s3148" name="Equation" r:id="rId5" imgW="6067173" imgH="612742" progId="Equation.DSMT4">
                  <p:embed/>
                </p:oleObj>
              </mc:Choice>
              <mc:Fallback>
                <p:oleObj name="Equation" r:id="rId5" imgW="6067173" imgH="612742" progId="Equation.DSMT4">
                  <p:embed/>
                  <p:pic>
                    <p:nvPicPr>
                      <p:cNvPr id="0" name=""/>
                      <p:cNvPicPr/>
                      <p:nvPr/>
                    </p:nvPicPr>
                    <p:blipFill>
                      <a:blip r:embed="rId6"/>
                      <a:stretch>
                        <a:fillRect/>
                      </a:stretch>
                    </p:blipFill>
                    <p:spPr>
                      <a:xfrm>
                        <a:off x="6736219" y="5889088"/>
                        <a:ext cx="5012190" cy="50620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5" name="矩形 14"/>
              <p:cNvSpPr/>
              <p:nvPr/>
            </p:nvSpPr>
            <p:spPr>
              <a:xfrm>
                <a:off x="206828" y="3996716"/>
                <a:ext cx="6096000" cy="1870448"/>
              </a:xfrm>
              <a:prstGeom prst="rect">
                <a:avLst/>
              </a:prstGeom>
            </p:spPr>
            <p:txBody>
              <a:bodyPr>
                <a:spAutoFit/>
              </a:bodyPr>
              <a:lstStyle/>
              <a:p>
                <a:pPr marL="285750" indent="-285750">
                  <a:buFont typeface="Wingdings" panose="05000000000000000000" pitchFamily="2" charset="2"/>
                  <a:buChar char="Ø"/>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二</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元离散信源的</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信息率失真函数：</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楷体" panose="02010609060101010101" pitchFamily="49" charset="-122"/>
                          <a:cs typeface="Times New Roman" panose="02020603050405020304" pitchFamily="18" charset="0"/>
                        </a:rPr>
                        <m:t>𝑅</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i="1">
                              <a:latin typeface="Cambria Math" panose="02040503050406030204" pitchFamily="18" charset="0"/>
                              <a:ea typeface="楷体" panose="02010609060101010101" pitchFamily="49" charset="-122"/>
                              <a:cs typeface="Times New Roman" panose="02020603050405020304" pitchFamily="18" charset="0"/>
                            </a:rPr>
                            <m:t>𝐷</m:t>
                          </m:r>
                        </m:e>
                      </m:d>
                      <m:r>
                        <a:rPr lang="en-US" altLang="zh-CN" i="1">
                          <a:latin typeface="Cambria Math" panose="02040503050406030204" pitchFamily="18" charset="0"/>
                          <a:ea typeface="楷体" panose="02010609060101010101" pitchFamily="49" charset="-122"/>
                          <a:cs typeface="Times New Roman" panose="02020603050405020304" pitchFamily="18" charset="0"/>
                        </a:rPr>
                        <m:t>=</m:t>
                      </m:r>
                      <m:r>
                        <a:rPr lang="en-US" altLang="zh-CN" i="1">
                          <a:latin typeface="Cambria Math" panose="02040503050406030204" pitchFamily="18" charset="0"/>
                          <a:ea typeface="楷体" panose="02010609060101010101" pitchFamily="49" charset="-122"/>
                          <a:cs typeface="Times New Roman" panose="02020603050405020304" pitchFamily="18" charset="0"/>
                        </a:rPr>
                        <m:t>𝐻</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i="1">
                              <a:latin typeface="Cambria Math" panose="02040503050406030204" pitchFamily="18" charset="0"/>
                              <a:ea typeface="楷体" panose="02010609060101010101" pitchFamily="49" charset="-122"/>
                              <a:cs typeface="Times New Roman" panose="02020603050405020304" pitchFamily="18" charset="0"/>
                            </a:rPr>
                            <m:t>𝑝</m:t>
                          </m:r>
                        </m:e>
                      </m:d>
                      <m:r>
                        <a:rPr lang="en-US" altLang="zh-CN" i="1">
                          <a:latin typeface="Cambria Math" panose="02040503050406030204" pitchFamily="18" charset="0"/>
                          <a:ea typeface="楷体" panose="02010609060101010101" pitchFamily="49" charset="-122"/>
                          <a:cs typeface="Times New Roman" panose="02020603050405020304" pitchFamily="18" charset="0"/>
                        </a:rPr>
                        <m:t>−</m:t>
                      </m:r>
                      <m:r>
                        <a:rPr lang="en-US" altLang="zh-CN" i="1">
                          <a:latin typeface="Cambria Math" panose="02040503050406030204" pitchFamily="18" charset="0"/>
                          <a:ea typeface="楷体" panose="02010609060101010101" pitchFamily="49" charset="-122"/>
                          <a:cs typeface="Times New Roman" panose="02020603050405020304" pitchFamily="18" charset="0"/>
                        </a:rPr>
                        <m:t>𝐻</m:t>
                      </m:r>
                      <m:r>
                        <a:rPr lang="en-US" altLang="zh-CN" i="1">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𝐷</m:t>
                          </m:r>
                        </m:num>
                        <m:den>
                          <m:r>
                            <a:rPr lang="zh-CN" altLang="en-US" i="1">
                              <a:latin typeface="Cambria Math" panose="02040503050406030204" pitchFamily="18" charset="0"/>
                              <a:ea typeface="楷体" panose="02010609060101010101" pitchFamily="49" charset="-122"/>
                              <a:cs typeface="Times New Roman" panose="02020603050405020304" pitchFamily="18" charset="0"/>
                            </a:rPr>
                            <m:t>𝛼</m:t>
                          </m:r>
                        </m:den>
                      </m:f>
                      <m:r>
                        <a:rPr lang="en-US" altLang="zh-CN" i="1">
                          <a:latin typeface="Cambria Math" panose="02040503050406030204" pitchFamily="18" charset="0"/>
                          <a:ea typeface="楷体" panose="02010609060101010101" pitchFamily="49" charset="-122"/>
                          <a:cs typeface="Times New Roman" panose="02020603050405020304" pitchFamily="18" charset="0"/>
                        </a:rPr>
                        <m:t>)</m:t>
                      </m:r>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等</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概率离散信源的</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信息率失真函数：</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楷体" panose="02010609060101010101" pitchFamily="49" charset="-122"/>
                          <a:cs typeface="Times New Roman" panose="02020603050405020304" pitchFamily="18" charset="0"/>
                        </a:rPr>
                        <m:t>𝑅</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i="1">
                              <a:latin typeface="Cambria Math" panose="02040503050406030204" pitchFamily="18" charset="0"/>
                              <a:ea typeface="楷体" panose="02010609060101010101" pitchFamily="49" charset="-122"/>
                              <a:cs typeface="Times New Roman" panose="02020603050405020304" pitchFamily="18" charset="0"/>
                            </a:rPr>
                            <m:t>𝐷</m:t>
                          </m:r>
                        </m:e>
                      </m:d>
                      <m:r>
                        <a:rPr lang="en-US" altLang="zh-CN" i="1">
                          <a:latin typeface="Cambria Math" panose="02040503050406030204" pitchFamily="18" charset="0"/>
                          <a:ea typeface="楷体" panose="02010609060101010101" pitchFamily="49" charset="-122"/>
                          <a:cs typeface="Times New Roman" panose="02020603050405020304" pitchFamily="18" charset="0"/>
                        </a:rPr>
                        <m:t>=</m:t>
                      </m:r>
                      <m:func>
                        <m:func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uncPr>
                        <m:fName>
                          <m:r>
                            <m:rPr>
                              <m:sty m:val="p"/>
                            </m:rPr>
                            <a:rPr lang="en-US" altLang="zh-CN">
                              <a:latin typeface="Cambria Math" panose="02040503050406030204" pitchFamily="18" charset="0"/>
                              <a:ea typeface="楷体" panose="02010609060101010101" pitchFamily="49" charset="-122"/>
                              <a:cs typeface="Times New Roman" panose="02020603050405020304" pitchFamily="18" charset="0"/>
                            </a:rPr>
                            <m:t>ln</m:t>
                          </m:r>
                        </m:fName>
                        <m:e>
                          <m:r>
                            <a:rPr lang="en-US" altLang="zh-CN" i="1">
                              <a:latin typeface="Cambria Math" panose="02040503050406030204" pitchFamily="18" charset="0"/>
                              <a:ea typeface="楷体" panose="02010609060101010101" pitchFamily="49" charset="-122"/>
                              <a:cs typeface="Times New Roman" panose="02020603050405020304" pitchFamily="18" charset="0"/>
                            </a:rPr>
                            <m:t>𝑛</m:t>
                          </m:r>
                          <m:r>
                            <a:rPr lang="en-US" altLang="zh-CN" i="1">
                              <a:latin typeface="Cambria Math" panose="02040503050406030204" pitchFamily="18" charset="0"/>
                              <a:ea typeface="楷体" panose="02010609060101010101" pitchFamily="49" charset="-122"/>
                              <a:cs typeface="Times New Roman" panose="02020603050405020304" pitchFamily="18" charset="0"/>
                            </a:rPr>
                            <m:t>+</m:t>
                          </m:r>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𝐷</m:t>
                              </m:r>
                            </m:num>
                            <m:den>
                              <m:r>
                                <a:rPr lang="zh-CN" altLang="en-US" i="1">
                                  <a:latin typeface="Cambria Math" panose="02040503050406030204" pitchFamily="18" charset="0"/>
                                  <a:ea typeface="楷体" panose="02010609060101010101" pitchFamily="49" charset="-122"/>
                                  <a:cs typeface="Times New Roman" panose="02020603050405020304" pitchFamily="18" charset="0"/>
                                </a:rPr>
                                <m:t>𝛼</m:t>
                              </m:r>
                            </m:den>
                          </m:f>
                          <m:func>
                            <m:func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uncPr>
                            <m:fName>
                              <m:r>
                                <m:rPr>
                                  <m:sty m:val="p"/>
                                </m:rPr>
                                <a:rPr lang="en-US" altLang="zh-CN">
                                  <a:latin typeface="Cambria Math" panose="02040503050406030204" pitchFamily="18" charset="0"/>
                                  <a:ea typeface="楷体" panose="02010609060101010101" pitchFamily="49" charset="-122"/>
                                  <a:cs typeface="Times New Roman" panose="02020603050405020304" pitchFamily="18" charset="0"/>
                                </a:rPr>
                                <m:t>ln</m:t>
                              </m:r>
                            </m:fName>
                            <m:e>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𝐷</m:t>
                                      </m:r>
                                    </m:num>
                                    <m:den>
                                      <m:r>
                                        <a:rPr lang="zh-CN" altLang="en-US" i="1">
                                          <a:latin typeface="Cambria Math" panose="02040503050406030204" pitchFamily="18" charset="0"/>
                                          <a:ea typeface="楷体" panose="02010609060101010101" pitchFamily="49" charset="-122"/>
                                          <a:cs typeface="Times New Roman" panose="02020603050405020304" pitchFamily="18" charset="0"/>
                                        </a:rPr>
                                        <m:t>𝛼</m:t>
                                      </m:r>
                                    </m:den>
                                  </m:f>
                                </m:num>
                                <m:den>
                                  <m:r>
                                    <a:rPr lang="en-US" altLang="zh-CN" i="1">
                                      <a:latin typeface="Cambria Math" panose="02040503050406030204" pitchFamily="18" charset="0"/>
                                      <a:ea typeface="楷体" panose="02010609060101010101" pitchFamily="49" charset="-122"/>
                                      <a:cs typeface="Times New Roman" panose="02020603050405020304" pitchFamily="18" charset="0"/>
                                    </a:rPr>
                                    <m:t>𝑛</m:t>
                                  </m:r>
                                  <m:r>
                                    <a:rPr lang="en-US" altLang="zh-CN" i="1">
                                      <a:latin typeface="Cambria Math" panose="02040503050406030204" pitchFamily="18" charset="0"/>
                                      <a:ea typeface="楷体" panose="02010609060101010101" pitchFamily="49" charset="-122"/>
                                      <a:cs typeface="Times New Roman" panose="02020603050405020304" pitchFamily="18" charset="0"/>
                                    </a:rPr>
                                    <m:t>−1</m:t>
                                  </m:r>
                                </m:den>
                              </m:f>
                              <m:r>
                                <a:rPr lang="en-US" altLang="zh-CN" i="1">
                                  <a:latin typeface="Cambria Math" panose="02040503050406030204" pitchFamily="18" charset="0"/>
                                  <a:ea typeface="楷体" panose="02010609060101010101" pitchFamily="49" charset="-122"/>
                                  <a:cs typeface="Times New Roman" panose="02020603050405020304" pitchFamily="18" charset="0"/>
                                </a:rPr>
                                <m:t>+</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i="1">
                                      <a:latin typeface="Cambria Math" panose="02040503050406030204" pitchFamily="18" charset="0"/>
                                      <a:ea typeface="楷体" panose="02010609060101010101" pitchFamily="49" charset="-122"/>
                                      <a:cs typeface="Times New Roman" panose="02020603050405020304" pitchFamily="18" charset="0"/>
                                    </a:rPr>
                                    <m:t>1−</m:t>
                                  </m:r>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𝐷</m:t>
                                      </m:r>
                                    </m:num>
                                    <m:den>
                                      <m:r>
                                        <a:rPr lang="zh-CN" altLang="en-US" i="1">
                                          <a:latin typeface="Cambria Math" panose="02040503050406030204" pitchFamily="18" charset="0"/>
                                          <a:ea typeface="楷体" panose="02010609060101010101" pitchFamily="49" charset="-122"/>
                                          <a:cs typeface="Times New Roman" panose="02020603050405020304" pitchFamily="18" charset="0"/>
                                        </a:rPr>
                                        <m:t>𝛼</m:t>
                                      </m:r>
                                    </m:den>
                                  </m:f>
                                </m:e>
                              </m:d>
                            </m:e>
                          </m:func>
                        </m:e>
                      </m:func>
                      <m:r>
                        <m:rPr>
                          <m:sty m:val="p"/>
                        </m:rPr>
                        <a:rPr lang="en-US" altLang="zh-CN">
                          <a:latin typeface="Cambria Math" panose="02040503050406030204" pitchFamily="18" charset="0"/>
                          <a:ea typeface="楷体" panose="02010609060101010101" pitchFamily="49" charset="-122"/>
                          <a:cs typeface="Times New Roman" panose="02020603050405020304" pitchFamily="18" charset="0"/>
                        </a:rPr>
                        <m:t>ln</m:t>
                      </m:r>
                      <m:d>
                        <m:d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dPr>
                        <m:e>
                          <m:r>
                            <a:rPr lang="en-US" altLang="zh-CN" i="1">
                              <a:latin typeface="Cambria Math" panose="02040503050406030204" pitchFamily="18" charset="0"/>
                              <a:ea typeface="楷体" panose="02010609060101010101" pitchFamily="49" charset="-122"/>
                              <a:cs typeface="Times New Roman" panose="02020603050405020304" pitchFamily="18" charset="0"/>
                            </a:rPr>
                            <m:t>1−</m:t>
                          </m:r>
                          <m:f>
                            <m:fPr>
                              <m:ctrlPr>
                                <a:rPr lang="en-US" altLang="zh-CN" i="1">
                                  <a:latin typeface="Cambria Math" panose="02040503050406030204" pitchFamily="18" charset="0"/>
                                  <a:ea typeface="楷体" panose="02010609060101010101" pitchFamily="49" charset="-122"/>
                                  <a:cs typeface="Times New Roman" panose="02020603050405020304" pitchFamily="18" charset="0"/>
                                </a:rPr>
                              </m:ctrlPr>
                            </m:fPr>
                            <m:num>
                              <m:r>
                                <a:rPr lang="en-US" altLang="zh-CN" i="1">
                                  <a:latin typeface="Cambria Math" panose="02040503050406030204" pitchFamily="18" charset="0"/>
                                  <a:ea typeface="楷体" panose="02010609060101010101" pitchFamily="49" charset="-122"/>
                                  <a:cs typeface="Times New Roman" panose="02020603050405020304" pitchFamily="18" charset="0"/>
                                </a:rPr>
                                <m:t>𝐷</m:t>
                              </m:r>
                            </m:num>
                            <m:den>
                              <m:r>
                                <a:rPr lang="zh-CN" altLang="en-US" i="1">
                                  <a:latin typeface="Cambria Math" panose="02040503050406030204" pitchFamily="18" charset="0"/>
                                  <a:ea typeface="楷体" panose="02010609060101010101" pitchFamily="49" charset="-122"/>
                                  <a:cs typeface="Times New Roman" panose="02020603050405020304" pitchFamily="18" charset="0"/>
                                </a:rPr>
                                <m:t>𝛼</m:t>
                              </m:r>
                            </m:den>
                          </m:f>
                        </m:e>
                      </m:d>
                    </m:oMath>
                  </m:oMathPara>
                </a14:m>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15" name="矩形 14"/>
              <p:cNvSpPr>
                <a:spLocks noRot="1" noChangeAspect="1" noMove="1" noResize="1" noEditPoints="1" noAdjustHandles="1" noChangeArrowheads="1" noChangeShapeType="1" noTextEdit="1"/>
              </p:cNvSpPr>
              <p:nvPr/>
            </p:nvSpPr>
            <p:spPr>
              <a:xfrm>
                <a:off x="206828" y="3996716"/>
                <a:ext cx="6096000" cy="1870448"/>
              </a:xfrm>
              <a:prstGeom prst="rect">
                <a:avLst/>
              </a:prstGeom>
              <a:blipFill>
                <a:blip r:embed="rId7"/>
                <a:stretch>
                  <a:fillRect l="-700" t="-2614"/>
                </a:stretch>
              </a:blipFill>
            </p:spPr>
            <p:txBody>
              <a:bodyPr/>
              <a:lstStyle/>
              <a:p>
                <a:r>
                  <a:rPr lang="zh-CN" altLang="en-US">
                    <a:noFill/>
                  </a:rPr>
                  <a:t> </a:t>
                </a:r>
              </a:p>
            </p:txBody>
          </p:sp>
        </mc:Fallback>
      </mc:AlternateContent>
      <p:sp>
        <p:nvSpPr>
          <p:cNvPr id="16" name="矩形 15"/>
          <p:cNvSpPr/>
          <p:nvPr/>
        </p:nvSpPr>
        <p:spPr>
          <a:xfrm>
            <a:off x="6366106" y="6397672"/>
            <a:ext cx="5250155" cy="784830"/>
          </a:xfrm>
          <a:prstGeom prst="rect">
            <a:avLst/>
          </a:prstGeom>
        </p:spPr>
        <p:txBody>
          <a:bodyPr wrap="none">
            <a:spAutoFit/>
          </a:bodyPr>
          <a:lstStyle/>
          <a:p>
            <a:pPr>
              <a:spcBef>
                <a:spcPct val="50000"/>
              </a:spcBef>
            </a:pP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err="1" smtClean="0">
                <a:latin typeface="Times New Roman" panose="02020603050405020304" pitchFamily="18" charset="0"/>
                <a:ea typeface="楷体" panose="02010609060101010101" pitchFamily="49" charset="-122"/>
                <a:cs typeface="Times New Roman" panose="02020603050405020304" pitchFamily="18" charset="0"/>
              </a:rPr>
              <a:t>min</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err="1" smtClean="0">
                <a:latin typeface="Times New Roman" panose="02020603050405020304" pitchFamily="18" charset="0"/>
                <a:ea typeface="楷体" panose="02010609060101010101" pitchFamily="49" charset="-122"/>
                <a:cs typeface="Times New Roman" panose="02020603050405020304" pitchFamily="18" charset="0"/>
              </a:rPr>
              <a:t>min</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err="1" smtClean="0">
                <a:latin typeface="Times New Roman" panose="02020603050405020304" pitchFamily="18" charset="0"/>
                <a:ea typeface="楷体" panose="02010609060101010101" pitchFamily="49" charset="-122"/>
                <a:cs typeface="Times New Roman" panose="02020603050405020304" pitchFamily="18" charset="0"/>
              </a:rPr>
              <a:t>max</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R(</a:t>
            </a:r>
            <a:r>
              <a:rPr lang="en-US" altLang="zh-CN" dirty="0" err="1" smtClean="0">
                <a:latin typeface="Times New Roman" panose="02020603050405020304" pitchFamily="18" charset="0"/>
                <a:ea typeface="楷体" panose="02010609060101010101" pitchFamily="49" charset="-122"/>
                <a:cs typeface="Times New Roman" panose="02020603050405020304" pitchFamily="18" charset="0"/>
              </a:rPr>
              <a:t>D</a:t>
            </a:r>
            <a:r>
              <a:rPr lang="en-US" altLang="zh-CN" baseline="-25000" dirty="0" err="1" smtClean="0">
                <a:latin typeface="Times New Roman" panose="02020603050405020304" pitchFamily="18" charset="0"/>
                <a:ea typeface="楷体" panose="02010609060101010101" pitchFamily="49" charset="-122"/>
                <a:cs typeface="Times New Roman" panose="02020603050405020304" pitchFamily="18" charset="0"/>
              </a:rPr>
              <a:t>max</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、凸性、单调性等。</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spcBef>
                <a:spcPct val="50000"/>
              </a:spcBef>
            </a:pP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26494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8857" y="267011"/>
            <a:ext cx="4895850" cy="3416320"/>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六、</a:t>
            </a:r>
            <a:r>
              <a:rPr lang="zh-CN" altLang="zh-CN" kern="100" dirty="0" smtClean="0">
                <a:latin typeface="Times New Roman" panose="02020603050405020304" pitchFamily="18" charset="0"/>
                <a:cs typeface="Times New Roman" panose="02020603050405020304" pitchFamily="18" charset="0"/>
              </a:rPr>
              <a:t>信道编码</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香农第二定理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）信道编码的检纠错原理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）线性分组码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）汉明码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5</a:t>
            </a:r>
            <a:r>
              <a:rPr lang="zh-CN" altLang="zh-CN" kern="100" dirty="0">
                <a:solidFill>
                  <a:srgbClr val="FF0000"/>
                </a:solidFill>
                <a:latin typeface="Times New Roman" panose="02020603050405020304" pitchFamily="18" charset="0"/>
                <a:cs typeface="Times New Roman" panose="02020603050405020304" pitchFamily="18" charset="0"/>
              </a:rPr>
              <a:t>）线性卷积码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）维特比</a:t>
            </a:r>
            <a:r>
              <a:rPr lang="zh-CN" altLang="zh-CN" kern="100" dirty="0" smtClean="0">
                <a:solidFill>
                  <a:srgbClr val="FF0000"/>
                </a:solidFill>
                <a:latin typeface="Times New Roman" panose="02020603050405020304" pitchFamily="18" charset="0"/>
                <a:cs typeface="Times New Roman" panose="02020603050405020304" pitchFamily="18" charset="0"/>
              </a:rPr>
              <a:t>译码</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）循环码（课后阅读，仅对基本概念了解）</a:t>
            </a:r>
            <a:endParaRPr lang="zh-CN" altLang="en-US" dirty="0"/>
          </a:p>
        </p:txBody>
      </p:sp>
      <p:sp>
        <p:nvSpPr>
          <p:cNvPr id="4" name="矩形 3"/>
          <p:cNvSpPr/>
          <p:nvPr/>
        </p:nvSpPr>
        <p:spPr>
          <a:xfrm>
            <a:off x="6096000" y="640808"/>
            <a:ext cx="6096000" cy="2031325"/>
          </a:xfrm>
          <a:prstGeom prst="rect">
            <a:avLst/>
          </a:prstGeom>
        </p:spPr>
        <p:txBody>
          <a:bodyPr>
            <a:spAutoFit/>
          </a:bodyPr>
          <a:lstStyle/>
          <a:p>
            <a:pPr marL="285750" indent="-285750">
              <a:buFont typeface="Wingdings" panose="05000000000000000000" pitchFamily="2" charset="2"/>
              <a:buChar char="Ø"/>
            </a:pPr>
            <a:r>
              <a:rPr lang="zh-CN" altLang="zh-CN" kern="100" dirty="0">
                <a:solidFill>
                  <a:srgbClr val="FF0000"/>
                </a:solidFill>
                <a:latin typeface="Times New Roman" panose="02020603050405020304" pitchFamily="18" charset="0"/>
                <a:cs typeface="Times New Roman" panose="02020603050405020304" pitchFamily="18" charset="0"/>
              </a:rPr>
              <a:t>香农第二</a:t>
            </a:r>
            <a:r>
              <a:rPr lang="zh-CN" altLang="zh-CN" kern="100" dirty="0" smtClean="0">
                <a:solidFill>
                  <a:srgbClr val="FF0000"/>
                </a:solidFill>
                <a:latin typeface="Times New Roman" panose="02020603050405020304" pitchFamily="18" charset="0"/>
                <a:cs typeface="Times New Roman" panose="02020603050405020304" pitchFamily="18" charset="0"/>
              </a:rPr>
              <a:t>定理</a:t>
            </a:r>
            <a:r>
              <a:rPr lang="zh-CN" altLang="en-US" kern="100" dirty="0" smtClean="0">
                <a:solidFill>
                  <a:srgbClr val="FF0000"/>
                </a:solidFill>
                <a:latin typeface="等线" panose="02010600030101010101" pitchFamily="2" charset="-122"/>
                <a:cs typeface="Times New Roman" panose="02020603050405020304" pitchFamily="18" charset="0"/>
              </a:rPr>
              <a:t>：</a:t>
            </a:r>
            <a:r>
              <a:rPr lang="zh-CN" altLang="en-US" dirty="0" smtClean="0">
                <a:solidFill>
                  <a:srgbClr val="191B1F"/>
                </a:solidFill>
                <a:latin typeface="-apple-system"/>
              </a:rPr>
              <a:t>有噪信道编码定理。当信道的信息传输率不超过信道容量时，采用合适的信道编码方法可以实现任意高的传输可靠性，但若信息传输率超过了信道容量，就不可能实现可靠的传输。</a:t>
            </a:r>
            <a:endParaRPr lang="en-US" altLang="zh-CN" dirty="0" smtClean="0">
              <a:solidFill>
                <a:srgbClr val="191B1F"/>
              </a:solidFill>
              <a:latin typeface="-apple-system"/>
            </a:endParaRPr>
          </a:p>
          <a:p>
            <a:pPr marL="285750" indent="-285750">
              <a:buFont typeface="Wingdings" panose="05000000000000000000" pitchFamily="2" charset="2"/>
              <a:buChar char="Ø"/>
            </a:pPr>
            <a:r>
              <a:rPr lang="zh-CN" altLang="en-US" dirty="0" smtClean="0">
                <a:solidFill>
                  <a:srgbClr val="191B1F"/>
                </a:solidFill>
                <a:latin typeface="-apple-system"/>
              </a:rPr>
              <a:t>检错、纠错原理：</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要使码具有检、纠错能力，必须附加多余的码元，即增加消息的冗余度，这相当于</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n&gt;k</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。而且一般来说，</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码的冗余度越大，检、纠错能力就越强</a:t>
            </a:r>
            <a:endParaRPr lang="zh-CN" altLang="en-US" dirty="0"/>
          </a:p>
        </p:txBody>
      </p:sp>
      <p:grpSp>
        <p:nvGrpSpPr>
          <p:cNvPr id="5" name="Group 4">
            <a:extLst>
              <a:ext uri="{FF2B5EF4-FFF2-40B4-BE49-F238E27FC236}">
                <a16:creationId xmlns:a16="http://schemas.microsoft.com/office/drawing/2014/main" id="{98515F1F-D964-4C6F-8AF2-11AE85E1AB42}"/>
              </a:ext>
            </a:extLst>
          </p:cNvPr>
          <p:cNvGrpSpPr>
            <a:grpSpLocks noChangeAspect="1"/>
          </p:cNvGrpSpPr>
          <p:nvPr/>
        </p:nvGrpSpPr>
        <p:grpSpPr bwMode="auto">
          <a:xfrm>
            <a:off x="6911083" y="2702112"/>
            <a:ext cx="1313715" cy="1769083"/>
            <a:chOff x="1880" y="5336"/>
            <a:chExt cx="2715" cy="3657"/>
          </a:xfrm>
        </p:grpSpPr>
        <p:sp>
          <p:nvSpPr>
            <p:cNvPr id="6" name="Oval 5">
              <a:extLst>
                <a:ext uri="{FF2B5EF4-FFF2-40B4-BE49-F238E27FC236}">
                  <a16:creationId xmlns:a16="http://schemas.microsoft.com/office/drawing/2014/main" id="{F279AE2E-D6D7-4E0B-BF9A-DB206F58BD45}"/>
                </a:ext>
              </a:extLst>
            </p:cNvPr>
            <p:cNvSpPr>
              <a:spLocks noChangeAspect="1" noChangeArrowheads="1"/>
            </p:cNvSpPr>
            <p:nvPr/>
          </p:nvSpPr>
          <p:spPr bwMode="auto">
            <a:xfrm>
              <a:off x="1880" y="5336"/>
              <a:ext cx="2715" cy="2715"/>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7" name="Oval 6">
              <a:extLst>
                <a:ext uri="{FF2B5EF4-FFF2-40B4-BE49-F238E27FC236}">
                  <a16:creationId xmlns:a16="http://schemas.microsoft.com/office/drawing/2014/main" id="{15D7AB64-7993-4EBE-AA05-F23F3D8E4213}"/>
                </a:ext>
              </a:extLst>
            </p:cNvPr>
            <p:cNvSpPr>
              <a:spLocks noChangeAspect="1" noChangeArrowheads="1"/>
            </p:cNvSpPr>
            <p:nvPr/>
          </p:nvSpPr>
          <p:spPr bwMode="auto">
            <a:xfrm>
              <a:off x="2541" y="5987"/>
              <a:ext cx="1448" cy="1442"/>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8" name="Line 7">
              <a:extLst>
                <a:ext uri="{FF2B5EF4-FFF2-40B4-BE49-F238E27FC236}">
                  <a16:creationId xmlns:a16="http://schemas.microsoft.com/office/drawing/2014/main" id="{2CE107C0-1863-4320-B5AD-44CF04916233}"/>
                </a:ext>
              </a:extLst>
            </p:cNvPr>
            <p:cNvSpPr>
              <a:spLocks noChangeAspect="1" noChangeShapeType="1"/>
            </p:cNvSpPr>
            <p:nvPr/>
          </p:nvSpPr>
          <p:spPr bwMode="auto">
            <a:xfrm>
              <a:off x="2601" y="6767"/>
              <a:ext cx="199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8">
              <a:extLst>
                <a:ext uri="{FF2B5EF4-FFF2-40B4-BE49-F238E27FC236}">
                  <a16:creationId xmlns:a16="http://schemas.microsoft.com/office/drawing/2014/main" id="{79C16952-890A-4037-A208-A5C9ACF12323}"/>
                </a:ext>
              </a:extLst>
            </p:cNvPr>
            <p:cNvSpPr>
              <a:spLocks noChangeAspect="1" noChangeShapeType="1"/>
            </p:cNvSpPr>
            <p:nvPr/>
          </p:nvSpPr>
          <p:spPr bwMode="auto">
            <a:xfrm>
              <a:off x="3325" y="6767"/>
              <a:ext cx="362" cy="4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Oval 9">
              <a:extLst>
                <a:ext uri="{FF2B5EF4-FFF2-40B4-BE49-F238E27FC236}">
                  <a16:creationId xmlns:a16="http://schemas.microsoft.com/office/drawing/2014/main" id="{213D9AF3-7E3D-476F-AB4E-8C6141548D9D}"/>
                </a:ext>
              </a:extLst>
            </p:cNvPr>
            <p:cNvSpPr>
              <a:spLocks noChangeAspect="1" noChangeArrowheads="1"/>
            </p:cNvSpPr>
            <p:nvPr/>
          </p:nvSpPr>
          <p:spPr bwMode="auto">
            <a:xfrm>
              <a:off x="3280" y="6687"/>
              <a:ext cx="125" cy="125"/>
            </a:xfrm>
            <a:prstGeom prst="ellipse">
              <a:avLst/>
            </a:prstGeom>
            <a:solidFill>
              <a:srgbClr val="000000">
                <a:alpha val="0"/>
              </a:srgbClr>
            </a:solidFill>
            <a:ln w="9525">
              <a:solidFill>
                <a:srgbClr val="000000"/>
              </a:solidFill>
              <a:round/>
              <a:headEnd/>
              <a:tailEnd/>
            </a:ln>
          </p:spPr>
          <p:txBody>
            <a:bodyPr/>
            <a:lstStyle/>
            <a:p>
              <a:endParaRPr lang="zh-CN" altLang="en-US"/>
            </a:p>
          </p:txBody>
        </p:sp>
        <p:sp>
          <p:nvSpPr>
            <p:cNvPr id="11" name="Text Box 10">
              <a:extLst>
                <a:ext uri="{FF2B5EF4-FFF2-40B4-BE49-F238E27FC236}">
                  <a16:creationId xmlns:a16="http://schemas.microsoft.com/office/drawing/2014/main" id="{4C9D9AA8-FB8C-4F73-B1F8-CE992CB1342C}"/>
                </a:ext>
              </a:extLst>
            </p:cNvPr>
            <p:cNvSpPr txBox="1">
              <a:spLocks noChangeAspect="1" noChangeArrowheads="1"/>
            </p:cNvSpPr>
            <p:nvPr/>
          </p:nvSpPr>
          <p:spPr bwMode="auto">
            <a:xfrm>
              <a:off x="3687" y="8039"/>
              <a:ext cx="543"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e+1</a:t>
              </a:r>
              <a:endParaRPr kumimoji="0" lang="en-US" altLang="zh-CN" sz="1800">
                <a:latin typeface="Arial" panose="020B0604020202020204" pitchFamily="34" charset="0"/>
              </a:endParaRPr>
            </a:p>
          </p:txBody>
        </p:sp>
        <p:sp>
          <p:nvSpPr>
            <p:cNvPr id="12" name="Text Box 11">
              <a:extLst>
                <a:ext uri="{FF2B5EF4-FFF2-40B4-BE49-F238E27FC236}">
                  <a16:creationId xmlns:a16="http://schemas.microsoft.com/office/drawing/2014/main" id="{F3CE3308-FA0F-45EA-967D-A8BE3DD21E6C}"/>
                </a:ext>
              </a:extLst>
            </p:cNvPr>
            <p:cNvSpPr txBox="1">
              <a:spLocks noChangeAspect="1" noChangeArrowheads="1"/>
            </p:cNvSpPr>
            <p:nvPr/>
          </p:nvSpPr>
          <p:spPr bwMode="auto">
            <a:xfrm>
              <a:off x="3506" y="6767"/>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e</a:t>
              </a:r>
              <a:endParaRPr kumimoji="0" lang="en-US" altLang="zh-CN" sz="1800">
                <a:latin typeface="Arial" panose="020B0604020202020204" pitchFamily="34" charset="0"/>
              </a:endParaRPr>
            </a:p>
          </p:txBody>
        </p:sp>
        <p:sp>
          <p:nvSpPr>
            <p:cNvPr id="13" name="Text Box 12">
              <a:extLst>
                <a:ext uri="{FF2B5EF4-FFF2-40B4-BE49-F238E27FC236}">
                  <a16:creationId xmlns:a16="http://schemas.microsoft.com/office/drawing/2014/main" id="{452AC410-E4DC-4033-979D-CB5E1A936676}"/>
                </a:ext>
              </a:extLst>
            </p:cNvPr>
            <p:cNvSpPr txBox="1">
              <a:spLocks noChangeAspect="1" noChangeArrowheads="1"/>
            </p:cNvSpPr>
            <p:nvPr/>
          </p:nvSpPr>
          <p:spPr bwMode="auto">
            <a:xfrm>
              <a:off x="3144" y="6449"/>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C</a:t>
              </a:r>
              <a:endParaRPr kumimoji="0" lang="en-US" altLang="zh-CN" sz="1800">
                <a:latin typeface="Arial" panose="020B0604020202020204" pitchFamily="34" charset="0"/>
              </a:endParaRPr>
            </a:p>
          </p:txBody>
        </p:sp>
        <p:sp>
          <p:nvSpPr>
            <p:cNvPr id="14" name="Line 13">
              <a:extLst>
                <a:ext uri="{FF2B5EF4-FFF2-40B4-BE49-F238E27FC236}">
                  <a16:creationId xmlns:a16="http://schemas.microsoft.com/office/drawing/2014/main" id="{005B17F4-5017-4FBC-9908-06493B9376EB}"/>
                </a:ext>
              </a:extLst>
            </p:cNvPr>
            <p:cNvSpPr>
              <a:spLocks noChangeAspect="1" noChangeShapeType="1"/>
            </p:cNvSpPr>
            <p:nvPr/>
          </p:nvSpPr>
          <p:spPr bwMode="auto">
            <a:xfrm flipV="1">
              <a:off x="4592" y="6131"/>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Text Box 14">
              <a:extLst>
                <a:ext uri="{FF2B5EF4-FFF2-40B4-BE49-F238E27FC236}">
                  <a16:creationId xmlns:a16="http://schemas.microsoft.com/office/drawing/2014/main" id="{5228961A-47A7-4BA4-8885-E025B1F3DD2C}"/>
                </a:ext>
              </a:extLst>
            </p:cNvPr>
            <p:cNvSpPr txBox="1">
              <a:spLocks noChangeAspect="1" noChangeArrowheads="1"/>
            </p:cNvSpPr>
            <p:nvPr/>
          </p:nvSpPr>
          <p:spPr bwMode="auto">
            <a:xfrm>
              <a:off x="4230" y="6131"/>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1</a:t>
              </a:r>
              <a:endParaRPr kumimoji="0" lang="en-US" altLang="zh-CN" sz="1800">
                <a:latin typeface="Arial" panose="020B0604020202020204" pitchFamily="34" charset="0"/>
              </a:endParaRPr>
            </a:p>
          </p:txBody>
        </p:sp>
        <p:sp>
          <p:nvSpPr>
            <p:cNvPr id="16" name="Line 15">
              <a:extLst>
                <a:ext uri="{FF2B5EF4-FFF2-40B4-BE49-F238E27FC236}">
                  <a16:creationId xmlns:a16="http://schemas.microsoft.com/office/drawing/2014/main" id="{38FA2E9F-2A66-4273-913F-3AD54F7B3C33}"/>
                </a:ext>
              </a:extLst>
            </p:cNvPr>
            <p:cNvSpPr>
              <a:spLocks noChangeAspect="1" noChangeShapeType="1"/>
            </p:cNvSpPr>
            <p:nvPr/>
          </p:nvSpPr>
          <p:spPr bwMode="auto">
            <a:xfrm>
              <a:off x="4019" y="6449"/>
              <a:ext cx="54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6">
              <a:extLst>
                <a:ext uri="{FF2B5EF4-FFF2-40B4-BE49-F238E27FC236}">
                  <a16:creationId xmlns:a16="http://schemas.microsoft.com/office/drawing/2014/main" id="{5A018D9F-B0EE-40FE-9BA6-A23865B5BB83}"/>
                </a:ext>
              </a:extLst>
            </p:cNvPr>
            <p:cNvSpPr>
              <a:spLocks noChangeAspect="1" noChangeShapeType="1"/>
            </p:cNvSpPr>
            <p:nvPr/>
          </p:nvSpPr>
          <p:spPr bwMode="auto">
            <a:xfrm flipV="1">
              <a:off x="3989" y="6131"/>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7">
              <a:extLst>
                <a:ext uri="{FF2B5EF4-FFF2-40B4-BE49-F238E27FC236}">
                  <a16:creationId xmlns:a16="http://schemas.microsoft.com/office/drawing/2014/main" id="{468A3D93-DB52-4AAE-BBF1-94FA0A071741}"/>
                </a:ext>
              </a:extLst>
            </p:cNvPr>
            <p:cNvSpPr>
              <a:spLocks noChangeAspect="1" noChangeShapeType="1"/>
            </p:cNvSpPr>
            <p:nvPr/>
          </p:nvSpPr>
          <p:spPr bwMode="auto">
            <a:xfrm flipV="1">
              <a:off x="3325" y="8039"/>
              <a:ext cx="0" cy="4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8">
              <a:extLst>
                <a:ext uri="{FF2B5EF4-FFF2-40B4-BE49-F238E27FC236}">
                  <a16:creationId xmlns:a16="http://schemas.microsoft.com/office/drawing/2014/main" id="{E28020B5-F012-4FE1-B1C7-15AF7957CDC1}"/>
                </a:ext>
              </a:extLst>
            </p:cNvPr>
            <p:cNvSpPr>
              <a:spLocks noChangeAspect="1" noChangeShapeType="1"/>
            </p:cNvSpPr>
            <p:nvPr/>
          </p:nvSpPr>
          <p:spPr bwMode="auto">
            <a:xfrm flipV="1">
              <a:off x="4592" y="8039"/>
              <a:ext cx="0" cy="4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19">
              <a:extLst>
                <a:ext uri="{FF2B5EF4-FFF2-40B4-BE49-F238E27FC236}">
                  <a16:creationId xmlns:a16="http://schemas.microsoft.com/office/drawing/2014/main" id="{16C210E3-00C2-41F1-A89D-6095ACF642AB}"/>
                </a:ext>
              </a:extLst>
            </p:cNvPr>
            <p:cNvSpPr>
              <a:spLocks noChangeAspect="1" noChangeShapeType="1"/>
            </p:cNvSpPr>
            <p:nvPr/>
          </p:nvSpPr>
          <p:spPr bwMode="auto">
            <a:xfrm>
              <a:off x="3325" y="8357"/>
              <a:ext cx="1267"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20">
              <a:extLst>
                <a:ext uri="{FF2B5EF4-FFF2-40B4-BE49-F238E27FC236}">
                  <a16:creationId xmlns:a16="http://schemas.microsoft.com/office/drawing/2014/main" id="{2E993359-D0CE-4628-8D97-0A000CCE29BD}"/>
                </a:ext>
              </a:extLst>
            </p:cNvPr>
            <p:cNvSpPr txBox="1">
              <a:spLocks noChangeAspect="1" noChangeArrowheads="1"/>
            </p:cNvSpPr>
            <p:nvPr/>
          </p:nvSpPr>
          <p:spPr bwMode="auto">
            <a:xfrm>
              <a:off x="2966" y="8675"/>
              <a:ext cx="543"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(a)</a:t>
              </a:r>
              <a:endParaRPr kumimoji="0" lang="en-US" altLang="zh-CN" sz="1800">
                <a:latin typeface="Arial" panose="020B0604020202020204" pitchFamily="34" charset="0"/>
              </a:endParaRPr>
            </a:p>
          </p:txBody>
        </p:sp>
      </p:grpSp>
      <p:grpSp>
        <p:nvGrpSpPr>
          <p:cNvPr id="22" name="Group 4">
            <a:extLst>
              <a:ext uri="{FF2B5EF4-FFF2-40B4-BE49-F238E27FC236}">
                <a16:creationId xmlns:a16="http://schemas.microsoft.com/office/drawing/2014/main" id="{2ED7CC97-6459-437C-93EE-29C94A919932}"/>
              </a:ext>
            </a:extLst>
          </p:cNvPr>
          <p:cNvGrpSpPr>
            <a:grpSpLocks/>
          </p:cNvGrpSpPr>
          <p:nvPr/>
        </p:nvGrpSpPr>
        <p:grpSpPr bwMode="auto">
          <a:xfrm>
            <a:off x="8993238" y="2797354"/>
            <a:ext cx="2689542" cy="1414618"/>
            <a:chOff x="6224" y="6131"/>
            <a:chExt cx="3801" cy="2067"/>
          </a:xfrm>
        </p:grpSpPr>
        <p:sp>
          <p:nvSpPr>
            <p:cNvPr id="23" name="Oval 5">
              <a:extLst>
                <a:ext uri="{FF2B5EF4-FFF2-40B4-BE49-F238E27FC236}">
                  <a16:creationId xmlns:a16="http://schemas.microsoft.com/office/drawing/2014/main" id="{43D714AF-0F1E-4087-A768-B3E10DB97374}"/>
                </a:ext>
              </a:extLst>
            </p:cNvPr>
            <p:cNvSpPr>
              <a:spLocks noChangeArrowheads="1"/>
            </p:cNvSpPr>
            <p:nvPr/>
          </p:nvSpPr>
          <p:spPr bwMode="auto">
            <a:xfrm>
              <a:off x="6224" y="6131"/>
              <a:ext cx="1448" cy="1442"/>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24" name="Oval 6">
              <a:extLst>
                <a:ext uri="{FF2B5EF4-FFF2-40B4-BE49-F238E27FC236}">
                  <a16:creationId xmlns:a16="http://schemas.microsoft.com/office/drawing/2014/main" id="{44DB4D99-06DE-4817-9607-8B715FCD2493}"/>
                </a:ext>
              </a:extLst>
            </p:cNvPr>
            <p:cNvSpPr>
              <a:spLocks noChangeArrowheads="1"/>
            </p:cNvSpPr>
            <p:nvPr/>
          </p:nvSpPr>
          <p:spPr bwMode="auto">
            <a:xfrm>
              <a:off x="8577" y="6131"/>
              <a:ext cx="1448" cy="1442"/>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25" name="Line 7">
              <a:extLst>
                <a:ext uri="{FF2B5EF4-FFF2-40B4-BE49-F238E27FC236}">
                  <a16:creationId xmlns:a16="http://schemas.microsoft.com/office/drawing/2014/main" id="{A43CB896-6732-4A02-A973-58C9B15BDB32}"/>
                </a:ext>
              </a:extLst>
            </p:cNvPr>
            <p:cNvSpPr>
              <a:spLocks noChangeShapeType="1"/>
            </p:cNvSpPr>
            <p:nvPr/>
          </p:nvSpPr>
          <p:spPr bwMode="auto">
            <a:xfrm>
              <a:off x="6224" y="6902"/>
              <a:ext cx="38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Oval 8">
              <a:extLst>
                <a:ext uri="{FF2B5EF4-FFF2-40B4-BE49-F238E27FC236}">
                  <a16:creationId xmlns:a16="http://schemas.microsoft.com/office/drawing/2014/main" id="{0372A8CE-D082-4C19-A02E-85D733B11645}"/>
                </a:ext>
              </a:extLst>
            </p:cNvPr>
            <p:cNvSpPr>
              <a:spLocks noChangeArrowheads="1"/>
            </p:cNvSpPr>
            <p:nvPr/>
          </p:nvSpPr>
          <p:spPr bwMode="auto">
            <a:xfrm>
              <a:off x="6948" y="6827"/>
              <a:ext cx="125" cy="125"/>
            </a:xfrm>
            <a:prstGeom prst="ellipse">
              <a:avLst/>
            </a:prstGeom>
            <a:solidFill>
              <a:srgbClr val="000000">
                <a:alpha val="0"/>
              </a:srgbClr>
            </a:solidFill>
            <a:ln w="9525">
              <a:solidFill>
                <a:srgbClr val="000000"/>
              </a:solidFill>
              <a:round/>
              <a:headEnd/>
              <a:tailEnd/>
            </a:ln>
          </p:spPr>
          <p:txBody>
            <a:bodyPr/>
            <a:lstStyle/>
            <a:p>
              <a:endParaRPr lang="zh-CN" altLang="en-US"/>
            </a:p>
          </p:txBody>
        </p:sp>
        <p:sp>
          <p:nvSpPr>
            <p:cNvPr id="27" name="Oval 9">
              <a:extLst>
                <a:ext uri="{FF2B5EF4-FFF2-40B4-BE49-F238E27FC236}">
                  <a16:creationId xmlns:a16="http://schemas.microsoft.com/office/drawing/2014/main" id="{8370CA22-974B-4DD9-9269-AD6680C8D8FA}"/>
                </a:ext>
              </a:extLst>
            </p:cNvPr>
            <p:cNvSpPr>
              <a:spLocks noChangeArrowheads="1"/>
            </p:cNvSpPr>
            <p:nvPr/>
          </p:nvSpPr>
          <p:spPr bwMode="auto">
            <a:xfrm>
              <a:off x="9301" y="6827"/>
              <a:ext cx="125" cy="125"/>
            </a:xfrm>
            <a:prstGeom prst="ellipse">
              <a:avLst/>
            </a:prstGeom>
            <a:solidFill>
              <a:srgbClr val="000000">
                <a:alpha val="0"/>
              </a:srgbClr>
            </a:solidFill>
            <a:ln w="9525">
              <a:solidFill>
                <a:srgbClr val="000000"/>
              </a:solidFill>
              <a:round/>
              <a:headEnd/>
              <a:tailEnd/>
            </a:ln>
          </p:spPr>
          <p:txBody>
            <a:bodyPr/>
            <a:lstStyle/>
            <a:p>
              <a:endParaRPr lang="zh-CN" altLang="en-US"/>
            </a:p>
          </p:txBody>
        </p:sp>
        <p:sp>
          <p:nvSpPr>
            <p:cNvPr id="28" name="Line 10">
              <a:extLst>
                <a:ext uri="{FF2B5EF4-FFF2-40B4-BE49-F238E27FC236}">
                  <a16:creationId xmlns:a16="http://schemas.microsoft.com/office/drawing/2014/main" id="{EE426E6C-05D7-4F1C-A524-74C7D4808EB3}"/>
                </a:ext>
              </a:extLst>
            </p:cNvPr>
            <p:cNvSpPr>
              <a:spLocks noChangeShapeType="1"/>
            </p:cNvSpPr>
            <p:nvPr/>
          </p:nvSpPr>
          <p:spPr bwMode="auto">
            <a:xfrm flipV="1">
              <a:off x="7672" y="6290"/>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11">
              <a:extLst>
                <a:ext uri="{FF2B5EF4-FFF2-40B4-BE49-F238E27FC236}">
                  <a16:creationId xmlns:a16="http://schemas.microsoft.com/office/drawing/2014/main" id="{4DC36F29-E0C7-4AAA-9DD7-E6423E7B6299}"/>
                </a:ext>
              </a:extLst>
            </p:cNvPr>
            <p:cNvSpPr>
              <a:spLocks noChangeShapeType="1"/>
            </p:cNvSpPr>
            <p:nvPr/>
          </p:nvSpPr>
          <p:spPr bwMode="auto">
            <a:xfrm flipV="1">
              <a:off x="8577" y="6290"/>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12">
              <a:extLst>
                <a:ext uri="{FF2B5EF4-FFF2-40B4-BE49-F238E27FC236}">
                  <a16:creationId xmlns:a16="http://schemas.microsoft.com/office/drawing/2014/main" id="{25901BEA-1C7F-4A0A-BE4B-648D605E9365}"/>
                </a:ext>
              </a:extLst>
            </p:cNvPr>
            <p:cNvSpPr>
              <a:spLocks noChangeShapeType="1"/>
            </p:cNvSpPr>
            <p:nvPr/>
          </p:nvSpPr>
          <p:spPr bwMode="auto">
            <a:xfrm flipV="1">
              <a:off x="6948" y="7562"/>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13">
              <a:extLst>
                <a:ext uri="{FF2B5EF4-FFF2-40B4-BE49-F238E27FC236}">
                  <a16:creationId xmlns:a16="http://schemas.microsoft.com/office/drawing/2014/main" id="{F33DAD22-C788-4A01-817E-E625A961BE69}"/>
                </a:ext>
              </a:extLst>
            </p:cNvPr>
            <p:cNvSpPr>
              <a:spLocks noChangeShapeType="1"/>
            </p:cNvSpPr>
            <p:nvPr/>
          </p:nvSpPr>
          <p:spPr bwMode="auto">
            <a:xfrm flipV="1">
              <a:off x="9301" y="7562"/>
              <a:ext cx="0" cy="6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14">
              <a:extLst>
                <a:ext uri="{FF2B5EF4-FFF2-40B4-BE49-F238E27FC236}">
                  <a16:creationId xmlns:a16="http://schemas.microsoft.com/office/drawing/2014/main" id="{EA08B492-FDFD-4BA3-9D03-04B9D679DCA7}"/>
                </a:ext>
              </a:extLst>
            </p:cNvPr>
            <p:cNvSpPr>
              <a:spLocks noChangeShapeType="1"/>
            </p:cNvSpPr>
            <p:nvPr/>
          </p:nvSpPr>
          <p:spPr bwMode="auto">
            <a:xfrm>
              <a:off x="6948" y="8039"/>
              <a:ext cx="2353"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Text Box 15">
              <a:extLst>
                <a:ext uri="{FF2B5EF4-FFF2-40B4-BE49-F238E27FC236}">
                  <a16:creationId xmlns:a16="http://schemas.microsoft.com/office/drawing/2014/main" id="{3523A82D-C999-463D-ADA8-E0F3C1F09957}"/>
                </a:ext>
              </a:extLst>
            </p:cNvPr>
            <p:cNvSpPr txBox="1">
              <a:spLocks noChangeArrowheads="1"/>
            </p:cNvSpPr>
            <p:nvPr/>
          </p:nvSpPr>
          <p:spPr bwMode="auto">
            <a:xfrm>
              <a:off x="7853" y="7721"/>
              <a:ext cx="543"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2t+1</a:t>
              </a:r>
              <a:endParaRPr kumimoji="0" lang="en-US" altLang="zh-CN" sz="1800">
                <a:latin typeface="Arial" panose="020B0604020202020204" pitchFamily="34" charset="0"/>
              </a:endParaRPr>
            </a:p>
          </p:txBody>
        </p:sp>
        <p:sp>
          <p:nvSpPr>
            <p:cNvPr id="34" name="Line 16">
              <a:extLst>
                <a:ext uri="{FF2B5EF4-FFF2-40B4-BE49-F238E27FC236}">
                  <a16:creationId xmlns:a16="http://schemas.microsoft.com/office/drawing/2014/main" id="{21125187-8BBA-4C9E-A1F4-2E59614D6B28}"/>
                </a:ext>
              </a:extLst>
            </p:cNvPr>
            <p:cNvSpPr>
              <a:spLocks noChangeShapeType="1"/>
            </p:cNvSpPr>
            <p:nvPr/>
          </p:nvSpPr>
          <p:spPr bwMode="auto">
            <a:xfrm>
              <a:off x="7038" y="6926"/>
              <a:ext cx="362" cy="4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17">
              <a:extLst>
                <a:ext uri="{FF2B5EF4-FFF2-40B4-BE49-F238E27FC236}">
                  <a16:creationId xmlns:a16="http://schemas.microsoft.com/office/drawing/2014/main" id="{9761FC9A-B352-4111-9AC0-9580EBB0922F}"/>
                </a:ext>
              </a:extLst>
            </p:cNvPr>
            <p:cNvSpPr>
              <a:spLocks noChangeShapeType="1"/>
            </p:cNvSpPr>
            <p:nvPr/>
          </p:nvSpPr>
          <p:spPr bwMode="auto">
            <a:xfrm flipH="1">
              <a:off x="8758" y="6926"/>
              <a:ext cx="543" cy="3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18">
              <a:extLst>
                <a:ext uri="{FF2B5EF4-FFF2-40B4-BE49-F238E27FC236}">
                  <a16:creationId xmlns:a16="http://schemas.microsoft.com/office/drawing/2014/main" id="{59301C70-CD14-4401-940D-B3D3D2CE1366}"/>
                </a:ext>
              </a:extLst>
            </p:cNvPr>
            <p:cNvSpPr>
              <a:spLocks noChangeShapeType="1"/>
            </p:cNvSpPr>
            <p:nvPr/>
          </p:nvSpPr>
          <p:spPr bwMode="auto">
            <a:xfrm>
              <a:off x="7672" y="6608"/>
              <a:ext cx="905"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Text Box 19">
              <a:extLst>
                <a:ext uri="{FF2B5EF4-FFF2-40B4-BE49-F238E27FC236}">
                  <a16:creationId xmlns:a16="http://schemas.microsoft.com/office/drawing/2014/main" id="{6F077397-6991-4085-AB20-64BCD064FA04}"/>
                </a:ext>
              </a:extLst>
            </p:cNvPr>
            <p:cNvSpPr txBox="1">
              <a:spLocks noChangeArrowheads="1"/>
            </p:cNvSpPr>
            <p:nvPr/>
          </p:nvSpPr>
          <p:spPr bwMode="auto">
            <a:xfrm>
              <a:off x="8034" y="6290"/>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1</a:t>
              </a:r>
              <a:endParaRPr kumimoji="0" lang="en-US" altLang="zh-CN" sz="1800">
                <a:latin typeface="Arial" panose="020B0604020202020204" pitchFamily="34" charset="0"/>
              </a:endParaRPr>
            </a:p>
          </p:txBody>
        </p:sp>
        <p:sp>
          <p:nvSpPr>
            <p:cNvPr id="38" name="Text Box 20">
              <a:extLst>
                <a:ext uri="{FF2B5EF4-FFF2-40B4-BE49-F238E27FC236}">
                  <a16:creationId xmlns:a16="http://schemas.microsoft.com/office/drawing/2014/main" id="{3D9B270D-B6D9-4A5F-9D05-7C4649F8352F}"/>
                </a:ext>
              </a:extLst>
            </p:cNvPr>
            <p:cNvSpPr txBox="1">
              <a:spLocks noChangeArrowheads="1"/>
            </p:cNvSpPr>
            <p:nvPr/>
          </p:nvSpPr>
          <p:spPr bwMode="auto">
            <a:xfrm>
              <a:off x="7310" y="6926"/>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t</a:t>
              </a:r>
              <a:endParaRPr kumimoji="0" lang="en-US" altLang="zh-CN" sz="1800">
                <a:latin typeface="Arial" panose="020B0604020202020204" pitchFamily="34" charset="0"/>
              </a:endParaRPr>
            </a:p>
          </p:txBody>
        </p:sp>
        <p:sp>
          <p:nvSpPr>
            <p:cNvPr id="39" name="Text Box 21">
              <a:extLst>
                <a:ext uri="{FF2B5EF4-FFF2-40B4-BE49-F238E27FC236}">
                  <a16:creationId xmlns:a16="http://schemas.microsoft.com/office/drawing/2014/main" id="{9545A9FD-9097-46E1-A6AB-72E91C35370D}"/>
                </a:ext>
              </a:extLst>
            </p:cNvPr>
            <p:cNvSpPr txBox="1">
              <a:spLocks noChangeArrowheads="1"/>
            </p:cNvSpPr>
            <p:nvPr/>
          </p:nvSpPr>
          <p:spPr bwMode="auto">
            <a:xfrm>
              <a:off x="8758" y="6926"/>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t</a:t>
              </a:r>
              <a:endParaRPr kumimoji="0" lang="en-US" altLang="zh-CN" sz="1800">
                <a:latin typeface="Arial" panose="020B0604020202020204" pitchFamily="34" charset="0"/>
              </a:endParaRPr>
            </a:p>
          </p:txBody>
        </p:sp>
        <p:sp>
          <p:nvSpPr>
            <p:cNvPr id="40" name="Text Box 22">
              <a:extLst>
                <a:ext uri="{FF2B5EF4-FFF2-40B4-BE49-F238E27FC236}">
                  <a16:creationId xmlns:a16="http://schemas.microsoft.com/office/drawing/2014/main" id="{70383974-D763-406B-B608-6CDEFD21CD29}"/>
                </a:ext>
              </a:extLst>
            </p:cNvPr>
            <p:cNvSpPr txBox="1">
              <a:spLocks noChangeArrowheads="1"/>
            </p:cNvSpPr>
            <p:nvPr/>
          </p:nvSpPr>
          <p:spPr bwMode="auto">
            <a:xfrm>
              <a:off x="6767" y="6449"/>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C</a:t>
              </a:r>
              <a:r>
                <a:rPr kumimoji="0" lang="en-US" altLang="zh-CN" sz="1000" baseline="-25000"/>
                <a:t>1</a:t>
              </a:r>
              <a:endParaRPr kumimoji="0" lang="en-US" altLang="zh-CN" sz="1800">
                <a:latin typeface="Arial" panose="020B0604020202020204" pitchFamily="34" charset="0"/>
              </a:endParaRPr>
            </a:p>
          </p:txBody>
        </p:sp>
        <p:sp>
          <p:nvSpPr>
            <p:cNvPr id="41" name="Text Box 23">
              <a:extLst>
                <a:ext uri="{FF2B5EF4-FFF2-40B4-BE49-F238E27FC236}">
                  <a16:creationId xmlns:a16="http://schemas.microsoft.com/office/drawing/2014/main" id="{C1289979-B3C0-4814-AB27-93FE3662C8B1}"/>
                </a:ext>
              </a:extLst>
            </p:cNvPr>
            <p:cNvSpPr txBox="1">
              <a:spLocks noChangeArrowheads="1"/>
            </p:cNvSpPr>
            <p:nvPr/>
          </p:nvSpPr>
          <p:spPr bwMode="auto">
            <a:xfrm>
              <a:off x="9120" y="6449"/>
              <a:ext cx="362" cy="3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C</a:t>
              </a:r>
              <a:r>
                <a:rPr kumimoji="0" lang="en-US" altLang="zh-CN" sz="1000" baseline="-25000"/>
                <a:t>2</a:t>
              </a:r>
              <a:endParaRPr kumimoji="0" lang="en-US" altLang="zh-CN" sz="1800">
                <a:latin typeface="Arial" panose="020B0604020202020204" pitchFamily="34" charset="0"/>
              </a:endParaRPr>
            </a:p>
          </p:txBody>
        </p:sp>
      </p:grpSp>
      <p:grpSp>
        <p:nvGrpSpPr>
          <p:cNvPr id="42" name="Group 43">
            <a:extLst>
              <a:ext uri="{FF2B5EF4-FFF2-40B4-BE49-F238E27FC236}">
                <a16:creationId xmlns:a16="http://schemas.microsoft.com/office/drawing/2014/main" id="{649CD8CD-0210-4C6C-8E94-55E66AA2466D}"/>
              </a:ext>
            </a:extLst>
          </p:cNvPr>
          <p:cNvGrpSpPr>
            <a:grpSpLocks/>
          </p:cNvGrpSpPr>
          <p:nvPr/>
        </p:nvGrpSpPr>
        <p:grpSpPr bwMode="auto">
          <a:xfrm>
            <a:off x="7372231" y="4571190"/>
            <a:ext cx="3108944" cy="1663107"/>
            <a:chOff x="1253" y="2541"/>
            <a:chExt cx="1840" cy="945"/>
          </a:xfrm>
        </p:grpSpPr>
        <p:sp>
          <p:nvSpPr>
            <p:cNvPr id="43" name="Oval 24">
              <a:extLst>
                <a:ext uri="{FF2B5EF4-FFF2-40B4-BE49-F238E27FC236}">
                  <a16:creationId xmlns:a16="http://schemas.microsoft.com/office/drawing/2014/main" id="{87135DA0-938C-4EF1-A7B6-5990842852E8}"/>
                </a:ext>
              </a:extLst>
            </p:cNvPr>
            <p:cNvSpPr>
              <a:spLocks noChangeArrowheads="1"/>
            </p:cNvSpPr>
            <p:nvPr/>
          </p:nvSpPr>
          <p:spPr bwMode="auto">
            <a:xfrm>
              <a:off x="1253" y="2541"/>
              <a:ext cx="882" cy="843"/>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44" name="Oval 25">
              <a:extLst>
                <a:ext uri="{FF2B5EF4-FFF2-40B4-BE49-F238E27FC236}">
                  <a16:creationId xmlns:a16="http://schemas.microsoft.com/office/drawing/2014/main" id="{AC38D52C-2E84-40F2-8060-C42F8A022353}"/>
                </a:ext>
              </a:extLst>
            </p:cNvPr>
            <p:cNvSpPr>
              <a:spLocks noChangeArrowheads="1"/>
            </p:cNvSpPr>
            <p:nvPr/>
          </p:nvSpPr>
          <p:spPr bwMode="auto">
            <a:xfrm>
              <a:off x="2506" y="2659"/>
              <a:ext cx="579" cy="577"/>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45" name="Line 26">
              <a:extLst>
                <a:ext uri="{FF2B5EF4-FFF2-40B4-BE49-F238E27FC236}">
                  <a16:creationId xmlns:a16="http://schemas.microsoft.com/office/drawing/2014/main" id="{6391CFA5-EBC6-4CD9-AD01-85DC3EAAD767}"/>
                </a:ext>
              </a:extLst>
            </p:cNvPr>
            <p:cNvSpPr>
              <a:spLocks noChangeShapeType="1"/>
            </p:cNvSpPr>
            <p:nvPr/>
          </p:nvSpPr>
          <p:spPr bwMode="auto">
            <a:xfrm>
              <a:off x="1565" y="2967"/>
              <a:ext cx="1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Oval 27">
              <a:extLst>
                <a:ext uri="{FF2B5EF4-FFF2-40B4-BE49-F238E27FC236}">
                  <a16:creationId xmlns:a16="http://schemas.microsoft.com/office/drawing/2014/main" id="{E63DF906-BC98-4059-846C-3E34CDC7D721}"/>
                </a:ext>
              </a:extLst>
            </p:cNvPr>
            <p:cNvSpPr>
              <a:spLocks noChangeArrowheads="1"/>
            </p:cNvSpPr>
            <p:nvPr/>
          </p:nvSpPr>
          <p:spPr bwMode="auto">
            <a:xfrm>
              <a:off x="1664" y="2942"/>
              <a:ext cx="50" cy="50"/>
            </a:xfrm>
            <a:prstGeom prst="ellipse">
              <a:avLst/>
            </a:prstGeom>
            <a:solidFill>
              <a:srgbClr val="000000">
                <a:alpha val="0"/>
              </a:srgbClr>
            </a:solidFill>
            <a:ln w="9525">
              <a:solidFill>
                <a:srgbClr val="000000"/>
              </a:solidFill>
              <a:round/>
              <a:headEnd/>
              <a:tailEnd/>
            </a:ln>
          </p:spPr>
          <p:txBody>
            <a:bodyPr/>
            <a:lstStyle/>
            <a:p>
              <a:endParaRPr lang="zh-CN" altLang="en-US"/>
            </a:p>
          </p:txBody>
        </p:sp>
        <p:sp>
          <p:nvSpPr>
            <p:cNvPr id="47" name="Oval 28">
              <a:extLst>
                <a:ext uri="{FF2B5EF4-FFF2-40B4-BE49-F238E27FC236}">
                  <a16:creationId xmlns:a16="http://schemas.microsoft.com/office/drawing/2014/main" id="{E78B4DF8-1B60-4FEC-8F11-EA55F188E80B}"/>
                </a:ext>
              </a:extLst>
            </p:cNvPr>
            <p:cNvSpPr>
              <a:spLocks noChangeArrowheads="1"/>
            </p:cNvSpPr>
            <p:nvPr/>
          </p:nvSpPr>
          <p:spPr bwMode="auto">
            <a:xfrm>
              <a:off x="2795" y="2937"/>
              <a:ext cx="50" cy="50"/>
            </a:xfrm>
            <a:prstGeom prst="ellipse">
              <a:avLst/>
            </a:prstGeom>
            <a:solidFill>
              <a:srgbClr val="000000">
                <a:alpha val="0"/>
              </a:srgbClr>
            </a:solidFill>
            <a:ln w="9525">
              <a:solidFill>
                <a:srgbClr val="000000"/>
              </a:solidFill>
              <a:round/>
              <a:headEnd/>
              <a:tailEnd/>
            </a:ln>
          </p:spPr>
          <p:txBody>
            <a:bodyPr/>
            <a:lstStyle/>
            <a:p>
              <a:endParaRPr lang="zh-CN" altLang="en-US"/>
            </a:p>
          </p:txBody>
        </p:sp>
        <p:sp>
          <p:nvSpPr>
            <p:cNvPr id="48" name="Line 29">
              <a:extLst>
                <a:ext uri="{FF2B5EF4-FFF2-40B4-BE49-F238E27FC236}">
                  <a16:creationId xmlns:a16="http://schemas.microsoft.com/office/drawing/2014/main" id="{F42E1DE1-35D3-48DE-81D0-1BA38B17C460}"/>
                </a:ext>
              </a:extLst>
            </p:cNvPr>
            <p:cNvSpPr>
              <a:spLocks noChangeShapeType="1"/>
            </p:cNvSpPr>
            <p:nvPr/>
          </p:nvSpPr>
          <p:spPr bwMode="auto">
            <a:xfrm flipV="1">
              <a:off x="2144" y="2723"/>
              <a:ext cx="0" cy="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30">
              <a:extLst>
                <a:ext uri="{FF2B5EF4-FFF2-40B4-BE49-F238E27FC236}">
                  <a16:creationId xmlns:a16="http://schemas.microsoft.com/office/drawing/2014/main" id="{6F3D68AB-F395-4909-B073-8C92CA76B381}"/>
                </a:ext>
              </a:extLst>
            </p:cNvPr>
            <p:cNvSpPr>
              <a:spLocks noChangeShapeType="1"/>
            </p:cNvSpPr>
            <p:nvPr/>
          </p:nvSpPr>
          <p:spPr bwMode="auto">
            <a:xfrm flipV="1">
              <a:off x="2506" y="2723"/>
              <a:ext cx="0" cy="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31">
              <a:extLst>
                <a:ext uri="{FF2B5EF4-FFF2-40B4-BE49-F238E27FC236}">
                  <a16:creationId xmlns:a16="http://schemas.microsoft.com/office/drawing/2014/main" id="{516D2EC7-2E4B-4E5F-8A8A-C9A56D77418F}"/>
                </a:ext>
              </a:extLst>
            </p:cNvPr>
            <p:cNvSpPr>
              <a:spLocks noChangeShapeType="1"/>
            </p:cNvSpPr>
            <p:nvPr/>
          </p:nvSpPr>
          <p:spPr bwMode="auto">
            <a:xfrm flipV="1">
              <a:off x="1855" y="3232"/>
              <a:ext cx="0" cy="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32">
              <a:extLst>
                <a:ext uri="{FF2B5EF4-FFF2-40B4-BE49-F238E27FC236}">
                  <a16:creationId xmlns:a16="http://schemas.microsoft.com/office/drawing/2014/main" id="{DB585874-CA1E-4011-B055-BD62B40D5169}"/>
                </a:ext>
              </a:extLst>
            </p:cNvPr>
            <p:cNvSpPr>
              <a:spLocks noChangeShapeType="1"/>
            </p:cNvSpPr>
            <p:nvPr/>
          </p:nvSpPr>
          <p:spPr bwMode="auto">
            <a:xfrm flipV="1">
              <a:off x="2795" y="3232"/>
              <a:ext cx="0" cy="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33">
              <a:extLst>
                <a:ext uri="{FF2B5EF4-FFF2-40B4-BE49-F238E27FC236}">
                  <a16:creationId xmlns:a16="http://schemas.microsoft.com/office/drawing/2014/main" id="{87E7AF57-46FB-4B56-85C7-B5EB7F99103D}"/>
                </a:ext>
              </a:extLst>
            </p:cNvPr>
            <p:cNvSpPr>
              <a:spLocks noChangeShapeType="1"/>
            </p:cNvSpPr>
            <p:nvPr/>
          </p:nvSpPr>
          <p:spPr bwMode="auto">
            <a:xfrm>
              <a:off x="1855" y="3422"/>
              <a:ext cx="94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Text Box 34">
              <a:extLst>
                <a:ext uri="{FF2B5EF4-FFF2-40B4-BE49-F238E27FC236}">
                  <a16:creationId xmlns:a16="http://schemas.microsoft.com/office/drawing/2014/main" id="{2F33460F-9C22-404C-A895-C1D8B8275737}"/>
                </a:ext>
              </a:extLst>
            </p:cNvPr>
            <p:cNvSpPr txBox="1">
              <a:spLocks noChangeArrowheads="1"/>
            </p:cNvSpPr>
            <p:nvPr/>
          </p:nvSpPr>
          <p:spPr bwMode="auto">
            <a:xfrm>
              <a:off x="2216" y="3295"/>
              <a:ext cx="290" cy="12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e+t+1</a:t>
              </a:r>
              <a:endParaRPr kumimoji="0" lang="en-US" altLang="zh-CN" sz="1800">
                <a:latin typeface="Arial" panose="020B0604020202020204" pitchFamily="34" charset="0"/>
              </a:endParaRPr>
            </a:p>
          </p:txBody>
        </p:sp>
        <p:sp>
          <p:nvSpPr>
            <p:cNvPr id="54" name="Line 35">
              <a:extLst>
                <a:ext uri="{FF2B5EF4-FFF2-40B4-BE49-F238E27FC236}">
                  <a16:creationId xmlns:a16="http://schemas.microsoft.com/office/drawing/2014/main" id="{D165A6C2-5DE7-4D01-9F25-EE1893CB5B6D}"/>
                </a:ext>
              </a:extLst>
            </p:cNvPr>
            <p:cNvSpPr>
              <a:spLocks noChangeShapeType="1"/>
            </p:cNvSpPr>
            <p:nvPr/>
          </p:nvSpPr>
          <p:spPr bwMode="auto">
            <a:xfrm>
              <a:off x="1714" y="2977"/>
              <a:ext cx="323"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36">
              <a:extLst>
                <a:ext uri="{FF2B5EF4-FFF2-40B4-BE49-F238E27FC236}">
                  <a16:creationId xmlns:a16="http://schemas.microsoft.com/office/drawing/2014/main" id="{3DF75C02-6B82-4543-BD96-2D53D7FB9802}"/>
                </a:ext>
              </a:extLst>
            </p:cNvPr>
            <p:cNvSpPr>
              <a:spLocks noChangeShapeType="1"/>
            </p:cNvSpPr>
            <p:nvPr/>
          </p:nvSpPr>
          <p:spPr bwMode="auto">
            <a:xfrm flipH="1">
              <a:off x="2578" y="2977"/>
              <a:ext cx="217" cy="1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37">
              <a:extLst>
                <a:ext uri="{FF2B5EF4-FFF2-40B4-BE49-F238E27FC236}">
                  <a16:creationId xmlns:a16="http://schemas.microsoft.com/office/drawing/2014/main" id="{5C409466-5A8A-448B-8210-6E6206ECF36D}"/>
                </a:ext>
              </a:extLst>
            </p:cNvPr>
            <p:cNvSpPr>
              <a:spLocks noChangeShapeType="1"/>
            </p:cNvSpPr>
            <p:nvPr/>
          </p:nvSpPr>
          <p:spPr bwMode="auto">
            <a:xfrm>
              <a:off x="2144" y="2850"/>
              <a:ext cx="362"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Text Box 38">
              <a:extLst>
                <a:ext uri="{FF2B5EF4-FFF2-40B4-BE49-F238E27FC236}">
                  <a16:creationId xmlns:a16="http://schemas.microsoft.com/office/drawing/2014/main" id="{8751BDBB-4BCC-44BB-B4CA-AC9AE796F263}"/>
                </a:ext>
              </a:extLst>
            </p:cNvPr>
            <p:cNvSpPr txBox="1">
              <a:spLocks noChangeArrowheads="1"/>
            </p:cNvSpPr>
            <p:nvPr/>
          </p:nvSpPr>
          <p:spPr bwMode="auto">
            <a:xfrm>
              <a:off x="2289" y="2723"/>
              <a:ext cx="145" cy="12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a:t>1</a:t>
              </a:r>
              <a:endParaRPr kumimoji="0" lang="en-US" altLang="zh-CN" sz="1800">
                <a:latin typeface="Arial" panose="020B0604020202020204" pitchFamily="34" charset="0"/>
              </a:endParaRPr>
            </a:p>
          </p:txBody>
        </p:sp>
        <p:sp>
          <p:nvSpPr>
            <p:cNvPr id="58" name="Text Box 39">
              <a:extLst>
                <a:ext uri="{FF2B5EF4-FFF2-40B4-BE49-F238E27FC236}">
                  <a16:creationId xmlns:a16="http://schemas.microsoft.com/office/drawing/2014/main" id="{64311774-1AAA-4EFB-8D43-8195A6C91FD1}"/>
                </a:ext>
              </a:extLst>
            </p:cNvPr>
            <p:cNvSpPr txBox="1">
              <a:spLocks noChangeArrowheads="1"/>
            </p:cNvSpPr>
            <p:nvPr/>
          </p:nvSpPr>
          <p:spPr bwMode="auto">
            <a:xfrm>
              <a:off x="1990" y="3084"/>
              <a:ext cx="145" cy="11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e</a:t>
              </a:r>
              <a:endParaRPr kumimoji="0" lang="en-US" altLang="zh-CN" sz="1800" dirty="0">
                <a:latin typeface="Arial" panose="020B0604020202020204" pitchFamily="34" charset="0"/>
              </a:endParaRPr>
            </a:p>
          </p:txBody>
        </p:sp>
        <p:sp>
          <p:nvSpPr>
            <p:cNvPr id="59" name="Text Box 40">
              <a:extLst>
                <a:ext uri="{FF2B5EF4-FFF2-40B4-BE49-F238E27FC236}">
                  <a16:creationId xmlns:a16="http://schemas.microsoft.com/office/drawing/2014/main" id="{4A699475-F662-438C-BEF9-AE8912B1BDDF}"/>
                </a:ext>
              </a:extLst>
            </p:cNvPr>
            <p:cNvSpPr txBox="1">
              <a:spLocks noChangeArrowheads="1"/>
            </p:cNvSpPr>
            <p:nvPr/>
          </p:nvSpPr>
          <p:spPr bwMode="auto">
            <a:xfrm>
              <a:off x="2687" y="2993"/>
              <a:ext cx="168" cy="13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          t</a:t>
              </a:r>
              <a:endParaRPr kumimoji="0" lang="en-US" altLang="zh-CN" sz="1800" dirty="0">
                <a:latin typeface="Arial" panose="020B0604020202020204" pitchFamily="34" charset="0"/>
              </a:endParaRPr>
            </a:p>
          </p:txBody>
        </p:sp>
        <p:sp>
          <p:nvSpPr>
            <p:cNvPr id="60" name="Text Box 41">
              <a:extLst>
                <a:ext uri="{FF2B5EF4-FFF2-40B4-BE49-F238E27FC236}">
                  <a16:creationId xmlns:a16="http://schemas.microsoft.com/office/drawing/2014/main" id="{65F9E5A3-1C92-4201-975A-F2AC817D6D0E}"/>
                </a:ext>
              </a:extLst>
            </p:cNvPr>
            <p:cNvSpPr txBox="1">
              <a:spLocks noChangeArrowheads="1"/>
            </p:cNvSpPr>
            <p:nvPr/>
          </p:nvSpPr>
          <p:spPr bwMode="auto">
            <a:xfrm>
              <a:off x="1990" y="2550"/>
              <a:ext cx="145" cy="12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C</a:t>
              </a:r>
              <a:r>
                <a:rPr kumimoji="0" lang="en-US" altLang="zh-CN" sz="1000" baseline="-25000" dirty="0"/>
                <a:t>1</a:t>
              </a:r>
              <a:endParaRPr kumimoji="0" lang="en-US" altLang="zh-CN" sz="1800" dirty="0">
                <a:latin typeface="Arial" panose="020B0604020202020204" pitchFamily="34" charset="0"/>
              </a:endParaRPr>
            </a:p>
          </p:txBody>
        </p:sp>
        <p:sp>
          <p:nvSpPr>
            <p:cNvPr id="61" name="Text Box 42">
              <a:extLst>
                <a:ext uri="{FF2B5EF4-FFF2-40B4-BE49-F238E27FC236}">
                  <a16:creationId xmlns:a16="http://schemas.microsoft.com/office/drawing/2014/main" id="{48556671-CB1D-4BD1-BCB1-9FB499015697}"/>
                </a:ext>
              </a:extLst>
            </p:cNvPr>
            <p:cNvSpPr txBox="1">
              <a:spLocks noChangeArrowheads="1"/>
            </p:cNvSpPr>
            <p:nvPr/>
          </p:nvSpPr>
          <p:spPr bwMode="auto">
            <a:xfrm>
              <a:off x="2948" y="2613"/>
              <a:ext cx="145" cy="12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C</a:t>
              </a:r>
              <a:r>
                <a:rPr kumimoji="0" lang="en-US" altLang="zh-CN" sz="1000" baseline="-25000" dirty="0"/>
                <a:t>2</a:t>
              </a:r>
              <a:endParaRPr kumimoji="0" lang="en-US" altLang="zh-CN" sz="1800" dirty="0">
                <a:latin typeface="Arial" panose="020B0604020202020204" pitchFamily="34" charset="0"/>
              </a:endParaRPr>
            </a:p>
          </p:txBody>
        </p:sp>
      </p:grpSp>
      <p:sp>
        <p:nvSpPr>
          <p:cNvPr id="62" name="Oval 25">
            <a:extLst>
              <a:ext uri="{FF2B5EF4-FFF2-40B4-BE49-F238E27FC236}">
                <a16:creationId xmlns:a16="http://schemas.microsoft.com/office/drawing/2014/main" id="{AC38D52C-2E84-40F2-8060-C42F8A022353}"/>
              </a:ext>
            </a:extLst>
          </p:cNvPr>
          <p:cNvSpPr>
            <a:spLocks noChangeArrowheads="1"/>
          </p:cNvSpPr>
          <p:nvPr/>
        </p:nvSpPr>
        <p:spPr bwMode="auto">
          <a:xfrm>
            <a:off x="7618747" y="4809189"/>
            <a:ext cx="978304" cy="1015463"/>
          </a:xfrm>
          <a:prstGeom prst="ellipse">
            <a:avLst/>
          </a:prstGeom>
          <a:solidFill>
            <a:srgbClr val="FFFFFF">
              <a:alpha val="0"/>
            </a:srgbClr>
          </a:solidFill>
          <a:ln w="9525">
            <a:solidFill>
              <a:srgbClr val="000000"/>
            </a:solidFill>
            <a:prstDash val="dash"/>
            <a:round/>
            <a:headEnd/>
            <a:tailEnd/>
          </a:ln>
        </p:spPr>
        <p:txBody>
          <a:bodyPr/>
          <a:lstStyle/>
          <a:p>
            <a:endParaRPr lang="zh-CN" altLang="en-US"/>
          </a:p>
        </p:txBody>
      </p:sp>
      <p:sp>
        <p:nvSpPr>
          <p:cNvPr id="63" name="Text Box 42">
            <a:extLst>
              <a:ext uri="{FF2B5EF4-FFF2-40B4-BE49-F238E27FC236}">
                <a16:creationId xmlns:a16="http://schemas.microsoft.com/office/drawing/2014/main" id="{48556671-CB1D-4BD1-BCB1-9FB499015697}"/>
              </a:ext>
            </a:extLst>
          </p:cNvPr>
          <p:cNvSpPr txBox="1">
            <a:spLocks noChangeArrowheads="1"/>
          </p:cNvSpPr>
          <p:nvPr/>
        </p:nvSpPr>
        <p:spPr bwMode="auto">
          <a:xfrm>
            <a:off x="7985385" y="4636302"/>
            <a:ext cx="244998" cy="223508"/>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C</a:t>
            </a:r>
            <a:r>
              <a:rPr kumimoji="0" lang="en-US" altLang="zh-CN" sz="1000" baseline="-25000" dirty="0"/>
              <a:t>2</a:t>
            </a:r>
            <a:endParaRPr kumimoji="0" lang="en-US" altLang="zh-CN" sz="1800" dirty="0">
              <a:latin typeface="Arial" panose="020B0604020202020204" pitchFamily="34" charset="0"/>
            </a:endParaRPr>
          </a:p>
        </p:txBody>
      </p:sp>
      <p:sp>
        <p:nvSpPr>
          <p:cNvPr id="64" name="Line 36">
            <a:extLst>
              <a:ext uri="{FF2B5EF4-FFF2-40B4-BE49-F238E27FC236}">
                <a16:creationId xmlns:a16="http://schemas.microsoft.com/office/drawing/2014/main" id="{3DF75C02-6B82-4543-BD96-2D53D7FB9802}"/>
              </a:ext>
            </a:extLst>
          </p:cNvPr>
          <p:cNvSpPr>
            <a:spLocks noChangeShapeType="1"/>
          </p:cNvSpPr>
          <p:nvPr/>
        </p:nvSpPr>
        <p:spPr bwMode="auto">
          <a:xfrm flipH="1">
            <a:off x="8105534" y="5023601"/>
            <a:ext cx="366653" cy="2998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Text Box 40">
            <a:extLst>
              <a:ext uri="{FF2B5EF4-FFF2-40B4-BE49-F238E27FC236}">
                <a16:creationId xmlns:a16="http://schemas.microsoft.com/office/drawing/2014/main" id="{4A699475-F662-438C-BEF9-AE8912B1BDDF}"/>
              </a:ext>
            </a:extLst>
          </p:cNvPr>
          <p:cNvSpPr txBox="1">
            <a:spLocks noChangeArrowheads="1"/>
          </p:cNvSpPr>
          <p:nvPr/>
        </p:nvSpPr>
        <p:spPr bwMode="auto">
          <a:xfrm>
            <a:off x="8188328" y="4852726"/>
            <a:ext cx="283860" cy="241107"/>
          </a:xfrm>
          <a:prstGeom prst="rect">
            <a:avLst/>
          </a:prstGeom>
          <a:noFill/>
          <a:ln>
            <a:noFill/>
          </a:ln>
          <a:extLst>
            <a:ext uri="{909E8E84-426E-40DD-AFC4-6F175D3DCCD1}">
              <a14:hiddenFill xmlns:a14="http://schemas.microsoft.com/office/drawing/2010/main">
                <a:solidFill>
                  <a:srgbClr val="FFFFFF">
                    <a:alpha val="0"/>
                  </a:srgbClr>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p>
            <a:pPr algn="just"/>
            <a:r>
              <a:rPr kumimoji="0" lang="en-US" altLang="zh-CN" sz="1000" dirty="0"/>
              <a:t>          t</a:t>
            </a:r>
            <a:endParaRPr kumimoji="0" lang="en-US" altLang="zh-CN" sz="1800" dirty="0">
              <a:latin typeface="Arial" panose="020B0604020202020204" pitchFamily="34" charset="0"/>
            </a:endParaRPr>
          </a:p>
        </p:txBody>
      </p:sp>
      <p:sp>
        <p:nvSpPr>
          <p:cNvPr id="66" name="矩形 65"/>
          <p:cNvSpPr/>
          <p:nvPr/>
        </p:nvSpPr>
        <p:spPr>
          <a:xfrm>
            <a:off x="163504" y="3824726"/>
            <a:ext cx="6257222" cy="923330"/>
          </a:xfrm>
          <a:prstGeom prst="rect">
            <a:avLst/>
          </a:prstGeom>
        </p:spPr>
        <p:txBody>
          <a:bodyPr wrap="square">
            <a:spAutoFit/>
          </a:bodyPr>
          <a:lstStyle/>
          <a:p>
            <a:pPr marL="285750" indent="-285750">
              <a:buFont typeface="Wingdings" panose="05000000000000000000" pitchFamily="2" charset="2"/>
              <a:buChar char="Ø"/>
            </a:pPr>
            <a:r>
              <a:rPr lang="zh-CN" altLang="en-US" b="1" dirty="0">
                <a:latin typeface="楷体" panose="02010609060101010101" charset="-122"/>
                <a:ea typeface="楷体" panose="02010609060101010101" charset="-122"/>
                <a:sym typeface="+mn-ea"/>
              </a:rPr>
              <a:t>线性</a:t>
            </a:r>
            <a:r>
              <a:rPr lang="zh-CN" altLang="en-US" b="1" dirty="0" smtClean="0">
                <a:latin typeface="楷体" panose="02010609060101010101" charset="-122"/>
                <a:ea typeface="楷体" panose="02010609060101010101" charset="-122"/>
                <a:sym typeface="+mn-ea"/>
              </a:rPr>
              <a:t>分组码：</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n , k) </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线性</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分组码，信息码</a:t>
            </a:r>
            <a:r>
              <a:rPr lang="en-US" altLang="zh-CN" i="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位，码组</a:t>
            </a:r>
            <a:r>
              <a:rPr lang="en-US" altLang="zh-CN" i="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位。</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码组内校验码与信息码间为</a:t>
            </a:r>
            <a:r>
              <a:rPr lang="zh-CN" altLang="en-US"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线性关系，</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每码组内的校验码只与本组信息码有关，与其他码组无关</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7" name="对象 66"/>
          <p:cNvGraphicFramePr>
            <a:graphicFrameLocks noChangeAspect="1"/>
          </p:cNvGraphicFramePr>
          <p:nvPr>
            <p:extLst>
              <p:ext uri="{D42A27DB-BD31-4B8C-83A1-F6EECF244321}">
                <p14:modId xmlns:p14="http://schemas.microsoft.com/office/powerpoint/2010/main" val="2766742082"/>
              </p:ext>
            </p:extLst>
          </p:nvPr>
        </p:nvGraphicFramePr>
        <p:xfrm>
          <a:off x="704515" y="4799564"/>
          <a:ext cx="5641975" cy="1566863"/>
        </p:xfrm>
        <a:graphic>
          <a:graphicData uri="http://schemas.openxmlformats.org/presentationml/2006/ole">
            <mc:AlternateContent xmlns:mc="http://schemas.openxmlformats.org/markup-compatibility/2006">
              <mc:Choice xmlns:v="urn:schemas-microsoft-com:vml" Requires="v">
                <p:oleObj spid="_x0000_s4126" name="Equation" r:id="rId3" imgW="5641981" imgH="1566776" progId="Equation.DSMT4">
                  <p:embed/>
                </p:oleObj>
              </mc:Choice>
              <mc:Fallback>
                <p:oleObj name="Equation" r:id="rId3" imgW="5641981" imgH="1566776" progId="Equation.DSMT4">
                  <p:embed/>
                  <p:pic>
                    <p:nvPicPr>
                      <p:cNvPr id="0" name=""/>
                      <p:cNvPicPr/>
                      <p:nvPr/>
                    </p:nvPicPr>
                    <p:blipFill>
                      <a:blip r:embed="rId4"/>
                      <a:stretch>
                        <a:fillRect/>
                      </a:stretch>
                    </p:blipFill>
                    <p:spPr>
                      <a:xfrm>
                        <a:off x="704515" y="4799564"/>
                        <a:ext cx="5641975" cy="1566863"/>
                      </a:xfrm>
                      <a:prstGeom prst="rect">
                        <a:avLst/>
                      </a:prstGeom>
                    </p:spPr>
                  </p:pic>
                </p:oleObj>
              </mc:Fallback>
            </mc:AlternateContent>
          </a:graphicData>
        </a:graphic>
      </p:graphicFrame>
      <p:pic>
        <p:nvPicPr>
          <p:cNvPr id="68" name="图片 6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2977" y="6442726"/>
            <a:ext cx="1992355" cy="374799"/>
          </a:xfrm>
          <a:prstGeom prst="rect">
            <a:avLst/>
          </a:prstGeom>
        </p:spPr>
      </p:pic>
      <p:sp>
        <p:nvSpPr>
          <p:cNvPr id="69" name="矩形 68"/>
          <p:cNvSpPr/>
          <p:nvPr/>
        </p:nvSpPr>
        <p:spPr>
          <a:xfrm>
            <a:off x="2520137" y="6494359"/>
            <a:ext cx="4390946" cy="646331"/>
          </a:xfrm>
          <a:prstGeom prst="rect">
            <a:avLst/>
          </a:prstGeom>
        </p:spPr>
        <p:txBody>
          <a:bodyPr wrap="none">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校正子</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伴随式</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)S</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来确定哪位</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上存在</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错误。</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4222896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08857" y="267011"/>
            <a:ext cx="4895850" cy="3416320"/>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六、</a:t>
            </a:r>
            <a:r>
              <a:rPr lang="zh-CN" altLang="zh-CN" kern="100" dirty="0" smtClean="0">
                <a:latin typeface="Times New Roman" panose="02020603050405020304" pitchFamily="18" charset="0"/>
                <a:cs typeface="Times New Roman" panose="02020603050405020304" pitchFamily="18" charset="0"/>
              </a:rPr>
              <a:t>信道编码</a:t>
            </a:r>
            <a:endParaRPr lang="en-US" altLang="zh-CN" kern="100" dirty="0" smtClean="0">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理解并掌握</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等线" panose="02010600030101010101" pitchFamily="2" charset="-122"/>
                <a:cs typeface="Times New Roman" panose="02020603050405020304" pitchFamily="18" charset="0"/>
              </a:rPr>
              <a:t>（</a:t>
            </a:r>
            <a:r>
              <a:rPr lang="en-US" altLang="zh-CN" kern="100" dirty="0">
                <a:solidFill>
                  <a:srgbClr val="FF0000"/>
                </a:solidFill>
                <a:latin typeface="等线" panose="02010600030101010101" pitchFamily="2" charset="-122"/>
                <a:cs typeface="Times New Roman" panose="02020603050405020304" pitchFamily="18" charset="0"/>
              </a:rPr>
              <a:t>1</a:t>
            </a:r>
            <a:r>
              <a:rPr lang="zh-CN" altLang="zh-CN" kern="100" dirty="0">
                <a:solidFill>
                  <a:srgbClr val="FF0000"/>
                </a:solidFill>
                <a:latin typeface="等线" panose="02010600030101010101" pitchFamily="2" charset="-122"/>
                <a:cs typeface="Times New Roman" panose="02020603050405020304" pitchFamily="18" charset="0"/>
              </a:rPr>
              <a:t>）</a:t>
            </a:r>
            <a:r>
              <a:rPr lang="zh-CN" altLang="zh-CN" kern="100" dirty="0">
                <a:solidFill>
                  <a:srgbClr val="FF0000"/>
                </a:solidFill>
                <a:latin typeface="Times New Roman" panose="02020603050405020304" pitchFamily="18" charset="0"/>
                <a:cs typeface="Times New Roman" panose="02020603050405020304" pitchFamily="18" charset="0"/>
              </a:rPr>
              <a:t>香农第二定理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2</a:t>
            </a:r>
            <a:r>
              <a:rPr lang="zh-CN" altLang="zh-CN" kern="100" dirty="0">
                <a:solidFill>
                  <a:srgbClr val="FF0000"/>
                </a:solidFill>
                <a:latin typeface="Times New Roman" panose="02020603050405020304" pitchFamily="18" charset="0"/>
                <a:cs typeface="Times New Roman" panose="02020603050405020304" pitchFamily="18" charset="0"/>
              </a:rPr>
              <a:t>）信道编码的检纠错原理</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3</a:t>
            </a:r>
            <a:r>
              <a:rPr lang="zh-CN" altLang="zh-CN" kern="100" dirty="0">
                <a:solidFill>
                  <a:srgbClr val="FF0000"/>
                </a:solidFill>
                <a:latin typeface="Times New Roman" panose="02020603050405020304" pitchFamily="18" charset="0"/>
                <a:cs typeface="Times New Roman" panose="02020603050405020304" pitchFamily="18" charset="0"/>
              </a:rPr>
              <a:t>）线性分组码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4</a:t>
            </a:r>
            <a:r>
              <a:rPr lang="zh-CN" altLang="zh-CN" kern="100" dirty="0">
                <a:solidFill>
                  <a:srgbClr val="FF0000"/>
                </a:solidFill>
                <a:latin typeface="Times New Roman" panose="02020603050405020304" pitchFamily="18" charset="0"/>
                <a:cs typeface="Times New Roman" panose="02020603050405020304" pitchFamily="18" charset="0"/>
              </a:rPr>
              <a:t>）汉明码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5</a:t>
            </a:r>
            <a:r>
              <a:rPr lang="zh-CN" altLang="zh-CN" kern="100" dirty="0">
                <a:solidFill>
                  <a:srgbClr val="FF0000"/>
                </a:solidFill>
                <a:latin typeface="Times New Roman" panose="02020603050405020304" pitchFamily="18" charset="0"/>
                <a:cs typeface="Times New Roman" panose="02020603050405020304" pitchFamily="18" charset="0"/>
              </a:rPr>
              <a:t>）线性卷积码</a:t>
            </a:r>
            <a:endParaRPr lang="zh-CN" altLang="zh-CN" kern="100" dirty="0">
              <a:solidFill>
                <a:srgbClr val="FF0000"/>
              </a:solidFill>
              <a:latin typeface="等线" panose="02010600030101010101" pitchFamily="2" charset="-122"/>
              <a:cs typeface="Times New Roman" panose="02020603050405020304" pitchFamily="18" charset="0"/>
            </a:endParaRPr>
          </a:p>
          <a:p>
            <a:pPr algn="just">
              <a:spcAft>
                <a:spcPts val="0"/>
              </a:spcAft>
            </a:pPr>
            <a:r>
              <a:rPr lang="zh-CN" altLang="zh-CN" kern="100" dirty="0">
                <a:solidFill>
                  <a:srgbClr val="FF0000"/>
                </a:solidFill>
                <a:latin typeface="Times New Roman" panose="02020603050405020304" pitchFamily="18" charset="0"/>
                <a:cs typeface="Times New Roman" panose="02020603050405020304" pitchFamily="18" charset="0"/>
              </a:rPr>
              <a:t>（</a:t>
            </a:r>
            <a:r>
              <a:rPr lang="en-US" altLang="zh-CN" kern="100" dirty="0">
                <a:solidFill>
                  <a:srgbClr val="FF0000"/>
                </a:solidFill>
                <a:latin typeface="Times New Roman" panose="02020603050405020304" pitchFamily="18" charset="0"/>
                <a:cs typeface="Times New Roman" panose="02020603050405020304" pitchFamily="18" charset="0"/>
              </a:rPr>
              <a:t>6</a:t>
            </a:r>
            <a:r>
              <a:rPr lang="zh-CN" altLang="zh-CN" kern="100" dirty="0">
                <a:solidFill>
                  <a:srgbClr val="FF0000"/>
                </a:solidFill>
                <a:latin typeface="Times New Roman" panose="02020603050405020304" pitchFamily="18" charset="0"/>
                <a:cs typeface="Times New Roman" panose="02020603050405020304" pitchFamily="18" charset="0"/>
              </a:rPr>
              <a:t>）维特比</a:t>
            </a:r>
            <a:r>
              <a:rPr lang="zh-CN" altLang="zh-CN" kern="100" dirty="0" smtClean="0">
                <a:solidFill>
                  <a:srgbClr val="FF0000"/>
                </a:solidFill>
                <a:latin typeface="Times New Roman" panose="02020603050405020304" pitchFamily="18" charset="0"/>
                <a:cs typeface="Times New Roman" panose="02020603050405020304" pitchFamily="18" charset="0"/>
              </a:rPr>
              <a:t>译码</a:t>
            </a:r>
            <a:endParaRPr lang="en-US" altLang="zh-CN" kern="100" dirty="0" smtClean="0">
              <a:solidFill>
                <a:srgbClr val="FF0000"/>
              </a:solidFill>
              <a:latin typeface="Times New Roman" panose="02020603050405020304" pitchFamily="18" charset="0"/>
              <a:cs typeface="Times New Roman" panose="02020603050405020304" pitchFamily="18" charset="0"/>
            </a:endParaRPr>
          </a:p>
          <a:p>
            <a:pPr algn="just">
              <a:spcAft>
                <a:spcPts val="0"/>
              </a:spcAft>
            </a:pP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1</a:t>
            </a:r>
            <a:r>
              <a:rPr lang="zh-CN" altLang="zh-CN" dirty="0">
                <a:latin typeface="Times New Roman" panose="02020603050405020304" pitchFamily="18" charset="0"/>
                <a:cs typeface="Times New Roman" panose="02020603050405020304" pitchFamily="18" charset="0"/>
              </a:rPr>
              <a:t>）循环码（课后阅读，仅对基本概念了解）</a:t>
            </a:r>
            <a:endParaRPr lang="zh-CN" altLang="en-US" dirty="0"/>
          </a:p>
        </p:txBody>
      </p:sp>
      <p:sp>
        <p:nvSpPr>
          <p:cNvPr id="66" name="矩形 65"/>
          <p:cNvSpPr/>
          <p:nvPr/>
        </p:nvSpPr>
        <p:spPr>
          <a:xfrm>
            <a:off x="4898571" y="583505"/>
            <a:ext cx="7228990" cy="3970318"/>
          </a:xfrm>
          <a:prstGeom prst="rect">
            <a:avLst/>
          </a:prstGeom>
        </p:spPr>
        <p:txBody>
          <a:bodyPr wrap="square">
            <a:spAutoFit/>
          </a:bodyPr>
          <a:lstStyle/>
          <a:p>
            <a:pPr marL="285750" indent="-285750" algn="just">
              <a:buFont typeface="Wingdings" panose="05000000000000000000" pitchFamily="2" charset="2"/>
              <a:buChar char="Ø"/>
            </a:pPr>
            <a:r>
              <a:rPr lang="zh-CN" altLang="en-US" b="1" dirty="0">
                <a:latin typeface="楷体" panose="02010609060101010101" charset="-122"/>
                <a:ea typeface="楷体" panose="02010609060101010101" charset="-122"/>
                <a:sym typeface="+mn-ea"/>
              </a:rPr>
              <a:t>线性</a:t>
            </a:r>
            <a:r>
              <a:rPr lang="zh-CN" altLang="en-US" b="1" dirty="0" smtClean="0">
                <a:latin typeface="楷体" panose="02010609060101010101" charset="-122"/>
                <a:ea typeface="楷体" panose="02010609060101010101" charset="-122"/>
                <a:sym typeface="+mn-ea"/>
              </a:rPr>
              <a:t>分组码：</a:t>
            </a:r>
            <a:r>
              <a:rPr lang="zh-CN" altLang="en-US" dirty="0" smtClean="0">
                <a:latin typeface="楷体" panose="02010609060101010101" pitchFamily="49" charset="-122"/>
                <a:ea typeface="楷体" panose="02010609060101010101" pitchFamily="49" charset="-122"/>
              </a:rPr>
              <a:t>基于</a:t>
            </a:r>
            <a:r>
              <a:rPr lang="zh-CN" altLang="en-US" dirty="0">
                <a:latin typeface="楷体" panose="02010609060101010101" pitchFamily="49" charset="-122"/>
                <a:ea typeface="楷体" panose="02010609060101010101" pitchFamily="49" charset="-122"/>
              </a:rPr>
              <a:t>向量空间的线性分组码定义：一个长度为</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，有</a:t>
            </a:r>
            <a:r>
              <a:rPr lang="en-US" altLang="zh-CN" dirty="0">
                <a:latin typeface="楷体" panose="02010609060101010101" pitchFamily="49" charset="-122"/>
                <a:ea typeface="楷体" panose="02010609060101010101" pitchFamily="49" charset="-122"/>
              </a:rPr>
              <a:t>2</a:t>
            </a:r>
            <a:r>
              <a:rPr lang="en-US" altLang="zh-CN" baseline="30000" dirty="0">
                <a:latin typeface="楷体" panose="02010609060101010101" pitchFamily="49" charset="-122"/>
                <a:ea typeface="楷体" panose="02010609060101010101" pitchFamily="49" charset="-122"/>
              </a:rPr>
              <a:t>k</a:t>
            </a:r>
            <a:r>
              <a:rPr lang="zh-CN" altLang="en-US" dirty="0">
                <a:latin typeface="楷体" panose="02010609060101010101" pitchFamily="49" charset="-122"/>
                <a:ea typeface="楷体" panose="02010609060101010101" pitchFamily="49" charset="-122"/>
              </a:rPr>
              <a:t>个码字的分组码，当且仅当</a:t>
            </a:r>
            <a:r>
              <a:rPr lang="en-US" altLang="zh-CN" dirty="0">
                <a:latin typeface="楷体" panose="02010609060101010101" pitchFamily="49" charset="-122"/>
                <a:ea typeface="楷体" panose="02010609060101010101" pitchFamily="49" charset="-122"/>
              </a:rPr>
              <a:t>2</a:t>
            </a:r>
            <a:r>
              <a:rPr lang="en-US" altLang="zh-CN" baseline="30000" dirty="0">
                <a:latin typeface="楷体" panose="02010609060101010101" pitchFamily="49" charset="-122"/>
                <a:ea typeface="楷体" panose="02010609060101010101" pitchFamily="49" charset="-122"/>
              </a:rPr>
              <a:t>k</a:t>
            </a:r>
            <a:r>
              <a:rPr lang="zh-CN" altLang="en-US" dirty="0">
                <a:latin typeface="楷体" panose="02010609060101010101" pitchFamily="49" charset="-122"/>
                <a:ea typeface="楷体" panose="02010609060101010101" pitchFamily="49" charset="-122"/>
              </a:rPr>
              <a:t>个码字构成域</a:t>
            </a:r>
            <a:r>
              <a:rPr lang="en-US" altLang="zh-CN" dirty="0">
                <a:latin typeface="楷体" panose="02010609060101010101" pitchFamily="49" charset="-122"/>
                <a:ea typeface="楷体" panose="02010609060101010101" pitchFamily="49" charset="-122"/>
              </a:rPr>
              <a:t>GF</a:t>
            </a: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）上所有</a:t>
            </a:r>
            <a:r>
              <a:rPr lang="en-US" altLang="zh-CN" dirty="0">
                <a:latin typeface="楷体" panose="02010609060101010101" pitchFamily="49" charset="-122"/>
                <a:ea typeface="楷体" panose="02010609060101010101" pitchFamily="49" charset="-122"/>
              </a:rPr>
              <a:t>n</a:t>
            </a:r>
            <a:r>
              <a:rPr lang="zh-CN" altLang="en-US" dirty="0">
                <a:latin typeface="楷体" panose="02010609060101010101" pitchFamily="49" charset="-122"/>
                <a:ea typeface="楷体" panose="02010609060101010101" pitchFamily="49" charset="-122"/>
              </a:rPr>
              <a:t>维向量组成的向量空间的一个</a:t>
            </a:r>
            <a:r>
              <a:rPr lang="en-US" altLang="zh-CN" dirty="0">
                <a:latin typeface="楷体" panose="02010609060101010101" pitchFamily="49" charset="-122"/>
                <a:ea typeface="楷体" panose="02010609060101010101" pitchFamily="49" charset="-122"/>
              </a:rPr>
              <a:t>k</a:t>
            </a:r>
            <a:r>
              <a:rPr lang="zh-CN" altLang="en-US" dirty="0">
                <a:latin typeface="楷体" panose="02010609060101010101" pitchFamily="49" charset="-122"/>
                <a:ea typeface="楷体" panose="02010609060101010101" pitchFamily="49" charset="-122"/>
              </a:rPr>
              <a:t>维子空间时，被称为线性分组码。其基本特性如下：</a:t>
            </a:r>
            <a:endParaRPr lang="en-US" altLang="zh-CN" dirty="0">
              <a:latin typeface="楷体" panose="02010609060101010101" pitchFamily="49" charset="-122"/>
              <a:ea typeface="楷体" panose="02010609060101010101" pitchFamily="49" charset="-122"/>
            </a:endParaRPr>
          </a:p>
          <a:p>
            <a:pPr indent="457200" algn="just"/>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）全零向量是码字；</a:t>
            </a:r>
            <a:endParaRPr lang="en-US" altLang="zh-CN" dirty="0">
              <a:latin typeface="楷体" panose="02010609060101010101" pitchFamily="49" charset="-122"/>
              <a:ea typeface="楷体" panose="02010609060101010101" pitchFamily="49" charset="-122"/>
            </a:endParaRPr>
          </a:p>
          <a:p>
            <a:pPr indent="457200" algn="just"/>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）任意两个码字和仍为码字；</a:t>
            </a:r>
            <a:endParaRPr lang="en-US" altLang="zh-CN" dirty="0">
              <a:latin typeface="楷体" panose="02010609060101010101" pitchFamily="49" charset="-122"/>
              <a:ea typeface="楷体" panose="02010609060101010101" pitchFamily="49" charset="-122"/>
            </a:endParaRPr>
          </a:p>
          <a:p>
            <a:pPr indent="457200" algn="just"/>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）码字数为</a:t>
            </a:r>
            <a:r>
              <a:rPr lang="en-US" altLang="zh-CN" dirty="0">
                <a:latin typeface="楷体" panose="02010609060101010101" pitchFamily="49" charset="-122"/>
                <a:ea typeface="楷体" panose="02010609060101010101" pitchFamily="49" charset="-122"/>
              </a:rPr>
              <a:t>2</a:t>
            </a:r>
            <a:r>
              <a:rPr lang="en-US" altLang="zh-CN" baseline="30000" dirty="0">
                <a:latin typeface="楷体" panose="02010609060101010101" pitchFamily="49" charset="-122"/>
                <a:ea typeface="楷体" panose="02010609060101010101" pitchFamily="49" charset="-122"/>
              </a:rPr>
              <a:t>k</a:t>
            </a:r>
            <a:r>
              <a:rPr lang="zh-CN" altLang="en-US" dirty="0">
                <a:latin typeface="楷体" panose="02010609060101010101" pitchFamily="49" charset="-122"/>
                <a:ea typeface="楷体" panose="02010609060101010101" pitchFamily="49" charset="-122"/>
              </a:rPr>
              <a:t>；</a:t>
            </a:r>
            <a:endParaRPr lang="en-US" altLang="zh-CN" dirty="0">
              <a:latin typeface="楷体" panose="02010609060101010101" pitchFamily="49" charset="-122"/>
              <a:ea typeface="楷体" panose="02010609060101010101" pitchFamily="49" charset="-122"/>
            </a:endParaRPr>
          </a:p>
          <a:p>
            <a:pPr indent="457200" algn="just"/>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4</a:t>
            </a:r>
            <a:r>
              <a:rPr lang="zh-CN" altLang="en-US" dirty="0">
                <a:latin typeface="楷体" panose="02010609060101010101" pitchFamily="49" charset="-122"/>
                <a:ea typeface="楷体" panose="02010609060101010101" pitchFamily="49" charset="-122"/>
              </a:rPr>
              <a:t>）最小码距等于非零码字的最小码重</a:t>
            </a:r>
            <a:r>
              <a:rPr lang="zh-CN" altLang="en-US" dirty="0" smtClean="0">
                <a:latin typeface="楷体" panose="02010609060101010101" pitchFamily="49" charset="-122"/>
                <a:ea typeface="楷体" panose="02010609060101010101" pitchFamily="49" charset="-122"/>
              </a:rPr>
              <a:t>。</a:t>
            </a:r>
            <a:endParaRPr lang="en-US" altLang="zh-CN" dirty="0" smtClean="0">
              <a:latin typeface="楷体" panose="02010609060101010101" pitchFamily="49" charset="-122"/>
              <a:ea typeface="楷体" panose="02010609060101010101" pitchFamily="49" charset="-122"/>
            </a:endParaRPr>
          </a:p>
          <a:p>
            <a:pPr indent="457200" algn="just"/>
            <a:endParaRPr lang="en-US" altLang="zh-CN" dirty="0">
              <a:latin typeface="楷体" panose="02010609060101010101" pitchFamily="49" charset="-122"/>
              <a:ea typeface="楷体" panose="02010609060101010101" pitchFamily="49" charset="-122"/>
            </a:endParaRPr>
          </a:p>
          <a:p>
            <a:pPr marL="285750" indent="-285750" algn="just">
              <a:buFont typeface="Wingdings" panose="05000000000000000000" pitchFamily="2" charset="2"/>
              <a:buChar char="Ø"/>
            </a:pP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汉明码最早</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提出的一类能纠正单个错误</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的线性分组码。</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令</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是个二元</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m×(2</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矩阵，这个矩阵的列是按某种次序排列的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个非零矢量。那么，定义为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-1-m</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的线性分组码</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其校验矩阵为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，就称为长</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baseline="30000" dirty="0">
                <a:latin typeface="Times New Roman" panose="02020603050405020304" pitchFamily="18" charset="0"/>
                <a:ea typeface="楷体" panose="02010609060101010101" pitchFamily="49" charset="-122"/>
                <a:cs typeface="Times New Roman" panose="02020603050405020304" pitchFamily="18" charset="0"/>
              </a:rPr>
              <a:t>m</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的汉明码</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Ø"/>
            </a:pPr>
            <a:endParaRPr lang="en-US" altLang="zh-CN" dirty="0">
              <a:latin typeface="楷体" panose="02010609060101010101" pitchFamily="49" charset="-122"/>
              <a:ea typeface="楷体" panose="02010609060101010101" pitchFamily="49" charset="-122"/>
            </a:endParaRPr>
          </a:p>
        </p:txBody>
      </p:sp>
      <p:sp>
        <p:nvSpPr>
          <p:cNvPr id="2" name="矩形 1"/>
          <p:cNvSpPr/>
          <p:nvPr/>
        </p:nvSpPr>
        <p:spPr>
          <a:xfrm>
            <a:off x="4898571" y="4475293"/>
            <a:ext cx="7119258" cy="2308324"/>
          </a:xfrm>
          <a:prstGeom prst="rect">
            <a:avLst/>
          </a:prstGeom>
        </p:spPr>
        <p:txBody>
          <a:bodyPr wrap="square">
            <a:spAutoFit/>
          </a:bodyPr>
          <a:lstStyle/>
          <a:p>
            <a:pPr marL="285750" indent="-285750">
              <a:buFont typeface="Wingdings" panose="05000000000000000000" pitchFamily="2" charset="2"/>
              <a:buChar char="Ø"/>
            </a:pPr>
            <a:r>
              <a:rPr lang="zh-CN" altLang="en-US" b="1" dirty="0" smtClean="0">
                <a:latin typeface="楷体" panose="02010609060101010101" charset="-122"/>
                <a:ea typeface="楷体" panose="02010609060101010101" charset="-122"/>
                <a:sym typeface="+mn-ea"/>
              </a:rPr>
              <a:t>线性卷积码：</a:t>
            </a:r>
            <a:r>
              <a:rPr lang="en-US" altLang="zh-CN"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 (n , </a:t>
            </a:r>
            <a:r>
              <a:rPr lang="en-US" altLang="zh-CN"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k</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m) </a:t>
            </a:r>
            <a:r>
              <a:rPr lang="zh-CN" altLang="en-US"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线性卷积码，</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每段输入长度为</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k bit,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输出长度为</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n bit, </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当前输出端</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v(l)</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不仅与当前输入段</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u(l)</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相关，还与此前输入的</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个输入段</a:t>
            </a: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u(l-1),u(l-2),u(l-m)</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相关。卷积编码电路工作时，初态全零，按段运行，编码结束时保证回归全零初态。</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buFont typeface="Wingdings" panose="05000000000000000000" pitchFamily="2" charset="2"/>
              <a:buChar char="Ø"/>
            </a:pPr>
            <a:r>
              <a:rPr lang="zh-CN" altLang="en-US" b="1" dirty="0" smtClean="0">
                <a:latin typeface="Times New Roman" panose="02020603050405020304" pitchFamily="18" charset="0"/>
                <a:ea typeface="楷体" panose="02010609060101010101" pitchFamily="49" charset="-122"/>
                <a:cs typeface="Times New Roman" panose="02020603050405020304" pitchFamily="18" charset="0"/>
              </a:rPr>
              <a:t>线性卷积码重点：</a:t>
            </a:r>
            <a:r>
              <a:rPr lang="zh-CN" altLang="en-US" dirty="0" smtClean="0">
                <a:latin typeface="Times New Roman" panose="02020603050405020304" pitchFamily="18" charset="0"/>
                <a:ea typeface="楷体" panose="02010609060101010101" pitchFamily="49" charset="-122"/>
                <a:cs typeface="Times New Roman" panose="02020603050405020304" pitchFamily="18" charset="0"/>
              </a:rPr>
              <a:t>编码电路的理解与设计、生成矩阵、基本生成矩阵、生成序列、基于生成序列的卷积、基于生成矩阵的矩阵乘法、多项式描述、多项式生成矩阵、状态转移图、栅格图、基于栅格图寻求幸存路径的维特比译码。</a:t>
            </a:r>
            <a:endParaRPr lang="zh-CN" altLang="en-US" dirty="0"/>
          </a:p>
        </p:txBody>
      </p:sp>
    </p:spTree>
    <p:extLst>
      <p:ext uri="{BB962C8B-B14F-4D97-AF65-F5344CB8AC3E}">
        <p14:creationId xmlns:p14="http://schemas.microsoft.com/office/powerpoint/2010/main" val="2606638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37458" y="412500"/>
            <a:ext cx="5606142" cy="1477328"/>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cs typeface="Times New Roman" panose="02020603050405020304" pitchFamily="18" charset="0"/>
              </a:rPr>
              <a:t>七、信息加密技术（课后阅读，仅对基本方法了解）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了解</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1</a:t>
            </a:r>
            <a:r>
              <a:rPr lang="zh-CN" altLang="zh-CN" kern="100" dirty="0">
                <a:latin typeface="等线" panose="02010600030101010101" pitchFamily="2" charset="-122"/>
                <a:cs typeface="Times New Roman" panose="02020603050405020304" pitchFamily="18" charset="0"/>
              </a:rPr>
              <a:t>）</a:t>
            </a:r>
            <a:r>
              <a:rPr lang="zh-CN" altLang="zh-CN" kern="100" dirty="0">
                <a:latin typeface="Times New Roman" panose="02020603050405020304" pitchFamily="18" charset="0"/>
                <a:cs typeface="Times New Roman" panose="02020603050405020304" pitchFamily="18" charset="0"/>
              </a:rPr>
              <a:t>保密通信系统模型</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zh-CN" altLang="zh-CN" kern="100" dirty="0">
                <a:latin typeface="Times New Roman" panose="02020603050405020304" pitchFamily="18" charset="0"/>
                <a:cs typeface="Times New Roman" panose="02020603050405020304" pitchFamily="18" charset="0"/>
              </a:rPr>
              <a:t>（</a:t>
            </a:r>
            <a:r>
              <a:rPr lang="en-US" altLang="zh-CN" kern="10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）古典密码（如仿射密码、密钥词组密码）</a:t>
            </a:r>
            <a:endParaRPr lang="zh-CN" altLang="zh-CN" kern="100" dirty="0">
              <a:latin typeface="等线" panose="02010600030101010101" pitchFamily="2" charset="-122"/>
              <a:cs typeface="Times New Roman" panose="02020603050405020304" pitchFamily="18" charset="0"/>
            </a:endParaRPr>
          </a:p>
          <a:p>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3</a:t>
            </a:r>
            <a:r>
              <a:rPr lang="zh-CN" altLang="zh-CN" dirty="0">
                <a:latin typeface="Times New Roman" panose="02020603050405020304" pitchFamily="18" charset="0"/>
                <a:cs typeface="Times New Roman" panose="02020603050405020304" pitchFamily="18" charset="0"/>
              </a:rPr>
              <a:t>）线性反馈移位寄存器</a:t>
            </a:r>
            <a:endParaRPr lang="zh-CN" altLang="en-US" dirty="0"/>
          </a:p>
        </p:txBody>
      </p:sp>
    </p:spTree>
    <p:extLst>
      <p:ext uri="{BB962C8B-B14F-4D97-AF65-F5344CB8AC3E}">
        <p14:creationId xmlns:p14="http://schemas.microsoft.com/office/powerpoint/2010/main" val="386155049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TotalTime>
  <Words>3418</Words>
  <Application>Microsoft Office PowerPoint</Application>
  <PresentationFormat>宽屏</PresentationFormat>
  <Paragraphs>305</Paragraphs>
  <Slides>11</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1" baseType="lpstr">
      <vt:lpstr>-apple-system</vt:lpstr>
      <vt:lpstr>等线</vt:lpstr>
      <vt:lpstr>等线 Light</vt:lpstr>
      <vt:lpstr>楷体</vt:lpstr>
      <vt:lpstr>Arial</vt:lpstr>
      <vt:lpstr>Cambria Math</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Wenyi</dc:creator>
  <cp:lastModifiedBy>Wang Wenyi</cp:lastModifiedBy>
  <cp:revision>97</cp:revision>
  <dcterms:created xsi:type="dcterms:W3CDTF">2023-04-27T12:09:21Z</dcterms:created>
  <dcterms:modified xsi:type="dcterms:W3CDTF">2024-06-09T14:07:06Z</dcterms:modified>
</cp:coreProperties>
</file>