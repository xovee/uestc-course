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35"/>
  </p:notesMasterIdLst>
  <p:handoutMasterIdLst>
    <p:handoutMasterId r:id="rId36"/>
  </p:handoutMasterIdLst>
  <p:sldIdLst>
    <p:sldId id="428" r:id="rId2"/>
    <p:sldId id="429" r:id="rId3"/>
    <p:sldId id="474" r:id="rId4"/>
    <p:sldId id="475" r:id="rId5"/>
    <p:sldId id="476" r:id="rId6"/>
    <p:sldId id="477" r:id="rId7"/>
    <p:sldId id="478" r:id="rId8"/>
    <p:sldId id="480" r:id="rId9"/>
    <p:sldId id="481" r:id="rId10"/>
    <p:sldId id="503" r:id="rId11"/>
    <p:sldId id="504" r:id="rId12"/>
    <p:sldId id="505" r:id="rId13"/>
    <p:sldId id="482" r:id="rId14"/>
    <p:sldId id="483" r:id="rId15"/>
    <p:sldId id="484" r:id="rId16"/>
    <p:sldId id="485" r:id="rId17"/>
    <p:sldId id="486" r:id="rId18"/>
    <p:sldId id="487" r:id="rId19"/>
    <p:sldId id="488" r:id="rId20"/>
    <p:sldId id="489" r:id="rId21"/>
    <p:sldId id="490" r:id="rId22"/>
    <p:sldId id="491" r:id="rId23"/>
    <p:sldId id="492" r:id="rId24"/>
    <p:sldId id="493" r:id="rId25"/>
    <p:sldId id="494" r:id="rId26"/>
    <p:sldId id="495" r:id="rId27"/>
    <p:sldId id="496" r:id="rId28"/>
    <p:sldId id="497" r:id="rId29"/>
    <p:sldId id="498" r:id="rId30"/>
    <p:sldId id="499" r:id="rId31"/>
    <p:sldId id="500" r:id="rId32"/>
    <p:sldId id="501" r:id="rId33"/>
    <p:sldId id="502" r:id="rId34"/>
  </p:sldIdLst>
  <p:sldSz cx="9144000" cy="6858000" type="screen4x3"/>
  <p:notesSz cx="6858000" cy="9144000"/>
  <p:defaultTextStyle>
    <a:defPPr>
      <a:defRPr lang="zh-CN"/>
    </a:defPPr>
    <a:lvl1pPr algn="l" rtl="0" fontAlgn="base">
      <a:lnSpc>
        <a:spcPct val="90000"/>
      </a:lnSpc>
      <a:spcBef>
        <a:spcPct val="50000"/>
      </a:spcBef>
      <a:spcAft>
        <a:spcPct val="0"/>
      </a:spcAft>
      <a:buClr>
        <a:schemeClr val="accent1"/>
      </a:buClr>
      <a:buSzPct val="75000"/>
      <a:defRPr sz="2400" kern="1200">
        <a:solidFill>
          <a:srgbClr val="0033CC"/>
        </a:solidFill>
        <a:latin typeface="楷体_GB2312" pitchFamily="49" charset="-122"/>
        <a:ea typeface="楷体_GB2312" pitchFamily="49" charset="-122"/>
        <a:cs typeface="+mn-cs"/>
      </a:defRPr>
    </a:lvl1pPr>
    <a:lvl2pPr marL="457200" algn="l" rtl="0" fontAlgn="base">
      <a:lnSpc>
        <a:spcPct val="90000"/>
      </a:lnSpc>
      <a:spcBef>
        <a:spcPct val="50000"/>
      </a:spcBef>
      <a:spcAft>
        <a:spcPct val="0"/>
      </a:spcAft>
      <a:buClr>
        <a:schemeClr val="accent1"/>
      </a:buClr>
      <a:buSzPct val="75000"/>
      <a:defRPr sz="2400" kern="1200">
        <a:solidFill>
          <a:srgbClr val="0033CC"/>
        </a:solidFill>
        <a:latin typeface="楷体_GB2312" pitchFamily="49" charset="-122"/>
        <a:ea typeface="楷体_GB2312" pitchFamily="49" charset="-122"/>
        <a:cs typeface="+mn-cs"/>
      </a:defRPr>
    </a:lvl2pPr>
    <a:lvl3pPr marL="914400" algn="l" rtl="0" fontAlgn="base">
      <a:lnSpc>
        <a:spcPct val="90000"/>
      </a:lnSpc>
      <a:spcBef>
        <a:spcPct val="50000"/>
      </a:spcBef>
      <a:spcAft>
        <a:spcPct val="0"/>
      </a:spcAft>
      <a:buClr>
        <a:schemeClr val="accent1"/>
      </a:buClr>
      <a:buSzPct val="75000"/>
      <a:defRPr sz="2400" kern="1200">
        <a:solidFill>
          <a:srgbClr val="0033CC"/>
        </a:solidFill>
        <a:latin typeface="楷体_GB2312" pitchFamily="49" charset="-122"/>
        <a:ea typeface="楷体_GB2312" pitchFamily="49" charset="-122"/>
        <a:cs typeface="+mn-cs"/>
      </a:defRPr>
    </a:lvl3pPr>
    <a:lvl4pPr marL="1371600" algn="l" rtl="0" fontAlgn="base">
      <a:lnSpc>
        <a:spcPct val="90000"/>
      </a:lnSpc>
      <a:spcBef>
        <a:spcPct val="50000"/>
      </a:spcBef>
      <a:spcAft>
        <a:spcPct val="0"/>
      </a:spcAft>
      <a:buClr>
        <a:schemeClr val="accent1"/>
      </a:buClr>
      <a:buSzPct val="75000"/>
      <a:defRPr sz="2400" kern="1200">
        <a:solidFill>
          <a:srgbClr val="0033CC"/>
        </a:solidFill>
        <a:latin typeface="楷体_GB2312" pitchFamily="49" charset="-122"/>
        <a:ea typeface="楷体_GB2312" pitchFamily="49" charset="-122"/>
        <a:cs typeface="+mn-cs"/>
      </a:defRPr>
    </a:lvl4pPr>
    <a:lvl5pPr marL="1828800" algn="l" rtl="0" fontAlgn="base">
      <a:lnSpc>
        <a:spcPct val="90000"/>
      </a:lnSpc>
      <a:spcBef>
        <a:spcPct val="50000"/>
      </a:spcBef>
      <a:spcAft>
        <a:spcPct val="0"/>
      </a:spcAft>
      <a:buClr>
        <a:schemeClr val="accent1"/>
      </a:buClr>
      <a:buSzPct val="75000"/>
      <a:defRPr sz="2400" kern="1200">
        <a:solidFill>
          <a:srgbClr val="0033CC"/>
        </a:solidFill>
        <a:latin typeface="楷体_GB2312" pitchFamily="49" charset="-122"/>
        <a:ea typeface="楷体_GB2312" pitchFamily="49" charset="-122"/>
        <a:cs typeface="+mn-cs"/>
      </a:defRPr>
    </a:lvl5pPr>
    <a:lvl6pPr marL="2286000" algn="l" defTabSz="914400" rtl="0" eaLnBrk="1" latinLnBrk="0" hangingPunct="1">
      <a:defRPr sz="2400" kern="1200">
        <a:solidFill>
          <a:srgbClr val="0033CC"/>
        </a:solidFill>
        <a:latin typeface="楷体_GB2312" pitchFamily="49" charset="-122"/>
        <a:ea typeface="楷体_GB2312" pitchFamily="49" charset="-122"/>
        <a:cs typeface="+mn-cs"/>
      </a:defRPr>
    </a:lvl6pPr>
    <a:lvl7pPr marL="2743200" algn="l" defTabSz="914400" rtl="0" eaLnBrk="1" latinLnBrk="0" hangingPunct="1">
      <a:defRPr sz="2400" kern="1200">
        <a:solidFill>
          <a:srgbClr val="0033CC"/>
        </a:solidFill>
        <a:latin typeface="楷体_GB2312" pitchFamily="49" charset="-122"/>
        <a:ea typeface="楷体_GB2312" pitchFamily="49" charset="-122"/>
        <a:cs typeface="+mn-cs"/>
      </a:defRPr>
    </a:lvl7pPr>
    <a:lvl8pPr marL="3200400" algn="l" defTabSz="914400" rtl="0" eaLnBrk="1" latinLnBrk="0" hangingPunct="1">
      <a:defRPr sz="2400" kern="1200">
        <a:solidFill>
          <a:srgbClr val="0033CC"/>
        </a:solidFill>
        <a:latin typeface="楷体_GB2312" pitchFamily="49" charset="-122"/>
        <a:ea typeface="楷体_GB2312" pitchFamily="49" charset="-122"/>
        <a:cs typeface="+mn-cs"/>
      </a:defRPr>
    </a:lvl8pPr>
    <a:lvl9pPr marL="3657600" algn="l" defTabSz="914400" rtl="0" eaLnBrk="1" latinLnBrk="0" hangingPunct="1">
      <a:defRPr sz="2400" kern="1200">
        <a:solidFill>
          <a:srgbClr val="0033CC"/>
        </a:solidFill>
        <a:latin typeface="楷体_GB2312" pitchFamily="49" charset="-122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3300"/>
    <a:srgbClr val="CCECFF"/>
    <a:srgbClr val="FFFF99"/>
    <a:srgbClr val="0033CC"/>
    <a:srgbClr val="00CC99"/>
    <a:srgbClr val="00FF00"/>
    <a:srgbClr val="0000FF"/>
    <a:srgbClr val="CC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1" autoAdjust="0"/>
    <p:restoredTop sz="94660"/>
  </p:normalViewPr>
  <p:slideViewPr>
    <p:cSldViewPr>
      <p:cViewPr varScale="1">
        <p:scale>
          <a:sx n="127" d="100"/>
          <a:sy n="127" d="100"/>
        </p:scale>
        <p:origin x="1656" y="168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846"/>
    </p:cViewPr>
  </p:sorterViewPr>
  <p:notesViewPr>
    <p:cSldViewPr>
      <p:cViewPr varScale="1">
        <p:scale>
          <a:sx n="54" d="100"/>
          <a:sy n="54" d="100"/>
        </p:scale>
        <p:origin x="-1818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ClrTx/>
              <a:buSzTx/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ClrTx/>
              <a:buSzTx/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fld id="{96815475-E809-4842-8499-F2EE21035AA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198586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ClrTx/>
              <a:buSzTx/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052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单击以编辑母版文本样式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ClrTx/>
              <a:buSzTx/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fld id="{3D5FCF50-3F34-4827-BD9E-418657A117E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4324961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4474BFF-865A-4F27-9156-8B21F8AFEF9F}" type="slidenum">
              <a:rPr lang="en-US" altLang="zh-CN"/>
              <a:pPr/>
              <a:t>1</a:t>
            </a:fld>
            <a:endParaRPr lang="en-US" altLang="zh-CN"/>
          </a:p>
        </p:txBody>
      </p:sp>
      <p:sp>
        <p:nvSpPr>
          <p:cNvPr id="248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8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1463319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F5CF98A-F9F4-4361-B16D-A08F62E9D28B}" type="slidenum">
              <a:rPr lang="en-US" altLang="zh-CN"/>
              <a:pPr/>
              <a:t>2</a:t>
            </a:fld>
            <a:endParaRPr lang="en-US" altLang="zh-CN"/>
          </a:p>
        </p:txBody>
      </p:sp>
      <p:sp>
        <p:nvSpPr>
          <p:cNvPr id="249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9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6800815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EEF05-4A54-0CB6-2C71-F000C8045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F0263D4E-5E56-8986-39A1-5EC1AB64D50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F5CF98A-F9F4-4361-B16D-A08F62E9D28B}" type="slidenum">
              <a:rPr lang="en-US" altLang="zh-CN"/>
              <a:pPr/>
              <a:t>3</a:t>
            </a:fld>
            <a:endParaRPr lang="en-US" altLang="zh-CN"/>
          </a:p>
        </p:txBody>
      </p:sp>
      <p:sp>
        <p:nvSpPr>
          <p:cNvPr id="249858" name="Rectangle 2">
            <a:extLst>
              <a:ext uri="{FF2B5EF4-FFF2-40B4-BE49-F238E27FC236}">
                <a16:creationId xmlns:a16="http://schemas.microsoft.com/office/drawing/2014/main" id="{C0094676-7F1D-97AF-F15F-96F55002923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9859" name="Rectangle 3">
            <a:extLst>
              <a:ext uri="{FF2B5EF4-FFF2-40B4-BE49-F238E27FC236}">
                <a16:creationId xmlns:a16="http://schemas.microsoft.com/office/drawing/2014/main" id="{314D33FB-76B8-7798-1FD5-33CEED7825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7545436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17F33-5AB6-85E3-EBCE-EA4B2BE57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B809E104-54E9-DB4D-9BA2-01DF2F285DA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F5CF98A-F9F4-4361-B16D-A08F62E9D28B}" type="slidenum">
              <a:rPr lang="en-US" altLang="zh-CN"/>
              <a:pPr/>
              <a:t>4</a:t>
            </a:fld>
            <a:endParaRPr lang="en-US" altLang="zh-CN"/>
          </a:p>
        </p:txBody>
      </p:sp>
      <p:sp>
        <p:nvSpPr>
          <p:cNvPr id="249858" name="Rectangle 2">
            <a:extLst>
              <a:ext uri="{FF2B5EF4-FFF2-40B4-BE49-F238E27FC236}">
                <a16:creationId xmlns:a16="http://schemas.microsoft.com/office/drawing/2014/main" id="{0CA40803-43C2-600B-A656-86D501C35D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9859" name="Rectangle 3">
            <a:extLst>
              <a:ext uri="{FF2B5EF4-FFF2-40B4-BE49-F238E27FC236}">
                <a16:creationId xmlns:a16="http://schemas.microsoft.com/office/drawing/2014/main" id="{801634B7-996A-BA98-EDE2-50EE20B93E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375797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A1627-DEA1-E884-C85F-0535C1F7C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B7762AD7-4342-2AB6-4FDD-3069D0439C8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F5CF98A-F9F4-4361-B16D-A08F62E9D28B}" type="slidenum">
              <a:rPr lang="en-US" altLang="zh-CN"/>
              <a:pPr/>
              <a:t>5</a:t>
            </a:fld>
            <a:endParaRPr lang="en-US" altLang="zh-CN"/>
          </a:p>
        </p:txBody>
      </p:sp>
      <p:sp>
        <p:nvSpPr>
          <p:cNvPr id="249858" name="Rectangle 2">
            <a:extLst>
              <a:ext uri="{FF2B5EF4-FFF2-40B4-BE49-F238E27FC236}">
                <a16:creationId xmlns:a16="http://schemas.microsoft.com/office/drawing/2014/main" id="{C70E3945-A9D2-20F1-B1B3-78378D9CB05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9859" name="Rectangle 3">
            <a:extLst>
              <a:ext uri="{FF2B5EF4-FFF2-40B4-BE49-F238E27FC236}">
                <a16:creationId xmlns:a16="http://schemas.microsoft.com/office/drawing/2014/main" id="{8E22BB70-E4D0-52BD-661A-8076DE7581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822146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8B4B4-0FFE-8A09-23DF-96DB3AD92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85486B55-6DDB-2049-8F29-88046B01493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F5CF98A-F9F4-4361-B16D-A08F62E9D28B}" type="slidenum">
              <a:rPr lang="en-US" altLang="zh-CN"/>
              <a:pPr/>
              <a:t>6</a:t>
            </a:fld>
            <a:endParaRPr lang="en-US" altLang="zh-CN"/>
          </a:p>
        </p:txBody>
      </p:sp>
      <p:sp>
        <p:nvSpPr>
          <p:cNvPr id="249858" name="Rectangle 2">
            <a:extLst>
              <a:ext uri="{FF2B5EF4-FFF2-40B4-BE49-F238E27FC236}">
                <a16:creationId xmlns:a16="http://schemas.microsoft.com/office/drawing/2014/main" id="{DD83D11C-BF92-DF36-E65C-4948D75F594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9859" name="Rectangle 3">
            <a:extLst>
              <a:ext uri="{FF2B5EF4-FFF2-40B4-BE49-F238E27FC236}">
                <a16:creationId xmlns:a16="http://schemas.microsoft.com/office/drawing/2014/main" id="{192E5E10-5EE4-BBEC-7D7B-5FED2C9662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5766417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00251-0BC6-149F-4F12-D10CB5151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038A33D0-BB2B-5CF2-CFFB-29282A19238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F5CF98A-F9F4-4361-B16D-A08F62E9D28B}" type="slidenum">
              <a:rPr lang="en-US" altLang="zh-CN"/>
              <a:pPr/>
              <a:t>7</a:t>
            </a:fld>
            <a:endParaRPr lang="en-US" altLang="zh-CN"/>
          </a:p>
        </p:txBody>
      </p:sp>
      <p:sp>
        <p:nvSpPr>
          <p:cNvPr id="249858" name="Rectangle 2">
            <a:extLst>
              <a:ext uri="{FF2B5EF4-FFF2-40B4-BE49-F238E27FC236}">
                <a16:creationId xmlns:a16="http://schemas.microsoft.com/office/drawing/2014/main" id="{8D50830E-E019-27F7-1CA3-B1654F4A741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9859" name="Rectangle 3">
            <a:extLst>
              <a:ext uri="{FF2B5EF4-FFF2-40B4-BE49-F238E27FC236}">
                <a16:creationId xmlns:a16="http://schemas.microsoft.com/office/drawing/2014/main" id="{1A81FAEE-D3C6-BB61-9358-FB3D2B50EC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7317029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9C4C1-A2FA-362B-9B29-C408451A4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AF08A207-7A71-C709-94D7-FCB3CCEB02C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F5CF98A-F9F4-4361-B16D-A08F62E9D28B}" type="slidenum">
              <a:rPr lang="en-US" altLang="zh-CN"/>
              <a:pPr/>
              <a:t>8</a:t>
            </a:fld>
            <a:endParaRPr lang="en-US" altLang="zh-CN"/>
          </a:p>
        </p:txBody>
      </p:sp>
      <p:sp>
        <p:nvSpPr>
          <p:cNvPr id="249858" name="Rectangle 2">
            <a:extLst>
              <a:ext uri="{FF2B5EF4-FFF2-40B4-BE49-F238E27FC236}">
                <a16:creationId xmlns:a16="http://schemas.microsoft.com/office/drawing/2014/main" id="{A96673EE-FA6A-DB1B-BAA2-576129566D5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9859" name="Rectangle 3">
            <a:extLst>
              <a:ext uri="{FF2B5EF4-FFF2-40B4-BE49-F238E27FC236}">
                <a16:creationId xmlns:a16="http://schemas.microsoft.com/office/drawing/2014/main" id="{2F060FA7-D17F-F231-435B-E0CF3B4806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7034467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7620B-48C1-2639-5971-90E07D04F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F9E9AA10-D219-C792-37A5-917744567B2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F5CF98A-F9F4-4361-B16D-A08F62E9D28B}" type="slidenum">
              <a:rPr lang="en-US" altLang="zh-CN"/>
              <a:pPr/>
              <a:t>9</a:t>
            </a:fld>
            <a:endParaRPr lang="en-US" altLang="zh-CN"/>
          </a:p>
        </p:txBody>
      </p:sp>
      <p:sp>
        <p:nvSpPr>
          <p:cNvPr id="249858" name="Rectangle 2">
            <a:extLst>
              <a:ext uri="{FF2B5EF4-FFF2-40B4-BE49-F238E27FC236}">
                <a16:creationId xmlns:a16="http://schemas.microsoft.com/office/drawing/2014/main" id="{3434ED72-99C1-F4FC-6177-7FD7538DA6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9859" name="Rectangle 3">
            <a:extLst>
              <a:ext uri="{FF2B5EF4-FFF2-40B4-BE49-F238E27FC236}">
                <a16:creationId xmlns:a16="http://schemas.microsoft.com/office/drawing/2014/main" id="{B6F7043D-5956-D997-2D63-D98CE34301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4138236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A41C4-F6B8-8BDE-594C-DC66EB7B7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AB075AA1-4265-F851-7A1D-E41BFB0DD86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F5CF98A-F9F4-4361-B16D-A08F62E9D28B}" type="slidenum">
              <a:rPr lang="en-US" altLang="zh-CN"/>
              <a:pPr/>
              <a:t>10</a:t>
            </a:fld>
            <a:endParaRPr lang="en-US" altLang="zh-CN"/>
          </a:p>
        </p:txBody>
      </p:sp>
      <p:sp>
        <p:nvSpPr>
          <p:cNvPr id="249858" name="Rectangle 2">
            <a:extLst>
              <a:ext uri="{FF2B5EF4-FFF2-40B4-BE49-F238E27FC236}">
                <a16:creationId xmlns:a16="http://schemas.microsoft.com/office/drawing/2014/main" id="{CFD0ECFE-4940-66B5-C360-85D70696841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9859" name="Rectangle 3">
            <a:extLst>
              <a:ext uri="{FF2B5EF4-FFF2-40B4-BE49-F238E27FC236}">
                <a16:creationId xmlns:a16="http://schemas.microsoft.com/office/drawing/2014/main" id="{9D993AB0-2E7D-5145-BD76-6EAB136CD3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4040530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D2C5A-0ABC-791D-FA0F-9260057C7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B1F933E5-1B01-5E35-ECCB-8D601918602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F5CF98A-F9F4-4361-B16D-A08F62E9D28B}" type="slidenum">
              <a:rPr lang="en-US" altLang="zh-CN"/>
              <a:pPr/>
              <a:t>11</a:t>
            </a:fld>
            <a:endParaRPr lang="en-US" altLang="zh-CN"/>
          </a:p>
        </p:txBody>
      </p:sp>
      <p:sp>
        <p:nvSpPr>
          <p:cNvPr id="249858" name="Rectangle 2">
            <a:extLst>
              <a:ext uri="{FF2B5EF4-FFF2-40B4-BE49-F238E27FC236}">
                <a16:creationId xmlns:a16="http://schemas.microsoft.com/office/drawing/2014/main" id="{A2C1DB28-1C69-2C9A-5E4C-D6111F8247E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9859" name="Rectangle 3">
            <a:extLst>
              <a:ext uri="{FF2B5EF4-FFF2-40B4-BE49-F238E27FC236}">
                <a16:creationId xmlns:a16="http://schemas.microsoft.com/office/drawing/2014/main" id="{7C46C72F-6716-8D2A-4E71-4071A5B421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8017470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53ADE-3E10-DB54-1809-8B475C64B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77C73590-C988-F010-41F2-287A0C2EC6D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F5CF98A-F9F4-4361-B16D-A08F62E9D28B}" type="slidenum">
              <a:rPr lang="en-US" altLang="zh-CN"/>
              <a:pPr/>
              <a:t>12</a:t>
            </a:fld>
            <a:endParaRPr lang="en-US" altLang="zh-CN"/>
          </a:p>
        </p:txBody>
      </p:sp>
      <p:sp>
        <p:nvSpPr>
          <p:cNvPr id="249858" name="Rectangle 2">
            <a:extLst>
              <a:ext uri="{FF2B5EF4-FFF2-40B4-BE49-F238E27FC236}">
                <a16:creationId xmlns:a16="http://schemas.microsoft.com/office/drawing/2014/main" id="{2146D6E6-5053-6093-5566-E685054578D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9859" name="Rectangle 3">
            <a:extLst>
              <a:ext uri="{FF2B5EF4-FFF2-40B4-BE49-F238E27FC236}">
                <a16:creationId xmlns:a16="http://schemas.microsoft.com/office/drawing/2014/main" id="{DB1EEBD4-6C1F-CBEE-E15C-23CB8011DE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7211125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D67E7-4096-4FAD-5F53-6DAF04391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ED4A32D3-2D0F-8A61-5811-FFE6F364CDD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F5CF98A-F9F4-4361-B16D-A08F62E9D28B}" type="slidenum">
              <a:rPr lang="en-US" altLang="zh-CN"/>
              <a:pPr/>
              <a:t>13</a:t>
            </a:fld>
            <a:endParaRPr lang="en-US" altLang="zh-CN"/>
          </a:p>
        </p:txBody>
      </p:sp>
      <p:sp>
        <p:nvSpPr>
          <p:cNvPr id="249858" name="Rectangle 2">
            <a:extLst>
              <a:ext uri="{FF2B5EF4-FFF2-40B4-BE49-F238E27FC236}">
                <a16:creationId xmlns:a16="http://schemas.microsoft.com/office/drawing/2014/main" id="{687CFE1B-00CC-4FEE-A82A-9EEFCF66DE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9859" name="Rectangle 3">
            <a:extLst>
              <a:ext uri="{FF2B5EF4-FFF2-40B4-BE49-F238E27FC236}">
                <a16:creationId xmlns:a16="http://schemas.microsoft.com/office/drawing/2014/main" id="{0EC14E44-8EA7-33FA-0619-37FDDB835D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5781578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8694F-BB73-1436-FCA0-1316C9B62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D8F43997-1E25-16CA-CBCC-7A92CA8085C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F5CF98A-F9F4-4361-B16D-A08F62E9D28B}" type="slidenum">
              <a:rPr lang="en-US" altLang="zh-CN"/>
              <a:pPr/>
              <a:t>14</a:t>
            </a:fld>
            <a:endParaRPr lang="en-US" altLang="zh-CN"/>
          </a:p>
        </p:txBody>
      </p:sp>
      <p:sp>
        <p:nvSpPr>
          <p:cNvPr id="249858" name="Rectangle 2">
            <a:extLst>
              <a:ext uri="{FF2B5EF4-FFF2-40B4-BE49-F238E27FC236}">
                <a16:creationId xmlns:a16="http://schemas.microsoft.com/office/drawing/2014/main" id="{7F3628EE-8579-2610-DEBF-38B7C0CA6E7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9859" name="Rectangle 3">
            <a:extLst>
              <a:ext uri="{FF2B5EF4-FFF2-40B4-BE49-F238E27FC236}">
                <a16:creationId xmlns:a16="http://schemas.microsoft.com/office/drawing/2014/main" id="{E463B1A1-CA40-6E16-9513-76ABFC7ED8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8013096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92713-458A-5ECD-4268-421841BEA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54697EE1-962E-661E-B8FC-215E2D01AE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F5CF98A-F9F4-4361-B16D-A08F62E9D28B}" type="slidenum">
              <a:rPr lang="en-US" altLang="zh-CN"/>
              <a:pPr/>
              <a:t>15</a:t>
            </a:fld>
            <a:endParaRPr lang="en-US" altLang="zh-CN"/>
          </a:p>
        </p:txBody>
      </p:sp>
      <p:sp>
        <p:nvSpPr>
          <p:cNvPr id="249858" name="Rectangle 2">
            <a:extLst>
              <a:ext uri="{FF2B5EF4-FFF2-40B4-BE49-F238E27FC236}">
                <a16:creationId xmlns:a16="http://schemas.microsoft.com/office/drawing/2014/main" id="{DA0FEB19-F78B-811F-1631-1B1B66EA617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9859" name="Rectangle 3">
            <a:extLst>
              <a:ext uri="{FF2B5EF4-FFF2-40B4-BE49-F238E27FC236}">
                <a16:creationId xmlns:a16="http://schemas.microsoft.com/office/drawing/2014/main" id="{BF5589A8-ED6A-92CC-E866-A606CB43F2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8741429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D8732-C6D4-E1DF-263E-E318F4CBF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9CCF5104-DE8D-FE70-00CB-F1869E9B6A6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F5CF98A-F9F4-4361-B16D-A08F62E9D28B}" type="slidenum">
              <a:rPr lang="en-US" altLang="zh-CN"/>
              <a:pPr/>
              <a:t>16</a:t>
            </a:fld>
            <a:endParaRPr lang="en-US" altLang="zh-CN"/>
          </a:p>
        </p:txBody>
      </p:sp>
      <p:sp>
        <p:nvSpPr>
          <p:cNvPr id="249858" name="Rectangle 2">
            <a:extLst>
              <a:ext uri="{FF2B5EF4-FFF2-40B4-BE49-F238E27FC236}">
                <a16:creationId xmlns:a16="http://schemas.microsoft.com/office/drawing/2014/main" id="{65D940B1-832E-BE72-1A8A-5E647EE871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9859" name="Rectangle 3">
            <a:extLst>
              <a:ext uri="{FF2B5EF4-FFF2-40B4-BE49-F238E27FC236}">
                <a16:creationId xmlns:a16="http://schemas.microsoft.com/office/drawing/2014/main" id="{5725BF1C-6895-1FC7-3C45-4D4EB078AA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0113421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62238-3CF5-28D5-9A21-48995F6B5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8FA7AAF9-C08D-120A-FE6F-89B96E5A3A3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F5CF98A-F9F4-4361-B16D-A08F62E9D28B}" type="slidenum">
              <a:rPr lang="en-US" altLang="zh-CN"/>
              <a:pPr/>
              <a:t>17</a:t>
            </a:fld>
            <a:endParaRPr lang="en-US" altLang="zh-CN"/>
          </a:p>
        </p:txBody>
      </p:sp>
      <p:sp>
        <p:nvSpPr>
          <p:cNvPr id="249858" name="Rectangle 2">
            <a:extLst>
              <a:ext uri="{FF2B5EF4-FFF2-40B4-BE49-F238E27FC236}">
                <a16:creationId xmlns:a16="http://schemas.microsoft.com/office/drawing/2014/main" id="{3503736D-DEC8-D5C4-2261-FA880C15DA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9859" name="Rectangle 3">
            <a:extLst>
              <a:ext uri="{FF2B5EF4-FFF2-40B4-BE49-F238E27FC236}">
                <a16:creationId xmlns:a16="http://schemas.microsoft.com/office/drawing/2014/main" id="{4045322F-7D27-21FA-8947-5736818D62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9738118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662EC-9F27-2EA4-8EEA-8BCC9F0CE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00700A2E-E793-A624-F5D3-AB26D86F72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F5CF98A-F9F4-4361-B16D-A08F62E9D28B}" type="slidenum">
              <a:rPr lang="en-US" altLang="zh-CN"/>
              <a:pPr/>
              <a:t>18</a:t>
            </a:fld>
            <a:endParaRPr lang="en-US" altLang="zh-CN"/>
          </a:p>
        </p:txBody>
      </p:sp>
      <p:sp>
        <p:nvSpPr>
          <p:cNvPr id="249858" name="Rectangle 2">
            <a:extLst>
              <a:ext uri="{FF2B5EF4-FFF2-40B4-BE49-F238E27FC236}">
                <a16:creationId xmlns:a16="http://schemas.microsoft.com/office/drawing/2014/main" id="{378BEF0E-56BD-E994-8FF7-1DEDEFF6A9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9859" name="Rectangle 3">
            <a:extLst>
              <a:ext uri="{FF2B5EF4-FFF2-40B4-BE49-F238E27FC236}">
                <a16:creationId xmlns:a16="http://schemas.microsoft.com/office/drawing/2014/main" id="{4385E002-A67F-3053-D7D5-25E64AF7BF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4346341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85A80-9560-C2D3-2DF5-B761C5316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A350A392-5DE9-C761-12B6-472B885528E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F5CF98A-F9F4-4361-B16D-A08F62E9D28B}" type="slidenum">
              <a:rPr lang="en-US" altLang="zh-CN"/>
              <a:pPr/>
              <a:t>19</a:t>
            </a:fld>
            <a:endParaRPr lang="en-US" altLang="zh-CN"/>
          </a:p>
        </p:txBody>
      </p:sp>
      <p:sp>
        <p:nvSpPr>
          <p:cNvPr id="249858" name="Rectangle 2">
            <a:extLst>
              <a:ext uri="{FF2B5EF4-FFF2-40B4-BE49-F238E27FC236}">
                <a16:creationId xmlns:a16="http://schemas.microsoft.com/office/drawing/2014/main" id="{E121E09E-8F14-009C-17B4-98BE74E1E8F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9859" name="Rectangle 3">
            <a:extLst>
              <a:ext uri="{FF2B5EF4-FFF2-40B4-BE49-F238E27FC236}">
                <a16:creationId xmlns:a16="http://schemas.microsoft.com/office/drawing/2014/main" id="{387CB319-4CA9-A578-BB94-DE94924AB1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21554878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34151-7937-AA60-F937-1F8249A3F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F587942E-3F91-6E7F-D8E2-4A63B26B4BE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F5CF98A-F9F4-4361-B16D-A08F62E9D28B}" type="slidenum">
              <a:rPr lang="en-US" altLang="zh-CN"/>
              <a:pPr/>
              <a:t>20</a:t>
            </a:fld>
            <a:endParaRPr lang="en-US" altLang="zh-CN"/>
          </a:p>
        </p:txBody>
      </p:sp>
      <p:sp>
        <p:nvSpPr>
          <p:cNvPr id="249858" name="Rectangle 2">
            <a:extLst>
              <a:ext uri="{FF2B5EF4-FFF2-40B4-BE49-F238E27FC236}">
                <a16:creationId xmlns:a16="http://schemas.microsoft.com/office/drawing/2014/main" id="{C6B69F02-3938-FBEF-6801-C15F90ECCB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9859" name="Rectangle 3">
            <a:extLst>
              <a:ext uri="{FF2B5EF4-FFF2-40B4-BE49-F238E27FC236}">
                <a16:creationId xmlns:a16="http://schemas.microsoft.com/office/drawing/2014/main" id="{0DF464FB-AA1D-4A90-1524-D9E6DEF973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23535185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FFFAC-94E9-C631-7DA5-9BEE85D6A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A8D29D0D-AFBC-1C8A-2410-BA2651AD810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F5CF98A-F9F4-4361-B16D-A08F62E9D28B}" type="slidenum">
              <a:rPr lang="en-US" altLang="zh-CN"/>
              <a:pPr/>
              <a:t>21</a:t>
            </a:fld>
            <a:endParaRPr lang="en-US" altLang="zh-CN"/>
          </a:p>
        </p:txBody>
      </p:sp>
      <p:sp>
        <p:nvSpPr>
          <p:cNvPr id="249858" name="Rectangle 2">
            <a:extLst>
              <a:ext uri="{FF2B5EF4-FFF2-40B4-BE49-F238E27FC236}">
                <a16:creationId xmlns:a16="http://schemas.microsoft.com/office/drawing/2014/main" id="{CC4E3ED7-BC85-8BEF-D385-04D5393EAF1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9859" name="Rectangle 3">
            <a:extLst>
              <a:ext uri="{FF2B5EF4-FFF2-40B4-BE49-F238E27FC236}">
                <a16:creationId xmlns:a16="http://schemas.microsoft.com/office/drawing/2014/main" id="{A22589F2-FF95-E481-9135-972B41452A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13317787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65F29-DBD3-B945-EABD-527B4C61E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B8CA479F-3696-20B7-D837-E0878CF2750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F5CF98A-F9F4-4361-B16D-A08F62E9D28B}" type="slidenum">
              <a:rPr lang="en-US" altLang="zh-CN"/>
              <a:pPr/>
              <a:t>22</a:t>
            </a:fld>
            <a:endParaRPr lang="en-US" altLang="zh-CN"/>
          </a:p>
        </p:txBody>
      </p:sp>
      <p:sp>
        <p:nvSpPr>
          <p:cNvPr id="249858" name="Rectangle 2">
            <a:extLst>
              <a:ext uri="{FF2B5EF4-FFF2-40B4-BE49-F238E27FC236}">
                <a16:creationId xmlns:a16="http://schemas.microsoft.com/office/drawing/2014/main" id="{C16AE0FC-CFC8-6A8D-1FD4-859DD60D54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9859" name="Rectangle 3">
            <a:extLst>
              <a:ext uri="{FF2B5EF4-FFF2-40B4-BE49-F238E27FC236}">
                <a16:creationId xmlns:a16="http://schemas.microsoft.com/office/drawing/2014/main" id="{967700F0-0706-AFB4-7296-6A3C9259FC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04347880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30B4A-DE5E-1A69-3E4D-AA3C86488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D81E53A8-F19F-5557-10ED-D30A96EC317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F5CF98A-F9F4-4361-B16D-A08F62E9D28B}" type="slidenum">
              <a:rPr lang="en-US" altLang="zh-CN"/>
              <a:pPr/>
              <a:t>23</a:t>
            </a:fld>
            <a:endParaRPr lang="en-US" altLang="zh-CN"/>
          </a:p>
        </p:txBody>
      </p:sp>
      <p:sp>
        <p:nvSpPr>
          <p:cNvPr id="249858" name="Rectangle 2">
            <a:extLst>
              <a:ext uri="{FF2B5EF4-FFF2-40B4-BE49-F238E27FC236}">
                <a16:creationId xmlns:a16="http://schemas.microsoft.com/office/drawing/2014/main" id="{CA16CDC7-FA12-5321-E6ED-7A5DD03330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9859" name="Rectangle 3">
            <a:extLst>
              <a:ext uri="{FF2B5EF4-FFF2-40B4-BE49-F238E27FC236}">
                <a16:creationId xmlns:a16="http://schemas.microsoft.com/office/drawing/2014/main" id="{510F5E20-62BF-C27B-489C-78ABF8F735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69702359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A6296-2E88-2DDE-6D8F-4FC93346F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927D5894-3DD0-434A-4785-62A92F59D5C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F5CF98A-F9F4-4361-B16D-A08F62E9D28B}" type="slidenum">
              <a:rPr lang="en-US" altLang="zh-CN"/>
              <a:pPr/>
              <a:t>24</a:t>
            </a:fld>
            <a:endParaRPr lang="en-US" altLang="zh-CN"/>
          </a:p>
        </p:txBody>
      </p:sp>
      <p:sp>
        <p:nvSpPr>
          <p:cNvPr id="249858" name="Rectangle 2">
            <a:extLst>
              <a:ext uri="{FF2B5EF4-FFF2-40B4-BE49-F238E27FC236}">
                <a16:creationId xmlns:a16="http://schemas.microsoft.com/office/drawing/2014/main" id="{3B7D40A3-82BC-8D77-82D8-26AE1CECCB2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9859" name="Rectangle 3">
            <a:extLst>
              <a:ext uri="{FF2B5EF4-FFF2-40B4-BE49-F238E27FC236}">
                <a16:creationId xmlns:a16="http://schemas.microsoft.com/office/drawing/2014/main" id="{7B6EB35E-C184-2D11-D2B8-AF8493DD0C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7734140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8C552-09B5-373F-EDF5-67FA75543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5335E549-1CEC-DF7F-AE63-FD4F2957772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F5CF98A-F9F4-4361-B16D-A08F62E9D28B}" type="slidenum">
              <a:rPr lang="en-US" altLang="zh-CN"/>
              <a:pPr/>
              <a:t>25</a:t>
            </a:fld>
            <a:endParaRPr lang="en-US" altLang="zh-CN"/>
          </a:p>
        </p:txBody>
      </p:sp>
      <p:sp>
        <p:nvSpPr>
          <p:cNvPr id="249858" name="Rectangle 2">
            <a:extLst>
              <a:ext uri="{FF2B5EF4-FFF2-40B4-BE49-F238E27FC236}">
                <a16:creationId xmlns:a16="http://schemas.microsoft.com/office/drawing/2014/main" id="{0CE1402C-E573-3B86-FD63-7113FDC55F5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9859" name="Rectangle 3">
            <a:extLst>
              <a:ext uri="{FF2B5EF4-FFF2-40B4-BE49-F238E27FC236}">
                <a16:creationId xmlns:a16="http://schemas.microsoft.com/office/drawing/2014/main" id="{D53AD80D-4A1E-F1D9-1A95-ED56FDBA8E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13908255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723C6-5AA0-FF2A-0668-2BDADEFA7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81DB7D8A-BDAE-3D97-DDA6-F638D749590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F5CF98A-F9F4-4361-B16D-A08F62E9D28B}" type="slidenum">
              <a:rPr lang="en-US" altLang="zh-CN"/>
              <a:pPr/>
              <a:t>26</a:t>
            </a:fld>
            <a:endParaRPr lang="en-US" altLang="zh-CN"/>
          </a:p>
        </p:txBody>
      </p:sp>
      <p:sp>
        <p:nvSpPr>
          <p:cNvPr id="249858" name="Rectangle 2">
            <a:extLst>
              <a:ext uri="{FF2B5EF4-FFF2-40B4-BE49-F238E27FC236}">
                <a16:creationId xmlns:a16="http://schemas.microsoft.com/office/drawing/2014/main" id="{E420085C-C401-D1CC-7571-14E798DD3B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9859" name="Rectangle 3">
            <a:extLst>
              <a:ext uri="{FF2B5EF4-FFF2-40B4-BE49-F238E27FC236}">
                <a16:creationId xmlns:a16="http://schemas.microsoft.com/office/drawing/2014/main" id="{8A386C32-E554-4DBB-73C9-87BAE3E7E3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85193510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9E4F5-5362-7134-F1D8-3EB5261E5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734AB840-BF1C-7765-0C2D-E80D82843A0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F5CF98A-F9F4-4361-B16D-A08F62E9D28B}" type="slidenum">
              <a:rPr lang="en-US" altLang="zh-CN"/>
              <a:pPr/>
              <a:t>27</a:t>
            </a:fld>
            <a:endParaRPr lang="en-US" altLang="zh-CN"/>
          </a:p>
        </p:txBody>
      </p:sp>
      <p:sp>
        <p:nvSpPr>
          <p:cNvPr id="249858" name="Rectangle 2">
            <a:extLst>
              <a:ext uri="{FF2B5EF4-FFF2-40B4-BE49-F238E27FC236}">
                <a16:creationId xmlns:a16="http://schemas.microsoft.com/office/drawing/2014/main" id="{73F7861F-B43B-D372-6B15-93835C429C6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9859" name="Rectangle 3">
            <a:extLst>
              <a:ext uri="{FF2B5EF4-FFF2-40B4-BE49-F238E27FC236}">
                <a16:creationId xmlns:a16="http://schemas.microsoft.com/office/drawing/2014/main" id="{EAFD3CB0-49BB-6469-BF46-3B0D8C6CD7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5815163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22271-5CD9-3F69-B993-77767131A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DFE54195-4827-AE9A-C0DB-A9541A1E0C4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F5CF98A-F9F4-4361-B16D-A08F62E9D28B}" type="slidenum">
              <a:rPr lang="en-US" altLang="zh-CN"/>
              <a:pPr/>
              <a:t>28</a:t>
            </a:fld>
            <a:endParaRPr lang="en-US" altLang="zh-CN"/>
          </a:p>
        </p:txBody>
      </p:sp>
      <p:sp>
        <p:nvSpPr>
          <p:cNvPr id="249858" name="Rectangle 2">
            <a:extLst>
              <a:ext uri="{FF2B5EF4-FFF2-40B4-BE49-F238E27FC236}">
                <a16:creationId xmlns:a16="http://schemas.microsoft.com/office/drawing/2014/main" id="{7E2FDA55-745C-13CA-51FA-798F31A6B6C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9859" name="Rectangle 3">
            <a:extLst>
              <a:ext uri="{FF2B5EF4-FFF2-40B4-BE49-F238E27FC236}">
                <a16:creationId xmlns:a16="http://schemas.microsoft.com/office/drawing/2014/main" id="{65DDA9F3-B925-2959-0F71-B81B47F16A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30255387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D87EA-F9A1-FC0D-B7E2-E8B2D53E2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1E932418-B170-6E81-56A6-5DF4468F0EA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F5CF98A-F9F4-4361-B16D-A08F62E9D28B}" type="slidenum">
              <a:rPr lang="en-US" altLang="zh-CN"/>
              <a:pPr/>
              <a:t>29</a:t>
            </a:fld>
            <a:endParaRPr lang="en-US" altLang="zh-CN"/>
          </a:p>
        </p:txBody>
      </p:sp>
      <p:sp>
        <p:nvSpPr>
          <p:cNvPr id="249858" name="Rectangle 2">
            <a:extLst>
              <a:ext uri="{FF2B5EF4-FFF2-40B4-BE49-F238E27FC236}">
                <a16:creationId xmlns:a16="http://schemas.microsoft.com/office/drawing/2014/main" id="{E6D20BF8-28EE-4669-938D-AA06967E71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9859" name="Rectangle 3">
            <a:extLst>
              <a:ext uri="{FF2B5EF4-FFF2-40B4-BE49-F238E27FC236}">
                <a16:creationId xmlns:a16="http://schemas.microsoft.com/office/drawing/2014/main" id="{DF1AB5AC-C49A-3FFE-1628-C278FDFC88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32074652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80318-ABBD-DA2E-8F3B-A1174544D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9B81B7BE-36DE-52E2-D148-7F514793725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F5CF98A-F9F4-4361-B16D-A08F62E9D28B}" type="slidenum">
              <a:rPr lang="en-US" altLang="zh-CN"/>
              <a:pPr/>
              <a:t>30</a:t>
            </a:fld>
            <a:endParaRPr lang="en-US" altLang="zh-CN"/>
          </a:p>
        </p:txBody>
      </p:sp>
      <p:sp>
        <p:nvSpPr>
          <p:cNvPr id="249858" name="Rectangle 2">
            <a:extLst>
              <a:ext uri="{FF2B5EF4-FFF2-40B4-BE49-F238E27FC236}">
                <a16:creationId xmlns:a16="http://schemas.microsoft.com/office/drawing/2014/main" id="{99B3A279-28F1-04BA-B6F6-84C20FDD658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9859" name="Rectangle 3">
            <a:extLst>
              <a:ext uri="{FF2B5EF4-FFF2-40B4-BE49-F238E27FC236}">
                <a16:creationId xmlns:a16="http://schemas.microsoft.com/office/drawing/2014/main" id="{E13C1C82-E245-FF92-71D4-2A7885DD8E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15947320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A297C-EE18-105D-383E-CD956F25C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B3D93BDD-38E7-DDAC-B1F4-0933E49A110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F5CF98A-F9F4-4361-B16D-A08F62E9D28B}" type="slidenum">
              <a:rPr lang="en-US" altLang="zh-CN"/>
              <a:pPr/>
              <a:t>31</a:t>
            </a:fld>
            <a:endParaRPr lang="en-US" altLang="zh-CN"/>
          </a:p>
        </p:txBody>
      </p:sp>
      <p:sp>
        <p:nvSpPr>
          <p:cNvPr id="249858" name="Rectangle 2">
            <a:extLst>
              <a:ext uri="{FF2B5EF4-FFF2-40B4-BE49-F238E27FC236}">
                <a16:creationId xmlns:a16="http://schemas.microsoft.com/office/drawing/2014/main" id="{B8E48BD0-9752-F59E-36BF-8324A57C32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9859" name="Rectangle 3">
            <a:extLst>
              <a:ext uri="{FF2B5EF4-FFF2-40B4-BE49-F238E27FC236}">
                <a16:creationId xmlns:a16="http://schemas.microsoft.com/office/drawing/2014/main" id="{5B8C0773-4664-FC8B-385B-ABFDAF0369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55996382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98FC0-33E2-26E3-3576-75630A50C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B53D158C-6615-042F-B9DC-34F564037A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F5CF98A-F9F4-4361-B16D-A08F62E9D28B}" type="slidenum">
              <a:rPr lang="en-US" altLang="zh-CN"/>
              <a:pPr/>
              <a:t>32</a:t>
            </a:fld>
            <a:endParaRPr lang="en-US" altLang="zh-CN"/>
          </a:p>
        </p:txBody>
      </p:sp>
      <p:sp>
        <p:nvSpPr>
          <p:cNvPr id="249858" name="Rectangle 2">
            <a:extLst>
              <a:ext uri="{FF2B5EF4-FFF2-40B4-BE49-F238E27FC236}">
                <a16:creationId xmlns:a16="http://schemas.microsoft.com/office/drawing/2014/main" id="{4348EADE-1842-05F2-FE18-CA84A15391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9859" name="Rectangle 3">
            <a:extLst>
              <a:ext uri="{FF2B5EF4-FFF2-40B4-BE49-F238E27FC236}">
                <a16:creationId xmlns:a16="http://schemas.microsoft.com/office/drawing/2014/main" id="{1754FD9D-3E5B-4F1F-C2F2-923252AEEB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14214229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41126-5B22-E9AE-0585-BD9F8786D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3A9E0642-3682-9698-8E16-EB15BD2B3EB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F5CF98A-F9F4-4361-B16D-A08F62E9D28B}" type="slidenum">
              <a:rPr lang="en-US" altLang="zh-CN"/>
              <a:pPr/>
              <a:t>33</a:t>
            </a:fld>
            <a:endParaRPr lang="en-US" altLang="zh-CN"/>
          </a:p>
        </p:txBody>
      </p:sp>
      <p:sp>
        <p:nvSpPr>
          <p:cNvPr id="249858" name="Rectangle 2">
            <a:extLst>
              <a:ext uri="{FF2B5EF4-FFF2-40B4-BE49-F238E27FC236}">
                <a16:creationId xmlns:a16="http://schemas.microsoft.com/office/drawing/2014/main" id="{DF07F612-CC3F-1A70-6365-9A30DC51A52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9859" name="Rectangle 3">
            <a:extLst>
              <a:ext uri="{FF2B5EF4-FFF2-40B4-BE49-F238E27FC236}">
                <a16:creationId xmlns:a16="http://schemas.microsoft.com/office/drawing/2014/main" id="{6FF52468-2A5D-A378-7D45-B62AB25BA2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051819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2" name="Group 2"/>
          <p:cNvGrpSpPr>
            <a:grpSpLocks/>
          </p:cNvGrpSpPr>
          <p:nvPr/>
        </p:nvGrpSpPr>
        <p:grpSpPr bwMode="auto">
          <a:xfrm>
            <a:off x="377825" y="1676400"/>
            <a:ext cx="8389938" cy="4421188"/>
            <a:chOff x="238" y="1056"/>
            <a:chExt cx="5285" cy="2785"/>
          </a:xfrm>
        </p:grpSpPr>
        <p:grpSp>
          <p:nvGrpSpPr>
            <p:cNvPr id="15363" name="Group 3"/>
            <p:cNvGrpSpPr>
              <a:grpSpLocks/>
            </p:cNvGrpSpPr>
            <p:nvPr/>
          </p:nvGrpSpPr>
          <p:grpSpPr bwMode="auto">
            <a:xfrm>
              <a:off x="238" y="1056"/>
              <a:ext cx="5285" cy="1393"/>
              <a:chOff x="238" y="1056"/>
              <a:chExt cx="5285" cy="1393"/>
            </a:xfrm>
          </p:grpSpPr>
          <p:sp>
            <p:nvSpPr>
              <p:cNvPr id="15364" name="Rectangle 4"/>
              <p:cNvSpPr>
                <a:spLocks noChangeArrowheads="1"/>
              </p:cNvSpPr>
              <p:nvPr/>
            </p:nvSpPr>
            <p:spPr bwMode="auto">
              <a:xfrm>
                <a:off x="243" y="1057"/>
                <a:ext cx="5272" cy="1391"/>
              </a:xfrm>
              <a:prstGeom prst="rect">
                <a:avLst/>
              </a:prstGeom>
              <a:solidFill>
                <a:srgbClr val="EAEAEA">
                  <a:alpha val="50000"/>
                </a:srgb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</a:pPr>
                <a:endParaRPr kumimoji="1" lang="zh-CN" altLang="zh-CN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365" name="Freeform 5"/>
              <p:cNvSpPr>
                <a:spLocks/>
              </p:cNvSpPr>
              <p:nvPr/>
            </p:nvSpPr>
            <p:spPr bwMode="auto">
              <a:xfrm>
                <a:off x="238" y="1056"/>
                <a:ext cx="5273" cy="1393"/>
              </a:xfrm>
              <a:custGeom>
                <a:avLst/>
                <a:gdLst>
                  <a:gd name="T0" fmla="*/ 5272 w 5273"/>
                  <a:gd name="T1" fmla="*/ 0 h 1393"/>
                  <a:gd name="T2" fmla="*/ 0 w 5273"/>
                  <a:gd name="T3" fmla="*/ 0 h 1393"/>
                  <a:gd name="T4" fmla="*/ 0 w 5273"/>
                  <a:gd name="T5" fmla="*/ 1392 h 13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273" h="1393">
                    <a:moveTo>
                      <a:pt x="5272" y="0"/>
                    </a:moveTo>
                    <a:lnTo>
                      <a:pt x="0" y="0"/>
                    </a:lnTo>
                    <a:lnTo>
                      <a:pt x="0" y="1392"/>
                    </a:lnTo>
                  </a:path>
                </a:pathLst>
              </a:custGeom>
              <a:noFill/>
              <a:ln w="12700" cap="rnd" cmpd="sng">
                <a:solidFill>
                  <a:srgbClr val="B2B2B2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66" name="Freeform 6"/>
              <p:cNvSpPr>
                <a:spLocks/>
              </p:cNvSpPr>
              <p:nvPr/>
            </p:nvSpPr>
            <p:spPr bwMode="auto">
              <a:xfrm>
                <a:off x="250" y="1056"/>
                <a:ext cx="5273" cy="1393"/>
              </a:xfrm>
              <a:custGeom>
                <a:avLst/>
                <a:gdLst>
                  <a:gd name="T0" fmla="*/ 5272 w 5273"/>
                  <a:gd name="T1" fmla="*/ 0 h 1393"/>
                  <a:gd name="T2" fmla="*/ 5272 w 5273"/>
                  <a:gd name="T3" fmla="*/ 1392 h 1393"/>
                  <a:gd name="T4" fmla="*/ 0 w 5273"/>
                  <a:gd name="T5" fmla="*/ 1392 h 13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273" h="1393">
                    <a:moveTo>
                      <a:pt x="5272" y="0"/>
                    </a:moveTo>
                    <a:lnTo>
                      <a:pt x="5272" y="1392"/>
                    </a:lnTo>
                    <a:lnTo>
                      <a:pt x="0" y="1392"/>
                    </a:lnTo>
                  </a:path>
                </a:pathLst>
              </a:custGeom>
              <a:noFill/>
              <a:ln w="1270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5367" name="Group 7"/>
            <p:cNvGrpSpPr>
              <a:grpSpLocks/>
            </p:cNvGrpSpPr>
            <p:nvPr/>
          </p:nvGrpSpPr>
          <p:grpSpPr bwMode="auto">
            <a:xfrm>
              <a:off x="240" y="3744"/>
              <a:ext cx="5281" cy="97"/>
              <a:chOff x="240" y="3744"/>
              <a:chExt cx="5281" cy="97"/>
            </a:xfrm>
          </p:grpSpPr>
          <p:sp>
            <p:nvSpPr>
              <p:cNvPr id="15368" name="Rectangle 8"/>
              <p:cNvSpPr>
                <a:spLocks noChangeArrowheads="1"/>
              </p:cNvSpPr>
              <p:nvPr/>
            </p:nvSpPr>
            <p:spPr bwMode="auto">
              <a:xfrm>
                <a:off x="240" y="3744"/>
                <a:ext cx="5280" cy="96"/>
              </a:xfrm>
              <a:prstGeom prst="rect">
                <a:avLst/>
              </a:prstGeom>
              <a:solidFill>
                <a:srgbClr val="EAEAEA">
                  <a:alpha val="50000"/>
                </a:srgb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</a:pPr>
                <a:endParaRPr kumimoji="1" lang="zh-CN" altLang="zh-CN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369" name="Freeform 9"/>
              <p:cNvSpPr>
                <a:spLocks/>
              </p:cNvSpPr>
              <p:nvPr/>
            </p:nvSpPr>
            <p:spPr bwMode="auto">
              <a:xfrm>
                <a:off x="240" y="3744"/>
                <a:ext cx="5281" cy="97"/>
              </a:xfrm>
              <a:custGeom>
                <a:avLst/>
                <a:gdLst>
                  <a:gd name="T0" fmla="*/ 5280 w 5281"/>
                  <a:gd name="T1" fmla="*/ 0 h 97"/>
                  <a:gd name="T2" fmla="*/ 0 w 5281"/>
                  <a:gd name="T3" fmla="*/ 0 h 97"/>
                  <a:gd name="T4" fmla="*/ 0 w 5281"/>
                  <a:gd name="T5" fmla="*/ 96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281" h="97">
                    <a:moveTo>
                      <a:pt x="5280" y="0"/>
                    </a:moveTo>
                    <a:lnTo>
                      <a:pt x="0" y="0"/>
                    </a:lnTo>
                    <a:lnTo>
                      <a:pt x="0" y="96"/>
                    </a:lnTo>
                  </a:path>
                </a:pathLst>
              </a:custGeom>
              <a:noFill/>
              <a:ln w="12700" cap="rnd" cmpd="sng">
                <a:solidFill>
                  <a:srgbClr val="B2B2B2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70" name="Freeform 10"/>
              <p:cNvSpPr>
                <a:spLocks/>
              </p:cNvSpPr>
              <p:nvPr/>
            </p:nvSpPr>
            <p:spPr bwMode="auto">
              <a:xfrm>
                <a:off x="240" y="3744"/>
                <a:ext cx="5281" cy="97"/>
              </a:xfrm>
              <a:custGeom>
                <a:avLst/>
                <a:gdLst>
                  <a:gd name="T0" fmla="*/ 5280 w 5281"/>
                  <a:gd name="T1" fmla="*/ 0 h 97"/>
                  <a:gd name="T2" fmla="*/ 5280 w 5281"/>
                  <a:gd name="T3" fmla="*/ 96 h 97"/>
                  <a:gd name="T4" fmla="*/ 0 w 5281"/>
                  <a:gd name="T5" fmla="*/ 96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281" h="97">
                    <a:moveTo>
                      <a:pt x="5280" y="0"/>
                    </a:moveTo>
                    <a:lnTo>
                      <a:pt x="5280" y="96"/>
                    </a:lnTo>
                    <a:lnTo>
                      <a:pt x="0" y="96"/>
                    </a:lnTo>
                  </a:path>
                </a:pathLst>
              </a:custGeom>
              <a:noFill/>
              <a:ln w="1270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5371" name="Group 11"/>
            <p:cNvGrpSpPr>
              <a:grpSpLocks/>
            </p:cNvGrpSpPr>
            <p:nvPr/>
          </p:nvGrpSpPr>
          <p:grpSpPr bwMode="auto">
            <a:xfrm>
              <a:off x="338" y="1200"/>
              <a:ext cx="97" cy="1104"/>
              <a:chOff x="338" y="1200"/>
              <a:chExt cx="97" cy="1104"/>
            </a:xfrm>
          </p:grpSpPr>
          <p:sp useBgFill="1">
            <p:nvSpPr>
              <p:cNvPr id="15372" name="Rectangle 12"/>
              <p:cNvSpPr>
                <a:spLocks noChangeArrowheads="1"/>
              </p:cNvSpPr>
              <p:nvPr/>
            </p:nvSpPr>
            <p:spPr bwMode="auto">
              <a:xfrm>
                <a:off x="338" y="1201"/>
                <a:ext cx="96" cy="1103"/>
              </a:xfrm>
              <a:prstGeom prst="rect">
                <a:avLst/>
              </a:prstGeom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</a:pPr>
                <a:endParaRPr kumimoji="1" lang="zh-CN" altLang="zh-CN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373" name="Freeform 13"/>
              <p:cNvSpPr>
                <a:spLocks/>
              </p:cNvSpPr>
              <p:nvPr/>
            </p:nvSpPr>
            <p:spPr bwMode="auto">
              <a:xfrm>
                <a:off x="338" y="1200"/>
                <a:ext cx="97" cy="1104"/>
              </a:xfrm>
              <a:custGeom>
                <a:avLst/>
                <a:gdLst>
                  <a:gd name="T0" fmla="*/ 0 w 97"/>
                  <a:gd name="T1" fmla="*/ 1103 h 1104"/>
                  <a:gd name="T2" fmla="*/ 96 w 97"/>
                  <a:gd name="T3" fmla="*/ 1103 h 1104"/>
                  <a:gd name="T4" fmla="*/ 96 w 97"/>
                  <a:gd name="T5" fmla="*/ 0 h 1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7" h="1104">
                    <a:moveTo>
                      <a:pt x="0" y="1103"/>
                    </a:moveTo>
                    <a:lnTo>
                      <a:pt x="96" y="1103"/>
                    </a:lnTo>
                    <a:lnTo>
                      <a:pt x="96" y="0"/>
                    </a:lnTo>
                  </a:path>
                </a:pathLst>
              </a:custGeom>
              <a:noFill/>
              <a:ln w="12700" cap="rnd" cmpd="sng">
                <a:solidFill>
                  <a:srgbClr val="B2B2B2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74" name="Freeform 14"/>
              <p:cNvSpPr>
                <a:spLocks/>
              </p:cNvSpPr>
              <p:nvPr/>
            </p:nvSpPr>
            <p:spPr bwMode="auto">
              <a:xfrm>
                <a:off x="338" y="1200"/>
                <a:ext cx="97" cy="1104"/>
              </a:xfrm>
              <a:custGeom>
                <a:avLst/>
                <a:gdLst>
                  <a:gd name="T0" fmla="*/ 0 w 97"/>
                  <a:gd name="T1" fmla="*/ 1103 h 1104"/>
                  <a:gd name="T2" fmla="*/ 0 w 97"/>
                  <a:gd name="T3" fmla="*/ 0 h 1104"/>
                  <a:gd name="T4" fmla="*/ 96 w 97"/>
                  <a:gd name="T5" fmla="*/ 0 h 1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7" h="1104">
                    <a:moveTo>
                      <a:pt x="0" y="1103"/>
                    </a:moveTo>
                    <a:lnTo>
                      <a:pt x="0" y="0"/>
                    </a:lnTo>
                    <a:lnTo>
                      <a:pt x="96" y="0"/>
                    </a:lnTo>
                  </a:path>
                </a:pathLst>
              </a:custGeom>
              <a:noFill/>
              <a:ln w="1270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5375" name="Rectangle 15"/>
          <p:cNvSpPr>
            <a:spLocks noGrp="1" noChangeArrowheads="1"/>
          </p:cNvSpPr>
          <p:nvPr>
            <p:ph type="ctrTitle" sz="quarter"/>
          </p:nvPr>
        </p:nvSpPr>
        <p:spPr>
          <a:xfrm>
            <a:off x="836613" y="2133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zh-CN" noProof="0"/>
          </a:p>
        </p:txBody>
      </p:sp>
      <p:sp>
        <p:nvSpPr>
          <p:cNvPr id="15376" name="Rectangle 16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4038600"/>
            <a:ext cx="6400800" cy="1752600"/>
          </a:xfrm>
        </p:spPr>
        <p:txBody>
          <a:bodyPr anchor="ctr"/>
          <a:lstStyle>
            <a:lvl1pPr marL="0" indent="0" algn="ctr">
              <a:buFont typeface="Monotype Sort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5377" name="Rectangle 17"/>
          <p:cNvSpPr>
            <a:spLocks noGrp="1" noChangeArrowheads="1"/>
          </p:cNvSpPr>
          <p:nvPr>
            <p:ph type="dt" sz="quarter" idx="2"/>
          </p:nvPr>
        </p:nvSpPr>
        <p:spPr>
          <a:xfrm>
            <a:off x="381000" y="6324600"/>
            <a:ext cx="1905000" cy="457200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eaLnBrk="1" hangingPunct="1">
              <a:spcBef>
                <a:spcPct val="0"/>
              </a:spcBef>
              <a:defRPr sz="1400">
                <a:ea typeface="宋体" panose="02010600030101010101" pitchFamily="2" charset="-122"/>
              </a:defRPr>
            </a:lvl1pPr>
          </a:lstStyle>
          <a:p>
            <a:r>
              <a:rPr lang="zh-CN" altLang="en-US"/>
              <a:t>2004-2-19</a:t>
            </a:r>
            <a:endParaRPr lang="en-US" altLang="zh-CN"/>
          </a:p>
        </p:txBody>
      </p:sp>
      <p:sp>
        <p:nvSpPr>
          <p:cNvPr id="15378" name="Rectangle 18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324600"/>
            <a:ext cx="2895600" cy="457200"/>
          </a:xfrm>
        </p:spPr>
        <p:txBody>
          <a:bodyPr/>
          <a:lstStyle>
            <a:lvl1pPr>
              <a:defRPr sz="1400"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5379" name="Rectangle 19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858000" y="6324600"/>
            <a:ext cx="1905000" cy="457200"/>
          </a:xfrm>
          <a:prstGeom prst="rect">
            <a:avLst/>
          </a:prstGeom>
        </p:spPr>
        <p:txBody>
          <a:bodyPr wrap="none" lIns="92075" tIns="46038" rIns="92075" bIns="46038" anchor="ctr"/>
          <a:lstStyle>
            <a:lvl1pPr>
              <a:lnSpc>
                <a:spcPct val="100000"/>
              </a:lnSpc>
              <a:spcBef>
                <a:spcPct val="0"/>
              </a:spcBef>
              <a:buClrTx/>
              <a:buSzTx/>
              <a:defRPr kumimoji="1" b="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1pPr>
          </a:lstStyle>
          <a:p>
            <a:fld id="{C3BADF18-E2C6-455C-8096-DE51E879751A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电子科技大学计算机科学与工程学院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>
          <a:xfrm>
            <a:off x="5562600" y="6400800"/>
            <a:ext cx="2133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69D8E3F-0A47-46BB-BF2D-2C30F0321F01}" type="datetime2">
              <a:rPr lang="zh-CN" altLang="en-US"/>
              <a:pPr/>
              <a:t>2025年5月11日 Sunday</a:t>
            </a:fld>
            <a:r>
              <a:rPr lang="en-US" altLang="zh-CN" sz="1400"/>
              <a:t>        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8C9AD45-D3F5-4715-A8CF-820C50B5C51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14843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电子科技大学计算机科学与工程学院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>
          <a:xfrm>
            <a:off x="5562600" y="6400800"/>
            <a:ext cx="2133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69D8E3F-0A47-46BB-BF2D-2C30F0321F01}" type="datetime2">
              <a:rPr lang="zh-CN" altLang="en-US"/>
              <a:pPr/>
              <a:t>2025年5月11日 Sunday</a:t>
            </a:fld>
            <a:r>
              <a:rPr lang="en-US" altLang="zh-CN" sz="1400"/>
              <a:t>        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FC60C35-C62C-4458-8BA6-93B7C62522B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7647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90600" y="2286000"/>
            <a:ext cx="3810000" cy="3657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3000" y="2286000"/>
            <a:ext cx="3810000" cy="3657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电子科技大学计算机科学与工程学院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>
          <a:xfrm>
            <a:off x="5562600" y="6400800"/>
            <a:ext cx="2133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69D8E3F-0A47-46BB-BF2D-2C30F0321F01}" type="datetime2">
              <a:rPr lang="zh-CN" altLang="en-US"/>
              <a:pPr/>
              <a:t>2025年5月11日 Sunday</a:t>
            </a:fld>
            <a:r>
              <a:rPr lang="en-US" altLang="zh-CN" sz="1400"/>
              <a:t>        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368282EF-5132-4D0A-8D9A-BB2386A610E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75583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电子科技大学计算机科学与工程学院</a:t>
            </a:r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1"/>
          </p:nvPr>
        </p:nvSpPr>
        <p:spPr>
          <a:xfrm>
            <a:off x="5562600" y="6400800"/>
            <a:ext cx="2133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69D8E3F-0A47-46BB-BF2D-2C30F0321F01}" type="datetime2">
              <a:rPr lang="zh-CN" altLang="en-US"/>
              <a:pPr/>
              <a:t>2025年5月11日 Sunday</a:t>
            </a:fld>
            <a:r>
              <a:rPr lang="en-US" altLang="zh-CN" sz="1400"/>
              <a:t>        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DEAAE45-297F-408B-8EE5-B7A7D43ECCE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78883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电子科技大学计算机科学与工程学院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1"/>
          </p:nvPr>
        </p:nvSpPr>
        <p:spPr>
          <a:xfrm>
            <a:off x="5562600" y="6400800"/>
            <a:ext cx="2133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69D8E3F-0A47-46BB-BF2D-2C30F0321F01}" type="datetime2">
              <a:rPr lang="zh-CN" altLang="en-US"/>
              <a:pPr/>
              <a:t>2025年5月11日 Sunday</a:t>
            </a:fld>
            <a:r>
              <a:rPr lang="en-US" altLang="zh-CN" sz="1400"/>
              <a:t>        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6CB0EA1-1AD4-4B48-8E11-142E6728288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10839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电子科技大学计算机科学与工程学院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1"/>
          </p:nvPr>
        </p:nvSpPr>
        <p:spPr>
          <a:xfrm>
            <a:off x="5562600" y="6400800"/>
            <a:ext cx="2133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69D8E3F-0A47-46BB-BF2D-2C30F0321F01}" type="datetime2">
              <a:rPr lang="zh-CN" altLang="en-US"/>
              <a:pPr/>
              <a:t>2025年5月11日 Sunday</a:t>
            </a:fld>
            <a:r>
              <a:rPr lang="en-US" altLang="zh-CN" sz="1400"/>
              <a:t>       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965C6D3F-D63D-4C26-9771-3884C9BF6DD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84255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电子科技大学计算机科学与工程学院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>
          <a:xfrm>
            <a:off x="5562600" y="6400800"/>
            <a:ext cx="2133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69D8E3F-0A47-46BB-BF2D-2C30F0321F01}" type="datetime2">
              <a:rPr lang="zh-CN" altLang="en-US"/>
              <a:pPr/>
              <a:t>2025年5月11日 Sunday</a:t>
            </a:fld>
            <a:r>
              <a:rPr lang="en-US" altLang="zh-CN" sz="1400"/>
              <a:t>        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0E56ADC9-302A-4080-A869-DA2B9AFF62A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75689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电子科技大学计算机科学与工程学院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>
          <a:xfrm>
            <a:off x="5562600" y="6400800"/>
            <a:ext cx="2133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69D8E3F-0A47-46BB-BF2D-2C30F0321F01}" type="datetime2">
              <a:rPr lang="zh-CN" altLang="en-US"/>
              <a:pPr/>
              <a:t>2025年5月11日 Sunday</a:t>
            </a:fld>
            <a:r>
              <a:rPr lang="en-US" altLang="zh-CN" sz="1400"/>
              <a:t>        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39AFCF2A-404A-44E9-A7CE-3AD7C1839B1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87304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电子科技大学计算机科学与工程学院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>
          <a:xfrm>
            <a:off x="5562600" y="6400800"/>
            <a:ext cx="2133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69D8E3F-0A47-46BB-BF2D-2C30F0321F01}" type="datetime2">
              <a:rPr lang="zh-CN" altLang="en-US"/>
              <a:pPr/>
              <a:t>2025年5月11日 Sunday</a:t>
            </a:fld>
            <a:r>
              <a:rPr lang="en-US" altLang="zh-CN" sz="1400"/>
              <a:t>        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B850388A-CD61-434F-8B25-390980A63BD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18441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1800" y="762000"/>
            <a:ext cx="1981200" cy="51816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5791200" cy="51816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电子科技大学计算机科学与工程学院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>
          <a:xfrm>
            <a:off x="5562600" y="6400800"/>
            <a:ext cx="2133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69D8E3F-0A47-46BB-BF2D-2C30F0321F01}" type="datetime2">
              <a:rPr lang="zh-CN" altLang="en-US"/>
              <a:pPr/>
              <a:t>2025年5月11日 Sunday</a:t>
            </a:fld>
            <a:r>
              <a:rPr lang="en-US" altLang="zh-CN" sz="1400"/>
              <a:t>        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2B442C67-BCCD-4B09-818E-E9B291946C8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240193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762000"/>
            <a:ext cx="7772400" cy="7239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990600" y="2286000"/>
            <a:ext cx="3810000" cy="3657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联机映像占位符 3"/>
          <p:cNvSpPr>
            <a:spLocks noGrp="1"/>
          </p:cNvSpPr>
          <p:nvPr>
            <p:ph type="clipArt" sz="half" idx="2"/>
          </p:nvPr>
        </p:nvSpPr>
        <p:spPr>
          <a:xfrm>
            <a:off x="4953000" y="2286000"/>
            <a:ext cx="3810000" cy="3657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>
          <a:xfrm>
            <a:off x="0" y="6400800"/>
            <a:ext cx="54102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电子科技大学计算机科学与工程学院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>
          <a:xfrm>
            <a:off x="5562600" y="6400800"/>
            <a:ext cx="2133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69D8E3F-0A47-46BB-BF2D-2C30F0321F01}" type="datetime2">
              <a:rPr lang="zh-CN" altLang="en-US"/>
              <a:pPr/>
              <a:t>2025年5月11日 Sunday</a:t>
            </a:fld>
            <a:r>
              <a:rPr lang="en-US" altLang="zh-CN" sz="1400"/>
              <a:t>        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0BEC5BBD-DF43-43B9-ADA9-2C11F3F02EF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8187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1" name="Rectangle 15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762000"/>
            <a:ext cx="7772400" cy="723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4352" name="Rectangle 16"/>
          <p:cNvSpPr>
            <a:spLocks noGrp="1" noChangeArrowheads="1"/>
          </p:cNvSpPr>
          <p:nvPr>
            <p:ph type="body" idx="1"/>
          </p:nvPr>
        </p:nvSpPr>
        <p:spPr bwMode="auto">
          <a:xfrm>
            <a:off x="990600" y="2286000"/>
            <a:ext cx="7772400" cy="365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4354" name="Rectangle 1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00800"/>
            <a:ext cx="541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lnSpc>
                <a:spcPct val="100000"/>
              </a:lnSpc>
              <a:spcBef>
                <a:spcPct val="0"/>
              </a:spcBef>
              <a:buClrTx/>
              <a:buSzTx/>
              <a:defRPr kumimoji="1" sz="2000">
                <a:solidFill>
                  <a:schemeClr val="tx1"/>
                </a:solidFill>
                <a:latin typeface="+mn-lt"/>
                <a:ea typeface="华文新魏" panose="02010800040101010101" pitchFamily="2" charset="-122"/>
              </a:defRPr>
            </a:lvl1pPr>
          </a:lstStyle>
          <a:p>
            <a:r>
              <a:rPr lang="zh-CN" altLang="en-US"/>
              <a:t>电子科技大学计算机科学与工程学院</a:t>
            </a:r>
          </a:p>
        </p:txBody>
      </p:sp>
      <p:sp>
        <p:nvSpPr>
          <p:cNvPr id="14357" name="Line 21"/>
          <p:cNvSpPr>
            <a:spLocks noChangeShapeType="1"/>
          </p:cNvSpPr>
          <p:nvPr userDrawn="1"/>
        </p:nvSpPr>
        <p:spPr bwMode="auto">
          <a:xfrm>
            <a:off x="1588" y="568325"/>
            <a:ext cx="9142412" cy="0"/>
          </a:xfrm>
          <a:prstGeom prst="line">
            <a:avLst/>
          </a:prstGeom>
          <a:noFill/>
          <a:ln w="38100" cmpd="dbl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58" name="Line 22"/>
          <p:cNvSpPr>
            <a:spLocks noChangeShapeType="1"/>
          </p:cNvSpPr>
          <p:nvPr userDrawn="1"/>
        </p:nvSpPr>
        <p:spPr bwMode="auto">
          <a:xfrm>
            <a:off x="0" y="6281738"/>
            <a:ext cx="914400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67" name="Rectangle 31"/>
          <p:cNvSpPr>
            <a:spLocks noChangeArrowheads="1"/>
          </p:cNvSpPr>
          <p:nvPr userDrawn="1"/>
        </p:nvSpPr>
        <p:spPr bwMode="auto">
          <a:xfrm>
            <a:off x="0" y="0"/>
            <a:ext cx="34290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CCFF">
                        <a:gamma/>
                        <a:shade val="46275"/>
                        <a:invGamma/>
                      </a:srgbClr>
                    </a:gs>
                    <a:gs pos="100000">
                      <a:srgbClr val="FFCCFF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/>
            <a:r>
              <a:rPr kumimoji="1" lang="en-US" altLang="zh-CN" sz="2800" b="0" noProof="1">
                <a:solidFill>
                  <a:srgbClr val="FF9933"/>
                </a:solidFill>
                <a:latin typeface="华文彩云" panose="02010800040101010101" pitchFamily="2" charset="-122"/>
                <a:ea typeface="华文彩云" panose="02010800040101010101" pitchFamily="2" charset="-122"/>
              </a:rPr>
              <a:t>《</a:t>
            </a:r>
            <a:r>
              <a:rPr kumimoji="1" lang="zh-CN" altLang="en-US" sz="2800" b="0" noProof="1">
                <a:solidFill>
                  <a:srgbClr val="FF9933"/>
                </a:solidFill>
                <a:latin typeface="华文彩云" panose="02010800040101010101" pitchFamily="2" charset="-122"/>
                <a:ea typeface="华文彩云" panose="02010800040101010101" pitchFamily="2" charset="-122"/>
              </a:rPr>
              <a:t>编译原理</a:t>
            </a:r>
            <a:r>
              <a:rPr kumimoji="1" lang="en-US" altLang="zh-CN" sz="2800" b="0" noProof="1">
                <a:solidFill>
                  <a:srgbClr val="FF9933"/>
                </a:solidFill>
                <a:latin typeface="华文彩云" panose="02010800040101010101" pitchFamily="2" charset="-122"/>
                <a:ea typeface="华文彩云" panose="02010800040101010101" pitchFamily="2" charset="-122"/>
              </a:rPr>
              <a:t>》</a:t>
            </a:r>
            <a:endParaRPr lang="zh-CN" altLang="en-US" sz="2800" b="1" dirty="0">
              <a:latin typeface="华文彩云" panose="02010800040101010101" pitchFamily="2" charset="-122"/>
              <a:ea typeface="华文彩云" panose="02010800040101010101" pitchFamily="2" charset="-122"/>
            </a:endParaRPr>
          </a:p>
        </p:txBody>
      </p:sp>
      <p:pic>
        <p:nvPicPr>
          <p:cNvPr id="14369" name="Picture 33" descr="tag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5691188"/>
            <a:ext cx="1285875" cy="1166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</p:sldLayoutIdLst>
  <p:hf sldNum="0" hdr="0"/>
  <p:txStyles>
    <p:titleStyle>
      <a:lvl1pPr algn="ctr" rtl="0" fontAlgn="base">
        <a:spcBef>
          <a:spcPct val="0"/>
        </a:spcBef>
        <a:spcAft>
          <a:spcPct val="0"/>
        </a:spcAft>
        <a:defRPr sz="3200" b="1" kern="1200">
          <a:solidFill>
            <a:srgbClr val="00CC99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200" b="1">
          <a:solidFill>
            <a:srgbClr val="00CC99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itchFamily="49" charset="-122"/>
        </a:defRPr>
      </a:lvl2pPr>
      <a:lvl3pPr algn="ctr" rtl="0" fontAlgn="base">
        <a:spcBef>
          <a:spcPct val="0"/>
        </a:spcBef>
        <a:spcAft>
          <a:spcPct val="0"/>
        </a:spcAft>
        <a:defRPr sz="3200" b="1">
          <a:solidFill>
            <a:srgbClr val="00CC99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itchFamily="49" charset="-122"/>
        </a:defRPr>
      </a:lvl3pPr>
      <a:lvl4pPr algn="ctr" rtl="0" fontAlgn="base">
        <a:spcBef>
          <a:spcPct val="0"/>
        </a:spcBef>
        <a:spcAft>
          <a:spcPct val="0"/>
        </a:spcAft>
        <a:defRPr sz="3200" b="1">
          <a:solidFill>
            <a:srgbClr val="00CC99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itchFamily="49" charset="-122"/>
        </a:defRPr>
      </a:lvl4pPr>
      <a:lvl5pPr algn="ctr" rtl="0" fontAlgn="base">
        <a:spcBef>
          <a:spcPct val="0"/>
        </a:spcBef>
        <a:spcAft>
          <a:spcPct val="0"/>
        </a:spcAft>
        <a:defRPr sz="3200" b="1">
          <a:solidFill>
            <a:srgbClr val="00CC99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CC99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CC99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CC99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CC99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itchFamily="49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Monotype Sorts" pitchFamily="2" charset="2"/>
        <a:buChar char="u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65000"/>
        <a:buFont typeface="Monotype Sorts" pitchFamily="2" charset="2"/>
        <a:buChar char="u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emf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电子科技大学计算机科学与工程学院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899592" y="2465462"/>
            <a:ext cx="7772400" cy="1927076"/>
          </a:xfrm>
          <a:prstGeom prst="rect">
            <a:avLst/>
          </a:prstGeom>
        </p:spPr>
        <p:txBody>
          <a:bodyPr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rgbClr val="00CC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CC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CC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CC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CC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CC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CC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CC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CC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>
              <a:lnSpc>
                <a:spcPct val="100000"/>
              </a:lnSpc>
              <a:buClrTx/>
              <a:buSzTx/>
            </a:pPr>
            <a:r>
              <a:rPr lang="zh-CN" altLang="en-US" sz="4000" dirty="0"/>
              <a:t>习题解答</a:t>
            </a:r>
          </a:p>
        </p:txBody>
      </p:sp>
      <p:sp>
        <p:nvSpPr>
          <p:cNvPr id="8" name="日期占位符 4"/>
          <p:cNvSpPr>
            <a:spLocks noGrp="1"/>
          </p:cNvSpPr>
          <p:nvPr>
            <p:ph type="dt" sz="half" idx="4294967295"/>
          </p:nvPr>
        </p:nvSpPr>
        <p:spPr>
          <a:xfrm>
            <a:off x="5562600" y="6400800"/>
            <a:ext cx="2133600" cy="457200"/>
          </a:xfrm>
          <a:prstGeom prst="rect">
            <a:avLst/>
          </a:prstGeom>
        </p:spPr>
        <p:txBody>
          <a:bodyPr anchor="ctr" anchorCtr="0"/>
          <a:lstStyle/>
          <a:p>
            <a:pPr algn="ctr"/>
            <a:fld id="{A67117CC-8484-48A3-8F01-6349DF3DA507}" type="datetime10">
              <a:rPr lang="zh-CN" altLang="en-US" sz="1400" smtClean="0"/>
              <a:pPr algn="ctr"/>
              <a:t>12:04</a:t>
            </a:fld>
            <a:endParaRPr lang="en-US" altLang="zh-CN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电子科技大学计算机科学与工程学院</a:t>
            </a:r>
          </a:p>
        </p:txBody>
      </p:sp>
      <p:sp>
        <p:nvSpPr>
          <p:cNvPr id="204804" name="AutoShape 4"/>
          <p:cNvSpPr>
            <a:spLocks noChangeArrowheads="1"/>
          </p:cNvSpPr>
          <p:nvPr/>
        </p:nvSpPr>
        <p:spPr bwMode="auto">
          <a:xfrm>
            <a:off x="636588" y="762000"/>
            <a:ext cx="4295775" cy="625703"/>
          </a:xfrm>
          <a:prstGeom prst="roundRect">
            <a:avLst>
              <a:gd name="adj" fmla="val 16667"/>
            </a:avLst>
          </a:prstGeom>
          <a:solidFill>
            <a:srgbClr val="99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kumimoji="1" lang="zh-CN" altLang="en-US" sz="2800" b="1" dirty="0">
                <a:solidFill>
                  <a:srgbClr val="3366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49" charset="-122"/>
                <a:ea typeface="仿宋_GB2312" pitchFamily="49" charset="-122"/>
              </a:rPr>
              <a:t>选择题</a:t>
            </a:r>
          </a:p>
        </p:txBody>
      </p:sp>
      <p:sp>
        <p:nvSpPr>
          <p:cNvPr id="204805" name="AutoShape 5"/>
          <p:cNvSpPr>
            <a:spLocks noChangeArrowheads="1"/>
          </p:cNvSpPr>
          <p:nvPr/>
        </p:nvSpPr>
        <p:spPr bwMode="auto">
          <a:xfrm>
            <a:off x="512981" y="1660619"/>
            <a:ext cx="8215168" cy="919401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0350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6827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23304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9781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34353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8925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43497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8069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" altLang="zh-CN" dirty="0">
                <a:latin typeface="仿宋_GB2312" pitchFamily="49" charset="-122"/>
                <a:ea typeface="仿宋_GB2312" pitchFamily="49" charset="-122"/>
              </a:rPr>
              <a:t>1</a:t>
            </a:r>
            <a:r>
              <a:rPr kumimoji="0" lang="zh-CN" altLang="en" dirty="0">
                <a:latin typeface="仿宋_GB2312" pitchFamily="49" charset="-122"/>
                <a:ea typeface="仿宋_GB2312" pitchFamily="49" charset="-122"/>
              </a:rPr>
              <a:t>、</a:t>
            </a:r>
            <a:r>
              <a:rPr kumimoji="0" lang="en" altLang="zh-CN" dirty="0">
                <a:latin typeface="仿宋_GB2312" pitchFamily="49" charset="-122"/>
                <a:ea typeface="仿宋_GB2312" pitchFamily="49" charset="-122"/>
              </a:rPr>
              <a:t>LR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分析法是按 （ </a:t>
            </a:r>
            <a:r>
              <a:rPr kumimoji="0" lang="en" altLang="zh-CN" dirty="0">
                <a:solidFill>
                  <a:srgbClr val="FF0000"/>
                </a:solidFill>
                <a:latin typeface="仿宋_GB2312" pitchFamily="49" charset="-122"/>
                <a:ea typeface="仿宋_GB2312" pitchFamily="49" charset="-122"/>
              </a:rPr>
              <a:t>B</a:t>
            </a:r>
            <a:r>
              <a:rPr kumimoji="0" lang="en" altLang="zh-CN" dirty="0">
                <a:latin typeface="仿宋_GB2312" pitchFamily="49" charset="-122"/>
                <a:ea typeface="仿宋_GB2312" pitchFamily="49" charset="-122"/>
              </a:rPr>
              <a:t> 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）</a:t>
            </a:r>
            <a:r>
              <a:rPr kumimoji="0" lang="en" altLang="zh-CN" dirty="0">
                <a:latin typeface="仿宋_GB2312" pitchFamily="49" charset="-122"/>
                <a:ea typeface="仿宋_GB2312" pitchFamily="49" charset="-122"/>
              </a:rPr>
              <a:t> 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进行规约。</a:t>
            </a: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" altLang="zh-CN" dirty="0">
                <a:latin typeface="仿宋_GB2312" pitchFamily="49" charset="-122"/>
                <a:ea typeface="仿宋_GB2312" pitchFamily="49" charset="-122"/>
              </a:rPr>
              <a:t>A.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句型       </a:t>
            </a:r>
            <a:r>
              <a:rPr kumimoji="0" lang="en" altLang="zh-CN" dirty="0">
                <a:latin typeface="仿宋_GB2312" pitchFamily="49" charset="-122"/>
                <a:ea typeface="仿宋_GB2312" pitchFamily="49" charset="-122"/>
              </a:rPr>
              <a:t>B.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句柄      </a:t>
            </a:r>
            <a:r>
              <a:rPr kumimoji="0" lang="en" altLang="zh-CN" dirty="0">
                <a:latin typeface="仿宋_GB2312" pitchFamily="49" charset="-122"/>
                <a:ea typeface="仿宋_GB2312" pitchFamily="49" charset="-122"/>
              </a:rPr>
              <a:t>C.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短语       </a:t>
            </a:r>
            <a:r>
              <a:rPr kumimoji="0" lang="en" altLang="zh-CN" dirty="0">
                <a:latin typeface="仿宋_GB2312" pitchFamily="49" charset="-122"/>
                <a:ea typeface="仿宋_GB2312" pitchFamily="49" charset="-122"/>
              </a:rPr>
              <a:t>D.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最左素短语</a:t>
            </a:r>
          </a:p>
        </p:txBody>
      </p:sp>
      <p:sp>
        <p:nvSpPr>
          <p:cNvPr id="2" name="AutoShape 5">
            <a:extLst>
              <a:ext uri="{FF2B5EF4-FFF2-40B4-BE49-F238E27FC236}">
                <a16:creationId xmlns:a16="http://schemas.microsoft.com/office/drawing/2014/main" id="{B24BFC0B-87D2-C42F-E8FA-9AA98283E5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981" y="2852936"/>
            <a:ext cx="8215168" cy="2717340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0350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6827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23304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9781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34353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8925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43497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8069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2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、编译程序前三个阶段完成的工作是（ </a:t>
            </a:r>
            <a:r>
              <a:rPr kumimoji="0" lang="en" altLang="zh-CN" dirty="0">
                <a:solidFill>
                  <a:srgbClr val="FF0000"/>
                </a:solidFill>
                <a:latin typeface="仿宋_GB2312" pitchFamily="49" charset="-122"/>
                <a:ea typeface="仿宋_GB2312" pitchFamily="49" charset="-122"/>
              </a:rPr>
              <a:t>C 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）</a:t>
            </a:r>
            <a:r>
              <a:rPr kumimoji="0" lang="zh-CN" altLang="en" dirty="0">
                <a:latin typeface="仿宋_GB2312" pitchFamily="49" charset="-122"/>
                <a:ea typeface="仿宋_GB2312" pitchFamily="49" charset="-122"/>
              </a:rPr>
              <a:t>。</a:t>
            </a: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" altLang="zh-CN" dirty="0">
                <a:latin typeface="仿宋_GB2312" pitchFamily="49" charset="-122"/>
                <a:ea typeface="仿宋_GB2312" pitchFamily="49" charset="-122"/>
              </a:rPr>
              <a:t>A</a:t>
            </a:r>
            <a:r>
              <a:rPr kumimoji="0" lang="zh-CN" altLang="en" dirty="0">
                <a:latin typeface="仿宋_GB2312" pitchFamily="49" charset="-122"/>
                <a:ea typeface="仿宋_GB2312" pitchFamily="49" charset="-122"/>
              </a:rPr>
              <a:t>．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词法分析、语法分析和代码优化 </a:t>
            </a: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" altLang="zh-CN" dirty="0">
                <a:latin typeface="仿宋_GB2312" pitchFamily="49" charset="-122"/>
                <a:ea typeface="仿宋_GB2312" pitchFamily="49" charset="-122"/>
              </a:rPr>
              <a:t>B</a:t>
            </a:r>
            <a:r>
              <a:rPr kumimoji="0" lang="zh-CN" altLang="en" dirty="0">
                <a:latin typeface="仿宋_GB2312" pitchFamily="49" charset="-122"/>
                <a:ea typeface="仿宋_GB2312" pitchFamily="49" charset="-122"/>
              </a:rPr>
              <a:t>．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代码生成、代码优化和词法分析</a:t>
            </a: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" altLang="zh-CN" dirty="0">
                <a:latin typeface="仿宋_GB2312" pitchFamily="49" charset="-122"/>
                <a:ea typeface="仿宋_GB2312" pitchFamily="49" charset="-122"/>
              </a:rPr>
              <a:t>C</a:t>
            </a:r>
            <a:r>
              <a:rPr kumimoji="0" lang="zh-CN" altLang="en" dirty="0">
                <a:latin typeface="仿宋_GB2312" pitchFamily="49" charset="-122"/>
                <a:ea typeface="仿宋_GB2312" pitchFamily="49" charset="-122"/>
              </a:rPr>
              <a:t>．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词法分析、语法分析、语义分析和中间代码生成 </a:t>
            </a: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" altLang="zh-CN" dirty="0">
                <a:latin typeface="仿宋_GB2312" pitchFamily="49" charset="-122"/>
                <a:ea typeface="仿宋_GB2312" pitchFamily="49" charset="-122"/>
              </a:rPr>
              <a:t>D</a:t>
            </a:r>
            <a:r>
              <a:rPr kumimoji="0" lang="zh-CN" altLang="en" dirty="0">
                <a:latin typeface="仿宋_GB2312" pitchFamily="49" charset="-122"/>
                <a:ea typeface="仿宋_GB2312" pitchFamily="49" charset="-122"/>
              </a:rPr>
              <a:t>．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词法分析、语法分析和代码优化</a:t>
            </a: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endParaRPr kumimoji="0" lang="zh-CN" altLang="en-US" dirty="0">
              <a:latin typeface="仿宋_GB2312" pitchFamily="49" charset="-122"/>
              <a:ea typeface="仿宋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4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05" grpId="0" animBg="1" autoUpdateAnimBg="0"/>
      <p:bldP spid="2" grpId="0" animBg="1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20AA5-2551-E84E-DC38-142D7D085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1">
            <a:extLst>
              <a:ext uri="{FF2B5EF4-FFF2-40B4-BE49-F238E27FC236}">
                <a16:creationId xmlns:a16="http://schemas.microsoft.com/office/drawing/2014/main" id="{E9721394-1A0B-88AC-4D5E-20954666449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电子科技大学计算机科学与工程学院</a:t>
            </a:r>
          </a:p>
        </p:txBody>
      </p:sp>
      <p:sp>
        <p:nvSpPr>
          <p:cNvPr id="204805" name="AutoShape 5">
            <a:extLst>
              <a:ext uri="{FF2B5EF4-FFF2-40B4-BE49-F238E27FC236}">
                <a16:creationId xmlns:a16="http://schemas.microsoft.com/office/drawing/2014/main" id="{882967F4-1152-EBE5-5819-6CA504AF28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866" y="1027781"/>
            <a:ext cx="8198597" cy="919401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0350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6827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23304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9781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34353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8925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43497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8069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3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、代码优化时所依据的是（ </a:t>
            </a:r>
            <a:r>
              <a:rPr kumimoji="0" lang="en" altLang="zh-CN" dirty="0">
                <a:solidFill>
                  <a:srgbClr val="FF0000"/>
                </a:solidFill>
                <a:latin typeface="仿宋_GB2312" pitchFamily="49" charset="-122"/>
                <a:ea typeface="仿宋_GB2312" pitchFamily="49" charset="-122"/>
              </a:rPr>
              <a:t>C</a:t>
            </a:r>
            <a:r>
              <a:rPr kumimoji="0" lang="en" altLang="zh-CN" dirty="0">
                <a:latin typeface="仿宋_GB2312" pitchFamily="49" charset="-122"/>
                <a:ea typeface="仿宋_GB2312" pitchFamily="49" charset="-122"/>
              </a:rPr>
              <a:t> 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）</a:t>
            </a:r>
            <a:r>
              <a:rPr kumimoji="0" lang="zh-CN" altLang="en" dirty="0">
                <a:latin typeface="仿宋_GB2312" pitchFamily="49" charset="-122"/>
                <a:ea typeface="仿宋_GB2312" pitchFamily="49" charset="-122"/>
              </a:rPr>
              <a:t>。</a:t>
            </a: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" altLang="zh-CN" dirty="0">
                <a:latin typeface="仿宋_GB2312" pitchFamily="49" charset="-122"/>
                <a:ea typeface="仿宋_GB2312" pitchFamily="49" charset="-122"/>
              </a:rPr>
              <a:t>A.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语法规则   </a:t>
            </a:r>
            <a:r>
              <a:rPr kumimoji="0" lang="en" altLang="zh-CN" dirty="0">
                <a:latin typeface="仿宋_GB2312" pitchFamily="49" charset="-122"/>
                <a:ea typeface="仿宋_GB2312" pitchFamily="49" charset="-122"/>
              </a:rPr>
              <a:t>B.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词法规则    </a:t>
            </a:r>
            <a:r>
              <a:rPr kumimoji="0" lang="en" altLang="zh-CN" dirty="0">
                <a:latin typeface="仿宋_GB2312" pitchFamily="49" charset="-122"/>
                <a:ea typeface="仿宋_GB2312" pitchFamily="49" charset="-122"/>
              </a:rPr>
              <a:t>C.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等价变换规则    </a:t>
            </a:r>
            <a:r>
              <a:rPr kumimoji="0" lang="en" altLang="zh-CN" dirty="0">
                <a:latin typeface="仿宋_GB2312" pitchFamily="49" charset="-122"/>
                <a:ea typeface="仿宋_GB2312" pitchFamily="49" charset="-122"/>
              </a:rPr>
              <a:t>D.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语义规则</a:t>
            </a:r>
          </a:p>
        </p:txBody>
      </p:sp>
      <p:sp>
        <p:nvSpPr>
          <p:cNvPr id="2" name="AutoShape 5">
            <a:extLst>
              <a:ext uri="{FF2B5EF4-FFF2-40B4-BE49-F238E27FC236}">
                <a16:creationId xmlns:a16="http://schemas.microsoft.com/office/drawing/2014/main" id="{8BAB687F-DF58-F0EF-7CDD-4550F98F29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866" y="2204864"/>
            <a:ext cx="8198597" cy="919401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0350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6827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23304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9781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34353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8925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43497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8069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4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、算符优先分析法是按（ </a:t>
            </a:r>
            <a:r>
              <a:rPr kumimoji="0" lang="en-US" altLang="zh-CN" dirty="0">
                <a:solidFill>
                  <a:srgbClr val="FF0000"/>
                </a:solidFill>
                <a:latin typeface="仿宋_GB2312" pitchFamily="49" charset="-122"/>
                <a:ea typeface="仿宋_GB2312" pitchFamily="49" charset="-122"/>
              </a:rPr>
              <a:t>D</a:t>
            </a: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 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）进行规约</a:t>
            </a: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A.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句型       </a:t>
            </a: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B.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句柄      </a:t>
            </a: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C.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短语       </a:t>
            </a: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D.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最左素短语</a:t>
            </a:r>
          </a:p>
        </p:txBody>
      </p:sp>
      <p:sp>
        <p:nvSpPr>
          <p:cNvPr id="3" name="AutoShape 5">
            <a:extLst>
              <a:ext uri="{FF2B5EF4-FFF2-40B4-BE49-F238E27FC236}">
                <a16:creationId xmlns:a16="http://schemas.microsoft.com/office/drawing/2014/main" id="{845FA835-5AE4-6587-BB0C-A174D88BCB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865" y="3381947"/>
            <a:ext cx="8198597" cy="919401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0350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6827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23304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9781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34353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8925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43497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8069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5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、存储分配模式包括静态分配、栈式分配和（ </a:t>
            </a:r>
            <a:r>
              <a:rPr kumimoji="0" lang="en-US" altLang="zh-CN" dirty="0">
                <a:solidFill>
                  <a:srgbClr val="FF0000"/>
                </a:solidFill>
                <a:latin typeface="仿宋_GB2312" pitchFamily="49" charset="-122"/>
                <a:ea typeface="仿宋_GB2312" pitchFamily="49" charset="-122"/>
              </a:rPr>
              <a:t>C</a:t>
            </a: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 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）。</a:t>
            </a: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A.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动态分配      </a:t>
            </a: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B.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全局分配      </a:t>
            </a: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C.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堆分配      </a:t>
            </a: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D.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静态分配</a:t>
            </a:r>
          </a:p>
        </p:txBody>
      </p:sp>
      <p:sp>
        <p:nvSpPr>
          <p:cNvPr id="4" name="AutoShape 5">
            <a:extLst>
              <a:ext uri="{FF2B5EF4-FFF2-40B4-BE49-F238E27FC236}">
                <a16:creationId xmlns:a16="http://schemas.microsoft.com/office/drawing/2014/main" id="{782C20D0-1939-0524-C840-B62D5CAF24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907" y="4559030"/>
            <a:ext cx="8198597" cy="1368885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0350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6827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23304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9781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34353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8925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43497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8069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6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、以下哪些不是词法分析器识别的单词符号种类（ </a:t>
            </a:r>
            <a:r>
              <a:rPr kumimoji="0" lang="en-US" altLang="zh-CN" dirty="0">
                <a:solidFill>
                  <a:srgbClr val="FF0000"/>
                </a:solidFill>
                <a:latin typeface="仿宋_GB2312" pitchFamily="49" charset="-122"/>
                <a:ea typeface="仿宋_GB2312" pitchFamily="49" charset="-122"/>
              </a:rPr>
              <a:t>B</a:t>
            </a: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 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）。</a:t>
            </a: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  </a:t>
            </a: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A.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基本字和标识符              </a:t>
            </a: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B.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句柄和最左素短语</a:t>
            </a: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C.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常数、运算符                </a:t>
            </a: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D.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单界符和双界符</a:t>
            </a:r>
          </a:p>
        </p:txBody>
      </p:sp>
    </p:spTree>
    <p:extLst>
      <p:ext uri="{BB962C8B-B14F-4D97-AF65-F5344CB8AC3E}">
        <p14:creationId xmlns:p14="http://schemas.microsoft.com/office/powerpoint/2010/main" val="3743279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4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05" grpId="0" animBg="1" autoUpdateAnimBg="0"/>
      <p:bldP spid="2" grpId="0" animBg="1" autoUpdateAnimBg="0"/>
      <p:bldP spid="3" grpId="0" animBg="1" autoUpdateAnimBg="0"/>
      <p:bldP spid="4" grpId="0" animBg="1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7EFE3-664D-1B51-5694-394A821D0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1">
            <a:extLst>
              <a:ext uri="{FF2B5EF4-FFF2-40B4-BE49-F238E27FC236}">
                <a16:creationId xmlns:a16="http://schemas.microsoft.com/office/drawing/2014/main" id="{2D744541-5495-FF81-A9AB-4E16FB080D9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电子科技大学计算机科学与工程学院</a:t>
            </a:r>
          </a:p>
        </p:txBody>
      </p:sp>
      <p:sp>
        <p:nvSpPr>
          <p:cNvPr id="204805" name="AutoShape 5">
            <a:extLst>
              <a:ext uri="{FF2B5EF4-FFF2-40B4-BE49-F238E27FC236}">
                <a16:creationId xmlns:a16="http://schemas.microsoft.com/office/drawing/2014/main" id="{044AD29F-8D14-1017-B953-864C0C1D23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499" y="720763"/>
            <a:ext cx="8198597" cy="1368885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0350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6827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23304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9781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34353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8925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43497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8069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7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、下列 </a:t>
            </a: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(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 </a:t>
            </a:r>
            <a:r>
              <a:rPr kumimoji="0" lang="en-US" altLang="zh-CN" dirty="0">
                <a:solidFill>
                  <a:srgbClr val="FF0000"/>
                </a:solidFill>
                <a:latin typeface="仿宋_GB2312" pitchFamily="49" charset="-122"/>
                <a:ea typeface="仿宋_GB2312" pitchFamily="49" charset="-122"/>
              </a:rPr>
              <a:t>C</a:t>
            </a: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 )  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优化方法不是针对循环优化进行的。</a:t>
            </a: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A. 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强度削弱        </a:t>
            </a: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B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．删除归纳变量     </a:t>
            </a: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C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．删除多余运算     </a:t>
            </a: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D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．代码外提</a:t>
            </a:r>
          </a:p>
        </p:txBody>
      </p:sp>
      <p:sp>
        <p:nvSpPr>
          <p:cNvPr id="2" name="AutoShape 5">
            <a:extLst>
              <a:ext uri="{FF2B5EF4-FFF2-40B4-BE49-F238E27FC236}">
                <a16:creationId xmlns:a16="http://schemas.microsoft.com/office/drawing/2014/main" id="{DC7D8EF9-B510-6D88-033D-79DB0D459A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498" y="3331645"/>
            <a:ext cx="8198597" cy="1368885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0350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6827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23304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9781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34353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8925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43497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8069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9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、优化可生成（</a:t>
            </a:r>
            <a:r>
              <a:rPr kumimoji="0" lang="zh-CN" altLang="en-US" dirty="0">
                <a:solidFill>
                  <a:srgbClr val="FF0000"/>
                </a:solidFill>
                <a:latin typeface="仿宋_GB2312" pitchFamily="49" charset="-122"/>
                <a:ea typeface="仿宋_GB2312" pitchFamily="49" charset="-122"/>
              </a:rPr>
              <a:t> </a:t>
            </a:r>
            <a:r>
              <a:rPr kumimoji="0" lang="en-US" altLang="zh-CN" dirty="0">
                <a:solidFill>
                  <a:srgbClr val="FF0000"/>
                </a:solidFill>
                <a:latin typeface="仿宋_GB2312" pitchFamily="49" charset="-122"/>
                <a:ea typeface="仿宋_GB2312" pitchFamily="49" charset="-122"/>
              </a:rPr>
              <a:t>B 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）的目标代码。</a:t>
            </a: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A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．运行时间较短         </a:t>
            </a: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B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．运行时间短且占用存储空间小</a:t>
            </a: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C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．运行时间短但占用内存空间大    </a:t>
            </a: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D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．占用存储空间较小 </a:t>
            </a:r>
          </a:p>
        </p:txBody>
      </p:sp>
      <p:sp>
        <p:nvSpPr>
          <p:cNvPr id="3" name="AutoShape 5">
            <a:extLst>
              <a:ext uri="{FF2B5EF4-FFF2-40B4-BE49-F238E27FC236}">
                <a16:creationId xmlns:a16="http://schemas.microsoft.com/office/drawing/2014/main" id="{58ECCB68-1534-6EC5-8F3F-FF988E2075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942" y="2250946"/>
            <a:ext cx="8198597" cy="919401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0350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6827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23304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9781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34353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8925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43497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8069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8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、以下属于语句级控制结构的是（ </a:t>
            </a:r>
            <a:r>
              <a:rPr kumimoji="0" lang="en-US" altLang="zh-CN" dirty="0">
                <a:solidFill>
                  <a:srgbClr val="FF0000"/>
                </a:solidFill>
                <a:latin typeface="仿宋_GB2312" pitchFamily="49" charset="-122"/>
                <a:ea typeface="仿宋_GB2312" pitchFamily="49" charset="-122"/>
              </a:rPr>
              <a:t>C </a:t>
            </a: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 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）。</a:t>
            </a: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   </a:t>
            </a: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A. 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异常处理	</a:t>
            </a: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B.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并发单元 </a:t>
            </a: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C. 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循环 </a:t>
            </a: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D. 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过程调用</a:t>
            </a:r>
          </a:p>
        </p:txBody>
      </p:sp>
      <p:sp>
        <p:nvSpPr>
          <p:cNvPr id="4" name="AutoShape 5">
            <a:extLst>
              <a:ext uri="{FF2B5EF4-FFF2-40B4-BE49-F238E27FC236}">
                <a16:creationId xmlns:a16="http://schemas.microsoft.com/office/drawing/2014/main" id="{0A3F698E-F167-A339-A131-CE996B1693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942" y="4829701"/>
            <a:ext cx="8198597" cy="1287161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0350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6827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23304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9781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34353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8925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43497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8069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10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、文法</a:t>
            </a: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G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产生的所有句子的集合，称为由文法</a:t>
            </a: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G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产生的     （ </a:t>
            </a:r>
            <a:r>
              <a:rPr kumimoji="0" lang="en-US" altLang="zh-CN" dirty="0">
                <a:solidFill>
                  <a:srgbClr val="FF0000"/>
                </a:solidFill>
                <a:latin typeface="仿宋_GB2312" pitchFamily="49" charset="-122"/>
                <a:ea typeface="仿宋_GB2312" pitchFamily="49" charset="-122"/>
              </a:rPr>
              <a:t>D</a:t>
            </a: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 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）</a:t>
            </a: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 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。</a:t>
            </a: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A.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语法图      </a:t>
            </a: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B.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句型      </a:t>
            </a: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C.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句子      </a:t>
            </a: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D.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语言</a:t>
            </a:r>
          </a:p>
        </p:txBody>
      </p:sp>
    </p:spTree>
    <p:extLst>
      <p:ext uri="{BB962C8B-B14F-4D97-AF65-F5344CB8AC3E}">
        <p14:creationId xmlns:p14="http://schemas.microsoft.com/office/powerpoint/2010/main" val="1893432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4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05" grpId="0" animBg="1" autoUpdateAnimBg="0"/>
      <p:bldP spid="2" grpId="0" animBg="1" autoUpdateAnimBg="0"/>
      <p:bldP spid="3" grpId="0" animBg="1" autoUpdateAnimBg="0"/>
      <p:bldP spid="4" grpId="0" animBg="1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A409E-C30B-0447-52DD-8A6B10263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1">
            <a:extLst>
              <a:ext uri="{FF2B5EF4-FFF2-40B4-BE49-F238E27FC236}">
                <a16:creationId xmlns:a16="http://schemas.microsoft.com/office/drawing/2014/main" id="{ACA6482E-2DB2-A697-A501-97DE962400A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电子科技大学计算机科学与工程学院</a:t>
            </a:r>
          </a:p>
        </p:txBody>
      </p:sp>
      <p:sp>
        <p:nvSpPr>
          <p:cNvPr id="204804" name="AutoShape 4">
            <a:extLst>
              <a:ext uri="{FF2B5EF4-FFF2-40B4-BE49-F238E27FC236}">
                <a16:creationId xmlns:a16="http://schemas.microsoft.com/office/drawing/2014/main" id="{8E7F3281-2D79-A47B-9294-E680890DB5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588" y="762000"/>
            <a:ext cx="4295775" cy="625703"/>
          </a:xfrm>
          <a:prstGeom prst="roundRect">
            <a:avLst>
              <a:gd name="adj" fmla="val 16667"/>
            </a:avLst>
          </a:prstGeom>
          <a:solidFill>
            <a:srgbClr val="99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kumimoji="1" lang="zh-CN" altLang="en-US" sz="2800" b="1" dirty="0">
                <a:solidFill>
                  <a:srgbClr val="3366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49" charset="-122"/>
                <a:ea typeface="仿宋_GB2312" pitchFamily="49" charset="-122"/>
              </a:rPr>
              <a:t>填空题</a:t>
            </a:r>
          </a:p>
        </p:txBody>
      </p:sp>
      <p:sp>
        <p:nvSpPr>
          <p:cNvPr id="204805" name="AutoShape 5">
            <a:extLst>
              <a:ext uri="{FF2B5EF4-FFF2-40B4-BE49-F238E27FC236}">
                <a16:creationId xmlns:a16="http://schemas.microsoft.com/office/drawing/2014/main" id="{ABEC32E2-D21D-F663-5EFB-E88BC2031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552" y="1772816"/>
            <a:ext cx="8215168" cy="3738896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0350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6827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23304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9781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34353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8925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43497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8069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1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、数据类型包含一组值和一组 </a:t>
            </a:r>
            <a:r>
              <a:rPr kumimoji="0" lang="zh-CN" altLang="en-US" u="sng" dirty="0">
                <a:latin typeface="仿宋_GB2312" pitchFamily="49" charset="-122"/>
                <a:ea typeface="仿宋_GB2312" pitchFamily="49" charset="-122"/>
              </a:rPr>
              <a:t>  </a:t>
            </a:r>
            <a:r>
              <a:rPr kumimoji="0" lang="zh-CN" altLang="en-US" u="sng" dirty="0">
                <a:solidFill>
                  <a:srgbClr val="FF0000"/>
                </a:solidFill>
                <a:latin typeface="仿宋_GB2312" pitchFamily="49" charset="-122"/>
                <a:ea typeface="仿宋_GB2312" pitchFamily="49" charset="-122"/>
              </a:rPr>
              <a:t>操作</a:t>
            </a:r>
            <a:r>
              <a:rPr kumimoji="0" lang="zh-CN" altLang="en-US" u="sng" dirty="0">
                <a:latin typeface="仿宋_GB2312" pitchFamily="49" charset="-122"/>
                <a:ea typeface="仿宋_GB2312" pitchFamily="49" charset="-122"/>
              </a:rPr>
              <a:t>  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  。</a:t>
            </a: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2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、计算机执行用高级语言编写的程序主要有两种途径解释和  </a:t>
            </a:r>
            <a:r>
              <a:rPr kumimoji="0" lang="zh-CN" altLang="en-US" u="sng" dirty="0">
                <a:latin typeface="仿宋_GB2312" pitchFamily="49" charset="-122"/>
                <a:ea typeface="仿宋_GB2312" pitchFamily="49" charset="-122"/>
              </a:rPr>
              <a:t>  </a:t>
            </a:r>
            <a:r>
              <a:rPr kumimoji="0" lang="zh-CN" altLang="en-US" u="sng" dirty="0">
                <a:solidFill>
                  <a:srgbClr val="FF0000"/>
                </a:solidFill>
                <a:latin typeface="仿宋_GB2312" pitchFamily="49" charset="-122"/>
                <a:ea typeface="仿宋_GB2312" pitchFamily="49" charset="-122"/>
              </a:rPr>
              <a:t>编译</a:t>
            </a:r>
            <a:r>
              <a:rPr kumimoji="0" lang="zh-CN" altLang="en-US" u="sng" dirty="0">
                <a:latin typeface="仿宋_GB2312" pitchFamily="49" charset="-122"/>
                <a:ea typeface="仿宋_GB2312" pitchFamily="49" charset="-122"/>
              </a:rPr>
              <a:t>  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  。</a:t>
            </a: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3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、自上而下分析法采用 </a:t>
            </a:r>
            <a:r>
              <a:rPr kumimoji="0" lang="zh-CN" altLang="en-US" u="sng" dirty="0">
                <a:latin typeface="仿宋_GB2312" pitchFamily="49" charset="-122"/>
                <a:ea typeface="仿宋_GB2312" pitchFamily="49" charset="-122"/>
              </a:rPr>
              <a:t>  </a:t>
            </a:r>
            <a:r>
              <a:rPr kumimoji="0" lang="zh-CN" altLang="en-US" u="sng" dirty="0">
                <a:solidFill>
                  <a:srgbClr val="FF0000"/>
                </a:solidFill>
                <a:latin typeface="仿宋_GB2312" pitchFamily="49" charset="-122"/>
                <a:ea typeface="仿宋_GB2312" pitchFamily="49" charset="-122"/>
              </a:rPr>
              <a:t>移进</a:t>
            </a:r>
            <a:r>
              <a:rPr kumimoji="0" lang="zh-CN" altLang="en-US" u="sng" dirty="0">
                <a:latin typeface="仿宋_GB2312" pitchFamily="49" charset="-122"/>
                <a:ea typeface="仿宋_GB2312" pitchFamily="49" charset="-122"/>
              </a:rPr>
              <a:t>  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 、归约、错误处理、接受等四种操作。</a:t>
            </a: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4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、编译器常用的语法分析方法有自底向上和 </a:t>
            </a:r>
            <a:r>
              <a:rPr kumimoji="0" lang="zh-CN" altLang="en-US" u="sng" dirty="0">
                <a:latin typeface="仿宋_GB2312" pitchFamily="49" charset="-122"/>
                <a:ea typeface="仿宋_GB2312" pitchFamily="49" charset="-122"/>
              </a:rPr>
              <a:t> </a:t>
            </a:r>
            <a:r>
              <a:rPr kumimoji="0" lang="zh-CN" altLang="en-US" u="sng" dirty="0">
                <a:solidFill>
                  <a:srgbClr val="FF0000"/>
                </a:solidFill>
                <a:latin typeface="仿宋_GB2312" pitchFamily="49" charset="-122"/>
                <a:ea typeface="仿宋_GB2312" pitchFamily="49" charset="-122"/>
              </a:rPr>
              <a:t>自顶向下 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    两种。</a:t>
            </a: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5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、语言根据所面向的机器和应用定义了不同的数据类型，这些类型称为  </a:t>
            </a:r>
            <a:r>
              <a:rPr kumimoji="0" lang="zh-CN" altLang="en-US" u="sng" dirty="0">
                <a:latin typeface="仿宋_GB2312" pitchFamily="49" charset="-122"/>
                <a:ea typeface="仿宋_GB2312" pitchFamily="49" charset="-122"/>
              </a:rPr>
              <a:t> </a:t>
            </a:r>
            <a:r>
              <a:rPr kumimoji="0" lang="zh-CN" altLang="en-US" u="sng" dirty="0">
                <a:solidFill>
                  <a:srgbClr val="FF0000"/>
                </a:solidFill>
                <a:latin typeface="仿宋_GB2312" pitchFamily="49" charset="-122"/>
                <a:ea typeface="仿宋_GB2312" pitchFamily="49" charset="-122"/>
              </a:rPr>
              <a:t>内部类型</a:t>
            </a:r>
            <a:r>
              <a:rPr kumimoji="0" lang="zh-CN" altLang="en-US" u="sng" dirty="0">
                <a:latin typeface="仿宋_GB2312" pitchFamily="49" charset="-122"/>
                <a:ea typeface="仿宋_GB2312" pitchFamily="49" charset="-122"/>
              </a:rPr>
              <a:t> 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   。</a:t>
            </a:r>
          </a:p>
        </p:txBody>
      </p:sp>
    </p:spTree>
    <p:extLst>
      <p:ext uri="{BB962C8B-B14F-4D97-AF65-F5344CB8AC3E}">
        <p14:creationId xmlns:p14="http://schemas.microsoft.com/office/powerpoint/2010/main" val="1941339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4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05" grpId="0" animBg="1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6B4B7-5F82-712F-483D-38D7D2A77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1">
            <a:extLst>
              <a:ext uri="{FF2B5EF4-FFF2-40B4-BE49-F238E27FC236}">
                <a16:creationId xmlns:a16="http://schemas.microsoft.com/office/drawing/2014/main" id="{B0F32A4B-7A53-3658-91BA-949E1D5E100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电子科技大学计算机科学与工程学院</a:t>
            </a:r>
          </a:p>
        </p:txBody>
      </p:sp>
      <p:sp>
        <p:nvSpPr>
          <p:cNvPr id="204805" name="AutoShape 5">
            <a:extLst>
              <a:ext uri="{FF2B5EF4-FFF2-40B4-BE49-F238E27FC236}">
                <a16:creationId xmlns:a16="http://schemas.microsoft.com/office/drawing/2014/main" id="{F7AEFCE5-A425-90B9-8373-0EE21CDB22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552" y="1484784"/>
            <a:ext cx="8215168" cy="3371136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0350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6827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23304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9781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34353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8925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43497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8069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6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、单元级控制结构包括显示调用、</a:t>
            </a:r>
            <a:r>
              <a:rPr kumimoji="0" lang="zh-CN" altLang="en-US" u="sng" dirty="0">
                <a:latin typeface="仿宋_GB2312" pitchFamily="49" charset="-122"/>
                <a:ea typeface="仿宋_GB2312" pitchFamily="49" charset="-122"/>
              </a:rPr>
              <a:t>  </a:t>
            </a:r>
            <a:r>
              <a:rPr kumimoji="0" lang="zh-CN" altLang="en-US" u="sng" dirty="0">
                <a:solidFill>
                  <a:srgbClr val="FF0000"/>
                </a:solidFill>
                <a:latin typeface="仿宋_GB2312" pitchFamily="49" charset="-122"/>
                <a:ea typeface="仿宋_GB2312" pitchFamily="49" charset="-122"/>
              </a:rPr>
              <a:t>异常处理</a:t>
            </a:r>
            <a:r>
              <a:rPr kumimoji="0" lang="zh-CN" altLang="en-US" u="sng" dirty="0">
                <a:latin typeface="仿宋_GB2312" pitchFamily="49" charset="-122"/>
                <a:ea typeface="仿宋_GB2312" pitchFamily="49" charset="-122"/>
              </a:rPr>
              <a:t> 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、协同程序和 </a:t>
            </a:r>
            <a:r>
              <a:rPr kumimoji="0" lang="zh-CN" altLang="en-US" u="sng" dirty="0">
                <a:latin typeface="仿宋_GB2312" pitchFamily="49" charset="-122"/>
                <a:ea typeface="仿宋_GB2312" pitchFamily="49" charset="-122"/>
              </a:rPr>
              <a:t> </a:t>
            </a:r>
            <a:r>
              <a:rPr kumimoji="0" lang="zh-CN" altLang="en-US" u="sng" dirty="0">
                <a:solidFill>
                  <a:srgbClr val="FF0000"/>
                </a:solidFill>
                <a:latin typeface="仿宋_GB2312" pitchFamily="49" charset="-122"/>
                <a:ea typeface="仿宋_GB2312" pitchFamily="49" charset="-122"/>
              </a:rPr>
              <a:t>并发单元</a:t>
            </a:r>
            <a:r>
              <a:rPr kumimoji="0" lang="zh-CN" altLang="en-US" u="sng" dirty="0">
                <a:latin typeface="仿宋_GB2312" pitchFamily="49" charset="-122"/>
                <a:ea typeface="仿宋_GB2312" pitchFamily="49" charset="-122"/>
              </a:rPr>
              <a:t> 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 。</a:t>
            </a: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7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、对数据对象的类型和使用的操作是否匹配的一致性检查称为</a:t>
            </a:r>
            <a:r>
              <a:rPr kumimoji="0" lang="zh-CN" altLang="en-US" u="sng" dirty="0">
                <a:latin typeface="仿宋_GB2312" pitchFamily="49" charset="-122"/>
                <a:ea typeface="仿宋_GB2312" pitchFamily="49" charset="-122"/>
              </a:rPr>
              <a:t>  </a:t>
            </a:r>
            <a:r>
              <a:rPr kumimoji="0" lang="zh-CN" altLang="en-US" u="sng" dirty="0">
                <a:solidFill>
                  <a:srgbClr val="FF0000"/>
                </a:solidFill>
                <a:latin typeface="仿宋_GB2312" pitchFamily="49" charset="-122"/>
                <a:ea typeface="仿宋_GB2312" pitchFamily="49" charset="-122"/>
              </a:rPr>
              <a:t>类型</a:t>
            </a:r>
            <a:r>
              <a:rPr kumimoji="0" lang="zh-CN" altLang="en-US" u="sng" dirty="0">
                <a:latin typeface="仿宋_GB2312" pitchFamily="49" charset="-122"/>
                <a:ea typeface="仿宋_GB2312" pitchFamily="49" charset="-122"/>
              </a:rPr>
              <a:t>  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检查。</a:t>
            </a: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8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、在基本块之间的优化称为 </a:t>
            </a:r>
            <a:r>
              <a:rPr kumimoji="0" lang="zh-CN" altLang="en-US" u="sng" dirty="0">
                <a:latin typeface="仿宋_GB2312" pitchFamily="49" charset="-122"/>
                <a:ea typeface="仿宋_GB2312" pitchFamily="49" charset="-122"/>
              </a:rPr>
              <a:t>  </a:t>
            </a:r>
            <a:r>
              <a:rPr kumimoji="0" lang="zh-CN" altLang="en-US" u="sng" dirty="0">
                <a:solidFill>
                  <a:srgbClr val="FF0000"/>
                </a:solidFill>
                <a:latin typeface="仿宋_GB2312" pitchFamily="49" charset="-122"/>
                <a:ea typeface="仿宋_GB2312" pitchFamily="49" charset="-122"/>
              </a:rPr>
              <a:t>全局优化</a:t>
            </a:r>
            <a:r>
              <a:rPr kumimoji="0" lang="zh-CN" altLang="en-US" u="sng" dirty="0">
                <a:latin typeface="仿宋_GB2312" pitchFamily="49" charset="-122"/>
                <a:ea typeface="仿宋_GB2312" pitchFamily="49" charset="-122"/>
              </a:rPr>
              <a:t>  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 。</a:t>
            </a: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9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、对于文法</a:t>
            </a: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G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，仅含终结符号的句型称为 </a:t>
            </a:r>
            <a:r>
              <a:rPr kumimoji="0" lang="zh-CN" altLang="en-US" u="sng" dirty="0">
                <a:latin typeface="仿宋_GB2312" pitchFamily="49" charset="-122"/>
                <a:ea typeface="仿宋_GB2312" pitchFamily="49" charset="-122"/>
              </a:rPr>
              <a:t>  </a:t>
            </a:r>
            <a:r>
              <a:rPr kumimoji="0" lang="zh-CN" altLang="en-US" u="sng" dirty="0">
                <a:solidFill>
                  <a:srgbClr val="FF0000"/>
                </a:solidFill>
                <a:latin typeface="仿宋_GB2312" pitchFamily="49" charset="-122"/>
                <a:ea typeface="仿宋_GB2312" pitchFamily="49" charset="-122"/>
              </a:rPr>
              <a:t>句子</a:t>
            </a:r>
            <a:r>
              <a:rPr kumimoji="0" lang="zh-CN" altLang="en-US" u="sng" dirty="0">
                <a:latin typeface="仿宋_GB2312" pitchFamily="49" charset="-122"/>
                <a:ea typeface="仿宋_GB2312" pitchFamily="49" charset="-122"/>
              </a:rPr>
              <a:t>  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  。</a:t>
            </a: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10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、语言提供了由用户定义类型的方法。采用这类方法由用户自己定义的数据类型称为  </a:t>
            </a:r>
            <a:r>
              <a:rPr kumimoji="0" lang="zh-CN" altLang="en-US" u="sng" dirty="0">
                <a:latin typeface="仿宋_GB2312" pitchFamily="49" charset="-122"/>
                <a:ea typeface="仿宋_GB2312" pitchFamily="49" charset="-122"/>
              </a:rPr>
              <a:t>  </a:t>
            </a:r>
            <a:r>
              <a:rPr kumimoji="0" lang="zh-CN" altLang="en-US" u="sng" dirty="0">
                <a:solidFill>
                  <a:srgbClr val="FF0000"/>
                </a:solidFill>
                <a:latin typeface="仿宋_GB2312" pitchFamily="49" charset="-122"/>
                <a:ea typeface="仿宋_GB2312" pitchFamily="49" charset="-122"/>
              </a:rPr>
              <a:t>用户定义类型</a:t>
            </a:r>
            <a:r>
              <a:rPr kumimoji="0" lang="zh-CN" altLang="en-US" u="sng" dirty="0">
                <a:latin typeface="仿宋_GB2312" pitchFamily="49" charset="-122"/>
                <a:ea typeface="仿宋_GB2312" pitchFamily="49" charset="-122"/>
              </a:rPr>
              <a:t>  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  。</a:t>
            </a:r>
          </a:p>
        </p:txBody>
      </p:sp>
    </p:spTree>
    <p:extLst>
      <p:ext uri="{BB962C8B-B14F-4D97-AF65-F5344CB8AC3E}">
        <p14:creationId xmlns:p14="http://schemas.microsoft.com/office/powerpoint/2010/main" val="2903509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4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05" grpId="0" animBg="1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F3EB5-C0FC-9434-D4A9-453D6CE51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1">
            <a:extLst>
              <a:ext uri="{FF2B5EF4-FFF2-40B4-BE49-F238E27FC236}">
                <a16:creationId xmlns:a16="http://schemas.microsoft.com/office/drawing/2014/main" id="{10394C99-3A73-8682-3586-739BC0C2D6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电子科技大学计算机科学与工程学院</a:t>
            </a:r>
          </a:p>
        </p:txBody>
      </p:sp>
      <p:sp>
        <p:nvSpPr>
          <p:cNvPr id="204804" name="AutoShape 4">
            <a:extLst>
              <a:ext uri="{FF2B5EF4-FFF2-40B4-BE49-F238E27FC236}">
                <a16:creationId xmlns:a16="http://schemas.microsoft.com/office/drawing/2014/main" id="{053A6873-43F4-C1F1-965B-8316F32B18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588" y="762000"/>
            <a:ext cx="4295775" cy="625703"/>
          </a:xfrm>
          <a:prstGeom prst="roundRect">
            <a:avLst>
              <a:gd name="adj" fmla="val 16667"/>
            </a:avLst>
          </a:prstGeom>
          <a:solidFill>
            <a:srgbClr val="99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kumimoji="1" lang="zh-CN" altLang="en-US" sz="2800" b="1" dirty="0">
                <a:solidFill>
                  <a:srgbClr val="3366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49" charset="-122"/>
                <a:ea typeface="仿宋_GB2312" pitchFamily="49" charset="-122"/>
              </a:rPr>
              <a:t>简答题</a:t>
            </a:r>
          </a:p>
        </p:txBody>
      </p:sp>
      <p:sp>
        <p:nvSpPr>
          <p:cNvPr id="204805" name="AutoShape 5">
            <a:extLst>
              <a:ext uri="{FF2B5EF4-FFF2-40B4-BE49-F238E27FC236}">
                <a16:creationId xmlns:a16="http://schemas.microsoft.com/office/drawing/2014/main" id="{5AB73A60-CCF6-AA00-D8D2-C251E923EB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416" y="2060848"/>
            <a:ext cx="8215168" cy="3085100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0350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6827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23304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9781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34353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8925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43497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8069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1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．写出生成语言</a:t>
            </a:r>
            <a:r>
              <a:rPr kumimoji="0" lang="en-US" altLang="zh-CN" dirty="0">
                <a:latin typeface="+mn-lt"/>
                <a:ea typeface="仿宋_GB2312" pitchFamily="49" charset="-122"/>
              </a:rPr>
              <a:t>L(G)</a:t>
            </a:r>
            <a:r>
              <a:rPr kumimoji="0" lang="zh-CN" altLang="en-US" dirty="0">
                <a:latin typeface="+mn-lt"/>
                <a:ea typeface="仿宋_GB2312" pitchFamily="49" charset="-122"/>
              </a:rPr>
              <a:t>＝</a:t>
            </a:r>
            <a:r>
              <a:rPr kumimoji="0" lang="en-US" altLang="zh-CN" dirty="0">
                <a:latin typeface="+mn-lt"/>
                <a:ea typeface="仿宋_GB2312" pitchFamily="49" charset="-122"/>
              </a:rPr>
              <a:t>{</a:t>
            </a:r>
            <a:r>
              <a:rPr kumimoji="0" lang="en-US" altLang="zh-CN" dirty="0" err="1">
                <a:latin typeface="+mn-lt"/>
                <a:ea typeface="仿宋_GB2312" pitchFamily="49" charset="-122"/>
              </a:rPr>
              <a:t>a</a:t>
            </a:r>
            <a:r>
              <a:rPr kumimoji="0" lang="en-US" altLang="zh-CN" baseline="30000" dirty="0" err="1">
                <a:latin typeface="+mn-lt"/>
                <a:ea typeface="仿宋_GB2312" pitchFamily="49" charset="-122"/>
              </a:rPr>
              <a:t>i</a:t>
            </a:r>
            <a:r>
              <a:rPr kumimoji="0" lang="en-US" altLang="zh-CN" dirty="0" err="1">
                <a:latin typeface="+mn-lt"/>
                <a:ea typeface="仿宋_GB2312" pitchFamily="49" charset="-122"/>
              </a:rPr>
              <a:t>b</a:t>
            </a:r>
            <a:r>
              <a:rPr kumimoji="0" lang="en-US" altLang="zh-CN" baseline="30000" dirty="0" err="1">
                <a:latin typeface="+mn-lt"/>
                <a:ea typeface="仿宋_GB2312" pitchFamily="49" charset="-122"/>
              </a:rPr>
              <a:t>i</a:t>
            </a:r>
            <a:r>
              <a:rPr kumimoji="0" lang="en-US" altLang="zh-CN" dirty="0" err="1">
                <a:latin typeface="+mn-lt"/>
                <a:ea typeface="仿宋_GB2312" pitchFamily="49" charset="-122"/>
              </a:rPr>
              <a:t>c</a:t>
            </a:r>
            <a:r>
              <a:rPr kumimoji="0" lang="en-US" altLang="zh-CN" baseline="30000" dirty="0" err="1">
                <a:latin typeface="+mn-lt"/>
                <a:ea typeface="仿宋_GB2312" pitchFamily="49" charset="-122"/>
              </a:rPr>
              <a:t>j</a:t>
            </a:r>
            <a:r>
              <a:rPr kumimoji="0" lang="en-US" altLang="zh-CN" dirty="0">
                <a:latin typeface="+mn-lt"/>
                <a:ea typeface="仿宋_GB2312" pitchFamily="49" charset="-122"/>
              </a:rPr>
              <a:t>||</a:t>
            </a:r>
            <a:r>
              <a:rPr kumimoji="0" lang="en-US" altLang="zh-CN" dirty="0" err="1">
                <a:latin typeface="+mn-lt"/>
                <a:ea typeface="仿宋_GB2312" pitchFamily="49" charset="-122"/>
              </a:rPr>
              <a:t>i,j</a:t>
            </a:r>
            <a:r>
              <a:rPr kumimoji="0" lang="zh-CN" altLang="en-US" dirty="0">
                <a:latin typeface="+mn-lt"/>
                <a:ea typeface="仿宋_GB2312" pitchFamily="49" charset="-122"/>
              </a:rPr>
              <a:t>≥</a:t>
            </a:r>
            <a:r>
              <a:rPr kumimoji="0" lang="en-US" altLang="zh-CN" dirty="0">
                <a:latin typeface="+mn-lt"/>
                <a:ea typeface="仿宋_GB2312" pitchFamily="49" charset="-122"/>
              </a:rPr>
              <a:t>1}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的上下文无关文法</a:t>
            </a: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G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（只写产生式）。</a:t>
            </a: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endParaRPr kumimoji="0" lang="zh-CN" altLang="en-US" dirty="0">
              <a:latin typeface="仿宋_GB2312" pitchFamily="49" charset="-122"/>
              <a:ea typeface="仿宋_GB2312" pitchFamily="49" charset="-122"/>
            </a:endParaRP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答：</a:t>
            </a:r>
            <a:endParaRPr kumimoji="0" lang="en-US" altLang="zh-CN" dirty="0">
              <a:latin typeface="仿宋_GB2312" pitchFamily="49" charset="-122"/>
              <a:ea typeface="仿宋_GB2312" pitchFamily="49" charset="-122"/>
            </a:endParaRP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       </a:t>
            </a:r>
            <a:r>
              <a:rPr kumimoji="0" lang="en-US" altLang="zh-CN" dirty="0">
                <a:latin typeface="+mn-lt"/>
                <a:ea typeface="+mn-ea"/>
              </a:rPr>
              <a:t>S→AB</a:t>
            </a: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zh-CN" altLang="en-US" dirty="0">
                <a:latin typeface="+mn-lt"/>
                <a:ea typeface="+mn-ea"/>
              </a:rPr>
              <a:t>        </a:t>
            </a:r>
            <a:r>
              <a:rPr kumimoji="0" lang="en-US" altLang="zh-CN" dirty="0" err="1">
                <a:latin typeface="+mn-lt"/>
                <a:ea typeface="+mn-ea"/>
              </a:rPr>
              <a:t>A→aAb|ab</a:t>
            </a:r>
            <a:endParaRPr kumimoji="0" lang="en-US" altLang="zh-CN" dirty="0">
              <a:latin typeface="+mn-lt"/>
              <a:ea typeface="+mn-ea"/>
            </a:endParaRP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zh-CN" altLang="en-US" dirty="0">
                <a:latin typeface="+mn-lt"/>
                <a:ea typeface="+mn-ea"/>
              </a:rPr>
              <a:t>        </a:t>
            </a:r>
            <a:r>
              <a:rPr kumimoji="0" lang="en-US" altLang="zh-CN" dirty="0" err="1">
                <a:latin typeface="+mn-lt"/>
                <a:ea typeface="+mn-ea"/>
              </a:rPr>
              <a:t>B→Bc|c</a:t>
            </a:r>
            <a:endParaRPr kumimoji="0" lang="en-US" altLang="zh-CN" dirty="0"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45537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4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05" grpId="0" animBg="1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3A97C-E191-5378-6440-F6333A7C6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1">
            <a:extLst>
              <a:ext uri="{FF2B5EF4-FFF2-40B4-BE49-F238E27FC236}">
                <a16:creationId xmlns:a16="http://schemas.microsoft.com/office/drawing/2014/main" id="{13E03CEF-E3E2-C131-B22A-91756CC40D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电子科技大学计算机科学与工程学院</a:t>
            </a:r>
          </a:p>
        </p:txBody>
      </p:sp>
      <p:sp>
        <p:nvSpPr>
          <p:cNvPr id="204805" name="AutoShape 5">
            <a:extLst>
              <a:ext uri="{FF2B5EF4-FFF2-40B4-BE49-F238E27FC236}">
                <a16:creationId xmlns:a16="http://schemas.microsoft.com/office/drawing/2014/main" id="{DF1DE8DE-30B3-C778-3892-BE5BA7DC45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416" y="764704"/>
            <a:ext cx="8356056" cy="1736646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0350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6827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23304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9781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34353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8925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43497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8069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2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．变量是表示什么的抽象</a:t>
            </a: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? 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它具有哪四个属性？</a:t>
            </a: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endParaRPr kumimoji="0" lang="zh-CN" altLang="en-US" dirty="0">
              <a:latin typeface="仿宋_GB2312" pitchFamily="49" charset="-122"/>
              <a:ea typeface="仿宋_GB2312" pitchFamily="49" charset="-122"/>
            </a:endParaRP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答：变量是对一个</a:t>
            </a: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(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或若干个</a:t>
            </a: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)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存储单元的抽象。它具有四个属性：作用域，生存期，值和类型。</a:t>
            </a:r>
          </a:p>
        </p:txBody>
      </p:sp>
      <p:sp>
        <p:nvSpPr>
          <p:cNvPr id="2" name="AutoShape 5">
            <a:extLst>
              <a:ext uri="{FF2B5EF4-FFF2-40B4-BE49-F238E27FC236}">
                <a16:creationId xmlns:a16="http://schemas.microsoft.com/office/drawing/2014/main" id="{D14C6518-F748-16AF-90FB-FF6A0D71DF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6" y="2722160"/>
            <a:ext cx="8424936" cy="3371136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0350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6827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23304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9781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34353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8925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43497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8069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3. 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什么是抽象数据类型？</a:t>
            </a: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endParaRPr kumimoji="0" lang="zh-CN" altLang="en-US" dirty="0">
              <a:latin typeface="仿宋_GB2312" pitchFamily="49" charset="-122"/>
              <a:ea typeface="仿宋_GB2312" pitchFamily="49" charset="-122"/>
            </a:endParaRP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答：在高级程序设计语言中，满足如下两个条件的数据类型称为抽象数据类型：</a:t>
            </a: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（</a:t>
            </a: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1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）	允许实现这个新类型的程序单元中，建立与表示有关的具体操作；</a:t>
            </a: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（</a:t>
            </a: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2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）	对使用这个类型的程序单元来说，类型的表示是隐蔽的。</a:t>
            </a:r>
          </a:p>
        </p:txBody>
      </p:sp>
    </p:spTree>
    <p:extLst>
      <p:ext uri="{BB962C8B-B14F-4D97-AF65-F5344CB8AC3E}">
        <p14:creationId xmlns:p14="http://schemas.microsoft.com/office/powerpoint/2010/main" val="3260999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4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05" grpId="0" animBg="1" autoUpdateAnimBg="0"/>
      <p:bldP spid="2" grpId="0" animBg="1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151F0-8B64-5342-5237-E127E893D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1">
            <a:extLst>
              <a:ext uri="{FF2B5EF4-FFF2-40B4-BE49-F238E27FC236}">
                <a16:creationId xmlns:a16="http://schemas.microsoft.com/office/drawing/2014/main" id="{0F345A07-4672-D9D3-FEED-05353340DA7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电子科技大学计算机科学与工程学院</a:t>
            </a:r>
          </a:p>
        </p:txBody>
      </p:sp>
      <p:sp>
        <p:nvSpPr>
          <p:cNvPr id="204805" name="AutoShape 5">
            <a:extLst>
              <a:ext uri="{FF2B5EF4-FFF2-40B4-BE49-F238E27FC236}">
                <a16:creationId xmlns:a16="http://schemas.microsoft.com/office/drawing/2014/main" id="{3542D313-AA84-B653-22C0-F4FBF56B20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8" y="620688"/>
            <a:ext cx="8568952" cy="2921651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0350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6827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23304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9781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34353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8925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43497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8069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4.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 文法分为几类？上下文无关文法是第几类文法？它的特点是什么？</a:t>
            </a: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endParaRPr kumimoji="0" lang="zh-CN" altLang="en-US" dirty="0">
              <a:latin typeface="仿宋_GB2312" pitchFamily="49" charset="-122"/>
              <a:ea typeface="仿宋_GB2312" pitchFamily="49" charset="-122"/>
            </a:endParaRP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答：文法分为</a:t>
            </a: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0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型，</a:t>
            </a: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1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型，</a:t>
            </a: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2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型和</a:t>
            </a: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3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型四类文法。上下文无关文法是</a:t>
            </a: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2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型文法。</a:t>
            </a: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它的特点是任何产生式具有</a:t>
            </a:r>
            <a:r>
              <a:rPr kumimoji="0" lang="en-US" altLang="zh-CN" dirty="0" err="1">
                <a:latin typeface="+mn-lt"/>
                <a:ea typeface="仿宋_GB2312" pitchFamily="49" charset="-122"/>
              </a:rPr>
              <a:t>A→</a:t>
            </a:r>
            <a:r>
              <a:rPr kumimoji="0" lang="en-US" altLang="zh-CN" dirty="0" err="1">
                <a:latin typeface="Symbol" pitchFamily="2" charset="2"/>
                <a:ea typeface="仿宋_GB2312" pitchFamily="49" charset="-122"/>
              </a:rPr>
              <a:t>b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的形式，其中</a:t>
            </a: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A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是文法的非终结符，</a:t>
            </a:r>
            <a:r>
              <a:rPr kumimoji="0" lang="en-US" altLang="zh-CN" dirty="0">
                <a:latin typeface="Symbol" pitchFamily="2" charset="2"/>
                <a:ea typeface="仿宋_GB2312" pitchFamily="49" charset="-122"/>
              </a:rPr>
              <a:t>b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是终结符和非终结符上的任意串。</a:t>
            </a:r>
          </a:p>
        </p:txBody>
      </p:sp>
      <p:sp>
        <p:nvSpPr>
          <p:cNvPr id="3" name="AutoShape 5">
            <a:extLst>
              <a:ext uri="{FF2B5EF4-FFF2-40B4-BE49-F238E27FC236}">
                <a16:creationId xmlns:a16="http://schemas.microsoft.com/office/drawing/2014/main" id="{30584E03-8C28-5D8B-5E77-E55BB5C5F6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8" y="3654636"/>
            <a:ext cx="8568952" cy="2635615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0350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6827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23304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9781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34353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8925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43497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8069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5. 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设语言仅含半静态变量，进行栈式分配时，</a:t>
            </a: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RETURN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（返回语句）应翻译成哪几条指令？（</a:t>
            </a: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5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分）</a:t>
            </a: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endParaRPr kumimoji="0" lang="zh-CN" altLang="en-US" dirty="0">
              <a:latin typeface="仿宋_GB2312" pitchFamily="49" charset="-122"/>
              <a:ea typeface="仿宋_GB2312" pitchFamily="49" charset="-122"/>
            </a:endParaRP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答：</a:t>
            </a: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free:=current</a:t>
            </a: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       </a:t>
            </a: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current:=D[current+1]</a:t>
            </a: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    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   </a:t>
            </a:r>
            <a:r>
              <a:rPr kumimoji="0" lang="en-US" altLang="zh-CN" dirty="0" err="1">
                <a:latin typeface="仿宋_GB2312" pitchFamily="49" charset="-122"/>
                <a:ea typeface="仿宋_GB2312" pitchFamily="49" charset="-122"/>
              </a:rPr>
              <a:t>ip</a:t>
            </a: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:= D[free]</a:t>
            </a:r>
          </a:p>
        </p:txBody>
      </p:sp>
    </p:spTree>
    <p:extLst>
      <p:ext uri="{BB962C8B-B14F-4D97-AF65-F5344CB8AC3E}">
        <p14:creationId xmlns:p14="http://schemas.microsoft.com/office/powerpoint/2010/main" val="3135916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4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05" grpId="0" animBg="1" autoUpdateAnimBg="0"/>
      <p:bldP spid="3" grpId="0" animBg="1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75E1E-626A-E2A1-3687-DAB137368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1">
            <a:extLst>
              <a:ext uri="{FF2B5EF4-FFF2-40B4-BE49-F238E27FC236}">
                <a16:creationId xmlns:a16="http://schemas.microsoft.com/office/drawing/2014/main" id="{C6843B9A-C22B-D644-1A03-6A0F47E0D6C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电子科技大学计算机科学与工程学院</a:t>
            </a:r>
          </a:p>
        </p:txBody>
      </p:sp>
      <p:sp>
        <p:nvSpPr>
          <p:cNvPr id="204805" name="AutoShape 5">
            <a:extLst>
              <a:ext uri="{FF2B5EF4-FFF2-40B4-BE49-F238E27FC236}">
                <a16:creationId xmlns:a16="http://schemas.microsoft.com/office/drawing/2014/main" id="{9FFA058F-8768-872A-C514-FA7C0C20A5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407" y="1124744"/>
            <a:ext cx="8568952" cy="1940957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0350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6827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23304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9781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34353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8925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43497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8069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latin typeface="+mn-ea"/>
                <a:ea typeface="+mn-ea"/>
              </a:rPr>
              <a:t>6. </a:t>
            </a:r>
            <a:r>
              <a:rPr lang="zh-CN" altLang="zh-CN" dirty="0">
                <a:latin typeface="+mn-ea"/>
                <a:ea typeface="+mn-ea"/>
              </a:rPr>
              <a:t>分别写出产生语言</a:t>
            </a:r>
            <a:r>
              <a:rPr lang="en-US" altLang="zh-CN" dirty="0"/>
              <a:t>{</a:t>
            </a:r>
            <a:r>
              <a:rPr lang="en-US" altLang="zh-CN" dirty="0" err="1"/>
              <a:t>a,b</a:t>
            </a:r>
            <a:r>
              <a:rPr lang="en-US" altLang="zh-CN" dirty="0"/>
              <a:t>}</a:t>
            </a:r>
            <a:r>
              <a:rPr lang="en-US" altLang="zh-CN" baseline="30000" dirty="0"/>
              <a:t>*</a:t>
            </a:r>
            <a:r>
              <a:rPr lang="zh-CN" altLang="zh-CN" dirty="0">
                <a:latin typeface="+mn-ea"/>
                <a:ea typeface="+mn-ea"/>
              </a:rPr>
              <a:t>及</a:t>
            </a:r>
            <a:r>
              <a:rPr lang="en-US" altLang="zh-CN" dirty="0"/>
              <a:t>{a</a:t>
            </a:r>
            <a:r>
              <a:rPr lang="en-US" altLang="zh-CN" baseline="30000" dirty="0"/>
              <a:t>n</a:t>
            </a:r>
            <a:r>
              <a:rPr lang="en-US" altLang="zh-CN" dirty="0"/>
              <a:t>b</a:t>
            </a:r>
            <a:r>
              <a:rPr lang="en-US" altLang="zh-CN" baseline="30000" dirty="0"/>
              <a:t>n</a:t>
            </a:r>
            <a:r>
              <a:rPr lang="en-US" altLang="zh-CN" dirty="0"/>
              <a:t>|n</a:t>
            </a:r>
            <a:r>
              <a:rPr lang="en-US" altLang="zh-CN" dirty="0">
                <a:sym typeface="Symbol" pitchFamily="2" charset="2"/>
              </a:rPr>
              <a:t></a:t>
            </a:r>
            <a:r>
              <a:rPr lang="en-US" altLang="zh-CN" dirty="0"/>
              <a:t>0}</a:t>
            </a:r>
            <a:r>
              <a:rPr lang="zh-CN" altLang="zh-CN" dirty="0">
                <a:latin typeface="+mn-ea"/>
                <a:ea typeface="+mn-ea"/>
              </a:rPr>
              <a:t>的文法；</a:t>
            </a:r>
            <a:endParaRPr lang="en-US" altLang="zh-CN" dirty="0">
              <a:latin typeface="+mn-ea"/>
              <a:ea typeface="+mn-ea"/>
            </a:endParaRPr>
          </a:p>
          <a:p>
            <a:endParaRPr lang="zh-CN" altLang="zh-CN" dirty="0">
              <a:latin typeface="+mn-ea"/>
              <a:ea typeface="+mn-ea"/>
            </a:endParaRPr>
          </a:p>
          <a:p>
            <a:r>
              <a:rPr lang="zh-CN" altLang="zh-CN" dirty="0">
                <a:latin typeface="+mn-ea"/>
                <a:ea typeface="+mn-ea"/>
              </a:rPr>
              <a:t>答：</a:t>
            </a:r>
          </a:p>
          <a:p>
            <a:r>
              <a:rPr lang="en-US" altLang="zh-CN" dirty="0"/>
              <a:t>a) S</a:t>
            </a:r>
            <a:r>
              <a:rPr lang="zh-CN" altLang="zh-CN" dirty="0"/>
              <a:t>→</a:t>
            </a:r>
            <a:r>
              <a:rPr lang="en-US" altLang="zh-CN" dirty="0" err="1"/>
              <a:t>aS|bS</a:t>
            </a:r>
            <a:r>
              <a:rPr lang="en-US" altLang="zh-CN" dirty="0"/>
              <a:t>|</a:t>
            </a:r>
            <a:r>
              <a:rPr lang="en-US" altLang="zh-CN" dirty="0">
                <a:sym typeface="Symbol" pitchFamily="2" charset="2"/>
              </a:rPr>
              <a:t></a:t>
            </a:r>
            <a:endParaRPr lang="zh-CN" altLang="zh-CN" dirty="0"/>
          </a:p>
          <a:p>
            <a:r>
              <a:rPr lang="en-US" altLang="zh-CN" dirty="0"/>
              <a:t>b) S</a:t>
            </a:r>
            <a:r>
              <a:rPr lang="zh-CN" altLang="zh-CN" dirty="0"/>
              <a:t>→</a:t>
            </a:r>
            <a:r>
              <a:rPr lang="en-US" altLang="zh-CN" dirty="0" err="1"/>
              <a:t>aSb</a:t>
            </a:r>
            <a:r>
              <a:rPr lang="en-US" altLang="zh-CN" dirty="0"/>
              <a:t>|</a:t>
            </a:r>
            <a:r>
              <a:rPr lang="en-US" altLang="zh-CN" dirty="0">
                <a:sym typeface="Symbol" pitchFamily="2" charset="2"/>
              </a:rPr>
              <a:t></a:t>
            </a:r>
            <a:endParaRPr lang="zh-CN" altLang="zh-CN" dirty="0"/>
          </a:p>
        </p:txBody>
      </p:sp>
      <p:sp>
        <p:nvSpPr>
          <p:cNvPr id="3" name="AutoShape 5">
            <a:extLst>
              <a:ext uri="{FF2B5EF4-FFF2-40B4-BE49-F238E27FC236}">
                <a16:creationId xmlns:a16="http://schemas.microsoft.com/office/drawing/2014/main" id="{6E9FC509-4258-98C1-591F-79DC36BA84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524" y="3429000"/>
            <a:ext cx="8568952" cy="1940957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0350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6827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23304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9781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34353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8925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43497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8069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latin typeface="+mn-ea"/>
                <a:ea typeface="+mn-ea"/>
              </a:rPr>
              <a:t>7</a:t>
            </a:r>
            <a:r>
              <a:rPr lang="zh-CN" altLang="zh-CN" dirty="0">
                <a:latin typeface="+mn-ea"/>
                <a:ea typeface="+mn-ea"/>
              </a:rPr>
              <a:t>．写出产生语言</a:t>
            </a:r>
            <a:r>
              <a:rPr lang="en-US" altLang="zh-CN" dirty="0"/>
              <a:t>{</a:t>
            </a:r>
            <a:r>
              <a:rPr lang="en-US" altLang="zh-CN" dirty="0" err="1"/>
              <a:t>a,b</a:t>
            </a:r>
            <a:r>
              <a:rPr lang="en-US" altLang="zh-CN" dirty="0"/>
              <a:t>}</a:t>
            </a:r>
            <a:r>
              <a:rPr lang="en-US" altLang="zh-CN" baseline="30000" dirty="0"/>
              <a:t>*</a:t>
            </a:r>
            <a:r>
              <a:rPr lang="en-US" altLang="zh-CN" dirty="0"/>
              <a:t>{a}{a</a:t>
            </a:r>
            <a:r>
              <a:rPr lang="en-US" altLang="zh-CN" baseline="30000" dirty="0"/>
              <a:t>n</a:t>
            </a:r>
            <a:r>
              <a:rPr lang="en-US" altLang="zh-CN" dirty="0"/>
              <a:t>b</a:t>
            </a:r>
            <a:r>
              <a:rPr lang="en-US" altLang="zh-CN" baseline="30000" dirty="0"/>
              <a:t>n</a:t>
            </a:r>
            <a:r>
              <a:rPr lang="en-US" altLang="zh-CN" dirty="0"/>
              <a:t>|n</a:t>
            </a:r>
            <a:r>
              <a:rPr lang="en-US" altLang="zh-CN" dirty="0">
                <a:sym typeface="Symbol" pitchFamily="2" charset="2"/>
              </a:rPr>
              <a:t></a:t>
            </a:r>
            <a:r>
              <a:rPr lang="en-US" altLang="zh-CN" dirty="0"/>
              <a:t>0}</a:t>
            </a:r>
            <a:r>
              <a:rPr lang="zh-CN" altLang="zh-CN" dirty="0">
                <a:latin typeface="+mn-ea"/>
                <a:ea typeface="+mn-ea"/>
              </a:rPr>
              <a:t>的文法；</a:t>
            </a:r>
          </a:p>
          <a:p>
            <a:r>
              <a:rPr lang="zh-CN" altLang="zh-CN" dirty="0">
                <a:latin typeface="+mn-ea"/>
                <a:ea typeface="+mn-ea"/>
              </a:rPr>
              <a:t>答：</a:t>
            </a:r>
          </a:p>
          <a:p>
            <a:r>
              <a:rPr lang="zh-CN" altLang="en-US" dirty="0"/>
              <a:t>     </a:t>
            </a:r>
            <a:r>
              <a:rPr lang="en-US" altLang="zh-CN" dirty="0">
                <a:latin typeface="+mn-lt"/>
              </a:rPr>
              <a:t>S</a:t>
            </a:r>
            <a:r>
              <a:rPr lang="zh-CN" altLang="zh-CN" dirty="0">
                <a:latin typeface="+mn-lt"/>
              </a:rPr>
              <a:t>→</a:t>
            </a:r>
            <a:r>
              <a:rPr lang="en-US" altLang="zh-CN" dirty="0" err="1">
                <a:latin typeface="+mn-lt"/>
              </a:rPr>
              <a:t>BaC</a:t>
            </a:r>
            <a:endParaRPr lang="zh-CN" altLang="zh-CN" dirty="0">
              <a:latin typeface="+mn-lt"/>
            </a:endParaRPr>
          </a:p>
          <a:p>
            <a:r>
              <a:rPr lang="zh-CN" altLang="en-US" dirty="0">
                <a:latin typeface="+mn-lt"/>
              </a:rPr>
              <a:t>     </a:t>
            </a:r>
            <a:r>
              <a:rPr lang="en-US" altLang="zh-CN" dirty="0">
                <a:latin typeface="+mn-lt"/>
              </a:rPr>
              <a:t>B</a:t>
            </a:r>
            <a:r>
              <a:rPr lang="zh-CN" altLang="zh-CN" dirty="0">
                <a:latin typeface="+mn-lt"/>
              </a:rPr>
              <a:t>→</a:t>
            </a:r>
            <a:r>
              <a:rPr lang="en-US" altLang="zh-CN" dirty="0" err="1">
                <a:latin typeface="+mn-lt"/>
              </a:rPr>
              <a:t>aB|bB</a:t>
            </a:r>
            <a:r>
              <a:rPr lang="en-US" altLang="zh-CN" dirty="0">
                <a:latin typeface="+mn-lt"/>
              </a:rPr>
              <a:t>|</a:t>
            </a:r>
            <a:r>
              <a:rPr lang="en-US" altLang="zh-CN" dirty="0">
                <a:latin typeface="+mn-lt"/>
                <a:sym typeface="Symbol" pitchFamily="2" charset="2"/>
              </a:rPr>
              <a:t></a:t>
            </a:r>
            <a:endParaRPr lang="zh-CN" altLang="zh-CN" dirty="0">
              <a:latin typeface="+mn-lt"/>
            </a:endParaRPr>
          </a:p>
          <a:p>
            <a:r>
              <a:rPr lang="zh-CN" altLang="en-US" dirty="0">
                <a:latin typeface="+mn-lt"/>
              </a:rPr>
              <a:t>     </a:t>
            </a:r>
            <a:r>
              <a:rPr lang="en-US" altLang="zh-CN" dirty="0">
                <a:latin typeface="+mn-lt"/>
              </a:rPr>
              <a:t>C</a:t>
            </a:r>
            <a:r>
              <a:rPr lang="zh-CN" altLang="zh-CN" dirty="0">
                <a:latin typeface="+mn-lt"/>
              </a:rPr>
              <a:t>→</a:t>
            </a:r>
            <a:r>
              <a:rPr lang="en-US" altLang="zh-CN" dirty="0" err="1">
                <a:latin typeface="+mn-lt"/>
              </a:rPr>
              <a:t>aCb</a:t>
            </a:r>
            <a:r>
              <a:rPr lang="en-US" altLang="zh-CN" dirty="0">
                <a:latin typeface="+mn-lt"/>
              </a:rPr>
              <a:t>|</a:t>
            </a:r>
            <a:r>
              <a:rPr lang="en-US" altLang="zh-CN" dirty="0">
                <a:latin typeface="+mn-lt"/>
                <a:sym typeface="Symbol" pitchFamily="2" charset="2"/>
              </a:rPr>
              <a:t></a:t>
            </a:r>
            <a:endParaRPr lang="zh-CN" altLang="zh-CN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54754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4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05" grpId="0" animBg="1" autoUpdateAnimBg="0"/>
      <p:bldP spid="3" grpId="0" animBg="1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5B11E-76DD-3A84-9A47-AD7A150CF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1">
            <a:extLst>
              <a:ext uri="{FF2B5EF4-FFF2-40B4-BE49-F238E27FC236}">
                <a16:creationId xmlns:a16="http://schemas.microsoft.com/office/drawing/2014/main" id="{EF507A31-BEC5-57A5-3F62-69D623FCDFA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电子科技大学计算机科学与工程学院</a:t>
            </a:r>
          </a:p>
        </p:txBody>
      </p:sp>
      <p:sp>
        <p:nvSpPr>
          <p:cNvPr id="204805" name="AutoShape 5">
            <a:extLst>
              <a:ext uri="{FF2B5EF4-FFF2-40B4-BE49-F238E27FC236}">
                <a16:creationId xmlns:a16="http://schemas.microsoft.com/office/drawing/2014/main" id="{3536A997-8384-956A-7E51-A47F9801CA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524" y="911661"/>
            <a:ext cx="8568952" cy="1940957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0350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6827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23304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9781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34353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8925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43497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8069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latin typeface="+mn-ea"/>
                <a:ea typeface="+mn-ea"/>
              </a:rPr>
              <a:t>7. </a:t>
            </a:r>
            <a:r>
              <a:rPr lang="zh-CN" altLang="zh-CN" dirty="0">
                <a:latin typeface="+mn-ea"/>
                <a:ea typeface="+mn-ea"/>
              </a:rPr>
              <a:t>写出产生至少包含两个</a:t>
            </a:r>
            <a:r>
              <a:rPr lang="en-US" altLang="zh-CN" dirty="0">
                <a:latin typeface="+mn-ea"/>
                <a:ea typeface="+mn-ea"/>
              </a:rPr>
              <a:t>a</a:t>
            </a:r>
            <a:r>
              <a:rPr lang="zh-CN" altLang="zh-CN" dirty="0">
                <a:latin typeface="+mn-ea"/>
                <a:ea typeface="+mn-ea"/>
              </a:rPr>
              <a:t>的由</a:t>
            </a:r>
            <a:r>
              <a:rPr lang="en-US" altLang="zh-CN" dirty="0">
                <a:latin typeface="+mn-ea"/>
                <a:ea typeface="+mn-ea"/>
              </a:rPr>
              <a:t>a</a:t>
            </a:r>
            <a:r>
              <a:rPr lang="zh-CN" altLang="zh-CN" dirty="0">
                <a:latin typeface="+mn-ea"/>
                <a:ea typeface="+mn-ea"/>
              </a:rPr>
              <a:t>和</a:t>
            </a:r>
            <a:r>
              <a:rPr lang="en-US" altLang="zh-CN" dirty="0">
                <a:latin typeface="+mn-ea"/>
                <a:ea typeface="+mn-ea"/>
              </a:rPr>
              <a:t>b</a:t>
            </a:r>
            <a:r>
              <a:rPr lang="zh-CN" altLang="zh-CN" dirty="0">
                <a:latin typeface="+mn-ea"/>
                <a:ea typeface="+mn-ea"/>
              </a:rPr>
              <a:t>组成的任意串的文法；</a:t>
            </a:r>
            <a:endParaRPr lang="en-US" altLang="zh-CN" dirty="0">
              <a:latin typeface="+mn-ea"/>
              <a:ea typeface="+mn-ea"/>
            </a:endParaRPr>
          </a:p>
          <a:p>
            <a:endParaRPr lang="zh-CN" altLang="zh-CN" dirty="0">
              <a:latin typeface="+mn-ea"/>
              <a:ea typeface="+mn-ea"/>
            </a:endParaRPr>
          </a:p>
          <a:p>
            <a:r>
              <a:rPr lang="zh-CN" altLang="zh-CN" dirty="0">
                <a:latin typeface="+mn-ea"/>
                <a:ea typeface="+mn-ea"/>
              </a:rPr>
              <a:t>答：</a:t>
            </a:r>
          </a:p>
          <a:p>
            <a:r>
              <a:rPr lang="en-US" altLang="zh-CN" dirty="0"/>
              <a:t>	S</a:t>
            </a:r>
            <a:r>
              <a:rPr lang="zh-CN" altLang="zh-CN" dirty="0"/>
              <a:t>→</a:t>
            </a:r>
            <a:r>
              <a:rPr lang="en-US" altLang="zh-CN" dirty="0" err="1"/>
              <a:t>CaCaC</a:t>
            </a:r>
            <a:endParaRPr lang="zh-CN" altLang="zh-CN" dirty="0"/>
          </a:p>
          <a:p>
            <a:r>
              <a:rPr lang="en-US" altLang="zh-CN" dirty="0"/>
              <a:t>	C</a:t>
            </a:r>
            <a:r>
              <a:rPr lang="zh-CN" altLang="zh-CN" dirty="0"/>
              <a:t>→</a:t>
            </a:r>
            <a:r>
              <a:rPr lang="en-US" altLang="zh-CN" dirty="0" err="1"/>
              <a:t>aC|bC</a:t>
            </a:r>
            <a:r>
              <a:rPr lang="en-US" altLang="zh-CN" dirty="0"/>
              <a:t>|</a:t>
            </a:r>
            <a:r>
              <a:rPr lang="en-US" altLang="zh-CN" dirty="0">
                <a:sym typeface="Symbol" pitchFamily="2" charset="2"/>
              </a:rPr>
              <a:t></a:t>
            </a:r>
            <a:endParaRPr lang="zh-CN" altLang="zh-CN" dirty="0"/>
          </a:p>
        </p:txBody>
      </p:sp>
      <p:sp>
        <p:nvSpPr>
          <p:cNvPr id="3" name="AutoShape 5">
            <a:extLst>
              <a:ext uri="{FF2B5EF4-FFF2-40B4-BE49-F238E27FC236}">
                <a16:creationId xmlns:a16="http://schemas.microsoft.com/office/drawing/2014/main" id="{E39472C4-E855-38D5-36C9-4575C84694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524" y="2921553"/>
            <a:ext cx="8568952" cy="3411998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0350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6827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23304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9781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34353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8925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43497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8069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latin typeface="+mn-ea"/>
                <a:ea typeface="+mn-ea"/>
              </a:rPr>
              <a:t>8</a:t>
            </a:r>
            <a:r>
              <a:rPr lang="zh-CN" altLang="zh-CN" dirty="0">
                <a:latin typeface="+mn-ea"/>
                <a:ea typeface="+mn-ea"/>
              </a:rPr>
              <a:t>、提取如下文法</a:t>
            </a:r>
            <a:r>
              <a:rPr lang="en-US" altLang="zh-CN" dirty="0">
                <a:latin typeface="+mn-ea"/>
                <a:ea typeface="+mn-ea"/>
              </a:rPr>
              <a:t>G</a:t>
            </a:r>
            <a:r>
              <a:rPr lang="zh-CN" altLang="zh-CN" dirty="0">
                <a:latin typeface="+mn-ea"/>
                <a:ea typeface="+mn-ea"/>
              </a:rPr>
              <a:t>的公共左因子。</a:t>
            </a:r>
          </a:p>
          <a:p>
            <a:r>
              <a:rPr lang="en-US" altLang="zh-CN" dirty="0"/>
              <a:t>	S</a:t>
            </a:r>
            <a:r>
              <a:rPr lang="zh-CN" altLang="zh-CN" dirty="0"/>
              <a:t>→</a:t>
            </a:r>
            <a:r>
              <a:rPr lang="en-US" altLang="zh-CN" dirty="0" err="1"/>
              <a:t>abSA|aA|abA</a:t>
            </a:r>
            <a:endParaRPr lang="zh-CN" altLang="zh-CN" dirty="0"/>
          </a:p>
          <a:p>
            <a:r>
              <a:rPr lang="en-US" altLang="zh-CN" dirty="0"/>
              <a:t>	A</a:t>
            </a:r>
            <a:r>
              <a:rPr lang="zh-CN" altLang="zh-CN" dirty="0"/>
              <a:t>→</a:t>
            </a:r>
            <a:r>
              <a:rPr lang="en-US" altLang="zh-CN" dirty="0"/>
              <a:t>*</a:t>
            </a:r>
            <a:r>
              <a:rPr lang="en-US" altLang="zh-CN" dirty="0" err="1"/>
              <a:t>aA</a:t>
            </a:r>
            <a:r>
              <a:rPr lang="en-US" altLang="zh-CN" dirty="0"/>
              <a:t>|*a</a:t>
            </a:r>
            <a:endParaRPr lang="zh-CN" altLang="zh-CN" dirty="0"/>
          </a:p>
          <a:p>
            <a:r>
              <a:rPr lang="zh-CN" altLang="zh-CN" dirty="0">
                <a:latin typeface="+mn-ea"/>
                <a:ea typeface="+mn-ea"/>
              </a:rPr>
              <a:t>答：</a:t>
            </a:r>
          </a:p>
          <a:p>
            <a:r>
              <a:rPr lang="en-US" altLang="zh-CN" dirty="0">
                <a:latin typeface="+mn-lt"/>
              </a:rPr>
              <a:t>	S</a:t>
            </a:r>
            <a:r>
              <a:rPr lang="zh-CN" altLang="zh-CN" dirty="0">
                <a:latin typeface="+mn-lt"/>
              </a:rPr>
              <a:t>→</a:t>
            </a:r>
            <a:r>
              <a:rPr lang="en-US" altLang="zh-CN" dirty="0" err="1">
                <a:latin typeface="+mn-lt"/>
              </a:rPr>
              <a:t>aS′</a:t>
            </a:r>
            <a:endParaRPr lang="zh-CN" altLang="zh-CN" dirty="0">
              <a:latin typeface="+mn-lt"/>
            </a:endParaRPr>
          </a:p>
          <a:p>
            <a:r>
              <a:rPr lang="en-US" altLang="zh-CN" dirty="0">
                <a:latin typeface="+mn-lt"/>
              </a:rPr>
              <a:t>	S</a:t>
            </a:r>
            <a:r>
              <a:rPr lang="en-US" altLang="zh-CN" dirty="0"/>
              <a:t>′</a:t>
            </a:r>
            <a:r>
              <a:rPr lang="zh-CN" altLang="zh-CN" dirty="0">
                <a:latin typeface="+mn-lt"/>
              </a:rPr>
              <a:t>→</a:t>
            </a:r>
            <a:r>
              <a:rPr lang="en-US" altLang="zh-CN" dirty="0" err="1">
                <a:latin typeface="+mn-lt"/>
              </a:rPr>
              <a:t>bS</a:t>
            </a:r>
            <a:r>
              <a:rPr lang="en-US" altLang="zh-CN" dirty="0"/>
              <a:t>″</a:t>
            </a:r>
            <a:r>
              <a:rPr lang="en-US" altLang="zh-CN" dirty="0">
                <a:latin typeface="+mn-lt"/>
              </a:rPr>
              <a:t>|A</a:t>
            </a:r>
            <a:endParaRPr lang="zh-CN" altLang="zh-CN" dirty="0">
              <a:latin typeface="+mn-lt"/>
            </a:endParaRPr>
          </a:p>
          <a:p>
            <a:r>
              <a:rPr lang="en-US" altLang="zh-CN" dirty="0">
                <a:latin typeface="+mn-lt"/>
              </a:rPr>
              <a:t>	S</a:t>
            </a:r>
            <a:r>
              <a:rPr lang="en-US" altLang="zh-CN" dirty="0"/>
              <a:t>″</a:t>
            </a:r>
            <a:r>
              <a:rPr lang="zh-CN" altLang="zh-CN" dirty="0">
                <a:latin typeface="+mn-lt"/>
              </a:rPr>
              <a:t>→</a:t>
            </a:r>
            <a:r>
              <a:rPr lang="en-US" altLang="zh-CN" dirty="0">
                <a:latin typeface="+mn-lt"/>
              </a:rPr>
              <a:t>SA|A</a:t>
            </a:r>
            <a:endParaRPr lang="zh-CN" altLang="zh-CN" dirty="0">
              <a:latin typeface="+mn-lt"/>
            </a:endParaRPr>
          </a:p>
          <a:p>
            <a:r>
              <a:rPr lang="en-US" altLang="zh-CN" dirty="0">
                <a:latin typeface="+mn-lt"/>
              </a:rPr>
              <a:t>	A</a:t>
            </a:r>
            <a:r>
              <a:rPr lang="zh-CN" altLang="zh-CN" dirty="0">
                <a:latin typeface="+mn-lt"/>
              </a:rPr>
              <a:t>→</a:t>
            </a:r>
            <a:r>
              <a:rPr lang="en-US" altLang="zh-CN" dirty="0">
                <a:latin typeface="+mn-lt"/>
              </a:rPr>
              <a:t>*</a:t>
            </a:r>
            <a:r>
              <a:rPr lang="en-US" altLang="zh-CN" dirty="0" err="1">
                <a:latin typeface="+mn-lt"/>
              </a:rPr>
              <a:t>aA</a:t>
            </a:r>
            <a:r>
              <a:rPr lang="en-US" altLang="zh-CN" dirty="0"/>
              <a:t>′</a:t>
            </a:r>
            <a:endParaRPr lang="zh-CN" altLang="zh-CN" dirty="0">
              <a:latin typeface="+mn-lt"/>
            </a:endParaRPr>
          </a:p>
          <a:p>
            <a:r>
              <a:rPr lang="en-US" altLang="zh-CN" dirty="0">
                <a:latin typeface="+mn-lt"/>
              </a:rPr>
              <a:t>	A</a:t>
            </a:r>
            <a:r>
              <a:rPr lang="en-US" altLang="zh-CN" dirty="0"/>
              <a:t>′</a:t>
            </a:r>
            <a:r>
              <a:rPr lang="zh-CN" altLang="zh-CN" dirty="0">
                <a:latin typeface="+mn-lt"/>
              </a:rPr>
              <a:t>→</a:t>
            </a:r>
            <a:r>
              <a:rPr lang="en-US" altLang="zh-CN" dirty="0">
                <a:latin typeface="+mn-lt"/>
              </a:rPr>
              <a:t>A|</a:t>
            </a:r>
            <a:r>
              <a:rPr lang="en-US" altLang="zh-CN" dirty="0">
                <a:latin typeface="+mn-lt"/>
                <a:sym typeface="Symbol" pitchFamily="2" charset="2"/>
              </a:rPr>
              <a:t></a:t>
            </a:r>
            <a:endParaRPr lang="zh-CN" altLang="zh-CN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69221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4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05" grpId="0" animBg="1" autoUpdateAnimBg="0"/>
      <p:bldP spid="3" grpId="0" animBg="1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5CF9C-B45C-6939-84B9-131C5E5DD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1">
            <a:extLst>
              <a:ext uri="{FF2B5EF4-FFF2-40B4-BE49-F238E27FC236}">
                <a16:creationId xmlns:a16="http://schemas.microsoft.com/office/drawing/2014/main" id="{F64D2895-0FF7-B04F-C22F-01CF7E53EB1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电子科技大学计算机科学与工程学院</a:t>
            </a:r>
          </a:p>
        </p:txBody>
      </p:sp>
      <p:sp>
        <p:nvSpPr>
          <p:cNvPr id="204805" name="AutoShape 5">
            <a:extLst>
              <a:ext uri="{FF2B5EF4-FFF2-40B4-BE49-F238E27FC236}">
                <a16:creationId xmlns:a16="http://schemas.microsoft.com/office/drawing/2014/main" id="{855302E4-E22B-CD5F-ABAB-E212132385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524" y="911661"/>
            <a:ext cx="8568952" cy="3044238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0350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6827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23304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9781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34353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8925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43497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8069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latin typeface="+mn-ea"/>
                <a:ea typeface="+mn-ea"/>
              </a:rPr>
              <a:t>9.</a:t>
            </a:r>
            <a:r>
              <a:rPr lang="zh-CN" altLang="en-US" dirty="0">
                <a:latin typeface="+mn-ea"/>
                <a:ea typeface="+mn-ea"/>
              </a:rPr>
              <a:t> </a:t>
            </a:r>
            <a:r>
              <a:rPr lang="zh-CN" altLang="zh-CN" dirty="0">
                <a:latin typeface="+mn-ea"/>
                <a:ea typeface="+mn-ea"/>
              </a:rPr>
              <a:t>消除如下文法的间接左递归，非终结符次序为</a:t>
            </a:r>
            <a:r>
              <a:rPr lang="en-US" altLang="zh-CN" dirty="0">
                <a:latin typeface="+mn-lt"/>
                <a:ea typeface="+mn-ea"/>
              </a:rPr>
              <a:t>A,B,S</a:t>
            </a:r>
            <a:r>
              <a:rPr lang="zh-CN" altLang="zh-CN" dirty="0">
                <a:latin typeface="+mn-ea"/>
                <a:ea typeface="+mn-ea"/>
              </a:rPr>
              <a:t>。</a:t>
            </a:r>
          </a:p>
          <a:p>
            <a:r>
              <a:rPr lang="en-US" altLang="zh-CN" dirty="0"/>
              <a:t>	S</a:t>
            </a:r>
            <a:r>
              <a:rPr lang="zh-CN" altLang="zh-CN" dirty="0"/>
              <a:t>→</a:t>
            </a:r>
            <a:r>
              <a:rPr lang="en-US" altLang="zh-CN" dirty="0" err="1"/>
              <a:t>Ac|Bc</a:t>
            </a:r>
            <a:endParaRPr lang="zh-CN" altLang="zh-CN" dirty="0"/>
          </a:p>
          <a:p>
            <a:r>
              <a:rPr lang="en-US" altLang="zh-CN" dirty="0"/>
              <a:t>	A</a:t>
            </a:r>
            <a:r>
              <a:rPr lang="zh-CN" altLang="zh-CN" dirty="0"/>
              <a:t>→</a:t>
            </a:r>
            <a:r>
              <a:rPr lang="en-US" altLang="zh-CN" dirty="0" err="1"/>
              <a:t>Sb|b</a:t>
            </a:r>
            <a:endParaRPr lang="zh-CN" altLang="zh-CN" dirty="0"/>
          </a:p>
          <a:p>
            <a:r>
              <a:rPr lang="en-US" altLang="zh-CN" dirty="0"/>
              <a:t>	B</a:t>
            </a:r>
            <a:r>
              <a:rPr lang="zh-CN" altLang="zh-CN" dirty="0"/>
              <a:t>→</a:t>
            </a:r>
            <a:r>
              <a:rPr lang="en-US" altLang="zh-CN" dirty="0" err="1"/>
              <a:t>Aa|a</a:t>
            </a:r>
            <a:endParaRPr lang="zh-CN" altLang="zh-CN" dirty="0"/>
          </a:p>
          <a:p>
            <a:r>
              <a:rPr lang="zh-CN" altLang="zh-CN" dirty="0">
                <a:latin typeface="+mn-ea"/>
                <a:ea typeface="+mn-ea"/>
              </a:rPr>
              <a:t>答：</a:t>
            </a:r>
          </a:p>
          <a:p>
            <a:r>
              <a:rPr lang="en-US" altLang="zh-CN" dirty="0"/>
              <a:t>	S</a:t>
            </a:r>
            <a:r>
              <a:rPr lang="zh-CN" altLang="zh-CN" dirty="0"/>
              <a:t>→</a:t>
            </a:r>
            <a:r>
              <a:rPr lang="en-US" altLang="zh-CN" dirty="0" err="1"/>
              <a:t>bcS</a:t>
            </a:r>
            <a:r>
              <a:rPr lang="en-US" altLang="zh-CN" dirty="0"/>
              <a:t>′|</a:t>
            </a:r>
            <a:r>
              <a:rPr lang="en-US" altLang="zh-CN" dirty="0" err="1"/>
              <a:t>bacS</a:t>
            </a:r>
            <a:r>
              <a:rPr lang="en-US" altLang="zh-CN" dirty="0"/>
              <a:t>″|</a:t>
            </a:r>
            <a:r>
              <a:rPr lang="en-US" altLang="zh-CN" dirty="0" err="1"/>
              <a:t>acS</a:t>
            </a:r>
            <a:r>
              <a:rPr lang="en-US" altLang="zh-CN" dirty="0"/>
              <a:t>″</a:t>
            </a:r>
            <a:endParaRPr lang="zh-CN" altLang="zh-CN" dirty="0"/>
          </a:p>
          <a:p>
            <a:r>
              <a:rPr lang="en-US" altLang="zh-CN" dirty="0"/>
              <a:t>	S′</a:t>
            </a:r>
            <a:r>
              <a:rPr lang="zh-CN" altLang="zh-CN" dirty="0"/>
              <a:t>→</a:t>
            </a:r>
            <a:r>
              <a:rPr lang="en-US" altLang="zh-CN" dirty="0" err="1"/>
              <a:t>bcS</a:t>
            </a:r>
            <a:r>
              <a:rPr lang="en-US" altLang="zh-CN" dirty="0"/>
              <a:t>′|</a:t>
            </a:r>
            <a:r>
              <a:rPr lang="en-US" altLang="zh-CN" dirty="0">
                <a:sym typeface="Symbol" pitchFamily="2" charset="2"/>
              </a:rPr>
              <a:t></a:t>
            </a:r>
            <a:endParaRPr lang="zh-CN" altLang="zh-CN" dirty="0"/>
          </a:p>
          <a:p>
            <a:r>
              <a:rPr lang="en-US" altLang="zh-CN" dirty="0"/>
              <a:t>	S″</a:t>
            </a:r>
            <a:r>
              <a:rPr lang="zh-CN" altLang="zh-CN" dirty="0"/>
              <a:t>→</a:t>
            </a:r>
            <a:r>
              <a:rPr lang="en-US" altLang="zh-CN" dirty="0" err="1"/>
              <a:t>abcS</a:t>
            </a:r>
            <a:r>
              <a:rPr lang="en-US" altLang="zh-CN" dirty="0"/>
              <a:t>″ |</a:t>
            </a:r>
            <a:r>
              <a:rPr lang="en-US" altLang="zh-CN" dirty="0">
                <a:sym typeface="Symbol" pitchFamily="2" charset="2"/>
              </a:rPr>
              <a:t>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140850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4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05" grpId="0" animBg="1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AA3A3-4495-40BA-11C8-37C333673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1">
            <a:extLst>
              <a:ext uri="{FF2B5EF4-FFF2-40B4-BE49-F238E27FC236}">
                <a16:creationId xmlns:a16="http://schemas.microsoft.com/office/drawing/2014/main" id="{83F634B6-58FF-0FCE-6D66-F4476864C0C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电子科技大学计算机科学与工程学院</a:t>
            </a:r>
          </a:p>
        </p:txBody>
      </p:sp>
      <p:sp>
        <p:nvSpPr>
          <p:cNvPr id="204804" name="AutoShape 4">
            <a:extLst>
              <a:ext uri="{FF2B5EF4-FFF2-40B4-BE49-F238E27FC236}">
                <a16:creationId xmlns:a16="http://schemas.microsoft.com/office/drawing/2014/main" id="{7D77EC05-93BC-75C4-A333-B077CBCC93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588" y="762000"/>
            <a:ext cx="4295775" cy="625703"/>
          </a:xfrm>
          <a:prstGeom prst="roundRect">
            <a:avLst>
              <a:gd name="adj" fmla="val 16667"/>
            </a:avLst>
          </a:prstGeom>
          <a:solidFill>
            <a:srgbClr val="99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kumimoji="1" lang="zh-CN" altLang="en-US" sz="2800" b="1" dirty="0">
                <a:solidFill>
                  <a:srgbClr val="3366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49" charset="-122"/>
                <a:ea typeface="仿宋_GB2312" pitchFamily="49" charset="-122"/>
              </a:rPr>
              <a:t>大题</a:t>
            </a:r>
          </a:p>
        </p:txBody>
      </p:sp>
      <p:sp>
        <p:nvSpPr>
          <p:cNvPr id="204805" name="AutoShape 5">
            <a:extLst>
              <a:ext uri="{FF2B5EF4-FFF2-40B4-BE49-F238E27FC236}">
                <a16:creationId xmlns:a16="http://schemas.microsoft.com/office/drawing/2014/main" id="{12648D87-F660-A5D2-72ED-55BAA10D6F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588" y="2420888"/>
            <a:ext cx="8215168" cy="1818370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0350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6827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23304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9781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34353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8925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43497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8069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一、对以下文法，进行分析（共</a:t>
            </a: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7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分）</a:t>
            </a: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已知文法</a:t>
            </a:r>
            <a:r>
              <a:rPr kumimoji="0" lang="en-US" altLang="zh-CN" dirty="0">
                <a:latin typeface="+mn-lt"/>
                <a:ea typeface="仿宋_GB2312" pitchFamily="49" charset="-122"/>
              </a:rPr>
              <a:t>G(F)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：</a:t>
            </a: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    </a:t>
            </a:r>
            <a:r>
              <a:rPr kumimoji="0" lang="en-US" altLang="zh-CN" dirty="0">
                <a:latin typeface="+mn-lt"/>
                <a:ea typeface="仿宋_GB2312" pitchFamily="49" charset="-122"/>
              </a:rPr>
              <a:t>F →(U)|</a:t>
            </a:r>
            <a:r>
              <a:rPr kumimoji="0" lang="en-US" altLang="zh-CN" dirty="0" err="1">
                <a:latin typeface="+mn-lt"/>
                <a:ea typeface="仿宋_GB2312" pitchFamily="49" charset="-122"/>
              </a:rPr>
              <a:t>bF|b</a:t>
            </a:r>
            <a:r>
              <a:rPr kumimoji="0" lang="en-US" altLang="zh-CN" dirty="0">
                <a:latin typeface="+mn-lt"/>
                <a:ea typeface="仿宋_GB2312" pitchFamily="49" charset="-122"/>
              </a:rPr>
              <a:t> </a:t>
            </a: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-US" altLang="zh-CN" dirty="0">
                <a:latin typeface="+mn-lt"/>
                <a:ea typeface="仿宋_GB2312" pitchFamily="49" charset="-122"/>
              </a:rPr>
              <a:t>    U → U, F|F</a:t>
            </a:r>
          </a:p>
        </p:txBody>
      </p:sp>
    </p:spTree>
    <p:extLst>
      <p:ext uri="{BB962C8B-B14F-4D97-AF65-F5344CB8AC3E}">
        <p14:creationId xmlns:p14="http://schemas.microsoft.com/office/powerpoint/2010/main" val="2054740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4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05" grpId="0" animBg="1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A96DC-594F-4ED6-78CB-04E4A62E1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1">
            <a:extLst>
              <a:ext uri="{FF2B5EF4-FFF2-40B4-BE49-F238E27FC236}">
                <a16:creationId xmlns:a16="http://schemas.microsoft.com/office/drawing/2014/main" id="{FDAC5FB7-357C-CA27-E41C-1AA041BF9A0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电子科技大学计算机科学与工程学院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B94591E0-F37D-3FEB-C2D8-8E904DED48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580" y="825165"/>
            <a:ext cx="7560840" cy="4968552"/>
          </a:xfrm>
          <a:prstGeom prst="rect">
            <a:avLst/>
          </a:prstGeom>
          <a:solidFill>
            <a:srgbClr val="B4FC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081088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717675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2354263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9908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34480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9052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43624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8196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0000"/>
              </a:lnSpc>
              <a:buClrTx/>
              <a:buSzTx/>
            </a:pPr>
            <a:endParaRPr lang="en-US" altLang="zh-CN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80000"/>
              </a:lnSpc>
              <a:buClrTx/>
              <a:buSzTx/>
            </a:pP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1.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画出句型 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(F,(b)) 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的语法树</a:t>
            </a:r>
            <a:endParaRPr lang="en-US" altLang="zh-CN" dirty="0"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F45AD37E-DB02-3B00-11EF-1D8F5130E7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40" y="1556792"/>
            <a:ext cx="3168352" cy="39622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71284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86CF2-4331-6F35-113C-FD12B3BFB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1">
            <a:extLst>
              <a:ext uri="{FF2B5EF4-FFF2-40B4-BE49-F238E27FC236}">
                <a16:creationId xmlns:a16="http://schemas.microsoft.com/office/drawing/2014/main" id="{C8937117-FBF3-3FED-B9EB-EBABFB73B1D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电子科技大学计算机科学与工程学院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FEE4051F-C683-F47C-B97E-00168BCDB2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568" y="980728"/>
            <a:ext cx="7920880" cy="4608512"/>
          </a:xfrm>
          <a:prstGeom prst="rect">
            <a:avLst/>
          </a:prstGeom>
          <a:solidFill>
            <a:srgbClr val="B4FC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081088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717675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2354263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9908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34480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9052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43624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8196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0000"/>
              </a:lnSpc>
              <a:buClrTx/>
              <a:buSzTx/>
            </a:pPr>
            <a:endParaRPr lang="en-US" altLang="zh-CN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80000"/>
              </a:lnSpc>
              <a:buClrTx/>
              <a:buSzTx/>
            </a:pP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2.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给出上述句型的短语、素短语、直接短语、句柄</a:t>
            </a:r>
          </a:p>
          <a:p>
            <a:pPr>
              <a:lnSpc>
                <a:spcPct val="80000"/>
              </a:lnSpc>
              <a:buClrTx/>
              <a:buSzTx/>
            </a:pP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80000"/>
              </a:lnSpc>
              <a:buClrTx/>
              <a:buSzTx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短语：</a:t>
            </a:r>
          </a:p>
          <a:p>
            <a:pPr>
              <a:lnSpc>
                <a:spcPct val="80000"/>
              </a:lnSpc>
              <a:buClrTx/>
              <a:buSzTx/>
            </a:pP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b    (b)     F,(b)     (F,(b))   F</a:t>
            </a:r>
          </a:p>
          <a:p>
            <a:pPr>
              <a:lnSpc>
                <a:spcPct val="80000"/>
              </a:lnSpc>
              <a:buClrTx/>
              <a:buSzTx/>
            </a:pPr>
            <a:endParaRPr lang="en-US" altLang="zh-CN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80000"/>
              </a:lnSpc>
              <a:buClrTx/>
              <a:buSzTx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素短语：</a:t>
            </a:r>
          </a:p>
          <a:p>
            <a:pPr>
              <a:lnSpc>
                <a:spcPct val="80000"/>
              </a:lnSpc>
              <a:buClrTx/>
              <a:buSzTx/>
            </a:pP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b</a:t>
            </a:r>
          </a:p>
          <a:p>
            <a:pPr>
              <a:lnSpc>
                <a:spcPct val="80000"/>
              </a:lnSpc>
              <a:buClrTx/>
              <a:buSzTx/>
            </a:pPr>
            <a:endParaRPr lang="en-US" altLang="zh-CN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80000"/>
              </a:lnSpc>
              <a:buClrTx/>
              <a:buSzTx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直接短语：</a:t>
            </a:r>
          </a:p>
          <a:p>
            <a:pPr>
              <a:lnSpc>
                <a:spcPct val="80000"/>
              </a:lnSpc>
              <a:buClrTx/>
              <a:buSzTx/>
            </a:pP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b, F</a:t>
            </a:r>
          </a:p>
          <a:p>
            <a:pPr>
              <a:lnSpc>
                <a:spcPct val="80000"/>
              </a:lnSpc>
              <a:buClrTx/>
              <a:buSzTx/>
            </a:pPr>
            <a:endParaRPr lang="en-US" altLang="zh-CN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80000"/>
              </a:lnSpc>
              <a:buClrTx/>
              <a:buSzTx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句柄</a:t>
            </a:r>
          </a:p>
          <a:p>
            <a:pPr>
              <a:lnSpc>
                <a:spcPct val="80000"/>
              </a:lnSpc>
              <a:buClrTx/>
              <a:buSzTx/>
            </a:pP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F</a:t>
            </a:r>
          </a:p>
          <a:p>
            <a:pPr>
              <a:lnSpc>
                <a:spcPct val="80000"/>
              </a:lnSpc>
              <a:buClrTx/>
              <a:buSzTx/>
            </a:pPr>
            <a:endParaRPr lang="en-US" altLang="zh-CN" sz="2000" dirty="0">
              <a:latin typeface="楷体_GB2312" pitchFamily="49" charset="-122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3466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9B0CF-D702-21CD-7ADA-440E91AB3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1">
            <a:extLst>
              <a:ext uri="{FF2B5EF4-FFF2-40B4-BE49-F238E27FC236}">
                <a16:creationId xmlns:a16="http://schemas.microsoft.com/office/drawing/2014/main" id="{1C5B883C-E675-04C2-5F8F-3E2669F572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电子科技大学计算机科学与工程学院</a:t>
            </a:r>
          </a:p>
        </p:txBody>
      </p:sp>
      <p:sp>
        <p:nvSpPr>
          <p:cNvPr id="204805" name="AutoShape 5">
            <a:extLst>
              <a:ext uri="{FF2B5EF4-FFF2-40B4-BE49-F238E27FC236}">
                <a16:creationId xmlns:a16="http://schemas.microsoft.com/office/drawing/2014/main" id="{12A57DD0-13B4-B835-CC46-4C03ABDBBA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416" y="2132856"/>
            <a:ext cx="8215168" cy="2267855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0350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6827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23304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9781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34353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8925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43497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8069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二、请完成下列文法的语义子程序。</a:t>
            </a:r>
            <a:endParaRPr kumimoji="0" lang="en-US" altLang="zh-CN" dirty="0">
              <a:latin typeface="仿宋_GB2312" pitchFamily="49" charset="-122"/>
              <a:ea typeface="仿宋_GB2312" pitchFamily="49" charset="-122"/>
            </a:endParaRP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   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    文法：  </a:t>
            </a: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       </a:t>
            </a:r>
            <a:r>
              <a:rPr kumimoji="0" lang="en" altLang="zh-CN" dirty="0">
                <a:latin typeface="+mn-lt"/>
                <a:ea typeface="仿宋_GB2312" pitchFamily="49" charset="-122"/>
              </a:rPr>
              <a:t>W </a:t>
            </a:r>
            <a:r>
              <a:rPr kumimoji="0" lang="en-US" altLang="zh-CN" dirty="0">
                <a:latin typeface="+mn-lt"/>
                <a:ea typeface="仿宋_GB2312" pitchFamily="49" charset="-122"/>
              </a:rPr>
              <a:t>→ </a:t>
            </a:r>
            <a:r>
              <a:rPr kumimoji="0" lang="en" altLang="zh-CN" dirty="0">
                <a:latin typeface="+mn-lt"/>
                <a:ea typeface="仿宋_GB2312" pitchFamily="49" charset="-122"/>
              </a:rPr>
              <a:t>While  M B  Do  N S</a:t>
            </a: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" altLang="zh-CN" dirty="0">
                <a:latin typeface="+mn-lt"/>
                <a:ea typeface="仿宋_GB2312" pitchFamily="49" charset="-122"/>
              </a:rPr>
              <a:t>       </a:t>
            </a:r>
            <a:r>
              <a:rPr kumimoji="0" lang="zh-CN" altLang="en-US" dirty="0">
                <a:latin typeface="+mn-lt"/>
                <a:ea typeface="仿宋_GB2312" pitchFamily="49" charset="-122"/>
              </a:rPr>
              <a:t> </a:t>
            </a:r>
            <a:r>
              <a:rPr kumimoji="0" lang="en" altLang="zh-CN" dirty="0">
                <a:latin typeface="+mn-lt"/>
                <a:ea typeface="仿宋_GB2312" pitchFamily="49" charset="-122"/>
              </a:rPr>
              <a:t>M</a:t>
            </a:r>
            <a:r>
              <a:rPr kumimoji="0" lang="en-US" altLang="zh-CN" dirty="0">
                <a:latin typeface="+mn-lt"/>
                <a:ea typeface="仿宋_GB2312" pitchFamily="49" charset="-122"/>
              </a:rPr>
              <a:t> → </a:t>
            </a:r>
            <a:r>
              <a:rPr kumimoji="0" lang="el-GR" altLang="zh-CN" dirty="0">
                <a:latin typeface="+mn-lt"/>
                <a:ea typeface="仿宋_GB2312" pitchFamily="49" charset="-122"/>
              </a:rPr>
              <a:t>ε</a:t>
            </a: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zh-CN" altLang="en-US" dirty="0">
                <a:latin typeface="+mn-lt"/>
                <a:ea typeface="仿宋_GB2312" pitchFamily="49" charset="-122"/>
              </a:rPr>
              <a:t>        </a:t>
            </a:r>
            <a:r>
              <a:rPr kumimoji="0" lang="en" altLang="zh-CN" dirty="0">
                <a:latin typeface="+mn-lt"/>
                <a:ea typeface="仿宋_GB2312" pitchFamily="49" charset="-122"/>
              </a:rPr>
              <a:t>N </a:t>
            </a:r>
            <a:r>
              <a:rPr kumimoji="0" lang="en-US" altLang="zh-CN" dirty="0">
                <a:latin typeface="+mn-lt"/>
                <a:ea typeface="仿宋_GB2312" pitchFamily="49" charset="-122"/>
              </a:rPr>
              <a:t>→</a:t>
            </a:r>
            <a:r>
              <a:rPr kumimoji="0" lang="en" altLang="zh-CN" dirty="0">
                <a:latin typeface="+mn-lt"/>
                <a:ea typeface="仿宋_GB2312" pitchFamily="49" charset="-122"/>
              </a:rPr>
              <a:t> </a:t>
            </a:r>
            <a:r>
              <a:rPr kumimoji="0" lang="el-GR" altLang="zh-CN" dirty="0">
                <a:latin typeface="+mn-lt"/>
                <a:ea typeface="仿宋_GB2312" pitchFamily="49" charset="-122"/>
              </a:rPr>
              <a:t>ε</a:t>
            </a:r>
          </a:p>
        </p:txBody>
      </p:sp>
    </p:spTree>
    <p:extLst>
      <p:ext uri="{BB962C8B-B14F-4D97-AF65-F5344CB8AC3E}">
        <p14:creationId xmlns:p14="http://schemas.microsoft.com/office/powerpoint/2010/main" val="2386917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4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05" grpId="0" animBg="1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039D7-AC84-1418-1BAA-6CD5E9072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1">
            <a:extLst>
              <a:ext uri="{FF2B5EF4-FFF2-40B4-BE49-F238E27FC236}">
                <a16:creationId xmlns:a16="http://schemas.microsoft.com/office/drawing/2014/main" id="{53BFC600-50AD-5619-855C-CBED7CE002E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电子科技大学计算机科学与工程学院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BEA7CD40-AF14-8C98-547C-629C861CB3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580" y="944724"/>
            <a:ext cx="7668852" cy="4968552"/>
          </a:xfrm>
          <a:prstGeom prst="rect">
            <a:avLst/>
          </a:prstGeom>
          <a:solidFill>
            <a:srgbClr val="B4FC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081088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717675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2354263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9908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34480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9052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43624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8196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0000"/>
              </a:lnSpc>
              <a:buClrTx/>
              <a:buSzTx/>
            </a:pPr>
            <a:endParaRPr lang="en-US" altLang="zh-CN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80000"/>
              </a:lnSpc>
              <a:buClrTx/>
              <a:buSzTx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 答案：</a:t>
            </a:r>
          </a:p>
          <a:p>
            <a:pPr>
              <a:lnSpc>
                <a:spcPct val="80000"/>
              </a:lnSpc>
              <a:buClrTx/>
              <a:buSzTx/>
            </a:pPr>
            <a:endParaRPr lang="zh-CN" altLang="en-US" dirty="0">
              <a:latin typeface="+mn-lt"/>
              <a:ea typeface="楷体_GB2312" pitchFamily="49" charset="-122"/>
            </a:endParaRPr>
          </a:p>
          <a:p>
            <a:pPr>
              <a:lnSpc>
                <a:spcPct val="80000"/>
              </a:lnSpc>
              <a:buClrTx/>
              <a:buSzTx/>
            </a:pPr>
            <a:r>
              <a:rPr lang="en-US" altLang="zh-CN" dirty="0">
                <a:latin typeface="+mn-lt"/>
                <a:ea typeface="楷体_GB2312" pitchFamily="49" charset="-122"/>
              </a:rPr>
              <a:t>	W</a:t>
            </a:r>
            <a:r>
              <a:rPr kumimoji="0" lang="en-US" altLang="zh-CN" dirty="0">
                <a:latin typeface="+mn-lt"/>
                <a:ea typeface="仿宋_GB2312" pitchFamily="49" charset="-122"/>
              </a:rPr>
              <a:t> → </a:t>
            </a:r>
            <a:r>
              <a:rPr lang="en-US" altLang="zh-CN" dirty="0">
                <a:latin typeface="+mn-lt"/>
                <a:ea typeface="楷体_GB2312" pitchFamily="49" charset="-122"/>
              </a:rPr>
              <a:t>While  M B  Do  N S</a:t>
            </a:r>
          </a:p>
          <a:p>
            <a:pPr>
              <a:lnSpc>
                <a:spcPct val="80000"/>
              </a:lnSpc>
              <a:buClrTx/>
              <a:buSzTx/>
            </a:pPr>
            <a:r>
              <a:rPr lang="en-US" altLang="zh-CN" dirty="0">
                <a:latin typeface="+mn-lt"/>
                <a:ea typeface="楷体_GB2312" pitchFamily="49" charset="-122"/>
              </a:rPr>
              <a:t>	{   </a:t>
            </a:r>
          </a:p>
          <a:p>
            <a:pPr>
              <a:lnSpc>
                <a:spcPct val="80000"/>
              </a:lnSpc>
              <a:buClrTx/>
              <a:buSzTx/>
            </a:pPr>
            <a:r>
              <a:rPr lang="en-US" altLang="zh-CN" dirty="0">
                <a:latin typeface="+mn-lt"/>
                <a:ea typeface="楷体_GB2312" pitchFamily="49" charset="-122"/>
              </a:rPr>
              <a:t>	backpatch(B.T, </a:t>
            </a:r>
            <a:r>
              <a:rPr lang="en-US" altLang="zh-CN" dirty="0" err="1">
                <a:latin typeface="+mn-lt"/>
                <a:ea typeface="楷体_GB2312" pitchFamily="49" charset="-122"/>
              </a:rPr>
              <a:t>N.code</a:t>
            </a:r>
            <a:r>
              <a:rPr lang="en-US" altLang="zh-CN" dirty="0">
                <a:latin typeface="+mn-lt"/>
                <a:ea typeface="楷体_GB2312" pitchFamily="49" charset="-122"/>
              </a:rPr>
              <a:t>);</a:t>
            </a:r>
          </a:p>
          <a:p>
            <a:pPr>
              <a:lnSpc>
                <a:spcPct val="80000"/>
              </a:lnSpc>
              <a:buClrTx/>
              <a:buSzTx/>
            </a:pPr>
            <a:r>
              <a:rPr lang="en-US" altLang="zh-CN" dirty="0">
                <a:ea typeface="楷体_GB2312" pitchFamily="49" charset="-122"/>
              </a:rPr>
              <a:t>	</a:t>
            </a:r>
            <a:r>
              <a:rPr lang="en-US" altLang="zh-CN" dirty="0" err="1">
                <a:ea typeface="楷体_GB2312" pitchFamily="49" charset="-122"/>
              </a:rPr>
              <a:t>W.Chain</a:t>
            </a:r>
            <a:r>
              <a:rPr lang="en-US" altLang="zh-CN" dirty="0">
                <a:ea typeface="楷体_GB2312" pitchFamily="49" charset="-122"/>
              </a:rPr>
              <a:t> = B.F;</a:t>
            </a:r>
            <a:endParaRPr lang="zh-CN" altLang="en-US" dirty="0">
              <a:latin typeface="+mn-lt"/>
              <a:ea typeface="楷体_GB2312" pitchFamily="49" charset="-122"/>
            </a:endParaRPr>
          </a:p>
          <a:p>
            <a:pPr>
              <a:lnSpc>
                <a:spcPct val="80000"/>
              </a:lnSpc>
              <a:buClrTx/>
              <a:buSzTx/>
            </a:pPr>
            <a:r>
              <a:rPr lang="en-US" altLang="zh-CN" dirty="0">
                <a:latin typeface="+mn-lt"/>
                <a:ea typeface="楷体_GB2312" pitchFamily="49" charset="-122"/>
              </a:rPr>
              <a:t>	backpatch(</a:t>
            </a:r>
            <a:r>
              <a:rPr lang="en-US" altLang="zh-CN" dirty="0" err="1">
                <a:latin typeface="+mn-lt"/>
                <a:ea typeface="楷体_GB2312" pitchFamily="49" charset="-122"/>
              </a:rPr>
              <a:t>S.Chain</a:t>
            </a:r>
            <a:r>
              <a:rPr lang="en-US" altLang="zh-CN" dirty="0">
                <a:latin typeface="+mn-lt"/>
                <a:ea typeface="楷体_GB2312" pitchFamily="49" charset="-122"/>
              </a:rPr>
              <a:t>, </a:t>
            </a:r>
            <a:r>
              <a:rPr lang="en-US" altLang="zh-CN" dirty="0" err="1">
                <a:latin typeface="+mn-lt"/>
                <a:ea typeface="楷体_GB2312" pitchFamily="49" charset="-122"/>
              </a:rPr>
              <a:t>M.code</a:t>
            </a:r>
            <a:r>
              <a:rPr lang="en-US" altLang="zh-CN" dirty="0">
                <a:latin typeface="+mn-lt"/>
                <a:ea typeface="楷体_GB2312" pitchFamily="49" charset="-122"/>
              </a:rPr>
              <a:t>) ; </a:t>
            </a:r>
          </a:p>
          <a:p>
            <a:pPr>
              <a:lnSpc>
                <a:spcPct val="80000"/>
              </a:lnSpc>
              <a:buClrTx/>
              <a:buSzTx/>
            </a:pPr>
            <a:r>
              <a:rPr lang="en-US" altLang="zh-CN" dirty="0">
                <a:latin typeface="+mn-lt"/>
                <a:ea typeface="楷体_GB2312" pitchFamily="49" charset="-122"/>
              </a:rPr>
              <a:t>	emit(</a:t>
            </a:r>
            <a:r>
              <a:rPr lang="en-US" altLang="zh-CN" dirty="0" err="1">
                <a:latin typeface="+mn-lt"/>
                <a:ea typeface="楷体_GB2312" pitchFamily="49" charset="-122"/>
              </a:rPr>
              <a:t>goto</a:t>
            </a:r>
            <a:r>
              <a:rPr lang="en-US" altLang="zh-CN" dirty="0">
                <a:latin typeface="+mn-lt"/>
                <a:ea typeface="楷体_GB2312" pitchFamily="49" charset="-122"/>
              </a:rPr>
              <a:t> </a:t>
            </a:r>
            <a:r>
              <a:rPr lang="en-US" altLang="zh-CN" dirty="0" err="1">
                <a:latin typeface="+mn-lt"/>
                <a:ea typeface="楷体_GB2312" pitchFamily="49" charset="-122"/>
              </a:rPr>
              <a:t>M.code</a:t>
            </a:r>
            <a:r>
              <a:rPr lang="en-US" altLang="zh-CN" dirty="0">
                <a:latin typeface="+mn-lt"/>
                <a:ea typeface="楷体_GB2312" pitchFamily="49" charset="-122"/>
              </a:rPr>
              <a:t>);</a:t>
            </a:r>
            <a:endParaRPr lang="zh-CN" altLang="en-US" dirty="0">
              <a:latin typeface="+mn-lt"/>
              <a:ea typeface="楷体_GB2312" pitchFamily="49" charset="-122"/>
            </a:endParaRPr>
          </a:p>
          <a:p>
            <a:pPr>
              <a:lnSpc>
                <a:spcPct val="80000"/>
              </a:lnSpc>
              <a:buClrTx/>
              <a:buSzTx/>
            </a:pPr>
            <a:r>
              <a:rPr lang="en-US" altLang="zh-CN" dirty="0">
                <a:latin typeface="+mn-lt"/>
                <a:ea typeface="楷体_GB2312" pitchFamily="49" charset="-122"/>
              </a:rPr>
              <a:t>	}</a:t>
            </a:r>
          </a:p>
          <a:p>
            <a:pPr>
              <a:lnSpc>
                <a:spcPct val="80000"/>
              </a:lnSpc>
              <a:buClrTx/>
              <a:buSzTx/>
            </a:pPr>
            <a:endParaRPr lang="en-US" altLang="zh-CN" dirty="0">
              <a:latin typeface="+mn-lt"/>
              <a:ea typeface="楷体_GB2312" pitchFamily="49" charset="-122"/>
            </a:endParaRPr>
          </a:p>
          <a:p>
            <a:pPr>
              <a:lnSpc>
                <a:spcPct val="80000"/>
              </a:lnSpc>
              <a:buClrTx/>
              <a:buSzTx/>
            </a:pPr>
            <a:r>
              <a:rPr lang="en-US" altLang="zh-CN" dirty="0">
                <a:latin typeface="+mn-lt"/>
                <a:ea typeface="楷体_GB2312" pitchFamily="49" charset="-122"/>
              </a:rPr>
              <a:t>	M</a:t>
            </a:r>
            <a:r>
              <a:rPr kumimoji="0" lang="en-US" altLang="zh-CN" dirty="0">
                <a:latin typeface="+mn-lt"/>
                <a:ea typeface="仿宋_GB2312" pitchFamily="49" charset="-122"/>
              </a:rPr>
              <a:t> → </a:t>
            </a:r>
            <a:r>
              <a:rPr lang="el-GR" altLang="zh-CN" dirty="0">
                <a:latin typeface="+mn-lt"/>
                <a:ea typeface="楷体_GB2312" pitchFamily="49" charset="-122"/>
              </a:rPr>
              <a:t>ε</a:t>
            </a:r>
          </a:p>
          <a:p>
            <a:pPr>
              <a:lnSpc>
                <a:spcPct val="80000"/>
              </a:lnSpc>
              <a:buClrTx/>
              <a:buSzTx/>
            </a:pPr>
            <a:r>
              <a:rPr lang="en-US" altLang="zh-CN" dirty="0">
                <a:latin typeface="+mn-lt"/>
                <a:ea typeface="楷体_GB2312" pitchFamily="49" charset="-122"/>
              </a:rPr>
              <a:t>	</a:t>
            </a:r>
            <a:r>
              <a:rPr lang="el-GR" altLang="zh-CN" dirty="0">
                <a:latin typeface="+mn-lt"/>
                <a:ea typeface="楷体_GB2312" pitchFamily="49" charset="-122"/>
              </a:rPr>
              <a:t>{</a:t>
            </a:r>
            <a:r>
              <a:rPr lang="zh-CN" altLang="en-US" dirty="0">
                <a:latin typeface="+mn-lt"/>
                <a:ea typeface="楷体_GB2312" pitchFamily="49" charset="-122"/>
              </a:rPr>
              <a:t> </a:t>
            </a:r>
            <a:r>
              <a:rPr lang="en-US" altLang="zh-CN" dirty="0" err="1">
                <a:latin typeface="+mn-lt"/>
                <a:ea typeface="楷体_GB2312" pitchFamily="49" charset="-122"/>
              </a:rPr>
              <a:t>M.code</a:t>
            </a:r>
            <a:r>
              <a:rPr lang="en-US" altLang="zh-CN" dirty="0">
                <a:latin typeface="+mn-lt"/>
                <a:ea typeface="楷体_GB2312" pitchFamily="49" charset="-122"/>
              </a:rPr>
              <a:t> = </a:t>
            </a:r>
            <a:r>
              <a:rPr lang="en-US" altLang="zh-CN" dirty="0" err="1">
                <a:latin typeface="+mn-lt"/>
                <a:ea typeface="楷体_GB2312" pitchFamily="49" charset="-122"/>
              </a:rPr>
              <a:t>ip</a:t>
            </a:r>
            <a:r>
              <a:rPr lang="en-US" altLang="zh-CN" dirty="0">
                <a:latin typeface="+mn-lt"/>
                <a:ea typeface="楷体_GB2312" pitchFamily="49" charset="-122"/>
              </a:rPr>
              <a:t>; }</a:t>
            </a:r>
          </a:p>
          <a:p>
            <a:pPr>
              <a:lnSpc>
                <a:spcPct val="80000"/>
              </a:lnSpc>
              <a:buClrTx/>
              <a:buSzTx/>
            </a:pPr>
            <a:endParaRPr lang="en-US" altLang="zh-CN" dirty="0">
              <a:latin typeface="+mn-lt"/>
              <a:ea typeface="楷体_GB2312" pitchFamily="49" charset="-122"/>
            </a:endParaRPr>
          </a:p>
          <a:p>
            <a:pPr>
              <a:lnSpc>
                <a:spcPct val="80000"/>
              </a:lnSpc>
              <a:buClrTx/>
              <a:buSzTx/>
            </a:pPr>
            <a:r>
              <a:rPr lang="en-US" altLang="zh-CN" dirty="0">
                <a:latin typeface="+mn-lt"/>
                <a:ea typeface="楷体_GB2312" pitchFamily="49" charset="-122"/>
              </a:rPr>
              <a:t>	N </a:t>
            </a:r>
            <a:r>
              <a:rPr kumimoji="0" lang="en-US" altLang="zh-CN" dirty="0">
                <a:latin typeface="+mn-lt"/>
                <a:ea typeface="仿宋_GB2312" pitchFamily="49" charset="-122"/>
              </a:rPr>
              <a:t>→ </a:t>
            </a:r>
            <a:r>
              <a:rPr lang="el-GR" altLang="zh-CN" dirty="0">
                <a:latin typeface="+mn-lt"/>
                <a:ea typeface="楷体_GB2312" pitchFamily="49" charset="-122"/>
              </a:rPr>
              <a:t>ε</a:t>
            </a:r>
          </a:p>
          <a:p>
            <a:pPr>
              <a:lnSpc>
                <a:spcPct val="80000"/>
              </a:lnSpc>
              <a:buClrTx/>
              <a:buSzTx/>
            </a:pPr>
            <a:r>
              <a:rPr lang="en-US" altLang="zh-CN" dirty="0">
                <a:latin typeface="+mn-lt"/>
                <a:ea typeface="楷体_GB2312" pitchFamily="49" charset="-122"/>
              </a:rPr>
              <a:t>	</a:t>
            </a:r>
            <a:r>
              <a:rPr lang="el-GR" altLang="zh-CN" dirty="0">
                <a:latin typeface="+mn-lt"/>
                <a:ea typeface="楷体_GB2312" pitchFamily="49" charset="-122"/>
              </a:rPr>
              <a:t>{</a:t>
            </a:r>
            <a:r>
              <a:rPr lang="zh-CN" altLang="en-US" dirty="0">
                <a:latin typeface="+mn-lt"/>
                <a:ea typeface="楷体_GB2312" pitchFamily="49" charset="-122"/>
              </a:rPr>
              <a:t> </a:t>
            </a:r>
            <a:r>
              <a:rPr lang="en-US" altLang="zh-CN" dirty="0" err="1">
                <a:latin typeface="+mn-lt"/>
                <a:ea typeface="楷体_GB2312" pitchFamily="49" charset="-122"/>
              </a:rPr>
              <a:t>M.code</a:t>
            </a:r>
            <a:r>
              <a:rPr lang="en-US" altLang="zh-CN" dirty="0">
                <a:latin typeface="+mn-lt"/>
                <a:ea typeface="楷体_GB2312" pitchFamily="49" charset="-122"/>
              </a:rPr>
              <a:t> = </a:t>
            </a:r>
            <a:r>
              <a:rPr lang="en-US" altLang="zh-CN" dirty="0" err="1">
                <a:latin typeface="+mn-lt"/>
                <a:ea typeface="楷体_GB2312" pitchFamily="49" charset="-122"/>
              </a:rPr>
              <a:t>ip</a:t>
            </a:r>
            <a:r>
              <a:rPr lang="en-US" altLang="zh-CN" dirty="0">
                <a:latin typeface="+mn-lt"/>
                <a:ea typeface="楷体_GB2312" pitchFamily="49" charset="-122"/>
              </a:rPr>
              <a:t>; }</a:t>
            </a:r>
          </a:p>
          <a:p>
            <a:pPr>
              <a:lnSpc>
                <a:spcPct val="80000"/>
              </a:lnSpc>
              <a:buClrTx/>
              <a:buSzTx/>
            </a:pPr>
            <a:endParaRPr lang="en-US" altLang="zh-CN" dirty="0">
              <a:latin typeface="楷体_GB2312" pitchFamily="49" charset="-122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26548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38B90-B886-7FAE-AC06-74E896ED4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1">
            <a:extLst>
              <a:ext uri="{FF2B5EF4-FFF2-40B4-BE49-F238E27FC236}">
                <a16:creationId xmlns:a16="http://schemas.microsoft.com/office/drawing/2014/main" id="{6D30CAC7-BBC4-C513-3254-6B8BEBC5525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电子科技大学计算机科学与工程学院</a:t>
            </a:r>
          </a:p>
        </p:txBody>
      </p:sp>
      <p:sp>
        <p:nvSpPr>
          <p:cNvPr id="204805" name="AutoShape 5">
            <a:extLst>
              <a:ext uri="{FF2B5EF4-FFF2-40B4-BE49-F238E27FC236}">
                <a16:creationId xmlns:a16="http://schemas.microsoft.com/office/drawing/2014/main" id="{758B4001-1E2D-CB5E-9BD8-3900CC11FE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568" y="1196752"/>
            <a:ext cx="8215168" cy="3902345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0350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6827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23304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9781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34353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8925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43497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8069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三、已知文法</a:t>
            </a:r>
            <a:r>
              <a:rPr kumimoji="0" lang="en" altLang="zh-CN" dirty="0">
                <a:latin typeface="仿宋_GB2312" pitchFamily="49" charset="-122"/>
                <a:ea typeface="仿宋_GB2312" pitchFamily="49" charset="-122"/>
              </a:rPr>
              <a:t>G</a:t>
            </a:r>
            <a:r>
              <a:rPr kumimoji="0" lang="zh-CN" altLang="en" dirty="0">
                <a:latin typeface="仿宋_GB2312" pitchFamily="49" charset="-122"/>
                <a:ea typeface="仿宋_GB2312" pitchFamily="49" charset="-122"/>
              </a:rPr>
              <a:t>（</a:t>
            </a:r>
            <a:r>
              <a:rPr kumimoji="0" lang="en" altLang="zh-CN" dirty="0">
                <a:latin typeface="仿宋_GB2312" pitchFamily="49" charset="-122"/>
                <a:ea typeface="仿宋_GB2312" pitchFamily="49" charset="-122"/>
              </a:rPr>
              <a:t>S</a:t>
            </a:r>
            <a:r>
              <a:rPr kumimoji="0" lang="zh-CN" altLang="en" dirty="0">
                <a:latin typeface="仿宋_GB2312" pitchFamily="49" charset="-122"/>
                <a:ea typeface="仿宋_GB2312" pitchFamily="49" charset="-122"/>
              </a:rPr>
              <a:t>）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：</a:t>
            </a:r>
            <a:r>
              <a:rPr kumimoji="0" lang="zh-CN" altLang="en" dirty="0">
                <a:latin typeface="仿宋_GB2312" pitchFamily="49" charset="-122"/>
                <a:ea typeface="仿宋_GB2312" pitchFamily="49" charset="-122"/>
              </a:rPr>
              <a:t> </a:t>
            </a:r>
            <a:endParaRPr kumimoji="0" lang="en-US" altLang="zh-CN" dirty="0">
              <a:latin typeface="仿宋_GB2312" pitchFamily="49" charset="-122"/>
              <a:ea typeface="仿宋_GB2312" pitchFamily="49" charset="-122"/>
            </a:endParaRP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       </a:t>
            </a:r>
            <a:r>
              <a:rPr kumimoji="0" lang="en" altLang="zh-CN" dirty="0" err="1">
                <a:latin typeface="仿宋_GB2312" pitchFamily="49" charset="-122"/>
                <a:ea typeface="仿宋_GB2312" pitchFamily="49" charset="-122"/>
              </a:rPr>
              <a:t>S→aA|B</a:t>
            </a:r>
            <a:endParaRPr kumimoji="0" lang="en" altLang="zh-CN" dirty="0">
              <a:latin typeface="仿宋_GB2312" pitchFamily="49" charset="-122"/>
              <a:ea typeface="仿宋_GB2312" pitchFamily="49" charset="-122"/>
            </a:endParaRP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       </a:t>
            </a:r>
            <a:r>
              <a:rPr kumimoji="0" lang="en" altLang="zh-CN" dirty="0" err="1">
                <a:latin typeface="仿宋_GB2312" pitchFamily="49" charset="-122"/>
                <a:ea typeface="仿宋_GB2312" pitchFamily="49" charset="-122"/>
              </a:rPr>
              <a:t>A→b</a:t>
            </a:r>
            <a:endParaRPr kumimoji="0" lang="en" altLang="zh-CN" dirty="0">
              <a:latin typeface="仿宋_GB2312" pitchFamily="49" charset="-122"/>
              <a:ea typeface="仿宋_GB2312" pitchFamily="49" charset="-122"/>
            </a:endParaRP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       </a:t>
            </a:r>
            <a:r>
              <a:rPr kumimoji="0" lang="en" altLang="zh-CN" dirty="0" err="1">
                <a:latin typeface="仿宋_GB2312" pitchFamily="49" charset="-122"/>
                <a:ea typeface="仿宋_GB2312" pitchFamily="49" charset="-122"/>
              </a:rPr>
              <a:t>B→Bb|b</a:t>
            </a:r>
            <a:endParaRPr kumimoji="0" lang="en" altLang="zh-CN" dirty="0">
              <a:latin typeface="仿宋_GB2312" pitchFamily="49" charset="-122"/>
              <a:ea typeface="仿宋_GB2312" pitchFamily="49" charset="-122"/>
            </a:endParaRPr>
          </a:p>
          <a:p>
            <a:pPr marL="457200" indent="-457200" algn="just" eaLnBrk="1" hangingPunct="1">
              <a:spcBef>
                <a:spcPct val="20000"/>
              </a:spcBef>
              <a:buClr>
                <a:srgbClr val="FF0000"/>
              </a:buClr>
              <a:buSzTx/>
              <a:buAutoNum type="arabicParenBoth"/>
            </a:pP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写出拓广文法后的所有产生式；</a:t>
            </a:r>
            <a:endParaRPr kumimoji="0" lang="en-US" altLang="zh-CN" dirty="0">
              <a:latin typeface="仿宋_GB2312" pitchFamily="49" charset="-122"/>
              <a:ea typeface="仿宋_GB2312" pitchFamily="49" charset="-122"/>
            </a:endParaRPr>
          </a:p>
          <a:p>
            <a:pPr marL="457200" indent="-457200" algn="just" eaLnBrk="1" hangingPunct="1">
              <a:spcBef>
                <a:spcPct val="20000"/>
              </a:spcBef>
              <a:buClr>
                <a:srgbClr val="FF0000"/>
              </a:buClr>
              <a:buSzTx/>
              <a:buAutoNum type="arabicParenBoth"/>
            </a:pP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确定</a:t>
            </a:r>
            <a:r>
              <a:rPr kumimoji="0" lang="en" altLang="zh-CN" dirty="0">
                <a:latin typeface="仿宋_GB2312" pitchFamily="49" charset="-122"/>
                <a:ea typeface="仿宋_GB2312" pitchFamily="49" charset="-122"/>
              </a:rPr>
              <a:t>LR(0)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项目集规范族；</a:t>
            </a:r>
            <a:endParaRPr kumimoji="0" lang="en-US" altLang="zh-CN" dirty="0">
              <a:latin typeface="仿宋_GB2312" pitchFamily="49" charset="-122"/>
              <a:ea typeface="仿宋_GB2312" pitchFamily="49" charset="-122"/>
            </a:endParaRPr>
          </a:p>
          <a:p>
            <a:pPr marL="457200" indent="-457200" algn="just" eaLnBrk="1" hangingPunct="1">
              <a:spcBef>
                <a:spcPct val="20000"/>
              </a:spcBef>
              <a:buClr>
                <a:srgbClr val="FF0000"/>
              </a:buClr>
              <a:buSzTx/>
              <a:buAutoNum type="arabicParenBoth"/>
            </a:pP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判断该文法能否够构造出</a:t>
            </a:r>
            <a:r>
              <a:rPr kumimoji="0" lang="en" altLang="zh-CN" dirty="0">
                <a:latin typeface="仿宋_GB2312" pitchFamily="49" charset="-122"/>
                <a:ea typeface="仿宋_GB2312" pitchFamily="49" charset="-122"/>
              </a:rPr>
              <a:t>LR</a:t>
            </a: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(0)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分析表？并给出解释；判断该文法能否够构造</a:t>
            </a:r>
            <a:r>
              <a:rPr kumimoji="0" lang="en" altLang="zh-CN" dirty="0">
                <a:latin typeface="仿宋_GB2312" pitchFamily="49" charset="-122"/>
                <a:ea typeface="仿宋_GB2312" pitchFamily="49" charset="-122"/>
              </a:rPr>
              <a:t>SLR</a:t>
            </a:r>
            <a:r>
              <a:rPr kumimoji="0" lang="zh-CN" altLang="en" dirty="0">
                <a:latin typeface="仿宋_GB2312" pitchFamily="49" charset="-122"/>
                <a:ea typeface="仿宋_GB2312" pitchFamily="49" charset="-122"/>
              </a:rPr>
              <a:t>（</a:t>
            </a:r>
            <a:r>
              <a:rPr kumimoji="0" lang="en" altLang="zh-CN" dirty="0">
                <a:latin typeface="仿宋_GB2312" pitchFamily="49" charset="-122"/>
                <a:ea typeface="仿宋_GB2312" pitchFamily="49" charset="-122"/>
              </a:rPr>
              <a:t>1</a:t>
            </a:r>
            <a:r>
              <a:rPr kumimoji="0" lang="zh-CN" altLang="en" dirty="0">
                <a:latin typeface="仿宋_GB2312" pitchFamily="49" charset="-122"/>
                <a:ea typeface="仿宋_GB2312" pitchFamily="49" charset="-122"/>
              </a:rPr>
              <a:t>）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分析表</a:t>
            </a: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?  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若能，请构造出</a:t>
            </a:r>
            <a:r>
              <a:rPr kumimoji="0" lang="en" altLang="zh-CN" dirty="0">
                <a:latin typeface="仿宋_GB2312" pitchFamily="49" charset="-122"/>
                <a:ea typeface="仿宋_GB2312" pitchFamily="49" charset="-122"/>
              </a:rPr>
              <a:t>SLR(1</a:t>
            </a:r>
            <a:r>
              <a:rPr kumimoji="0" lang="zh-CN" altLang="en" dirty="0">
                <a:latin typeface="仿宋_GB2312" pitchFamily="49" charset="-122"/>
                <a:ea typeface="仿宋_GB2312" pitchFamily="49" charset="-122"/>
              </a:rPr>
              <a:t>）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分析表。</a:t>
            </a:r>
            <a:endParaRPr kumimoji="0" lang="en" altLang="zh-CN" dirty="0">
              <a:latin typeface="仿宋_GB2312" pitchFamily="49" charset="-122"/>
              <a:ea typeface="仿宋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93720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4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05" grpId="0" animBg="1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B9B20-2C87-BBDD-4AF5-7BF3DA9CD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1">
            <a:extLst>
              <a:ext uri="{FF2B5EF4-FFF2-40B4-BE49-F238E27FC236}">
                <a16:creationId xmlns:a16="http://schemas.microsoft.com/office/drawing/2014/main" id="{C5E13281-57DE-7F26-12FB-FD07BF239BA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电子科技大学计算机科学与工程学院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8C6D6982-35A2-7B34-4A39-72B1D791A2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9662" y="764704"/>
            <a:ext cx="7668852" cy="1404156"/>
          </a:xfrm>
          <a:prstGeom prst="rect">
            <a:avLst/>
          </a:prstGeom>
          <a:solidFill>
            <a:srgbClr val="B4FC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081088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717675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2354263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9908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34480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9052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43624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8196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0000"/>
              </a:lnSpc>
              <a:buClrTx/>
              <a:buSzTx/>
            </a:pPr>
            <a:r>
              <a:rPr lang="en-US" altLang="zh-CN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(1)</a:t>
            </a:r>
          </a:p>
          <a:p>
            <a:pPr>
              <a:lnSpc>
                <a:spcPct val="80000"/>
              </a:lnSpc>
              <a:buClrTx/>
              <a:buSzTx/>
            </a:pPr>
            <a:endParaRPr lang="zh-CN" altLang="en-US" dirty="0">
              <a:latin typeface="+mn-lt"/>
              <a:ea typeface="楷体_GB2312" pitchFamily="49" charset="-122"/>
            </a:endParaRPr>
          </a:p>
          <a:p>
            <a:pPr>
              <a:lnSpc>
                <a:spcPct val="80000"/>
              </a:lnSpc>
              <a:buClrTx/>
              <a:buSzTx/>
            </a:pPr>
            <a:r>
              <a:rPr lang="en-US" altLang="zh-CN" dirty="0">
                <a:latin typeface="+mn-lt"/>
                <a:ea typeface="楷体_GB2312" pitchFamily="49" charset="-122"/>
              </a:rPr>
              <a:t>(0)S'→S                   (1) </a:t>
            </a:r>
            <a:r>
              <a:rPr lang="en-US" altLang="zh-CN" dirty="0" err="1">
                <a:latin typeface="+mn-lt"/>
                <a:ea typeface="楷体_GB2312" pitchFamily="49" charset="-122"/>
              </a:rPr>
              <a:t>S→aA</a:t>
            </a:r>
            <a:r>
              <a:rPr lang="en-US" altLang="zh-CN" dirty="0">
                <a:latin typeface="+mn-lt"/>
                <a:ea typeface="楷体_GB2312" pitchFamily="49" charset="-122"/>
              </a:rPr>
              <a:t>               (2) S→B</a:t>
            </a:r>
          </a:p>
          <a:p>
            <a:pPr>
              <a:lnSpc>
                <a:spcPct val="80000"/>
              </a:lnSpc>
              <a:buClrTx/>
              <a:buSzTx/>
            </a:pPr>
            <a:r>
              <a:rPr lang="en-US" altLang="zh-CN" dirty="0">
                <a:latin typeface="+mn-lt"/>
                <a:ea typeface="楷体_GB2312" pitchFamily="49" charset="-122"/>
              </a:rPr>
              <a:t>(3)</a:t>
            </a:r>
            <a:r>
              <a:rPr lang="en-US" altLang="zh-CN" dirty="0" err="1">
                <a:latin typeface="+mn-lt"/>
                <a:ea typeface="楷体_GB2312" pitchFamily="49" charset="-122"/>
              </a:rPr>
              <a:t>A→b</a:t>
            </a:r>
            <a:r>
              <a:rPr lang="en-US" altLang="zh-CN" dirty="0">
                <a:latin typeface="+mn-lt"/>
                <a:ea typeface="楷体_GB2312" pitchFamily="49" charset="-122"/>
              </a:rPr>
              <a:t>                   (4) </a:t>
            </a:r>
            <a:r>
              <a:rPr lang="en-US" altLang="zh-CN" dirty="0" err="1">
                <a:latin typeface="+mn-lt"/>
                <a:ea typeface="楷体_GB2312" pitchFamily="49" charset="-122"/>
              </a:rPr>
              <a:t>B→Bb</a:t>
            </a:r>
            <a:r>
              <a:rPr lang="en-US" altLang="zh-CN" dirty="0">
                <a:latin typeface="+mn-lt"/>
                <a:ea typeface="楷体_GB2312" pitchFamily="49" charset="-122"/>
              </a:rPr>
              <a:t>               (5) </a:t>
            </a:r>
            <a:r>
              <a:rPr lang="en-US" altLang="zh-CN" dirty="0" err="1">
                <a:latin typeface="+mn-lt"/>
                <a:ea typeface="楷体_GB2312" pitchFamily="49" charset="-122"/>
              </a:rPr>
              <a:t>B→b</a:t>
            </a:r>
            <a:endParaRPr lang="en-US" altLang="zh-CN" dirty="0">
              <a:latin typeface="+mn-lt"/>
              <a:ea typeface="楷体_GB2312" pitchFamily="49" charset="-122"/>
            </a:endParaRP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3B976BC1-12FA-B182-1D6B-0E73F52377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1601" y="2492896"/>
            <a:ext cx="7668852" cy="3600400"/>
          </a:xfrm>
          <a:prstGeom prst="rect">
            <a:avLst/>
          </a:prstGeom>
          <a:solidFill>
            <a:srgbClr val="B4FC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081088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717675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2354263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9908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34480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9052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43624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8196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0000"/>
              </a:lnSpc>
              <a:buClrTx/>
              <a:buSzTx/>
            </a:pPr>
            <a:r>
              <a:rPr lang="en-US" altLang="zh-CN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(2)</a:t>
            </a:r>
          </a:p>
          <a:p>
            <a:pPr>
              <a:lnSpc>
                <a:spcPct val="80000"/>
              </a:lnSpc>
              <a:buClrTx/>
              <a:buSzTx/>
            </a:pP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80000"/>
              </a:lnSpc>
              <a:buClrTx/>
              <a:buSzTx/>
            </a:pPr>
            <a:r>
              <a:rPr lang="en-US" altLang="zh-CN" dirty="0">
                <a:latin typeface="+mn-lt"/>
                <a:ea typeface="楷体_GB2312" pitchFamily="49" charset="-122"/>
              </a:rPr>
              <a:t>A</a:t>
            </a:r>
            <a:r>
              <a:rPr lang="en-US" altLang="zh-CN" baseline="-25000" dirty="0">
                <a:latin typeface="+mn-lt"/>
                <a:ea typeface="楷体_GB2312" pitchFamily="49" charset="-122"/>
              </a:rPr>
              <a:t>0</a:t>
            </a:r>
            <a:r>
              <a:rPr lang="en-US" altLang="zh-CN" dirty="0">
                <a:latin typeface="+mn-lt"/>
                <a:ea typeface="楷体_GB2312" pitchFamily="49" charset="-122"/>
              </a:rPr>
              <a:t>= Closure({S‘ →S })</a:t>
            </a:r>
            <a:r>
              <a:rPr lang="zh-CN" altLang="en-US" dirty="0">
                <a:latin typeface="+mn-lt"/>
                <a:ea typeface="楷体_GB2312" pitchFamily="49" charset="-122"/>
              </a:rPr>
              <a:t> </a:t>
            </a:r>
            <a:r>
              <a:rPr lang="en-US" altLang="zh-CN" dirty="0">
                <a:latin typeface="+mn-lt"/>
                <a:ea typeface="楷体_GB2312" pitchFamily="49" charset="-122"/>
              </a:rPr>
              <a:t>=</a:t>
            </a:r>
            <a:r>
              <a:rPr lang="zh-CN" altLang="en-US" dirty="0">
                <a:latin typeface="+mn-lt"/>
                <a:ea typeface="楷体_GB2312" pitchFamily="49" charset="-122"/>
              </a:rPr>
              <a:t> </a:t>
            </a:r>
            <a:r>
              <a:rPr lang="en-US" altLang="zh-CN" dirty="0">
                <a:latin typeface="+mn-lt"/>
                <a:ea typeface="楷体_GB2312" pitchFamily="49" charset="-122"/>
              </a:rPr>
              <a:t>{S'→ •S, S → •</a:t>
            </a:r>
            <a:r>
              <a:rPr lang="en-US" altLang="zh-CN" dirty="0" err="1">
                <a:latin typeface="+mn-lt"/>
                <a:ea typeface="楷体_GB2312" pitchFamily="49" charset="-122"/>
              </a:rPr>
              <a:t>aA</a:t>
            </a:r>
            <a:r>
              <a:rPr lang="en-US" altLang="zh-CN" dirty="0">
                <a:latin typeface="+mn-lt"/>
                <a:ea typeface="楷体_GB2312" pitchFamily="49" charset="-122"/>
              </a:rPr>
              <a:t>, S→•B, B→•Bb, B→•b}</a:t>
            </a:r>
            <a:endParaRPr lang="zh-CN" altLang="en-US" dirty="0">
              <a:latin typeface="+mn-lt"/>
              <a:ea typeface="楷体_GB2312" pitchFamily="49" charset="-122"/>
            </a:endParaRPr>
          </a:p>
          <a:p>
            <a:pPr>
              <a:lnSpc>
                <a:spcPct val="80000"/>
              </a:lnSpc>
              <a:buClrTx/>
              <a:buSzTx/>
            </a:pPr>
            <a:r>
              <a:rPr lang="en-US" altLang="zh-CN" dirty="0">
                <a:latin typeface="+mn-lt"/>
                <a:ea typeface="楷体_GB2312" pitchFamily="49" charset="-122"/>
              </a:rPr>
              <a:t>A</a:t>
            </a:r>
            <a:r>
              <a:rPr lang="en-US" altLang="zh-CN" baseline="-25000" dirty="0">
                <a:latin typeface="+mn-lt"/>
                <a:ea typeface="楷体_GB2312" pitchFamily="49" charset="-122"/>
              </a:rPr>
              <a:t>1</a:t>
            </a:r>
            <a:r>
              <a:rPr lang="en-US" altLang="zh-CN" dirty="0">
                <a:latin typeface="+mn-lt"/>
                <a:ea typeface="楷体_GB2312" pitchFamily="49" charset="-122"/>
              </a:rPr>
              <a:t>= Go(A</a:t>
            </a:r>
            <a:r>
              <a:rPr lang="en-US" altLang="zh-CN" baseline="-25000" dirty="0">
                <a:latin typeface="+mn-lt"/>
                <a:ea typeface="楷体_GB2312" pitchFamily="49" charset="-122"/>
              </a:rPr>
              <a:t>0</a:t>
            </a:r>
            <a:r>
              <a:rPr lang="en-US" altLang="zh-CN" dirty="0">
                <a:latin typeface="+mn-lt"/>
                <a:ea typeface="楷体_GB2312" pitchFamily="49" charset="-122"/>
              </a:rPr>
              <a:t>,S)</a:t>
            </a:r>
            <a:r>
              <a:rPr lang="zh-CN" altLang="en-US" dirty="0">
                <a:latin typeface="+mn-lt"/>
                <a:ea typeface="楷体_GB2312" pitchFamily="49" charset="-122"/>
              </a:rPr>
              <a:t> </a:t>
            </a:r>
            <a:r>
              <a:rPr lang="en-US" altLang="zh-CN" dirty="0">
                <a:latin typeface="+mn-lt"/>
                <a:ea typeface="楷体_GB2312" pitchFamily="49" charset="-122"/>
              </a:rPr>
              <a:t>=</a:t>
            </a:r>
            <a:r>
              <a:rPr lang="zh-CN" altLang="en-US" dirty="0">
                <a:latin typeface="+mn-lt"/>
                <a:ea typeface="楷体_GB2312" pitchFamily="49" charset="-122"/>
              </a:rPr>
              <a:t> </a:t>
            </a:r>
            <a:r>
              <a:rPr lang="en-US" altLang="zh-CN" dirty="0">
                <a:latin typeface="+mn-lt"/>
                <a:ea typeface="楷体_GB2312" pitchFamily="49" charset="-122"/>
              </a:rPr>
              <a:t>{S'→S• } </a:t>
            </a:r>
          </a:p>
          <a:p>
            <a:pPr>
              <a:lnSpc>
                <a:spcPct val="80000"/>
              </a:lnSpc>
              <a:buClrTx/>
              <a:buSzTx/>
            </a:pPr>
            <a:r>
              <a:rPr lang="en-US" altLang="zh-CN" dirty="0">
                <a:latin typeface="+mn-lt"/>
                <a:ea typeface="楷体_GB2312" pitchFamily="49" charset="-122"/>
              </a:rPr>
              <a:t>A</a:t>
            </a:r>
            <a:r>
              <a:rPr lang="en-US" altLang="zh-CN" baseline="-25000" dirty="0">
                <a:latin typeface="+mn-lt"/>
                <a:ea typeface="楷体_GB2312" pitchFamily="49" charset="-122"/>
              </a:rPr>
              <a:t>2</a:t>
            </a:r>
            <a:r>
              <a:rPr lang="en-US" altLang="zh-CN" dirty="0">
                <a:latin typeface="+mn-lt"/>
                <a:ea typeface="楷体_GB2312" pitchFamily="49" charset="-122"/>
              </a:rPr>
              <a:t>= Go(A</a:t>
            </a:r>
            <a:r>
              <a:rPr lang="en-US" altLang="zh-CN" baseline="-25000" dirty="0">
                <a:latin typeface="+mn-lt"/>
                <a:ea typeface="楷体_GB2312" pitchFamily="49" charset="-122"/>
              </a:rPr>
              <a:t>0</a:t>
            </a:r>
            <a:r>
              <a:rPr lang="en-US" altLang="zh-CN" dirty="0">
                <a:latin typeface="+mn-lt"/>
                <a:ea typeface="楷体_GB2312" pitchFamily="49" charset="-122"/>
              </a:rPr>
              <a:t>,a)</a:t>
            </a:r>
            <a:r>
              <a:rPr lang="zh-CN" altLang="en-US" dirty="0">
                <a:latin typeface="+mn-lt"/>
                <a:ea typeface="楷体_GB2312" pitchFamily="49" charset="-122"/>
              </a:rPr>
              <a:t> </a:t>
            </a:r>
            <a:r>
              <a:rPr lang="en-US" altLang="zh-CN" dirty="0">
                <a:latin typeface="+mn-lt"/>
                <a:ea typeface="楷体_GB2312" pitchFamily="49" charset="-122"/>
              </a:rPr>
              <a:t>=</a:t>
            </a:r>
            <a:r>
              <a:rPr lang="zh-CN" altLang="en-US" dirty="0">
                <a:latin typeface="+mn-lt"/>
                <a:ea typeface="楷体_GB2312" pitchFamily="49" charset="-122"/>
              </a:rPr>
              <a:t> </a:t>
            </a:r>
            <a:r>
              <a:rPr lang="en-US" altLang="zh-CN" dirty="0">
                <a:latin typeface="+mn-lt"/>
                <a:ea typeface="楷体_GB2312" pitchFamily="49" charset="-122"/>
              </a:rPr>
              <a:t>{S→ </a:t>
            </a:r>
            <a:r>
              <a:rPr lang="en-US" altLang="zh-CN" dirty="0" err="1">
                <a:latin typeface="+mn-lt"/>
                <a:ea typeface="楷体_GB2312" pitchFamily="49" charset="-122"/>
              </a:rPr>
              <a:t>a•A</a:t>
            </a:r>
            <a:r>
              <a:rPr lang="en-US" altLang="zh-CN" dirty="0">
                <a:latin typeface="+mn-lt"/>
                <a:ea typeface="楷体_GB2312" pitchFamily="49" charset="-122"/>
              </a:rPr>
              <a:t>, A→•b }</a:t>
            </a:r>
          </a:p>
          <a:p>
            <a:pPr>
              <a:lnSpc>
                <a:spcPct val="80000"/>
              </a:lnSpc>
              <a:buClrTx/>
              <a:buSzTx/>
            </a:pPr>
            <a:r>
              <a:rPr lang="en-US" altLang="zh-CN" dirty="0">
                <a:latin typeface="+mn-lt"/>
                <a:ea typeface="楷体_GB2312" pitchFamily="49" charset="-122"/>
              </a:rPr>
              <a:t>A</a:t>
            </a:r>
            <a:r>
              <a:rPr lang="en-US" altLang="zh-CN" baseline="-25000" dirty="0">
                <a:latin typeface="+mn-lt"/>
                <a:ea typeface="楷体_GB2312" pitchFamily="49" charset="-122"/>
              </a:rPr>
              <a:t>3</a:t>
            </a:r>
            <a:r>
              <a:rPr lang="en-US" altLang="zh-CN" dirty="0">
                <a:latin typeface="+mn-lt"/>
                <a:ea typeface="楷体_GB2312" pitchFamily="49" charset="-122"/>
              </a:rPr>
              <a:t>= Go(A</a:t>
            </a:r>
            <a:r>
              <a:rPr lang="en-US" altLang="zh-CN" baseline="-25000" dirty="0">
                <a:latin typeface="+mn-lt"/>
                <a:ea typeface="楷体_GB2312" pitchFamily="49" charset="-122"/>
              </a:rPr>
              <a:t>0</a:t>
            </a:r>
            <a:r>
              <a:rPr lang="en-US" altLang="zh-CN" dirty="0">
                <a:latin typeface="+mn-lt"/>
                <a:ea typeface="楷体_GB2312" pitchFamily="49" charset="-122"/>
              </a:rPr>
              <a:t>,B)</a:t>
            </a:r>
            <a:r>
              <a:rPr lang="zh-CN" altLang="en-US" dirty="0">
                <a:latin typeface="+mn-lt"/>
                <a:ea typeface="楷体_GB2312" pitchFamily="49" charset="-122"/>
              </a:rPr>
              <a:t> </a:t>
            </a:r>
            <a:r>
              <a:rPr lang="en-US" altLang="zh-CN" dirty="0">
                <a:latin typeface="+mn-lt"/>
                <a:ea typeface="楷体_GB2312" pitchFamily="49" charset="-122"/>
              </a:rPr>
              <a:t>=</a:t>
            </a:r>
            <a:r>
              <a:rPr lang="zh-CN" altLang="en-US" dirty="0">
                <a:latin typeface="+mn-lt"/>
                <a:ea typeface="楷体_GB2312" pitchFamily="49" charset="-122"/>
              </a:rPr>
              <a:t> </a:t>
            </a:r>
            <a:r>
              <a:rPr lang="en-US" altLang="zh-CN" dirty="0">
                <a:latin typeface="+mn-lt"/>
                <a:ea typeface="楷体_GB2312" pitchFamily="49" charset="-122"/>
              </a:rPr>
              <a:t>{ S →B•, </a:t>
            </a:r>
            <a:r>
              <a:rPr lang="en-US" altLang="zh-CN" dirty="0" err="1">
                <a:latin typeface="+mn-lt"/>
                <a:ea typeface="楷体_GB2312" pitchFamily="49" charset="-122"/>
              </a:rPr>
              <a:t>B→B•b</a:t>
            </a:r>
            <a:r>
              <a:rPr lang="en-US" altLang="zh-CN" dirty="0">
                <a:latin typeface="+mn-lt"/>
                <a:ea typeface="楷体_GB2312" pitchFamily="49" charset="-122"/>
              </a:rPr>
              <a:t> }</a:t>
            </a:r>
          </a:p>
          <a:p>
            <a:pPr>
              <a:lnSpc>
                <a:spcPct val="80000"/>
              </a:lnSpc>
              <a:buClrTx/>
              <a:buSzTx/>
            </a:pPr>
            <a:r>
              <a:rPr lang="en-US" altLang="zh-CN" dirty="0">
                <a:latin typeface="+mn-lt"/>
                <a:ea typeface="楷体_GB2312" pitchFamily="49" charset="-122"/>
              </a:rPr>
              <a:t>A</a:t>
            </a:r>
            <a:r>
              <a:rPr lang="en-US" altLang="zh-CN" baseline="-25000" dirty="0">
                <a:latin typeface="+mn-lt"/>
                <a:ea typeface="楷体_GB2312" pitchFamily="49" charset="-122"/>
              </a:rPr>
              <a:t>4</a:t>
            </a:r>
            <a:r>
              <a:rPr lang="en-US" altLang="zh-CN" dirty="0">
                <a:latin typeface="+mn-lt"/>
                <a:ea typeface="楷体_GB2312" pitchFamily="49" charset="-122"/>
              </a:rPr>
              <a:t>= Go(A</a:t>
            </a:r>
            <a:r>
              <a:rPr lang="en-US" altLang="zh-CN" baseline="-25000" dirty="0">
                <a:latin typeface="+mn-lt"/>
                <a:ea typeface="楷体_GB2312" pitchFamily="49" charset="-122"/>
              </a:rPr>
              <a:t>0</a:t>
            </a:r>
            <a:r>
              <a:rPr lang="en-US" altLang="zh-CN" dirty="0">
                <a:latin typeface="+mn-lt"/>
                <a:ea typeface="楷体_GB2312" pitchFamily="49" charset="-122"/>
              </a:rPr>
              <a:t>,b) = { </a:t>
            </a:r>
            <a:r>
              <a:rPr lang="en-US" altLang="zh-CN" dirty="0" err="1">
                <a:latin typeface="+mn-lt"/>
                <a:ea typeface="楷体_GB2312" pitchFamily="49" charset="-122"/>
              </a:rPr>
              <a:t>B→b</a:t>
            </a:r>
            <a:r>
              <a:rPr lang="en-US" altLang="zh-CN" dirty="0">
                <a:latin typeface="+mn-lt"/>
                <a:ea typeface="楷体_GB2312" pitchFamily="49" charset="-122"/>
              </a:rPr>
              <a:t>•}</a:t>
            </a:r>
          </a:p>
          <a:p>
            <a:pPr>
              <a:lnSpc>
                <a:spcPct val="80000"/>
              </a:lnSpc>
              <a:buClrTx/>
              <a:buSzTx/>
            </a:pPr>
            <a:r>
              <a:rPr lang="en-US" altLang="zh-CN" dirty="0">
                <a:latin typeface="+mn-lt"/>
                <a:ea typeface="楷体_GB2312" pitchFamily="49" charset="-122"/>
              </a:rPr>
              <a:t>A</a:t>
            </a:r>
            <a:r>
              <a:rPr lang="en-US" altLang="zh-CN" baseline="-25000" dirty="0">
                <a:latin typeface="+mn-lt"/>
                <a:ea typeface="楷体_GB2312" pitchFamily="49" charset="-122"/>
              </a:rPr>
              <a:t>5</a:t>
            </a:r>
            <a:r>
              <a:rPr lang="en-US" altLang="zh-CN" dirty="0">
                <a:latin typeface="+mn-lt"/>
                <a:ea typeface="楷体_GB2312" pitchFamily="49" charset="-122"/>
              </a:rPr>
              <a:t>= Go(A</a:t>
            </a:r>
            <a:r>
              <a:rPr lang="en-US" altLang="zh-CN" baseline="-25000" dirty="0">
                <a:latin typeface="+mn-lt"/>
                <a:ea typeface="楷体_GB2312" pitchFamily="49" charset="-122"/>
              </a:rPr>
              <a:t>2</a:t>
            </a:r>
            <a:r>
              <a:rPr lang="en-US" altLang="zh-CN" dirty="0">
                <a:latin typeface="+mn-lt"/>
                <a:ea typeface="楷体_GB2312" pitchFamily="49" charset="-122"/>
              </a:rPr>
              <a:t>,A)</a:t>
            </a:r>
            <a:r>
              <a:rPr lang="zh-CN" altLang="en-US" dirty="0">
                <a:latin typeface="+mn-lt"/>
                <a:ea typeface="楷体_GB2312" pitchFamily="49" charset="-122"/>
              </a:rPr>
              <a:t> </a:t>
            </a:r>
            <a:r>
              <a:rPr lang="en-US" altLang="zh-CN" dirty="0">
                <a:latin typeface="+mn-lt"/>
                <a:ea typeface="楷体_GB2312" pitchFamily="49" charset="-122"/>
              </a:rPr>
              <a:t>=</a:t>
            </a:r>
            <a:r>
              <a:rPr lang="zh-CN" altLang="en-US" dirty="0">
                <a:latin typeface="+mn-lt"/>
                <a:ea typeface="楷体_GB2312" pitchFamily="49" charset="-122"/>
              </a:rPr>
              <a:t> </a:t>
            </a:r>
            <a:r>
              <a:rPr lang="en-US" altLang="zh-CN" dirty="0">
                <a:latin typeface="+mn-lt"/>
                <a:ea typeface="楷体_GB2312" pitchFamily="49" charset="-122"/>
              </a:rPr>
              <a:t>{ S→ </a:t>
            </a:r>
            <a:r>
              <a:rPr lang="en-US" altLang="zh-CN" dirty="0" err="1">
                <a:latin typeface="+mn-lt"/>
                <a:ea typeface="楷体_GB2312" pitchFamily="49" charset="-122"/>
              </a:rPr>
              <a:t>aA</a:t>
            </a:r>
            <a:r>
              <a:rPr lang="en-US" altLang="zh-CN" dirty="0">
                <a:latin typeface="+mn-lt"/>
                <a:ea typeface="楷体_GB2312" pitchFamily="49" charset="-122"/>
              </a:rPr>
              <a:t>• }            </a:t>
            </a:r>
          </a:p>
          <a:p>
            <a:pPr>
              <a:lnSpc>
                <a:spcPct val="80000"/>
              </a:lnSpc>
              <a:buClrTx/>
              <a:buSzTx/>
            </a:pPr>
            <a:r>
              <a:rPr lang="en-US" altLang="zh-CN" dirty="0">
                <a:latin typeface="+mn-lt"/>
                <a:ea typeface="楷体_GB2312" pitchFamily="49" charset="-122"/>
              </a:rPr>
              <a:t>A</a:t>
            </a:r>
            <a:r>
              <a:rPr lang="en-US" altLang="zh-CN" baseline="-25000" dirty="0">
                <a:latin typeface="+mn-lt"/>
                <a:ea typeface="楷体_GB2312" pitchFamily="49" charset="-122"/>
              </a:rPr>
              <a:t>6</a:t>
            </a:r>
            <a:r>
              <a:rPr lang="en-US" altLang="zh-CN" dirty="0">
                <a:latin typeface="+mn-lt"/>
                <a:ea typeface="楷体_GB2312" pitchFamily="49" charset="-122"/>
              </a:rPr>
              <a:t>= Go(A</a:t>
            </a:r>
            <a:r>
              <a:rPr lang="en-US" altLang="zh-CN" baseline="-25000" dirty="0">
                <a:latin typeface="+mn-lt"/>
                <a:ea typeface="楷体_GB2312" pitchFamily="49" charset="-122"/>
              </a:rPr>
              <a:t>2</a:t>
            </a:r>
            <a:r>
              <a:rPr lang="en-US" altLang="zh-CN" dirty="0">
                <a:latin typeface="+mn-lt"/>
                <a:ea typeface="楷体_GB2312" pitchFamily="49" charset="-122"/>
              </a:rPr>
              <a:t>,b)</a:t>
            </a:r>
            <a:r>
              <a:rPr lang="zh-CN" altLang="en-US" dirty="0">
                <a:latin typeface="+mn-lt"/>
                <a:ea typeface="楷体_GB2312" pitchFamily="49" charset="-122"/>
              </a:rPr>
              <a:t> </a:t>
            </a:r>
            <a:r>
              <a:rPr lang="en-US" altLang="zh-CN" dirty="0">
                <a:latin typeface="+mn-lt"/>
                <a:ea typeface="楷体_GB2312" pitchFamily="49" charset="-122"/>
              </a:rPr>
              <a:t>=</a:t>
            </a:r>
            <a:r>
              <a:rPr lang="zh-CN" altLang="en-US" dirty="0">
                <a:latin typeface="+mn-lt"/>
                <a:ea typeface="楷体_GB2312" pitchFamily="49" charset="-122"/>
              </a:rPr>
              <a:t> </a:t>
            </a:r>
            <a:r>
              <a:rPr lang="en-US" altLang="zh-CN" dirty="0">
                <a:latin typeface="+mn-lt"/>
                <a:ea typeface="楷体_GB2312" pitchFamily="49" charset="-122"/>
              </a:rPr>
              <a:t>{ </a:t>
            </a:r>
            <a:r>
              <a:rPr lang="en-US" altLang="zh-CN" dirty="0" err="1">
                <a:latin typeface="+mn-lt"/>
                <a:ea typeface="楷体_GB2312" pitchFamily="49" charset="-122"/>
              </a:rPr>
              <a:t>A→b</a:t>
            </a:r>
            <a:r>
              <a:rPr lang="en-US" altLang="zh-CN" dirty="0">
                <a:latin typeface="+mn-lt"/>
                <a:ea typeface="楷体_GB2312" pitchFamily="49" charset="-122"/>
              </a:rPr>
              <a:t>• }</a:t>
            </a:r>
          </a:p>
          <a:p>
            <a:pPr>
              <a:lnSpc>
                <a:spcPct val="80000"/>
              </a:lnSpc>
              <a:buClrTx/>
              <a:buSzTx/>
            </a:pPr>
            <a:r>
              <a:rPr lang="en-US" altLang="zh-CN" dirty="0">
                <a:latin typeface="+mn-lt"/>
                <a:ea typeface="楷体_GB2312" pitchFamily="49" charset="-122"/>
              </a:rPr>
              <a:t>A</a:t>
            </a:r>
            <a:r>
              <a:rPr lang="en-US" altLang="zh-CN" baseline="-25000" dirty="0">
                <a:latin typeface="+mn-lt"/>
                <a:ea typeface="楷体_GB2312" pitchFamily="49" charset="-122"/>
              </a:rPr>
              <a:t>7</a:t>
            </a:r>
            <a:r>
              <a:rPr lang="en-US" altLang="zh-CN" dirty="0">
                <a:latin typeface="+mn-lt"/>
                <a:ea typeface="楷体_GB2312" pitchFamily="49" charset="-122"/>
              </a:rPr>
              <a:t>= Go(A</a:t>
            </a:r>
            <a:r>
              <a:rPr lang="en-US" altLang="zh-CN" baseline="-25000" dirty="0">
                <a:latin typeface="+mn-lt"/>
                <a:ea typeface="楷体_GB2312" pitchFamily="49" charset="-122"/>
              </a:rPr>
              <a:t>3</a:t>
            </a:r>
            <a:r>
              <a:rPr lang="en-US" altLang="zh-CN" dirty="0">
                <a:latin typeface="+mn-lt"/>
                <a:ea typeface="楷体_GB2312" pitchFamily="49" charset="-122"/>
              </a:rPr>
              <a:t>,b)</a:t>
            </a:r>
            <a:r>
              <a:rPr lang="zh-CN" altLang="en-US" dirty="0">
                <a:latin typeface="+mn-lt"/>
                <a:ea typeface="楷体_GB2312" pitchFamily="49" charset="-122"/>
              </a:rPr>
              <a:t> </a:t>
            </a:r>
            <a:r>
              <a:rPr lang="en-US" altLang="zh-CN" dirty="0">
                <a:latin typeface="+mn-lt"/>
                <a:ea typeface="楷体_GB2312" pitchFamily="49" charset="-122"/>
              </a:rPr>
              <a:t>=</a:t>
            </a:r>
            <a:r>
              <a:rPr lang="zh-CN" altLang="en-US" dirty="0">
                <a:latin typeface="+mn-lt"/>
                <a:ea typeface="楷体_GB2312" pitchFamily="49" charset="-122"/>
              </a:rPr>
              <a:t> </a:t>
            </a:r>
            <a:r>
              <a:rPr lang="en-US" altLang="zh-CN" dirty="0">
                <a:latin typeface="+mn-lt"/>
                <a:ea typeface="楷体_GB2312" pitchFamily="49" charset="-122"/>
              </a:rPr>
              <a:t>{ </a:t>
            </a:r>
            <a:r>
              <a:rPr lang="en-US" altLang="zh-CN" dirty="0" err="1">
                <a:latin typeface="+mn-lt"/>
                <a:ea typeface="楷体_GB2312" pitchFamily="49" charset="-122"/>
              </a:rPr>
              <a:t>B→Bb</a:t>
            </a:r>
            <a:r>
              <a:rPr lang="en-US" altLang="zh-CN" dirty="0">
                <a:latin typeface="+mn-lt"/>
                <a:ea typeface="楷体_GB2312" pitchFamily="49" charset="-122"/>
              </a:rPr>
              <a:t>• } </a:t>
            </a:r>
          </a:p>
          <a:p>
            <a:pPr>
              <a:lnSpc>
                <a:spcPct val="80000"/>
              </a:lnSpc>
              <a:buClrTx/>
              <a:buSzTx/>
            </a:pPr>
            <a:endParaRPr lang="en-US" altLang="zh-CN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80000"/>
              </a:lnSpc>
              <a:buClrTx/>
              <a:buSzTx/>
            </a:pPr>
            <a:endParaRPr lang="en-US" altLang="zh-CN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80000"/>
              </a:lnSpc>
              <a:buClrTx/>
              <a:buSzTx/>
            </a:pPr>
            <a:endParaRPr lang="en-US" altLang="zh-CN" dirty="0">
              <a:latin typeface="楷体_GB2312" pitchFamily="49" charset="-122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16288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7B03A-A5E7-2300-03C9-5FF87D650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1">
            <a:extLst>
              <a:ext uri="{FF2B5EF4-FFF2-40B4-BE49-F238E27FC236}">
                <a16:creationId xmlns:a16="http://schemas.microsoft.com/office/drawing/2014/main" id="{6BEB5C36-8CD6-CA19-E7FF-4F0DCCFE3D9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电子科技大学计算机科学与工程学院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01821D63-EF75-5F07-96BF-B57CD6F04E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1601" y="934988"/>
            <a:ext cx="7668852" cy="1657300"/>
          </a:xfrm>
          <a:prstGeom prst="rect">
            <a:avLst/>
          </a:prstGeom>
          <a:solidFill>
            <a:srgbClr val="B4FC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081088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717675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2354263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9908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34480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9052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43624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8196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0000"/>
              </a:lnSpc>
              <a:buClrTx/>
              <a:buSzTx/>
            </a:pPr>
            <a:r>
              <a:rPr lang="en-US" altLang="zh-CN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(3)</a:t>
            </a:r>
          </a:p>
          <a:p>
            <a:pPr>
              <a:lnSpc>
                <a:spcPct val="80000"/>
              </a:lnSpc>
              <a:buClrTx/>
              <a:buSzTx/>
            </a:pP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80000"/>
              </a:lnSpc>
              <a:buClrTx/>
              <a:buSzTx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答：不能构造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LR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分析表。在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en-US" altLang="zh-CN" baseline="-25000" dirty="0"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中</a:t>
            </a:r>
            <a:r>
              <a:rPr lang="en-US" altLang="zh-CN" dirty="0" err="1">
                <a:latin typeface="楷体_GB2312" pitchFamily="49" charset="-122"/>
                <a:ea typeface="楷体_GB2312" pitchFamily="49" charset="-122"/>
              </a:rPr>
              <a:t>B→B•b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为移进项目，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S→ B•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为归约项目，存在移进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-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归约冲突，因此所给文法不是 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LR(0)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文法。</a:t>
            </a:r>
          </a:p>
          <a:p>
            <a:pPr>
              <a:lnSpc>
                <a:spcPct val="80000"/>
              </a:lnSpc>
              <a:buClrTx/>
              <a:buSzTx/>
            </a:pP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18183083-CFBC-3964-A139-B036865B95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1601" y="2924944"/>
            <a:ext cx="7668852" cy="2448272"/>
          </a:xfrm>
          <a:prstGeom prst="rect">
            <a:avLst/>
          </a:prstGeom>
          <a:solidFill>
            <a:srgbClr val="B4FC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081088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717675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2354263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9908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34480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9052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43624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8196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0000"/>
              </a:lnSpc>
              <a:buClrTx/>
              <a:buSzTx/>
            </a:pPr>
            <a:r>
              <a:rPr lang="en-US" altLang="zh-CN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(4)</a:t>
            </a:r>
            <a:r>
              <a:rPr lang="zh-CN" altLang="en-US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endParaRPr lang="en-US" altLang="zh-CN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80000"/>
              </a:lnSpc>
              <a:buClrTx/>
              <a:buSzTx/>
            </a:pP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80000"/>
              </a:lnSpc>
              <a:buClrTx/>
              <a:buSzTx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答：能构成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SLR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）分析表。</a:t>
            </a:r>
          </a:p>
          <a:p>
            <a:pPr>
              <a:lnSpc>
                <a:spcPct val="80000"/>
              </a:lnSpc>
              <a:buClrTx/>
              <a:buSzTx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在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en-US" altLang="zh-CN" baseline="-25000" dirty="0"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中，</a:t>
            </a:r>
            <a:r>
              <a:rPr lang="en-US" altLang="zh-CN" dirty="0">
                <a:latin typeface="+mn-lt"/>
                <a:ea typeface="楷体_GB2312" pitchFamily="49" charset="-122"/>
              </a:rPr>
              <a:t>Follow(S) ∩{b} ={#}∩{b}= </a:t>
            </a:r>
            <a:r>
              <a:rPr lang="el-GR" altLang="zh-CN" dirty="0">
                <a:latin typeface="+mn-lt"/>
                <a:ea typeface="楷体_GB2312" pitchFamily="49" charset="-122"/>
              </a:rPr>
              <a:t>Φ</a:t>
            </a:r>
            <a:r>
              <a:rPr lang="el-GR" altLang="zh-CN" dirty="0">
                <a:latin typeface="楷体_GB2312" pitchFamily="49" charset="-122"/>
                <a:ea typeface="楷体_GB2312" pitchFamily="49" charset="-122"/>
              </a:rPr>
              <a:t>, 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所以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en-US" altLang="zh-CN" baseline="-25000" dirty="0"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中的移进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-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规约冲突可由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Follow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集解决，所以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G 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是 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SLR(1)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文法</a:t>
            </a:r>
          </a:p>
          <a:p>
            <a:pPr>
              <a:lnSpc>
                <a:spcPct val="80000"/>
              </a:lnSpc>
              <a:buClrTx/>
              <a:buSzTx/>
            </a:pP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action[3,#] = r2; action[3,b] = s7 </a:t>
            </a:r>
          </a:p>
          <a:p>
            <a:pPr>
              <a:lnSpc>
                <a:spcPct val="80000"/>
              </a:lnSpc>
              <a:buClrTx/>
              <a:buSzTx/>
            </a:pPr>
            <a:endParaRPr lang="en-US" altLang="zh-CN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80000"/>
              </a:lnSpc>
              <a:buClrTx/>
              <a:buSzTx/>
            </a:pPr>
            <a:endParaRPr lang="en-US" altLang="zh-CN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80000"/>
              </a:lnSpc>
              <a:buClrTx/>
              <a:buSzTx/>
            </a:pPr>
            <a:endParaRPr lang="en-US" altLang="zh-CN" dirty="0">
              <a:latin typeface="楷体_GB2312" pitchFamily="49" charset="-122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6063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D6664-C2FC-F96F-321F-CE59672A8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1">
            <a:extLst>
              <a:ext uri="{FF2B5EF4-FFF2-40B4-BE49-F238E27FC236}">
                <a16:creationId xmlns:a16="http://schemas.microsoft.com/office/drawing/2014/main" id="{F445DAE8-F164-195A-64E5-AA28E84AAF7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电子科技大学计算机科学与工程学院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98F99638-9103-2779-D85F-A67156025E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9642312"/>
              </p:ext>
            </p:extLst>
          </p:nvPr>
        </p:nvGraphicFramePr>
        <p:xfrm>
          <a:off x="1403648" y="1412776"/>
          <a:ext cx="6480720" cy="3744415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922916">
                  <a:extLst>
                    <a:ext uri="{9D8B030D-6E8A-4147-A177-3AD203B41FA5}">
                      <a16:colId xmlns:a16="http://schemas.microsoft.com/office/drawing/2014/main" val="26822869"/>
                    </a:ext>
                  </a:extLst>
                </a:gridCol>
                <a:gridCol w="922916">
                  <a:extLst>
                    <a:ext uri="{9D8B030D-6E8A-4147-A177-3AD203B41FA5}">
                      <a16:colId xmlns:a16="http://schemas.microsoft.com/office/drawing/2014/main" val="3267373574"/>
                    </a:ext>
                  </a:extLst>
                </a:gridCol>
                <a:gridCol w="1006817">
                  <a:extLst>
                    <a:ext uri="{9D8B030D-6E8A-4147-A177-3AD203B41FA5}">
                      <a16:colId xmlns:a16="http://schemas.microsoft.com/office/drawing/2014/main" val="4050509814"/>
                    </a:ext>
                  </a:extLst>
                </a:gridCol>
                <a:gridCol w="1006817">
                  <a:extLst>
                    <a:ext uri="{9D8B030D-6E8A-4147-A177-3AD203B41FA5}">
                      <a16:colId xmlns:a16="http://schemas.microsoft.com/office/drawing/2014/main" val="1731737948"/>
                    </a:ext>
                  </a:extLst>
                </a:gridCol>
                <a:gridCol w="872574">
                  <a:extLst>
                    <a:ext uri="{9D8B030D-6E8A-4147-A177-3AD203B41FA5}">
                      <a16:colId xmlns:a16="http://schemas.microsoft.com/office/drawing/2014/main" val="2687698770"/>
                    </a:ext>
                  </a:extLst>
                </a:gridCol>
                <a:gridCol w="874340">
                  <a:extLst>
                    <a:ext uri="{9D8B030D-6E8A-4147-A177-3AD203B41FA5}">
                      <a16:colId xmlns:a16="http://schemas.microsoft.com/office/drawing/2014/main" val="3531430345"/>
                    </a:ext>
                  </a:extLst>
                </a:gridCol>
                <a:gridCol w="874340">
                  <a:extLst>
                    <a:ext uri="{9D8B030D-6E8A-4147-A177-3AD203B41FA5}">
                      <a16:colId xmlns:a16="http://schemas.microsoft.com/office/drawing/2014/main" val="2741155418"/>
                    </a:ext>
                  </a:extLst>
                </a:gridCol>
              </a:tblGrid>
              <a:tr h="539594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200" kern="100" dirty="0">
                          <a:effectLst/>
                        </a:rPr>
                        <a:t>状态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 grid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kern="100">
                          <a:effectLst/>
                        </a:rPr>
                        <a:t>ACTION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kern="100">
                          <a:effectLst/>
                        </a:rPr>
                        <a:t>GOTO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0139705"/>
                  </a:ext>
                </a:extLst>
              </a:tr>
              <a:tr h="34922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kern="100">
                          <a:effectLst/>
                        </a:rPr>
                        <a:t>a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kern="100">
                          <a:effectLst/>
                        </a:rPr>
                        <a:t>b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kern="100">
                          <a:effectLst/>
                        </a:rPr>
                        <a:t>#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kern="100">
                          <a:effectLst/>
                        </a:rPr>
                        <a:t>S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kern="100">
                          <a:effectLst/>
                        </a:rPr>
                        <a:t>A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kern="100">
                          <a:effectLst/>
                        </a:rPr>
                        <a:t>B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37097527"/>
                  </a:ext>
                </a:extLst>
              </a:tr>
              <a:tr h="3492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kern="100">
                          <a:effectLst/>
                        </a:rPr>
                        <a:t>0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kern="100" dirty="0">
                          <a:effectLst/>
                        </a:rPr>
                        <a:t>S</a:t>
                      </a:r>
                      <a:r>
                        <a:rPr lang="en-US" sz="1200" kern="100" baseline="0" dirty="0">
                          <a:effectLst/>
                        </a:rPr>
                        <a:t>2</a:t>
                      </a:r>
                      <a:endParaRPr lang="zh-CN" sz="1050" kern="100" baseline="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kern="100">
                          <a:effectLst/>
                        </a:rPr>
                        <a:t>S4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kern="100">
                          <a:effectLst/>
                        </a:rPr>
                        <a:t>1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kern="100">
                          <a:effectLst/>
                        </a:rPr>
                        <a:t>3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77676841"/>
                  </a:ext>
                </a:extLst>
              </a:tr>
              <a:tr h="3492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kern="100">
                          <a:effectLst/>
                        </a:rPr>
                        <a:t>1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kern="100">
                          <a:effectLst/>
                        </a:rPr>
                        <a:t>ACC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86916244"/>
                  </a:ext>
                </a:extLst>
              </a:tr>
              <a:tr h="3492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kern="100">
                          <a:effectLst/>
                        </a:rPr>
                        <a:t>2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kern="100">
                          <a:effectLst/>
                        </a:rPr>
                        <a:t>S6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kern="100">
                          <a:effectLst/>
                        </a:rPr>
                        <a:t>5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0177533"/>
                  </a:ext>
                </a:extLst>
              </a:tr>
              <a:tr h="3492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kern="100">
                          <a:effectLst/>
                        </a:rPr>
                        <a:t>3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kern="100">
                          <a:effectLst/>
                        </a:rPr>
                        <a:t>S7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kern="100">
                          <a:effectLst/>
                        </a:rPr>
                        <a:t>R2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77483610"/>
                  </a:ext>
                </a:extLst>
              </a:tr>
              <a:tr h="3492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kern="100">
                          <a:effectLst/>
                        </a:rPr>
                        <a:t>4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kern="100">
                          <a:effectLst/>
                        </a:rPr>
                        <a:t>R5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kern="100">
                          <a:effectLst/>
                        </a:rPr>
                        <a:t>R5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kern="100">
                          <a:effectLst/>
                        </a:rPr>
                        <a:t>R5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28215192"/>
                  </a:ext>
                </a:extLst>
              </a:tr>
              <a:tr h="4110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kern="100">
                          <a:effectLst/>
                        </a:rPr>
                        <a:t>5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kern="100">
                          <a:effectLst/>
                        </a:rPr>
                        <a:t>R1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kern="100">
                          <a:effectLst/>
                        </a:rPr>
                        <a:t>R1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kern="100">
                          <a:effectLst/>
                        </a:rPr>
                        <a:t>R1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58853118"/>
                  </a:ext>
                </a:extLst>
              </a:tr>
              <a:tr h="3492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kern="100">
                          <a:effectLst/>
                        </a:rPr>
                        <a:t>6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kern="100">
                          <a:effectLst/>
                        </a:rPr>
                        <a:t>R3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kern="100">
                          <a:effectLst/>
                        </a:rPr>
                        <a:t>R3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kern="100">
                          <a:effectLst/>
                        </a:rPr>
                        <a:t>R3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9663265"/>
                  </a:ext>
                </a:extLst>
              </a:tr>
              <a:tr h="3492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kern="100">
                          <a:effectLst/>
                        </a:rPr>
                        <a:t>7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kern="100">
                          <a:effectLst/>
                        </a:rPr>
                        <a:t>R4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kern="100">
                          <a:effectLst/>
                        </a:rPr>
                        <a:t>R4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kern="100">
                          <a:effectLst/>
                        </a:rPr>
                        <a:t>R4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92817610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202EF70-E54E-97CE-0C56-806657DBD0A1}"/>
              </a:ext>
            </a:extLst>
          </p:cNvPr>
          <p:cNvSpPr txBox="1">
            <a:spLocks noChangeArrowheads="1"/>
          </p:cNvSpPr>
          <p:nvPr/>
        </p:nvSpPr>
        <p:spPr>
          <a:xfrm>
            <a:off x="827584" y="836712"/>
            <a:ext cx="7772400" cy="457200"/>
          </a:xfrm>
          <a:prstGeom prst="rect">
            <a:avLst/>
          </a:prstGeom>
        </p:spPr>
        <p:txBody>
          <a:bodyPr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rgbClr val="00CC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CC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CC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CC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CC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CC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CC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CC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CC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>
              <a:lnSpc>
                <a:spcPct val="100000"/>
              </a:lnSpc>
              <a:buClrTx/>
              <a:buSzTx/>
            </a:pPr>
            <a:r>
              <a:rPr lang="en-US" altLang="zh-CN" sz="2400" b="0" dirty="0"/>
              <a:t>SLR</a:t>
            </a:r>
            <a:r>
              <a:rPr lang="zh-CN" altLang="en-US" sz="2400" b="0" dirty="0"/>
              <a:t>（</a:t>
            </a:r>
            <a:r>
              <a:rPr lang="en-US" altLang="zh-CN" sz="2400" b="0" dirty="0"/>
              <a:t>1</a:t>
            </a:r>
            <a:r>
              <a:rPr lang="zh-CN" altLang="en-US" sz="2400" b="0" dirty="0"/>
              <a:t>）分析表</a:t>
            </a:r>
            <a:endParaRPr lang="en-US" altLang="zh-CN" sz="2400" b="0" dirty="0"/>
          </a:p>
        </p:txBody>
      </p:sp>
    </p:spTree>
    <p:extLst>
      <p:ext uri="{BB962C8B-B14F-4D97-AF65-F5344CB8AC3E}">
        <p14:creationId xmlns:p14="http://schemas.microsoft.com/office/powerpoint/2010/main" val="27682894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1F4FD-16E0-4593-1708-B7BE12C45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1">
            <a:extLst>
              <a:ext uri="{FF2B5EF4-FFF2-40B4-BE49-F238E27FC236}">
                <a16:creationId xmlns:a16="http://schemas.microsoft.com/office/drawing/2014/main" id="{BDC14F28-5070-31CD-01AD-9AABEF7E804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电子科技大学计算机科学与工程学院</a:t>
            </a:r>
          </a:p>
        </p:txBody>
      </p:sp>
      <p:sp>
        <p:nvSpPr>
          <p:cNvPr id="204805" name="AutoShape 5">
            <a:extLst>
              <a:ext uri="{FF2B5EF4-FFF2-40B4-BE49-F238E27FC236}">
                <a16:creationId xmlns:a16="http://schemas.microsoft.com/office/drawing/2014/main" id="{1D315B5B-D4B3-710B-0A3F-85722737E5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60" y="1628800"/>
            <a:ext cx="8215168" cy="2186130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0350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6827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23304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9781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34353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8925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43497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8069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四、将下面的语句翻译成中间代码（三地址语句）序列，语句从</a:t>
            </a: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100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开始标号：</a:t>
            </a: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endParaRPr kumimoji="0" lang="zh-CN" altLang="en-US" dirty="0">
              <a:latin typeface="仿宋_GB2312" pitchFamily="49" charset="-122"/>
              <a:ea typeface="仿宋_GB2312" pitchFamily="49" charset="-122"/>
            </a:endParaRP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" altLang="zh-CN" dirty="0">
                <a:latin typeface="+mn-lt"/>
                <a:ea typeface="仿宋_GB2312" pitchFamily="49" charset="-122"/>
              </a:rPr>
              <a:t>for I:=1 step A+1 until 100 do if B&gt;C then X:=X+A;</a:t>
            </a: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endParaRPr kumimoji="0" lang="en" altLang="zh-CN" dirty="0">
              <a:latin typeface="仿宋_GB2312" pitchFamily="49" charset="-122"/>
              <a:ea typeface="仿宋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35371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4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05" grpId="0" animBg="1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91168-B53B-AC3A-7729-75521E3AD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1">
            <a:extLst>
              <a:ext uri="{FF2B5EF4-FFF2-40B4-BE49-F238E27FC236}">
                <a16:creationId xmlns:a16="http://schemas.microsoft.com/office/drawing/2014/main" id="{D65B3F8B-28CB-61B5-221B-B45874B7141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电子科技大学计算机科学与工程学院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3F05B5EB-B0D8-1EBA-7E90-9ED125FD52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584" y="1384807"/>
            <a:ext cx="7668852" cy="4078188"/>
          </a:xfrm>
          <a:prstGeom prst="rect">
            <a:avLst/>
          </a:prstGeom>
          <a:solidFill>
            <a:srgbClr val="B4FC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081088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717675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2354263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9908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34480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9052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43624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8196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0000"/>
              </a:lnSpc>
              <a:buClrTx/>
              <a:buSzTx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答案：</a:t>
            </a:r>
          </a:p>
          <a:p>
            <a:pPr>
              <a:lnSpc>
                <a:spcPct val="80000"/>
              </a:lnSpc>
              <a:buClrTx/>
              <a:buSzTx/>
            </a:pP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80000"/>
              </a:lnSpc>
              <a:buClrTx/>
              <a:buSzTx/>
            </a:pPr>
            <a:r>
              <a:rPr lang="en-US" altLang="zh-CN" dirty="0">
                <a:latin typeface="+mn-lt"/>
                <a:ea typeface="楷体_GB2312" pitchFamily="49" charset="-122"/>
              </a:rPr>
              <a:t>100 I:=1</a:t>
            </a:r>
          </a:p>
          <a:p>
            <a:pPr>
              <a:lnSpc>
                <a:spcPct val="80000"/>
              </a:lnSpc>
              <a:buClrTx/>
              <a:buSzTx/>
            </a:pPr>
            <a:r>
              <a:rPr lang="en-US" altLang="zh-CN" dirty="0">
                <a:latin typeface="+mn-lt"/>
                <a:ea typeface="楷体_GB2312" pitchFamily="49" charset="-122"/>
              </a:rPr>
              <a:t>101 </a:t>
            </a:r>
            <a:r>
              <a:rPr lang="en-US" altLang="zh-CN" dirty="0" err="1">
                <a:latin typeface="+mn-lt"/>
                <a:ea typeface="楷体_GB2312" pitchFamily="49" charset="-122"/>
              </a:rPr>
              <a:t>goto</a:t>
            </a:r>
            <a:r>
              <a:rPr lang="en-US" altLang="zh-CN" dirty="0">
                <a:latin typeface="+mn-lt"/>
                <a:ea typeface="楷体_GB2312" pitchFamily="49" charset="-122"/>
              </a:rPr>
              <a:t> 104</a:t>
            </a:r>
          </a:p>
          <a:p>
            <a:pPr>
              <a:lnSpc>
                <a:spcPct val="80000"/>
              </a:lnSpc>
              <a:buClrTx/>
              <a:buSzTx/>
            </a:pPr>
            <a:r>
              <a:rPr lang="en-US" altLang="zh-CN" dirty="0">
                <a:latin typeface="+mn-lt"/>
                <a:ea typeface="楷体_GB2312" pitchFamily="49" charset="-122"/>
              </a:rPr>
              <a:t>102 t</a:t>
            </a:r>
            <a:r>
              <a:rPr lang="en-US" altLang="zh-CN" baseline="-25000" dirty="0">
                <a:latin typeface="+mn-lt"/>
                <a:ea typeface="楷体_GB2312" pitchFamily="49" charset="-122"/>
              </a:rPr>
              <a:t>1</a:t>
            </a:r>
            <a:r>
              <a:rPr lang="en-US" altLang="zh-CN" dirty="0">
                <a:latin typeface="+mn-lt"/>
                <a:ea typeface="楷体_GB2312" pitchFamily="49" charset="-122"/>
              </a:rPr>
              <a:t>:=A+1</a:t>
            </a:r>
          </a:p>
          <a:p>
            <a:pPr>
              <a:lnSpc>
                <a:spcPct val="80000"/>
              </a:lnSpc>
              <a:buClrTx/>
              <a:buSzTx/>
            </a:pPr>
            <a:r>
              <a:rPr lang="en-US" altLang="zh-CN" dirty="0">
                <a:latin typeface="+mn-lt"/>
                <a:ea typeface="楷体_GB2312" pitchFamily="49" charset="-122"/>
              </a:rPr>
              <a:t>103 I:=I+t</a:t>
            </a:r>
            <a:r>
              <a:rPr lang="en-US" altLang="zh-CN" baseline="-25000" dirty="0">
                <a:latin typeface="+mn-lt"/>
                <a:ea typeface="楷体_GB2312" pitchFamily="49" charset="-122"/>
              </a:rPr>
              <a:t>1</a:t>
            </a:r>
          </a:p>
          <a:p>
            <a:pPr>
              <a:lnSpc>
                <a:spcPct val="80000"/>
              </a:lnSpc>
              <a:buClrTx/>
              <a:buSzTx/>
            </a:pPr>
            <a:r>
              <a:rPr lang="en-US" altLang="zh-CN" dirty="0">
                <a:latin typeface="+mn-lt"/>
                <a:ea typeface="楷体_GB2312" pitchFamily="49" charset="-122"/>
              </a:rPr>
              <a:t>104 if I&gt;100 </a:t>
            </a:r>
            <a:r>
              <a:rPr lang="en-US" altLang="zh-CN" dirty="0" err="1">
                <a:latin typeface="+mn-lt"/>
                <a:ea typeface="楷体_GB2312" pitchFamily="49" charset="-122"/>
              </a:rPr>
              <a:t>goto</a:t>
            </a:r>
            <a:r>
              <a:rPr lang="en-US" altLang="zh-CN" dirty="0">
                <a:latin typeface="+mn-lt"/>
                <a:ea typeface="楷体_GB2312" pitchFamily="49" charset="-122"/>
              </a:rPr>
              <a:t> 110</a:t>
            </a:r>
          </a:p>
          <a:p>
            <a:pPr>
              <a:lnSpc>
                <a:spcPct val="80000"/>
              </a:lnSpc>
              <a:buClrTx/>
              <a:buSzTx/>
            </a:pPr>
            <a:r>
              <a:rPr lang="en-US" altLang="zh-CN" dirty="0">
                <a:latin typeface="+mn-lt"/>
                <a:ea typeface="楷体_GB2312" pitchFamily="49" charset="-122"/>
              </a:rPr>
              <a:t>105 if B&gt;C </a:t>
            </a:r>
            <a:r>
              <a:rPr lang="en-US" altLang="zh-CN" dirty="0" err="1">
                <a:latin typeface="+mn-lt"/>
                <a:ea typeface="楷体_GB2312" pitchFamily="49" charset="-122"/>
              </a:rPr>
              <a:t>goto</a:t>
            </a:r>
            <a:r>
              <a:rPr lang="en-US" altLang="zh-CN" dirty="0">
                <a:latin typeface="+mn-lt"/>
                <a:ea typeface="楷体_GB2312" pitchFamily="49" charset="-122"/>
              </a:rPr>
              <a:t> 107</a:t>
            </a:r>
          </a:p>
          <a:p>
            <a:pPr>
              <a:lnSpc>
                <a:spcPct val="80000"/>
              </a:lnSpc>
              <a:buClrTx/>
              <a:buSzTx/>
            </a:pPr>
            <a:r>
              <a:rPr lang="en-US" altLang="zh-CN" dirty="0">
                <a:latin typeface="+mn-lt"/>
                <a:ea typeface="楷体_GB2312" pitchFamily="49" charset="-122"/>
              </a:rPr>
              <a:t>106 </a:t>
            </a:r>
            <a:r>
              <a:rPr lang="en-US" altLang="zh-CN" dirty="0" err="1">
                <a:latin typeface="+mn-lt"/>
                <a:ea typeface="楷体_GB2312" pitchFamily="49" charset="-122"/>
              </a:rPr>
              <a:t>goto</a:t>
            </a:r>
            <a:r>
              <a:rPr lang="en-US" altLang="zh-CN" dirty="0">
                <a:latin typeface="+mn-lt"/>
                <a:ea typeface="楷体_GB2312" pitchFamily="49" charset="-122"/>
              </a:rPr>
              <a:t> 102</a:t>
            </a:r>
          </a:p>
          <a:p>
            <a:pPr>
              <a:lnSpc>
                <a:spcPct val="80000"/>
              </a:lnSpc>
              <a:buClrTx/>
              <a:buSzTx/>
            </a:pPr>
            <a:r>
              <a:rPr lang="en-US" altLang="zh-CN" dirty="0">
                <a:latin typeface="+mn-lt"/>
                <a:ea typeface="楷体_GB2312" pitchFamily="49" charset="-122"/>
              </a:rPr>
              <a:t>107 t</a:t>
            </a:r>
            <a:r>
              <a:rPr lang="en-US" altLang="zh-CN" baseline="-25000" dirty="0">
                <a:latin typeface="+mn-lt"/>
                <a:ea typeface="楷体_GB2312" pitchFamily="49" charset="-122"/>
              </a:rPr>
              <a:t>2</a:t>
            </a:r>
            <a:r>
              <a:rPr lang="en-US" altLang="zh-CN" dirty="0">
                <a:latin typeface="+mn-lt"/>
                <a:ea typeface="楷体_GB2312" pitchFamily="49" charset="-122"/>
              </a:rPr>
              <a:t>:=X+A</a:t>
            </a:r>
          </a:p>
          <a:p>
            <a:pPr>
              <a:lnSpc>
                <a:spcPct val="80000"/>
              </a:lnSpc>
              <a:buClrTx/>
              <a:buSzTx/>
            </a:pPr>
            <a:r>
              <a:rPr lang="en-US" altLang="zh-CN" dirty="0">
                <a:latin typeface="+mn-lt"/>
                <a:ea typeface="楷体_GB2312" pitchFamily="49" charset="-122"/>
              </a:rPr>
              <a:t>108 X:=t</a:t>
            </a:r>
            <a:r>
              <a:rPr lang="en-US" altLang="zh-CN" baseline="-25000" dirty="0">
                <a:latin typeface="+mn-lt"/>
                <a:ea typeface="楷体_GB2312" pitchFamily="49" charset="-122"/>
              </a:rPr>
              <a:t>2</a:t>
            </a:r>
          </a:p>
          <a:p>
            <a:pPr>
              <a:lnSpc>
                <a:spcPct val="80000"/>
              </a:lnSpc>
              <a:buClrTx/>
              <a:buSzTx/>
            </a:pPr>
            <a:r>
              <a:rPr lang="en-US" altLang="zh-CN" dirty="0">
                <a:latin typeface="+mn-lt"/>
                <a:ea typeface="楷体_GB2312" pitchFamily="49" charset="-122"/>
              </a:rPr>
              <a:t>109 </a:t>
            </a:r>
            <a:r>
              <a:rPr lang="en-US" altLang="zh-CN" dirty="0" err="1">
                <a:latin typeface="+mn-lt"/>
                <a:ea typeface="楷体_GB2312" pitchFamily="49" charset="-122"/>
              </a:rPr>
              <a:t>goto</a:t>
            </a:r>
            <a:r>
              <a:rPr lang="en-US" altLang="zh-CN" dirty="0">
                <a:latin typeface="+mn-lt"/>
                <a:ea typeface="楷体_GB2312" pitchFamily="49" charset="-122"/>
              </a:rPr>
              <a:t> 102</a:t>
            </a:r>
          </a:p>
          <a:p>
            <a:pPr>
              <a:lnSpc>
                <a:spcPct val="80000"/>
              </a:lnSpc>
              <a:buClrTx/>
              <a:buSzTx/>
            </a:pPr>
            <a:r>
              <a:rPr lang="en-US" altLang="zh-CN" dirty="0">
                <a:latin typeface="+mn-lt"/>
                <a:ea typeface="楷体_GB2312" pitchFamily="49" charset="-122"/>
              </a:rPr>
              <a:t>110</a:t>
            </a:r>
          </a:p>
          <a:p>
            <a:pPr>
              <a:lnSpc>
                <a:spcPct val="80000"/>
              </a:lnSpc>
              <a:buClrTx/>
              <a:buSzTx/>
            </a:pPr>
            <a:endParaRPr lang="en-US" altLang="zh-CN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80000"/>
              </a:lnSpc>
              <a:buClrTx/>
              <a:buSzTx/>
            </a:pP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62347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E207E-D7FC-1B9B-E118-6ED1DDE92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1">
            <a:extLst>
              <a:ext uri="{FF2B5EF4-FFF2-40B4-BE49-F238E27FC236}">
                <a16:creationId xmlns:a16="http://schemas.microsoft.com/office/drawing/2014/main" id="{E505E2C0-2D7C-25EF-D6AB-3B5C3B6E564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电子科技大学计算机科学与工程学院</a:t>
            </a:r>
          </a:p>
        </p:txBody>
      </p:sp>
      <p:sp>
        <p:nvSpPr>
          <p:cNvPr id="204805" name="AutoShape 5">
            <a:extLst>
              <a:ext uri="{FF2B5EF4-FFF2-40B4-BE49-F238E27FC236}">
                <a16:creationId xmlns:a16="http://schemas.microsoft.com/office/drawing/2014/main" id="{22DD36AC-1A1C-BC1D-732C-1BACC8269D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60" y="1628800"/>
            <a:ext cx="7920880" cy="3616309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0350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6827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23304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9781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34353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8925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43497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8069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五、已知文法</a:t>
            </a:r>
            <a:r>
              <a:rPr kumimoji="0" lang="en" altLang="zh-CN" dirty="0">
                <a:latin typeface="+mn-lt"/>
                <a:ea typeface="仿宋_GB2312" pitchFamily="49" charset="-122"/>
              </a:rPr>
              <a:t>G(S)</a:t>
            </a:r>
            <a:r>
              <a:rPr kumimoji="0" lang="zh-CN" altLang="en" dirty="0">
                <a:latin typeface="仿宋_GB2312" pitchFamily="49" charset="-122"/>
                <a:ea typeface="仿宋_GB2312" pitchFamily="49" charset="-122"/>
              </a:rPr>
              <a:t>：</a:t>
            </a:r>
            <a:endParaRPr kumimoji="0" lang="en-US" altLang="zh-CN" dirty="0">
              <a:latin typeface="仿宋_GB2312" pitchFamily="49" charset="-122"/>
              <a:ea typeface="仿宋_GB2312" pitchFamily="49" charset="-122"/>
            </a:endParaRP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" altLang="zh-CN" dirty="0">
                <a:latin typeface="+mn-lt"/>
                <a:ea typeface="仿宋_GB2312" pitchFamily="49" charset="-122"/>
              </a:rPr>
              <a:t>	</a:t>
            </a:r>
            <a:r>
              <a:rPr kumimoji="0" lang="en" altLang="zh-CN" dirty="0" err="1">
                <a:latin typeface="+mn-lt"/>
                <a:ea typeface="仿宋_GB2312" pitchFamily="49" charset="-122"/>
              </a:rPr>
              <a:t>S→aX</a:t>
            </a:r>
            <a:endParaRPr kumimoji="0" lang="en" altLang="zh-CN" dirty="0">
              <a:latin typeface="+mn-lt"/>
              <a:ea typeface="仿宋_GB2312" pitchFamily="49" charset="-122"/>
            </a:endParaRP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" altLang="zh-CN" dirty="0">
                <a:latin typeface="+mn-lt"/>
                <a:ea typeface="仿宋_GB2312" pitchFamily="49" charset="-122"/>
              </a:rPr>
              <a:t>	</a:t>
            </a:r>
            <a:r>
              <a:rPr kumimoji="0" lang="en" altLang="zh-CN" dirty="0" err="1">
                <a:latin typeface="+mn-lt"/>
                <a:ea typeface="仿宋_GB2312" pitchFamily="49" charset="-122"/>
              </a:rPr>
              <a:t>X→aY</a:t>
            </a:r>
            <a:r>
              <a:rPr kumimoji="0" lang="en" altLang="zh-CN" dirty="0">
                <a:latin typeface="+mn-lt"/>
                <a:ea typeface="仿宋_GB2312" pitchFamily="49" charset="-122"/>
              </a:rPr>
              <a:t>+|+</a:t>
            </a: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" altLang="zh-CN" dirty="0">
                <a:latin typeface="+mn-lt"/>
                <a:ea typeface="仿宋_GB2312" pitchFamily="49" charset="-122"/>
              </a:rPr>
              <a:t>	</a:t>
            </a:r>
            <a:r>
              <a:rPr kumimoji="0" lang="en" altLang="zh-CN" dirty="0" err="1">
                <a:latin typeface="+mn-lt"/>
                <a:ea typeface="仿宋_GB2312" pitchFamily="49" charset="-122"/>
              </a:rPr>
              <a:t>Y→Zb</a:t>
            </a:r>
            <a:r>
              <a:rPr kumimoji="0" lang="en" altLang="zh-CN" dirty="0">
                <a:latin typeface="+mn-lt"/>
                <a:ea typeface="仿宋_GB2312" pitchFamily="49" charset="-122"/>
              </a:rPr>
              <a:t>|</a:t>
            </a:r>
            <a:r>
              <a:rPr kumimoji="0" lang="el-GR" altLang="zh-CN" dirty="0">
                <a:latin typeface="+mn-lt"/>
                <a:ea typeface="仿宋_GB2312" pitchFamily="49" charset="-122"/>
              </a:rPr>
              <a:t>ε</a:t>
            </a: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" altLang="zh-CN" dirty="0">
                <a:latin typeface="+mn-lt"/>
                <a:ea typeface="仿宋_GB2312" pitchFamily="49" charset="-122"/>
              </a:rPr>
              <a:t>	</a:t>
            </a:r>
            <a:r>
              <a:rPr kumimoji="0" lang="en" altLang="zh-CN" dirty="0" err="1">
                <a:latin typeface="+mn-lt"/>
                <a:ea typeface="仿宋_GB2312" pitchFamily="49" charset="-122"/>
              </a:rPr>
              <a:t>Z→aY</a:t>
            </a:r>
            <a:r>
              <a:rPr kumimoji="0" lang="en" altLang="zh-CN" dirty="0">
                <a:latin typeface="+mn-lt"/>
                <a:ea typeface="仿宋_GB2312" pitchFamily="49" charset="-122"/>
              </a:rPr>
              <a:t>|*</a:t>
            </a: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1)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 求文法</a:t>
            </a:r>
            <a:r>
              <a:rPr kumimoji="0" lang="en" altLang="zh-CN" dirty="0">
                <a:latin typeface="仿宋_GB2312" pitchFamily="49" charset="-122"/>
                <a:ea typeface="仿宋_GB2312" pitchFamily="49" charset="-122"/>
              </a:rPr>
              <a:t>G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各非终结任</a:t>
            </a:r>
            <a:r>
              <a:rPr kumimoji="0" lang="en" altLang="zh-CN" dirty="0">
                <a:latin typeface="仿宋_GB2312" pitchFamily="49" charset="-122"/>
                <a:ea typeface="仿宋_GB2312" pitchFamily="49" charset="-122"/>
              </a:rPr>
              <a:t>FIRST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集合</a:t>
            </a:r>
            <a:r>
              <a:rPr kumimoji="0" lang="en" altLang="zh-CN" dirty="0">
                <a:latin typeface="仿宋_GB2312" pitchFamily="49" charset="-122"/>
                <a:ea typeface="仿宋_GB2312" pitchFamily="49" charset="-122"/>
              </a:rPr>
              <a:t>FOLLOW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集。</a:t>
            </a:r>
            <a:endParaRPr kumimoji="0" lang="en-US" altLang="zh-CN" dirty="0">
              <a:latin typeface="仿宋_GB2312" pitchFamily="49" charset="-122"/>
              <a:ea typeface="仿宋_GB2312" pitchFamily="49" charset="-122"/>
            </a:endParaRP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2)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 求文法</a:t>
            </a:r>
            <a:r>
              <a:rPr kumimoji="0" lang="en" altLang="zh-CN" dirty="0">
                <a:latin typeface="仿宋_GB2312" pitchFamily="49" charset="-122"/>
                <a:ea typeface="仿宋_GB2312" pitchFamily="49" charset="-122"/>
              </a:rPr>
              <a:t>G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的预测分析表。</a:t>
            </a:r>
            <a:endParaRPr kumimoji="0" lang="en-US" altLang="zh-CN" dirty="0">
              <a:latin typeface="仿宋_GB2312" pitchFamily="49" charset="-122"/>
              <a:ea typeface="仿宋_GB2312" pitchFamily="49" charset="-122"/>
            </a:endParaRP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3)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 文法</a:t>
            </a:r>
            <a:r>
              <a:rPr kumimoji="0" lang="en" altLang="zh-CN" dirty="0">
                <a:latin typeface="仿宋_GB2312" pitchFamily="49" charset="-122"/>
                <a:ea typeface="仿宋_GB2312" pitchFamily="49" charset="-122"/>
              </a:rPr>
              <a:t>G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是否是</a:t>
            </a:r>
            <a:r>
              <a:rPr kumimoji="0" lang="en" altLang="zh-CN" dirty="0">
                <a:latin typeface="仿宋_GB2312" pitchFamily="49" charset="-122"/>
                <a:ea typeface="仿宋_GB2312" pitchFamily="49" charset="-122"/>
              </a:rPr>
              <a:t>LL(1)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文法？为什么？</a:t>
            </a:r>
            <a:endParaRPr kumimoji="0" lang="en" altLang="zh-CN" dirty="0">
              <a:latin typeface="仿宋_GB2312" pitchFamily="49" charset="-122"/>
              <a:ea typeface="仿宋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9975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4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05" grpId="0" animBg="1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43CB6-AC34-C6C0-7420-57E7A46C5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1">
            <a:extLst>
              <a:ext uri="{FF2B5EF4-FFF2-40B4-BE49-F238E27FC236}">
                <a16:creationId xmlns:a16="http://schemas.microsoft.com/office/drawing/2014/main" id="{2D7359C5-1EC1-085C-74C0-FC33ABC6E9D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电子科技大学计算机科学与工程学院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1550C53A-E1E5-7D27-9C49-43C5A4FBA1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584" y="1384807"/>
            <a:ext cx="7668852" cy="4078188"/>
          </a:xfrm>
          <a:prstGeom prst="rect">
            <a:avLst/>
          </a:prstGeom>
          <a:solidFill>
            <a:srgbClr val="B4FC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081088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717675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2354263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9908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34480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9052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43624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8196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0000"/>
              </a:lnSpc>
              <a:buClrTx/>
              <a:buSzTx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答案：</a:t>
            </a:r>
          </a:p>
          <a:p>
            <a:pPr>
              <a:lnSpc>
                <a:spcPct val="80000"/>
              </a:lnSpc>
              <a:buClrTx/>
              <a:buSzTx/>
            </a:pP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）</a:t>
            </a:r>
          </a:p>
          <a:p>
            <a:pPr>
              <a:lnSpc>
                <a:spcPct val="80000"/>
              </a:lnSpc>
              <a:buClrTx/>
              <a:buSzTx/>
            </a:pPr>
            <a:endParaRPr lang="en-US" altLang="zh-CN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80000"/>
              </a:lnSpc>
              <a:buClrTx/>
              <a:buSzTx/>
            </a:pP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082D1639-6B97-5FB8-BCEE-39503F4267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187998"/>
              </p:ext>
            </p:extLst>
          </p:nvPr>
        </p:nvGraphicFramePr>
        <p:xfrm>
          <a:off x="2123728" y="2060848"/>
          <a:ext cx="5098126" cy="25873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7059">
                  <a:extLst>
                    <a:ext uri="{9D8B030D-6E8A-4147-A177-3AD203B41FA5}">
                      <a16:colId xmlns:a16="http://schemas.microsoft.com/office/drawing/2014/main" val="2502038166"/>
                    </a:ext>
                  </a:extLst>
                </a:gridCol>
                <a:gridCol w="2061062">
                  <a:extLst>
                    <a:ext uri="{9D8B030D-6E8A-4147-A177-3AD203B41FA5}">
                      <a16:colId xmlns:a16="http://schemas.microsoft.com/office/drawing/2014/main" val="645879765"/>
                    </a:ext>
                  </a:extLst>
                </a:gridCol>
                <a:gridCol w="2440005">
                  <a:extLst>
                    <a:ext uri="{9D8B030D-6E8A-4147-A177-3AD203B41FA5}">
                      <a16:colId xmlns:a16="http://schemas.microsoft.com/office/drawing/2014/main" val="2819086550"/>
                    </a:ext>
                  </a:extLst>
                </a:gridCol>
              </a:tblGrid>
              <a:tr h="51747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kern="10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kern="100">
                          <a:effectLst/>
                        </a:rPr>
                        <a:t>FIRST</a:t>
                      </a:r>
                      <a:endParaRPr lang="zh-CN" sz="105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kern="100">
                          <a:effectLst/>
                        </a:rPr>
                        <a:t>FOLLOW</a:t>
                      </a:r>
                      <a:endParaRPr lang="zh-CN" sz="105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46270523"/>
                  </a:ext>
                </a:extLst>
              </a:tr>
              <a:tr h="51747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kern="100">
                          <a:effectLst/>
                        </a:rPr>
                        <a:t>S</a:t>
                      </a:r>
                      <a:endParaRPr lang="zh-CN" sz="105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kern="100" dirty="0">
                          <a:effectLst/>
                        </a:rPr>
                        <a:t>a</a:t>
                      </a:r>
                      <a:endParaRPr lang="zh-CN" sz="105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kern="100">
                          <a:effectLst/>
                        </a:rPr>
                        <a:t>#</a:t>
                      </a:r>
                      <a:endParaRPr lang="zh-CN" sz="105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37051379"/>
                  </a:ext>
                </a:extLst>
              </a:tr>
              <a:tr h="51747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kern="100">
                          <a:effectLst/>
                        </a:rPr>
                        <a:t>X</a:t>
                      </a:r>
                      <a:endParaRPr lang="zh-CN" sz="105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kern="100" dirty="0">
                          <a:effectLst/>
                        </a:rPr>
                        <a:t>a +</a:t>
                      </a:r>
                      <a:endParaRPr lang="zh-CN" sz="105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kern="100">
                          <a:effectLst/>
                        </a:rPr>
                        <a:t>#</a:t>
                      </a:r>
                      <a:endParaRPr lang="zh-CN" sz="105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80325674"/>
                  </a:ext>
                </a:extLst>
              </a:tr>
              <a:tr h="51747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kern="100">
                          <a:effectLst/>
                        </a:rPr>
                        <a:t>Y</a:t>
                      </a:r>
                      <a:endParaRPr lang="zh-CN" sz="105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kern="100" dirty="0">
                          <a:effectLst/>
                        </a:rPr>
                        <a:t>a </a:t>
                      </a:r>
                      <a:r>
                        <a:rPr lang="zh-CN" altLang="en-US" sz="1400" kern="100" dirty="0">
                          <a:effectLst/>
                        </a:rPr>
                        <a:t> </a:t>
                      </a:r>
                      <a:r>
                        <a:rPr lang="en-US" sz="1400" kern="100" dirty="0">
                          <a:effectLst/>
                        </a:rPr>
                        <a:t>* </a:t>
                      </a:r>
                      <a:r>
                        <a:rPr lang="zh-CN" altLang="en-US" sz="1400" kern="100" dirty="0">
                          <a:effectLst/>
                        </a:rPr>
                        <a:t> </a:t>
                      </a:r>
                      <a:r>
                        <a:rPr lang="en-US" sz="1400" kern="100" dirty="0" err="1">
                          <a:effectLst/>
                        </a:rPr>
                        <a:t>ε</a:t>
                      </a:r>
                      <a:endParaRPr lang="zh-CN" sz="105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kern="100" dirty="0">
                          <a:effectLst/>
                        </a:rPr>
                        <a:t>b +</a:t>
                      </a:r>
                      <a:endParaRPr lang="zh-CN" sz="105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18283000"/>
                  </a:ext>
                </a:extLst>
              </a:tr>
              <a:tr h="51747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kern="100">
                          <a:effectLst/>
                        </a:rPr>
                        <a:t>Z</a:t>
                      </a:r>
                      <a:endParaRPr lang="zh-CN" sz="105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kern="100" dirty="0">
                          <a:effectLst/>
                        </a:rPr>
                        <a:t>a </a:t>
                      </a:r>
                      <a:r>
                        <a:rPr lang="zh-CN" altLang="en-US" sz="1400" kern="100" dirty="0">
                          <a:effectLst/>
                        </a:rPr>
                        <a:t> </a:t>
                      </a:r>
                      <a:r>
                        <a:rPr lang="en-US" sz="1400" kern="100" dirty="0">
                          <a:effectLst/>
                        </a:rPr>
                        <a:t>*</a:t>
                      </a:r>
                      <a:endParaRPr lang="zh-CN" sz="105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kern="100" dirty="0">
                          <a:effectLst/>
                        </a:rPr>
                        <a:t>b</a:t>
                      </a:r>
                      <a:endParaRPr lang="zh-CN" sz="105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20316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7437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EFCFA-196E-A072-1E4B-BEA5F324F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1">
            <a:extLst>
              <a:ext uri="{FF2B5EF4-FFF2-40B4-BE49-F238E27FC236}">
                <a16:creationId xmlns:a16="http://schemas.microsoft.com/office/drawing/2014/main" id="{31471C24-7598-470D-E8FA-4D322D72069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电子科技大学计算机科学与工程学院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B878C132-0F7C-456B-F950-3434B87EB7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584" y="1384807"/>
            <a:ext cx="7668852" cy="4078188"/>
          </a:xfrm>
          <a:prstGeom prst="rect">
            <a:avLst/>
          </a:prstGeom>
          <a:solidFill>
            <a:srgbClr val="B4FC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081088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717675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2354263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9908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34480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9052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43624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8196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0000"/>
              </a:lnSpc>
              <a:buClrTx/>
              <a:buSzTx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答案：</a:t>
            </a:r>
          </a:p>
          <a:p>
            <a:pPr>
              <a:lnSpc>
                <a:spcPct val="80000"/>
              </a:lnSpc>
              <a:buClrTx/>
              <a:buSzTx/>
            </a:pP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）</a:t>
            </a:r>
          </a:p>
          <a:p>
            <a:pPr>
              <a:lnSpc>
                <a:spcPct val="80000"/>
              </a:lnSpc>
              <a:buClrTx/>
              <a:buSzTx/>
            </a:pPr>
            <a:endParaRPr lang="en-US" altLang="zh-CN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80000"/>
              </a:lnSpc>
              <a:buClrTx/>
              <a:buSzTx/>
            </a:pPr>
            <a:endParaRPr lang="en-US" altLang="zh-CN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80000"/>
              </a:lnSpc>
              <a:buClrTx/>
              <a:buSzTx/>
            </a:pPr>
            <a:endParaRPr lang="en-US" altLang="zh-CN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80000"/>
              </a:lnSpc>
              <a:buClrTx/>
              <a:buSzTx/>
            </a:pPr>
            <a:endParaRPr lang="en-US" altLang="zh-CN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80000"/>
              </a:lnSpc>
              <a:buClrTx/>
              <a:buSzTx/>
            </a:pPr>
            <a:endParaRPr lang="en-US" altLang="zh-CN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80000"/>
              </a:lnSpc>
              <a:buClrTx/>
              <a:buSzTx/>
            </a:pPr>
            <a:endParaRPr lang="en-US" altLang="zh-CN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80000"/>
              </a:lnSpc>
              <a:buClrTx/>
              <a:buSzTx/>
            </a:pPr>
            <a:endParaRPr lang="en-US" altLang="zh-CN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80000"/>
              </a:lnSpc>
              <a:buClrTx/>
              <a:buSzTx/>
            </a:pPr>
            <a:endParaRPr lang="en-US" altLang="zh-CN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80000"/>
              </a:lnSpc>
              <a:buClrTx/>
              <a:buSzTx/>
            </a:pPr>
            <a:endParaRPr lang="en-US" altLang="zh-CN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80000"/>
              </a:lnSpc>
              <a:buClrTx/>
              <a:buSzTx/>
            </a:pP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）是。因为上述预测分析表没有多重入口。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6DCCF274-84C5-C720-1705-43AA6079F9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5345506"/>
              </p:ext>
            </p:extLst>
          </p:nvPr>
        </p:nvGraphicFramePr>
        <p:xfrm>
          <a:off x="1563868" y="1772816"/>
          <a:ext cx="6016263" cy="25772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81579">
                  <a:extLst>
                    <a:ext uri="{9D8B030D-6E8A-4147-A177-3AD203B41FA5}">
                      <a16:colId xmlns:a16="http://schemas.microsoft.com/office/drawing/2014/main" val="2838245540"/>
                    </a:ext>
                  </a:extLst>
                </a:gridCol>
                <a:gridCol w="1396812">
                  <a:extLst>
                    <a:ext uri="{9D8B030D-6E8A-4147-A177-3AD203B41FA5}">
                      <a16:colId xmlns:a16="http://schemas.microsoft.com/office/drawing/2014/main" val="1197815629"/>
                    </a:ext>
                  </a:extLst>
                </a:gridCol>
                <a:gridCol w="1148679">
                  <a:extLst>
                    <a:ext uri="{9D8B030D-6E8A-4147-A177-3AD203B41FA5}">
                      <a16:colId xmlns:a16="http://schemas.microsoft.com/office/drawing/2014/main" val="2492102631"/>
                    </a:ext>
                  </a:extLst>
                </a:gridCol>
                <a:gridCol w="1310236">
                  <a:extLst>
                    <a:ext uri="{9D8B030D-6E8A-4147-A177-3AD203B41FA5}">
                      <a16:colId xmlns:a16="http://schemas.microsoft.com/office/drawing/2014/main" val="2746900006"/>
                    </a:ext>
                  </a:extLst>
                </a:gridCol>
                <a:gridCol w="1261537">
                  <a:extLst>
                    <a:ext uri="{9D8B030D-6E8A-4147-A177-3AD203B41FA5}">
                      <a16:colId xmlns:a16="http://schemas.microsoft.com/office/drawing/2014/main" val="1159047825"/>
                    </a:ext>
                  </a:extLst>
                </a:gridCol>
                <a:gridCol w="417420">
                  <a:extLst>
                    <a:ext uri="{9D8B030D-6E8A-4147-A177-3AD203B41FA5}">
                      <a16:colId xmlns:a16="http://schemas.microsoft.com/office/drawing/2014/main" val="3874784410"/>
                    </a:ext>
                  </a:extLst>
                </a:gridCol>
              </a:tblGrid>
              <a:tr h="515451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kern="10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kern="100">
                          <a:effectLst/>
                        </a:rPr>
                        <a:t>a</a:t>
                      </a:r>
                      <a:endParaRPr lang="zh-CN" sz="105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kern="100">
                          <a:effectLst/>
                        </a:rPr>
                        <a:t>b</a:t>
                      </a:r>
                      <a:endParaRPr lang="zh-CN" sz="105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kern="100">
                          <a:effectLst/>
                        </a:rPr>
                        <a:t>*</a:t>
                      </a:r>
                      <a:endParaRPr lang="zh-CN" sz="105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kern="100">
                          <a:effectLst/>
                        </a:rPr>
                        <a:t>+</a:t>
                      </a:r>
                      <a:endParaRPr lang="zh-CN" sz="105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kern="100">
                          <a:effectLst/>
                        </a:rPr>
                        <a:t>#</a:t>
                      </a:r>
                      <a:endParaRPr lang="zh-CN" sz="105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82844814"/>
                  </a:ext>
                </a:extLst>
              </a:tr>
              <a:tr h="515451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kern="100">
                          <a:effectLst/>
                        </a:rPr>
                        <a:t>S</a:t>
                      </a:r>
                      <a:endParaRPr lang="zh-CN" sz="105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kern="100">
                          <a:effectLst/>
                        </a:rPr>
                        <a:t>S → aX</a:t>
                      </a:r>
                      <a:endParaRPr lang="zh-CN" sz="105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kern="10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kern="10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kern="10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kern="10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92889790"/>
                  </a:ext>
                </a:extLst>
              </a:tr>
              <a:tr h="515451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kern="100">
                          <a:effectLst/>
                        </a:rPr>
                        <a:t>X</a:t>
                      </a:r>
                      <a:endParaRPr lang="zh-CN" sz="105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kern="100">
                          <a:effectLst/>
                        </a:rPr>
                        <a:t>X → aY+</a:t>
                      </a:r>
                      <a:endParaRPr lang="zh-CN" sz="105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kern="10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kern="10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kern="100">
                          <a:effectLst/>
                        </a:rPr>
                        <a:t>X → +</a:t>
                      </a:r>
                      <a:endParaRPr lang="zh-CN" sz="105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kern="10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87187074"/>
                  </a:ext>
                </a:extLst>
              </a:tr>
              <a:tr h="515451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kern="100">
                          <a:effectLst/>
                        </a:rPr>
                        <a:t>Y</a:t>
                      </a:r>
                      <a:endParaRPr lang="zh-CN" sz="105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kern="100">
                          <a:effectLst/>
                        </a:rPr>
                        <a:t>Y → Zb</a:t>
                      </a:r>
                      <a:endParaRPr lang="zh-CN" sz="105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kern="100">
                          <a:effectLst/>
                        </a:rPr>
                        <a:t>Y → ε</a:t>
                      </a:r>
                      <a:endParaRPr lang="zh-CN" sz="105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kern="100">
                          <a:effectLst/>
                        </a:rPr>
                        <a:t>Y → Zb</a:t>
                      </a:r>
                      <a:endParaRPr lang="zh-CN" sz="105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kern="100">
                          <a:effectLst/>
                        </a:rPr>
                        <a:t>Y → ε</a:t>
                      </a:r>
                      <a:endParaRPr lang="zh-CN" sz="105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kern="10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1431331"/>
                  </a:ext>
                </a:extLst>
              </a:tr>
              <a:tr h="515451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kern="100">
                          <a:effectLst/>
                        </a:rPr>
                        <a:t>Z</a:t>
                      </a:r>
                      <a:endParaRPr lang="zh-CN" sz="105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kern="100">
                          <a:effectLst/>
                        </a:rPr>
                        <a:t>Z → aY</a:t>
                      </a:r>
                      <a:endParaRPr lang="zh-CN" sz="105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kern="10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kern="100">
                          <a:effectLst/>
                        </a:rPr>
                        <a:t>Z → *</a:t>
                      </a:r>
                      <a:endParaRPr lang="zh-CN" sz="105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kern="10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kern="100" dirty="0">
                          <a:effectLst/>
                        </a:rPr>
                        <a:t> </a:t>
                      </a:r>
                      <a:endParaRPr lang="zh-CN" sz="105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958156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1951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31393-2DC6-4048-794A-395A240BB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1">
            <a:extLst>
              <a:ext uri="{FF2B5EF4-FFF2-40B4-BE49-F238E27FC236}">
                <a16:creationId xmlns:a16="http://schemas.microsoft.com/office/drawing/2014/main" id="{B0AE0839-2360-7F76-A2F4-E72B859F3B5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电子科技大学计算机科学与工程学院</a:t>
            </a:r>
          </a:p>
        </p:txBody>
      </p:sp>
      <p:sp>
        <p:nvSpPr>
          <p:cNvPr id="204805" name="AutoShape 5">
            <a:extLst>
              <a:ext uri="{FF2B5EF4-FFF2-40B4-BE49-F238E27FC236}">
                <a16:creationId xmlns:a16="http://schemas.microsoft.com/office/drawing/2014/main" id="{232FA6BF-076D-924A-3FD7-AFC92B4C03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60" y="1628800"/>
            <a:ext cx="8215168" cy="4065794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0350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6827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23304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9781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34353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8925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43497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8069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六、给出如下文法：</a:t>
            </a: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" altLang="zh-CN" dirty="0">
                <a:latin typeface="+mn-lt"/>
                <a:ea typeface="仿宋_GB2312" pitchFamily="49" charset="-122"/>
              </a:rPr>
              <a:t>	S→BC|AD</a:t>
            </a: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" altLang="zh-CN" dirty="0">
                <a:latin typeface="+mn-lt"/>
                <a:ea typeface="仿宋_GB2312" pitchFamily="49" charset="-122"/>
              </a:rPr>
              <a:t>	</a:t>
            </a:r>
            <a:r>
              <a:rPr kumimoji="0" lang="en" altLang="zh-CN" dirty="0" err="1">
                <a:latin typeface="+mn-lt"/>
                <a:ea typeface="仿宋_GB2312" pitchFamily="49" charset="-122"/>
              </a:rPr>
              <a:t>B→aBb</a:t>
            </a:r>
            <a:r>
              <a:rPr kumimoji="0" lang="en" altLang="zh-CN" dirty="0">
                <a:latin typeface="+mn-lt"/>
                <a:ea typeface="仿宋_GB2312" pitchFamily="49" charset="-122"/>
              </a:rPr>
              <a:t>|</a:t>
            </a:r>
            <a:r>
              <a:rPr kumimoji="0" lang="el-GR" altLang="zh-CN" dirty="0">
                <a:latin typeface="+mn-lt"/>
                <a:ea typeface="仿宋_GB2312" pitchFamily="49" charset="-122"/>
              </a:rPr>
              <a:t>ε</a:t>
            </a:r>
            <a:endParaRPr kumimoji="0" lang="en" altLang="zh-CN" dirty="0">
              <a:latin typeface="+mn-lt"/>
              <a:ea typeface="仿宋_GB2312" pitchFamily="49" charset="-122"/>
            </a:endParaRP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" altLang="zh-CN" dirty="0">
                <a:latin typeface="+mn-lt"/>
                <a:ea typeface="仿宋_GB2312" pitchFamily="49" charset="-122"/>
              </a:rPr>
              <a:t>	</a:t>
            </a:r>
            <a:r>
              <a:rPr kumimoji="0" lang="en" altLang="zh-CN" dirty="0" err="1">
                <a:latin typeface="+mn-lt"/>
                <a:ea typeface="仿宋_GB2312" pitchFamily="49" charset="-122"/>
              </a:rPr>
              <a:t>C→cC</a:t>
            </a:r>
            <a:r>
              <a:rPr kumimoji="0" lang="en" altLang="zh-CN" dirty="0">
                <a:latin typeface="+mn-lt"/>
                <a:ea typeface="仿宋_GB2312" pitchFamily="49" charset="-122"/>
              </a:rPr>
              <a:t>|</a:t>
            </a:r>
            <a:r>
              <a:rPr kumimoji="0" lang="el-GR" altLang="zh-CN" dirty="0">
                <a:latin typeface="+mn-lt"/>
                <a:ea typeface="仿宋_GB2312" pitchFamily="49" charset="-122"/>
              </a:rPr>
              <a:t>ε</a:t>
            </a:r>
            <a:endParaRPr kumimoji="0" lang="en" altLang="zh-CN" dirty="0">
              <a:latin typeface="+mn-lt"/>
              <a:ea typeface="仿宋_GB2312" pitchFamily="49" charset="-122"/>
            </a:endParaRP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" altLang="zh-CN" dirty="0">
                <a:latin typeface="+mn-lt"/>
                <a:ea typeface="仿宋_GB2312" pitchFamily="49" charset="-122"/>
              </a:rPr>
              <a:t>	</a:t>
            </a:r>
            <a:r>
              <a:rPr kumimoji="0" lang="en" altLang="zh-CN" dirty="0" err="1">
                <a:latin typeface="+mn-lt"/>
                <a:ea typeface="仿宋_GB2312" pitchFamily="49" charset="-122"/>
              </a:rPr>
              <a:t>D→bDc</a:t>
            </a:r>
            <a:r>
              <a:rPr kumimoji="0" lang="en" altLang="zh-CN" dirty="0">
                <a:latin typeface="+mn-lt"/>
                <a:ea typeface="仿宋_GB2312" pitchFamily="49" charset="-122"/>
              </a:rPr>
              <a:t>|</a:t>
            </a:r>
            <a:r>
              <a:rPr kumimoji="0" lang="el-GR" altLang="zh-CN" dirty="0">
                <a:latin typeface="+mn-lt"/>
                <a:ea typeface="仿宋_GB2312" pitchFamily="49" charset="-122"/>
              </a:rPr>
              <a:t>ε</a:t>
            </a:r>
            <a:endParaRPr kumimoji="0" lang="en" altLang="zh-CN" dirty="0">
              <a:latin typeface="+mn-lt"/>
              <a:ea typeface="仿宋_GB2312" pitchFamily="49" charset="-122"/>
            </a:endParaRP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" altLang="zh-CN" dirty="0">
                <a:latin typeface="+mn-lt"/>
                <a:ea typeface="仿宋_GB2312" pitchFamily="49" charset="-122"/>
              </a:rPr>
              <a:t>	</a:t>
            </a:r>
            <a:r>
              <a:rPr kumimoji="0" lang="en" altLang="zh-CN" dirty="0" err="1">
                <a:latin typeface="+mn-lt"/>
                <a:ea typeface="仿宋_GB2312" pitchFamily="49" charset="-122"/>
              </a:rPr>
              <a:t>A→aA</a:t>
            </a:r>
            <a:r>
              <a:rPr kumimoji="0" lang="en" altLang="zh-CN" dirty="0">
                <a:latin typeface="+mn-lt"/>
                <a:ea typeface="仿宋_GB2312" pitchFamily="49" charset="-122"/>
              </a:rPr>
              <a:t>|</a:t>
            </a:r>
            <a:r>
              <a:rPr kumimoji="0" lang="el-GR" altLang="zh-CN" dirty="0">
                <a:latin typeface="+mn-lt"/>
                <a:ea typeface="仿宋_GB2312" pitchFamily="49" charset="-122"/>
              </a:rPr>
              <a:t>ε</a:t>
            </a:r>
            <a:endParaRPr kumimoji="0" lang="en" altLang="zh-CN" dirty="0">
              <a:latin typeface="+mn-lt"/>
              <a:ea typeface="仿宋_GB2312" pitchFamily="49" charset="-122"/>
            </a:endParaRP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1</a:t>
            </a:r>
            <a:r>
              <a:rPr kumimoji="0" lang="en" altLang="zh-CN" dirty="0">
                <a:latin typeface="仿宋_GB2312" pitchFamily="49" charset="-122"/>
                <a:ea typeface="仿宋_GB2312" pitchFamily="49" charset="-122"/>
              </a:rPr>
              <a:t>)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 写出串</a:t>
            </a:r>
            <a:r>
              <a:rPr kumimoji="0" lang="en" altLang="zh-CN" dirty="0">
                <a:latin typeface="仿宋_GB2312" pitchFamily="49" charset="-122"/>
                <a:ea typeface="仿宋_GB2312" pitchFamily="49" charset="-122"/>
              </a:rPr>
              <a:t>abc</a:t>
            </a:r>
            <a:r>
              <a:rPr kumimoji="0" lang="en" altLang="zh-CN" baseline="30000" dirty="0">
                <a:latin typeface="仿宋_GB2312" pitchFamily="49" charset="-122"/>
                <a:ea typeface="仿宋_GB2312" pitchFamily="49" charset="-122"/>
              </a:rPr>
              <a:t>2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和</a:t>
            </a:r>
            <a:r>
              <a:rPr kumimoji="0" lang="en" altLang="zh-CN" dirty="0">
                <a:latin typeface="仿宋_GB2312" pitchFamily="49" charset="-122"/>
                <a:ea typeface="仿宋_GB2312" pitchFamily="49" charset="-122"/>
              </a:rPr>
              <a:t>a</a:t>
            </a:r>
            <a:r>
              <a:rPr kumimoji="0" lang="en" altLang="zh-CN" baseline="30000" dirty="0">
                <a:latin typeface="仿宋_GB2312" pitchFamily="49" charset="-122"/>
                <a:ea typeface="仿宋_GB2312" pitchFamily="49" charset="-122"/>
              </a:rPr>
              <a:t>2</a:t>
            </a:r>
            <a:r>
              <a:rPr kumimoji="0" lang="en" altLang="zh-CN" dirty="0">
                <a:latin typeface="仿宋_GB2312" pitchFamily="49" charset="-122"/>
                <a:ea typeface="仿宋_GB2312" pitchFamily="49" charset="-122"/>
              </a:rPr>
              <a:t>bc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的最右推导，画出对应的推导树；</a:t>
            </a: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2</a:t>
            </a:r>
            <a:r>
              <a:rPr kumimoji="0" lang="en" altLang="zh-CN" dirty="0">
                <a:latin typeface="仿宋_GB2312" pitchFamily="49" charset="-122"/>
                <a:ea typeface="仿宋_GB2312" pitchFamily="49" charset="-122"/>
              </a:rPr>
              <a:t>)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 写出串</a:t>
            </a:r>
            <a:r>
              <a:rPr kumimoji="0" lang="en" altLang="zh-CN" dirty="0" err="1">
                <a:latin typeface="仿宋_GB2312" pitchFamily="49" charset="-122"/>
                <a:ea typeface="仿宋_GB2312" pitchFamily="49" charset="-122"/>
              </a:rPr>
              <a:t>abc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的两种不同最右推导，并画出对应的推导树；</a:t>
            </a: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3</a:t>
            </a:r>
            <a:r>
              <a:rPr kumimoji="0" lang="en" altLang="zh-CN" dirty="0">
                <a:latin typeface="仿宋_GB2312" pitchFamily="49" charset="-122"/>
                <a:ea typeface="仿宋_GB2312" pitchFamily="49" charset="-122"/>
              </a:rPr>
              <a:t>)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 该文法是不是</a:t>
            </a: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2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义文法？为什么？</a:t>
            </a:r>
            <a:endParaRPr kumimoji="0" lang="en" altLang="zh-CN" dirty="0">
              <a:latin typeface="仿宋_GB2312" pitchFamily="49" charset="-122"/>
              <a:ea typeface="仿宋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36106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4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05" grpId="0" animBg="1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B36FD-C62E-DFDF-D481-F7DF785DF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1">
            <a:extLst>
              <a:ext uri="{FF2B5EF4-FFF2-40B4-BE49-F238E27FC236}">
                <a16:creationId xmlns:a16="http://schemas.microsoft.com/office/drawing/2014/main" id="{0BC0326E-9099-B504-352D-D58302361A0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电子科技大学计算机科学与工程学院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B3E44371-1950-BD36-4266-B928D329D9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592" y="1475320"/>
            <a:ext cx="7668852" cy="4401952"/>
          </a:xfrm>
          <a:prstGeom prst="rect">
            <a:avLst/>
          </a:prstGeom>
          <a:solidFill>
            <a:srgbClr val="B4FC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081088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717675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2354263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9908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34480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9052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43624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8196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0000"/>
              </a:lnSpc>
              <a:buClrTx/>
              <a:buSzTx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答案：</a:t>
            </a:r>
            <a:endParaRPr lang="en-US" altLang="zh-CN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80000"/>
              </a:lnSpc>
              <a:buClrTx/>
              <a:buSzTx/>
            </a:pP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80000"/>
              </a:lnSpc>
              <a:buClrTx/>
              <a:buSzTx/>
            </a:pP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）</a:t>
            </a:r>
          </a:p>
          <a:p>
            <a:pPr>
              <a:lnSpc>
                <a:spcPct val="80000"/>
              </a:lnSpc>
              <a:buClrTx/>
              <a:buSzTx/>
            </a:pPr>
            <a:r>
              <a:rPr lang="en-US" altLang="zh-CN" dirty="0" err="1"/>
              <a:t>S</a:t>
            </a:r>
            <a:r>
              <a:rPr lang="en-US" altLang="zh-CN" dirty="0" err="1">
                <a:sym typeface="Symbol" pitchFamily="2" charset="2"/>
              </a:rPr>
              <a:t></a:t>
            </a:r>
            <a:r>
              <a:rPr lang="en-US" altLang="zh-CN" dirty="0" err="1"/>
              <a:t>BC</a:t>
            </a:r>
            <a:r>
              <a:rPr lang="en-US" altLang="zh-CN" dirty="0" err="1">
                <a:sym typeface="Symbol" pitchFamily="2" charset="2"/>
              </a:rPr>
              <a:t></a:t>
            </a:r>
            <a:r>
              <a:rPr lang="en-US" altLang="zh-CN" dirty="0" err="1"/>
              <a:t>BcC</a:t>
            </a:r>
            <a:r>
              <a:rPr lang="en-US" altLang="zh-CN" dirty="0" err="1">
                <a:sym typeface="Symbol" pitchFamily="2" charset="2"/>
              </a:rPr>
              <a:t></a:t>
            </a:r>
            <a:r>
              <a:rPr lang="en-US" altLang="zh-CN" dirty="0" err="1"/>
              <a:t>BccC</a:t>
            </a:r>
            <a:r>
              <a:rPr lang="en-US" altLang="zh-CN" dirty="0" err="1">
                <a:sym typeface="Symbol" pitchFamily="2" charset="2"/>
              </a:rPr>
              <a:t></a:t>
            </a:r>
            <a:r>
              <a:rPr lang="en-US" altLang="zh-CN" dirty="0" err="1"/>
              <a:t>Bcc</a:t>
            </a:r>
            <a:r>
              <a:rPr lang="en-US" altLang="zh-CN" dirty="0" err="1">
                <a:sym typeface="Symbol" pitchFamily="2" charset="2"/>
              </a:rPr>
              <a:t></a:t>
            </a:r>
            <a:r>
              <a:rPr lang="en-US" altLang="zh-CN" dirty="0" err="1"/>
              <a:t>aBbcc</a:t>
            </a:r>
            <a:r>
              <a:rPr lang="en-US" altLang="zh-CN" dirty="0" err="1">
                <a:sym typeface="Symbol" pitchFamily="2" charset="2"/>
              </a:rPr>
              <a:t></a:t>
            </a:r>
            <a:r>
              <a:rPr lang="en-US" altLang="zh-CN" dirty="0" err="1"/>
              <a:t>abcc</a:t>
            </a:r>
            <a:endParaRPr lang="en-US" altLang="zh-CN" dirty="0"/>
          </a:p>
          <a:p>
            <a:pPr>
              <a:lnSpc>
                <a:spcPct val="80000"/>
              </a:lnSpc>
              <a:buClrTx/>
              <a:buSzTx/>
            </a:pPr>
            <a:r>
              <a:rPr lang="en-US" altLang="zh-CN" dirty="0" err="1"/>
              <a:t>S</a:t>
            </a:r>
            <a:r>
              <a:rPr lang="en-US" altLang="zh-CN" dirty="0" err="1">
                <a:sym typeface="Symbol" pitchFamily="2" charset="2"/>
              </a:rPr>
              <a:t></a:t>
            </a:r>
            <a:r>
              <a:rPr lang="en-US" altLang="zh-CN" dirty="0" err="1"/>
              <a:t>AD</a:t>
            </a:r>
            <a:r>
              <a:rPr lang="en-US" altLang="zh-CN" dirty="0" err="1">
                <a:sym typeface="Symbol" pitchFamily="2" charset="2"/>
              </a:rPr>
              <a:t></a:t>
            </a:r>
            <a:r>
              <a:rPr lang="en-US" altLang="zh-CN" dirty="0" err="1"/>
              <a:t>AbDc</a:t>
            </a:r>
            <a:r>
              <a:rPr lang="en-US" altLang="zh-CN" dirty="0" err="1">
                <a:sym typeface="Symbol" pitchFamily="2" charset="2"/>
              </a:rPr>
              <a:t></a:t>
            </a:r>
            <a:r>
              <a:rPr lang="en-US" altLang="zh-CN" dirty="0" err="1"/>
              <a:t>Abc</a:t>
            </a:r>
            <a:r>
              <a:rPr lang="en-US" altLang="zh-CN" dirty="0" err="1">
                <a:sym typeface="Symbol" pitchFamily="2" charset="2"/>
              </a:rPr>
              <a:t></a:t>
            </a:r>
            <a:r>
              <a:rPr lang="en-US" altLang="zh-CN" dirty="0" err="1"/>
              <a:t>aAbc</a:t>
            </a:r>
            <a:r>
              <a:rPr lang="en-US" altLang="zh-CN" dirty="0" err="1">
                <a:sym typeface="Symbol" pitchFamily="2" charset="2"/>
              </a:rPr>
              <a:t></a:t>
            </a:r>
            <a:r>
              <a:rPr lang="en-US" altLang="zh-CN" dirty="0" err="1"/>
              <a:t>aaAbc</a:t>
            </a:r>
            <a:r>
              <a:rPr lang="en-US" altLang="zh-CN" dirty="0" err="1">
                <a:sym typeface="Symbol" pitchFamily="2" charset="2"/>
              </a:rPr>
              <a:t></a:t>
            </a:r>
            <a:r>
              <a:rPr lang="en-US" altLang="zh-CN" dirty="0" err="1"/>
              <a:t>aabc</a:t>
            </a:r>
            <a:endParaRPr lang="zh-CN" altLang="zh-CN" dirty="0"/>
          </a:p>
          <a:p>
            <a:pPr>
              <a:lnSpc>
                <a:spcPct val="80000"/>
              </a:lnSpc>
              <a:buClrTx/>
              <a:buSzTx/>
            </a:pPr>
            <a:endParaRPr lang="zh-CN" altLang="zh-CN" dirty="0"/>
          </a:p>
          <a:p>
            <a:pPr>
              <a:lnSpc>
                <a:spcPct val="80000"/>
              </a:lnSpc>
              <a:buClrTx/>
              <a:buSzTx/>
            </a:pP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7E832BD-F36A-5042-2AFF-BCF55C7533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297" y="3140968"/>
            <a:ext cx="3096344" cy="256845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BEC13E1C-3550-ECC5-5DDB-0820CF4D53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6891" y="3140968"/>
            <a:ext cx="2521591" cy="2513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090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3353D-8230-3E83-D2EA-F0BE76EB9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1">
            <a:extLst>
              <a:ext uri="{FF2B5EF4-FFF2-40B4-BE49-F238E27FC236}">
                <a16:creationId xmlns:a16="http://schemas.microsoft.com/office/drawing/2014/main" id="{D57823D6-670D-7C83-35E6-9134C2022CC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电子科技大学计算机科学与工程学院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CAA3B2E1-502C-449C-A62B-242584EA63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574" y="764704"/>
            <a:ext cx="7668852" cy="5122032"/>
          </a:xfrm>
          <a:prstGeom prst="rect">
            <a:avLst/>
          </a:prstGeom>
          <a:solidFill>
            <a:srgbClr val="B4FC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081088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717675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2354263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9908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34480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9052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43624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8196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0000"/>
              </a:lnSpc>
              <a:buClrTx/>
              <a:buSzTx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答案：</a:t>
            </a:r>
            <a:endParaRPr lang="en-US" altLang="zh-CN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80000"/>
              </a:lnSpc>
              <a:buClrTx/>
              <a:buSzTx/>
            </a:pP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80000"/>
              </a:lnSpc>
              <a:buClrTx/>
              <a:buSzTx/>
            </a:pP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）</a:t>
            </a:r>
          </a:p>
          <a:p>
            <a:r>
              <a:rPr lang="en-US" altLang="zh-CN" dirty="0" err="1"/>
              <a:t>S</a:t>
            </a:r>
            <a:r>
              <a:rPr lang="en-US" altLang="zh-CN" dirty="0" err="1">
                <a:sym typeface="Symbol" pitchFamily="2" charset="2"/>
              </a:rPr>
              <a:t></a:t>
            </a:r>
            <a:r>
              <a:rPr lang="en-US" altLang="zh-CN" dirty="0" err="1"/>
              <a:t>BC</a:t>
            </a:r>
            <a:r>
              <a:rPr lang="en-US" altLang="zh-CN" dirty="0" err="1">
                <a:sym typeface="Symbol" pitchFamily="2" charset="2"/>
              </a:rPr>
              <a:t></a:t>
            </a:r>
            <a:r>
              <a:rPr lang="en-US" altLang="zh-CN" dirty="0" err="1"/>
              <a:t>BcC</a:t>
            </a:r>
            <a:r>
              <a:rPr lang="en-US" altLang="zh-CN" dirty="0" err="1">
                <a:sym typeface="Symbol" pitchFamily="2" charset="2"/>
              </a:rPr>
              <a:t></a:t>
            </a:r>
            <a:r>
              <a:rPr lang="en-US" altLang="zh-CN" dirty="0" err="1"/>
              <a:t>Bc</a:t>
            </a:r>
            <a:r>
              <a:rPr lang="en-US" altLang="zh-CN" dirty="0" err="1">
                <a:sym typeface="Symbol" pitchFamily="2" charset="2"/>
              </a:rPr>
              <a:t></a:t>
            </a:r>
            <a:r>
              <a:rPr lang="en-US" altLang="zh-CN" dirty="0" err="1"/>
              <a:t>aBbc</a:t>
            </a:r>
            <a:r>
              <a:rPr lang="en-US" altLang="zh-CN" dirty="0" err="1">
                <a:sym typeface="Symbol" pitchFamily="2" charset="2"/>
              </a:rPr>
              <a:t></a:t>
            </a:r>
            <a:r>
              <a:rPr lang="en-US" altLang="zh-CN" dirty="0" err="1"/>
              <a:t>abc</a:t>
            </a:r>
            <a:endParaRPr lang="zh-CN" altLang="zh-CN" dirty="0"/>
          </a:p>
          <a:p>
            <a:r>
              <a:rPr lang="en-US" altLang="zh-CN" dirty="0" err="1"/>
              <a:t>S</a:t>
            </a:r>
            <a:r>
              <a:rPr lang="en-US" altLang="zh-CN" dirty="0" err="1">
                <a:sym typeface="Symbol" pitchFamily="2" charset="2"/>
              </a:rPr>
              <a:t></a:t>
            </a:r>
            <a:r>
              <a:rPr lang="en-US" altLang="zh-CN" dirty="0" err="1"/>
              <a:t>AD</a:t>
            </a:r>
            <a:r>
              <a:rPr lang="en-US" altLang="zh-CN" dirty="0" err="1">
                <a:sym typeface="Symbol" pitchFamily="2" charset="2"/>
              </a:rPr>
              <a:t></a:t>
            </a:r>
            <a:r>
              <a:rPr lang="en-US" altLang="zh-CN" dirty="0" err="1"/>
              <a:t>AbDc</a:t>
            </a:r>
            <a:r>
              <a:rPr lang="en-US" altLang="zh-CN" dirty="0" err="1">
                <a:sym typeface="Symbol" pitchFamily="2" charset="2"/>
              </a:rPr>
              <a:t></a:t>
            </a:r>
            <a:r>
              <a:rPr lang="en-US" altLang="zh-CN" dirty="0" err="1"/>
              <a:t>Abc</a:t>
            </a:r>
            <a:r>
              <a:rPr lang="en-US" altLang="zh-CN" dirty="0" err="1">
                <a:sym typeface="Symbol" pitchFamily="2" charset="2"/>
              </a:rPr>
              <a:t></a:t>
            </a:r>
            <a:r>
              <a:rPr lang="en-US" altLang="zh-CN" dirty="0" err="1"/>
              <a:t>aAbc</a:t>
            </a:r>
            <a:r>
              <a:rPr lang="en-US" altLang="zh-CN" dirty="0" err="1">
                <a:sym typeface="Symbol" pitchFamily="2" charset="2"/>
              </a:rPr>
              <a:t></a:t>
            </a:r>
            <a:r>
              <a:rPr lang="en-US" altLang="zh-CN" dirty="0" err="1"/>
              <a:t>abc</a:t>
            </a:r>
            <a:endParaRPr lang="zh-CN" altLang="zh-CN" dirty="0"/>
          </a:p>
          <a:p>
            <a:pPr>
              <a:lnSpc>
                <a:spcPct val="80000"/>
              </a:lnSpc>
              <a:buClrTx/>
              <a:buSzTx/>
            </a:pPr>
            <a:endParaRPr lang="zh-CN" altLang="zh-CN" dirty="0"/>
          </a:p>
          <a:p>
            <a:pPr>
              <a:lnSpc>
                <a:spcPct val="80000"/>
              </a:lnSpc>
              <a:buClrTx/>
              <a:buSzTx/>
            </a:pPr>
            <a:endParaRPr lang="en-US" altLang="zh-CN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80000"/>
              </a:lnSpc>
              <a:buClrTx/>
              <a:buSzTx/>
            </a:pPr>
            <a:endParaRPr lang="en-US" altLang="zh-CN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80000"/>
              </a:lnSpc>
              <a:buClrTx/>
              <a:buSzTx/>
            </a:pPr>
            <a:endParaRPr lang="en-US" altLang="zh-CN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80000"/>
              </a:lnSpc>
              <a:buClrTx/>
              <a:buSzTx/>
            </a:pPr>
            <a:endParaRPr lang="en-US" altLang="zh-CN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80000"/>
              </a:lnSpc>
              <a:buClrTx/>
              <a:buSzTx/>
            </a:pPr>
            <a:endParaRPr lang="en-US" altLang="zh-CN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80000"/>
              </a:lnSpc>
              <a:buClrTx/>
              <a:buSzTx/>
            </a:pPr>
            <a:endParaRPr lang="en-US" altLang="zh-CN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80000"/>
              </a:lnSpc>
              <a:buClrTx/>
              <a:buSzTx/>
            </a:pPr>
            <a:endParaRPr lang="en-US" altLang="zh-CN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80000"/>
              </a:lnSpc>
              <a:buClrTx/>
              <a:buSzTx/>
            </a:pPr>
            <a:endParaRPr lang="en-US" altLang="zh-CN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80000"/>
              </a:lnSpc>
              <a:buClrTx/>
              <a:buSzTx/>
            </a:pP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）因为</a:t>
            </a:r>
            <a:r>
              <a:rPr lang="en" altLang="zh-CN" dirty="0" err="1">
                <a:latin typeface="楷体_GB2312" pitchFamily="49" charset="-122"/>
                <a:ea typeface="楷体_GB2312" pitchFamily="49" charset="-122"/>
              </a:rPr>
              <a:t>abc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有两种不同的最右推导，具有两个不同的推导树，是二义文法。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3DE8229-0B9C-DCA4-4C8F-962BCE25A7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2933" y="2492896"/>
            <a:ext cx="2808312" cy="236758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1E63B7E-891B-9B68-242D-08BF727000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0192" y="2492896"/>
            <a:ext cx="2809050" cy="2192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807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053EB-2094-D231-4A53-201B7F994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1">
            <a:extLst>
              <a:ext uri="{FF2B5EF4-FFF2-40B4-BE49-F238E27FC236}">
                <a16:creationId xmlns:a16="http://schemas.microsoft.com/office/drawing/2014/main" id="{E44C2BAF-E798-29FB-7F94-5F810ABBA39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电子科技大学计算机科学与工程学院</a:t>
            </a:r>
          </a:p>
        </p:txBody>
      </p:sp>
      <p:sp>
        <p:nvSpPr>
          <p:cNvPr id="204805" name="AutoShape 5">
            <a:extLst>
              <a:ext uri="{FF2B5EF4-FFF2-40B4-BE49-F238E27FC236}">
                <a16:creationId xmlns:a16="http://schemas.microsoft.com/office/drawing/2014/main" id="{657D33FC-312C-020C-E0FE-CB48D2F3C1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416" y="692696"/>
            <a:ext cx="8356056" cy="5250799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0350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6827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23304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9781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34353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8925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43497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8069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0"/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七、</a:t>
            </a:r>
            <a:r>
              <a:rPr lang="zh-CN" altLang="zh-CN" dirty="0">
                <a:latin typeface="+mn-ea"/>
                <a:ea typeface="+mn-ea"/>
              </a:rPr>
              <a:t>如下语句是某高级语言的多重选择语句，它的语义是依次判断布尔条件</a:t>
            </a:r>
            <a:r>
              <a:rPr lang="en-US" altLang="zh-CN" dirty="0">
                <a:latin typeface="+mn-ea"/>
                <a:ea typeface="+mn-ea"/>
              </a:rPr>
              <a:t>B</a:t>
            </a:r>
            <a:r>
              <a:rPr lang="en-US" altLang="zh-CN" baseline="-25000" dirty="0">
                <a:latin typeface="+mn-ea"/>
                <a:ea typeface="+mn-ea"/>
              </a:rPr>
              <a:t>i</a:t>
            </a:r>
            <a:r>
              <a:rPr lang="zh-CN" altLang="zh-CN" dirty="0">
                <a:latin typeface="+mn-ea"/>
                <a:ea typeface="+mn-ea"/>
              </a:rPr>
              <a:t>是否为真；为真则执行相应的</a:t>
            </a:r>
            <a:r>
              <a:rPr lang="en-US" altLang="zh-CN" dirty="0">
                <a:latin typeface="+mn-ea"/>
                <a:ea typeface="+mn-ea"/>
              </a:rPr>
              <a:t>S</a:t>
            </a:r>
            <a:r>
              <a:rPr lang="en-US" altLang="zh-CN" baseline="-25000" dirty="0">
                <a:latin typeface="+mn-ea"/>
                <a:ea typeface="+mn-ea"/>
              </a:rPr>
              <a:t>i</a:t>
            </a:r>
            <a:r>
              <a:rPr lang="en-US" altLang="zh-CN" dirty="0">
                <a:latin typeface="+mn-ea"/>
                <a:ea typeface="+mn-ea"/>
              </a:rPr>
              <a:t>,</a:t>
            </a:r>
            <a:r>
              <a:rPr lang="zh-CN" altLang="zh-CN" dirty="0">
                <a:latin typeface="+mn-ea"/>
                <a:ea typeface="+mn-ea"/>
              </a:rPr>
              <a:t>然后退出该多重选择语句；为假则继续判断下一个条件：</a:t>
            </a:r>
          </a:p>
          <a:p>
            <a:r>
              <a:rPr lang="en-US" altLang="zh-CN" dirty="0"/>
              <a:t>	if </a:t>
            </a:r>
            <a:endParaRPr lang="zh-CN" altLang="zh-CN" dirty="0"/>
          </a:p>
          <a:p>
            <a:r>
              <a:rPr lang="en-US" altLang="zh-CN" dirty="0"/>
              <a:t>  	</a:t>
            </a:r>
            <a:r>
              <a:rPr lang="zh-CN" altLang="en-US" dirty="0"/>
              <a:t>    </a:t>
            </a:r>
            <a:r>
              <a:rPr lang="en-US" altLang="zh-CN" dirty="0"/>
              <a:t>B</a:t>
            </a:r>
            <a:r>
              <a:rPr lang="en-US" altLang="zh-CN" baseline="-25000" dirty="0"/>
              <a:t>1</a:t>
            </a:r>
            <a:r>
              <a:rPr lang="en-US" altLang="zh-CN" dirty="0">
                <a:sym typeface="Symbol" pitchFamily="2" charset="2"/>
              </a:rPr>
              <a:t></a:t>
            </a:r>
            <a:r>
              <a:rPr lang="en-US" altLang="zh-CN" dirty="0"/>
              <a:t>S</a:t>
            </a:r>
            <a:r>
              <a:rPr lang="en-US" altLang="zh-CN" baseline="-25000" dirty="0"/>
              <a:t>1</a:t>
            </a:r>
            <a:r>
              <a:rPr lang="en-US" altLang="zh-CN" dirty="0"/>
              <a:t>;</a:t>
            </a:r>
            <a:endParaRPr lang="zh-CN" altLang="zh-CN" dirty="0"/>
          </a:p>
          <a:p>
            <a:r>
              <a:rPr lang="en-US" altLang="zh-CN" dirty="0"/>
              <a:t> 	</a:t>
            </a:r>
            <a:r>
              <a:rPr lang="zh-CN" altLang="en-US" dirty="0"/>
              <a:t>   </a:t>
            </a:r>
            <a:r>
              <a:rPr lang="en-US" altLang="zh-CN" dirty="0"/>
              <a:t> …</a:t>
            </a:r>
            <a:endParaRPr lang="zh-CN" altLang="zh-CN" dirty="0"/>
          </a:p>
          <a:p>
            <a:r>
              <a:rPr lang="en-US" altLang="zh-CN" dirty="0"/>
              <a:t>  	</a:t>
            </a:r>
            <a:r>
              <a:rPr lang="zh-CN" altLang="en-US" dirty="0"/>
              <a:t>    </a:t>
            </a:r>
            <a:r>
              <a:rPr lang="en-US" altLang="zh-CN" dirty="0" err="1"/>
              <a:t>B</a:t>
            </a:r>
            <a:r>
              <a:rPr lang="en-US" altLang="zh-CN" baseline="-25000" dirty="0" err="1"/>
              <a:t>n</a:t>
            </a:r>
            <a:r>
              <a:rPr lang="en-US" altLang="zh-CN" dirty="0" err="1">
                <a:sym typeface="Symbol" pitchFamily="2" charset="2"/>
              </a:rPr>
              <a:t></a:t>
            </a:r>
            <a:r>
              <a:rPr lang="en-US" altLang="zh-CN" dirty="0" err="1"/>
              <a:t>S</a:t>
            </a:r>
            <a:r>
              <a:rPr lang="en-US" altLang="zh-CN" baseline="-25000" dirty="0" err="1"/>
              <a:t>n</a:t>
            </a:r>
            <a:r>
              <a:rPr lang="en-US" altLang="zh-CN" dirty="0"/>
              <a:t>;</a:t>
            </a:r>
            <a:endParaRPr lang="zh-CN" altLang="zh-CN" dirty="0"/>
          </a:p>
          <a:p>
            <a:r>
              <a:rPr lang="en-US" altLang="zh-CN" dirty="0"/>
              <a:t>	fi</a:t>
            </a:r>
            <a:endParaRPr lang="zh-CN" altLang="zh-CN" dirty="0"/>
          </a:p>
          <a:p>
            <a:r>
              <a:rPr lang="zh-CN" altLang="zh-CN" dirty="0">
                <a:latin typeface="+mn-ea"/>
                <a:ea typeface="+mn-ea"/>
              </a:rPr>
              <a:t>该语句可以用如下文法表示：</a:t>
            </a:r>
          </a:p>
          <a:p>
            <a:r>
              <a:rPr lang="en-US" altLang="zh-CN" dirty="0"/>
              <a:t>	S</a:t>
            </a:r>
            <a:r>
              <a:rPr lang="zh-CN" altLang="zh-CN" dirty="0"/>
              <a:t>→</a:t>
            </a:r>
            <a:r>
              <a:rPr lang="en-US" altLang="zh-CN" dirty="0"/>
              <a:t>if G fi</a:t>
            </a:r>
            <a:endParaRPr lang="zh-CN" altLang="zh-CN" dirty="0"/>
          </a:p>
          <a:p>
            <a:r>
              <a:rPr lang="en-US" altLang="zh-CN" dirty="0"/>
              <a:t>	P</a:t>
            </a:r>
            <a:r>
              <a:rPr lang="zh-CN" altLang="zh-CN" dirty="0"/>
              <a:t>→</a:t>
            </a:r>
            <a:r>
              <a:rPr lang="en-US" altLang="zh-CN" dirty="0"/>
              <a:t>B</a:t>
            </a:r>
            <a:r>
              <a:rPr lang="en-US" altLang="zh-CN" dirty="0">
                <a:sym typeface="Symbol" pitchFamily="2" charset="2"/>
              </a:rPr>
              <a:t></a:t>
            </a:r>
            <a:endParaRPr lang="zh-CN" altLang="zh-CN" dirty="0"/>
          </a:p>
          <a:p>
            <a:r>
              <a:rPr lang="en-US" altLang="zh-CN" dirty="0"/>
              <a:t>	G</a:t>
            </a:r>
            <a:r>
              <a:rPr lang="zh-CN" altLang="zh-CN" dirty="0"/>
              <a:t>→</a:t>
            </a:r>
            <a:r>
              <a:rPr lang="en-US" altLang="zh-CN" dirty="0"/>
              <a:t>P S</a:t>
            </a:r>
            <a:endParaRPr lang="zh-CN" altLang="zh-CN" dirty="0"/>
          </a:p>
          <a:p>
            <a:r>
              <a:rPr lang="en-US" altLang="zh-CN" dirty="0"/>
              <a:t>	G</a:t>
            </a:r>
            <a:r>
              <a:rPr lang="zh-CN" altLang="zh-CN" dirty="0"/>
              <a:t>→</a:t>
            </a:r>
            <a:r>
              <a:rPr lang="en-US" altLang="zh-CN" dirty="0"/>
              <a:t>G;G</a:t>
            </a:r>
            <a:endParaRPr lang="zh-CN" altLang="zh-CN" dirty="0"/>
          </a:p>
          <a:p>
            <a:r>
              <a:rPr lang="zh-CN" altLang="zh-CN" dirty="0">
                <a:latin typeface="+mn-ea"/>
                <a:ea typeface="+mn-ea"/>
              </a:rPr>
              <a:t>请根据如上描述的语义为该文法配上语义子程序。</a:t>
            </a:r>
          </a:p>
        </p:txBody>
      </p:sp>
    </p:spTree>
    <p:extLst>
      <p:ext uri="{BB962C8B-B14F-4D97-AF65-F5344CB8AC3E}">
        <p14:creationId xmlns:p14="http://schemas.microsoft.com/office/powerpoint/2010/main" val="2410988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4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05" grpId="0" animBg="1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C2485-8AD8-8D9E-C184-05E79B12F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1">
            <a:extLst>
              <a:ext uri="{FF2B5EF4-FFF2-40B4-BE49-F238E27FC236}">
                <a16:creationId xmlns:a16="http://schemas.microsoft.com/office/drawing/2014/main" id="{9FE1BF49-8502-4CB4-D059-CF275849803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电子科技大学计算机科学与工程学院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E81E6475-2F35-9D48-56C7-281D6DB777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584" y="1384807"/>
            <a:ext cx="7668852" cy="3772385"/>
          </a:xfrm>
          <a:prstGeom prst="rect">
            <a:avLst/>
          </a:prstGeom>
          <a:solidFill>
            <a:srgbClr val="B4FC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081088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717675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2354263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9908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34480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9052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43624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8196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0000"/>
              </a:lnSpc>
              <a:buClrTx/>
              <a:buSzTx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答案：</a:t>
            </a:r>
          </a:p>
          <a:p>
            <a:pPr>
              <a:lnSpc>
                <a:spcPct val="80000"/>
              </a:lnSpc>
              <a:buClrTx/>
              <a:buSzTx/>
            </a:pP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  <a:p>
            <a:r>
              <a:rPr lang="en-US" altLang="zh-CN" dirty="0"/>
              <a:t>S</a:t>
            </a:r>
            <a:r>
              <a:rPr lang="zh-CN" altLang="zh-CN" dirty="0"/>
              <a:t>→</a:t>
            </a:r>
            <a:r>
              <a:rPr lang="en-US" altLang="zh-CN" dirty="0"/>
              <a:t>if G fi </a:t>
            </a:r>
          </a:p>
          <a:p>
            <a:r>
              <a:rPr lang="en-US" altLang="zh-CN" dirty="0"/>
              <a:t>{S.CHAIN = G.CHAIN;}</a:t>
            </a:r>
            <a:endParaRPr lang="zh-CN" altLang="zh-CN" dirty="0"/>
          </a:p>
          <a:p>
            <a:r>
              <a:rPr lang="en-US" altLang="zh-CN" dirty="0"/>
              <a:t>P</a:t>
            </a:r>
            <a:r>
              <a:rPr lang="zh-CN" altLang="zh-CN" dirty="0"/>
              <a:t>→</a:t>
            </a:r>
            <a:r>
              <a:rPr lang="en-US" altLang="zh-CN" dirty="0"/>
              <a:t>B</a:t>
            </a:r>
            <a:r>
              <a:rPr lang="en-US" altLang="zh-CN" dirty="0">
                <a:sym typeface="Symbol" pitchFamily="2" charset="2"/>
              </a:rPr>
              <a:t></a:t>
            </a:r>
            <a:r>
              <a:rPr lang="en-US" altLang="zh-CN" dirty="0"/>
              <a:t> </a:t>
            </a:r>
          </a:p>
          <a:p>
            <a:r>
              <a:rPr lang="en-US" altLang="zh-CN" dirty="0"/>
              <a:t>{backpatch(</a:t>
            </a:r>
            <a:r>
              <a:rPr lang="en-US" altLang="zh-CN" dirty="0" err="1"/>
              <a:t>B.T,ip</a:t>
            </a:r>
            <a:r>
              <a:rPr lang="en-US" altLang="zh-CN" dirty="0"/>
              <a:t>); P.CHAIN = B.F;}</a:t>
            </a:r>
            <a:endParaRPr lang="zh-CN" altLang="zh-CN" dirty="0"/>
          </a:p>
          <a:p>
            <a:r>
              <a:rPr lang="en-US" altLang="zh-CN" dirty="0"/>
              <a:t>G</a:t>
            </a:r>
            <a:r>
              <a:rPr lang="zh-CN" altLang="zh-CN" dirty="0"/>
              <a:t>→</a:t>
            </a:r>
            <a:r>
              <a:rPr lang="en-US" altLang="zh-CN" dirty="0"/>
              <a:t>P S </a:t>
            </a:r>
          </a:p>
          <a:p>
            <a:r>
              <a:rPr lang="en-US" altLang="zh-CN" dirty="0"/>
              <a:t>{G.CHAIN = </a:t>
            </a:r>
            <a:r>
              <a:rPr lang="en-US" altLang="zh-CN" dirty="0" err="1"/>
              <a:t>ip</a:t>
            </a:r>
            <a:r>
              <a:rPr lang="en-US" altLang="zh-CN" dirty="0"/>
              <a:t>; emit(</a:t>
            </a:r>
            <a:r>
              <a:rPr lang="en-US" altLang="zh-CN" dirty="0" err="1"/>
              <a:t>goto</a:t>
            </a:r>
            <a:r>
              <a:rPr lang="en-US" altLang="zh-CN" dirty="0"/>
              <a:t> 0); backpatch(P.CHAIN, </a:t>
            </a:r>
            <a:r>
              <a:rPr lang="en-US" altLang="zh-CN" dirty="0" err="1"/>
              <a:t>ip</a:t>
            </a:r>
            <a:r>
              <a:rPr lang="en-US" altLang="zh-CN" dirty="0"/>
              <a:t>);}</a:t>
            </a:r>
            <a:endParaRPr lang="zh-CN" altLang="zh-CN" dirty="0"/>
          </a:p>
          <a:p>
            <a:r>
              <a:rPr lang="nl-NL" altLang="zh-CN" dirty="0"/>
              <a:t>G</a:t>
            </a:r>
            <a:r>
              <a:rPr lang="zh-CN" altLang="zh-CN" dirty="0"/>
              <a:t>→</a:t>
            </a:r>
            <a:r>
              <a:rPr lang="nl-NL" altLang="zh-CN" dirty="0"/>
              <a:t>G</a:t>
            </a:r>
            <a:r>
              <a:rPr lang="nl-NL" altLang="zh-CN" baseline="-25000" dirty="0"/>
              <a:t>1</a:t>
            </a:r>
            <a:r>
              <a:rPr lang="nl-NL" altLang="zh-CN" dirty="0"/>
              <a:t>;G</a:t>
            </a:r>
            <a:r>
              <a:rPr lang="nl-NL" altLang="zh-CN" baseline="-25000" dirty="0"/>
              <a:t>2</a:t>
            </a:r>
            <a:r>
              <a:rPr lang="nl-NL" altLang="zh-CN" dirty="0"/>
              <a:t> </a:t>
            </a:r>
          </a:p>
          <a:p>
            <a:r>
              <a:rPr lang="nl-NL" altLang="zh-CN" dirty="0"/>
              <a:t>{G.CHAIN = </a:t>
            </a:r>
            <a:r>
              <a:rPr lang="nl-NL" altLang="zh-CN" dirty="0" err="1"/>
              <a:t>merge</a:t>
            </a:r>
            <a:r>
              <a:rPr lang="nl-NL" altLang="zh-CN" dirty="0"/>
              <a:t>(G</a:t>
            </a:r>
            <a:r>
              <a:rPr lang="nl-NL" altLang="zh-CN" baseline="-25000" dirty="0"/>
              <a:t>1</a:t>
            </a:r>
            <a:r>
              <a:rPr lang="nl-NL" altLang="zh-CN" dirty="0"/>
              <a:t>.CHAIN, G</a:t>
            </a:r>
            <a:r>
              <a:rPr lang="nl-NL" altLang="zh-CN" baseline="-25000" dirty="0"/>
              <a:t>2</a:t>
            </a:r>
            <a:r>
              <a:rPr lang="nl-NL" altLang="zh-CN" dirty="0"/>
              <a:t>.CHAIN);} </a:t>
            </a:r>
            <a:endParaRPr lang="zh-CN" altLang="zh-CN" dirty="0"/>
          </a:p>
          <a:p>
            <a:pPr>
              <a:lnSpc>
                <a:spcPct val="80000"/>
              </a:lnSpc>
              <a:buClrTx/>
              <a:buSzTx/>
            </a:pPr>
            <a:endParaRPr lang="en-US" altLang="zh-CN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80000"/>
              </a:lnSpc>
              <a:buClrTx/>
              <a:buSzTx/>
            </a:pP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47799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54052-D3AE-6F28-9925-64F086BEF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1">
            <a:extLst>
              <a:ext uri="{FF2B5EF4-FFF2-40B4-BE49-F238E27FC236}">
                <a16:creationId xmlns:a16="http://schemas.microsoft.com/office/drawing/2014/main" id="{C74239DE-9B24-F3F2-915F-BB0EEAD94CF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电子科技大学计算机科学与工程学院</a:t>
            </a:r>
          </a:p>
        </p:txBody>
      </p:sp>
      <p:sp>
        <p:nvSpPr>
          <p:cNvPr id="204805" name="AutoShape 5">
            <a:extLst>
              <a:ext uri="{FF2B5EF4-FFF2-40B4-BE49-F238E27FC236}">
                <a16:creationId xmlns:a16="http://schemas.microsoft.com/office/drawing/2014/main" id="{E8631F7C-0B66-3C64-BD03-1E006C3E91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972" y="2233779"/>
            <a:ext cx="8356056" cy="1940957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0350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6827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23304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9781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34353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8925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43497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8069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0"/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八、</a:t>
            </a:r>
            <a:r>
              <a:rPr lang="zh-CN" altLang="en-US" dirty="0">
                <a:latin typeface="+mn-ea"/>
                <a:ea typeface="+mn-ea"/>
              </a:rPr>
              <a:t>将下面的语句翻译成中间代码（三地址语句）序列，语句从</a:t>
            </a:r>
            <a:r>
              <a:rPr lang="en-US" altLang="zh-CN" dirty="0">
                <a:latin typeface="+mn-ea"/>
                <a:ea typeface="+mn-ea"/>
              </a:rPr>
              <a:t>100</a:t>
            </a:r>
            <a:r>
              <a:rPr lang="zh-CN" altLang="en-US" dirty="0">
                <a:latin typeface="+mn-ea"/>
                <a:ea typeface="+mn-ea"/>
              </a:rPr>
              <a:t>开始标号：</a:t>
            </a:r>
          </a:p>
          <a:p>
            <a:pPr lvl="0"/>
            <a:endParaRPr lang="zh-CN" altLang="en-US" dirty="0">
              <a:latin typeface="+mn-ea"/>
              <a:ea typeface="+mn-ea"/>
            </a:endParaRPr>
          </a:p>
          <a:p>
            <a:pPr lvl="0"/>
            <a:r>
              <a:rPr lang="en" altLang="zh-CN" dirty="0">
                <a:latin typeface="+mn-lt"/>
                <a:ea typeface="+mn-ea"/>
              </a:rPr>
              <a:t>if A&gt;B then C:=C+1 else WHILE D&lt;E do D:=C+E;</a:t>
            </a:r>
          </a:p>
          <a:p>
            <a:pPr lvl="0"/>
            <a:endParaRPr lang="en" altLang="zh-CN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98857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4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05" grpId="0" animBg="1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926A2-1112-2344-5541-37763AE91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1">
            <a:extLst>
              <a:ext uri="{FF2B5EF4-FFF2-40B4-BE49-F238E27FC236}">
                <a16:creationId xmlns:a16="http://schemas.microsoft.com/office/drawing/2014/main" id="{8B5CEE35-F814-71B8-5D02-AB38F393B95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电子科技大学计算机科学与工程学院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715728FD-B27C-1D74-69AE-25DAA592BA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584" y="1384807"/>
            <a:ext cx="7668852" cy="4564473"/>
          </a:xfrm>
          <a:prstGeom prst="rect">
            <a:avLst/>
          </a:prstGeom>
          <a:solidFill>
            <a:srgbClr val="B4FC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081088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717675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2354263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9908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34480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9052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43624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8196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0000"/>
              </a:lnSpc>
              <a:buClrTx/>
              <a:buSzTx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答案：</a:t>
            </a:r>
            <a:endParaRPr lang="en-US" altLang="zh-CN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80000"/>
              </a:lnSpc>
              <a:buClrTx/>
              <a:buSzTx/>
            </a:pP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  <a:p>
            <a:r>
              <a:rPr lang="en-US" altLang="zh-CN" dirty="0"/>
              <a:t>100 if A&gt;B </a:t>
            </a:r>
            <a:r>
              <a:rPr lang="en-US" altLang="zh-CN" dirty="0" err="1"/>
              <a:t>goto</a:t>
            </a:r>
            <a:r>
              <a:rPr lang="en-US" altLang="zh-CN" dirty="0"/>
              <a:t> 102</a:t>
            </a:r>
            <a:endParaRPr lang="zh-CN" altLang="zh-CN" dirty="0"/>
          </a:p>
          <a:p>
            <a:r>
              <a:rPr lang="pl-PL" altLang="zh-CN" dirty="0"/>
              <a:t>101 </a:t>
            </a:r>
            <a:r>
              <a:rPr lang="pl-PL" altLang="zh-CN" dirty="0" err="1"/>
              <a:t>goto</a:t>
            </a:r>
            <a:r>
              <a:rPr lang="pl-PL" altLang="zh-CN" dirty="0"/>
              <a:t> 104</a:t>
            </a:r>
            <a:endParaRPr lang="zh-CN" altLang="zh-CN" dirty="0"/>
          </a:p>
          <a:p>
            <a:r>
              <a:rPr lang="pl-PL" altLang="zh-CN" dirty="0"/>
              <a:t>102 t</a:t>
            </a:r>
            <a:r>
              <a:rPr lang="pl-PL" altLang="zh-CN" baseline="-25000" dirty="0"/>
              <a:t>1</a:t>
            </a:r>
            <a:r>
              <a:rPr lang="pl-PL" altLang="zh-CN" dirty="0"/>
              <a:t> = C+1</a:t>
            </a:r>
            <a:endParaRPr lang="zh-CN" altLang="zh-CN" dirty="0"/>
          </a:p>
          <a:p>
            <a:r>
              <a:rPr lang="pl-PL" altLang="zh-CN" dirty="0"/>
              <a:t>103 C = t</a:t>
            </a:r>
            <a:r>
              <a:rPr lang="pl-PL" altLang="zh-CN" baseline="-25000" dirty="0"/>
              <a:t>1</a:t>
            </a:r>
            <a:endParaRPr lang="zh-CN" altLang="zh-CN" dirty="0"/>
          </a:p>
          <a:p>
            <a:r>
              <a:rPr lang="pl-PL" altLang="zh-CN" dirty="0"/>
              <a:t>104 </a:t>
            </a:r>
            <a:r>
              <a:rPr lang="pl-PL" altLang="zh-CN" dirty="0" err="1"/>
              <a:t>goto</a:t>
            </a:r>
            <a:r>
              <a:rPr lang="pl-PL" altLang="zh-CN" dirty="0"/>
              <a:t> 110</a:t>
            </a:r>
            <a:endParaRPr lang="zh-CN" altLang="zh-CN" dirty="0"/>
          </a:p>
          <a:p>
            <a:r>
              <a:rPr lang="pl-PL" altLang="zh-CN" dirty="0"/>
              <a:t>105 IF D&lt;E </a:t>
            </a:r>
            <a:r>
              <a:rPr lang="pl-PL" altLang="zh-CN" dirty="0" err="1"/>
              <a:t>goto</a:t>
            </a:r>
            <a:r>
              <a:rPr lang="pl-PL" altLang="zh-CN" dirty="0"/>
              <a:t> 107</a:t>
            </a:r>
            <a:endParaRPr lang="zh-CN" altLang="zh-CN" dirty="0"/>
          </a:p>
          <a:p>
            <a:r>
              <a:rPr lang="pl-PL" altLang="zh-CN" dirty="0"/>
              <a:t>106 </a:t>
            </a:r>
            <a:r>
              <a:rPr lang="pl-PL" altLang="zh-CN" dirty="0" err="1"/>
              <a:t>goto</a:t>
            </a:r>
            <a:r>
              <a:rPr lang="pl-PL" altLang="zh-CN" dirty="0"/>
              <a:t> 110</a:t>
            </a:r>
            <a:endParaRPr lang="zh-CN" altLang="zh-CN" dirty="0"/>
          </a:p>
          <a:p>
            <a:r>
              <a:rPr lang="pl-PL" altLang="zh-CN" dirty="0"/>
              <a:t>107 t</a:t>
            </a:r>
            <a:r>
              <a:rPr lang="pl-PL" altLang="zh-CN" baseline="-25000" dirty="0"/>
              <a:t>2</a:t>
            </a:r>
            <a:r>
              <a:rPr lang="pl-PL" altLang="zh-CN" dirty="0"/>
              <a:t> = C+E;</a:t>
            </a:r>
            <a:endParaRPr lang="zh-CN" altLang="zh-CN" dirty="0"/>
          </a:p>
          <a:p>
            <a:r>
              <a:rPr lang="pl-PL" altLang="zh-CN" dirty="0"/>
              <a:t>108 D = t</a:t>
            </a:r>
            <a:r>
              <a:rPr lang="pl-PL" altLang="zh-CN" baseline="-25000" dirty="0"/>
              <a:t>2</a:t>
            </a:r>
            <a:endParaRPr lang="zh-CN" altLang="zh-CN" dirty="0"/>
          </a:p>
          <a:p>
            <a:r>
              <a:rPr lang="pl-PL" altLang="zh-CN" dirty="0"/>
              <a:t>109 </a:t>
            </a:r>
            <a:r>
              <a:rPr lang="pl-PL" altLang="zh-CN" dirty="0" err="1"/>
              <a:t>goto</a:t>
            </a:r>
            <a:r>
              <a:rPr lang="pl-PL" altLang="zh-CN" dirty="0"/>
              <a:t> 105</a:t>
            </a:r>
            <a:endParaRPr lang="zh-CN" altLang="zh-CN" dirty="0"/>
          </a:p>
          <a:p>
            <a:r>
              <a:rPr lang="en-US" altLang="zh-CN" dirty="0"/>
              <a:t>110</a:t>
            </a:r>
          </a:p>
          <a:p>
            <a:endParaRPr lang="zh-CN" altLang="zh-CN" dirty="0"/>
          </a:p>
          <a:p>
            <a:pPr>
              <a:lnSpc>
                <a:spcPct val="80000"/>
              </a:lnSpc>
              <a:buClrTx/>
              <a:buSzTx/>
            </a:pPr>
            <a:endParaRPr lang="en-US" altLang="zh-CN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80000"/>
              </a:lnSpc>
              <a:buClrTx/>
              <a:buSzTx/>
            </a:pP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67038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theme/theme1.xml><?xml version="1.0" encoding="utf-8"?>
<a:theme xmlns:a="http://schemas.openxmlformats.org/drawingml/2006/main" name="专业型模板">
  <a:themeElements>
    <a:clrScheme name="专业型模板 2">
      <a:dk1>
        <a:srgbClr val="000000"/>
      </a:dk1>
      <a:lt1>
        <a:srgbClr val="FFFFFF"/>
      </a:lt1>
      <a:dk2>
        <a:srgbClr val="000000"/>
      </a:dk2>
      <a:lt2>
        <a:srgbClr val="B2B2B2"/>
      </a:lt2>
      <a:accent1>
        <a:srgbClr val="99CCFF"/>
      </a:accent1>
      <a:accent2>
        <a:srgbClr val="CCCCFF"/>
      </a:accent2>
      <a:accent3>
        <a:srgbClr val="FFFFFF"/>
      </a:accent3>
      <a:accent4>
        <a:srgbClr val="000000"/>
      </a:accent4>
      <a:accent5>
        <a:srgbClr val="CAE2FF"/>
      </a:accent5>
      <a:accent6>
        <a:srgbClr val="B9B9E7"/>
      </a:accent6>
      <a:hlink>
        <a:srgbClr val="FF99CC"/>
      </a:hlink>
      <a:folHlink>
        <a:srgbClr val="CBCBCB"/>
      </a:folHlink>
    </a:clrScheme>
    <a:fontScheme name="专业型模板">
      <a:majorFont>
        <a:latin typeface="Times New Roman"/>
        <a:ea typeface="仿宋_GB2312"/>
        <a:cs typeface=""/>
      </a:majorFont>
      <a:minorFont>
        <a:latin typeface="Times New Roman"/>
        <a:ea typeface="仿宋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46038" rIns="0" bIns="46038" numCol="1" anchor="t" anchorCtr="0" compatLnSpc="1">
        <a:prstTxWarp prst="textNoShape">
          <a:avLst/>
        </a:prstTxWarp>
        <a:spAutoFit/>
      </a:bodyPr>
      <a:lstStyle>
        <a:defPPr marL="2082800" marR="0" indent="-457200" algn="l" defTabSz="225425" rtl="0" eaLnBrk="1" fontAlgn="base" latinLnBrk="0" hangingPunct="1">
          <a:lnSpc>
            <a:spcPct val="90000"/>
          </a:lnSpc>
          <a:spcBef>
            <a:spcPct val="50000"/>
          </a:spcBef>
          <a:spcAft>
            <a:spcPct val="0"/>
          </a:spcAft>
          <a:buClr>
            <a:schemeClr val="accent1"/>
          </a:buClr>
          <a:buSzPct val="75000"/>
          <a:buFontTx/>
          <a:buNone/>
          <a:tabLst/>
          <a:defRPr kumimoji="0" lang="zh-CN" altLang="en-US" sz="2400" b="0" i="0" u="none" strike="noStrike" cap="none" normalizeH="0" baseline="0" smtClean="0">
            <a:ln>
              <a:noFill/>
            </a:ln>
            <a:solidFill>
              <a:srgbClr val="0033CC"/>
            </a:solidFill>
            <a:effectLst/>
            <a:latin typeface="楷体_GB2312" pitchFamily="49" charset="-122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46038" rIns="0" bIns="46038" numCol="1" anchor="t" anchorCtr="0" compatLnSpc="1">
        <a:prstTxWarp prst="textNoShape">
          <a:avLst/>
        </a:prstTxWarp>
        <a:spAutoFit/>
      </a:bodyPr>
      <a:lstStyle>
        <a:defPPr marL="2082800" marR="0" indent="-457200" algn="l" defTabSz="225425" rtl="0" eaLnBrk="1" fontAlgn="base" latinLnBrk="0" hangingPunct="1">
          <a:lnSpc>
            <a:spcPct val="90000"/>
          </a:lnSpc>
          <a:spcBef>
            <a:spcPct val="50000"/>
          </a:spcBef>
          <a:spcAft>
            <a:spcPct val="0"/>
          </a:spcAft>
          <a:buClr>
            <a:schemeClr val="accent1"/>
          </a:buClr>
          <a:buSzPct val="75000"/>
          <a:buFontTx/>
          <a:buNone/>
          <a:tabLst/>
          <a:defRPr kumimoji="0" lang="zh-CN" altLang="en-US" sz="2400" b="0" i="0" u="none" strike="noStrike" cap="none" normalizeH="0" baseline="0" smtClean="0">
            <a:ln>
              <a:noFill/>
            </a:ln>
            <a:solidFill>
              <a:srgbClr val="0033CC"/>
            </a:solidFill>
            <a:effectLst/>
            <a:latin typeface="楷体_GB2312" pitchFamily="49" charset="-122"/>
            <a:ea typeface="楷体_GB2312" pitchFamily="49" charset="-122"/>
          </a:defRPr>
        </a:defPPr>
      </a:lstStyle>
    </a:lnDef>
  </a:objectDefaults>
  <a:extraClrSchemeLst>
    <a:extraClrScheme>
      <a:clrScheme name="专业型模板 1">
        <a:dk1>
          <a:srgbClr val="000000"/>
        </a:dk1>
        <a:lt1>
          <a:srgbClr val="FFFFFF"/>
        </a:lt1>
        <a:dk2>
          <a:srgbClr val="000000"/>
        </a:dk2>
        <a:lt2>
          <a:srgbClr val="B2B2B2"/>
        </a:lt2>
        <a:accent1>
          <a:srgbClr val="6600FF"/>
        </a:accent1>
        <a:accent2>
          <a:srgbClr val="CC00FF"/>
        </a:accent2>
        <a:accent3>
          <a:srgbClr val="FFFFFF"/>
        </a:accent3>
        <a:accent4>
          <a:srgbClr val="000000"/>
        </a:accent4>
        <a:accent5>
          <a:srgbClr val="B8A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专业型模板 2">
        <a:dk1>
          <a:srgbClr val="000000"/>
        </a:dk1>
        <a:lt1>
          <a:srgbClr val="FFFFFF"/>
        </a:lt1>
        <a:dk2>
          <a:srgbClr val="000000"/>
        </a:dk2>
        <a:lt2>
          <a:srgbClr val="B2B2B2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FF99CC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专业型模板 3">
        <a:dk1>
          <a:srgbClr val="000000"/>
        </a:dk1>
        <a:lt1>
          <a:srgbClr val="FFFFFF"/>
        </a:lt1>
        <a:dk2>
          <a:srgbClr val="000000"/>
        </a:dk2>
        <a:lt2>
          <a:srgbClr val="B2B2B2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专业型模板 4">
        <a:dk1>
          <a:srgbClr val="000000"/>
        </a:dk1>
        <a:lt1>
          <a:srgbClr val="FFFFFF"/>
        </a:lt1>
        <a:dk2>
          <a:srgbClr val="000000"/>
        </a:dk2>
        <a:lt2>
          <a:srgbClr val="B2B2B2"/>
        </a:lt2>
        <a:accent1>
          <a:srgbClr val="FF0033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AAAD"/>
        </a:accent5>
        <a:accent6>
          <a:srgbClr val="B95C00"/>
        </a:accent6>
        <a:hlink>
          <a:srgbClr val="999933"/>
        </a:hlink>
        <a:folHlink>
          <a:srgbClr val="A50021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专业型模板 1">
    <a:dk1>
      <a:srgbClr val="000000"/>
    </a:dk1>
    <a:lt1>
      <a:srgbClr val="FFFFFF"/>
    </a:lt1>
    <a:dk2>
      <a:srgbClr val="000000"/>
    </a:dk2>
    <a:lt2>
      <a:srgbClr val="B2B2B2"/>
    </a:lt2>
    <a:accent1>
      <a:srgbClr val="6600FF"/>
    </a:accent1>
    <a:accent2>
      <a:srgbClr val="CC00FF"/>
    </a:accent2>
    <a:accent3>
      <a:srgbClr val="FFFFFF"/>
    </a:accent3>
    <a:accent4>
      <a:srgbClr val="000000"/>
    </a:accent4>
    <a:accent5>
      <a:srgbClr val="B8AAFF"/>
    </a:accent5>
    <a:accent6>
      <a:srgbClr val="B900E7"/>
    </a:accent6>
    <a:hlink>
      <a:srgbClr val="00CC99"/>
    </a:hlink>
    <a:folHlink>
      <a:srgbClr val="0099CC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Office\Templates\演示文稿设计\专业型模板.pot</Template>
  <TotalTime>4421</TotalTime>
  <Words>2846</Words>
  <Application>Microsoft Macintosh PowerPoint</Application>
  <PresentationFormat>全屏显示(4:3)</PresentationFormat>
  <Paragraphs>452</Paragraphs>
  <Slides>33</Slides>
  <Notes>33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3" baseType="lpstr">
      <vt:lpstr>DengXian</vt:lpstr>
      <vt:lpstr>仿宋_GB2312</vt:lpstr>
      <vt:lpstr>华文彩云</vt:lpstr>
      <vt:lpstr>楷体_GB2312</vt:lpstr>
      <vt:lpstr>宋体</vt:lpstr>
      <vt:lpstr>Arial</vt:lpstr>
      <vt:lpstr>Monotype Sorts</vt:lpstr>
      <vt:lpstr>Symbol</vt:lpstr>
      <vt:lpstr>Times New Roman</vt:lpstr>
      <vt:lpstr>专业型模板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程序设计语言与编译 </dc:title>
  <dc:creator>zhzuo</dc:creator>
  <cp:lastModifiedBy>zhzuo</cp:lastModifiedBy>
  <cp:revision>229</cp:revision>
  <dcterms:created xsi:type="dcterms:W3CDTF">2000-08-28T07:52:27Z</dcterms:created>
  <dcterms:modified xsi:type="dcterms:W3CDTF">2025-05-11T10:39:53Z</dcterms:modified>
</cp:coreProperties>
</file>