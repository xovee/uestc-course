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429" r:id="rId3"/>
    <p:sldId id="474" r:id="rId5"/>
    <p:sldId id="475" r:id="rId6"/>
    <p:sldId id="476" r:id="rId7"/>
    <p:sldId id="477" r:id="rId8"/>
    <p:sldId id="478" r:id="rId9"/>
    <p:sldId id="480" r:id="rId10"/>
    <p:sldId id="481" r:id="rId11"/>
    <p:sldId id="503" r:id="rId12"/>
    <p:sldId id="504" r:id="rId13"/>
    <p:sldId id="505" r:id="rId14"/>
    <p:sldId id="482" r:id="rId15"/>
    <p:sldId id="483" r:id="rId16"/>
    <p:sldId id="484" r:id="rId17"/>
    <p:sldId id="485" r:id="rId18"/>
    <p:sldId id="487" r:id="rId19"/>
    <p:sldId id="491" r:id="rId20"/>
    <p:sldId id="493" r:id="rId21"/>
    <p:sldId id="496" r:id="rId22"/>
    <p:sldId id="499" r:id="rId23"/>
    <p:sldId id="501" r:id="rId24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lnSpc>
        <a:spcPct val="90000"/>
      </a:lnSpc>
      <a:spcBef>
        <a:spcPct val="50000"/>
      </a:spcBef>
      <a:spcAft>
        <a:spcPct val="0"/>
      </a:spcAft>
      <a:buClr>
        <a:schemeClr val="accent1"/>
      </a:buClr>
      <a:buSzPct val="75000"/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rgbClr val="0033CC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1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CCECFF"/>
    <a:srgbClr val="FFFF99"/>
    <a:srgbClr val="0033CC"/>
    <a:srgbClr val="00CC99"/>
    <a:srgbClr val="00FF00"/>
    <a:srgbClr val="00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howGuides="1">
      <p:cViewPr varScale="1">
        <p:scale>
          <a:sx n="127" d="100"/>
          <a:sy n="127" d="100"/>
        </p:scale>
        <p:origin x="1656" y="168"/>
      </p:cViewPr>
      <p:guideLst>
        <p:guide orient="horz" pos="2914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6"/>
    </p:cViewPr>
  </p:sorterViewPr>
  <p:notesViewPr>
    <p:cSldViewPr>
      <p:cViewPr varScale="1">
        <p:scale>
          <a:sx n="54" d="100"/>
          <a:sy n="54" d="100"/>
        </p:scale>
        <p:origin x="-181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96815475-E809-4842-8499-F2EE21035AA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3D5FCF50-3F34-4827-BD9E-418657A117E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F5CF98A-F9F4-4361-B16D-A08F62E9D28B}" type="slidenum">
              <a:rPr lang="en-US" altLang="zh-CN"/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 bwMode="auto">
          <a:xfrm>
            <a:off x="377825" y="1676400"/>
            <a:ext cx="8389938" cy="4421188"/>
            <a:chOff x="238" y="1056"/>
            <a:chExt cx="5285" cy="2785"/>
          </a:xfrm>
        </p:grpSpPr>
        <p:grpSp>
          <p:nvGrpSpPr>
            <p:cNvPr id="15363" name="Group 3"/>
            <p:cNvGrpSpPr/>
            <p:nvPr/>
          </p:nvGrpSpPr>
          <p:grpSpPr bwMode="auto">
            <a:xfrm>
              <a:off x="238" y="1056"/>
              <a:ext cx="5285" cy="1393"/>
              <a:chOff x="238" y="1056"/>
              <a:chExt cx="5285" cy="1393"/>
            </a:xfrm>
          </p:grpSpPr>
          <p:sp>
            <p:nvSpPr>
              <p:cNvPr id="15364" name="Rectangle 4"/>
              <p:cNvSpPr>
                <a:spLocks noChangeArrowheads="1"/>
              </p:cNvSpPr>
              <p:nvPr/>
            </p:nvSpPr>
            <p:spPr bwMode="auto">
              <a:xfrm>
                <a:off x="243" y="1057"/>
                <a:ext cx="5272" cy="1391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5" name="Freeform 5"/>
              <p:cNvSpPr/>
              <p:nvPr/>
            </p:nvSpPr>
            <p:spPr bwMode="auto">
              <a:xfrm>
                <a:off x="238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0 w 5273"/>
                  <a:gd name="T3" fmla="*/ 0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0" y="0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66" name="Freeform 6"/>
              <p:cNvSpPr/>
              <p:nvPr/>
            </p:nvSpPr>
            <p:spPr bwMode="auto">
              <a:xfrm>
                <a:off x="250" y="1056"/>
                <a:ext cx="5273" cy="1393"/>
              </a:xfrm>
              <a:custGeom>
                <a:avLst/>
                <a:gdLst>
                  <a:gd name="T0" fmla="*/ 5272 w 5273"/>
                  <a:gd name="T1" fmla="*/ 0 h 1393"/>
                  <a:gd name="T2" fmla="*/ 5272 w 5273"/>
                  <a:gd name="T3" fmla="*/ 1392 h 1393"/>
                  <a:gd name="T4" fmla="*/ 0 w 5273"/>
                  <a:gd name="T5" fmla="*/ 1392 h 1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73" h="1393">
                    <a:moveTo>
                      <a:pt x="5272" y="0"/>
                    </a:moveTo>
                    <a:lnTo>
                      <a:pt x="5272" y="1392"/>
                    </a:lnTo>
                    <a:lnTo>
                      <a:pt x="0" y="1392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67" name="Group 7"/>
            <p:cNvGrpSpPr/>
            <p:nvPr/>
          </p:nvGrpSpPr>
          <p:grpSpPr bwMode="auto">
            <a:xfrm>
              <a:off x="240" y="3744"/>
              <a:ext cx="5281" cy="97"/>
              <a:chOff x="240" y="3744"/>
              <a:chExt cx="5281" cy="97"/>
            </a:xfrm>
          </p:grpSpPr>
          <p:sp>
            <p:nvSpPr>
              <p:cNvPr id="15368" name="Rectangle 8"/>
              <p:cNvSpPr>
                <a:spLocks noChangeArrowheads="1"/>
              </p:cNvSpPr>
              <p:nvPr/>
            </p:nvSpPr>
            <p:spPr bwMode="auto">
              <a:xfrm>
                <a:off x="240" y="3744"/>
                <a:ext cx="5280" cy="96"/>
              </a:xfrm>
              <a:prstGeom prst="rect">
                <a:avLst/>
              </a:prstGeom>
              <a:solidFill>
                <a:srgbClr val="EAEAEA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9" name="Freeform 9"/>
              <p:cNvSpPr/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0 w 5281"/>
                  <a:gd name="T3" fmla="*/ 0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0" name="Freeform 10"/>
              <p:cNvSpPr/>
              <p:nvPr/>
            </p:nvSpPr>
            <p:spPr bwMode="auto">
              <a:xfrm>
                <a:off x="240" y="3744"/>
                <a:ext cx="5281" cy="97"/>
              </a:xfrm>
              <a:custGeom>
                <a:avLst/>
                <a:gdLst>
                  <a:gd name="T0" fmla="*/ 5280 w 5281"/>
                  <a:gd name="T1" fmla="*/ 0 h 97"/>
                  <a:gd name="T2" fmla="*/ 5280 w 5281"/>
                  <a:gd name="T3" fmla="*/ 96 h 97"/>
                  <a:gd name="T4" fmla="*/ 0 w 5281"/>
                  <a:gd name="T5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281" h="97">
                    <a:moveTo>
                      <a:pt x="5280" y="0"/>
                    </a:moveTo>
                    <a:lnTo>
                      <a:pt x="5280" y="96"/>
                    </a:lnTo>
                    <a:lnTo>
                      <a:pt x="0" y="96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371" name="Group 11"/>
            <p:cNvGrpSpPr/>
            <p:nvPr/>
          </p:nvGrpSpPr>
          <p:grpSpPr bwMode="auto">
            <a:xfrm>
              <a:off x="338" y="1200"/>
              <a:ext cx="97" cy="1104"/>
              <a:chOff x="338" y="1200"/>
              <a:chExt cx="97" cy="1104"/>
            </a:xfrm>
          </p:grpSpPr>
          <p:sp useBgFill="1">
            <p:nvSpPr>
              <p:cNvPr id="15372" name="Rectangle 12"/>
              <p:cNvSpPr>
                <a:spLocks noChangeArrowheads="1"/>
              </p:cNvSpPr>
              <p:nvPr/>
            </p:nvSpPr>
            <p:spPr bwMode="auto">
              <a:xfrm>
                <a:off x="338" y="1201"/>
                <a:ext cx="96" cy="1103"/>
              </a:xfrm>
              <a:prstGeom prst="rect">
                <a:avLst/>
              </a:pr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</a:pPr>
                <a:endParaRPr kumimoji="1" lang="zh-CN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3" name="Freeform 13"/>
              <p:cNvSpPr/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96 w 97"/>
                  <a:gd name="T3" fmla="*/ 1103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96" y="1103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Freeform 14"/>
              <p:cNvSpPr/>
              <p:nvPr/>
            </p:nvSpPr>
            <p:spPr bwMode="auto">
              <a:xfrm>
                <a:off x="338" y="1200"/>
                <a:ext cx="97" cy="1104"/>
              </a:xfrm>
              <a:custGeom>
                <a:avLst/>
                <a:gdLst>
                  <a:gd name="T0" fmla="*/ 0 w 97"/>
                  <a:gd name="T1" fmla="*/ 1103 h 1104"/>
                  <a:gd name="T2" fmla="*/ 0 w 97"/>
                  <a:gd name="T3" fmla="*/ 0 h 1104"/>
                  <a:gd name="T4" fmla="*/ 96 w 97"/>
                  <a:gd name="T5" fmla="*/ 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1104">
                    <a:moveTo>
                      <a:pt x="0" y="1103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noFill/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375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36613" y="2133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0386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5377" name="Rectangle 17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324600"/>
            <a:ext cx="1905000" cy="457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eaLnBrk="1" hangingPunct="1">
              <a:spcBef>
                <a:spcPct val="0"/>
              </a:spcBef>
              <a:defRPr sz="140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2004-2-19</a:t>
            </a:r>
            <a:endParaRPr lang="en-US" altLang="zh-CN"/>
          </a:p>
        </p:txBody>
      </p:sp>
      <p:sp>
        <p:nvSpPr>
          <p:cNvPr id="15378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79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24600"/>
            <a:ext cx="1905000" cy="457200"/>
          </a:xfrm>
          <a:prstGeom prst="rect">
            <a:avLst/>
          </a:prstGeom>
        </p:spPr>
        <p:txBody>
          <a:bodyPr wrap="none" lIns="92075" tIns="46038" rIns="92075" bIns="46038" anchor="ctr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defRPr kumimoji="1" b="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fld id="{C3BADF18-E2C6-455C-8096-DE51E879751A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8C9AD45-D3F5-4715-A8CF-820C50B5C51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FC60C35-C62C-4458-8BA6-93B7C62522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68282EF-5132-4D0A-8D9A-BB2386A610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DEAAE45-297F-408B-8EE5-B7A7D43ECC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CB0EA1-1AD4-4B48-8E11-142E672828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65C6D3F-D63D-4C26-9771-3884C9BF6DD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E56ADC9-302A-4080-A869-DA2B9AFF62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9AFCF2A-404A-44E9-A7CE-3AD7C1839B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850388A-CD61-434F-8B25-390980A63B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762000"/>
            <a:ext cx="1981200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5791200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B442C67-BCCD-4B09-818E-E9B291946C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62000"/>
            <a:ext cx="7772400" cy="7239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90600" y="2286000"/>
            <a:ext cx="38100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4953000" y="2286000"/>
            <a:ext cx="3810000" cy="365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0" y="6400800"/>
            <a:ext cx="54102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>
          <a:xfrm>
            <a:off x="5562600" y="64008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69D8E3F-0A47-46BB-BF2D-2C30F0321F01}" type="datetime2">
              <a:rPr lang="zh-CN" altLang="en-US"/>
            </a:fld>
            <a:r>
              <a:rPr lang="en-US" altLang="zh-CN" sz="1400"/>
              <a:t>        </a:t>
            </a:r>
            <a:endParaRPr lang="en-US" altLang="zh-CN" sz="14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BEC5BBD-DF43-43B9-ADA9-2C11F3F02E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62000"/>
            <a:ext cx="77724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286000"/>
            <a:ext cx="77724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354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00800"/>
            <a:ext cx="541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defRPr kumimoji="1" sz="2000">
                <a:solidFill>
                  <a:schemeClr val="tx1"/>
                </a:solidFill>
                <a:latin typeface="+mn-lt"/>
                <a:ea typeface="华文新魏" panose="02010800040101010101" pitchFamily="2" charset="-122"/>
              </a:defRPr>
            </a:lvl1pPr>
          </a:lstStyle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14357" name="Line 21"/>
          <p:cNvSpPr>
            <a:spLocks noChangeShapeType="1"/>
          </p:cNvSpPr>
          <p:nvPr userDrawn="1"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8" name="Line 22"/>
          <p:cNvSpPr>
            <a:spLocks noChangeShapeType="1"/>
          </p:cNvSpPr>
          <p:nvPr userDrawn="1"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7" name="Rectangle 31"/>
          <p:cNvSpPr>
            <a:spLocks noChangeArrowheads="1"/>
          </p:cNvSpPr>
          <p:nvPr userDrawn="1"/>
        </p:nvSpPr>
        <p:spPr bwMode="auto">
          <a:xfrm>
            <a:off x="0" y="0"/>
            <a:ext cx="3429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>
                        <a:gamma/>
                        <a:shade val="46275"/>
                        <a:invGamma/>
                      </a:srgbClr>
                    </a:gs>
                    <a:gs pos="100000">
                      <a:srgbClr val="FFCC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《</a:t>
            </a:r>
            <a:r>
              <a:rPr kumimoji="1" lang="zh-CN" altLang="en-US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编译原理</a:t>
            </a:r>
            <a:r>
              <a:rPr kumimoji="1" lang="en-US" altLang="zh-CN" sz="2800" b="0" noProof="1">
                <a:solidFill>
                  <a:srgbClr val="FF9933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》</a:t>
            </a:r>
            <a:endParaRPr lang="zh-CN" altLang="en-US" sz="2800" b="1" dirty="0"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pic>
        <p:nvPicPr>
          <p:cNvPr id="14369" name="Picture 33" descr="ta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5691188"/>
            <a:ext cx="1285875" cy="116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ctr" rtl="0" fontAlgn="base">
        <a:spcBef>
          <a:spcPct val="0"/>
        </a:spcBef>
        <a:spcAft>
          <a:spcPct val="0"/>
        </a:spcAft>
        <a:defRPr sz="3200" b="1" kern="1200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CC99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4" name="AutoShape 4"/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选择题</a:t>
            </a:r>
            <a:endParaRPr kumimoji="1" lang="zh-CN" altLang="en-US" sz="2800" b="1" dirty="0">
              <a:solidFill>
                <a:srgbClr val="33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512981" y="1660619"/>
            <a:ext cx="8215168" cy="91907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、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LR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分析法是按 （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进行规约。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   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短语    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最左素短语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2981" y="2852936"/>
            <a:ext cx="8215168" cy="271830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、编译程序前三个阶段完成的工作是（ </a:t>
            </a:r>
            <a:r>
              <a:rPr kumimoji="0" lang="en-GB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。</a:t>
            </a:r>
            <a:endParaRPr kumimoji="0" lang="zh-CN" altLang="en-GB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词法分析、语法分析和代码优化 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代码生成、代码优化和词法分析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词法分析、语法分析、语义分析和中间代码生成 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．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词法分析、语法分析和代码优化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2" grpId="0" bldLvl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549866" y="1027781"/>
            <a:ext cx="8198597" cy="125117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、代码优化时所依据的是（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。</a:t>
            </a:r>
            <a:endParaRPr kumimoji="0" lang="zh-CN" altLang="en-GB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语法规则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词法规则 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等价变换规则    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语义规则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49866" y="2204864"/>
            <a:ext cx="8198597" cy="91907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、算符优先分析法是按（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）进行规约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短语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最左素短语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9865" y="3381947"/>
            <a:ext cx="8198597" cy="125117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、存储分配模式包括静态分配、栈式分配和（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动态分配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全局分配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堆分配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静态分配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542907" y="4559030"/>
            <a:ext cx="8198597" cy="136872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6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、以下哪些不是词法分析器识别的单词符号种类（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基本字和标识符     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句柄和最左素短语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常数、运算符       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单界符和双界符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2" grpId="0" bldLvl="0" animBg="1" autoUpdateAnimBg="0"/>
      <p:bldP spid="3" grpId="0" bldLvl="0" animBg="1" autoUpdateAnimBg="0"/>
      <p:bldP spid="4" grpId="0" bldLvl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494499" y="720763"/>
            <a:ext cx="8198597" cy="136872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、下列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(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)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优化方法不是针对循环优化进行的。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强度削弱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．删除归纳变量     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．删除多余运算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．代码外提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494498" y="3331645"/>
            <a:ext cx="8198597" cy="2032931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9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、优化可生成（</a:t>
            </a:r>
            <a:r>
              <a:rPr kumimoji="0" lang="zh-CN" altLang="en-US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）的目标代码。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．运行时间较短   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．运行时间短且占用存储空间小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．运行时间短但占用内存空间大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．占用存储空间较小 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22942" y="2250946"/>
            <a:ext cx="8198597" cy="91907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8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、以下属于语句级控制结构的是（ </a:t>
            </a:r>
            <a:r>
              <a:rPr kumimoji="0" lang="en-US" altLang="zh-CN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）。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 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异常处理	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并发单元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循环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过程调用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522942" y="4829701"/>
            <a:ext cx="8198597" cy="128708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产生的所有句子的集合，称为由文法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产生的     （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A.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语法图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B.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句型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C.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句子      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D.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语言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2" grpId="0" bldLvl="0" animBg="1" autoUpdateAnimBg="0"/>
      <p:bldP spid="3" grpId="0" bldLvl="0" animBg="1" autoUpdateAnimBg="0"/>
      <p:bldP spid="4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4" name="AutoShape 4"/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填空题</a:t>
            </a:r>
            <a:endParaRPr kumimoji="1" lang="zh-CN" altLang="en-US" sz="2800" b="1" dirty="0">
              <a:solidFill>
                <a:srgbClr val="33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539552" y="1772816"/>
            <a:ext cx="8215168" cy="337285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、数据类型包含一组值和一组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、计算机执行用高级语言编写的程序主要有两种途径解释和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、自上而下分析法采用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、归约、错误处理、接受等四种操作。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、编译器常用的语法分析方法有自底向上和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u="sng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两种。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、语言根据所面向的机器和应用定义了不同的数据类型，这些类型称为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539552" y="1484784"/>
            <a:ext cx="8215168" cy="300481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6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、单元级控制结构包括显示调用、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、协同程序和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、对数据对象的类型和使用的操作是否匹配的一致性检查称为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检查。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8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、在基本块之间的优化称为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9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、对于文法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，仅含终结符号的句型称为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、语言提供了由用户定义类型的方法。采用这类方法由用户自己定义的数据类型称为  </a:t>
            </a:r>
            <a:r>
              <a:rPr kumimoji="0" lang="zh-CN" altLang="en-US" u="sng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4" name="AutoShape 4"/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简答题</a:t>
            </a:r>
            <a:endParaRPr kumimoji="1" lang="zh-CN" altLang="en-US" sz="2800" b="1" dirty="0">
              <a:solidFill>
                <a:srgbClr val="33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464416" y="2060848"/>
            <a:ext cx="8215168" cy="186838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．写出生成语言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L(G)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＝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{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a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i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b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i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c</a:t>
            </a:r>
            <a:r>
              <a:rPr kumimoji="0" lang="en-US" altLang="zh-CN" baseline="30000" dirty="0" err="1">
                <a:latin typeface="+mn-lt"/>
                <a:ea typeface="仿宋_GB2312" pitchFamily="49" charset="-122"/>
              </a:rPr>
              <a:t>j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||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i,j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≥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1}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的上下文无关文法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（只写产生式）。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en-US" altLang="zh-CN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464416" y="764704"/>
            <a:ext cx="8356056" cy="140462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．变量是表示什么的抽象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?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它具有哪四个属性？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395536" y="2722160"/>
            <a:ext cx="8424936" cy="156420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什么是抽象数据类型？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2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323528" y="620688"/>
            <a:ext cx="8568952" cy="1852426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4.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文法分为几类？上下文无关文法是第几类文法？它的特点是什么？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23528" y="3654636"/>
            <a:ext cx="8568952" cy="18245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5.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设语言仅含半静态变量，进行栈式分配时，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RETURN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（返回语句）应翻译成哪几条指令？（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5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分）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3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343407" y="1124744"/>
            <a:ext cx="8568952" cy="127725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6. </a:t>
            </a:r>
            <a:r>
              <a:rPr lang="zh-CN" altLang="zh-CN" dirty="0">
                <a:latin typeface="+mn-ea"/>
                <a:ea typeface="+mn-ea"/>
              </a:rPr>
              <a:t>分别写出产生语言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}</a:t>
            </a:r>
            <a:r>
              <a:rPr lang="en-US" altLang="zh-CN" baseline="30000" dirty="0"/>
              <a:t>*</a:t>
            </a:r>
            <a:r>
              <a:rPr lang="zh-CN" altLang="zh-CN" dirty="0">
                <a:latin typeface="+mn-ea"/>
                <a:ea typeface="+mn-ea"/>
              </a:rPr>
              <a:t>及</a:t>
            </a:r>
            <a:r>
              <a:rPr lang="en-US" altLang="zh-CN" dirty="0"/>
              <a:t>{a</a:t>
            </a:r>
            <a:r>
              <a:rPr lang="en-US" altLang="zh-CN" baseline="30000" dirty="0"/>
              <a:t>n</a:t>
            </a:r>
            <a:r>
              <a:rPr lang="en-US" altLang="zh-CN" dirty="0"/>
              <a:t>b</a:t>
            </a:r>
            <a:r>
              <a:rPr lang="en-US" altLang="zh-CN" baseline="30000" dirty="0"/>
              <a:t>n</a:t>
            </a:r>
            <a:r>
              <a:rPr lang="en-US" altLang="zh-CN" dirty="0"/>
              <a:t>|n</a:t>
            </a:r>
            <a:r>
              <a:rPr lang="en-US" altLang="zh-CN" dirty="0">
                <a:sym typeface="Symbol" panose="05050102010706020507" pitchFamily="2" charset="2"/>
              </a:rPr>
              <a:t></a:t>
            </a:r>
            <a:r>
              <a:rPr lang="en-US" altLang="zh-CN" dirty="0"/>
              <a:t>0}</a:t>
            </a:r>
            <a:r>
              <a:rPr lang="zh-CN" altLang="zh-CN" dirty="0">
                <a:latin typeface="+mn-ea"/>
                <a:ea typeface="+mn-ea"/>
              </a:rPr>
              <a:t>的文法；</a:t>
            </a:r>
            <a:endParaRPr lang="en-US" altLang="zh-CN" dirty="0">
              <a:latin typeface="+mn-ea"/>
              <a:ea typeface="+mn-ea"/>
            </a:endParaRPr>
          </a:p>
          <a:p>
            <a:endParaRPr lang="zh-CN" altLang="zh-CN" dirty="0">
              <a:latin typeface="+mn-ea"/>
              <a:ea typeface="+mn-ea"/>
            </a:endParaRPr>
          </a:p>
          <a:p>
            <a:endParaRPr lang="zh-CN" altLang="zh-CN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287524" y="3429000"/>
            <a:ext cx="8568952" cy="94514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7</a:t>
            </a:r>
            <a:r>
              <a:rPr lang="zh-CN" altLang="zh-CN" dirty="0">
                <a:latin typeface="+mn-ea"/>
                <a:ea typeface="+mn-ea"/>
              </a:rPr>
              <a:t>．写出产生语言</a:t>
            </a:r>
            <a:r>
              <a:rPr lang="en-US" altLang="zh-CN" dirty="0"/>
              <a:t>{</a:t>
            </a:r>
            <a:r>
              <a:rPr lang="en-US" altLang="zh-CN" dirty="0" err="1"/>
              <a:t>a,b</a:t>
            </a:r>
            <a:r>
              <a:rPr lang="en-US" altLang="zh-CN" dirty="0"/>
              <a:t>}</a:t>
            </a:r>
            <a:r>
              <a:rPr lang="en-US" altLang="zh-CN" baseline="30000" dirty="0"/>
              <a:t>*</a:t>
            </a:r>
            <a:r>
              <a:rPr lang="en-US" altLang="zh-CN" dirty="0"/>
              <a:t>{a}{a</a:t>
            </a:r>
            <a:r>
              <a:rPr lang="en-US" altLang="zh-CN" baseline="30000" dirty="0"/>
              <a:t>n</a:t>
            </a:r>
            <a:r>
              <a:rPr lang="en-US" altLang="zh-CN" dirty="0"/>
              <a:t>b</a:t>
            </a:r>
            <a:r>
              <a:rPr lang="en-US" altLang="zh-CN" baseline="30000" dirty="0"/>
              <a:t>n</a:t>
            </a:r>
            <a:r>
              <a:rPr lang="en-US" altLang="zh-CN" dirty="0"/>
              <a:t>|n</a:t>
            </a:r>
            <a:r>
              <a:rPr lang="en-US" altLang="zh-CN" dirty="0">
                <a:sym typeface="Symbol" panose="05050102010706020507" pitchFamily="2" charset="2"/>
              </a:rPr>
              <a:t></a:t>
            </a:r>
            <a:r>
              <a:rPr lang="en-US" altLang="zh-CN" dirty="0"/>
              <a:t>0}</a:t>
            </a:r>
            <a:r>
              <a:rPr lang="zh-CN" altLang="zh-CN" dirty="0">
                <a:latin typeface="+mn-ea"/>
                <a:ea typeface="+mn-ea"/>
              </a:rPr>
              <a:t>的文法；</a:t>
            </a:r>
            <a:endParaRPr lang="zh-CN" altLang="zh-CN" dirty="0">
              <a:latin typeface="+mn-ea"/>
              <a:ea typeface="+mn-ea"/>
            </a:endParaRPr>
          </a:p>
          <a:p>
            <a:endParaRPr lang="zh-CN" altLang="zh-CN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3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287524" y="911661"/>
            <a:ext cx="8568952" cy="160935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7. </a:t>
            </a:r>
            <a:r>
              <a:rPr lang="zh-CN" altLang="zh-CN" dirty="0">
                <a:latin typeface="+mn-ea"/>
                <a:ea typeface="+mn-ea"/>
              </a:rPr>
              <a:t>写出产生至少包含两个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zh-CN" dirty="0">
                <a:latin typeface="+mn-ea"/>
                <a:ea typeface="+mn-ea"/>
              </a:rPr>
              <a:t>的由</a:t>
            </a:r>
            <a:r>
              <a:rPr lang="en-US" altLang="zh-CN" dirty="0">
                <a:latin typeface="+mn-ea"/>
                <a:ea typeface="+mn-ea"/>
              </a:rPr>
              <a:t>a</a:t>
            </a:r>
            <a:r>
              <a:rPr lang="zh-CN" altLang="zh-CN" dirty="0">
                <a:latin typeface="+mn-ea"/>
                <a:ea typeface="+mn-ea"/>
              </a:rPr>
              <a:t>和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zh-CN" altLang="zh-CN" dirty="0">
                <a:latin typeface="+mn-ea"/>
                <a:ea typeface="+mn-ea"/>
              </a:rPr>
              <a:t>组成的任意串的文法；</a:t>
            </a:r>
            <a:endParaRPr lang="en-US" altLang="zh-CN" dirty="0">
              <a:latin typeface="+mn-ea"/>
              <a:ea typeface="+mn-ea"/>
            </a:endParaRPr>
          </a:p>
          <a:p>
            <a:endParaRPr lang="zh-CN" altLang="zh-CN" dirty="0">
              <a:latin typeface="+mn-ea"/>
              <a:ea typeface="+mn-ea"/>
            </a:endParaRPr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</a:t>
            </a:r>
            <a:endParaRPr lang="zh-CN" altLang="zh-CN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287524" y="2921553"/>
            <a:ext cx="8568952" cy="208508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8</a:t>
            </a:r>
            <a:r>
              <a:rPr lang="zh-CN" altLang="zh-CN" dirty="0">
                <a:latin typeface="+mn-ea"/>
                <a:ea typeface="+mn-ea"/>
              </a:rPr>
              <a:t>、提取如下文法</a:t>
            </a:r>
            <a:r>
              <a:rPr lang="en-US" altLang="zh-CN" dirty="0">
                <a:latin typeface="+mn-ea"/>
                <a:ea typeface="+mn-ea"/>
              </a:rPr>
              <a:t>G</a:t>
            </a:r>
            <a:r>
              <a:rPr lang="zh-CN" altLang="zh-CN" dirty="0">
                <a:latin typeface="+mn-ea"/>
                <a:ea typeface="+mn-ea"/>
              </a:rPr>
              <a:t>的公共左因子。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abSA|aA|abA</a:t>
            </a:r>
            <a:endParaRPr lang="zh-CN" altLang="zh-CN" dirty="0"/>
          </a:p>
          <a:p>
            <a:r>
              <a:rPr lang="en-US" altLang="zh-CN" dirty="0"/>
              <a:t>	A</a:t>
            </a:r>
            <a:r>
              <a:rPr lang="zh-CN" altLang="zh-CN" dirty="0"/>
              <a:t>→</a:t>
            </a:r>
            <a:r>
              <a:rPr lang="en-US" altLang="zh-CN" dirty="0"/>
              <a:t>*</a:t>
            </a:r>
            <a:r>
              <a:rPr lang="en-US" altLang="zh-CN" dirty="0" err="1"/>
              <a:t>aA</a:t>
            </a:r>
            <a:r>
              <a:rPr lang="en-US" altLang="zh-CN" dirty="0"/>
              <a:t>|*a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lt"/>
              </a:rPr>
              <a:t>	</a:t>
            </a:r>
            <a:endParaRPr lang="zh-CN" altLang="zh-CN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  <p:bldP spid="3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287524" y="911661"/>
            <a:ext cx="8568952" cy="238128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+mn-ea"/>
                <a:ea typeface="+mn-ea"/>
              </a:rPr>
              <a:t>9.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zh-CN" altLang="zh-CN" dirty="0">
                <a:latin typeface="+mn-ea"/>
                <a:ea typeface="+mn-ea"/>
              </a:rPr>
              <a:t>消除如下文法的间接左递归，非终结符次序为</a:t>
            </a:r>
            <a:r>
              <a:rPr lang="en-US" altLang="zh-CN" dirty="0">
                <a:latin typeface="+mn-lt"/>
                <a:ea typeface="+mn-ea"/>
              </a:rPr>
              <a:t>A,B,S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 err="1"/>
              <a:t>Ac|Bc</a:t>
            </a:r>
            <a:endParaRPr lang="zh-CN" altLang="zh-CN" dirty="0"/>
          </a:p>
          <a:p>
            <a:r>
              <a:rPr lang="en-US" altLang="zh-CN" dirty="0"/>
              <a:t>	A</a:t>
            </a:r>
            <a:r>
              <a:rPr lang="zh-CN" altLang="zh-CN" dirty="0"/>
              <a:t>→</a:t>
            </a:r>
            <a:r>
              <a:rPr lang="en-US" altLang="zh-CN" dirty="0" err="1"/>
              <a:t>Sb|b</a:t>
            </a:r>
            <a:endParaRPr lang="zh-CN" altLang="zh-CN" dirty="0"/>
          </a:p>
          <a:p>
            <a:r>
              <a:rPr lang="en-US" altLang="zh-CN" dirty="0"/>
              <a:t>	B</a:t>
            </a:r>
            <a:r>
              <a:rPr lang="zh-CN" altLang="zh-CN" dirty="0"/>
              <a:t>→</a:t>
            </a:r>
            <a:r>
              <a:rPr lang="en-US" altLang="zh-CN" dirty="0" err="1"/>
              <a:t>Aa|a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答：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4" name="AutoShape 4"/>
          <p:cNvSpPr>
            <a:spLocks noChangeArrowheads="1"/>
          </p:cNvSpPr>
          <p:nvPr/>
        </p:nvSpPr>
        <p:spPr bwMode="auto">
          <a:xfrm>
            <a:off x="636588" y="762000"/>
            <a:ext cx="4295775" cy="62570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zh-CN" altLang="en-US" sz="28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大题</a:t>
            </a:r>
            <a:endParaRPr kumimoji="1" lang="zh-CN" altLang="en-US" sz="2800" b="1" dirty="0">
              <a:solidFill>
                <a:srgbClr val="33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636588" y="2420888"/>
            <a:ext cx="8215168" cy="181837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一、对以下文法，进行分析（共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7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分）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已知文法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G(F)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：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F →(U)|</a:t>
            </a:r>
            <a:r>
              <a:rPr kumimoji="0" lang="en-US" altLang="zh-CN" dirty="0" err="1">
                <a:latin typeface="+mn-lt"/>
                <a:ea typeface="仿宋_GB2312" pitchFamily="49" charset="-122"/>
              </a:rPr>
              <a:t>bF|b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</a:t>
            </a:r>
            <a:endParaRPr kumimoji="0" lang="en-US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+mn-lt"/>
                <a:ea typeface="仿宋_GB2312" pitchFamily="49" charset="-122"/>
              </a:rPr>
              <a:t>    U → U, F|F</a:t>
            </a:r>
            <a:endParaRPr kumimoji="0" lang="en-US" altLang="zh-CN" dirty="0">
              <a:latin typeface="+mn-lt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791580" y="825165"/>
            <a:ext cx="7560840" cy="496855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40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58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画出句型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(F,(b))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的语法树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83568" y="980728"/>
            <a:ext cx="7920880" cy="4608512"/>
          </a:xfrm>
          <a:prstGeom prst="rect">
            <a:avLst/>
          </a:prstGeom>
          <a:solidFill>
            <a:srgbClr val="B4F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8140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717675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5458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908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480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052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624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196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给出上述句型的短语、素短语、直接短语、句柄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短语：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素短语：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直接短语：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句柄：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80000"/>
              </a:lnSpc>
              <a:buClrTx/>
              <a:buSzTx/>
            </a:pPr>
            <a:endParaRPr lang="en-US" altLang="zh-CN" sz="20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464416" y="2132856"/>
            <a:ext cx="8215168" cy="226785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二、请完成下列文法的语义子程序。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文法：  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W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→ 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While  M B  Do  N S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       </a:t>
            </a:r>
            <a:r>
              <a:rPr kumimoji="0" lang="zh-CN" altLang="en-US" dirty="0">
                <a:latin typeface="+mn-lt"/>
                <a:ea typeface="仿宋_GB2312" pitchFamily="49" charset="-122"/>
              </a:rPr>
              <a:t> 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M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 → 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l-GR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+mn-lt"/>
                <a:ea typeface="仿宋_GB2312" pitchFamily="49" charset="-122"/>
              </a:rPr>
              <a:t>        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N </a:t>
            </a:r>
            <a:r>
              <a:rPr kumimoji="0" lang="en-US" altLang="zh-CN" dirty="0">
                <a:latin typeface="+mn-lt"/>
                <a:ea typeface="仿宋_GB2312" pitchFamily="49" charset="-122"/>
              </a:rPr>
              <a:t>→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 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l-GR" altLang="zh-CN" dirty="0">
              <a:latin typeface="+mn-lt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683568" y="1196752"/>
            <a:ext cx="8215168" cy="390234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三、已知文法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S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：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 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GB" altLang="zh-CN" dirty="0" err="1">
                <a:latin typeface="仿宋_GB2312" pitchFamily="49" charset="-122"/>
                <a:ea typeface="仿宋_GB2312" pitchFamily="49" charset="-122"/>
              </a:rPr>
              <a:t>S→aA|B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GB" altLang="zh-CN" dirty="0" err="1">
                <a:latin typeface="仿宋_GB2312" pitchFamily="49" charset="-122"/>
                <a:ea typeface="仿宋_GB2312" pitchFamily="49" charset="-122"/>
              </a:rPr>
              <a:t>A→b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      </a:t>
            </a:r>
            <a:r>
              <a:rPr kumimoji="0" lang="en-GB" altLang="zh-CN" dirty="0" err="1">
                <a:latin typeface="仿宋_GB2312" pitchFamily="49" charset="-122"/>
                <a:ea typeface="仿宋_GB2312" pitchFamily="49" charset="-122"/>
              </a:rPr>
              <a:t>B→Bb|b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写出拓广文法后的所有产生式；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确定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LR(0)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项目集规范族；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marL="457200" indent="-457200" algn="just" eaLnBrk="1" hangingPunct="1">
              <a:spcBef>
                <a:spcPct val="20000"/>
              </a:spcBef>
              <a:buClr>
                <a:srgbClr val="FF0000"/>
              </a:buClr>
              <a:buSzTx/>
              <a:buAutoNum type="arabicParenBoth"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判断该文法能否够构造出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LR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(0)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分析表？并给出解释；判断该文法能否够构造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SLR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?  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若能，请构造出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SLR(1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分析表。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611560" y="1628800"/>
            <a:ext cx="8215168" cy="218613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四、将下面的语句翻译成中间代码（三地址语句）序列，语句从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100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开始标号：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for I:=1 step A+1 until 100 do if B&gt;C then X:=X+A;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611560" y="1628800"/>
            <a:ext cx="7920880" cy="361630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五、已知文法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G(S)</a:t>
            </a:r>
            <a:r>
              <a:rPr kumimoji="0" lang="zh-CN" altLang="en-GB" dirty="0">
                <a:latin typeface="仿宋_GB2312" pitchFamily="49" charset="-122"/>
                <a:ea typeface="仿宋_GB2312" pitchFamily="49" charset="-122"/>
              </a:rPr>
              <a:t>：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S→aX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X→aY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+|+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Y→Zb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l-GR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Z→aY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|*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求文法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各非终结任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FIRST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集合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FOLLOW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集。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求文法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的预测分析表。</a:t>
            </a:r>
            <a:endParaRPr kumimoji="0" lang="en-US" altLang="zh-CN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文法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G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是否是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LL(1)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文法？为什么？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611560" y="1628800"/>
            <a:ext cx="8215168" cy="4065794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六、给出如下文法：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S→BC|AD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B→aBb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C→cC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D→bDc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GB" altLang="zh-CN" dirty="0">
                <a:latin typeface="+mn-lt"/>
                <a:ea typeface="仿宋_GB2312" pitchFamily="49" charset="-122"/>
              </a:rPr>
              <a:t>	</a:t>
            </a:r>
            <a:r>
              <a:rPr kumimoji="0" lang="en-GB" altLang="zh-CN" dirty="0" err="1">
                <a:latin typeface="+mn-lt"/>
                <a:ea typeface="仿宋_GB2312" pitchFamily="49" charset="-122"/>
              </a:rPr>
              <a:t>A→aA</a:t>
            </a:r>
            <a:r>
              <a:rPr kumimoji="0" lang="en-GB" altLang="zh-CN" dirty="0">
                <a:latin typeface="+mn-lt"/>
                <a:ea typeface="仿宋_GB2312" pitchFamily="49" charset="-122"/>
              </a:rPr>
              <a:t>|</a:t>
            </a:r>
            <a:r>
              <a:rPr kumimoji="0" lang="el-GR" altLang="zh-CN" dirty="0">
                <a:latin typeface="+mn-lt"/>
                <a:ea typeface="仿宋_GB2312" pitchFamily="49" charset="-122"/>
              </a:rPr>
              <a:t>ε</a:t>
            </a:r>
            <a:endParaRPr kumimoji="0" lang="en-GB" altLang="zh-CN" dirty="0">
              <a:latin typeface="+mn-lt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写出串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abc</a:t>
            </a:r>
            <a:r>
              <a:rPr kumimoji="0" lang="en-GB" altLang="zh-CN" baseline="30000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和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a</a:t>
            </a:r>
            <a:r>
              <a:rPr kumimoji="0" lang="en-GB" altLang="zh-CN" baseline="30000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bc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的最右推导，画出对应的推导树；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写出串</a:t>
            </a:r>
            <a:r>
              <a:rPr kumimoji="0" lang="en-GB" altLang="zh-CN" dirty="0" err="1">
                <a:latin typeface="仿宋_GB2312" pitchFamily="49" charset="-122"/>
                <a:ea typeface="仿宋_GB2312" pitchFamily="49" charset="-122"/>
              </a:rPr>
              <a:t>abc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的两种不同最右推导，并画出对应的推导树；</a:t>
            </a:r>
            <a:endParaRPr kumimoji="0" lang="zh-CN" altLang="en-US" dirty="0">
              <a:latin typeface="仿宋_GB2312" pitchFamily="49" charset="-122"/>
              <a:ea typeface="仿宋_GB2312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rgbClr val="FF0000"/>
              </a:buClr>
              <a:buSzTx/>
            </a:pP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3</a:t>
            </a:r>
            <a:r>
              <a:rPr kumimoji="0" lang="en-GB" altLang="zh-CN" dirty="0">
                <a:latin typeface="仿宋_GB2312" pitchFamily="49" charset="-122"/>
                <a:ea typeface="仿宋_GB2312" pitchFamily="49" charset="-122"/>
              </a:rPr>
              <a:t>)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 该文法是不是</a:t>
            </a:r>
            <a:r>
              <a:rPr kumimoji="0" lang="en-US" altLang="zh-CN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义文法？为什么？</a:t>
            </a:r>
            <a:endParaRPr kumimoji="0" lang="en-GB" altLang="zh-CN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464416" y="692696"/>
            <a:ext cx="8356056" cy="5250799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七、</a:t>
            </a:r>
            <a:r>
              <a:rPr lang="zh-CN" altLang="zh-CN" dirty="0">
                <a:latin typeface="+mn-ea"/>
                <a:ea typeface="+mn-ea"/>
              </a:rPr>
              <a:t>如下语句是某高级语言的多重选择语句，它的语义是依次判断布尔条件</a:t>
            </a:r>
            <a:r>
              <a:rPr lang="en-US" altLang="zh-CN" dirty="0">
                <a:latin typeface="+mn-ea"/>
                <a:ea typeface="+mn-ea"/>
              </a:rPr>
              <a:t>B</a:t>
            </a:r>
            <a:r>
              <a:rPr lang="en-US" altLang="zh-CN" baseline="-25000" dirty="0">
                <a:latin typeface="+mn-ea"/>
                <a:ea typeface="+mn-ea"/>
              </a:rPr>
              <a:t>i</a:t>
            </a:r>
            <a:r>
              <a:rPr lang="zh-CN" altLang="zh-CN" dirty="0">
                <a:latin typeface="+mn-ea"/>
                <a:ea typeface="+mn-ea"/>
              </a:rPr>
              <a:t>是否为真；为真则执行相应的</a:t>
            </a:r>
            <a:r>
              <a:rPr lang="en-US" altLang="zh-CN" dirty="0">
                <a:latin typeface="+mn-ea"/>
                <a:ea typeface="+mn-ea"/>
              </a:rPr>
              <a:t>S</a:t>
            </a:r>
            <a:r>
              <a:rPr lang="en-US" altLang="zh-CN" baseline="-25000" dirty="0">
                <a:latin typeface="+mn-ea"/>
                <a:ea typeface="+mn-ea"/>
              </a:rPr>
              <a:t>i</a:t>
            </a:r>
            <a:r>
              <a:rPr lang="en-US" altLang="zh-CN" dirty="0">
                <a:latin typeface="+mn-ea"/>
                <a:ea typeface="+mn-ea"/>
              </a:rPr>
              <a:t>,</a:t>
            </a:r>
            <a:r>
              <a:rPr lang="zh-CN" altLang="zh-CN" dirty="0">
                <a:latin typeface="+mn-ea"/>
                <a:ea typeface="+mn-ea"/>
              </a:rPr>
              <a:t>然后退出该多重选择语句；为假则继续判断下一个条件：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if </a:t>
            </a:r>
            <a:endParaRPr lang="zh-CN" altLang="zh-CN" dirty="0"/>
          </a:p>
          <a:p>
            <a:r>
              <a:rPr lang="en-US" altLang="zh-CN" dirty="0"/>
              <a:t>  	</a:t>
            </a:r>
            <a:r>
              <a:rPr lang="zh-CN" altLang="en-US" dirty="0"/>
              <a:t>    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2" charset="2"/>
              </a:rPr>
              <a:t>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	</a:t>
            </a:r>
            <a:r>
              <a:rPr lang="zh-CN" altLang="en-US" dirty="0"/>
              <a:t>   </a:t>
            </a:r>
            <a:r>
              <a:rPr lang="en-US" altLang="zh-CN" dirty="0"/>
              <a:t> …</a:t>
            </a:r>
            <a:endParaRPr lang="zh-CN" altLang="zh-CN" dirty="0"/>
          </a:p>
          <a:p>
            <a:r>
              <a:rPr lang="en-US" altLang="zh-CN" dirty="0"/>
              <a:t>  	</a:t>
            </a:r>
            <a:r>
              <a:rPr lang="zh-CN" altLang="en-US" dirty="0"/>
              <a:t>    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n</a:t>
            </a:r>
            <a:r>
              <a:rPr lang="en-US" altLang="zh-CN" dirty="0" err="1">
                <a:sym typeface="Symbol" panose="05050102010706020507" pitchFamily="2" charset="2"/>
              </a:rPr>
              <a:t>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fi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该语句可以用如下文法表示：</a:t>
            </a:r>
            <a:endParaRPr lang="zh-CN" altLang="zh-CN" dirty="0">
              <a:latin typeface="+mn-ea"/>
              <a:ea typeface="+mn-ea"/>
            </a:endParaRPr>
          </a:p>
          <a:p>
            <a:r>
              <a:rPr lang="en-US" altLang="zh-CN" dirty="0"/>
              <a:t>	S</a:t>
            </a:r>
            <a:r>
              <a:rPr lang="zh-CN" altLang="zh-CN" dirty="0"/>
              <a:t>→</a:t>
            </a:r>
            <a:r>
              <a:rPr lang="en-US" altLang="zh-CN" dirty="0"/>
              <a:t>if G fi</a:t>
            </a:r>
            <a:endParaRPr lang="zh-CN" altLang="zh-CN" dirty="0"/>
          </a:p>
          <a:p>
            <a:r>
              <a:rPr lang="en-US" altLang="zh-CN" dirty="0"/>
              <a:t>	P</a:t>
            </a:r>
            <a:r>
              <a:rPr lang="zh-CN" altLang="zh-CN" dirty="0"/>
              <a:t>→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2" charset="2"/>
              </a:rPr>
              <a:t></a:t>
            </a:r>
            <a:endParaRPr lang="zh-CN" altLang="zh-CN" dirty="0"/>
          </a:p>
          <a:p>
            <a:r>
              <a:rPr lang="en-US" altLang="zh-CN" dirty="0"/>
              <a:t>	G</a:t>
            </a:r>
            <a:r>
              <a:rPr lang="zh-CN" altLang="zh-CN" dirty="0"/>
              <a:t>→</a:t>
            </a:r>
            <a:r>
              <a:rPr lang="en-US" altLang="zh-CN" dirty="0"/>
              <a:t>P S</a:t>
            </a:r>
            <a:endParaRPr lang="zh-CN" altLang="zh-CN" dirty="0"/>
          </a:p>
          <a:p>
            <a:r>
              <a:rPr lang="en-US" altLang="zh-CN" dirty="0"/>
              <a:t>	G</a:t>
            </a:r>
            <a:r>
              <a:rPr lang="zh-CN" altLang="zh-CN" dirty="0"/>
              <a:t>→</a:t>
            </a:r>
            <a:r>
              <a:rPr lang="en-US" altLang="zh-CN" dirty="0"/>
              <a:t>G;G</a:t>
            </a:r>
            <a:endParaRPr lang="zh-CN" altLang="zh-CN" dirty="0"/>
          </a:p>
          <a:p>
            <a:r>
              <a:rPr lang="zh-CN" altLang="zh-CN" dirty="0">
                <a:latin typeface="+mn-ea"/>
                <a:ea typeface="+mn-ea"/>
              </a:rPr>
              <a:t>请根据如上描述的语义为该文法配上语义子程序。</a:t>
            </a:r>
            <a:endParaRPr lang="zh-CN" altLang="zh-CN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电子科技大学计算机科学与工程学院</a:t>
            </a:r>
            <a:endParaRPr lang="zh-CN" altLang="en-US"/>
          </a:p>
        </p:txBody>
      </p:sp>
      <p:sp>
        <p:nvSpPr>
          <p:cNvPr id="204805" name="AutoShape 5"/>
          <p:cNvSpPr>
            <a:spLocks noChangeArrowheads="1"/>
          </p:cNvSpPr>
          <p:nvPr/>
        </p:nvSpPr>
        <p:spPr bwMode="auto">
          <a:xfrm>
            <a:off x="393972" y="2233779"/>
            <a:ext cx="8356056" cy="1940957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50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6827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3304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978150" indent="-457200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4353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8925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3497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0695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dirty="0">
                <a:latin typeface="仿宋_GB2312" pitchFamily="49" charset="-122"/>
                <a:ea typeface="仿宋_GB2312" pitchFamily="49" charset="-122"/>
              </a:rPr>
              <a:t>八、</a:t>
            </a:r>
            <a:r>
              <a:rPr lang="zh-CN" altLang="en-US" dirty="0">
                <a:latin typeface="+mn-ea"/>
                <a:ea typeface="+mn-ea"/>
              </a:rPr>
              <a:t>将下面的语句翻译成中间代码（三地址语句）序列，语句从</a:t>
            </a:r>
            <a:r>
              <a:rPr lang="en-US" altLang="zh-CN" dirty="0">
                <a:latin typeface="+mn-ea"/>
                <a:ea typeface="+mn-ea"/>
              </a:rPr>
              <a:t>100</a:t>
            </a:r>
            <a:r>
              <a:rPr lang="zh-CN" altLang="en-US" dirty="0">
                <a:latin typeface="+mn-ea"/>
                <a:ea typeface="+mn-ea"/>
              </a:rPr>
              <a:t>开始标号：</a:t>
            </a:r>
            <a:endParaRPr lang="zh-CN" altLang="en-US" dirty="0">
              <a:latin typeface="+mn-ea"/>
              <a:ea typeface="+mn-ea"/>
            </a:endParaRPr>
          </a:p>
          <a:p>
            <a:pPr lvl="0"/>
            <a:endParaRPr lang="zh-CN" altLang="en-US" dirty="0">
              <a:latin typeface="+mn-ea"/>
              <a:ea typeface="+mn-ea"/>
            </a:endParaRPr>
          </a:p>
          <a:p>
            <a:pPr lvl="0"/>
            <a:r>
              <a:rPr lang="en-GB" altLang="zh-CN" dirty="0">
                <a:latin typeface="+mn-lt"/>
                <a:ea typeface="+mn-ea"/>
              </a:rPr>
              <a:t>if A&gt;B then C:=C+1 else WHILE D&lt;E do D:=C+E;</a:t>
            </a:r>
            <a:endParaRPr lang="en-GB" altLang="zh-CN" dirty="0">
              <a:latin typeface="+mn-lt"/>
              <a:ea typeface="+mn-ea"/>
            </a:endParaRPr>
          </a:p>
          <a:p>
            <a:pPr lvl="0"/>
            <a:endParaRPr lang="en-GB" altLang="zh-CN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5" grpId="0" animBg="1" autoUpdateAnimBg="0"/>
    </p:bldLst>
  </p:timing>
</p:sld>
</file>

<file path=ppt/theme/theme1.xml><?xml version="1.0" encoding="utf-8"?>
<a:theme xmlns:a="http://schemas.openxmlformats.org/drawingml/2006/main" name="专业型模板">
  <a:themeElements>
    <a:clrScheme name="专业型模板 2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FF99CC"/>
      </a:hlink>
      <a:folHlink>
        <a:srgbClr val="CBCBCB"/>
      </a:folHlink>
    </a:clrScheme>
    <a:fontScheme name="专业型模板">
      <a:majorFont>
        <a:latin typeface="Times New Roman"/>
        <a:ea typeface="仿宋_GB2312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0" tIns="46038" rIns="0" bIns="46038" numCol="1" anchor="t" anchorCtr="0" compatLnSpc="1">
        <a:spAutoFit/>
      </a:bodyPr>
      <a:lstStyle>
        <a:defPPr marL="2082800" marR="0" indent="-457200" algn="l" defTabSz="225425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Pct val="75000"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33CC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0" tIns="46038" rIns="0" bIns="46038" numCol="1" anchor="t" anchorCtr="0" compatLnSpc="1">
        <a:spAutoFit/>
      </a:bodyPr>
      <a:lstStyle>
        <a:defPPr marL="2082800" marR="0" indent="-457200" algn="l" defTabSz="225425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Pct val="75000"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33CC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专业型模板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00FF"/>
        </a:accent1>
        <a:accent2>
          <a:srgbClr val="CC00FF"/>
        </a:accent2>
        <a:accent3>
          <a:srgbClr val="FFFFFF"/>
        </a:accent3>
        <a:accent4>
          <a:srgbClr val="000000"/>
        </a:accent4>
        <a:accent5>
          <a:srgbClr val="B8A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FF99CC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型模板 4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033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专业型模板 1">
    <a:dk1>
      <a:srgbClr val="000000"/>
    </a:dk1>
    <a:lt1>
      <a:srgbClr val="FFFFFF"/>
    </a:lt1>
    <a:dk2>
      <a:srgbClr val="000000"/>
    </a:dk2>
    <a:lt2>
      <a:srgbClr val="B2B2B2"/>
    </a:lt2>
    <a:accent1>
      <a:srgbClr val="6600FF"/>
    </a:accent1>
    <a:accent2>
      <a:srgbClr val="CC00FF"/>
    </a:accent2>
    <a:accent3>
      <a:srgbClr val="FFFFFF"/>
    </a:accent3>
    <a:accent4>
      <a:srgbClr val="000000"/>
    </a:accent4>
    <a:accent5>
      <a:srgbClr val="B8AAFF"/>
    </a:accent5>
    <a:accent6>
      <a:srgbClr val="B900E7"/>
    </a:accent6>
    <a:hlink>
      <a:srgbClr val="00CC99"/>
    </a:hlink>
    <a:folHlink>
      <a:srgbClr val="0099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Office\Templates\演示文稿设计\专业型模板.pot</Template>
  <TotalTime>0</TotalTime>
  <Words>2631</Words>
  <Application>WPS 演示</Application>
  <PresentationFormat>全屏显示(4:3)</PresentationFormat>
  <Paragraphs>216</Paragraphs>
  <Slides>21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楷体_GB2312</vt:lpstr>
      <vt:lpstr>新宋体</vt:lpstr>
      <vt:lpstr>华文新魏</vt:lpstr>
      <vt:lpstr>华文彩云</vt:lpstr>
      <vt:lpstr>Times New Roman</vt:lpstr>
      <vt:lpstr>仿宋_GB2312</vt:lpstr>
      <vt:lpstr>仿宋</vt:lpstr>
      <vt:lpstr>Monotype Sorts</vt:lpstr>
      <vt:lpstr>Wingdings</vt:lpstr>
      <vt:lpstr>Symbol</vt:lpstr>
      <vt:lpstr>微软雅黑</vt:lpstr>
      <vt:lpstr>Arial Unicode MS</vt:lpstr>
      <vt:lpstr>专业型模板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程序设计语言与编译 </dc:title>
  <dc:creator>zhzuo</dc:creator>
  <cp:lastModifiedBy>沽如醉</cp:lastModifiedBy>
  <cp:revision>235</cp:revision>
  <dcterms:created xsi:type="dcterms:W3CDTF">2000-08-28T07:52:00Z</dcterms:created>
  <dcterms:modified xsi:type="dcterms:W3CDTF">2025-12-02T13:19:34Z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EB1C25B86D8048F7A784DDFB2469D667_12</vt:lpwstr>
  </property>
  <property fmtid="{D5CDD505-2E9C-101B-9397-08002B2CF9AE}" pid="3" name="KSOProductBuildVer">
    <vt:lpwstr>2052-12.1.0.23542</vt:lpwstr>
  </property>
</Properties>
</file>